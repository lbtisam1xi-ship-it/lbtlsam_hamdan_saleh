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505" r:id="rId3"/>
    <p:sldId id="503" r:id="rId4"/>
    <p:sldId id="257" r:id="rId5"/>
    <p:sldId id="50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1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BM Plex Sans Arabic" panose="020B0604020202020204" charset="-78"/>
      <p:regular r:id="rId24"/>
      <p:bold r:id="rId25"/>
    </p:embeddedFont>
    <p:embeddedFont>
      <p:font typeface="IBM Plex Sans Arabic Medium" panose="020B0604020202020204" charset="-78"/>
      <p:regular r:id="rId26"/>
      <p:bold r:id="rId27"/>
    </p:embeddedFont>
    <p:embeddedFont>
      <p:font typeface="IBM Plex Sans Arabic SemiBold" panose="020B0604020202020204" charset="-78"/>
      <p:regular r:id="rId28"/>
      <p:bold r:id="rId29"/>
    </p:embeddedFont>
    <p:embeddedFont>
      <p:font typeface="Tajawal" panose="020B0604020202020204" charset="-78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54" y="207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4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40330" cy="5143500"/>
          </a:xfrm>
          <a:prstGeom prst="rect">
            <a:avLst/>
          </a:prstGeom>
          <a:solidFill>
            <a:srgbClr val="0A2020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2633472" y="48006"/>
            <a:ext cx="13716" cy="5026914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1714" cy="6858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377190" y="377190"/>
            <a:ext cx="925830" cy="377190"/>
          </a:xfrm>
          <a:prstGeom prst="roundRect">
            <a:avLst>
              <a:gd name="adj" fmla="val 49091"/>
            </a:avLst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77190" y="377190"/>
            <a:ext cx="9258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8610" y="99441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377190" y="2091690"/>
            <a:ext cx="2263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77190" y="4114800"/>
            <a:ext cx="178308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77190" y="421767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7190" y="442341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8940" y="692658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188970" y="864108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188970" y="86410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795528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526280" y="795528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 (CPU, memory, storage)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389120" y="829818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948940" y="1460754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188970" y="1632204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88970" y="16322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1563624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26280" y="1563624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methodology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389120" y="1597914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2948940" y="2228850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188970" y="2400300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188970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233172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526280" y="2331720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&amp; pseudocode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389120" y="2366010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948940" y="2996946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188970" y="3168396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188970" y="316839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703320" y="3099816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526280" y="3099816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(conditions)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389120" y="3134106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2948940" y="3765042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188970" y="3936492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188970" y="393649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703320" y="3867912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526280" y="3867912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and loops (conceptual)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389120" y="3902202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320040"/>
            <a:ext cx="228600" cy="228600"/>
          </a:xfrm>
          <a:prstGeom prst="rect">
            <a:avLst/>
          </a:prstGeom>
          <a:solidFill>
            <a:srgbClr val="9B7ED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" cy="1371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74320" cy="274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4023360"/>
            <a:ext cx="182880" cy="182880"/>
          </a:xfrm>
          <a:prstGeom prst="rect">
            <a:avLst/>
          </a:prstGeom>
          <a:solidFill>
            <a:srgbClr val="9B7ED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56032" cy="256032"/>
          </a:xfrm>
          <a:prstGeom prst="rect">
            <a:avLst/>
          </a:prstGeom>
          <a:solidFill>
            <a:srgbClr val="57E3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3920" y="457200"/>
            <a:ext cx="182880" cy="182880"/>
          </a:xfrm>
          <a:prstGeom prst="rect">
            <a:avLst/>
          </a:prstGeom>
          <a:solidFill>
            <a:srgbClr val="57E3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4206240"/>
            <a:ext cx="274320" cy="274320"/>
          </a:xfrm>
          <a:prstGeom prst="rect">
            <a:avLst/>
          </a:prstGeom>
          <a:solidFill>
            <a:srgbClr val="9B7ED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663440"/>
            <a:ext cx="182880" cy="182880"/>
          </a:xfrm>
          <a:prstGeom prst="rect">
            <a:avLst/>
          </a:prstGeom>
          <a:solidFill>
            <a:srgbClr val="57E3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74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3  ·  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&amp; Pseudocode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your solution before you code 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WRITTEN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1554480" cy="9144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594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8321040" cy="1143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109728" cy="11430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&amp; Pseudocode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1975104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diagrams that show the logic of a program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78024" y="2743200"/>
            <a:ext cx="1975104" cy="3200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15184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78024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63824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63824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569464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15184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shapes — start, process, decision, 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44568" y="2743200"/>
            <a:ext cx="1975104" cy="32004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4568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30368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0368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36008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81728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steps that read like English code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11112" y="2743200"/>
            <a:ext cx="1975104" cy="32004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8272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11112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96912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9691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702552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48272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flowcharts and pseudocode for real problems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846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visually. Write clearly. Code last.  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these tools?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bridge between an idea and working code.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let you plan and explain a program WITHOUT worrying about the syntax of any language.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2688336" cy="242316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81328" y="265176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81328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2322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logic on paper before fighting with syntax errors.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2468880"/>
            <a:ext cx="2688336" cy="242316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19272" y="3291840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ideas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10712" y="3840480"/>
            <a:ext cx="2322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solution to anyone — even non-programmers can understand.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44184" y="2468880"/>
            <a:ext cx="2688336" cy="2423160"/>
          </a:xfrm>
          <a:prstGeom prst="rect">
            <a:avLst/>
          </a:prstGeom>
          <a:solidFill>
            <a:srgbClr val="1A1A2E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14032" y="2651760"/>
            <a:ext cx="548640" cy="54864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4032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🐞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35624" y="3291840"/>
            <a:ext cx="25054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early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27064" y="3840480"/>
            <a:ext cx="2322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logic mistakes BEFORE you write any code.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flowchart?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FLOWCHARTS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109728" cy="9144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is a diagram that shows the steps of a program using shapes connected by arrows.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shape represents a different kind of step. Arrows show the order things happen in.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"Make a cup of tea":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1280160" cy="50292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862072"/>
            <a:ext cx="365760" cy="274320"/>
          </a:xfrm>
          <a:prstGeom prst="right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68880" y="2743200"/>
            <a:ext cx="1554480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2743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water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2862072"/>
            <a:ext cx="365760" cy="274320"/>
          </a:xfrm>
          <a:prstGeom prst="right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2743200"/>
            <a:ext cx="1554480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 bag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862072"/>
            <a:ext cx="365760" cy="274320"/>
          </a:xfrm>
          <a:prstGeom prst="right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75120" y="2743200"/>
            <a:ext cx="1554480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2743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water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69480" y="3337560"/>
            <a:ext cx="365760" cy="27432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12280" y="3703320"/>
            <a:ext cx="1280160" cy="502920"/>
          </a:xfrm>
          <a:prstGeom prst="ellipse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— even a simple recipe is a flowchart!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essential symbols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shapes used in every flowchart, no matter the language.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SYMBOLS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5179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1517904" cy="731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" y="1828800"/>
            <a:ext cx="1188720" cy="6400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18288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1832" y="3291840"/>
            <a:ext cx="457200" cy="18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where flow begins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12264" y="1463040"/>
            <a:ext cx="15179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12264" y="1463040"/>
            <a:ext cx="1517904" cy="73152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76856" y="1828800"/>
            <a:ext cx="1188720" cy="64008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76856" y="18288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57984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42616" y="3291840"/>
            <a:ext cx="457200" cy="18288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03704" y="342900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— assign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perform step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13048" y="1463040"/>
            <a:ext cx="15179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13048" y="1463040"/>
            <a:ext cx="1517904" cy="73152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31920" y="1783080"/>
            <a:ext cx="1280160" cy="777240"/>
          </a:xfrm>
          <a:prstGeom prst="diamond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0" y="17830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&gt; 0?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58768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E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3291840"/>
            <a:ext cx="457200" cy="18288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04488" y="342900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question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splits the path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13832" y="1463040"/>
            <a:ext cx="15179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13832" y="1463040"/>
            <a:ext cx="1517904" cy="73152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32704" y="1828800"/>
            <a:ext cx="1280160" cy="640080"/>
          </a:xfrm>
          <a:prstGeom prst="parallelogram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32704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59552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44184" y="3291840"/>
            <a:ext cx="457200" cy="18288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05272" y="342900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from 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display result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14616" y="1463040"/>
            <a:ext cx="1517904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14616" y="1463040"/>
            <a:ext cx="1517904" cy="73152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33488" y="1965960"/>
            <a:ext cx="1280160" cy="365760"/>
          </a:xfrm>
          <a:prstGeom prst="rightArrow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60336" y="27432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44968" y="3291840"/>
            <a:ext cx="457200" cy="18288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06056" y="3429000"/>
            <a:ext cx="13350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shapes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direction of flow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PRACTICES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good flowcharts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RULES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START and 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flowchart begins with one Start oval and ends with one End oval.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top-to-bottom, left-to-right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874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goes downward by default. Loops can curve back upward.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532888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532888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2807208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670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have exactly two paths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0358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diamond has a YES branch and a NO branch — clearly labeled.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532888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532888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2807208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2670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text short and clear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30358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action per shape. If it's complex, break it into smaller shapes.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94176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1480" y="3694176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4360" y="3968496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4440" y="3831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arrows — not crossing lines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34440" y="41970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should never cross. Rearrange shapes if needed.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694176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694176"/>
            <a:ext cx="73152" cy="10515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3968496"/>
            <a:ext cx="502920" cy="50292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0" y="3831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41970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shape for each step. Don't mix shapes randomly.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Flowchart: bigger of two numbers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743200" cy="352044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two numbers a and b. Print the larger one.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a and b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Compare them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Print the bigger 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1280160" cy="4114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371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783080"/>
            <a:ext cx="182880" cy="18288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0" y="2011680"/>
            <a:ext cx="1645920" cy="411480"/>
          </a:xfrm>
          <a:prstGeom prst="parallelogram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a,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423160"/>
            <a:ext cx="182880" cy="18288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83480" y="2651760"/>
            <a:ext cx="1737360" cy="777240"/>
          </a:xfrm>
          <a:prstGeom prst="diamond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6517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&gt; b 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971800"/>
            <a:ext cx="457200" cy="164592"/>
          </a:xfrm>
          <a:prstGeom prst="leftArrow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34840" y="2743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2971800"/>
            <a:ext cx="457200" cy="164592"/>
          </a:xfrm>
          <a:prstGeom prst="rightArrow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3246120"/>
            <a:ext cx="1280160" cy="411480"/>
          </a:xfrm>
          <a:prstGeom prst="parallelogram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0" y="3246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3246120"/>
            <a:ext cx="1280160" cy="411480"/>
          </a:xfrm>
          <a:prstGeom prst="parallelogram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3246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60520" y="3703320"/>
            <a:ext cx="182880" cy="18288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60920" y="3703320"/>
            <a:ext cx="182880" cy="18288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51960" y="4041648"/>
            <a:ext cx="3200400" cy="36576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60720" y="4069080"/>
            <a:ext cx="182880" cy="18288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12080" y="4297680"/>
            <a:ext cx="1280160" cy="411480"/>
          </a:xfrm>
          <a:prstGeom prst="ellipse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0" y="4297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pseudocode?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PSEUDOCODE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109728" cy="91440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is a way to describe a program in plain language 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code, but without strict syntax rules.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(English-like)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4023360" cy="210312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price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quantity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total = price × quantity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total &gt; 100 THEN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discount = total × 0.10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total = total − discount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total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(real code)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23360" cy="2103120"/>
          </a:xfrm>
          <a:prstGeom prst="rect">
            <a:avLst/>
          </a:prstGeom>
          <a:solidFill>
            <a:srgbClr val="0A0B1C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float(input())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= int(input())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 * quantity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total &gt; 100: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 = total * 0.10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 - discount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pseudocode keywords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words read like English but mean specific things.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KEYWORDS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2002536" cy="73152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/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2377440"/>
            <a:ext cx="457200" cy="18288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from the 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150876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42032" y="1508760"/>
            <a:ext cx="2002536" cy="73152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33472" y="1737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/ OUTPUT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19272" y="2377440"/>
            <a:ext cx="457200" cy="18288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79192" y="246888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data to the user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72584" y="150876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72584" y="1508760"/>
            <a:ext cx="2002536" cy="73152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64024" y="1737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49824" y="2377440"/>
            <a:ext cx="457200" cy="18288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9744" y="246888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value to a variable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150876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03136" y="1508760"/>
            <a:ext cx="2002536" cy="73152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576" y="173736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... THEN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0376" y="2377440"/>
            <a:ext cx="457200" cy="18288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0296" y="246888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20040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3200400"/>
            <a:ext cx="2002536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429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88720" y="4069080"/>
            <a:ext cx="457200" cy="1828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otherwise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42032" y="320040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42032" y="3200400"/>
            <a:ext cx="2002536" cy="731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33472" y="3429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19272" y="4069080"/>
            <a:ext cx="457200" cy="182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79192" y="416052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condition is true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72584" y="320040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72584" y="3200400"/>
            <a:ext cx="2002536" cy="73152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64024" y="3429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49824" y="4069080"/>
            <a:ext cx="457200" cy="18288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9744" y="416052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 collection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03136" y="3200400"/>
            <a:ext cx="20025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03136" y="3200400"/>
            <a:ext cx="2002536" cy="73152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94576" y="34290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580376" y="4069080"/>
            <a:ext cx="457200" cy="18288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40296" y="4160520"/>
            <a:ext cx="1728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value back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PRACTICES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good pseudocode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RULES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73152" cy="10515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502920" cy="50292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plain English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should be able to read it — even non-programmers.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73152" cy="10515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1508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1874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combine multiple steps. Keep things simple and clear.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532888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532888"/>
            <a:ext cx="73152" cy="10515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2807208"/>
            <a:ext cx="502920" cy="50292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670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0358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the body of IF, WHILE, and FOR to show what's inside.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532888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532888"/>
            <a:ext cx="73152" cy="10515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2807208"/>
            <a:ext cx="502920" cy="50292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26700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keywords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30358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PRINT, IF, WHILE — makes structure stand out.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94176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1480" y="3694176"/>
            <a:ext cx="73152" cy="10515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4360" y="3968496"/>
            <a:ext cx="502920" cy="50292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4440" y="3831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about syntax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34440" y="41970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semicolons, parentheses, or quotes required.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694176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694176"/>
            <a:ext cx="73152" cy="10515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46320" y="3968496"/>
            <a:ext cx="502920" cy="50292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0" y="38313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variables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41970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names like "total" or "count" — never just "x".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 sum 1 to 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64008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PROBLEM: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sum of all numbers from 1 to 10 (= 55)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4023360" cy="242316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03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total = 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i =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≤ 10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total = total + 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SET i = i + 1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total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(what each step does):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423160"/>
            <a:ext cx="4023360" cy="2423160"/>
          </a:xfrm>
          <a:prstGeom prst="rect">
            <a:avLst/>
          </a:prstGeom>
          <a:solidFill>
            <a:srgbClr val="0A0B1C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3749040" cy="18288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≤ 10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1638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31638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1+2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4472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4472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447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3+3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307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730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730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6+4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142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40142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014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(loops continue)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4297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1+2+...+10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58114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40680" y="4581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5811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&gt; 10 → stop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vs Pseudocode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plan a solution — they just look different. Most programmers use both.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COMPARE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2011680" cy="502920"/>
          </a:xfrm>
          <a:prstGeom prst="rect">
            <a:avLst/>
          </a:prstGeom>
          <a:solidFill>
            <a:srgbClr val="0A0B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2926080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20116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82880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8892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82880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331720"/>
            <a:ext cx="20116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2331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233172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8892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decisions and 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233172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1500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detailed steps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834640"/>
            <a:ext cx="20116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28346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share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83464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anyone can read shapes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283464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15000" y="2834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reads like English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337560"/>
            <a:ext cx="20116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edit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51760" y="333756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8892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(redraw)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77840" y="3337560"/>
            <a:ext cx="292608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(just edit text)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3840480"/>
            <a:ext cx="20116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38404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code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51760" y="384048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8892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577840" y="3840480"/>
            <a:ext cx="2926080" cy="502920"/>
          </a:xfrm>
          <a:prstGeom prst="rect">
            <a:avLst/>
          </a:prstGeom>
          <a:solidFill>
            <a:srgbClr val="2A2A4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71500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almost code already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flowchart to think about the BIG picture, then write pseudocode for the DETAILS.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FULL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working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in this order — each step refines the previous one.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1975104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24712" y="1691640"/>
            <a:ext cx="548640" cy="548640"/>
          </a:xfrm>
          <a:prstGeom prst="ellipse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24712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💭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87752" y="1508760"/>
            <a:ext cx="1975104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00984" y="1691640"/>
            <a:ext cx="548640" cy="54864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00984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7752" y="233172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587752" y="28803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24912" y="329184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visually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64024" y="1508760"/>
            <a:ext cx="1975104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77256" y="1691640"/>
            <a:ext cx="548640" cy="548640"/>
          </a:xfrm>
          <a:prstGeom prst="ellipse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77256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4024" y="233172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64024" y="28803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329184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detailed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English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0296" y="1508760"/>
            <a:ext cx="1975104" cy="2468880"/>
          </a:xfrm>
          <a:prstGeom prst="rect">
            <a:avLst/>
          </a:prstGeom>
          <a:solidFill>
            <a:srgbClr val="1A1A2E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53528" y="169164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53528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0296" y="233172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40296" y="28803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77456" y="3291840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language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59736" y="2606040"/>
            <a:ext cx="292608" cy="365760"/>
          </a:xfrm>
          <a:prstGeom prst="right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36008" y="2606040"/>
            <a:ext cx="292608" cy="365760"/>
          </a:xfrm>
          <a:prstGeom prst="right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12280" y="2606040"/>
            <a:ext cx="292608" cy="365760"/>
          </a:xfrm>
          <a:prstGeom prst="right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4251960"/>
            <a:ext cx="83210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this order: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adds detail. By the time you write code, you've already solved the problem on paper.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YOU LEARNED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91440" cy="1417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visually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let you see the whole solution at a glance.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91440" cy="141732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symbols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6432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for start/end, rectangle for action, diamond for decision.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44184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417320"/>
            <a:ext cx="91440" cy="14173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= plain English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2784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steps without worrying about syntax.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91440" cy="141732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uppercase keywords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PRINT, IF, WHILE — they make structure clear.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17520"/>
            <a:ext cx="91440" cy="1417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56432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56432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for the big picture, pseudocode for the details.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44184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17520"/>
            <a:ext cx="91440" cy="141732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2784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and only then — code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72784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LAST step, not the first.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Decision logic (conditions).  🔀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32969</TotalTime>
  <Words>1253</Words>
  <Application>Microsoft Office PowerPoint</Application>
  <PresentationFormat>On-screen Show (16:9)</PresentationFormat>
  <Paragraphs>326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IBM Plex Sans Arabic Medium</vt:lpstr>
      <vt:lpstr>Consolas</vt:lpstr>
      <vt:lpstr>Tajawal</vt:lpstr>
      <vt:lpstr>Calibri</vt:lpstr>
      <vt:lpstr>IBM Plex Sans Arabic SemiBold</vt:lpstr>
      <vt:lpstr>IBM Plex Sans Arabic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261</cp:revision>
  <dcterms:modified xsi:type="dcterms:W3CDTF">2026-04-26T15:05:13Z</dcterms:modified>
</cp:coreProperties>
</file>