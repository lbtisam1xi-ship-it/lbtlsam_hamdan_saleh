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60" r:id="rId3"/>
    <p:sldId id="503" r:id="rId4"/>
    <p:sldId id="257" r:id="rId5"/>
    <p:sldId id="258" r:id="rId6"/>
    <p:sldId id="259" r:id="rId7"/>
    <p:sldId id="50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1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BM Plex Sans Arabic" panose="020B0604020202020204" charset="-78"/>
      <p:regular r:id="rId25"/>
      <p:bold r:id="rId26"/>
    </p:embeddedFont>
    <p:embeddedFont>
      <p:font typeface="IBM Plex Sans Arabic Medium" panose="020B0604020202020204" charset="-78"/>
      <p:regular r:id="rId27"/>
      <p:bold r:id="rId28"/>
    </p:embeddedFont>
    <p:embeddedFont>
      <p:font typeface="IBM Plex Sans Arabic SemiBold" panose="020B0604020202020204" charset="-78"/>
      <p:regular r:id="rId29"/>
      <p:bold r:id="rId30"/>
    </p:embeddedFont>
    <p:embeddedFont>
      <p:font typeface="Tajawal" panose="020B0604020202020204" charset="-78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1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40330" cy="5143500"/>
          </a:xfrm>
          <a:prstGeom prst="rect">
            <a:avLst/>
          </a:prstGeom>
          <a:solidFill>
            <a:srgbClr val="0A2020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2633472" y="48006"/>
            <a:ext cx="13716" cy="5026914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1714" cy="6858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377190" y="377190"/>
            <a:ext cx="925830" cy="377190"/>
          </a:xfrm>
          <a:prstGeom prst="roundRect">
            <a:avLst>
              <a:gd name="adj" fmla="val 49091"/>
            </a:avLst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77190" y="377190"/>
            <a:ext cx="9258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8610" y="99441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377190" y="2091690"/>
            <a:ext cx="2263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77190" y="4114800"/>
            <a:ext cx="178308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77190" y="421767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7190" y="442341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8940" y="692658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188970" y="864108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188970" y="86410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795528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526280" y="795528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 (CPU, memory, storage)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389120" y="829818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948940" y="1460754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188970" y="1632204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88970" y="16322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1563624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26280" y="1563624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methodology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389120" y="1597914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2948940" y="2228850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188970" y="2400300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188970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233172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526280" y="2331720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&amp; pseudocode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389120" y="2366010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948940" y="2996946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188970" y="3168396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188970" y="316839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703320" y="3099816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526280" y="3099816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(conditions)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389120" y="3134106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2948940" y="3765042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188970" y="3936492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188970" y="393649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703320" y="3867912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526280" y="3867912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and loops (conceptual)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389120" y="3902202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320040"/>
            <a:ext cx="228600" cy="228600"/>
          </a:xfrm>
          <a:prstGeom prst="rect">
            <a:avLst/>
          </a:prstGeom>
          <a:solidFill>
            <a:srgbClr val="9B7ED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" cy="1371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74320" cy="274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4023360"/>
            <a:ext cx="182880" cy="182880"/>
          </a:xfrm>
          <a:prstGeom prst="rect">
            <a:avLst/>
          </a:prstGeom>
          <a:solidFill>
            <a:srgbClr val="9B7ED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56032" cy="256032"/>
          </a:xfrm>
          <a:prstGeom prst="rect">
            <a:avLst/>
          </a:prstGeom>
          <a:solidFill>
            <a:srgbClr val="57E3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3920" y="457200"/>
            <a:ext cx="182880" cy="182880"/>
          </a:xfrm>
          <a:prstGeom prst="rect">
            <a:avLst/>
          </a:prstGeom>
          <a:solidFill>
            <a:srgbClr val="57E3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4206240"/>
            <a:ext cx="274320" cy="274320"/>
          </a:xfrm>
          <a:prstGeom prst="rect">
            <a:avLst/>
          </a:prstGeom>
          <a:solidFill>
            <a:srgbClr val="9B7ED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663440"/>
            <a:ext cx="182880" cy="182880"/>
          </a:xfrm>
          <a:prstGeom prst="rect">
            <a:avLst/>
          </a:prstGeom>
          <a:solidFill>
            <a:srgbClr val="57E3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74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 ·  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&amp; Loops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 over and over — without doing them yourself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4251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1554480" cy="9144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594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8321040" cy="1143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109728" cy="11430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&amp; Loops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1975104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Repeat?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boring problem loops solve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78024" y="2743200"/>
            <a:ext cx="1975104" cy="32004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15184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78024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63824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63824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569464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15184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 known number of times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44568" y="2743200"/>
            <a:ext cx="1975104" cy="3200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4568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30368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0368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♾️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36008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81728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 condition becomes false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11112" y="2743200"/>
            <a:ext cx="1975104" cy="32004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8272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11112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96912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9691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702552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Pitfalls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48272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 and how to avoid them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846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computers do the boring repetitive work.  🤖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loops?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4114800" cy="361188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4114800" cy="3657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"Hello" 5 times: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840480" cy="2011680"/>
          </a:xfrm>
          <a:prstGeom prst="rect">
            <a:avLst/>
          </a:prstGeom>
          <a:solidFill>
            <a:srgbClr val="0A0B1C"/>
          </a:solidFill>
          <a:ln w="127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"Hello"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"Hello"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"Hello"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"Hello"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"Hello"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1,000 times. Or 1,000,000.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4114800" cy="3611880"/>
          </a:xfrm>
          <a:prstGeom prst="rect">
            <a:avLst/>
          </a:prstGeom>
          <a:solidFill>
            <a:srgbClr val="1A1A2E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114800" cy="3657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"Hello" 5 times: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3840480" cy="2011680"/>
          </a:xfrm>
          <a:prstGeom prst="rect">
            <a:avLst/>
          </a:prstGeom>
          <a:solidFill>
            <a:srgbClr val="0A0B1C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5 TIMES: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"Hello"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297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result. 1,000,000 times? Just change 5 to 1000000.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loop?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CONCEPT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109728" cy="9601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a way to do the SAME thing multiple times — without writing it multiple times.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keeps repeating the same steps until you tell it to stop.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life, loops are everywhere: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2688336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81328" y="301752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81328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20 push-ups → repeat "push-up" 20 times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834640"/>
            <a:ext cx="2688336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301752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19272" y="365760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10712" y="40690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for 5 minutes → repeat “Mix" while timer &lt; 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44184" y="2834640"/>
            <a:ext cx="2688336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14032" y="301752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14032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35624" y="365760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40690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everyone in contacts → repeat for each contact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loop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 has these three parts.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ANATOMY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688336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2688336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27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89888" y="201168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89888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🚦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288036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condition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72768" y="3291840"/>
            <a:ext cx="365760" cy="18288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loop begins. "Start counter at 1" — sets up the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1508760"/>
            <a:ext cx="2688336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EE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27832" y="1508760"/>
            <a:ext cx="2688336" cy="320040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64992" y="1527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01168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E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227832" y="288036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0" y="3291840"/>
            <a:ext cx="365760" cy="18288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0712" y="33832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quit. "Until counter &gt; 10" — checked every iteration.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1508760"/>
            <a:ext cx="2688336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44184" y="1508760"/>
            <a:ext cx="2688336" cy="32004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344" y="1527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22592" y="2011680"/>
            <a:ext cx="731520" cy="73152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2259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044184" y="288036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05472" y="3291840"/>
            <a:ext cx="365760" cy="18288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27064" y="33832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repeat. The actual work — runs each time around.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types of loops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HOW MANY times vs when you know UNTIL WHEN.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TYPES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4114800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4114800" cy="3657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2011680"/>
            <a:ext cx="1097280" cy="109728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🔢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"Repeat exactly N times"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KNOW how many times.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print 1 to 10, sum 100 numbers, do 5 push-ups.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508760"/>
            <a:ext cx="4114800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508760"/>
            <a:ext cx="4114800" cy="3657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1097280" cy="109728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♾️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"Repeat WHILE condition is true"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DON'T know how many times.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keep asking until correct password, read until end of file.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LOOP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— count and repeat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 known number of times using a counter.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141732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FROM 1 TO 5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i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4023360" cy="118872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41148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54864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≤ 5 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18288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41148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331720"/>
            <a:ext cx="54864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≤ 5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834640"/>
            <a:ext cx="41148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2834640"/>
            <a:ext cx="54864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≤ 5 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804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337560"/>
            <a:ext cx="41148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3337560"/>
            <a:ext cx="54864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≤ 5 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33375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840480"/>
            <a:ext cx="41148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3840480"/>
            <a:ext cx="54864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607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≤ 5 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8040" y="3840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4343400"/>
            <a:ext cx="41148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4343400"/>
            <a:ext cx="54864" cy="45720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6072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≤ 5 ✗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78040" y="4343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EACH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— loop over a list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item in a collection, one at a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FOREACH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182880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["Ahmed",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"Sara",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"Khalid"]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name IN students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"Hi, " +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794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069080"/>
            <a:ext cx="4023360" cy="77724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1148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Ahmed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Sara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Khalid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411480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54864" cy="56692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"Ahmed"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"Hi, Ahmed"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468880"/>
            <a:ext cx="411480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2468880"/>
            <a:ext cx="54864" cy="56692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"Sara"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"Hi, Sara"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108960"/>
            <a:ext cx="411480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3108960"/>
            <a:ext cx="54864" cy="56692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"Khalid"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 "Hi, Khalid"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749040"/>
            <a:ext cx="411480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3749040"/>
            <a:ext cx="54864" cy="566928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more items)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WHILE LOOP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repeat until done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as long as a condition stays TRUE.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228600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balance = 100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balance &gt; 0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balance = balance - 30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balance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2519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$30 each iteration. Stop when balance hits 0 or below.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11480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54864" cy="5303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865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100  →  100 &gt; 0 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balance = 70   → print 70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432304"/>
            <a:ext cx="411480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432304"/>
            <a:ext cx="54864" cy="5303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70   →  70 &gt; 0 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706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balance = 40   → print 40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035808"/>
            <a:ext cx="411480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3035808"/>
            <a:ext cx="54864" cy="5303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0723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40   →  40 &gt; 0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310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balance = 10   → print 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39312"/>
            <a:ext cx="411480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3639312"/>
            <a:ext cx="54864" cy="5303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10   →  10 &gt; 0 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913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balance = -20  → print -20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4242816"/>
            <a:ext cx="411480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4242816"/>
            <a:ext cx="54864" cy="530352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-20  →  -20 &gt; 0 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517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vs WHILE — when to use which?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loops, two different mindsets.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COMPARE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2011680" cy="502920"/>
          </a:xfrm>
          <a:prstGeom prst="rect">
            <a:avLst/>
          </a:prstGeom>
          <a:solidFill>
            <a:srgbClr val="0A0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2926080" cy="5029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20116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82880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8892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HOW MANY times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82880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WHEN to stop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331720"/>
            <a:ext cx="20116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2331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233172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8892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(i = 1, 2, 3...)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233172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1500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it yourself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834640"/>
            <a:ext cx="20116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83464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ranges, fixed counts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283464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condition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337560"/>
            <a:ext cx="20116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method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51760" y="333756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8892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end of range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33756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becomes FALSE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3840480"/>
            <a:ext cx="20116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51760" y="384048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8892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mess up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77840" y="384048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1500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forever (careful!)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count it on your fingers, use FOR. If you're waiting for something, use WHILE.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04 · DANGER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 — the silent killer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INFINITE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109728" cy="91440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 infinite loop is a loop whose stop condition is NEVER true.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runs forever — eating CPU, freezing your computer, never finishing.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code (no escape!):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4023360" cy="2103120"/>
          </a:xfrm>
          <a:prstGeom prst="rect">
            <a:avLst/>
          </a:prstGeom>
          <a:solidFill>
            <a:srgbClr val="0A0B1C"/>
          </a:solidFill>
          <a:ln w="127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i = 1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&gt; 0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never changes!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&gt; 0 is ALWAYS true.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 1 forever.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(with escape!):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743200"/>
            <a:ext cx="4114800" cy="2103120"/>
          </a:xfrm>
          <a:prstGeom prst="rect">
            <a:avLst/>
          </a:prstGeom>
          <a:solidFill>
            <a:srgbClr val="0A0B1C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88036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i = 1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&gt; 0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i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i = i - 1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44348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 becomes 0 → loop stops ✓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sum 1 to 100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64008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1 + 2 + 3 + ... + 100 (= 5050) — using a loop.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4023360" cy="251460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total = 0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FROM 1 TO 100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total = total + i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FOR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total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(first few steps):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331720"/>
            <a:ext cx="4114800" cy="2514600"/>
          </a:xfrm>
          <a:prstGeom prst="rect">
            <a:avLst/>
          </a:prstGeom>
          <a:solidFill>
            <a:srgbClr val="0A0B1C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697480"/>
            <a:ext cx="3794760" cy="18288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0+1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081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3081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081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1+2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74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3741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374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6667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666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6667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6+4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959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3959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9593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(loops continue)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251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4251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4950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45445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4544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5050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544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+100  → DONE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loop patterns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loops you'll write fall into one of these patterns.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PATTERNS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91440" cy="155448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18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1 each iteration.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FROM 1 TO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91440" cy="155448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18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up a result.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sum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nums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sum = sum + 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91440" cy="155448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an item.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nums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n ==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found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91440" cy="1554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Count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703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items meeting a rule.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evens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nums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n % 2 ==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evens = evens + 1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WATCH 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with loops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PITFALLS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91440" cy="15087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update the counter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 &lt; 10 with no "i = i + 1" inside = infinite loop.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371600"/>
            <a:ext cx="91440" cy="15087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13632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errors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= 1 TO 10 runs 10 times. FOR i = 0 TO 10 runs 11 times. Be careful!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44184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371600"/>
            <a:ext cx="91440" cy="1508760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2706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9984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stop condition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it be &lt; or &lt;= ? "i &lt; 10" stops at 9. "i &lt;= 10" stops at 10.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63240"/>
            <a:ext cx="91440" cy="15087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reset accumulator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total = 0 BEFORE the loop, not inside 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63240"/>
            <a:ext cx="91440" cy="150876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071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13632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the list while looping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6432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Adding/removing items mid-loop causes weird bugs. Make a copy first.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44184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63240"/>
            <a:ext cx="91440" cy="150876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27064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29984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getting too slow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inside loop = 100×100 = 10,000 iterations. Watch out!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YOU LEARNED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91440" cy="1417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save effort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work without rewriting code. The computer does the boring part.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91440" cy="14173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= known 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when you know how many times. Built-in counter.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44184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417320"/>
            <a:ext cx="91440" cy="141732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= condition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when stop depends on something changing.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91440" cy="141732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 has 3 parts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condition · stop condition · the body that repeats.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17520"/>
            <a:ext cx="91440" cy="1417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56432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infinite loops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stop condition WILL eventually be reached.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44184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17520"/>
            <a:ext cx="91440" cy="141732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2784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small inputs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72784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3 items first, then scale up. Easier to debug.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wrap on Week 2! Next up: Algorithms.  🚀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34280</TotalTime>
  <Words>1519</Words>
  <Application>Microsoft Office PowerPoint</Application>
  <PresentationFormat>On-screen Show (16:9)</PresentationFormat>
  <Paragraphs>363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IBM Plex Sans Arabic SemiBold</vt:lpstr>
      <vt:lpstr>Arial</vt:lpstr>
      <vt:lpstr>Consolas</vt:lpstr>
      <vt:lpstr>Calibri</vt:lpstr>
      <vt:lpstr>IBM Plex Sans Arabic Medium</vt:lpstr>
      <vt:lpstr>IBM Plex Sans Arabic</vt:lpstr>
      <vt:lpstr>Tajawal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263</cp:revision>
  <dcterms:modified xsi:type="dcterms:W3CDTF">2026-05-01T12:58:37Z</dcterms:modified>
</cp:coreProperties>
</file>