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506" r:id="rId3"/>
    <p:sldId id="504" r:id="rId4"/>
    <p:sldId id="258" r:id="rId5"/>
    <p:sldId id="259" r:id="rId6"/>
    <p:sldId id="260" r:id="rId7"/>
    <p:sldId id="261" r:id="rId8"/>
    <p:sldId id="505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1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IBM Plex Sans Arabic" panose="020B0604020202020204" charset="-78"/>
      <p:regular r:id="rId24"/>
      <p:bold r:id="rId25"/>
    </p:embeddedFont>
    <p:embeddedFont>
      <p:font typeface="IBM Plex Sans Arabic Medium" panose="020B0604020202020204" charset="-78"/>
      <p:regular r:id="rId26"/>
      <p:bold r:id="rId27"/>
    </p:embeddedFont>
    <p:embeddedFont>
      <p:font typeface="IBM Plex Sans Arabic SemiBold" panose="020B0604020202020204" charset="-78"/>
      <p:regular r:id="rId28"/>
      <p:bold r:id="rId29"/>
    </p:embeddedFont>
    <p:embeddedFont>
      <p:font typeface="Tajawal" panose="020B0604020202020204" charset="-78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45" y="258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759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6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40330" cy="5143500"/>
          </a:xfrm>
          <a:prstGeom prst="rect">
            <a:avLst/>
          </a:prstGeom>
          <a:solidFill>
            <a:srgbClr val="0A2020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2633472" y="48006"/>
            <a:ext cx="13716" cy="5026914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1714" cy="48006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1714" cy="6858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377190" y="377190"/>
            <a:ext cx="925830" cy="377190"/>
          </a:xfrm>
          <a:prstGeom prst="roundRect">
            <a:avLst>
              <a:gd name="adj" fmla="val 49091"/>
            </a:avLst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377190" y="377190"/>
            <a:ext cx="9258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8610" y="99441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377190" y="2091690"/>
            <a:ext cx="22631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377190" y="4114800"/>
            <a:ext cx="178308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77190" y="421767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77190" y="442341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48940" y="692658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188970" y="864108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188970" y="864108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03320" y="795528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526280" y="795528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work (CPU, memory, storage)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4389120" y="829818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2948940" y="1460754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3188970" y="1632204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188970" y="163220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03320" y="1563624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526280" y="1563624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methodology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4389120" y="1597914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2948940" y="2228850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3188970" y="2400300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188970" y="24003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703320" y="233172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4526280" y="2331720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&amp; pseudocode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4389120" y="2366010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2948940" y="2996946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3188970" y="3168396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3188970" y="3168396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703320" y="3099816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4526280" y="3099816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 (conditions)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4389120" y="3134106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2948940" y="3765042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3188970" y="3936492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3188970" y="3936492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3703320" y="3867912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4526280" y="3867912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and loops (conceptual)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4389120" y="3902202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1554480" cy="91440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0" y="365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Fundamentals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594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Session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8321040" cy="114300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371600"/>
            <a:ext cx="109728" cy="114300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783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Methodology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1975104" cy="32004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7280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Method?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good and bad problem-solvers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78024" y="2743200"/>
            <a:ext cx="1975104" cy="32004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15184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78024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63824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63824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569464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Steps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15184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Polya's framework: Understand → Plan → Solve → Review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44568" y="2743200"/>
            <a:ext cx="1975104" cy="32004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81728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44568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30368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30368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636008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81728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big problems into small manageable pieces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11112" y="2743200"/>
            <a:ext cx="1975104" cy="32004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48272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11112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96912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9691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702552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48272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similarities to problems you've seen before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48463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Code later.  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a method?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WHY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4114800" cy="3520440"/>
          </a:xfrm>
          <a:prstGeom prst="rect">
            <a:avLst/>
          </a:prstGeom>
          <a:solidFill>
            <a:srgbClr val="1A1A2E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4114800" cy="32004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A METHOD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1828800"/>
            <a:ext cx="1097280" cy="109728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20240" y="1828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😵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Jump straight into code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stuck fast, frustrated often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Rewrite the same thing 3 times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 edge cases, create bugs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Struggle with larger problems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371600"/>
            <a:ext cx="4114800" cy="352044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4114800" cy="32004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399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 METHOD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1097280" cy="109728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828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🎯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892040" y="3108960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before coding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plan, fewer wrong turns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Solve step by step, stay calm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Catch edge cases early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any size of problem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WORDS OF WISDOM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on problem-solving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QUOTE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7680960" cy="2377440"/>
          </a:xfrm>
          <a:prstGeom prst="rect">
            <a:avLst/>
          </a:prstGeom>
          <a:solidFill>
            <a:srgbClr val="1A1A2E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an hour to solve a problem,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spend 55 minutes thinking about the problem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5 minutes thinking about solutions.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Albert Einstein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187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Lesson: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programming, the worst thing you can do is start typing code before you understand the problem.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FRAMEWORK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Polya's 4-step method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timeless problem-solving framework from mathematician George Pólya (1945).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POLYA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1975104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1975104" cy="32004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481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33272" y="1965960"/>
            <a:ext cx="731520" cy="73152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33272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16152" y="3246120"/>
            <a:ext cx="365760" cy="18288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1700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 really asking? What are inputs, outputs, and constraints?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87752" y="1463040"/>
            <a:ext cx="1975104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87752" y="1463040"/>
            <a:ext cx="1975104" cy="32004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24912" y="1481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9544" y="1965960"/>
            <a:ext cx="731520" cy="73152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9544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679192" y="283464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92424" y="3246120"/>
            <a:ext cx="365760" cy="18288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24912" y="3337560"/>
            <a:ext cx="1700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an approach. Break into smaller steps. Pick the right tool or technique.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64024" y="1463040"/>
            <a:ext cx="1975104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64024" y="1463040"/>
            <a:ext cx="1975104" cy="32004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1184" y="1481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85816" y="1965960"/>
            <a:ext cx="731520" cy="73152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85816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855464" y="283464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68696" y="3246120"/>
            <a:ext cx="365760" cy="18288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01184" y="3337560"/>
            <a:ext cx="1700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plan. Write pseudocode first, then translate it to real code.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0296" y="1463040"/>
            <a:ext cx="1975104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40296" y="1463040"/>
            <a:ext cx="1975104" cy="32004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77456" y="1481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62088" y="1965960"/>
            <a:ext cx="731520" cy="73152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62088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7031736" y="283464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744968" y="3246120"/>
            <a:ext cx="365760" cy="18288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77456" y="3337560"/>
            <a:ext cx="1700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examples. Check edge cases. Can this be simpler or faster?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UNDERSTAND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200400" cy="3520440"/>
          </a:xfrm>
          <a:prstGeom prst="rect">
            <a:avLst/>
          </a:prstGeom>
          <a:solidFill>
            <a:srgbClr val="0A0B1C"/>
          </a:solidFill>
          <a:ln w="127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63040" y="1965960"/>
            <a:ext cx="1097280" cy="1097280"/>
          </a:xfrm>
          <a:prstGeom prst="ellipse">
            <a:avLst/>
          </a:prstGeom>
          <a:solidFill>
            <a:srgbClr val="0F1028"/>
          </a:solidFill>
          <a:ln w="381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🎯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 Re-read.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solve what you do not understand.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03320" y="1463040"/>
            <a:ext cx="50292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03320" y="1463040"/>
            <a:ext cx="73152" cy="105156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86200" y="1709928"/>
            <a:ext cx="502920" cy="502920"/>
          </a:xfrm>
          <a:prstGeom prst="ellipse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86200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628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INPUTS?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does the problem give us? What type? What range?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03320" y="2633472"/>
            <a:ext cx="50292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03320" y="2633472"/>
            <a:ext cx="73152" cy="105156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86200" y="2880360"/>
            <a:ext cx="502920" cy="502920"/>
          </a:xfrm>
          <a:prstGeom prst="ellipse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862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26280" y="27706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6280" y="3136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answer look like? A number? A list? A yes/no?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03320" y="3803904"/>
            <a:ext cx="50292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703320" y="3803904"/>
            <a:ext cx="73152" cy="105156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86200" y="4050792"/>
            <a:ext cx="502920" cy="502920"/>
          </a:xfrm>
          <a:prstGeom prst="ellipse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8620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26280" y="39410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RULES?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26280" y="43068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constraints? Edge cases? What should happen if input is empty?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find the largest number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UNDERSTAND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8321040" cy="822960"/>
          </a:xfrm>
          <a:prstGeom prst="rect">
            <a:avLst/>
          </a:prstGeom>
          <a:solidFill>
            <a:srgbClr val="1A1040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PROBLEM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a list of numbers, find the largest one."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2688336" cy="2514600"/>
          </a:xfrm>
          <a:prstGeom prst="rect">
            <a:avLst/>
          </a:prstGeom>
          <a:solidFill>
            <a:srgbClr val="1A1A2E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81328" y="2514600"/>
            <a:ext cx="548640" cy="54864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81328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320040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72768" y="3611880"/>
            <a:ext cx="365760" cy="18288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74904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numbers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(integers or decimals)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27832" y="2331720"/>
            <a:ext cx="2688336" cy="251460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97680" y="2514600"/>
            <a:ext cx="548640" cy="54864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9768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27832" y="320040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0" y="3611880"/>
            <a:ext cx="365760" cy="18288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10712" y="374904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maximum value)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44184" y="2331720"/>
            <a:ext cx="2688336" cy="2514600"/>
          </a:xfrm>
          <a:prstGeom prst="rect">
            <a:avLst/>
          </a:prstGeom>
          <a:solidFill>
            <a:srgbClr val="1A1A2E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14032" y="2514600"/>
            <a:ext cx="548640" cy="54864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14032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44184" y="320040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05472" y="3611880"/>
            <a:ext cx="365760" cy="18288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27064" y="374904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list is empty?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there are ties?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plan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PLAN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200400" cy="352044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63040" y="1965960"/>
            <a:ext cx="1097280" cy="1097280"/>
          </a:xfrm>
          <a:prstGeom prst="ellipse">
            <a:avLst/>
          </a:prstGeom>
          <a:solidFill>
            <a:srgbClr val="0F1028"/>
          </a:solidFill>
          <a:ln w="381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🗺️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beats coding blindly. Always.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03320" y="1463040"/>
            <a:ext cx="50292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03320" y="1463040"/>
            <a:ext cx="73152" cy="10515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86200" y="1709928"/>
            <a:ext cx="502920" cy="50292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86200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seen this before?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similar problems. Solutions often transfer.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03320" y="2633472"/>
            <a:ext cx="50292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03320" y="2633472"/>
            <a:ext cx="73152" cy="10515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86200" y="2880360"/>
            <a:ext cx="502920" cy="50292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862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26280" y="27706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into smaller pieces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6280" y="3136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problems = many small problems chained together.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03320" y="3803904"/>
            <a:ext cx="50292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703320" y="3803904"/>
            <a:ext cx="73152" cy="10515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86200" y="4050792"/>
            <a:ext cx="502920" cy="50292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8620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26280" y="39410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examples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26280" y="43068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a few specific cases by hand first.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TECHNIQUE ·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big, scary problem into smaller, manageable ones.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DECOMPOSE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554480"/>
            <a:ext cx="4572000" cy="54864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pizza ordering app"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548640" cy="365760"/>
          </a:xfrm>
          <a:prstGeom prst="down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743200"/>
            <a:ext cx="2011680" cy="201168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880360"/>
            <a:ext cx="640080" cy="64008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🍕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292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menu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pizza options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2743200"/>
            <a:ext cx="2011680" cy="2011680"/>
          </a:xfrm>
          <a:prstGeom prst="rect">
            <a:avLst/>
          </a:prstGeom>
          <a:solidFill>
            <a:srgbClr val="1A1A2E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2880360"/>
            <a:ext cx="640080" cy="64008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69748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4023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what user picked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743200"/>
            <a:ext cx="2011680" cy="2011680"/>
          </a:xfrm>
          <a:prstGeom prst="rect">
            <a:avLst/>
          </a:prstGeom>
          <a:solidFill>
            <a:srgbClr val="1A1A2E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0" y="2880360"/>
            <a:ext cx="640080" cy="64008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9204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payment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4023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payment info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95160" y="2743200"/>
            <a:ext cx="2011680" cy="2011680"/>
          </a:xfrm>
          <a:prstGeom prst="rect">
            <a:avLst/>
          </a:prstGeom>
          <a:solidFill>
            <a:srgbClr val="1A1A2E"/>
          </a:solidFill>
          <a:ln w="2540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80960" y="2880360"/>
            <a:ext cx="640080" cy="64008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8096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08660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4023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cooking → delivered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TECHNIQUE ·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seen this problem before? Most programming problems repeat.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PATTERNS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402336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91440" cy="141732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618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something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/ smallest value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match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X exist?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02336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91440" cy="14173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618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things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many vowels?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many duplicates?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many passed?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108960"/>
            <a:ext cx="402336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91440" cy="141732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Upper → lowercase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 → sorted list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 of each row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402336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91440" cy="141732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even numbers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passing students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 duplicates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5902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the pattern turns a "new" problem into a familiar one.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plan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SOLVE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200400" cy="3520440"/>
          </a:xfrm>
          <a:prstGeom prst="rect">
            <a:avLst/>
          </a:prstGeom>
          <a:solidFill>
            <a:srgbClr val="0A0B1C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63040" y="1965960"/>
            <a:ext cx="1097280" cy="1097280"/>
          </a:xfrm>
          <a:prstGeom prst="ellipse">
            <a:avLst/>
          </a:prstGeom>
          <a:solidFill>
            <a:srgbClr val="0F1028"/>
          </a:solidFill>
          <a:ln w="381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⚙️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first.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 after.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plan into clear steps before worrying about syntax.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— find largest number: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03320" y="1783080"/>
            <a:ext cx="5029200" cy="3108960"/>
          </a:xfrm>
          <a:prstGeom prst="rect">
            <a:avLst/>
          </a:prstGeom>
          <a:solidFill>
            <a:srgbClr val="0A0B1C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86200" y="196596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Set largest = first number in list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For each other number in list: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If number &gt; largest: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largest = number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Return largest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solution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REVIEW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200400" cy="3520440"/>
          </a:xfrm>
          <a:prstGeom prst="rect">
            <a:avLst/>
          </a:prstGeom>
          <a:solidFill>
            <a:srgbClr val="0A0B1C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63040" y="1965960"/>
            <a:ext cx="1097280" cy="1097280"/>
          </a:xfrm>
          <a:prstGeom prst="ellipse">
            <a:avLst/>
          </a:prstGeom>
          <a:solidFill>
            <a:srgbClr val="0F1028"/>
          </a:solidFill>
          <a:ln w="381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🔍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better?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then improve. Never skip this step.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03320" y="1463040"/>
            <a:ext cx="50292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03320" y="1463040"/>
            <a:ext cx="73152" cy="105156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86200" y="1709928"/>
            <a:ext cx="502920" cy="502920"/>
          </a:xfrm>
          <a:prstGeom prst="ellipse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86200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2628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simple cases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[1, 2, 3] give 3? Does [5] give 5?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03320" y="2633472"/>
            <a:ext cx="50292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03320" y="2633472"/>
            <a:ext cx="73152" cy="105156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86200" y="2880360"/>
            <a:ext cx="502920" cy="502920"/>
          </a:xfrm>
          <a:prstGeom prst="ellipse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862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6280" y="27706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 cases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6280" y="3136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list? One item? All negatives? Duplicates?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03320" y="3803904"/>
            <a:ext cx="50292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703320" y="3803904"/>
            <a:ext cx="73152" cy="105156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86200" y="4050792"/>
            <a:ext cx="502920" cy="502920"/>
          </a:xfrm>
          <a:prstGeom prst="ellipse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8620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26280" y="39410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it be simpler?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26280" y="43068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steps, less code, clearer names?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FULL EXAMPLE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steps in 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count how many even numbers are in a list.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DEMO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402336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91440" cy="155448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1214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list of numbers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one integer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case: empty list →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402336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91440" cy="155448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21214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counting.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counter at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Loop list, +1 if even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00400"/>
            <a:ext cx="402336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200400"/>
            <a:ext cx="91440" cy="155448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385876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list: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 % 2 == 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count + 1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402336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3200400"/>
            <a:ext cx="91440" cy="155448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291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92040" y="385876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[1,2,3,4] → 2 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[] → 0 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[7] → 0 ✓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WARNINGS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PITFALLS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91440" cy="150876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before understanding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code, realize halfway it's wrong, start over.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37160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371600"/>
            <a:ext cx="91440" cy="150876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10712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13632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examples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6432" y="2103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testing with concrete cases, you miss edge cases.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44184" y="137160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371600"/>
            <a:ext cx="91440" cy="1508760"/>
          </a:xfrm>
          <a:prstGeom prst="rect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2706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9984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too big a chunk at once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2103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do everything in one go leads to tangled code.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06324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063240"/>
            <a:ext cx="91440" cy="15087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without reading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has answers — but understand them first!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27832" y="306324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27832" y="3063240"/>
            <a:ext cx="91440" cy="150876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10712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13632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up too early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56432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 fails? That's normal. Re-plan, don't quit.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44184" y="306324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44184" y="3063240"/>
            <a:ext cx="91440" cy="1508760"/>
          </a:xfrm>
          <a:prstGeom prst="rect">
            <a:avLst/>
          </a:prstGeom>
          <a:solidFill>
            <a:srgbClr val="4A8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27064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29984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reviewing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72784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'It runs' ≠ 'It's correct'. Always test thoroughly.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YOU LEARNED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SUMMARY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91440" cy="141732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more time understanding than coding.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417320"/>
            <a:ext cx="91440" cy="14173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56432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6432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4 steps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56432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Plan → Solve → Review.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44184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417320"/>
            <a:ext cx="91440" cy="141732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big problems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72784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them into smaller, solvable pieces.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017520"/>
            <a:ext cx="91440" cy="141732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patterns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problems are variants of familiar ones.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27832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27832" y="3017520"/>
            <a:ext cx="91440" cy="1417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56432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56432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first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56432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steps in English before code syntax.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44184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44184" y="3017520"/>
            <a:ext cx="91440" cy="1417320"/>
          </a:xfrm>
          <a:prstGeom prst="rect">
            <a:avLst/>
          </a:prstGeom>
          <a:solidFill>
            <a:srgbClr val="4A8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72784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8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review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72784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 cases. Improve if you can.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Flowcharts &amp; pseudocode.  🧩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32961</TotalTime>
  <Words>1186</Words>
  <Application>Microsoft Office PowerPoint</Application>
  <PresentationFormat>On-screen Show (16:9)</PresentationFormat>
  <Paragraphs>295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IBM Plex Sans Arabic Medium</vt:lpstr>
      <vt:lpstr>Consolas</vt:lpstr>
      <vt:lpstr>Tajawal</vt:lpstr>
      <vt:lpstr>Calibri</vt:lpstr>
      <vt:lpstr>IBM Plex Sans Arabic SemiBold</vt:lpstr>
      <vt:lpstr>IBM Plex Sans Arabic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259</cp:revision>
  <dcterms:modified xsi:type="dcterms:W3CDTF">2026-04-26T15:06:01Z</dcterms:modified>
</cp:coreProperties>
</file>