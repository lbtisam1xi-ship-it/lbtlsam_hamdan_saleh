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9"/>
  </p:notesMasterIdLst>
  <p:sldIdLst>
    <p:sldId id="256" r:id="rId2"/>
    <p:sldId id="259" r:id="rId3"/>
    <p:sldId id="503" r:id="rId4"/>
    <p:sldId id="257" r:id="rId5"/>
    <p:sldId id="258" r:id="rId6"/>
    <p:sldId id="504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81" r:id="rId18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20"/>
      <p:bold r:id="rId21"/>
      <p:italic r:id="rId22"/>
      <p:boldItalic r:id="rId23"/>
    </p:embeddedFont>
    <p:embeddedFont>
      <p:font typeface="IBM Plex Sans Arabic" panose="020B0604020202020204" charset="-78"/>
      <p:regular r:id="rId24"/>
      <p:bold r:id="rId25"/>
    </p:embeddedFont>
    <p:embeddedFont>
      <p:font typeface="IBM Plex Sans Arabic Medium" panose="020B0604020202020204" charset="-78"/>
      <p:regular r:id="rId26"/>
      <p:bold r:id="rId27"/>
    </p:embeddedFont>
    <p:embeddedFont>
      <p:font typeface="IBM Plex Sans Arabic SemiBold" panose="020B0604020202020204" charset="-78"/>
      <p:regular r:id="rId28"/>
      <p:bold r:id="rId29"/>
    </p:embeddedFont>
    <p:embeddedFont>
      <p:font typeface="Tajawal" panose="020B0604020202020204" charset="-78"/>
      <p:regular r:id="rId30"/>
      <p:bold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524">
          <p15:clr>
            <a:srgbClr val="747775"/>
          </p15:clr>
        </p15:guide>
        <p15:guide id="2" orient="horz" pos="2560">
          <p15:clr>
            <a:srgbClr val="747775"/>
          </p15:clr>
        </p15:guide>
        <p15:guide id="3" pos="2880">
          <p15:clr>
            <a:srgbClr val="747775"/>
          </p15:clr>
        </p15:guide>
        <p15:guide id="4" orient="horz" pos="759">
          <p15:clr>
            <a:srgbClr val="747775"/>
          </p15:clr>
        </p15:guide>
        <p15:guide id="5" orient="horz" pos="2428">
          <p15:clr>
            <a:srgbClr val="747775"/>
          </p15:clr>
        </p15:guide>
        <p15:guide id="6" pos="5325">
          <p15:clr>
            <a:srgbClr val="747775"/>
          </p15:clr>
        </p15:guide>
        <p15:guide id="7" orient="horz" pos="96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22E0367-EB9C-4807-88CA-1A682D9BA7E9}">
  <a:tblStyle styleId="{922E0367-EB9C-4807-88CA-1A682D9BA7E9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393" y="48"/>
      </p:cViewPr>
      <p:guideLst>
        <p:guide orient="horz" pos="524"/>
        <p:guide orient="horz" pos="2560"/>
        <p:guide pos="2880"/>
        <p:guide orient="horz" pos="759"/>
        <p:guide orient="horz" pos="2428"/>
        <p:guide pos="5325"/>
        <p:guide orient="horz" pos="9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1a09276e835_1_9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7" name="Google Shape;577;g1a09276e835_1_9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300"/>
              <a:buFont typeface="Tajawal"/>
              <a:buNone/>
              <a:defRPr sz="4300" b="1">
                <a:latin typeface="Tajawal"/>
                <a:ea typeface="Tajawal"/>
                <a:cs typeface="Tajawal"/>
                <a:sym typeface="Tajawal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1"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2079450" y="714175"/>
            <a:ext cx="6707400" cy="77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1"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500"/>
              <a:buNone/>
              <a:defRPr b="1">
                <a:solidFill>
                  <a:srgbClr val="543198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1"/>
          </p:nvPr>
        </p:nvSpPr>
        <p:spPr>
          <a:xfrm>
            <a:off x="2758650" y="1526325"/>
            <a:ext cx="6028200" cy="175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rtl="1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Char char="●"/>
              <a:defRPr>
                <a:solidFill>
                  <a:srgbClr val="424242"/>
                </a:solidFill>
              </a:defRPr>
            </a:lvl1pPr>
            <a:lvl2pPr marL="914400" lvl="1" indent="-317500" rtl="1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○"/>
              <a:defRPr>
                <a:solidFill>
                  <a:srgbClr val="424242"/>
                </a:solidFill>
              </a:defRPr>
            </a:lvl2pPr>
            <a:lvl3pPr marL="1371600" lvl="2" indent="-317500" rtl="1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■"/>
              <a:defRPr>
                <a:solidFill>
                  <a:srgbClr val="424242"/>
                </a:solidFill>
              </a:defRPr>
            </a:lvl3pPr>
            <a:lvl4pPr marL="1828800" lvl="3" indent="-317500" rtl="1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●"/>
              <a:defRPr>
                <a:solidFill>
                  <a:srgbClr val="424242"/>
                </a:solidFill>
              </a:defRPr>
            </a:lvl4pPr>
            <a:lvl5pPr marL="2286000" lvl="4" indent="-317500" rtl="1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○"/>
              <a:defRPr>
                <a:solidFill>
                  <a:srgbClr val="424242"/>
                </a:solidFill>
              </a:defRPr>
            </a:lvl5pPr>
            <a:lvl6pPr marL="2743200" lvl="5" indent="-317500" rtl="1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■"/>
              <a:defRPr>
                <a:solidFill>
                  <a:srgbClr val="424242"/>
                </a:solidFill>
              </a:defRPr>
            </a:lvl6pPr>
            <a:lvl7pPr marL="3200400" lvl="6" indent="-317500" rtl="1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●"/>
              <a:defRPr>
                <a:solidFill>
                  <a:srgbClr val="424242"/>
                </a:solidFill>
              </a:defRPr>
            </a:lvl7pPr>
            <a:lvl8pPr marL="3657600" lvl="7" indent="-317500" rtl="1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○"/>
              <a:defRPr>
                <a:solidFill>
                  <a:srgbClr val="424242"/>
                </a:solidFill>
              </a:defRPr>
            </a:lvl8pPr>
            <a:lvl9pPr marL="4114800" lvl="8" indent="-317500" rtl="1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■"/>
              <a:defRPr>
                <a:solidFill>
                  <a:srgbClr val="42424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>
            <a:spLocks noGrp="1"/>
          </p:cNvSpPr>
          <p:nvPr>
            <p:ph type="title"/>
          </p:nvPr>
        </p:nvSpPr>
        <p:spPr>
          <a:xfrm>
            <a:off x="311700" y="2824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1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7" name="Google Shape;27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959271" y="4703039"/>
            <a:ext cx="946580" cy="2139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 rt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 rt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pic>
        <p:nvPicPr>
          <p:cNvPr id="43" name="Google Shape;43;p11" title="twq white-2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43975" y="84975"/>
            <a:ext cx="1388326" cy="59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78993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9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2824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1">
              <a:spcBef>
                <a:spcPts val="0"/>
              </a:spcBef>
              <a:spcAft>
                <a:spcPts val="0"/>
              </a:spcAft>
              <a:buClr>
                <a:srgbClr val="4F29B7"/>
              </a:buClr>
              <a:buSzPts val="2500"/>
              <a:buFont typeface="IBM Plex Sans Arabic Medium"/>
              <a:buNone/>
              <a:defRPr sz="2500">
                <a:solidFill>
                  <a:srgbClr val="4F29B7"/>
                </a:solidFill>
                <a:latin typeface="IBM Plex Sans Arabic Medium"/>
                <a:ea typeface="IBM Plex Sans Arabic Medium"/>
                <a:cs typeface="IBM Plex Sans Arabic Medium"/>
                <a:sym typeface="IBM Plex Sans Arabic Medium"/>
              </a:defRPr>
            </a:lvl1pPr>
            <a:lvl2pPr lvl="1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800"/>
              <a:buFont typeface="IBM Plex Sans Arabic"/>
              <a:buChar char="●"/>
              <a:defRPr sz="1800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1pPr>
            <a:lvl2pPr marL="914400" lvl="1" indent="-317500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○"/>
              <a:defRPr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2pPr>
            <a:lvl3pPr marL="1371600" lvl="2" indent="-317500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■"/>
              <a:defRPr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3pPr>
            <a:lvl4pPr marL="1828800" lvl="3" indent="-317500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●"/>
              <a:defRPr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4pPr>
            <a:lvl5pPr marL="2286000" lvl="4" indent="-317500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○"/>
              <a:defRPr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5pPr>
            <a:lvl6pPr marL="2743200" lvl="5" indent="-317500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■"/>
              <a:defRPr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6pPr>
            <a:lvl7pPr marL="3200400" lvl="6" indent="-317500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●"/>
              <a:defRPr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7pPr>
            <a:lvl8pPr marL="3657600" lvl="7" indent="-317500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○"/>
              <a:defRPr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8pPr>
            <a:lvl9pPr marL="4114800" lvl="8" indent="-317500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■"/>
              <a:defRPr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5" r:id="rId5"/>
    <p:sldLayoutId id="2147483657" r:id="rId6"/>
    <p:sldLayoutId id="2147483660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>
            <a:spLocks noGrp="1"/>
          </p:cNvSpPr>
          <p:nvPr>
            <p:ph type="title"/>
          </p:nvPr>
        </p:nvSpPr>
        <p:spPr>
          <a:xfrm>
            <a:off x="5435226" y="867625"/>
            <a:ext cx="2974200" cy="226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dirty="0">
                <a:solidFill>
                  <a:srgbClr val="58E3D8"/>
                </a:solidFill>
                <a:latin typeface="IBM Plex Sans Arabic SemiBold"/>
                <a:ea typeface="IBM Plex Sans Arabic SemiBold"/>
                <a:cs typeface="IBM Plex Sans Arabic SemiBold"/>
                <a:sym typeface="IBM Plex Sans Arabic SemiBold"/>
              </a:rPr>
              <a:t>أكـــــاديميــــة طــــويـــق</a:t>
            </a:r>
            <a:endParaRPr sz="4800" dirty="0">
              <a:solidFill>
                <a:srgbClr val="58E3D8"/>
              </a:solidFill>
              <a:latin typeface="IBM Plex Sans Arabic SemiBold"/>
              <a:ea typeface="IBM Plex Sans Arabic SemiBold"/>
              <a:cs typeface="IBM Plex Sans Arabic SemiBold"/>
              <a:sym typeface="IBM Plex Sans Arabic SemiBold"/>
            </a:endParaRPr>
          </a:p>
        </p:txBody>
      </p:sp>
      <p:sp>
        <p:nvSpPr>
          <p:cNvPr id="51" name="Google Shape;51;p13"/>
          <p:cNvSpPr txBox="1">
            <a:spLocks noGrp="1"/>
          </p:cNvSpPr>
          <p:nvPr>
            <p:ph type="body" idx="4294967295"/>
          </p:nvPr>
        </p:nvSpPr>
        <p:spPr>
          <a:xfrm>
            <a:off x="3902100" y="3253272"/>
            <a:ext cx="4447500" cy="4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14300" indent="0" algn="r">
              <a:buNone/>
            </a:pPr>
            <a:r>
              <a:rPr lang="ar-SA" sz="2000" b="1" dirty="0">
                <a:solidFill>
                  <a:schemeClr val="bg1"/>
                </a:solidFill>
              </a:rPr>
              <a:t>المعسكر التأسيسي - مسار البرمجة</a:t>
            </a:r>
          </a:p>
          <a:p>
            <a:pPr marL="114300" indent="0">
              <a:buNone/>
            </a:pPr>
            <a:br>
              <a:rPr lang="ar-SA" sz="2000" dirty="0"/>
            </a:br>
            <a:endParaRPr lang="ar-SA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640330" cy="5143500"/>
          </a:xfrm>
          <a:prstGeom prst="rect">
            <a:avLst/>
          </a:prstGeom>
          <a:solidFill>
            <a:srgbClr val="0A2020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3" name="Shape 1"/>
          <p:cNvSpPr/>
          <p:nvPr/>
        </p:nvSpPr>
        <p:spPr>
          <a:xfrm>
            <a:off x="2633472" y="48006"/>
            <a:ext cx="13716" cy="5026914"/>
          </a:xfrm>
          <a:prstGeom prst="rect">
            <a:avLst/>
          </a:prstGeom>
          <a:solidFill>
            <a:srgbClr val="57E3D8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1714" cy="48006"/>
          </a:xfrm>
          <a:prstGeom prst="rect">
            <a:avLst/>
          </a:prstGeom>
          <a:solidFill>
            <a:srgbClr val="57E3D8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5" name="Shape 3"/>
          <p:cNvSpPr/>
          <p:nvPr/>
        </p:nvSpPr>
        <p:spPr>
          <a:xfrm>
            <a:off x="0" y="5074920"/>
            <a:ext cx="9141714" cy="68580"/>
          </a:xfrm>
          <a:prstGeom prst="rect">
            <a:avLst/>
          </a:prstGeom>
          <a:solidFill>
            <a:srgbClr val="4F29B7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6" name="Shape 4"/>
          <p:cNvSpPr/>
          <p:nvPr/>
        </p:nvSpPr>
        <p:spPr>
          <a:xfrm>
            <a:off x="377190" y="377190"/>
            <a:ext cx="925830" cy="377190"/>
          </a:xfrm>
          <a:prstGeom prst="roundRect">
            <a:avLst>
              <a:gd name="adj" fmla="val 49091"/>
            </a:avLst>
          </a:prstGeom>
          <a:solidFill>
            <a:srgbClr val="57E3D8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7" name="Text 5"/>
          <p:cNvSpPr/>
          <p:nvPr/>
        </p:nvSpPr>
        <p:spPr>
          <a:xfrm>
            <a:off x="377190" y="377190"/>
            <a:ext cx="92583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50" b="1" dirty="0">
                <a:solidFill>
                  <a:srgbClr val="0A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08610" y="994410"/>
            <a:ext cx="2057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500" dirty="0"/>
          </a:p>
        </p:txBody>
      </p:sp>
      <p:sp>
        <p:nvSpPr>
          <p:cNvPr id="9" name="Text 7"/>
          <p:cNvSpPr/>
          <p:nvPr/>
        </p:nvSpPr>
        <p:spPr>
          <a:xfrm>
            <a:off x="377190" y="2091690"/>
            <a:ext cx="22631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 Thinking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377190" y="4114800"/>
            <a:ext cx="1783080" cy="0"/>
          </a:xfrm>
          <a:prstGeom prst="line">
            <a:avLst/>
          </a:prstGeom>
          <a:noFill/>
          <a:ln w="1270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11" name="Text 9"/>
          <p:cNvSpPr/>
          <p:nvPr/>
        </p:nvSpPr>
        <p:spPr>
          <a:xfrm>
            <a:off x="377190" y="4217670"/>
            <a:ext cx="20574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75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Bootcamp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377190" y="4423410"/>
            <a:ext cx="20574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مسار البرمجة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948940" y="692658"/>
            <a:ext cx="5884164" cy="685800"/>
          </a:xfrm>
          <a:prstGeom prst="roundRect">
            <a:avLst>
              <a:gd name="adj" fmla="val 10000"/>
            </a:avLst>
          </a:prstGeom>
          <a:solidFill>
            <a:srgbClr val="1A1A2E"/>
          </a:solidFill>
          <a:ln w="12700">
            <a:solidFill>
              <a:srgbClr val="2A2A48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14" name="Shape 12"/>
          <p:cNvSpPr/>
          <p:nvPr/>
        </p:nvSpPr>
        <p:spPr>
          <a:xfrm>
            <a:off x="3188970" y="864108"/>
            <a:ext cx="342900" cy="342900"/>
          </a:xfrm>
          <a:prstGeom prst="ellipse">
            <a:avLst/>
          </a:prstGeom>
          <a:solidFill>
            <a:srgbClr val="57E3D8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15" name="Text 13"/>
          <p:cNvSpPr/>
          <p:nvPr/>
        </p:nvSpPr>
        <p:spPr>
          <a:xfrm>
            <a:off x="3188970" y="864108"/>
            <a:ext cx="342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50" b="1" dirty="0">
                <a:solidFill>
                  <a:srgbClr val="0A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703320" y="795528"/>
            <a:ext cx="6858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25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4526280" y="795528"/>
            <a:ext cx="4169664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25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computers work (CPU, memory, storage)</a:t>
            </a:r>
            <a:endParaRPr lang="en-US" sz="1125" dirty="0"/>
          </a:p>
        </p:txBody>
      </p:sp>
      <p:sp>
        <p:nvSpPr>
          <p:cNvPr id="18" name="Shape 16"/>
          <p:cNvSpPr/>
          <p:nvPr/>
        </p:nvSpPr>
        <p:spPr>
          <a:xfrm>
            <a:off x="4389120" y="829818"/>
            <a:ext cx="0" cy="411480"/>
          </a:xfrm>
          <a:prstGeom prst="line">
            <a:avLst/>
          </a:prstGeom>
          <a:noFill/>
          <a:ln w="1270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19" name="Shape 17"/>
          <p:cNvSpPr/>
          <p:nvPr/>
        </p:nvSpPr>
        <p:spPr>
          <a:xfrm>
            <a:off x="2948940" y="1460754"/>
            <a:ext cx="5884164" cy="685800"/>
          </a:xfrm>
          <a:prstGeom prst="roundRect">
            <a:avLst>
              <a:gd name="adj" fmla="val 10000"/>
            </a:avLst>
          </a:prstGeom>
          <a:solidFill>
            <a:srgbClr val="1A1A2E"/>
          </a:solidFill>
          <a:ln w="12700">
            <a:solidFill>
              <a:srgbClr val="2A2A48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20" name="Shape 18"/>
          <p:cNvSpPr/>
          <p:nvPr/>
        </p:nvSpPr>
        <p:spPr>
          <a:xfrm>
            <a:off x="3188970" y="1632204"/>
            <a:ext cx="342900" cy="342900"/>
          </a:xfrm>
          <a:prstGeom prst="ellipse">
            <a:avLst/>
          </a:prstGeom>
          <a:solidFill>
            <a:srgbClr val="57E3D8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21" name="Text 19"/>
          <p:cNvSpPr/>
          <p:nvPr/>
        </p:nvSpPr>
        <p:spPr>
          <a:xfrm>
            <a:off x="3188970" y="1632204"/>
            <a:ext cx="342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50" b="1" dirty="0">
                <a:solidFill>
                  <a:srgbClr val="0A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3703320" y="1563624"/>
            <a:ext cx="6858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25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125" dirty="0"/>
          </a:p>
        </p:txBody>
      </p:sp>
      <p:sp>
        <p:nvSpPr>
          <p:cNvPr id="23" name="Text 21"/>
          <p:cNvSpPr/>
          <p:nvPr/>
        </p:nvSpPr>
        <p:spPr>
          <a:xfrm>
            <a:off x="4526280" y="1563624"/>
            <a:ext cx="4169664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25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Problem-solving methodology</a:t>
            </a:r>
            <a:endParaRPr lang="en-US" sz="1125" dirty="0"/>
          </a:p>
        </p:txBody>
      </p:sp>
      <p:sp>
        <p:nvSpPr>
          <p:cNvPr id="24" name="Shape 22"/>
          <p:cNvSpPr/>
          <p:nvPr/>
        </p:nvSpPr>
        <p:spPr>
          <a:xfrm>
            <a:off x="4389120" y="1597914"/>
            <a:ext cx="0" cy="411480"/>
          </a:xfrm>
          <a:prstGeom prst="line">
            <a:avLst/>
          </a:prstGeom>
          <a:noFill/>
          <a:ln w="1270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25" name="Shape 23"/>
          <p:cNvSpPr/>
          <p:nvPr/>
        </p:nvSpPr>
        <p:spPr>
          <a:xfrm>
            <a:off x="2948940" y="2228850"/>
            <a:ext cx="5884164" cy="685800"/>
          </a:xfrm>
          <a:prstGeom prst="roundRect">
            <a:avLst>
              <a:gd name="adj" fmla="val 10000"/>
            </a:avLst>
          </a:prstGeom>
          <a:solidFill>
            <a:srgbClr val="1A1A2E"/>
          </a:solidFill>
          <a:ln w="12700">
            <a:solidFill>
              <a:srgbClr val="2A2A48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26" name="Shape 24"/>
          <p:cNvSpPr/>
          <p:nvPr/>
        </p:nvSpPr>
        <p:spPr>
          <a:xfrm>
            <a:off x="3188970" y="2400300"/>
            <a:ext cx="342900" cy="342900"/>
          </a:xfrm>
          <a:prstGeom prst="ellipse">
            <a:avLst/>
          </a:prstGeom>
          <a:solidFill>
            <a:srgbClr val="57E3D8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27" name="Text 25"/>
          <p:cNvSpPr/>
          <p:nvPr/>
        </p:nvSpPr>
        <p:spPr>
          <a:xfrm>
            <a:off x="3188970" y="2400300"/>
            <a:ext cx="342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50" b="1" dirty="0">
                <a:solidFill>
                  <a:srgbClr val="0A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3703320" y="2331720"/>
            <a:ext cx="6858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25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125" dirty="0"/>
          </a:p>
        </p:txBody>
      </p:sp>
      <p:sp>
        <p:nvSpPr>
          <p:cNvPr id="29" name="Text 27"/>
          <p:cNvSpPr/>
          <p:nvPr/>
        </p:nvSpPr>
        <p:spPr>
          <a:xfrm>
            <a:off x="4526280" y="2331720"/>
            <a:ext cx="4169664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25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Flowcharts &amp; pseudocode</a:t>
            </a:r>
            <a:endParaRPr lang="en-US" sz="1125" dirty="0"/>
          </a:p>
        </p:txBody>
      </p:sp>
      <p:sp>
        <p:nvSpPr>
          <p:cNvPr id="30" name="Shape 28"/>
          <p:cNvSpPr/>
          <p:nvPr/>
        </p:nvSpPr>
        <p:spPr>
          <a:xfrm>
            <a:off x="4389120" y="2366010"/>
            <a:ext cx="0" cy="411480"/>
          </a:xfrm>
          <a:prstGeom prst="line">
            <a:avLst/>
          </a:prstGeom>
          <a:noFill/>
          <a:ln w="1270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31" name="Shape 29"/>
          <p:cNvSpPr/>
          <p:nvPr/>
        </p:nvSpPr>
        <p:spPr>
          <a:xfrm>
            <a:off x="2948940" y="2996946"/>
            <a:ext cx="5884164" cy="685800"/>
          </a:xfrm>
          <a:prstGeom prst="roundRect">
            <a:avLst>
              <a:gd name="adj" fmla="val 10000"/>
            </a:avLst>
          </a:prstGeom>
          <a:solidFill>
            <a:srgbClr val="1A1A2E"/>
          </a:solidFill>
          <a:ln w="2540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32" name="Shape 30"/>
          <p:cNvSpPr/>
          <p:nvPr/>
        </p:nvSpPr>
        <p:spPr>
          <a:xfrm>
            <a:off x="3188970" y="3168396"/>
            <a:ext cx="342900" cy="342900"/>
          </a:xfrm>
          <a:prstGeom prst="ellipse">
            <a:avLst/>
          </a:prstGeom>
          <a:solidFill>
            <a:srgbClr val="57E3D8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33" name="Text 31"/>
          <p:cNvSpPr/>
          <p:nvPr/>
        </p:nvSpPr>
        <p:spPr>
          <a:xfrm>
            <a:off x="3188970" y="3168396"/>
            <a:ext cx="342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50" b="1" dirty="0">
                <a:solidFill>
                  <a:srgbClr val="0A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3703320" y="3099816"/>
            <a:ext cx="6858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25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1125" dirty="0"/>
          </a:p>
        </p:txBody>
      </p:sp>
      <p:sp>
        <p:nvSpPr>
          <p:cNvPr id="35" name="Text 33"/>
          <p:cNvSpPr/>
          <p:nvPr/>
        </p:nvSpPr>
        <p:spPr>
          <a:xfrm>
            <a:off x="4526280" y="3099816"/>
            <a:ext cx="4169664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25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logic (conditions)</a:t>
            </a:r>
            <a:endParaRPr lang="en-US" sz="1125" dirty="0"/>
          </a:p>
        </p:txBody>
      </p:sp>
      <p:sp>
        <p:nvSpPr>
          <p:cNvPr id="36" name="Shape 34"/>
          <p:cNvSpPr/>
          <p:nvPr/>
        </p:nvSpPr>
        <p:spPr>
          <a:xfrm>
            <a:off x="4389120" y="3134106"/>
            <a:ext cx="0" cy="411480"/>
          </a:xfrm>
          <a:prstGeom prst="line">
            <a:avLst/>
          </a:prstGeom>
          <a:noFill/>
          <a:ln w="1270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37" name="Shape 35"/>
          <p:cNvSpPr/>
          <p:nvPr/>
        </p:nvSpPr>
        <p:spPr>
          <a:xfrm>
            <a:off x="2948940" y="3765042"/>
            <a:ext cx="5884164" cy="685800"/>
          </a:xfrm>
          <a:prstGeom prst="roundRect">
            <a:avLst>
              <a:gd name="adj" fmla="val 10000"/>
            </a:avLst>
          </a:prstGeom>
          <a:solidFill>
            <a:srgbClr val="1A1A2E"/>
          </a:solidFill>
          <a:ln w="12700">
            <a:solidFill>
              <a:srgbClr val="2A2A48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  <p:sp>
        <p:nvSpPr>
          <p:cNvPr id="38" name="Shape 36"/>
          <p:cNvSpPr/>
          <p:nvPr/>
        </p:nvSpPr>
        <p:spPr>
          <a:xfrm>
            <a:off x="3188970" y="3936492"/>
            <a:ext cx="342900" cy="342900"/>
          </a:xfrm>
          <a:prstGeom prst="ellipse">
            <a:avLst/>
          </a:prstGeom>
          <a:solidFill>
            <a:srgbClr val="57E3D8"/>
          </a:solidFill>
          <a:ln/>
        </p:spPr>
        <p:txBody>
          <a:bodyPr/>
          <a:lstStyle/>
          <a:p>
            <a:endParaRPr lang="en-US" sz="1050"/>
          </a:p>
        </p:txBody>
      </p:sp>
      <p:sp>
        <p:nvSpPr>
          <p:cNvPr id="39" name="Text 37"/>
          <p:cNvSpPr/>
          <p:nvPr/>
        </p:nvSpPr>
        <p:spPr>
          <a:xfrm>
            <a:off x="3188970" y="3936492"/>
            <a:ext cx="342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50" b="1" dirty="0">
                <a:solidFill>
                  <a:srgbClr val="0A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3703320" y="3867912"/>
            <a:ext cx="6858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25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</a:t>
            </a:r>
            <a:endParaRPr lang="en-US" sz="1125" dirty="0"/>
          </a:p>
        </p:txBody>
      </p:sp>
      <p:sp>
        <p:nvSpPr>
          <p:cNvPr id="41" name="Text 39"/>
          <p:cNvSpPr/>
          <p:nvPr/>
        </p:nvSpPr>
        <p:spPr>
          <a:xfrm>
            <a:off x="4526280" y="3867912"/>
            <a:ext cx="4169664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25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Repetition and loops (conceptual)</a:t>
            </a:r>
            <a:endParaRPr lang="en-US" sz="1125" dirty="0"/>
          </a:p>
        </p:txBody>
      </p:sp>
      <p:sp>
        <p:nvSpPr>
          <p:cNvPr id="42" name="Shape 40"/>
          <p:cNvSpPr/>
          <p:nvPr/>
        </p:nvSpPr>
        <p:spPr>
          <a:xfrm>
            <a:off x="4389120" y="3902202"/>
            <a:ext cx="0" cy="411480"/>
          </a:xfrm>
          <a:prstGeom prst="line">
            <a:avLst/>
          </a:prstGeom>
          <a:noFill/>
          <a:ln w="1270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 sz="105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320040"/>
            <a:ext cx="228600" cy="228600"/>
          </a:xfrm>
          <a:prstGeom prst="rect">
            <a:avLst/>
          </a:prstGeom>
          <a:solidFill>
            <a:srgbClr val="9B7EDA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48640" y="685800"/>
            <a:ext cx="137160" cy="137160"/>
          </a:xfrm>
          <a:prstGeom prst="rect">
            <a:avLst/>
          </a:prstGeom>
          <a:solidFill>
            <a:srgbClr val="57E3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2011680"/>
            <a:ext cx="274320" cy="274320"/>
          </a:xfrm>
          <a:prstGeom prst="rect">
            <a:avLst/>
          </a:prstGeom>
          <a:solidFill>
            <a:srgbClr val="57E3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4023360"/>
            <a:ext cx="182880" cy="182880"/>
          </a:xfrm>
          <a:prstGeom prst="rect">
            <a:avLst/>
          </a:prstGeom>
          <a:solidFill>
            <a:srgbClr val="9B7EDA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4572000"/>
            <a:ext cx="256032" cy="256032"/>
          </a:xfrm>
          <a:prstGeom prst="rect">
            <a:avLst/>
          </a:prstGeom>
          <a:solidFill>
            <a:srgbClr val="57E3D8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503920" y="457200"/>
            <a:ext cx="182880" cy="182880"/>
          </a:xfrm>
          <a:prstGeom prst="rect">
            <a:avLst/>
          </a:prstGeom>
          <a:solidFill>
            <a:srgbClr val="57E3D8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321040" y="4206240"/>
            <a:ext cx="274320" cy="274320"/>
          </a:xfrm>
          <a:prstGeom prst="rect">
            <a:avLst/>
          </a:prstGeom>
          <a:solidFill>
            <a:srgbClr val="9B7EDA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955280" y="4663440"/>
            <a:ext cx="182880" cy="182880"/>
          </a:xfrm>
          <a:prstGeom prst="rect">
            <a:avLst/>
          </a:prstGeom>
          <a:solidFill>
            <a:srgbClr val="57E3D8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943600" y="2743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Bootcamp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0" y="5029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Fundamentals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1463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800" dirty="0">
                <a:solidFill>
                  <a:srgbClr val="57E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 4  ·  WEEK 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18745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Logic</a:t>
            </a:r>
            <a:endParaRPr lang="en-US" sz="5200" dirty="0"/>
          </a:p>
        </p:txBody>
      </p:sp>
      <p:sp>
        <p:nvSpPr>
          <p:cNvPr id="14" name="Text 12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 in programming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48640" y="402336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400" dirty="0">
                <a:solidFill>
                  <a:srgbClr val="9AA4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ASKS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48640" y="42519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383280" y="402336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400" dirty="0">
                <a:solidFill>
                  <a:srgbClr val="9AA4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MAKES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383280" y="42519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08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CHOICES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217920" y="402336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400" dirty="0">
                <a:solidFill>
                  <a:srgbClr val="9AA4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217920" y="42519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9B7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7E3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102352"/>
            <a:ext cx="9144000" cy="45720"/>
          </a:xfrm>
          <a:prstGeom prst="rect">
            <a:avLst/>
          </a:prstGeom>
          <a:solidFill>
            <a:srgbClr val="4F29B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11480" y="320040"/>
            <a:ext cx="1554480" cy="914400"/>
          </a:xfrm>
          <a:prstGeom prst="rect">
            <a:avLst/>
          </a:prstGeom>
          <a:solidFill>
            <a:srgbClr val="57E3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38404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" y="59436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A0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114800" y="3657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Bootcamp · Programming Fundamentals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0" y="5943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 ·  Session 4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1371600"/>
            <a:ext cx="8321040" cy="1143000"/>
          </a:xfrm>
          <a:prstGeom prst="rect">
            <a:avLst/>
          </a:prstGeom>
          <a:solidFill>
            <a:srgbClr val="1A1A2E"/>
          </a:solidFill>
          <a:ln w="2540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11480" y="1371600"/>
            <a:ext cx="109728" cy="1143000"/>
          </a:xfrm>
          <a:prstGeom prst="rect">
            <a:avLst/>
          </a:prstGeom>
          <a:solidFill>
            <a:srgbClr val="57E3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85800" y="1463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Topics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17830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Logic — Conditions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11480" y="2743200"/>
            <a:ext cx="1975104" cy="320040"/>
          </a:xfrm>
          <a:prstGeom prst="rect">
            <a:avLst/>
          </a:prstGeom>
          <a:solidFill>
            <a:srgbClr val="57E3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" y="276148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0B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" y="3063240"/>
            <a:ext cx="1975104" cy="173736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097280" y="3246120"/>
            <a:ext cx="594360" cy="594360"/>
          </a:xfrm>
          <a:prstGeom prst="ellipse">
            <a:avLst/>
          </a:prstGeom>
          <a:solidFill>
            <a:srgbClr val="0F1028"/>
          </a:solidFill>
          <a:ln w="2540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97280" y="32461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❓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502920" y="3931920"/>
            <a:ext cx="17922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a Condition?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4251960"/>
            <a:ext cx="17007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programs ask yes/no questions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478024" y="2743200"/>
            <a:ext cx="1975104" cy="320040"/>
          </a:xfrm>
          <a:prstGeom prst="rect">
            <a:avLst/>
          </a:prstGeom>
          <a:solidFill>
            <a:srgbClr val="E8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615184" y="276148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0B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478024" y="3063240"/>
            <a:ext cx="1975104" cy="173736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163824" y="3246120"/>
            <a:ext cx="594360" cy="594360"/>
          </a:xfrm>
          <a:prstGeom prst="ellipse">
            <a:avLst/>
          </a:prstGeom>
          <a:solidFill>
            <a:srgbClr val="0F1028"/>
          </a:solidFill>
          <a:ln w="25400">
            <a:solidFill>
              <a:srgbClr val="E84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163824" y="32461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⚖️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2569464" y="3931920"/>
            <a:ext cx="17922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Operators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2615184" y="4251960"/>
            <a:ext cx="17007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than, equal to, less than...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44568" y="2743200"/>
            <a:ext cx="1975104" cy="320040"/>
          </a:xfrm>
          <a:prstGeom prst="rect">
            <a:avLst/>
          </a:prstGeom>
          <a:solidFill>
            <a:srgbClr val="E088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681728" y="276148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0B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44568" y="3063240"/>
            <a:ext cx="1975104" cy="173736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5230368" y="3246120"/>
            <a:ext cx="594360" cy="594360"/>
          </a:xfrm>
          <a:prstGeom prst="ellipse">
            <a:avLst/>
          </a:prstGeom>
          <a:solidFill>
            <a:srgbClr val="0F1028"/>
          </a:solidFill>
          <a:ln w="25400">
            <a:solidFill>
              <a:srgbClr val="E088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230368" y="32461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🔀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4636008" y="3931920"/>
            <a:ext cx="17922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08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/ else / else if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681728" y="4251960"/>
            <a:ext cx="17007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what to do based on conditions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611112" y="2743200"/>
            <a:ext cx="1975104" cy="320040"/>
          </a:xfrm>
          <a:prstGeom prst="rect">
            <a:avLst/>
          </a:prstGeom>
          <a:solidFill>
            <a:srgbClr val="9B7E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748272" y="276148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0B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611112" y="3063240"/>
            <a:ext cx="1975104" cy="173736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7296912" y="3246120"/>
            <a:ext cx="594360" cy="594360"/>
          </a:xfrm>
          <a:prstGeom prst="ellipse">
            <a:avLst/>
          </a:prstGeom>
          <a:solidFill>
            <a:srgbClr val="0F1028"/>
          </a:solidFill>
          <a:ln w="25400">
            <a:solidFill>
              <a:srgbClr val="9B7E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7296912" y="32461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🧠</a:t>
            </a:r>
            <a:endParaRPr lang="en-US" sz="2600" dirty="0"/>
          </a:p>
        </p:txBody>
      </p:sp>
      <p:sp>
        <p:nvSpPr>
          <p:cNvPr id="39" name="Text 37"/>
          <p:cNvSpPr/>
          <p:nvPr/>
        </p:nvSpPr>
        <p:spPr>
          <a:xfrm>
            <a:off x="6702552" y="3931920"/>
            <a:ext cx="17922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B7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Operators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748272" y="4251960"/>
            <a:ext cx="17007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conditions with AND, OR, NOT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11480" y="484632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Programs that make smart choices.  🎯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7E3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102352"/>
            <a:ext cx="9144000" cy="45720"/>
          </a:xfrm>
          <a:prstGeom prst="rect">
            <a:avLst/>
          </a:prstGeom>
          <a:solidFill>
            <a:srgbClr val="4F29B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3200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57E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SECTION 01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condition?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217920" y="16459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CONDITION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11480" y="1280160"/>
            <a:ext cx="8321040" cy="960120"/>
          </a:xfrm>
          <a:prstGeom prst="rect">
            <a:avLst/>
          </a:prstGeom>
          <a:solidFill>
            <a:srgbClr val="1A1A2E"/>
          </a:solidFill>
          <a:ln w="1270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11480" y="1280160"/>
            <a:ext cx="109728" cy="960120"/>
          </a:xfrm>
          <a:prstGeom prst="rect">
            <a:avLst/>
          </a:prstGeom>
          <a:solidFill>
            <a:srgbClr val="57E3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85800" y="1371600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condition is a yes/no question your program asks itself.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5800" y="1783080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answer is always TRUE or FALSE — and based on that answer, the program does different things.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2468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real life, you make decisions all day: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1480" y="2834640"/>
            <a:ext cx="2688336" cy="2011680"/>
          </a:xfrm>
          <a:prstGeom prst="rect">
            <a:avLst/>
          </a:prstGeom>
          <a:solidFill>
            <a:srgbClr val="1A1A2E"/>
          </a:solidFill>
          <a:ln w="25400">
            <a:solidFill>
              <a:srgbClr val="E088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8640" y="2926080"/>
            <a:ext cx="24140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08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☔  Is it raining?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94360" y="3383280"/>
            <a:ext cx="2322576" cy="18288"/>
          </a:xfrm>
          <a:prstGeom prst="rect">
            <a:avLst/>
          </a:prstGeom>
          <a:solidFill>
            <a:srgbClr val="E08845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94360" y="3520440"/>
            <a:ext cx="23225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YES →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umbrella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4360" y="4114800"/>
            <a:ext cx="23225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4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→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umbrella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27832" y="2834640"/>
            <a:ext cx="2688336" cy="2011680"/>
          </a:xfrm>
          <a:prstGeom prst="rect">
            <a:avLst/>
          </a:prstGeom>
          <a:solidFill>
            <a:srgbClr val="1A1A2E"/>
          </a:solidFill>
          <a:ln w="254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364992" y="2926080"/>
            <a:ext cx="24140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Have $5?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410712" y="3383280"/>
            <a:ext cx="2322576" cy="18288"/>
          </a:xfrm>
          <a:prstGeom prst="rect">
            <a:avLst/>
          </a:prstGeom>
          <a:solidFill>
            <a:srgbClr val="4ADE80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410712" y="3520440"/>
            <a:ext cx="23225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YES →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coffee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410712" y="4114800"/>
            <a:ext cx="23225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4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→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thirsty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044184" y="2834640"/>
            <a:ext cx="2688336" cy="2011680"/>
          </a:xfrm>
          <a:prstGeom prst="rect">
            <a:avLst/>
          </a:prstGeom>
          <a:solidFill>
            <a:srgbClr val="1A1A2E"/>
          </a:solidFill>
          <a:ln w="25400">
            <a:solidFill>
              <a:srgbClr val="9B7E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181344" y="2926080"/>
            <a:ext cx="24140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B7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⏰  Is it after 9 PM?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227064" y="3383280"/>
            <a:ext cx="2322576" cy="18288"/>
          </a:xfrm>
          <a:prstGeom prst="rect">
            <a:avLst/>
          </a:prstGeom>
          <a:solidFill>
            <a:srgbClr val="9B7EDA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227064" y="3520440"/>
            <a:ext cx="23225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YES →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bed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227064" y="4114800"/>
            <a:ext cx="23225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4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→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working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7E3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102352"/>
            <a:ext cx="9144000" cy="45720"/>
          </a:xfrm>
          <a:prstGeom prst="rect">
            <a:avLst/>
          </a:prstGeom>
          <a:solidFill>
            <a:srgbClr val="4F29B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3200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E088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THE ANSWER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condition gives one of two answers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217920" y="16459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BOOLEAN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11480" y="1280160"/>
            <a:ext cx="4114800" cy="3611880"/>
          </a:xfrm>
          <a:prstGeom prst="rect">
            <a:avLst/>
          </a:prstGeom>
          <a:solidFill>
            <a:srgbClr val="1A1A2E"/>
          </a:solidFill>
          <a:ln w="254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11480" y="1280160"/>
            <a:ext cx="4114800" cy="365760"/>
          </a:xfrm>
          <a:prstGeom prst="rect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11480" y="13258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600" dirty="0">
                <a:solidFill>
                  <a:srgbClr val="0A0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874520" y="1828800"/>
            <a:ext cx="1188720" cy="1188720"/>
          </a:xfrm>
          <a:prstGeom prst="ellipse">
            <a:avLst/>
          </a:prstGeom>
          <a:solidFill>
            <a:srgbClr val="0F1028"/>
          </a:solidFill>
          <a:ln w="381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874520" y="182880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6000" dirty="0"/>
          </a:p>
        </p:txBody>
      </p:sp>
      <p:sp>
        <p:nvSpPr>
          <p:cNvPr id="12" name="Text 10"/>
          <p:cNvSpPr/>
          <p:nvPr/>
        </p:nvSpPr>
        <p:spPr>
          <a:xfrm>
            <a:off x="548640" y="32004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condition is satisfied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3657600"/>
            <a:ext cx="38404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Examples: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5 &gt; 3  →  TRUE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"hello" == "hello"  →  TRUE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age &gt;= 18 (when age = 20)  →  TRUE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17720" y="1280160"/>
            <a:ext cx="4114800" cy="3611880"/>
          </a:xfrm>
          <a:prstGeom prst="rect">
            <a:avLst/>
          </a:prstGeom>
          <a:solidFill>
            <a:srgbClr val="1A1A2E"/>
          </a:solidFill>
          <a:ln w="25400">
            <a:solidFill>
              <a:srgbClr val="E84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617720" y="1280160"/>
            <a:ext cx="4114800" cy="365760"/>
          </a:xfrm>
          <a:prstGeom prst="rect">
            <a:avLst/>
          </a:prstGeom>
          <a:solidFill>
            <a:srgbClr val="E8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617720" y="13258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600" dirty="0">
                <a:solidFill>
                  <a:srgbClr val="0A0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080760" y="1828800"/>
            <a:ext cx="1188720" cy="1188720"/>
          </a:xfrm>
          <a:prstGeom prst="ellipse">
            <a:avLst/>
          </a:prstGeom>
          <a:solidFill>
            <a:srgbClr val="0F1028"/>
          </a:solidFill>
          <a:ln w="38100">
            <a:solidFill>
              <a:srgbClr val="E84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080760" y="182880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E8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6000" dirty="0"/>
          </a:p>
        </p:txBody>
      </p:sp>
      <p:sp>
        <p:nvSpPr>
          <p:cNvPr id="19" name="Text 17"/>
          <p:cNvSpPr/>
          <p:nvPr/>
        </p:nvSpPr>
        <p:spPr>
          <a:xfrm>
            <a:off x="4754880" y="32004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condition is NOT satisfied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754880" y="3657600"/>
            <a:ext cx="38404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Examples: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5 &gt; 10  →  FALSE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"cat" == "dog"  →  FALSE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age &gt;= 18 (when age = 15)  →  FALSE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7E3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102352"/>
            <a:ext cx="9144000" cy="45720"/>
          </a:xfrm>
          <a:prstGeom prst="rect">
            <a:avLst/>
          </a:prstGeom>
          <a:solidFill>
            <a:srgbClr val="4F29B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3200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E84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SECTION 02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operators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11480" y="10789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symbols you'll use to compare values.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217920" y="16459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OPERATORS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" y="1508760"/>
            <a:ext cx="2688336" cy="155448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11480" y="1508760"/>
            <a:ext cx="2688336" cy="73152"/>
          </a:xfrm>
          <a:prstGeom prst="rect">
            <a:avLst/>
          </a:prstGeom>
          <a:solidFill>
            <a:srgbClr val="57E3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" y="1673352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57E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463040" y="1691640"/>
            <a:ext cx="1591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 to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63040" y="2057400"/>
            <a:ext cx="15910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they the SAME?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2468880"/>
            <a:ext cx="2414016" cy="457200"/>
          </a:xfrm>
          <a:prstGeom prst="rect">
            <a:avLst/>
          </a:prstGeom>
          <a:solidFill>
            <a:srgbClr val="0A0B1C"/>
          </a:solidFill>
          <a:ln w="635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" y="2468880"/>
            <a:ext cx="24140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7E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 == 18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227832" y="1508760"/>
            <a:ext cx="2688336" cy="155448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227832" y="1508760"/>
            <a:ext cx="2688336" cy="73152"/>
          </a:xfrm>
          <a:prstGeom prst="rect">
            <a:avLst/>
          </a:prstGeom>
          <a:solidFill>
            <a:srgbClr val="E8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319272" y="1673352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84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!=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4279392" y="1691640"/>
            <a:ext cx="1591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equal to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279392" y="2057400"/>
            <a:ext cx="15910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they DIFFERENT?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364992" y="2468880"/>
            <a:ext cx="2414016" cy="457200"/>
          </a:xfrm>
          <a:prstGeom prst="rect">
            <a:avLst/>
          </a:prstGeom>
          <a:solidFill>
            <a:srgbClr val="0A0B1C"/>
          </a:solidFill>
          <a:ln w="635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364992" y="2468880"/>
            <a:ext cx="24140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4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 != 18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044184" y="1508760"/>
            <a:ext cx="2688336" cy="155448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044184" y="1508760"/>
            <a:ext cx="2688336" cy="73152"/>
          </a:xfrm>
          <a:prstGeom prst="rect">
            <a:avLst/>
          </a:prstGeom>
          <a:solidFill>
            <a:srgbClr val="E088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135624" y="1673352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088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7095744" y="1691640"/>
            <a:ext cx="1591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than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095744" y="2057400"/>
            <a:ext cx="15910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left BIGGER?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181344" y="2468880"/>
            <a:ext cx="2414016" cy="457200"/>
          </a:xfrm>
          <a:prstGeom prst="rect">
            <a:avLst/>
          </a:prstGeom>
          <a:solidFill>
            <a:srgbClr val="0A0B1C"/>
          </a:solidFill>
          <a:ln w="635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181344" y="2468880"/>
            <a:ext cx="24140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088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 &gt; 18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11480" y="3200400"/>
            <a:ext cx="2688336" cy="155448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11480" y="3200400"/>
            <a:ext cx="2688336" cy="73152"/>
          </a:xfrm>
          <a:prstGeom prst="rect">
            <a:avLst/>
          </a:prstGeom>
          <a:solidFill>
            <a:srgbClr val="9B7E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02920" y="3364992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9B7E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endParaRPr lang="en-US" sz="3200" dirty="0"/>
          </a:p>
        </p:txBody>
      </p:sp>
      <p:sp>
        <p:nvSpPr>
          <p:cNvPr id="32" name="Text 30"/>
          <p:cNvSpPr/>
          <p:nvPr/>
        </p:nvSpPr>
        <p:spPr>
          <a:xfrm>
            <a:off x="1463040" y="3383280"/>
            <a:ext cx="1591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than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463040" y="3749040"/>
            <a:ext cx="15910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left SMALLER?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48640" y="4160520"/>
            <a:ext cx="2414016" cy="457200"/>
          </a:xfrm>
          <a:prstGeom prst="rect">
            <a:avLst/>
          </a:prstGeom>
          <a:solidFill>
            <a:srgbClr val="0A0B1C"/>
          </a:solidFill>
          <a:ln w="635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48640" y="4160520"/>
            <a:ext cx="24140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B7E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 &lt; 18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3227832" y="3200400"/>
            <a:ext cx="2688336" cy="155448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3227832" y="3200400"/>
            <a:ext cx="2688336" cy="73152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319272" y="3364992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&gt;=</a:t>
            </a:r>
            <a:endParaRPr lang="en-US" sz="3200" dirty="0"/>
          </a:p>
        </p:txBody>
      </p:sp>
      <p:sp>
        <p:nvSpPr>
          <p:cNvPr id="39" name="Text 37"/>
          <p:cNvSpPr/>
          <p:nvPr/>
        </p:nvSpPr>
        <p:spPr>
          <a:xfrm>
            <a:off x="4279392" y="3383280"/>
            <a:ext cx="1591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than or equal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279392" y="3749040"/>
            <a:ext cx="15910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left bigger OR same?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364992" y="4160520"/>
            <a:ext cx="2414016" cy="457200"/>
          </a:xfrm>
          <a:prstGeom prst="rect">
            <a:avLst/>
          </a:prstGeom>
          <a:solidFill>
            <a:srgbClr val="0A0B1C"/>
          </a:solidFill>
          <a:ln w="635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3364992" y="4160520"/>
            <a:ext cx="24140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 &gt;= 18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6044184" y="3200400"/>
            <a:ext cx="2688336" cy="155448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6044184" y="3200400"/>
            <a:ext cx="2688336" cy="73152"/>
          </a:xfrm>
          <a:prstGeom prst="rect">
            <a:avLst/>
          </a:prstGeom>
          <a:solidFill>
            <a:srgbClr val="4A8A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135624" y="3364992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4A8A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&lt;=</a:t>
            </a:r>
            <a:endParaRPr lang="en-US" sz="3200" dirty="0"/>
          </a:p>
        </p:txBody>
      </p:sp>
      <p:sp>
        <p:nvSpPr>
          <p:cNvPr id="46" name="Text 44"/>
          <p:cNvSpPr/>
          <p:nvPr/>
        </p:nvSpPr>
        <p:spPr>
          <a:xfrm>
            <a:off x="7095744" y="3383280"/>
            <a:ext cx="15910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than or equal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7095744" y="3749040"/>
            <a:ext cx="15910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left smaller OR same?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181344" y="4160520"/>
            <a:ext cx="2414016" cy="457200"/>
          </a:xfrm>
          <a:prstGeom prst="rect">
            <a:avLst/>
          </a:prstGeom>
          <a:solidFill>
            <a:srgbClr val="0A0B1C"/>
          </a:solidFill>
          <a:ln w="635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6181344" y="4160520"/>
            <a:ext cx="24140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A8A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 &lt;= 18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7E3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102352"/>
            <a:ext cx="9144000" cy="45720"/>
          </a:xfrm>
          <a:prstGeom prst="rect">
            <a:avLst/>
          </a:prstGeom>
          <a:solidFill>
            <a:srgbClr val="4F29B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3200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E84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COMMON CONFUSION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is NOT the same as ==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217920" y="16459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WATCH OUT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1480" y="1097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#1 mistake beginners make. Be careful!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1554480"/>
            <a:ext cx="4114800" cy="3337560"/>
          </a:xfrm>
          <a:prstGeom prst="rect">
            <a:avLst/>
          </a:prstGeom>
          <a:solidFill>
            <a:srgbClr val="1A1A2E"/>
          </a:solidFill>
          <a:ln w="25400">
            <a:solidFill>
              <a:srgbClr val="E088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11480" y="1554480"/>
            <a:ext cx="4114800" cy="365760"/>
          </a:xfrm>
          <a:prstGeom prst="rect">
            <a:avLst/>
          </a:prstGeom>
          <a:solidFill>
            <a:srgbClr val="E088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11480" y="16002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400" dirty="0">
                <a:solidFill>
                  <a:srgbClr val="0A0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ASSIGNMENT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20574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"Set this variable to this value"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2606040"/>
            <a:ext cx="3657600" cy="914400"/>
          </a:xfrm>
          <a:prstGeom prst="rect">
            <a:avLst/>
          </a:prstGeom>
          <a:solidFill>
            <a:srgbClr val="0A0B1C"/>
          </a:solidFill>
          <a:ln w="12700">
            <a:solidFill>
              <a:srgbClr val="E088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26060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088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 = 18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0080" y="30632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A4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store 18 in age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37033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08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 STORE values.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406908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variable holds the new value.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17720" y="1554480"/>
            <a:ext cx="4114800" cy="3337560"/>
          </a:xfrm>
          <a:prstGeom prst="rect">
            <a:avLst/>
          </a:prstGeom>
          <a:solidFill>
            <a:srgbClr val="1A1A2E"/>
          </a:solidFill>
          <a:ln w="2540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617720" y="1554480"/>
            <a:ext cx="4114800" cy="365760"/>
          </a:xfrm>
          <a:prstGeom prst="rect">
            <a:avLst/>
          </a:prstGeom>
          <a:solidFill>
            <a:srgbClr val="57E3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617720" y="16002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400" dirty="0">
                <a:solidFill>
                  <a:srgbClr val="0A0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== COMPARISON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54880" y="20574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"Are these two things equal?"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846320" y="2606040"/>
            <a:ext cx="3657600" cy="914400"/>
          </a:xfrm>
          <a:prstGeom prst="rect">
            <a:avLst/>
          </a:prstGeom>
          <a:solidFill>
            <a:srgbClr val="0A0B1C"/>
          </a:solidFill>
          <a:ln w="1270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46320" y="26060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7E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 == 18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846320" y="30632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A4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is age equal to 18?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54880" y="37033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 ASK questions.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54880" y="406908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TRUE or FALSE.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7E3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102352"/>
            <a:ext cx="9144000" cy="45720"/>
          </a:xfrm>
          <a:prstGeom prst="rect">
            <a:avLst/>
          </a:prstGeom>
          <a:solidFill>
            <a:srgbClr val="4F29B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3200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E088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SECTION 03 · BASIC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IF statement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11480" y="10789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condition is TRUE, do something.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217920" y="16459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IF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50876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Pseudocode: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1828800"/>
            <a:ext cx="4023360" cy="1371600"/>
          </a:xfrm>
          <a:prstGeom prst="rect">
            <a:avLst/>
          </a:prstGeom>
          <a:solidFill>
            <a:srgbClr val="0A0B1C"/>
          </a:solidFill>
          <a:ln w="1270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94360" y="1965960"/>
            <a:ext cx="3703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57E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condition THEN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57E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do something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57E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 IF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11480" y="33832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— "You can vote if 18+":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1480" y="3657600"/>
            <a:ext cx="4023360" cy="1188720"/>
          </a:xfrm>
          <a:prstGeom prst="rect">
            <a:avLst/>
          </a:prstGeom>
          <a:solidFill>
            <a:srgbClr val="0A0B1C"/>
          </a:solidFill>
          <a:ln w="12700">
            <a:solidFill>
              <a:srgbClr val="E088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94360" y="3794760"/>
            <a:ext cx="37033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088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age &gt;= 18 THEN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088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PRINT "You can vote!"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088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 IF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617720" y="15087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B7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flowchart: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760720" y="1828800"/>
            <a:ext cx="1828800" cy="914400"/>
          </a:xfrm>
          <a:prstGeom prst="diamond">
            <a:avLst/>
          </a:prstGeom>
          <a:solidFill>
            <a:srgbClr val="EEFF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760720" y="18288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0B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 ≥ 18?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537960" y="2788920"/>
            <a:ext cx="274320" cy="274320"/>
          </a:xfrm>
          <a:prstGeom prst="downArrow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858000" y="283464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635240" y="2212848"/>
            <a:ext cx="640080" cy="274320"/>
          </a:xfrm>
          <a:prstGeom prst="rightArrow">
            <a:avLst/>
          </a:prstGeom>
          <a:solidFill>
            <a:srgbClr val="E8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498080" y="194767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4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→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532120" y="3154680"/>
            <a:ext cx="2286000" cy="502920"/>
          </a:xfrm>
          <a:prstGeom prst="rect">
            <a:avLst/>
          </a:prstGeom>
          <a:solidFill>
            <a:srgbClr val="57E3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532120" y="31546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0B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 message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537960" y="3703320"/>
            <a:ext cx="274320" cy="228600"/>
          </a:xfrm>
          <a:prstGeom prst="downArrow">
            <a:avLst/>
          </a:prstGeom>
          <a:solidFill>
            <a:srgbClr val="57E3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035040" y="4023360"/>
            <a:ext cx="1280160" cy="411480"/>
          </a:xfrm>
          <a:prstGeom prst="ellipse">
            <a:avLst/>
          </a:prstGeom>
          <a:solidFill>
            <a:srgbClr val="E8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035040" y="402336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7E3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102352"/>
            <a:ext cx="9144000" cy="45720"/>
          </a:xfrm>
          <a:prstGeom prst="rect">
            <a:avLst/>
          </a:prstGeom>
          <a:solidFill>
            <a:srgbClr val="4F29B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3200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E088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SECTION 03 · TWO PATHS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/ ELSE — two paths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11480" y="10789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one thing if TRUE, a different thing if FALSE.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217920" y="16459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IF/ELSE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50876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Pseudocode: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1828800"/>
            <a:ext cx="4023360" cy="1463040"/>
          </a:xfrm>
          <a:prstGeom prst="rect">
            <a:avLst/>
          </a:prstGeom>
          <a:solidFill>
            <a:srgbClr val="0A0B1C"/>
          </a:solidFill>
          <a:ln w="1270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94360" y="1920240"/>
            <a:ext cx="3703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57E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condition THEN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57E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do thing A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57E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57E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do thing B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57E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 IF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617720" y="15087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B7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— "Pass or Fail":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17720" y="1828800"/>
            <a:ext cx="4114800" cy="1463040"/>
          </a:xfrm>
          <a:prstGeom prst="rect">
            <a:avLst/>
          </a:prstGeom>
          <a:solidFill>
            <a:srgbClr val="0A0B1C"/>
          </a:solidFill>
          <a:ln w="12700">
            <a:solidFill>
              <a:srgbClr val="9B7E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00600" y="1920240"/>
            <a:ext cx="3794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9B7E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score &gt;= 60 THEN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9B7E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PRINT "Passed!"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9B7E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9B7E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PRINT "Failed."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9B7E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 IF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11480" y="3520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it: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" y="3794760"/>
            <a:ext cx="4023360" cy="1051560"/>
          </a:xfrm>
          <a:prstGeom prst="rect">
            <a:avLst/>
          </a:prstGeom>
          <a:solidFill>
            <a:srgbClr val="1A1A2E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11480" y="3794760"/>
            <a:ext cx="73152" cy="1051560"/>
          </a:xfrm>
          <a:prstGeom prst="rect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94360" y="38862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= 75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94360" y="41605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75 &gt;= 60 → TRUE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94360" y="445312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Prints "Passed!"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63440" y="3794760"/>
            <a:ext cx="4023360" cy="1051560"/>
          </a:xfrm>
          <a:prstGeom prst="rect">
            <a:avLst/>
          </a:prstGeom>
          <a:solidFill>
            <a:srgbClr val="1A1A2E"/>
          </a:solidFill>
          <a:ln w="12700">
            <a:solidFill>
              <a:srgbClr val="E84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663440" y="3794760"/>
            <a:ext cx="73152" cy="1051560"/>
          </a:xfrm>
          <a:prstGeom prst="rect">
            <a:avLst/>
          </a:prstGeom>
          <a:solidFill>
            <a:srgbClr val="E8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46320" y="38862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4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= 45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46320" y="41605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DED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45 &gt;= 60 → FALSE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46320" y="445312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Prints "Failed."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7E3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102352"/>
            <a:ext cx="9144000" cy="45720"/>
          </a:xfrm>
          <a:prstGeom prst="rect">
            <a:avLst/>
          </a:prstGeom>
          <a:solidFill>
            <a:srgbClr val="4F29B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3200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E088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SECTION 03 · LADDER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/ ELSE IF / ELSE — many paths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11480" y="10789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several conditions in order. The FIRST true one wins.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217920" y="16459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ELSE IF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50876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Pseudocode: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1828800"/>
            <a:ext cx="4023360" cy="3017520"/>
          </a:xfrm>
          <a:prstGeom prst="rect">
            <a:avLst/>
          </a:prstGeom>
          <a:solidFill>
            <a:srgbClr val="0A0B1C"/>
          </a:solidFill>
          <a:ln w="1270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94360" y="1920240"/>
            <a:ext cx="37033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100"/>
              </a:spcAft>
              <a:buNone/>
            </a:pPr>
            <a:r>
              <a:rPr lang="en-US" sz="1200" dirty="0">
                <a:solidFill>
                  <a:srgbClr val="57E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score &gt;= 90 THEN</a:t>
            </a:r>
            <a:endParaRPr lang="en-US" sz="12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200" dirty="0">
                <a:solidFill>
                  <a:srgbClr val="57E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PRINT "A"</a:t>
            </a:r>
            <a:endParaRPr lang="en-US" sz="12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200" dirty="0">
                <a:solidFill>
                  <a:srgbClr val="57E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 IF score &gt;= 80 THEN</a:t>
            </a:r>
            <a:endParaRPr lang="en-US" sz="12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200" dirty="0">
                <a:solidFill>
                  <a:srgbClr val="57E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PRINT "B"</a:t>
            </a:r>
            <a:endParaRPr lang="en-US" sz="12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200" dirty="0">
                <a:solidFill>
                  <a:srgbClr val="57E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 IF score &gt;= 70 THEN</a:t>
            </a:r>
            <a:endParaRPr lang="en-US" sz="12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200" dirty="0">
                <a:solidFill>
                  <a:srgbClr val="57E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PRINT "C"</a:t>
            </a:r>
            <a:endParaRPr lang="en-US" sz="12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200" dirty="0">
                <a:solidFill>
                  <a:srgbClr val="57E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 IF score &gt;= 60 THEN</a:t>
            </a:r>
            <a:endParaRPr lang="en-US" sz="12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200" dirty="0">
                <a:solidFill>
                  <a:srgbClr val="57E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PRINT "D"</a:t>
            </a:r>
            <a:endParaRPr lang="en-US" sz="12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200" dirty="0">
                <a:solidFill>
                  <a:srgbClr val="57E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endParaRPr lang="en-US" sz="12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200" dirty="0">
                <a:solidFill>
                  <a:srgbClr val="57E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PRINT "F"</a:t>
            </a:r>
            <a:endParaRPr lang="en-US" sz="12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200" dirty="0">
                <a:solidFill>
                  <a:srgbClr val="57E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 IF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17720" y="15087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B7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runs (top to bottom):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17720" y="1828800"/>
            <a:ext cx="4114800" cy="411480"/>
          </a:xfrm>
          <a:prstGeom prst="rect">
            <a:avLst/>
          </a:prstGeom>
          <a:solidFill>
            <a:srgbClr val="1A1040"/>
          </a:solidFill>
          <a:ln w="12700">
            <a:solidFill>
              <a:srgbClr val="4F29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54880" y="182880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B7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with score = 75: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09160" y="23774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4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 75 &gt;= 90 ?  →  FALSE  (skip)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09160" y="28346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4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 75 &gt;= 80 ?  →  FALSE  (skip)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09160" y="32918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 75 &gt;= 70 ?  →  TRUE  ✓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09160" y="37490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7E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→  PRINT "C"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09160" y="42062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4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(rest of branches skipped)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7E3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102352"/>
            <a:ext cx="9144000" cy="45720"/>
          </a:xfrm>
          <a:prstGeom prst="rect">
            <a:avLst/>
          </a:prstGeom>
          <a:solidFill>
            <a:srgbClr val="4F29B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3200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9B7E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SECTION 04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operators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11480" y="10789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multiple conditions to build complex logic.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217920" y="16459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AND/OR/NOT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" y="1508760"/>
            <a:ext cx="2688336" cy="3291840"/>
          </a:xfrm>
          <a:prstGeom prst="rect">
            <a:avLst/>
          </a:prstGeom>
          <a:solidFill>
            <a:srgbClr val="1A1A2E"/>
          </a:solidFill>
          <a:ln w="2540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11480" y="1508760"/>
            <a:ext cx="2688336" cy="457200"/>
          </a:xfrm>
          <a:prstGeom prst="rect">
            <a:avLst/>
          </a:prstGeom>
          <a:solidFill>
            <a:srgbClr val="57E3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11480" y="1554480"/>
            <a:ext cx="26883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kern="0" spc="400" dirty="0">
                <a:solidFill>
                  <a:srgbClr val="0A0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11480" y="2057400"/>
            <a:ext cx="26883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(both must be true)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2423160"/>
            <a:ext cx="23225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only if ALL parts are TRUE.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4360" y="3291840"/>
            <a:ext cx="2322576" cy="1371600"/>
          </a:xfrm>
          <a:prstGeom prst="rect">
            <a:avLst/>
          </a:prstGeom>
          <a:solidFill>
            <a:srgbClr val="0A0B1C"/>
          </a:solidFill>
          <a:ln w="1270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85800" y="3383280"/>
            <a:ext cx="21396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7E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Example: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85800" y="3703320"/>
            <a:ext cx="213969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 &gt;= 18  AND  has_id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27832" y="1508760"/>
            <a:ext cx="2688336" cy="3291840"/>
          </a:xfrm>
          <a:prstGeom prst="rect">
            <a:avLst/>
          </a:prstGeom>
          <a:solidFill>
            <a:srgbClr val="1A1A2E"/>
          </a:solidFill>
          <a:ln w="25400">
            <a:solidFill>
              <a:srgbClr val="E088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227832" y="1508760"/>
            <a:ext cx="2688336" cy="457200"/>
          </a:xfrm>
          <a:prstGeom prst="rect">
            <a:avLst/>
          </a:prstGeom>
          <a:solidFill>
            <a:srgbClr val="E088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227832" y="1554480"/>
            <a:ext cx="26883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kern="0" spc="400" dirty="0">
                <a:solidFill>
                  <a:srgbClr val="0A0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227832" y="2057400"/>
            <a:ext cx="26883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E08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(at least one true)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410712" y="2423160"/>
            <a:ext cx="23225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if AT LEAST ONE part is TRUE.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410712" y="3291840"/>
            <a:ext cx="2322576" cy="1371600"/>
          </a:xfrm>
          <a:prstGeom prst="rect">
            <a:avLst/>
          </a:prstGeom>
          <a:solidFill>
            <a:srgbClr val="0A0B1C"/>
          </a:solidFill>
          <a:ln w="12700">
            <a:solidFill>
              <a:srgbClr val="E088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502152" y="3383280"/>
            <a:ext cx="21396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088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Example: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502152" y="3703320"/>
            <a:ext cx="213969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is_weekend  OR  is_holiday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044184" y="1508760"/>
            <a:ext cx="2688336" cy="3291840"/>
          </a:xfrm>
          <a:prstGeom prst="rect">
            <a:avLst/>
          </a:prstGeom>
          <a:solidFill>
            <a:srgbClr val="1A1A2E"/>
          </a:solidFill>
          <a:ln w="25400">
            <a:solidFill>
              <a:srgbClr val="E84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044184" y="1508760"/>
            <a:ext cx="2688336" cy="457200"/>
          </a:xfrm>
          <a:prstGeom prst="rect">
            <a:avLst/>
          </a:prstGeom>
          <a:solidFill>
            <a:srgbClr val="E8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044184" y="1554480"/>
            <a:ext cx="26883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kern="0" spc="400" dirty="0">
                <a:solidFill>
                  <a:srgbClr val="0A0B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044184" y="2057400"/>
            <a:ext cx="26883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E8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(flip the answer)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27064" y="2423160"/>
            <a:ext cx="23225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Flips TRUE↔FALSE. "NOT raining" = sunny.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227064" y="3291840"/>
            <a:ext cx="2322576" cy="1371600"/>
          </a:xfrm>
          <a:prstGeom prst="rect">
            <a:avLst/>
          </a:prstGeom>
          <a:solidFill>
            <a:srgbClr val="0A0B1C"/>
          </a:solidFill>
          <a:ln w="12700">
            <a:solidFill>
              <a:srgbClr val="E845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318504" y="3383280"/>
            <a:ext cx="21396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4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Example: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318504" y="3703320"/>
            <a:ext cx="213969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 is_logged_in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7E3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102352"/>
            <a:ext cx="9144000" cy="45720"/>
          </a:xfrm>
          <a:prstGeom prst="rect">
            <a:avLst/>
          </a:prstGeom>
          <a:solidFill>
            <a:srgbClr val="4F29B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3200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57E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REFERENCE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Truth tables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11480" y="10789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possible answers for AND, OR, and NOT — in one place.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217920" y="16459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TRUTH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50876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2920" y="1874520"/>
            <a:ext cx="868680" cy="365760"/>
          </a:xfrm>
          <a:prstGeom prst="rect">
            <a:avLst/>
          </a:prstGeom>
          <a:solidFill>
            <a:srgbClr val="57E3D8"/>
          </a:solidFill>
          <a:ln w="635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" y="1874520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B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371600" y="1874520"/>
            <a:ext cx="868680" cy="365760"/>
          </a:xfrm>
          <a:prstGeom prst="rect">
            <a:avLst/>
          </a:prstGeom>
          <a:solidFill>
            <a:srgbClr val="57E3D8"/>
          </a:solidFill>
          <a:ln w="635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371600" y="1874520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B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240280" y="1874520"/>
            <a:ext cx="868680" cy="365760"/>
          </a:xfrm>
          <a:prstGeom prst="rect">
            <a:avLst/>
          </a:prstGeom>
          <a:solidFill>
            <a:srgbClr val="57E3D8"/>
          </a:solidFill>
          <a:ln w="635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240280" y="1874520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B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AND B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2286000"/>
            <a:ext cx="868680" cy="365760"/>
          </a:xfrm>
          <a:prstGeom prst="rect">
            <a:avLst/>
          </a:prstGeom>
          <a:solidFill>
            <a:srgbClr val="1A1A2E"/>
          </a:solidFill>
          <a:ln w="635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2920" y="2286000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371600" y="2286000"/>
            <a:ext cx="868680" cy="365760"/>
          </a:xfrm>
          <a:prstGeom prst="rect">
            <a:avLst/>
          </a:prstGeom>
          <a:solidFill>
            <a:srgbClr val="1A1A2E"/>
          </a:solidFill>
          <a:ln w="635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371600" y="2286000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240280" y="2286000"/>
            <a:ext cx="868680" cy="365760"/>
          </a:xfrm>
          <a:prstGeom prst="rect">
            <a:avLst/>
          </a:prstGeom>
          <a:solidFill>
            <a:srgbClr val="1A1A2E"/>
          </a:solidFill>
          <a:ln w="635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240280" y="2286000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" y="2651760"/>
            <a:ext cx="868680" cy="365760"/>
          </a:xfrm>
          <a:prstGeom prst="rect">
            <a:avLst/>
          </a:prstGeom>
          <a:solidFill>
            <a:srgbClr val="1A1A2E"/>
          </a:solidFill>
          <a:ln w="635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2920" y="2651760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4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371600" y="2651760"/>
            <a:ext cx="868680" cy="365760"/>
          </a:xfrm>
          <a:prstGeom prst="rect">
            <a:avLst/>
          </a:prstGeom>
          <a:solidFill>
            <a:srgbClr val="1A1A2E"/>
          </a:solidFill>
          <a:ln w="635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371600" y="2651760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4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240280" y="2651760"/>
            <a:ext cx="868680" cy="365760"/>
          </a:xfrm>
          <a:prstGeom prst="rect">
            <a:avLst/>
          </a:prstGeom>
          <a:solidFill>
            <a:srgbClr val="1A1A2E"/>
          </a:solidFill>
          <a:ln w="635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240280" y="2651760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4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02920" y="3017520"/>
            <a:ext cx="868680" cy="365760"/>
          </a:xfrm>
          <a:prstGeom prst="rect">
            <a:avLst/>
          </a:prstGeom>
          <a:solidFill>
            <a:srgbClr val="1A1A2E"/>
          </a:solidFill>
          <a:ln w="635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02920" y="3017520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4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371600" y="3017520"/>
            <a:ext cx="868680" cy="365760"/>
          </a:xfrm>
          <a:prstGeom prst="rect">
            <a:avLst/>
          </a:prstGeom>
          <a:solidFill>
            <a:srgbClr val="1A1A2E"/>
          </a:solidFill>
          <a:ln w="635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371600" y="3017520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4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240280" y="3017520"/>
            <a:ext cx="868680" cy="365760"/>
          </a:xfrm>
          <a:prstGeom prst="rect">
            <a:avLst/>
          </a:prstGeom>
          <a:solidFill>
            <a:srgbClr val="1A1A2E"/>
          </a:solidFill>
          <a:ln w="635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2240280" y="3017520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4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02920" y="3383280"/>
            <a:ext cx="868680" cy="365760"/>
          </a:xfrm>
          <a:prstGeom prst="rect">
            <a:avLst/>
          </a:prstGeom>
          <a:solidFill>
            <a:srgbClr val="1A1A2E"/>
          </a:solidFill>
          <a:ln w="635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02920" y="3383280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4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371600" y="3383280"/>
            <a:ext cx="868680" cy="365760"/>
          </a:xfrm>
          <a:prstGeom prst="rect">
            <a:avLst/>
          </a:prstGeom>
          <a:solidFill>
            <a:srgbClr val="1A1A2E"/>
          </a:solidFill>
          <a:ln w="635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1371600" y="3383280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4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240280" y="3383280"/>
            <a:ext cx="868680" cy="365760"/>
          </a:xfrm>
          <a:prstGeom prst="rect">
            <a:avLst/>
          </a:prstGeom>
          <a:solidFill>
            <a:srgbClr val="1A1A2E"/>
          </a:solidFill>
          <a:ln w="635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2240280" y="3383280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4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337560" y="150876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08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3337560" y="1874520"/>
            <a:ext cx="868680" cy="365760"/>
          </a:xfrm>
          <a:prstGeom prst="rect">
            <a:avLst/>
          </a:prstGeom>
          <a:solidFill>
            <a:srgbClr val="E08845"/>
          </a:solidFill>
          <a:ln w="635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3337560" y="1874520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B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206240" y="1874520"/>
            <a:ext cx="868680" cy="365760"/>
          </a:xfrm>
          <a:prstGeom prst="rect">
            <a:avLst/>
          </a:prstGeom>
          <a:solidFill>
            <a:srgbClr val="E08845"/>
          </a:solidFill>
          <a:ln w="635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206240" y="1874520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B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074920" y="1874520"/>
            <a:ext cx="868680" cy="365760"/>
          </a:xfrm>
          <a:prstGeom prst="rect">
            <a:avLst/>
          </a:prstGeom>
          <a:solidFill>
            <a:srgbClr val="E08845"/>
          </a:solidFill>
          <a:ln w="635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5074920" y="1874520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B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OR B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3337560" y="2286000"/>
            <a:ext cx="868680" cy="365760"/>
          </a:xfrm>
          <a:prstGeom prst="rect">
            <a:avLst/>
          </a:prstGeom>
          <a:solidFill>
            <a:srgbClr val="1A1A2E"/>
          </a:solidFill>
          <a:ln w="635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3337560" y="2286000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206240" y="2286000"/>
            <a:ext cx="868680" cy="365760"/>
          </a:xfrm>
          <a:prstGeom prst="rect">
            <a:avLst/>
          </a:prstGeom>
          <a:solidFill>
            <a:srgbClr val="1A1A2E"/>
          </a:solidFill>
          <a:ln w="635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4206240" y="2286000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5074920" y="2286000"/>
            <a:ext cx="868680" cy="365760"/>
          </a:xfrm>
          <a:prstGeom prst="rect">
            <a:avLst/>
          </a:prstGeom>
          <a:solidFill>
            <a:srgbClr val="1A1A2E"/>
          </a:solidFill>
          <a:ln w="635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5074920" y="2286000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3337560" y="2651760"/>
            <a:ext cx="868680" cy="365760"/>
          </a:xfrm>
          <a:prstGeom prst="rect">
            <a:avLst/>
          </a:prstGeom>
          <a:solidFill>
            <a:srgbClr val="1A1A2E"/>
          </a:solidFill>
          <a:ln w="635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3337560" y="2651760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4206240" y="2651760"/>
            <a:ext cx="868680" cy="365760"/>
          </a:xfrm>
          <a:prstGeom prst="rect">
            <a:avLst/>
          </a:prstGeom>
          <a:solidFill>
            <a:srgbClr val="1A1A2E"/>
          </a:solidFill>
          <a:ln w="635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4206240" y="2651760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5074920" y="2651760"/>
            <a:ext cx="868680" cy="365760"/>
          </a:xfrm>
          <a:prstGeom prst="rect">
            <a:avLst/>
          </a:prstGeom>
          <a:solidFill>
            <a:srgbClr val="1A1A2E"/>
          </a:solidFill>
          <a:ln w="635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5074920" y="2651760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3337560" y="3017520"/>
            <a:ext cx="868680" cy="365760"/>
          </a:xfrm>
          <a:prstGeom prst="rect">
            <a:avLst/>
          </a:prstGeom>
          <a:solidFill>
            <a:srgbClr val="1A1A2E"/>
          </a:solidFill>
          <a:ln w="635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3337560" y="3017520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4206240" y="3017520"/>
            <a:ext cx="868680" cy="365760"/>
          </a:xfrm>
          <a:prstGeom prst="rect">
            <a:avLst/>
          </a:prstGeom>
          <a:solidFill>
            <a:srgbClr val="1A1A2E"/>
          </a:solidFill>
          <a:ln w="635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4206240" y="3017520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5074920" y="3017520"/>
            <a:ext cx="868680" cy="365760"/>
          </a:xfrm>
          <a:prstGeom prst="rect">
            <a:avLst/>
          </a:prstGeom>
          <a:solidFill>
            <a:srgbClr val="1A1A2E"/>
          </a:solidFill>
          <a:ln w="635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5074920" y="3017520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3337560" y="3383280"/>
            <a:ext cx="868680" cy="365760"/>
          </a:xfrm>
          <a:prstGeom prst="rect">
            <a:avLst/>
          </a:prstGeom>
          <a:solidFill>
            <a:srgbClr val="1A1A2E"/>
          </a:solidFill>
          <a:ln w="635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3337560" y="3383280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4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4206240" y="3383280"/>
            <a:ext cx="868680" cy="365760"/>
          </a:xfrm>
          <a:prstGeom prst="rect">
            <a:avLst/>
          </a:prstGeom>
          <a:solidFill>
            <a:srgbClr val="1A1A2E"/>
          </a:solidFill>
          <a:ln w="635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4206240" y="3383280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4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5074920" y="3383280"/>
            <a:ext cx="868680" cy="365760"/>
          </a:xfrm>
          <a:prstGeom prst="rect">
            <a:avLst/>
          </a:prstGeom>
          <a:solidFill>
            <a:srgbClr val="1A1A2E"/>
          </a:solidFill>
          <a:ln w="635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5074920" y="3383280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4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6172200" y="15087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6172200" y="1874520"/>
            <a:ext cx="1143000" cy="365760"/>
          </a:xfrm>
          <a:prstGeom prst="rect">
            <a:avLst/>
          </a:prstGeom>
          <a:solidFill>
            <a:srgbClr val="E84560"/>
          </a:solidFill>
          <a:ln w="635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6172200" y="1874520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B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7315200" y="1874520"/>
            <a:ext cx="1143000" cy="365760"/>
          </a:xfrm>
          <a:prstGeom prst="rect">
            <a:avLst/>
          </a:prstGeom>
          <a:solidFill>
            <a:srgbClr val="E84560"/>
          </a:solidFill>
          <a:ln w="635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7315200" y="1874520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B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 A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6172200" y="2286000"/>
            <a:ext cx="1143000" cy="365760"/>
          </a:xfrm>
          <a:prstGeom prst="rect">
            <a:avLst/>
          </a:prstGeom>
          <a:solidFill>
            <a:srgbClr val="1A1A2E"/>
          </a:solidFill>
          <a:ln w="635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/>
          <p:nvPr/>
        </p:nvSpPr>
        <p:spPr>
          <a:xfrm>
            <a:off x="6172200" y="2286000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4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100" dirty="0"/>
          </a:p>
        </p:txBody>
      </p:sp>
      <p:sp>
        <p:nvSpPr>
          <p:cNvPr id="77" name="Shape 75"/>
          <p:cNvSpPr/>
          <p:nvPr/>
        </p:nvSpPr>
        <p:spPr>
          <a:xfrm>
            <a:off x="7315200" y="2286000"/>
            <a:ext cx="1143000" cy="365760"/>
          </a:xfrm>
          <a:prstGeom prst="rect">
            <a:avLst/>
          </a:prstGeom>
          <a:solidFill>
            <a:srgbClr val="1A1A2E"/>
          </a:solidFill>
          <a:ln w="635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76"/>
          <p:cNvSpPr/>
          <p:nvPr/>
        </p:nvSpPr>
        <p:spPr>
          <a:xfrm>
            <a:off x="7315200" y="2286000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4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1100" dirty="0"/>
          </a:p>
        </p:txBody>
      </p:sp>
      <p:sp>
        <p:nvSpPr>
          <p:cNvPr id="79" name="Shape 77"/>
          <p:cNvSpPr/>
          <p:nvPr/>
        </p:nvSpPr>
        <p:spPr>
          <a:xfrm>
            <a:off x="6172200" y="2651760"/>
            <a:ext cx="1143000" cy="365760"/>
          </a:xfrm>
          <a:prstGeom prst="rect">
            <a:avLst/>
          </a:prstGeom>
          <a:solidFill>
            <a:srgbClr val="1A1A2E"/>
          </a:solidFill>
          <a:ln w="635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78"/>
          <p:cNvSpPr/>
          <p:nvPr/>
        </p:nvSpPr>
        <p:spPr>
          <a:xfrm>
            <a:off x="6172200" y="2651760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sz="1100" dirty="0"/>
          </a:p>
        </p:txBody>
      </p:sp>
      <p:sp>
        <p:nvSpPr>
          <p:cNvPr id="81" name="Shape 79"/>
          <p:cNvSpPr/>
          <p:nvPr/>
        </p:nvSpPr>
        <p:spPr>
          <a:xfrm>
            <a:off x="7315200" y="2651760"/>
            <a:ext cx="1143000" cy="365760"/>
          </a:xfrm>
          <a:prstGeom prst="rect">
            <a:avLst/>
          </a:prstGeom>
          <a:solidFill>
            <a:srgbClr val="1A1A2E"/>
          </a:solidFill>
          <a:ln w="635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80"/>
          <p:cNvSpPr/>
          <p:nvPr/>
        </p:nvSpPr>
        <p:spPr>
          <a:xfrm>
            <a:off x="7315200" y="2651760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100" dirty="0"/>
          </a:p>
        </p:txBody>
      </p:sp>
      <p:sp>
        <p:nvSpPr>
          <p:cNvPr id="83" name="Shape 81"/>
          <p:cNvSpPr/>
          <p:nvPr/>
        </p:nvSpPr>
        <p:spPr>
          <a:xfrm>
            <a:off x="411480" y="4297680"/>
            <a:ext cx="8321040" cy="502920"/>
          </a:xfrm>
          <a:prstGeom prst="rect">
            <a:avLst/>
          </a:prstGeom>
          <a:solidFill>
            <a:srgbClr val="1A1A2E"/>
          </a:solidFill>
          <a:ln w="12700">
            <a:solidFill>
              <a:srgbClr val="9B7E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Text 82"/>
          <p:cNvSpPr/>
          <p:nvPr/>
        </p:nvSpPr>
        <p:spPr>
          <a:xfrm>
            <a:off x="594360" y="4343400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B7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Memorize this: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needs all true · OR needs one true · NOT flips the answer.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7E3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102352"/>
            <a:ext cx="9144000" cy="45720"/>
          </a:xfrm>
          <a:prstGeom prst="rect">
            <a:avLst/>
          </a:prstGeom>
          <a:solidFill>
            <a:srgbClr val="4F29B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3200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E088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EXAMPLE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example: movie ticket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217920" y="16459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EXAMPLE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11480" y="1280160"/>
            <a:ext cx="8321040" cy="777240"/>
          </a:xfrm>
          <a:prstGeom prst="rect">
            <a:avLst/>
          </a:prstGeom>
          <a:solidFill>
            <a:srgbClr val="1A1040"/>
          </a:solidFill>
          <a:ln w="12700">
            <a:solidFill>
              <a:srgbClr val="4F29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94360" y="13716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57E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PROBLEM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645920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ticket price. Free for kids under 5, half price for ages 5–12 OR seniors 65+, otherwise full price.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219456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Pseudocode: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1480" y="2468880"/>
            <a:ext cx="4023360" cy="2377440"/>
          </a:xfrm>
          <a:prstGeom prst="rect">
            <a:avLst/>
          </a:prstGeom>
          <a:solidFill>
            <a:srgbClr val="0A0B1C"/>
          </a:solidFill>
          <a:ln w="12700">
            <a:solidFill>
              <a:srgbClr val="57E3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94360" y="2560320"/>
            <a:ext cx="37033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100"/>
              </a:spcAft>
              <a:buNone/>
            </a:pPr>
            <a:r>
              <a:rPr lang="en-US" sz="1100" dirty="0">
                <a:solidFill>
                  <a:srgbClr val="57E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 age</a:t>
            </a:r>
            <a:endParaRPr lang="en-US" sz="11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100" dirty="0">
                <a:solidFill>
                  <a:srgbClr val="57E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age &lt; 5 THEN</a:t>
            </a:r>
            <a:endParaRPr lang="en-US" sz="11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100" dirty="0">
                <a:solidFill>
                  <a:srgbClr val="57E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PRINT "Free!"</a:t>
            </a:r>
            <a:endParaRPr lang="en-US" sz="11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100" dirty="0">
                <a:solidFill>
                  <a:srgbClr val="57E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 IF age &lt;= 12</a:t>
            </a:r>
            <a:endParaRPr lang="en-US" sz="11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100" dirty="0">
                <a:solidFill>
                  <a:srgbClr val="57E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OR age &gt;= 65 THEN</a:t>
            </a:r>
            <a:endParaRPr lang="en-US" sz="11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100" dirty="0">
                <a:solidFill>
                  <a:srgbClr val="57E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PRINT "$5 (half price)"</a:t>
            </a:r>
            <a:endParaRPr lang="en-US" sz="11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100" dirty="0">
                <a:solidFill>
                  <a:srgbClr val="57E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endParaRPr lang="en-US" sz="11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100" dirty="0">
                <a:solidFill>
                  <a:srgbClr val="57E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PRINT "$10 (full)"</a:t>
            </a:r>
            <a:endParaRPr lang="en-US" sz="11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100" dirty="0">
                <a:solidFill>
                  <a:srgbClr val="57E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 IF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17720" y="219456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B7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different ages: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17720" y="2468880"/>
            <a:ext cx="4114800" cy="50292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617720" y="2468880"/>
            <a:ext cx="73152" cy="502920"/>
          </a:xfrm>
          <a:prstGeom prst="rect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754880" y="251460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 = 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852160" y="248716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4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 &lt; 5  →  TRUE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852160" y="271576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Free!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17720" y="3063240"/>
            <a:ext cx="4114800" cy="50292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617720" y="3063240"/>
            <a:ext cx="73152" cy="502920"/>
          </a:xfrm>
          <a:prstGeom prst="rect">
            <a:avLst/>
          </a:prstGeom>
          <a:solidFill>
            <a:srgbClr val="57E3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754880" y="310896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7E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 = 10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852160" y="308152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4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&lt;= 12  →  TRUE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852160" y="331012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$5 (half)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17720" y="3657600"/>
            <a:ext cx="4114800" cy="50292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617720" y="3657600"/>
            <a:ext cx="73152" cy="502920"/>
          </a:xfrm>
          <a:prstGeom prst="rect">
            <a:avLst/>
          </a:prstGeom>
          <a:solidFill>
            <a:srgbClr val="57E3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754880" y="37033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7E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 = 70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852160" y="367588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4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70 &gt;= 65  →  TRUE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852160" y="390448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$5 (half)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617720" y="4251960"/>
            <a:ext cx="4114800" cy="50292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617720" y="4251960"/>
            <a:ext cx="73152" cy="502920"/>
          </a:xfrm>
          <a:prstGeom prst="rect">
            <a:avLst/>
          </a:prstGeom>
          <a:solidFill>
            <a:srgbClr val="E088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754880" y="429768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088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 = 30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852160" y="427024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4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 conditions FALSE  →  ELSE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852160" y="449884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$10 (full)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7E3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102352"/>
            <a:ext cx="9144000" cy="45720"/>
          </a:xfrm>
          <a:prstGeom prst="rect">
            <a:avLst/>
          </a:prstGeom>
          <a:solidFill>
            <a:srgbClr val="4F29B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3200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E84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WATCH OUT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217920" y="16459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PITFALLS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11480" y="1371600"/>
            <a:ext cx="2688336" cy="150876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11480" y="1371600"/>
            <a:ext cx="91440" cy="1508760"/>
          </a:xfrm>
          <a:prstGeom prst="rect">
            <a:avLst/>
          </a:prstGeom>
          <a:solidFill>
            <a:srgbClr val="E8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94360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000000"/>
                </a:solidFill>
              </a:rPr>
              <a:t>⛔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97280" y="15087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= instead of ==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210312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assigns. == compares. Mixing them up is the #1 beginner bug.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27832" y="1371600"/>
            <a:ext cx="2688336" cy="150876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27832" y="1371600"/>
            <a:ext cx="91440" cy="1508760"/>
          </a:xfrm>
          <a:prstGeom prst="rect">
            <a:avLst/>
          </a:prstGeom>
          <a:solidFill>
            <a:srgbClr val="E088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410712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000000"/>
                </a:solidFill>
              </a:rPr>
              <a:t>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913632" y="15087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8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AND vs OR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56432" y="210312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"age &gt;= 13 AND age &lt;= 19" = teen. Using OR here would make EVERY age match!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44184" y="1371600"/>
            <a:ext cx="2688336" cy="150876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044184" y="1371600"/>
            <a:ext cx="91440" cy="1508760"/>
          </a:xfrm>
          <a:prstGeom prst="rect">
            <a:avLst/>
          </a:prstGeom>
          <a:solidFill>
            <a:srgbClr val="EEFF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227064" y="1508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000000"/>
                </a:solidFill>
              </a:rPr>
              <a:t>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729984" y="15087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EFF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Forgetting else / else if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72784" y="210312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conditions overlap and you don't use ELSE IF, multiple branches may run.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11480" y="3063240"/>
            <a:ext cx="2688336" cy="150876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11480" y="3063240"/>
            <a:ext cx="91440" cy="150876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9436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000000"/>
                </a:solidFill>
              </a:rPr>
              <a:t>⛔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097280" y="32004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matters in else if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0080" y="379476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most specific cases FIRST. "score &gt;= 0" is true for everyone.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27832" y="3063240"/>
            <a:ext cx="2688336" cy="150876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227832" y="3063240"/>
            <a:ext cx="91440" cy="1508760"/>
          </a:xfrm>
          <a:prstGeom prst="rect">
            <a:avLst/>
          </a:prstGeom>
          <a:solidFill>
            <a:srgbClr val="9B7E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410712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000000"/>
                </a:solidFill>
              </a:rPr>
              <a:t>⛔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3913632" y="32004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B7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strings carelessly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456432" y="379476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"Hello" == "hello" is FALSE — case matters in most languages.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044184" y="3063240"/>
            <a:ext cx="2688336" cy="150876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044184" y="3063240"/>
            <a:ext cx="91440" cy="1508760"/>
          </a:xfrm>
          <a:prstGeom prst="rect">
            <a:avLst/>
          </a:prstGeom>
          <a:solidFill>
            <a:srgbClr val="4A8A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227064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000000"/>
                </a:solidFill>
              </a:rPr>
              <a:t>⛔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6729984" y="32004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8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testing edge cases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272784" y="379476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about age = 0? age = exactly 18? Test the boundaries.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57E3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102352"/>
            <a:ext cx="9144000" cy="45720"/>
          </a:xfrm>
          <a:prstGeom prst="rect">
            <a:avLst/>
          </a:prstGeom>
          <a:solidFill>
            <a:srgbClr val="4F29B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3200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57E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WHAT YOU LEARNED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57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217920" y="16459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// SUMMARY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11480" y="1417320"/>
            <a:ext cx="2688336" cy="141732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11480" y="1417320"/>
            <a:ext cx="91440" cy="1417320"/>
          </a:xfrm>
          <a:prstGeom prst="rect">
            <a:avLst/>
          </a:prstGeom>
          <a:solidFill>
            <a:srgbClr val="57E3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15544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57E3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17830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 = yes/no questions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214884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condition is either TRUE or FALSE.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27832" y="1417320"/>
            <a:ext cx="2688336" cy="141732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27832" y="1417320"/>
            <a:ext cx="91440" cy="1417320"/>
          </a:xfrm>
          <a:prstGeom prst="rect">
            <a:avLst/>
          </a:prstGeom>
          <a:solidFill>
            <a:srgbClr val="E8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456432" y="15544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84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56432" y="17830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with ==, !=, &gt;, &lt;, &gt;=, &lt;=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56432" y="214884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operators give you all the comparisons you need.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44184" y="1417320"/>
            <a:ext cx="2688336" cy="141732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044184" y="1417320"/>
            <a:ext cx="91440" cy="1417320"/>
          </a:xfrm>
          <a:prstGeom prst="rect">
            <a:avLst/>
          </a:prstGeom>
          <a:solidFill>
            <a:srgbClr val="E088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272784" y="15544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088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72784" y="17830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vs ==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72784" y="214884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stores a value · == checks if equal. NEVER the same!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11480" y="3017520"/>
            <a:ext cx="2688336" cy="141732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11480" y="3017520"/>
            <a:ext cx="91440" cy="1417320"/>
          </a:xfrm>
          <a:prstGeom prst="rect">
            <a:avLst/>
          </a:prstGeom>
          <a:solidFill>
            <a:srgbClr val="9B7E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40080" y="31546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9B7E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" y="33832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/ else / else if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0080" y="374904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your code based on what's true. First match wins.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227832" y="3017520"/>
            <a:ext cx="2688336" cy="141732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227832" y="3017520"/>
            <a:ext cx="91440" cy="141732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456432" y="31546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456432" y="33832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AND, OR, NOT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456432" y="374904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conditions for richer logic.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044184" y="3017520"/>
            <a:ext cx="2688336" cy="141732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044184" y="3017520"/>
            <a:ext cx="91440" cy="1417320"/>
          </a:xfrm>
          <a:prstGeom prst="rect">
            <a:avLst/>
          </a:prstGeom>
          <a:solidFill>
            <a:srgbClr val="4A8A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272784" y="31546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4A8A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272784" y="33832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test edge cases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272784" y="374904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DED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values are where bugs love to hide.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11480" y="475488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E088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up: Repetition &amp; loops.  🔁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38"/>
          <p:cNvSpPr txBox="1">
            <a:spLocks noGrp="1"/>
          </p:cNvSpPr>
          <p:nvPr>
            <p:ph type="title"/>
          </p:nvPr>
        </p:nvSpPr>
        <p:spPr>
          <a:xfrm>
            <a:off x="5548225" y="2230950"/>
            <a:ext cx="3062100" cy="68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1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شــــــكــــرًا لكــــــم</a:t>
            </a:r>
            <a:endParaRPr sz="4000" b="1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580" name="Google Shape;580;p38"/>
          <p:cNvSpPr txBox="1">
            <a:spLocks noGrp="1"/>
          </p:cNvSpPr>
          <p:nvPr>
            <p:ph type="ctrTitle" idx="4294967295"/>
          </p:nvPr>
        </p:nvSpPr>
        <p:spPr>
          <a:xfrm>
            <a:off x="4166050" y="2870075"/>
            <a:ext cx="4444200" cy="57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900" b="1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THANK YOU</a:t>
            </a:r>
            <a:endParaRPr sz="2900" b="1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32960</TotalTime>
  <Words>1392</Words>
  <Application>Microsoft Office PowerPoint</Application>
  <PresentationFormat>On-screen Show (16:9)</PresentationFormat>
  <Paragraphs>348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Consolas</vt:lpstr>
      <vt:lpstr>Tajawal</vt:lpstr>
      <vt:lpstr>Calibri</vt:lpstr>
      <vt:lpstr>IBM Plex Sans Arabic Medium</vt:lpstr>
      <vt:lpstr>IBM Plex Sans Arabic</vt:lpstr>
      <vt:lpstr>IBM Plex Sans Arabic SemiBold</vt:lpstr>
      <vt:lpstr>Arial</vt:lpstr>
      <vt:lpstr>Simple Light</vt:lpstr>
      <vt:lpstr>أكـــــاديميــــة طــــويـــق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شــــــكــــرًا لكــــــم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Ahmed Al-Hadari</dc:creator>
  <cp:lastModifiedBy>Ahmed Alhussein</cp:lastModifiedBy>
  <cp:revision>263</cp:revision>
  <dcterms:modified xsi:type="dcterms:W3CDTF">2026-04-29T16:06:56Z</dcterms:modified>
</cp:coreProperties>
</file>