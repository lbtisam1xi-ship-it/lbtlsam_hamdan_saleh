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541" r:id="rId3"/>
    <p:sldId id="542" r:id="rId4"/>
    <p:sldId id="258" r:id="rId5"/>
    <p:sldId id="519" r:id="rId6"/>
    <p:sldId id="257" r:id="rId7"/>
    <p:sldId id="509" r:id="rId8"/>
    <p:sldId id="502" r:id="rId9"/>
    <p:sldId id="521" r:id="rId10"/>
    <p:sldId id="508" r:id="rId11"/>
    <p:sldId id="520" r:id="rId12"/>
    <p:sldId id="531" r:id="rId13"/>
    <p:sldId id="522" r:id="rId14"/>
    <p:sldId id="528" r:id="rId15"/>
    <p:sldId id="529" r:id="rId16"/>
    <p:sldId id="281" r:id="rId1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IBM Plex Sans Arabic" panose="020B0604020202020204" charset="-78"/>
      <p:regular r:id="rId23"/>
      <p:bold r:id="rId24"/>
    </p:embeddedFont>
    <p:embeddedFont>
      <p:font typeface="IBM Plex Sans Arabic Medium" panose="020B0604020202020204" charset="-78"/>
      <p:regular r:id="rId25"/>
      <p:bold r:id="rId26"/>
    </p:embeddedFont>
    <p:embeddedFont>
      <p:font typeface="IBM Plex Sans Arabic SemiBold" panose="020B0604020202020204" charset="-78"/>
      <p:regular r:id="rId27"/>
      <p:bold r:id="rId28"/>
    </p:embeddedFont>
    <p:embeddedFont>
      <p:font typeface="Tajawal" panose="020B0604020202020204" charset="-78"/>
      <p:regular r:id="rId29"/>
      <p:bold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2E0367-EB9C-4807-88CA-1A682D9BA7E9}">
  <a:tblStyle styleId="{922E0367-EB9C-4807-88CA-1A682D9BA7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5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a09276e83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a09276e83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01729062-C001-1BC3-21F3-013B25C79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a09276e835_1_0:notes">
            <a:extLst>
              <a:ext uri="{FF2B5EF4-FFF2-40B4-BE49-F238E27FC236}">
                <a16:creationId xmlns:a16="http://schemas.microsoft.com/office/drawing/2014/main" id="{A4925C8B-74A4-6D0E-A1F6-3ED5AFE79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a09276e835_1_0:notes">
            <a:extLst>
              <a:ext uri="{FF2B5EF4-FFF2-40B4-BE49-F238E27FC236}">
                <a16:creationId xmlns:a16="http://schemas.microsoft.com/office/drawing/2014/main" id="{40070772-E495-65C8-BB68-C028467C22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7672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5C67915C-273D-DB22-68F9-4062B5581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a09276e835_1_0:notes">
            <a:extLst>
              <a:ext uri="{FF2B5EF4-FFF2-40B4-BE49-F238E27FC236}">
                <a16:creationId xmlns:a16="http://schemas.microsoft.com/office/drawing/2014/main" id="{706FDF88-2753-8D55-AD1A-6D580D9CEA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a09276e835_1_0:notes">
            <a:extLst>
              <a:ext uri="{FF2B5EF4-FFF2-40B4-BE49-F238E27FC236}">
                <a16:creationId xmlns:a16="http://schemas.microsoft.com/office/drawing/2014/main" id="{B56EB0F5-1310-85DC-E000-8F4BA8E56A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2639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65ACD813-A344-EA14-2585-22D87E60A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a09276e835_1_0:notes">
            <a:extLst>
              <a:ext uri="{FF2B5EF4-FFF2-40B4-BE49-F238E27FC236}">
                <a16:creationId xmlns:a16="http://schemas.microsoft.com/office/drawing/2014/main" id="{9AE6DE2A-13CA-F834-C6C6-D9FFB6543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a09276e835_1_0:notes">
            <a:extLst>
              <a:ext uri="{FF2B5EF4-FFF2-40B4-BE49-F238E27FC236}">
                <a16:creationId xmlns:a16="http://schemas.microsoft.com/office/drawing/2014/main" id="{56AAAFB3-7192-6462-847D-721D6FC67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7988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a09276e835_1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a09276e835_1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43" name="Google Shape;43;p11" title="twq white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975" y="84975"/>
            <a:ext cx="1388326" cy="5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578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lvl="1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lvl="2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lvl="3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lvl="4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lvl="5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lvl="6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lvl="7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lvl="8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7" r:id="rId6"/>
    <p:sldLayoutId id="2147483658" r:id="rId7"/>
    <p:sldLayoutId id="214748366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 dirty="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r">
              <a:buNone/>
            </a:pPr>
            <a:r>
              <a:rPr lang="ar-SA" sz="2000" b="1" dirty="0">
                <a:solidFill>
                  <a:schemeClr val="bg1"/>
                </a:solidFill>
              </a:rPr>
              <a:t>المعسكر التأسيسي - مسار البرمجة</a:t>
            </a:r>
          </a:p>
          <a:p>
            <a:pPr marL="114300" indent="0">
              <a:buNone/>
            </a:pPr>
            <a:br>
              <a:rPr lang="ar-SA" sz="2000" dirty="0"/>
            </a:br>
            <a:endParaRPr lang="ar-SA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67E406D-77C5-64FC-1384-3ED885662E43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58AB1B6-4F13-B6F1-65C4-FDEAF2A7575E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F820E8F-A391-AC62-D54D-317374F62C88}"/>
              </a:ext>
            </a:extLst>
          </p:cNvPr>
          <p:cNvSpPr/>
          <p:nvPr/>
        </p:nvSpPr>
        <p:spPr>
          <a:xfrm>
            <a:off x="0" y="64008"/>
            <a:ext cx="2560320" cy="5015484"/>
          </a:xfrm>
          <a:prstGeom prst="rect">
            <a:avLst/>
          </a:prstGeom>
          <a:solidFill>
            <a:srgbClr val="0A2020"/>
          </a:solidFill>
          <a:ln w="12700">
            <a:solidFill>
              <a:srgbClr val="0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44B5C98-FBD3-E2CD-5772-833C4D8DBE51}"/>
              </a:ext>
            </a:extLst>
          </p:cNvPr>
          <p:cNvSpPr/>
          <p:nvPr/>
        </p:nvSpPr>
        <p:spPr>
          <a:xfrm>
            <a:off x="2560320" y="64008"/>
            <a:ext cx="0" cy="5015484"/>
          </a:xfrm>
          <a:prstGeom prst="line">
            <a:avLst/>
          </a:prstGeom>
          <a:noFill/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0A0054A-5F93-C0F8-68C3-1CAD4846EE0E}"/>
              </a:ext>
            </a:extLst>
          </p:cNvPr>
          <p:cNvSpPr/>
          <p:nvPr/>
        </p:nvSpPr>
        <p:spPr>
          <a:xfrm>
            <a:off x="0" y="32004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>
              <a:solidFill>
                <a:schemeClr val="bg1"/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D400CA1-A6FF-D2ED-B42E-71359923989F}"/>
              </a:ext>
            </a:extLst>
          </p:cNvPr>
          <p:cNvSpPr/>
          <p:nvPr/>
        </p:nvSpPr>
        <p:spPr>
          <a:xfrm>
            <a:off x="228600" y="384048"/>
            <a:ext cx="822960" cy="256032"/>
          </a:xfrm>
          <a:prstGeom prst="roundRect">
            <a:avLst>
              <a:gd name="adj" fmla="val 42857"/>
            </a:avLst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273ADA2-B102-4B1E-6AF9-898A94FBDFA6}"/>
              </a:ext>
            </a:extLst>
          </p:cNvPr>
          <p:cNvSpPr/>
          <p:nvPr/>
        </p:nvSpPr>
        <p:spPr>
          <a:xfrm>
            <a:off x="228600" y="3840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09B99FC-C479-8C2D-E6D2-881A32388889}"/>
              </a:ext>
            </a:extLst>
          </p:cNvPr>
          <p:cNvSpPr/>
          <p:nvPr/>
        </p:nvSpPr>
        <p:spPr>
          <a:xfrm>
            <a:off x="137160" y="14173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2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8A5CAEB-8102-DF38-E1B7-6B194D394D41}"/>
              </a:ext>
            </a:extLst>
          </p:cNvPr>
          <p:cNvSpPr/>
          <p:nvPr/>
        </p:nvSpPr>
        <p:spPr>
          <a:xfrm>
            <a:off x="320040" y="4069080"/>
            <a:ext cx="1920240" cy="0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2B591E3-3AA6-686E-4CAC-AF218B233E00}"/>
              </a:ext>
            </a:extLst>
          </p:cNvPr>
          <p:cNvSpPr/>
          <p:nvPr/>
        </p:nvSpPr>
        <p:spPr>
          <a:xfrm>
            <a:off x="137160" y="4160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</a:t>
            </a:r>
            <a:endParaRPr lang="en-US" sz="1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599767D-CE61-3911-E941-102809D30A60}"/>
              </a:ext>
            </a:extLst>
          </p:cNvPr>
          <p:cNvSpPr/>
          <p:nvPr/>
        </p:nvSpPr>
        <p:spPr>
          <a:xfrm>
            <a:off x="137160" y="4407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 البرمجة</a:t>
            </a:r>
            <a:endParaRPr lang="en-US" sz="1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5F4100E-9CB8-5B37-C0F2-CBEC90D9766C}"/>
              </a:ext>
            </a:extLst>
          </p:cNvPr>
          <p:cNvSpPr/>
          <p:nvPr/>
        </p:nvSpPr>
        <p:spPr>
          <a:xfrm>
            <a:off x="2834640" y="637794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6243A"/>
          </a:solidFill>
          <a:ln w="22225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C0B6CAB-0687-131B-B1A3-5DC2E6225321}"/>
              </a:ext>
            </a:extLst>
          </p:cNvPr>
          <p:cNvSpPr/>
          <p:nvPr/>
        </p:nvSpPr>
        <p:spPr>
          <a:xfrm>
            <a:off x="3035808" y="788670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C7BC44D-1FC9-9F64-5CC7-E434D27250A8}"/>
              </a:ext>
            </a:extLst>
          </p:cNvPr>
          <p:cNvSpPr/>
          <p:nvPr/>
        </p:nvSpPr>
        <p:spPr>
          <a:xfrm>
            <a:off x="3035808" y="78867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3F1AAB6-AEF6-43A8-6A84-7CBE0EB54EF6}"/>
              </a:ext>
            </a:extLst>
          </p:cNvPr>
          <p:cNvSpPr/>
          <p:nvPr/>
        </p:nvSpPr>
        <p:spPr>
          <a:xfrm>
            <a:off x="3584448" y="72923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48B9736-5271-3F10-9283-6A47244C9274}"/>
              </a:ext>
            </a:extLst>
          </p:cNvPr>
          <p:cNvSpPr/>
          <p:nvPr/>
        </p:nvSpPr>
        <p:spPr>
          <a:xfrm>
            <a:off x="4361688" y="784098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7A12A8A-1C6B-110F-8997-E7E5477EA5F8}"/>
              </a:ext>
            </a:extLst>
          </p:cNvPr>
          <p:cNvSpPr/>
          <p:nvPr/>
        </p:nvSpPr>
        <p:spPr>
          <a:xfrm>
            <a:off x="4453128" y="63779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algorithms</a:t>
            </a:r>
            <a:endParaRPr lang="en-US" sz="12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3889319-52E7-F6EA-214C-6FB5D81E6B30}"/>
              </a:ext>
            </a:extLst>
          </p:cNvPr>
          <p:cNvSpPr/>
          <p:nvPr/>
        </p:nvSpPr>
        <p:spPr>
          <a:xfrm>
            <a:off x="2834640" y="1433322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6C2D083-16B0-081D-EC91-9BC5FB3A7C31}"/>
              </a:ext>
            </a:extLst>
          </p:cNvPr>
          <p:cNvSpPr/>
          <p:nvPr/>
        </p:nvSpPr>
        <p:spPr>
          <a:xfrm>
            <a:off x="3035808" y="1584198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AFCCA92-7DB9-D2AC-FF94-D4A25331D56E}"/>
              </a:ext>
            </a:extLst>
          </p:cNvPr>
          <p:cNvSpPr/>
          <p:nvPr/>
        </p:nvSpPr>
        <p:spPr>
          <a:xfrm>
            <a:off x="3035808" y="15841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C22C430-4049-84D0-C905-1AECAADE9A85}"/>
              </a:ext>
            </a:extLst>
          </p:cNvPr>
          <p:cNvSpPr/>
          <p:nvPr/>
        </p:nvSpPr>
        <p:spPr>
          <a:xfrm>
            <a:off x="3584448" y="152476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2A72DA3-1CC8-C226-C2AB-67A0BD33B796}"/>
              </a:ext>
            </a:extLst>
          </p:cNvPr>
          <p:cNvSpPr/>
          <p:nvPr/>
        </p:nvSpPr>
        <p:spPr>
          <a:xfrm>
            <a:off x="4361688" y="1579626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2904907-D386-E744-B0D6-2A064A9BA7D6}"/>
              </a:ext>
            </a:extLst>
          </p:cNvPr>
          <p:cNvSpPr/>
          <p:nvPr/>
        </p:nvSpPr>
        <p:spPr>
          <a:xfrm>
            <a:off x="4453128" y="143332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</a:t>
            </a:r>
            <a:endParaRPr lang="en-US" sz="12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D5DB58C-C19C-BF82-38F2-3520D1D40072}"/>
              </a:ext>
            </a:extLst>
          </p:cNvPr>
          <p:cNvSpPr/>
          <p:nvPr/>
        </p:nvSpPr>
        <p:spPr>
          <a:xfrm>
            <a:off x="2834640" y="2228850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70736680-2F47-383C-0F62-87CCA75E254E}"/>
              </a:ext>
            </a:extLst>
          </p:cNvPr>
          <p:cNvSpPr/>
          <p:nvPr/>
        </p:nvSpPr>
        <p:spPr>
          <a:xfrm>
            <a:off x="3035808" y="2379726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314C9277-EC05-FC71-5EA2-F4407D0C92BB}"/>
              </a:ext>
            </a:extLst>
          </p:cNvPr>
          <p:cNvSpPr/>
          <p:nvPr/>
        </p:nvSpPr>
        <p:spPr>
          <a:xfrm>
            <a:off x="3035808" y="237972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0DC768E-4FAE-A61B-FCEC-97E680516D22}"/>
              </a:ext>
            </a:extLst>
          </p:cNvPr>
          <p:cNvSpPr/>
          <p:nvPr/>
        </p:nvSpPr>
        <p:spPr>
          <a:xfrm>
            <a:off x="3584448" y="232029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89D4878-03AA-AC42-C788-065DCECAD681}"/>
              </a:ext>
            </a:extLst>
          </p:cNvPr>
          <p:cNvSpPr/>
          <p:nvPr/>
        </p:nvSpPr>
        <p:spPr>
          <a:xfrm>
            <a:off x="4361688" y="2375154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31CF177-A807-CE31-1BB2-ECA9F30B5B25}"/>
              </a:ext>
            </a:extLst>
          </p:cNvPr>
          <p:cNvSpPr/>
          <p:nvPr/>
        </p:nvSpPr>
        <p:spPr>
          <a:xfrm>
            <a:off x="4453128" y="222885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</a:t>
            </a:r>
            <a:endParaRPr lang="en-US" sz="12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1BB9B55-CFA0-B2B9-D0D5-F9F84E14A700}"/>
              </a:ext>
            </a:extLst>
          </p:cNvPr>
          <p:cNvSpPr/>
          <p:nvPr/>
        </p:nvSpPr>
        <p:spPr>
          <a:xfrm>
            <a:off x="2834640" y="3024378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91074AD-EEAF-CC1A-C64F-70E9EAAE6F93}"/>
              </a:ext>
            </a:extLst>
          </p:cNvPr>
          <p:cNvSpPr/>
          <p:nvPr/>
        </p:nvSpPr>
        <p:spPr>
          <a:xfrm>
            <a:off x="3035808" y="3175254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2C1DB4C-7A30-FDE6-FBB2-5ED7FA0966C0}"/>
              </a:ext>
            </a:extLst>
          </p:cNvPr>
          <p:cNvSpPr/>
          <p:nvPr/>
        </p:nvSpPr>
        <p:spPr>
          <a:xfrm>
            <a:off x="3035808" y="317525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0D7429D-968C-6CC1-CB67-49328C66BFFF}"/>
              </a:ext>
            </a:extLst>
          </p:cNvPr>
          <p:cNvSpPr/>
          <p:nvPr/>
        </p:nvSpPr>
        <p:spPr>
          <a:xfrm>
            <a:off x="3584448" y="311581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95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C00E2499-AF17-8119-3E32-ED104BE2C408}"/>
              </a:ext>
            </a:extLst>
          </p:cNvPr>
          <p:cNvSpPr/>
          <p:nvPr/>
        </p:nvSpPr>
        <p:spPr>
          <a:xfrm>
            <a:off x="4361688" y="3170682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CBCAC83-FE09-B41B-A792-27B20AAC85CA}"/>
              </a:ext>
            </a:extLst>
          </p:cNvPr>
          <p:cNvSpPr/>
          <p:nvPr/>
        </p:nvSpPr>
        <p:spPr>
          <a:xfrm>
            <a:off x="4453128" y="302437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</a:t>
            </a:r>
            <a:endParaRPr lang="en-US" sz="12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56457514-840D-17B8-1CA3-22F36C9B7732}"/>
              </a:ext>
            </a:extLst>
          </p:cNvPr>
          <p:cNvSpPr/>
          <p:nvPr/>
        </p:nvSpPr>
        <p:spPr>
          <a:xfrm>
            <a:off x="2834640" y="3819906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DF37A64-ED3D-4331-0DFF-1C08C1392C97}"/>
              </a:ext>
            </a:extLst>
          </p:cNvPr>
          <p:cNvSpPr/>
          <p:nvPr/>
        </p:nvSpPr>
        <p:spPr>
          <a:xfrm>
            <a:off x="3035808" y="3970782"/>
            <a:ext cx="384048" cy="384048"/>
          </a:xfrm>
          <a:prstGeom prst="ellipse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E4D50F2-2BDB-5D2A-D738-38A75BE73FEC}"/>
              </a:ext>
            </a:extLst>
          </p:cNvPr>
          <p:cNvSpPr/>
          <p:nvPr/>
        </p:nvSpPr>
        <p:spPr>
          <a:xfrm>
            <a:off x="3035808" y="39707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D1F2660-4698-BAA4-6ECB-D1AD7F28A049}"/>
              </a:ext>
            </a:extLst>
          </p:cNvPr>
          <p:cNvSpPr/>
          <p:nvPr/>
        </p:nvSpPr>
        <p:spPr>
          <a:xfrm>
            <a:off x="3584448" y="391134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95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D73F017A-5189-2942-0DBD-BF028C8152BF}"/>
              </a:ext>
            </a:extLst>
          </p:cNvPr>
          <p:cNvSpPr/>
          <p:nvPr/>
        </p:nvSpPr>
        <p:spPr>
          <a:xfrm>
            <a:off x="4361688" y="3966210"/>
            <a:ext cx="0" cy="393192"/>
          </a:xfrm>
          <a:prstGeom prst="line">
            <a:avLst/>
          </a:prstGeom>
          <a:noFill/>
          <a:ln w="9525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D890D9C-81A6-2603-64EC-51DA4BF1757F}"/>
              </a:ext>
            </a:extLst>
          </p:cNvPr>
          <p:cNvSpPr/>
          <p:nvPr/>
        </p:nvSpPr>
        <p:spPr>
          <a:xfrm>
            <a:off x="4453128" y="381990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&amp; Insertion Sort + comparison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089634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13FDBC-5DDD-9D99-0C14-ACF6DD9AF588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2E06120-A5BA-0588-9AFC-314C5FEDBA69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1E6587E-9A93-DCDC-751E-D59249E30628}"/>
              </a:ext>
            </a:extLst>
          </p:cNvPr>
          <p:cNvSpPr/>
          <p:nvPr/>
        </p:nvSpPr>
        <p:spPr>
          <a:xfrm>
            <a:off x="365760" y="274320"/>
            <a:ext cx="1371600" cy="868680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67D5CF5-DB10-704C-D443-9DD16F3972AE}"/>
              </a:ext>
            </a:extLst>
          </p:cNvPr>
          <p:cNvSpPr/>
          <p:nvPr/>
        </p:nvSpPr>
        <p:spPr>
          <a:xfrm>
            <a:off x="365760" y="274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18CB18-7DD1-DE12-784E-1AD843D14FD8}"/>
              </a:ext>
            </a:extLst>
          </p:cNvPr>
          <p:cNvSpPr/>
          <p:nvPr/>
        </p:nvSpPr>
        <p:spPr>
          <a:xfrm>
            <a:off x="4846320" y="292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 ·  Programming Fundamentals</a:t>
            </a:r>
            <a:endParaRPr lang="en-US" sz="1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B2A5451-C4E1-38AA-05F1-72B37457912F}"/>
              </a:ext>
            </a:extLst>
          </p:cNvPr>
          <p:cNvSpPr/>
          <p:nvPr/>
        </p:nvSpPr>
        <p:spPr>
          <a:xfrm>
            <a:off x="4846320" y="5669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Session 1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AD083D8-2D1F-92BE-05A6-90E9ABE83F24}"/>
              </a:ext>
            </a:extLst>
          </p:cNvPr>
          <p:cNvSpPr/>
          <p:nvPr/>
        </p:nvSpPr>
        <p:spPr>
          <a:xfrm>
            <a:off x="365760" y="1298448"/>
            <a:ext cx="8412480" cy="1463040"/>
          </a:xfrm>
          <a:prstGeom prst="rect">
            <a:avLst/>
          </a:prstGeom>
          <a:solidFill>
            <a:srgbClr val="1A1A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D5704D3-3BF1-E3E5-328C-6FEE31360790}"/>
              </a:ext>
            </a:extLst>
          </p:cNvPr>
          <p:cNvSpPr/>
          <p:nvPr/>
        </p:nvSpPr>
        <p:spPr>
          <a:xfrm>
            <a:off x="365760" y="1298448"/>
            <a:ext cx="109728" cy="1463040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3858319-3A4E-91B1-C2EA-3847BFD5134B}"/>
              </a:ext>
            </a:extLst>
          </p:cNvPr>
          <p:cNvSpPr/>
          <p:nvPr/>
        </p:nvSpPr>
        <p:spPr>
          <a:xfrm>
            <a:off x="6858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Topics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7576970-1165-68A7-9A7D-AF857B550642}"/>
              </a:ext>
            </a:extLst>
          </p:cNvPr>
          <p:cNvSpPr/>
          <p:nvPr/>
        </p:nvSpPr>
        <p:spPr>
          <a:xfrm>
            <a:off x="685800" y="17373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Algorithms</a:t>
            </a:r>
            <a:endParaRPr lang="en-US" sz="4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F5FA2A2-3F2F-83FD-13B0-8F916BDF8B68}"/>
              </a:ext>
            </a:extLst>
          </p:cNvPr>
          <p:cNvSpPr/>
          <p:nvPr/>
        </p:nvSpPr>
        <p:spPr>
          <a:xfrm>
            <a:off x="448056" y="2971800"/>
            <a:ext cx="1965960" cy="256032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4B0681B-DD72-BBAA-CF9F-BAB2A3B94A02}"/>
              </a:ext>
            </a:extLst>
          </p:cNvPr>
          <p:cNvSpPr/>
          <p:nvPr/>
        </p:nvSpPr>
        <p:spPr>
          <a:xfrm>
            <a:off x="557784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63F2B03-F032-249B-78BC-7A866DB649EF}"/>
              </a:ext>
            </a:extLst>
          </p:cNvPr>
          <p:cNvSpPr/>
          <p:nvPr/>
        </p:nvSpPr>
        <p:spPr>
          <a:xfrm>
            <a:off x="448056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EB099FC-10EB-F5A1-0946-B88DCE86BBD5}"/>
              </a:ext>
            </a:extLst>
          </p:cNvPr>
          <p:cNvSpPr/>
          <p:nvPr/>
        </p:nvSpPr>
        <p:spPr>
          <a:xfrm>
            <a:off x="1147572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2BB8682D-961A-DD53-45ED-B5032D0B8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732" y="3520440"/>
            <a:ext cx="292608" cy="292608"/>
          </a:xfrm>
          <a:prstGeom prst="rect">
            <a:avLst/>
          </a:prstGeom>
        </p:spPr>
      </p:pic>
      <p:sp>
        <p:nvSpPr>
          <p:cNvPr id="17" name="Text 14">
            <a:extLst>
              <a:ext uri="{FF2B5EF4-FFF2-40B4-BE49-F238E27FC236}">
                <a16:creationId xmlns:a16="http://schemas.microsoft.com/office/drawing/2014/main" id="{A012E61B-F8AB-45CD-A4DE-3F1327EF0708}"/>
              </a:ext>
            </a:extLst>
          </p:cNvPr>
          <p:cNvSpPr/>
          <p:nvPr/>
        </p:nvSpPr>
        <p:spPr>
          <a:xfrm>
            <a:off x="539496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Algorithm?</a:t>
            </a:r>
            <a:endParaRPr lang="en-US" sz="12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E81D8A6-1D5A-C81F-0678-FB64F8ADF628}"/>
              </a:ext>
            </a:extLst>
          </p:cNvPr>
          <p:cNvSpPr/>
          <p:nvPr/>
        </p:nvSpPr>
        <p:spPr>
          <a:xfrm>
            <a:off x="539496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definition, properties, and why algorithms are everywhere around us</a:t>
            </a:r>
            <a:endParaRPr lang="en-US" sz="9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509FF1E3-7F95-BF77-7884-C3713707FFEB}"/>
              </a:ext>
            </a:extLst>
          </p:cNvPr>
          <p:cNvSpPr/>
          <p:nvPr/>
        </p:nvSpPr>
        <p:spPr>
          <a:xfrm>
            <a:off x="2542032" y="2971800"/>
            <a:ext cx="1965960" cy="256032"/>
          </a:xfrm>
          <a:prstGeom prst="rect">
            <a:avLst/>
          </a:prstGeom>
          <a:solidFill>
            <a:srgbClr val="4A8AF4"/>
          </a:solidFill>
          <a:ln w="12700">
            <a:solidFill>
              <a:srgbClr val="4A8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783B96E-964E-98F7-1DBA-93833A52BCDA}"/>
              </a:ext>
            </a:extLst>
          </p:cNvPr>
          <p:cNvSpPr/>
          <p:nvPr/>
        </p:nvSpPr>
        <p:spPr>
          <a:xfrm>
            <a:off x="2651760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6FFD5674-F734-94AD-0AC9-E1FA43B9DB81}"/>
              </a:ext>
            </a:extLst>
          </p:cNvPr>
          <p:cNvSpPr/>
          <p:nvPr/>
        </p:nvSpPr>
        <p:spPr>
          <a:xfrm>
            <a:off x="2542032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D2A8F47-C25F-DCA5-15B0-45A6A6E685C0}"/>
              </a:ext>
            </a:extLst>
          </p:cNvPr>
          <p:cNvSpPr/>
          <p:nvPr/>
        </p:nvSpPr>
        <p:spPr>
          <a:xfrm>
            <a:off x="3241548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4A8A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412C1324-714A-69F6-27F7-4F9223D68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708" y="3520440"/>
            <a:ext cx="292608" cy="292608"/>
          </a:xfrm>
          <a:prstGeom prst="rect">
            <a:avLst/>
          </a:prstGeom>
        </p:spPr>
      </p:pic>
      <p:sp>
        <p:nvSpPr>
          <p:cNvPr id="24" name="Text 20">
            <a:extLst>
              <a:ext uri="{FF2B5EF4-FFF2-40B4-BE49-F238E27FC236}">
                <a16:creationId xmlns:a16="http://schemas.microsoft.com/office/drawing/2014/main" id="{1AE054CC-788A-0238-EC96-FA57C021FC40}"/>
              </a:ext>
            </a:extLst>
          </p:cNvPr>
          <p:cNvSpPr/>
          <p:nvPr/>
        </p:nvSpPr>
        <p:spPr>
          <a:xfrm>
            <a:off x="2633472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A8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Algorithms</a:t>
            </a:r>
            <a:endParaRPr lang="en-US" sz="125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C7AFB4C8-A5F1-8E8E-6768-231160D342BA}"/>
              </a:ext>
            </a:extLst>
          </p:cNvPr>
          <p:cNvSpPr/>
          <p:nvPr/>
        </p:nvSpPr>
        <p:spPr>
          <a:xfrm>
            <a:off x="2633472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steps to take a real problem and turn it into a clear, repeatable solution</a:t>
            </a:r>
            <a:endParaRPr lang="en-US" sz="9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9D78CCF1-008A-5CE5-AC2B-DCEF547897A9}"/>
              </a:ext>
            </a:extLst>
          </p:cNvPr>
          <p:cNvSpPr/>
          <p:nvPr/>
        </p:nvSpPr>
        <p:spPr>
          <a:xfrm>
            <a:off x="4636008" y="2971800"/>
            <a:ext cx="1965960" cy="256032"/>
          </a:xfrm>
          <a:prstGeom prst="rect">
            <a:avLst/>
          </a:prstGeom>
          <a:solidFill>
            <a:srgbClr val="E08845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EB9130E3-8857-DC7C-907D-FE7C1B53B464}"/>
              </a:ext>
            </a:extLst>
          </p:cNvPr>
          <p:cNvSpPr/>
          <p:nvPr/>
        </p:nvSpPr>
        <p:spPr>
          <a:xfrm>
            <a:off x="4745736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015392AA-FAA7-FAF0-16B9-DB2D2E80ABE9}"/>
              </a:ext>
            </a:extLst>
          </p:cNvPr>
          <p:cNvSpPr/>
          <p:nvPr/>
        </p:nvSpPr>
        <p:spPr>
          <a:xfrm>
            <a:off x="4636008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35E4AB96-40B3-FFCD-7B2C-BEC27DB50F93}"/>
              </a:ext>
            </a:extLst>
          </p:cNvPr>
          <p:cNvSpPr/>
          <p:nvPr/>
        </p:nvSpPr>
        <p:spPr>
          <a:xfrm>
            <a:off x="5335524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>
            <a:extLst>
              <a:ext uri="{FF2B5EF4-FFF2-40B4-BE49-F238E27FC236}">
                <a16:creationId xmlns:a16="http://schemas.microsoft.com/office/drawing/2014/main" id="{B4F08430-4DE3-A123-6DE3-E6E4102C8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684" y="3520440"/>
            <a:ext cx="292608" cy="292608"/>
          </a:xfrm>
          <a:prstGeom prst="rect">
            <a:avLst/>
          </a:prstGeom>
        </p:spPr>
      </p:pic>
      <p:sp>
        <p:nvSpPr>
          <p:cNvPr id="31" name="Text 26">
            <a:extLst>
              <a:ext uri="{FF2B5EF4-FFF2-40B4-BE49-F238E27FC236}">
                <a16:creationId xmlns:a16="http://schemas.microsoft.com/office/drawing/2014/main" id="{C70E47AA-2F2E-EEB7-BD8B-85FCC7D175B6}"/>
              </a:ext>
            </a:extLst>
          </p:cNvPr>
          <p:cNvSpPr/>
          <p:nvPr/>
        </p:nvSpPr>
        <p:spPr>
          <a:xfrm>
            <a:off x="4727448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25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8ECCBAFC-4FF7-E939-9F85-F5EFDC3F0AFF}"/>
              </a:ext>
            </a:extLst>
          </p:cNvPr>
          <p:cNvSpPr/>
          <p:nvPr/>
        </p:nvSpPr>
        <p:spPr>
          <a:xfrm>
            <a:off x="4727448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algorithms in plain language before writing real code</a:t>
            </a:r>
            <a:endParaRPr lang="en-US" sz="90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7610D32B-5A46-C321-DF99-3AA4DD031AF2}"/>
              </a:ext>
            </a:extLst>
          </p:cNvPr>
          <p:cNvSpPr/>
          <p:nvPr/>
        </p:nvSpPr>
        <p:spPr>
          <a:xfrm>
            <a:off x="6729984" y="2971800"/>
            <a:ext cx="1965960" cy="256032"/>
          </a:xfrm>
          <a:prstGeom prst="rect">
            <a:avLst/>
          </a:prstGeom>
          <a:solidFill>
            <a:srgbClr val="9B7EDA"/>
          </a:solidFill>
          <a:ln w="127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B950023F-CCE1-382C-FDCF-D5C19DE609C4}"/>
              </a:ext>
            </a:extLst>
          </p:cNvPr>
          <p:cNvSpPr/>
          <p:nvPr/>
        </p:nvSpPr>
        <p:spPr>
          <a:xfrm>
            <a:off x="6839712" y="29900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Shape 30">
            <a:extLst>
              <a:ext uri="{FF2B5EF4-FFF2-40B4-BE49-F238E27FC236}">
                <a16:creationId xmlns:a16="http://schemas.microsoft.com/office/drawing/2014/main" id="{3BDC98BD-C247-517E-A975-095E85D2D3D7}"/>
              </a:ext>
            </a:extLst>
          </p:cNvPr>
          <p:cNvSpPr/>
          <p:nvPr/>
        </p:nvSpPr>
        <p:spPr>
          <a:xfrm>
            <a:off x="6729984" y="3227832"/>
            <a:ext cx="1965960" cy="1435608"/>
          </a:xfrm>
          <a:prstGeom prst="rect">
            <a:avLst/>
          </a:prstGeom>
          <a:solidFill>
            <a:srgbClr val="1A1A2E"/>
          </a:solidFill>
          <a:ln w="9525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C4514252-80E3-795E-49A1-898709149828}"/>
              </a:ext>
            </a:extLst>
          </p:cNvPr>
          <p:cNvSpPr/>
          <p:nvPr/>
        </p:nvSpPr>
        <p:spPr>
          <a:xfrm>
            <a:off x="7429500" y="3383280"/>
            <a:ext cx="566928" cy="566928"/>
          </a:xfrm>
          <a:prstGeom prst="ellipse">
            <a:avLst/>
          </a:prstGeom>
          <a:solidFill>
            <a:srgbClr val="1A1A2E"/>
          </a:solidFill>
          <a:ln w="1905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>
            <a:extLst>
              <a:ext uri="{FF2B5EF4-FFF2-40B4-BE49-F238E27FC236}">
                <a16:creationId xmlns:a16="http://schemas.microsoft.com/office/drawing/2014/main" id="{347FB59D-AC00-AA50-8B4C-5C338DD250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660" y="3520440"/>
            <a:ext cx="292608" cy="292608"/>
          </a:xfrm>
          <a:prstGeom prst="rect">
            <a:avLst/>
          </a:prstGeom>
        </p:spPr>
      </p:pic>
      <p:sp>
        <p:nvSpPr>
          <p:cNvPr id="38" name="Text 32">
            <a:extLst>
              <a:ext uri="{FF2B5EF4-FFF2-40B4-BE49-F238E27FC236}">
                <a16:creationId xmlns:a16="http://schemas.microsoft.com/office/drawing/2014/main" id="{871EB010-BBA8-F194-F2DE-05B41DDB8680}"/>
              </a:ext>
            </a:extLst>
          </p:cNvPr>
          <p:cNvSpPr/>
          <p:nvPr/>
        </p:nvSpPr>
        <p:spPr>
          <a:xfrm>
            <a:off x="6821424" y="39959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</a:t>
            </a:r>
            <a:endParaRPr lang="en-US" sz="1250" dirty="0"/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B1957D08-2E17-FA5D-3577-06DB3E45697E}"/>
              </a:ext>
            </a:extLst>
          </p:cNvPr>
          <p:cNvSpPr/>
          <p:nvPr/>
        </p:nvSpPr>
        <p:spPr>
          <a:xfrm>
            <a:off x="6821424" y="42519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flow of an algorithm with standard symbols and arrows</a:t>
            </a:r>
            <a:endParaRPr lang="en-US" sz="900" dirty="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A0849E45-C363-F4CE-04BD-BDB92DA86730}"/>
              </a:ext>
            </a:extLst>
          </p:cNvPr>
          <p:cNvSpPr/>
          <p:nvPr/>
        </p:nvSpPr>
        <p:spPr>
          <a:xfrm>
            <a:off x="0" y="47777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 🚀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41658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>
            <a:extLst>
              <a:ext uri="{FF2B5EF4-FFF2-40B4-BE49-F238E27FC236}">
                <a16:creationId xmlns:a16="http://schemas.microsoft.com/office/drawing/2014/main" id="{1B6EA25D-920F-01B3-FB70-D7432FF6B1A1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1">
            <a:extLst>
              <a:ext uri="{FF2B5EF4-FFF2-40B4-BE49-F238E27FC236}">
                <a16:creationId xmlns:a16="http://schemas.microsoft.com/office/drawing/2014/main" id="{AEA1A76F-C3F1-CC2E-D0A4-B9D7109230A5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FC4C1BC1-0746-CC9A-B8CF-995FD26AE8B3}"/>
              </a:ext>
            </a:extLst>
          </p:cNvPr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821F3991-3C81-09DF-1A56-9976147ADD80}"/>
              </a:ext>
            </a:extLst>
          </p:cNvPr>
          <p:cNvSpPr/>
          <p:nvPr/>
        </p:nvSpPr>
        <p:spPr>
          <a:xfrm>
            <a:off x="365760" y="7315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algorithm?</a:t>
            </a:r>
            <a:endParaRPr lang="en-US" sz="2000" dirty="0"/>
          </a:p>
        </p:txBody>
      </p:sp>
      <p:sp>
        <p:nvSpPr>
          <p:cNvPr id="52" name="Shape 4">
            <a:extLst>
              <a:ext uri="{FF2B5EF4-FFF2-40B4-BE49-F238E27FC236}">
                <a16:creationId xmlns:a16="http://schemas.microsoft.com/office/drawing/2014/main" id="{FC21FB84-F6AB-7665-1308-5BF721CA043C}"/>
              </a:ext>
            </a:extLst>
          </p:cNvPr>
          <p:cNvSpPr/>
          <p:nvPr/>
        </p:nvSpPr>
        <p:spPr>
          <a:xfrm>
            <a:off x="274320" y="841248"/>
            <a:ext cx="8595360" cy="4133088"/>
          </a:xfrm>
          <a:prstGeom prst="roundRect">
            <a:avLst>
              <a:gd name="adj" fmla="val 2655"/>
            </a:avLst>
          </a:prstGeom>
          <a:solidFill>
            <a:srgbClr val="1A1040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5505480E-9E51-0769-FE17-12FDA406D690}"/>
              </a:ext>
            </a:extLst>
          </p:cNvPr>
          <p:cNvSpPr/>
          <p:nvPr/>
        </p:nvSpPr>
        <p:spPr>
          <a:xfrm>
            <a:off x="502920" y="914400"/>
            <a:ext cx="81381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is a finite, ordered sequence of clear instructions designed to solve a specific problem or perform a specific task. Given the same input, a correct algorithm will always produce the same output.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are not unique to computers. A cooking recipe, the directions you give a friend to your house, and the instructions for assembling furniture are all algorithms — each one is a step-by-step plan that takes some input and produces a desired result.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data the algorithm starts with. For a search algorithm, the input is the list of items and the value you are looking for. Some algorithms also accept zero inputs.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result the algorithm produces after following its steps. Every algorithm must produce at least one output — otherwise there is no point in running it.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6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 algorithm comes from the name of the 9th century Persian mathematician al-Khwārizmī, whose works on systematic problem-solving were translated into Latin and shaped the foundations of modern mathematics. Today, algorithms power everything from social media feeds and GPS navigation to online banking and search engines.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3657600"/>
          </a:xfrm>
          <a:prstGeom prst="rect">
            <a:avLst/>
          </a:prstGeom>
          <a:solidFill>
            <a:srgbClr val="161B26"/>
          </a:solidFill>
          <a:ln w="1905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91440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78638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011680" y="77724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64922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87782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0" y="82296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69494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852160" y="91440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52160" y="78638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49440" y="777240"/>
            <a:ext cx="822960" cy="594360"/>
          </a:xfrm>
          <a:prstGeom prst="rect">
            <a:avLst/>
          </a:prstGeom>
          <a:solidFill>
            <a:srgbClr val="3FD9C4">
              <a:alpha val="12000"/>
            </a:srgbClr>
          </a:solidFill>
          <a:ln w="12700">
            <a:solidFill>
              <a:srgbClr val="3FD9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0" y="649224"/>
            <a:ext cx="329184" cy="164592"/>
          </a:xfrm>
          <a:prstGeom prst="rect">
            <a:avLst/>
          </a:prstGeom>
          <a:solidFill>
            <a:srgbClr val="3FD9C4">
              <a:alpha val="20000"/>
            </a:srgbClr>
          </a:solidFill>
          <a:ln w="12700">
            <a:solidFill>
              <a:srgbClr val="3FD9C4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1417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548640" y="21214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Us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548640" y="294436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· Directions · Daily Routines · Real-World Examples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468880" y="3401568"/>
            <a:ext cx="274320" cy="274320"/>
          </a:xfrm>
          <a:prstGeom prst="ellipse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090672" y="3401568"/>
            <a:ext cx="274320" cy="27432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12464" y="3401568"/>
            <a:ext cx="274320" cy="27432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34256" y="3401568"/>
            <a:ext cx="274320" cy="274320"/>
          </a:xfrm>
          <a:prstGeom prst="ellipse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956048" y="3401568"/>
            <a:ext cx="274320" cy="27432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77840" y="3401568"/>
            <a:ext cx="274320" cy="274320"/>
          </a:xfrm>
          <a:prstGeom prst="ellipse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0" y="4526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· Programming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EVERYDAY EXAMPLES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in Daily Life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follow algorithms every day — even without writing a single line of code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8321040" cy="91440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243584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 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just a clear set of </a:t>
            </a: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</a:t>
            </a: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solve a problem or finish a task. The four examples below are real-life algorithms — </a:t>
            </a: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takes input, follows steps, and produces a clear result.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212848"/>
            <a:ext cx="1993392" cy="214884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2212848"/>
            <a:ext cx="1993392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🍳  Cooking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2578608"/>
            <a:ext cx="177393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= algorithm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ingredients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chop, mix, cook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the meal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32888" y="2212848"/>
            <a:ext cx="1993392" cy="214884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532888" y="2212848"/>
            <a:ext cx="1993392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42616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Directions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42616" y="2578608"/>
            <a:ext cx="177393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somewhere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start + destination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turn, walk, arrive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reach the place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54296" y="2212848"/>
            <a:ext cx="1993392" cy="2148840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54296" y="2212848"/>
            <a:ext cx="1993392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64024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  Morning Routine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64024" y="2578608"/>
            <a:ext cx="177393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steps every day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up → brush teeth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have breakfast → leave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ready for the day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75704" y="2212848"/>
            <a:ext cx="1993392" cy="2148840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75704" y="2212848"/>
            <a:ext cx="1993392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85432" y="224942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Assembly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85432" y="2578608"/>
            <a:ext cx="177393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furniture from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IKEA steps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a step → wrong result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matters!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the chair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0A1020"/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5994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is a tool for thinking. Once you can describe a daily task as clear, ordered steps, you have already done the hardest part of programming — the rest is just translating those steps into code.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67E7A1E3-A543-8BE6-F2F7-46DDFC0E6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1">
            <a:extLst>
              <a:ext uri="{FF2B5EF4-FFF2-40B4-BE49-F238E27FC236}">
                <a16:creationId xmlns:a16="http://schemas.microsoft.com/office/drawing/2014/main" id="{1B08139B-E6D3-F862-7147-3E3B0F5894E8}"/>
              </a:ext>
            </a:extLst>
          </p:cNvPr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6AB523D-D286-0D36-36F4-F617E2643A46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6E2A5D1-669D-2D64-D734-7763B1DABBBF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F68E73-7C67-8C4B-94D3-86BAF3646AF3}"/>
              </a:ext>
            </a:extLst>
          </p:cNvPr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a good algorithm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544E3C-EA5C-AE66-3D74-449FAE81DEA2}"/>
              </a:ext>
            </a:extLst>
          </p:cNvPr>
          <p:cNvSpPr/>
          <p:nvPr/>
        </p:nvSpPr>
        <p:spPr>
          <a:xfrm>
            <a:off x="347472" y="621792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 · Finite · Effective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620B4A6-1285-10D5-B7E1-D15AEF559736}"/>
              </a:ext>
            </a:extLst>
          </p:cNvPr>
          <p:cNvSpPr/>
          <p:nvPr/>
        </p:nvSpPr>
        <p:spPr>
          <a:xfrm>
            <a:off x="256032" y="987552"/>
            <a:ext cx="2779776" cy="4041648"/>
          </a:xfrm>
          <a:prstGeom prst="roundRect">
            <a:avLst>
              <a:gd name="adj" fmla="val 4605"/>
            </a:avLst>
          </a:prstGeom>
          <a:solidFill>
            <a:srgbClr val="1E0F40"/>
          </a:solidFill>
          <a:ln w="1905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9026CF8-B1DC-8B2E-83F5-9A0B426D2580}"/>
              </a:ext>
            </a:extLst>
          </p:cNvPr>
          <p:cNvSpPr/>
          <p:nvPr/>
        </p:nvSpPr>
        <p:spPr>
          <a:xfrm>
            <a:off x="256032" y="103327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D3D41A9-4F3D-397F-A9C4-61A6A930AF77}"/>
              </a:ext>
            </a:extLst>
          </p:cNvPr>
          <p:cNvSpPr/>
          <p:nvPr/>
        </p:nvSpPr>
        <p:spPr>
          <a:xfrm>
            <a:off x="256032" y="1463040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clear and unambiguous</a:t>
            </a:r>
            <a:endParaRPr lang="en-US" sz="1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F286425-02A2-36F1-AD2F-8D132EFF3265}"/>
              </a:ext>
            </a:extLst>
          </p:cNvPr>
          <p:cNvSpPr/>
          <p:nvPr/>
        </p:nvSpPr>
        <p:spPr>
          <a:xfrm>
            <a:off x="384048" y="1901952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3CCCA66-CDB9-37CF-7D8A-7918BF601DCD}"/>
              </a:ext>
            </a:extLst>
          </p:cNvPr>
          <p:cNvSpPr/>
          <p:nvPr/>
        </p:nvSpPr>
        <p:spPr>
          <a:xfrm>
            <a:off x="457200" y="1938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</a:t>
            </a:r>
            <a:endParaRPr lang="en-US" sz="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DBA05D7-435E-9CC8-C1F8-1F4D7C558FB6}"/>
              </a:ext>
            </a:extLst>
          </p:cNvPr>
          <p:cNvSpPr/>
          <p:nvPr/>
        </p:nvSpPr>
        <p:spPr>
          <a:xfrm>
            <a:off x="457200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vague words. No "a few" or "soon".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D9A7D8D-F20F-F17A-CA44-E30DA6E443DE}"/>
              </a:ext>
            </a:extLst>
          </p:cNvPr>
          <p:cNvSpPr/>
          <p:nvPr/>
        </p:nvSpPr>
        <p:spPr>
          <a:xfrm>
            <a:off x="384048" y="2505456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18D6611-CA0F-6B2E-017D-756FEF7CEFD5}"/>
              </a:ext>
            </a:extLst>
          </p:cNvPr>
          <p:cNvSpPr/>
          <p:nvPr/>
        </p:nvSpPr>
        <p:spPr>
          <a:xfrm>
            <a:off x="457200" y="2542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Unambiguous</a:t>
            </a:r>
            <a:endParaRPr lang="en-US" sz="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77B5AAC-9204-5CA5-F374-0C161542F61F}"/>
              </a:ext>
            </a:extLst>
          </p:cNvPr>
          <p:cNvSpPr/>
          <p:nvPr/>
        </p:nvSpPr>
        <p:spPr>
          <a:xfrm>
            <a:off x="457200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has one meaning only</a:t>
            </a:r>
            <a:endParaRPr lang="en-US" sz="10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C41D8654-471B-E1B5-2246-47BEE515918D}"/>
              </a:ext>
            </a:extLst>
          </p:cNvPr>
          <p:cNvSpPr/>
          <p:nvPr/>
        </p:nvSpPr>
        <p:spPr>
          <a:xfrm>
            <a:off x="384048" y="310896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BFDBB1E-9225-A8E1-1205-7B7E0637227B}"/>
              </a:ext>
            </a:extLst>
          </p:cNvPr>
          <p:cNvSpPr/>
          <p:nvPr/>
        </p:nvSpPr>
        <p:spPr>
          <a:xfrm>
            <a:off x="457200" y="31455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</a:t>
            </a:r>
            <a:endParaRPr lang="en-US" sz="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E4CBAA0-1DD8-C300-54C8-98269928DCB6}"/>
              </a:ext>
            </a:extLst>
          </p:cNvPr>
          <p:cNvSpPr/>
          <p:nvPr/>
        </p:nvSpPr>
        <p:spPr>
          <a:xfrm>
            <a:off x="457200" y="3364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follow exactly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F063973-CA98-3791-04FD-D91B4BFEBE96}"/>
              </a:ext>
            </a:extLst>
          </p:cNvPr>
          <p:cNvSpPr/>
          <p:nvPr/>
        </p:nvSpPr>
        <p:spPr>
          <a:xfrm>
            <a:off x="384048" y="3712464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A354414-8980-435D-357F-D4B467A84BCA}"/>
              </a:ext>
            </a:extLst>
          </p:cNvPr>
          <p:cNvSpPr/>
          <p:nvPr/>
        </p:nvSpPr>
        <p:spPr>
          <a:xfrm>
            <a:off x="457200" y="3749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</a:t>
            </a:r>
            <a:endParaRPr lang="en-US" sz="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0988D5E-7783-F62D-3D58-985154F9F681}"/>
              </a:ext>
            </a:extLst>
          </p:cNvPr>
          <p:cNvSpPr/>
          <p:nvPr/>
        </p:nvSpPr>
        <p:spPr>
          <a:xfrm>
            <a:off x="457200" y="3968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→ same output, every time</a:t>
            </a:r>
            <a:endParaRPr lang="en-US" sz="1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B229D71-6A56-AE58-3983-D7ECD4AE715E}"/>
              </a:ext>
            </a:extLst>
          </p:cNvPr>
          <p:cNvSpPr/>
          <p:nvPr/>
        </p:nvSpPr>
        <p:spPr>
          <a:xfrm>
            <a:off x="384048" y="4315968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5F3FB27-EDB2-C24A-106E-053C8980AE8E}"/>
              </a:ext>
            </a:extLst>
          </p:cNvPr>
          <p:cNvSpPr/>
          <p:nvPr/>
        </p:nvSpPr>
        <p:spPr>
          <a:xfrm>
            <a:off x="457200" y="4352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CA971F4-B0DF-8B96-0DC6-6F777F3A889A}"/>
              </a:ext>
            </a:extLst>
          </p:cNvPr>
          <p:cNvSpPr/>
          <p:nvPr/>
        </p:nvSpPr>
        <p:spPr>
          <a:xfrm>
            <a:off x="457200" y="4572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are written down clearly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D48AD9D-5621-E7F3-EC42-8BA9A0AFAFB7}"/>
              </a:ext>
            </a:extLst>
          </p:cNvPr>
          <p:cNvSpPr/>
          <p:nvPr/>
        </p:nvSpPr>
        <p:spPr>
          <a:xfrm>
            <a:off x="3163824" y="987552"/>
            <a:ext cx="2779776" cy="4041648"/>
          </a:xfrm>
          <a:prstGeom prst="roundRect">
            <a:avLst>
              <a:gd name="adj" fmla="val 4605"/>
            </a:avLst>
          </a:prstGeom>
          <a:solidFill>
            <a:srgbClr val="110A2E"/>
          </a:solidFill>
          <a:ln w="19050">
            <a:solidFill>
              <a:srgbClr val="A38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A2AE263-E84F-29F5-59D7-0A4B5C3EDF8B}"/>
              </a:ext>
            </a:extLst>
          </p:cNvPr>
          <p:cNvSpPr/>
          <p:nvPr/>
        </p:nvSpPr>
        <p:spPr>
          <a:xfrm>
            <a:off x="3163824" y="103327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</a:t>
            </a:r>
            <a:endParaRPr lang="en-US" sz="2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014DDB2-FE98-268C-10BC-7AFC14ECC9A2}"/>
              </a:ext>
            </a:extLst>
          </p:cNvPr>
          <p:cNvSpPr/>
          <p:nvPr/>
        </p:nvSpPr>
        <p:spPr>
          <a:xfrm>
            <a:off x="3163824" y="1463040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always stops</a:t>
            </a:r>
            <a:endParaRPr lang="en-US" sz="10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05F0EF5-72AD-AB9A-BBF5-81CE3F4341A6}"/>
              </a:ext>
            </a:extLst>
          </p:cNvPr>
          <p:cNvSpPr/>
          <p:nvPr/>
        </p:nvSpPr>
        <p:spPr>
          <a:xfrm>
            <a:off x="3291840" y="1901952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83A298E-36BD-B8BD-C903-2E6D89F08F9D}"/>
              </a:ext>
            </a:extLst>
          </p:cNvPr>
          <p:cNvSpPr/>
          <p:nvPr/>
        </p:nvSpPr>
        <p:spPr>
          <a:xfrm>
            <a:off x="3364992" y="1938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 end</a:t>
            </a:r>
            <a:endParaRPr lang="en-US" sz="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10E638F-8073-CA1D-CF8D-6A0034C827F0}"/>
              </a:ext>
            </a:extLst>
          </p:cNvPr>
          <p:cNvSpPr/>
          <p:nvPr/>
        </p:nvSpPr>
        <p:spPr>
          <a:xfrm>
            <a:off x="3364992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must terminate after a number of steps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115F7D5-AB59-4793-3017-56977D651FA9}"/>
              </a:ext>
            </a:extLst>
          </p:cNvPr>
          <p:cNvSpPr/>
          <p:nvPr/>
        </p:nvSpPr>
        <p:spPr>
          <a:xfrm>
            <a:off x="3291840" y="2505456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073D696-90F9-5831-A9FA-CEB3FFD55143}"/>
              </a:ext>
            </a:extLst>
          </p:cNvPr>
          <p:cNvSpPr/>
          <p:nvPr/>
        </p:nvSpPr>
        <p:spPr>
          <a:xfrm>
            <a:off x="3364992" y="2542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infinite loops</a:t>
            </a:r>
            <a:endParaRPr lang="en-US" sz="8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38F6E8F-D4EE-58E6-AB3E-E676EB6B9BC9}"/>
              </a:ext>
            </a:extLst>
          </p:cNvPr>
          <p:cNvSpPr/>
          <p:nvPr/>
        </p:nvSpPr>
        <p:spPr>
          <a:xfrm>
            <a:off x="3364992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always have a stopping condition</a:t>
            </a:r>
            <a:endParaRPr lang="en-US" sz="1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0BAC11F-E1A8-35E9-18F1-62E05E2CCAC8}"/>
              </a:ext>
            </a:extLst>
          </p:cNvPr>
          <p:cNvSpPr/>
          <p:nvPr/>
        </p:nvSpPr>
        <p:spPr>
          <a:xfrm>
            <a:off x="3291840" y="310896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C0F462FF-7F1E-5DB8-413D-E855FFD315EE}"/>
              </a:ext>
            </a:extLst>
          </p:cNvPr>
          <p:cNvSpPr/>
          <p:nvPr/>
        </p:nvSpPr>
        <p:spPr>
          <a:xfrm>
            <a:off x="3364992" y="31455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time</a:t>
            </a:r>
            <a:endParaRPr lang="en-US" sz="8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31CD1D4-728D-D439-8C9C-8F258123E6FF}"/>
              </a:ext>
            </a:extLst>
          </p:cNvPr>
          <p:cNvSpPr/>
          <p:nvPr/>
        </p:nvSpPr>
        <p:spPr>
          <a:xfrm>
            <a:off x="3364992" y="3364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finish in a usable amount of time</a:t>
            </a: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1CB16C89-C1B7-CE23-A8E7-A5BD72507E34}"/>
              </a:ext>
            </a:extLst>
          </p:cNvPr>
          <p:cNvSpPr/>
          <p:nvPr/>
        </p:nvSpPr>
        <p:spPr>
          <a:xfrm>
            <a:off x="3291840" y="3712464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CAAECD9B-B974-69AF-96E1-1ED6A15A2AC6}"/>
              </a:ext>
            </a:extLst>
          </p:cNvPr>
          <p:cNvSpPr/>
          <p:nvPr/>
        </p:nvSpPr>
        <p:spPr>
          <a:xfrm>
            <a:off x="3364992" y="3749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memory</a:t>
            </a:r>
            <a:endParaRPr lang="en-US" sz="8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69C938C-3E85-8060-A306-4D527DF6A6C0}"/>
              </a:ext>
            </a:extLst>
          </p:cNvPr>
          <p:cNvSpPr/>
          <p:nvPr/>
        </p:nvSpPr>
        <p:spPr>
          <a:xfrm>
            <a:off x="3364992" y="3968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not need endless storage</a:t>
            </a:r>
            <a:endParaRPr lang="en-US" sz="10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DF86B9F-C390-852B-54F8-32B4EAAF6A7E}"/>
              </a:ext>
            </a:extLst>
          </p:cNvPr>
          <p:cNvSpPr/>
          <p:nvPr/>
        </p:nvSpPr>
        <p:spPr>
          <a:xfrm>
            <a:off x="3291840" y="4315968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66CDEBF-5B8A-A325-4EDA-D77297C625E7}"/>
              </a:ext>
            </a:extLst>
          </p:cNvPr>
          <p:cNvSpPr/>
          <p:nvPr/>
        </p:nvSpPr>
        <p:spPr>
          <a:xfrm>
            <a:off x="3364992" y="4352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</a:t>
            </a:r>
            <a:endParaRPr lang="en-US" sz="8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70C90110-7151-0F5E-7B75-4281C7115836}"/>
              </a:ext>
            </a:extLst>
          </p:cNvPr>
          <p:cNvSpPr/>
          <p:nvPr/>
        </p:nvSpPr>
        <p:spPr>
          <a:xfrm>
            <a:off x="3364992" y="4572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estimate how long it will take</a:t>
            </a:r>
            <a:endParaRPr lang="en-US" sz="10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23D47241-34CE-835E-D9B3-5DF3E9C86A4D}"/>
              </a:ext>
            </a:extLst>
          </p:cNvPr>
          <p:cNvSpPr/>
          <p:nvPr/>
        </p:nvSpPr>
        <p:spPr>
          <a:xfrm>
            <a:off x="6071616" y="987552"/>
            <a:ext cx="2779776" cy="4041648"/>
          </a:xfrm>
          <a:prstGeom prst="roundRect">
            <a:avLst>
              <a:gd name="adj" fmla="val 4605"/>
            </a:avLst>
          </a:prstGeom>
          <a:solidFill>
            <a:srgbClr val="0A2E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160F8E2C-8366-D789-0BA3-8DA4032B4304}"/>
              </a:ext>
            </a:extLst>
          </p:cNvPr>
          <p:cNvSpPr/>
          <p:nvPr/>
        </p:nvSpPr>
        <p:spPr>
          <a:xfrm>
            <a:off x="6071616" y="1033272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</a:t>
            </a:r>
            <a:endParaRPr lang="en-US" sz="2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400A9794-536B-5ED1-EAE6-B302049B104A}"/>
              </a:ext>
            </a:extLst>
          </p:cNvPr>
          <p:cNvSpPr/>
          <p:nvPr/>
        </p:nvSpPr>
        <p:spPr>
          <a:xfrm>
            <a:off x="6071616" y="1463040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actually solves the problem</a:t>
            </a:r>
            <a:endParaRPr lang="en-US" sz="10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17BB9C3C-FBE9-5806-C1E4-F9F0239F94FD}"/>
              </a:ext>
            </a:extLst>
          </p:cNvPr>
          <p:cNvSpPr/>
          <p:nvPr/>
        </p:nvSpPr>
        <p:spPr>
          <a:xfrm>
            <a:off x="6199632" y="1901952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934E9C9-C2E5-4054-607E-4F78E6D73CD6}"/>
              </a:ext>
            </a:extLst>
          </p:cNvPr>
          <p:cNvSpPr/>
          <p:nvPr/>
        </p:nvSpPr>
        <p:spPr>
          <a:xfrm>
            <a:off x="6272784" y="19385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8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BC2E8DD9-F45B-A649-12EE-B4F1127DA68F}"/>
              </a:ext>
            </a:extLst>
          </p:cNvPr>
          <p:cNvSpPr/>
          <p:nvPr/>
        </p:nvSpPr>
        <p:spPr>
          <a:xfrm>
            <a:off x="6272784" y="21579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right answer for valid input</a:t>
            </a:r>
            <a:endParaRPr lang="en-US" sz="10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CD98D845-A5B7-CD8A-6A17-A786BC952BFB}"/>
              </a:ext>
            </a:extLst>
          </p:cNvPr>
          <p:cNvSpPr/>
          <p:nvPr/>
        </p:nvSpPr>
        <p:spPr>
          <a:xfrm>
            <a:off x="6199632" y="2505456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E4E004CF-D99A-D43E-DEBD-62A9A585E8BC}"/>
              </a:ext>
            </a:extLst>
          </p:cNvPr>
          <p:cNvSpPr/>
          <p:nvPr/>
        </p:nvSpPr>
        <p:spPr>
          <a:xfrm>
            <a:off x="6272784" y="25420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</a:t>
            </a:r>
            <a:endParaRPr lang="en-US" sz="8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E1C58A4B-FE46-1795-D7D0-944949F52C8B}"/>
              </a:ext>
            </a:extLst>
          </p:cNvPr>
          <p:cNvSpPr/>
          <p:nvPr/>
        </p:nvSpPr>
        <p:spPr>
          <a:xfrm>
            <a:off x="6272784" y="2761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doable with simple operations</a:t>
            </a:r>
            <a:endParaRPr lang="en-US" sz="10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A4F5B864-A547-85E2-687E-468DA9810227}"/>
              </a:ext>
            </a:extLst>
          </p:cNvPr>
          <p:cNvSpPr/>
          <p:nvPr/>
        </p:nvSpPr>
        <p:spPr>
          <a:xfrm>
            <a:off x="6199632" y="3108960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47875D30-CA79-24B3-8B55-3CA6B7546DD1}"/>
              </a:ext>
            </a:extLst>
          </p:cNvPr>
          <p:cNvSpPr/>
          <p:nvPr/>
        </p:nvSpPr>
        <p:spPr>
          <a:xfrm>
            <a:off x="6272784" y="31455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</a:t>
            </a:r>
            <a:endParaRPr lang="en-US" sz="8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15E016C0-85D1-360B-6E43-07A7D50C7823}"/>
              </a:ext>
            </a:extLst>
          </p:cNvPr>
          <p:cNvSpPr/>
          <p:nvPr/>
        </p:nvSpPr>
        <p:spPr>
          <a:xfrm>
            <a:off x="6272784" y="3364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a real problem worth solving</a:t>
            </a:r>
            <a:endParaRPr lang="en-US" sz="10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4180C4C0-6012-AC85-4B17-3AFA774A2271}"/>
              </a:ext>
            </a:extLst>
          </p:cNvPr>
          <p:cNvSpPr/>
          <p:nvPr/>
        </p:nvSpPr>
        <p:spPr>
          <a:xfrm>
            <a:off x="6199632" y="3712464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250F50"/>
          </a:solidFill>
          <a:ln w="12700">
            <a:solidFill>
              <a:srgbClr val="250F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6F0CCA05-6F6B-73EB-BB3E-40FF49D41D8D}"/>
              </a:ext>
            </a:extLst>
          </p:cNvPr>
          <p:cNvSpPr/>
          <p:nvPr/>
        </p:nvSpPr>
        <p:spPr>
          <a:xfrm>
            <a:off x="6272784" y="37490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800" dirty="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1B5A695C-4E1C-1D37-4C84-4CC97C0EF229}"/>
              </a:ext>
            </a:extLst>
          </p:cNvPr>
          <p:cNvSpPr/>
          <p:nvPr/>
        </p:nvSpPr>
        <p:spPr>
          <a:xfrm>
            <a:off x="6272784" y="396849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time and memory wisely</a:t>
            </a:r>
            <a:endParaRPr lang="en-US" sz="1000" dirty="0"/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9479889D-FE47-827C-03B8-A090B2C69810}"/>
              </a:ext>
            </a:extLst>
          </p:cNvPr>
          <p:cNvSpPr/>
          <p:nvPr/>
        </p:nvSpPr>
        <p:spPr>
          <a:xfrm>
            <a:off x="6199632" y="4315968"/>
            <a:ext cx="2523744" cy="512064"/>
          </a:xfrm>
          <a:prstGeom prst="roundRect">
            <a:avLst>
              <a:gd name="adj" fmla="val 12500"/>
            </a:avLst>
          </a:prstGeom>
          <a:solidFill>
            <a:srgbClr val="1E1040"/>
          </a:solidFill>
          <a:ln w="12700">
            <a:solidFill>
              <a:srgbClr val="1E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30B55CAD-3273-8860-07F1-9A86A45AE431}"/>
              </a:ext>
            </a:extLst>
          </p:cNvPr>
          <p:cNvSpPr/>
          <p:nvPr/>
        </p:nvSpPr>
        <p:spPr>
          <a:xfrm>
            <a:off x="6272784" y="43525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</a:t>
            </a:r>
            <a:endParaRPr lang="en-US" sz="800" dirty="0"/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0270D8ED-165B-1400-E041-17FA430DE5B7}"/>
              </a:ext>
            </a:extLst>
          </p:cNvPr>
          <p:cNvSpPr/>
          <p:nvPr/>
        </p:nvSpPr>
        <p:spPr>
          <a:xfrm>
            <a:off x="6272784" y="4572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verify with example inputs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4555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F938DC5C-7D51-33EF-EC2F-903B4691A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737442-8D81-2853-880E-B42C3E57B121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C7F8120-DDCD-B00F-157A-EA938D251AAE}"/>
              </a:ext>
            </a:extLst>
          </p:cNvPr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098926-9EDA-9F30-BFD8-DFDDAF496B5B}"/>
              </a:ext>
            </a:extLst>
          </p:cNvPr>
          <p:cNvSpPr/>
          <p:nvPr/>
        </p:nvSpPr>
        <p:spPr>
          <a:xfrm>
            <a:off x="365760" y="7315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vs. Program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716D937-3C6D-88A6-7F45-F226E11D57EC}"/>
              </a:ext>
            </a:extLst>
          </p:cNvPr>
          <p:cNvSpPr/>
          <p:nvPr/>
        </p:nvSpPr>
        <p:spPr>
          <a:xfrm>
            <a:off x="365760" y="484632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vs. the working code — two stages of the same idea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75D64EF-ED1C-72CD-B931-D7593460A20B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C653463-1142-179E-88BD-AFAF6F8C8637}"/>
              </a:ext>
            </a:extLst>
          </p:cNvPr>
          <p:cNvSpPr/>
          <p:nvPr/>
        </p:nvSpPr>
        <p:spPr>
          <a:xfrm>
            <a:off x="274320" y="822960"/>
            <a:ext cx="3886200" cy="4114800"/>
          </a:xfrm>
          <a:prstGeom prst="roundRect">
            <a:avLst>
              <a:gd name="adj" fmla="val 2824"/>
            </a:avLst>
          </a:prstGeom>
          <a:solidFill>
            <a:srgbClr val="1E0F40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7C3DF9D-CF81-CFC2-24DE-26789DF7C566}"/>
              </a:ext>
            </a:extLst>
          </p:cNvPr>
          <p:cNvSpPr/>
          <p:nvPr/>
        </p:nvSpPr>
        <p:spPr>
          <a:xfrm>
            <a:off x="274320" y="8229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F6E38CC-3D4A-3E0B-2BE5-A1AFFE25B54B}"/>
              </a:ext>
            </a:extLst>
          </p:cNvPr>
          <p:cNvSpPr/>
          <p:nvPr/>
        </p:nvSpPr>
        <p:spPr>
          <a:xfrm>
            <a:off x="274320" y="118872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plan, in plain language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539B252-D602-88A8-A23E-D20791397C62}"/>
              </a:ext>
            </a:extLst>
          </p:cNvPr>
          <p:cNvSpPr/>
          <p:nvPr/>
        </p:nvSpPr>
        <p:spPr>
          <a:xfrm>
            <a:off x="457200" y="1536192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F22105E-A2B1-5DB5-D76C-63941344DE60}"/>
              </a:ext>
            </a:extLst>
          </p:cNvPr>
          <p:cNvSpPr/>
          <p:nvPr/>
        </p:nvSpPr>
        <p:spPr>
          <a:xfrm>
            <a:off x="502920" y="153619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8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FF3E5FA-C8C4-1DB7-9D76-AF20B79D4766}"/>
              </a:ext>
            </a:extLst>
          </p:cNvPr>
          <p:cNvSpPr/>
          <p:nvPr/>
        </p:nvSpPr>
        <p:spPr>
          <a:xfrm>
            <a:off x="1325880" y="153619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sequence of steps</a:t>
            </a:r>
            <a:endParaRPr lang="en-US" sz="9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251E9839-9550-A02D-B6AA-E0AF4A750EA8}"/>
              </a:ext>
            </a:extLst>
          </p:cNvPr>
          <p:cNvSpPr/>
          <p:nvPr/>
        </p:nvSpPr>
        <p:spPr>
          <a:xfrm>
            <a:off x="457200" y="2011680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7599456-8900-62A4-86BE-14B5BFD4D0C7}"/>
              </a:ext>
            </a:extLst>
          </p:cNvPr>
          <p:cNvSpPr/>
          <p:nvPr/>
        </p:nvSpPr>
        <p:spPr>
          <a:xfrm>
            <a:off x="502920" y="201168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</a:t>
            </a:r>
            <a:endParaRPr lang="en-US" sz="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F359D1C-3746-BFAC-361A-B9CAFC55E886}"/>
              </a:ext>
            </a:extLst>
          </p:cNvPr>
          <p:cNvSpPr/>
          <p:nvPr/>
        </p:nvSpPr>
        <p:spPr>
          <a:xfrm>
            <a:off x="1325880" y="20116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Pseudocode, flowchart, plain text</a:t>
            </a:r>
            <a:endParaRPr lang="en-US" sz="9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71D1348-3AA5-3882-54A1-57A76FAC380D}"/>
              </a:ext>
            </a:extLst>
          </p:cNvPr>
          <p:cNvSpPr/>
          <p:nvPr/>
        </p:nvSpPr>
        <p:spPr>
          <a:xfrm>
            <a:off x="457200" y="2487168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F8A9D77-12E4-A989-944B-42A32BEC703B}"/>
              </a:ext>
            </a:extLst>
          </p:cNvPr>
          <p:cNvSpPr/>
          <p:nvPr/>
        </p:nvSpPr>
        <p:spPr>
          <a:xfrm>
            <a:off x="502920" y="248716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endParaRPr lang="en-US" sz="8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AF3EE4B-F711-A440-7FC2-F5F1CC31B724}"/>
              </a:ext>
            </a:extLst>
          </p:cNvPr>
          <p:cNvSpPr/>
          <p:nvPr/>
        </p:nvSpPr>
        <p:spPr>
          <a:xfrm>
            <a:off x="1325880" y="248716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Human-readable, language-independent</a:t>
            </a:r>
            <a:endParaRPr lang="en-US" sz="9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96A5860-F2B4-C8FE-B166-FD5219F46DE7}"/>
              </a:ext>
            </a:extLst>
          </p:cNvPr>
          <p:cNvSpPr/>
          <p:nvPr/>
        </p:nvSpPr>
        <p:spPr>
          <a:xfrm>
            <a:off x="457200" y="2962656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81CB853-7AB7-49EC-8C36-43EFC3EE9829}"/>
              </a:ext>
            </a:extLst>
          </p:cNvPr>
          <p:cNvSpPr/>
          <p:nvPr/>
        </p:nvSpPr>
        <p:spPr>
          <a:xfrm>
            <a:off x="502920" y="296265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on:</a:t>
            </a:r>
            <a:endParaRPr lang="en-US" sz="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1F475CF-1041-BAFD-6AA4-A1D372E0B2C7}"/>
              </a:ext>
            </a:extLst>
          </p:cNvPr>
          <p:cNvSpPr/>
          <p:nvPr/>
        </p:nvSpPr>
        <p:spPr>
          <a:xfrm>
            <a:off x="1325880" y="296265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whiteboard, your mind</a:t>
            </a:r>
            <a:endParaRPr lang="en-US" sz="9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3F49C8D-AD9E-60C1-F1AA-48F0627BF1EF}"/>
              </a:ext>
            </a:extLst>
          </p:cNvPr>
          <p:cNvSpPr/>
          <p:nvPr/>
        </p:nvSpPr>
        <p:spPr>
          <a:xfrm>
            <a:off x="457200" y="3438144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2834748-8E04-C1D1-F4AC-BB51AD8FF547}"/>
              </a:ext>
            </a:extLst>
          </p:cNvPr>
          <p:cNvSpPr/>
          <p:nvPr/>
        </p:nvSpPr>
        <p:spPr>
          <a:xfrm>
            <a:off x="502920" y="3438144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8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595A1BA-789B-D1C6-BA77-FFA46E209E26}"/>
              </a:ext>
            </a:extLst>
          </p:cNvPr>
          <p:cNvSpPr/>
          <p:nvPr/>
        </p:nvSpPr>
        <p:spPr>
          <a:xfrm>
            <a:off x="1325880" y="343814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problem in your head first</a:t>
            </a:r>
            <a:endParaRPr lang="en-US" sz="9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0CA1FABC-481F-2EA3-FA26-2D0379687B51}"/>
              </a:ext>
            </a:extLst>
          </p:cNvPr>
          <p:cNvSpPr/>
          <p:nvPr/>
        </p:nvSpPr>
        <p:spPr>
          <a:xfrm>
            <a:off x="457200" y="3913632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2D1A5E"/>
          </a:solidFill>
          <a:ln w="6350">
            <a:solidFill>
              <a:srgbClr val="3A2A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13F6708-4696-FCC6-0F1F-74D3C8F7F1BF}"/>
              </a:ext>
            </a:extLst>
          </p:cNvPr>
          <p:cNvSpPr/>
          <p:nvPr/>
        </p:nvSpPr>
        <p:spPr>
          <a:xfrm>
            <a:off x="502920" y="391363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found:</a:t>
            </a:r>
            <a:endParaRPr lang="en-US" sz="8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B8CF467-F7B2-6C94-9752-D91C4E5AD506}"/>
              </a:ext>
            </a:extLst>
          </p:cNvPr>
          <p:cNvSpPr/>
          <p:nvPr/>
        </p:nvSpPr>
        <p:spPr>
          <a:xfrm>
            <a:off x="1325880" y="391363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reviewing the logic by hand</a:t>
            </a: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8D0995B-6653-F79C-9F46-E12B88A13D38}"/>
              </a:ext>
            </a:extLst>
          </p:cNvPr>
          <p:cNvSpPr/>
          <p:nvPr/>
        </p:nvSpPr>
        <p:spPr>
          <a:xfrm>
            <a:off x="4416552" y="843534"/>
            <a:ext cx="310896" cy="4114800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8FEE9ABE-4588-73AD-31E1-FC833708A9CC}"/>
              </a:ext>
            </a:extLst>
          </p:cNvPr>
          <p:cNvSpPr/>
          <p:nvPr/>
        </p:nvSpPr>
        <p:spPr>
          <a:xfrm>
            <a:off x="4306824" y="2718054"/>
            <a:ext cx="530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EE34ACF-5233-297C-7290-F82D7391F43A}"/>
              </a:ext>
            </a:extLst>
          </p:cNvPr>
          <p:cNvSpPr/>
          <p:nvPr/>
        </p:nvSpPr>
        <p:spPr>
          <a:xfrm>
            <a:off x="4983480" y="822960"/>
            <a:ext cx="3886200" cy="4114800"/>
          </a:xfrm>
          <a:prstGeom prst="roundRect">
            <a:avLst>
              <a:gd name="adj" fmla="val 2824"/>
            </a:avLst>
          </a:prstGeom>
          <a:solidFill>
            <a:srgbClr val="0D2020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2EF1F1A-21A0-05F7-0DAD-248D9EFC403C}"/>
              </a:ext>
            </a:extLst>
          </p:cNvPr>
          <p:cNvSpPr/>
          <p:nvPr/>
        </p:nvSpPr>
        <p:spPr>
          <a:xfrm>
            <a:off x="4983480" y="8229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20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46E4A81B-148B-8CD9-9160-86527E3CF4B9}"/>
              </a:ext>
            </a:extLst>
          </p:cNvPr>
          <p:cNvSpPr/>
          <p:nvPr/>
        </p:nvSpPr>
        <p:spPr>
          <a:xfrm>
            <a:off x="4983480" y="118872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implementation, in code</a:t>
            </a:r>
            <a:endParaRPr lang="en-US" sz="10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2AA6F638-5CE6-FF35-A36A-357ACBC7A5EE}"/>
              </a:ext>
            </a:extLst>
          </p:cNvPr>
          <p:cNvSpPr/>
          <p:nvPr/>
        </p:nvSpPr>
        <p:spPr>
          <a:xfrm>
            <a:off x="5166360" y="1536192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40D20E3D-237B-9D65-0005-F1470DFDA85F}"/>
              </a:ext>
            </a:extLst>
          </p:cNvPr>
          <p:cNvSpPr/>
          <p:nvPr/>
        </p:nvSpPr>
        <p:spPr>
          <a:xfrm>
            <a:off x="5212080" y="153619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</a:t>
            </a:r>
            <a:endParaRPr lang="en-US" sz="8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54710F6-A3D0-2BDA-1EDF-0B27D0168981}"/>
              </a:ext>
            </a:extLst>
          </p:cNvPr>
          <p:cNvSpPr/>
          <p:nvPr/>
        </p:nvSpPr>
        <p:spPr>
          <a:xfrm>
            <a:off x="6035040" y="153619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written for a computer</a:t>
            </a:r>
            <a:endParaRPr lang="en-US" sz="9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276EF63A-0F9F-9871-090D-42662C083648}"/>
              </a:ext>
            </a:extLst>
          </p:cNvPr>
          <p:cNvSpPr/>
          <p:nvPr/>
        </p:nvSpPr>
        <p:spPr>
          <a:xfrm>
            <a:off x="5166360" y="2011680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0710570-BD97-07DD-973A-6E0879828529}"/>
              </a:ext>
            </a:extLst>
          </p:cNvPr>
          <p:cNvSpPr/>
          <p:nvPr/>
        </p:nvSpPr>
        <p:spPr>
          <a:xfrm>
            <a:off x="5212080" y="2011680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</a:t>
            </a:r>
            <a:endParaRPr lang="en-US" sz="8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325466D3-0145-6B0D-2552-02E73F82500A}"/>
              </a:ext>
            </a:extLst>
          </p:cNvPr>
          <p:cNvSpPr/>
          <p:nvPr/>
        </p:nvSpPr>
        <p:spPr>
          <a:xfrm>
            <a:off x="6035040" y="20116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in a programming language</a:t>
            </a:r>
            <a:endParaRPr lang="en-US" sz="9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6942382F-E7A3-C1F2-B83D-D6FA86B546E1}"/>
              </a:ext>
            </a:extLst>
          </p:cNvPr>
          <p:cNvSpPr/>
          <p:nvPr/>
        </p:nvSpPr>
        <p:spPr>
          <a:xfrm>
            <a:off x="5166360" y="2487168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5CD63DE-A2FD-FE4E-8F62-CFED0F0E9EA7}"/>
              </a:ext>
            </a:extLst>
          </p:cNvPr>
          <p:cNvSpPr/>
          <p:nvPr/>
        </p:nvSpPr>
        <p:spPr>
          <a:xfrm>
            <a:off x="5212080" y="2487168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endParaRPr lang="en-US" sz="8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3B5504F8-686E-BA78-2DB4-23833D5191B0}"/>
              </a:ext>
            </a:extLst>
          </p:cNvPr>
          <p:cNvSpPr/>
          <p:nvPr/>
        </p:nvSpPr>
        <p:spPr>
          <a:xfrm>
            <a:off x="6035040" y="248716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Java, JavaScript, C++, etc.</a:t>
            </a:r>
            <a:endParaRPr lang="en-US" sz="9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B4BD8040-DFF5-8EB7-EFFC-2EDD0AA4C308}"/>
              </a:ext>
            </a:extLst>
          </p:cNvPr>
          <p:cNvSpPr/>
          <p:nvPr/>
        </p:nvSpPr>
        <p:spPr>
          <a:xfrm>
            <a:off x="5166360" y="2962656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3C3B4DAE-E3CC-8255-554E-4C338D6C2133}"/>
              </a:ext>
            </a:extLst>
          </p:cNvPr>
          <p:cNvSpPr/>
          <p:nvPr/>
        </p:nvSpPr>
        <p:spPr>
          <a:xfrm>
            <a:off x="5212080" y="2962656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on:</a:t>
            </a:r>
            <a:endParaRPr lang="en-US" sz="8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0EA8348F-EAC9-B6A1-A0A9-981B05749E1E}"/>
              </a:ext>
            </a:extLst>
          </p:cNvPr>
          <p:cNvSpPr/>
          <p:nvPr/>
        </p:nvSpPr>
        <p:spPr>
          <a:xfrm>
            <a:off x="6035040" y="296265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or device that executes code</a:t>
            </a:r>
            <a:endParaRPr lang="en-US" sz="90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AF19D472-79B4-7EAD-A3A0-DB3C2232CDB5}"/>
              </a:ext>
            </a:extLst>
          </p:cNvPr>
          <p:cNvSpPr/>
          <p:nvPr/>
        </p:nvSpPr>
        <p:spPr>
          <a:xfrm>
            <a:off x="5166360" y="3438144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E5764AD-FEB5-7C1D-EED5-D76C266FC016}"/>
              </a:ext>
            </a:extLst>
          </p:cNvPr>
          <p:cNvSpPr/>
          <p:nvPr/>
        </p:nvSpPr>
        <p:spPr>
          <a:xfrm>
            <a:off x="5212080" y="3438144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8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C71AEF8E-A22F-ADC6-B183-DCD242EA877B}"/>
              </a:ext>
            </a:extLst>
          </p:cNvPr>
          <p:cNvSpPr/>
          <p:nvPr/>
        </p:nvSpPr>
        <p:spPr>
          <a:xfrm>
            <a:off x="6035040" y="343814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algorithm actually run</a:t>
            </a:r>
            <a:endParaRPr lang="en-US" sz="9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42600777-6D46-7631-F808-A9562ACAB92E}"/>
              </a:ext>
            </a:extLst>
          </p:cNvPr>
          <p:cNvSpPr/>
          <p:nvPr/>
        </p:nvSpPr>
        <p:spPr>
          <a:xfrm>
            <a:off x="5166360" y="3913632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0F2E2E"/>
          </a:solidFill>
          <a:ln w="6350">
            <a:solidFill>
              <a:srgbClr val="1A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519DB8C3-055F-459B-82F6-A024731C65B5}"/>
              </a:ext>
            </a:extLst>
          </p:cNvPr>
          <p:cNvSpPr/>
          <p:nvPr/>
        </p:nvSpPr>
        <p:spPr>
          <a:xfrm>
            <a:off x="5212080" y="3913632"/>
            <a:ext cx="822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found:</a:t>
            </a:r>
            <a:endParaRPr lang="en-US" sz="8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3D362DF0-8C20-2710-479A-BDFA915F4002}"/>
              </a:ext>
            </a:extLst>
          </p:cNvPr>
          <p:cNvSpPr/>
          <p:nvPr/>
        </p:nvSpPr>
        <p:spPr>
          <a:xfrm>
            <a:off x="6035040" y="391363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compiler, tests, and debugging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82858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METHODOLOGY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Design an Algorithm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steps every developer uses to turn a problem into a working solution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4206240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1208" y="1207008"/>
            <a:ext cx="347472" cy="347472"/>
          </a:xfrm>
          <a:prstGeom prst="ellipse">
            <a:avLst/>
          </a:prstGeom>
          <a:solidFill>
            <a:srgbClr val="3FD9C4">
              <a:alpha val="80000"/>
            </a:srgbClr>
          </a:solidFill>
          <a:ln w="1905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960120" y="122529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Understand the problem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517904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15727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problem carefully.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what is given (input)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you need to find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(output). Restate it clearly.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386584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386584"/>
            <a:ext cx="4206240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1208" y="2423160"/>
            <a:ext cx="347472" cy="347472"/>
          </a:xfrm>
          <a:prstGeom prst="ellipse">
            <a:avLst/>
          </a:prstGeom>
          <a:solidFill>
            <a:srgbClr val="58A6FF">
              <a:alpha val="80000"/>
            </a:srgbClr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0120" y="244144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Plan the approach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734056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788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one or more ways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solve it. Pick the simplest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that works first —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optimise later.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602736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3602736"/>
            <a:ext cx="4206240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1208" y="3639312"/>
            <a:ext cx="347472" cy="347472"/>
          </a:xfrm>
          <a:prstGeom prst="ellipse">
            <a:avLst/>
          </a:prstGeom>
          <a:solidFill>
            <a:srgbClr val="BC8CFF">
              <a:alpha val="80000"/>
            </a:srgbClr>
          </a:solidFill>
          <a:ln w="1905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1208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960120" y="365760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Write the steps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950208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0050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approach into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ordered steps. Use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or a flowchart —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real code yet.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00600" y="1170432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00600" y="1170432"/>
            <a:ext cx="4206240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10328" y="1207008"/>
            <a:ext cx="347472" cy="347472"/>
          </a:xfrm>
          <a:prstGeom prst="ellipse">
            <a:avLst/>
          </a:prstGeom>
          <a:solidFill>
            <a:srgbClr val="FFA657">
              <a:alpha val="80000"/>
            </a:srgbClr>
          </a:solidFill>
          <a:ln w="1905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10328" y="1207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49240" y="1225296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Trace by hand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1517904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37760" y="1572768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small example input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walk through the steps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by line. Verify the output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what you expect.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2386584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E3B341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00600" y="2386584"/>
            <a:ext cx="4206240" cy="329184"/>
          </a:xfrm>
          <a:prstGeom prst="rect">
            <a:avLst/>
          </a:prstGeom>
          <a:solidFill>
            <a:srgbClr val="E3B341">
              <a:alpha val="78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910328" y="2423160"/>
            <a:ext cx="347472" cy="347472"/>
          </a:xfrm>
          <a:prstGeom prst="ellipse">
            <a:avLst/>
          </a:prstGeom>
          <a:solidFill>
            <a:srgbClr val="E3B341">
              <a:alpha val="80000"/>
            </a:srgbClr>
          </a:solidFill>
          <a:ln w="1905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10328" y="2423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5349240" y="2441448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Translate to code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937760" y="2734056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937760" y="2788920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convert each step into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code in a programming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language. Logic is already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— just type it out.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800600" y="3602736"/>
            <a:ext cx="4206240" cy="1097280"/>
          </a:xfrm>
          <a:prstGeom prst="rect">
            <a:avLst/>
          </a:prstGeom>
          <a:solidFill>
            <a:srgbClr val="161B26"/>
          </a:solidFill>
          <a:ln w="15240">
            <a:solidFill>
              <a:srgbClr val="3FB950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00600" y="3602736"/>
            <a:ext cx="4206240" cy="329184"/>
          </a:xfrm>
          <a:prstGeom prst="rect">
            <a:avLst/>
          </a:prstGeom>
          <a:solidFill>
            <a:srgbClr val="3FB950">
              <a:alpha val="78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910328" y="3639312"/>
            <a:ext cx="347472" cy="347472"/>
          </a:xfrm>
          <a:prstGeom prst="ellipse">
            <a:avLst/>
          </a:prstGeom>
          <a:solidFill>
            <a:srgbClr val="3FB950">
              <a:alpha val="80000"/>
            </a:srgbClr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910328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5349240" y="3657600"/>
            <a:ext cx="3529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 &amp; refine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937760" y="3950208"/>
            <a:ext cx="3931920" cy="0"/>
          </a:xfrm>
          <a:prstGeom prst="line">
            <a:avLst/>
          </a:prstGeom>
          <a:noFill/>
          <a:ln w="7620">
            <a:solidFill>
              <a:srgbClr val="3D44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937760" y="4005072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normal, edge, and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inputs. Fix bugs and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efficiency. Keep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until it is solid.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Shape 76">
          <a:extLst>
            <a:ext uri="{FF2B5EF4-FFF2-40B4-BE49-F238E27FC236}">
              <a16:creationId xmlns:a16="http://schemas.microsoft.com/office/drawing/2014/main" id="{68E519A1-F28A-CD0E-64F7-A7210D78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1">
            <a:extLst>
              <a:ext uri="{FF2B5EF4-FFF2-40B4-BE49-F238E27FC236}">
                <a16:creationId xmlns:a16="http://schemas.microsoft.com/office/drawing/2014/main" id="{0099FBD7-A32B-D033-BD5D-D091E47C00D1}"/>
              </a:ext>
            </a:extLst>
          </p:cNvPr>
          <p:cNvSpPr/>
          <p:nvPr/>
        </p:nvSpPr>
        <p:spPr>
          <a:xfrm>
            <a:off x="0" y="73152"/>
            <a:ext cx="9144000" cy="841248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BF6F45A1-7818-3F7E-F60C-7F708FD03E4C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7E3D8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EB54078-98E6-CAE0-0567-E08FA45D2C91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F29B7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8593CDB-74C1-3A80-4B08-6F33A7ADDE9F}"/>
              </a:ext>
            </a:extLst>
          </p:cNvPr>
          <p:cNvSpPr/>
          <p:nvPr/>
        </p:nvSpPr>
        <p:spPr>
          <a:xfrm>
            <a:off x="347472" y="164592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represent an algorithm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3CD6B20-AAA5-2647-47EF-A45F5864FAB1}"/>
              </a:ext>
            </a:extLst>
          </p:cNvPr>
          <p:cNvSpPr/>
          <p:nvPr/>
        </p:nvSpPr>
        <p:spPr>
          <a:xfrm>
            <a:off x="347472" y="621792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common formats — each with its own strengths</a:t>
            </a:r>
            <a:endParaRPr lang="en-US" sz="13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517B760-DBCE-52BB-9F4D-84305AC19443}"/>
              </a:ext>
            </a:extLst>
          </p:cNvPr>
          <p:cNvSpPr/>
          <p:nvPr/>
        </p:nvSpPr>
        <p:spPr>
          <a:xfrm>
            <a:off x="274320" y="987552"/>
            <a:ext cx="8595360" cy="420624"/>
          </a:xfrm>
          <a:prstGeom prst="roundRect">
            <a:avLst>
              <a:gd name="adj" fmla="val 26087"/>
            </a:avLst>
          </a:prstGeom>
          <a:solidFill>
            <a:srgbClr val="1A1040"/>
          </a:solidFill>
          <a:ln w="12700">
            <a:solidFill>
              <a:srgbClr val="1A1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66EFC53-6AE3-524A-AEAD-3F7782680B35}"/>
              </a:ext>
            </a:extLst>
          </p:cNvPr>
          <p:cNvSpPr/>
          <p:nvPr/>
        </p:nvSpPr>
        <p:spPr>
          <a:xfrm>
            <a:off x="502920" y="102412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writing real code, developers describe their algorithms in a clear, neutral form. </a:t>
            </a: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formats below are the most common</a:t>
            </a: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pick the one that best fits the problem and the audience.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10692DA-084B-2BAE-A611-4B7E95E96F9A}"/>
              </a:ext>
            </a:extLst>
          </p:cNvPr>
          <p:cNvSpPr/>
          <p:nvPr/>
        </p:nvSpPr>
        <p:spPr>
          <a:xfrm>
            <a:off x="292608" y="1499616"/>
            <a:ext cx="2779776" cy="3401568"/>
          </a:xfrm>
          <a:prstGeom prst="roundRect">
            <a:avLst>
              <a:gd name="adj" fmla="val 4605"/>
            </a:avLst>
          </a:prstGeom>
          <a:solidFill>
            <a:srgbClr val="1E0F40"/>
          </a:solidFill>
          <a:ln w="1905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6B2DC9B-FB98-86D6-CF21-280BB1E66B52}"/>
              </a:ext>
            </a:extLst>
          </p:cNvPr>
          <p:cNvSpPr/>
          <p:nvPr/>
        </p:nvSpPr>
        <p:spPr>
          <a:xfrm>
            <a:off x="292608" y="1545336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2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 Steps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0F72355-3A6B-4A6C-5A0C-BF6E7C6EF484}"/>
              </a:ext>
            </a:extLst>
          </p:cNvPr>
          <p:cNvSpPr/>
          <p:nvPr/>
        </p:nvSpPr>
        <p:spPr>
          <a:xfrm>
            <a:off x="292608" y="197510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 ·  Numbered list of steps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6F7F312-11C7-6E2E-23D2-71C708D73857}"/>
              </a:ext>
            </a:extLst>
          </p:cNvPr>
          <p:cNvSpPr/>
          <p:nvPr/>
        </p:nvSpPr>
        <p:spPr>
          <a:xfrm>
            <a:off x="457200" y="2212848"/>
            <a:ext cx="24688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written in everyday language as a numbered list. Anyone can read it without special training, and it is fast to draft. Best for short algorithms and explaining ideas to non-developers.</a:t>
            </a:r>
            <a:endParaRPr lang="en-US" sz="11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319AB59-A1E4-7495-8B8A-D8FB6939DB40}"/>
              </a:ext>
            </a:extLst>
          </p:cNvPr>
          <p:cNvSpPr/>
          <p:nvPr/>
        </p:nvSpPr>
        <p:spPr>
          <a:xfrm>
            <a:off x="3200400" y="1499616"/>
            <a:ext cx="2779776" cy="3401568"/>
          </a:xfrm>
          <a:prstGeom prst="roundRect">
            <a:avLst>
              <a:gd name="adj" fmla="val 4605"/>
            </a:avLst>
          </a:prstGeom>
          <a:solidFill>
            <a:srgbClr val="110A2E"/>
          </a:solidFill>
          <a:ln w="19050">
            <a:solidFill>
              <a:srgbClr val="A38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B9E2542-0415-D53F-89A6-B2737BF2D2E8}"/>
              </a:ext>
            </a:extLst>
          </p:cNvPr>
          <p:cNvSpPr/>
          <p:nvPr/>
        </p:nvSpPr>
        <p:spPr>
          <a:xfrm>
            <a:off x="3200400" y="1545336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38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520DB52-41BD-3A9E-774F-0E90DB7F8CDE}"/>
              </a:ext>
            </a:extLst>
          </p:cNvPr>
          <p:cNvSpPr/>
          <p:nvPr/>
        </p:nvSpPr>
        <p:spPr>
          <a:xfrm>
            <a:off x="3200400" y="197510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precise  ·  Code-like, not real code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66A8129-1A41-594C-31D7-611070D24803}"/>
              </a:ext>
            </a:extLst>
          </p:cNvPr>
          <p:cNvSpPr/>
          <p:nvPr/>
        </p:nvSpPr>
        <p:spPr>
          <a:xfrm>
            <a:off x="3364992" y="2212848"/>
            <a:ext cx="24688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Mixes plain English with code-like keywords (IF, WHILE, RETURN). It is unambiguous yet language-independent. Best when you plan to translate into Python, Java, or any real language afterwards.</a:t>
            </a:r>
            <a:endParaRPr lang="en-US" sz="11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C1B5EBA-52EB-ABC9-D3EB-5CFA15DCA663}"/>
              </a:ext>
            </a:extLst>
          </p:cNvPr>
          <p:cNvSpPr/>
          <p:nvPr/>
        </p:nvSpPr>
        <p:spPr>
          <a:xfrm>
            <a:off x="6108192" y="1499616"/>
            <a:ext cx="2779776" cy="3401568"/>
          </a:xfrm>
          <a:prstGeom prst="roundRect">
            <a:avLst>
              <a:gd name="adj" fmla="val 4605"/>
            </a:avLst>
          </a:prstGeom>
          <a:solidFill>
            <a:srgbClr val="0A2E2E"/>
          </a:solidFill>
          <a:ln w="1905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D01AF8F-536E-C495-E8A0-F7655F895F22}"/>
              </a:ext>
            </a:extLst>
          </p:cNvPr>
          <p:cNvSpPr/>
          <p:nvPr/>
        </p:nvSpPr>
        <p:spPr>
          <a:xfrm>
            <a:off x="6108192" y="1545336"/>
            <a:ext cx="2779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</a:t>
            </a:r>
            <a:endParaRPr lang="en-US" sz="2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4029E02-E763-B814-4C30-6D610F53CED9}"/>
              </a:ext>
            </a:extLst>
          </p:cNvPr>
          <p:cNvSpPr/>
          <p:nvPr/>
        </p:nvSpPr>
        <p:spPr>
          <a:xfrm>
            <a:off x="6108192" y="1975104"/>
            <a:ext cx="2779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visual  ·  Diagram with shapes</a:t>
            </a:r>
            <a:endParaRPr lang="en-US" sz="1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8B76B5C-86FB-DDD2-2643-011F7DA0DB57}"/>
              </a:ext>
            </a:extLst>
          </p:cNvPr>
          <p:cNvSpPr/>
          <p:nvPr/>
        </p:nvSpPr>
        <p:spPr>
          <a:xfrm>
            <a:off x="6272784" y="2212848"/>
            <a:ext cx="246888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shapes (oval, rectangle, diamond) connected by arrows show the flow of control. Best for visual thinkers and for spotting branches, loops, and missing cases at a glance.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691256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PSEUDOCODE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in Practice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keywords lets you describe almost any algorithm — clearly, and without picking a real language yet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3931920" cy="324612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3931920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2161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Common Pseudocode Keywords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777240" cy="329184"/>
          </a:xfrm>
          <a:prstGeom prst="rect">
            <a:avLst/>
          </a:prstGeom>
          <a:solidFill>
            <a:srgbClr val="3FD9C4">
              <a:alpha val="30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89888" y="1618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/ GET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89888" y="18013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value from the user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057400"/>
            <a:ext cx="777240" cy="329184"/>
          </a:xfrm>
          <a:prstGeom prst="rect">
            <a:avLst/>
          </a:prstGeom>
          <a:solidFill>
            <a:srgbClr val="58A6FF">
              <a:alpha val="30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0574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389888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/ DISPLAY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89888" y="22585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result on the screen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2514600"/>
            <a:ext cx="777240" cy="329184"/>
          </a:xfrm>
          <a:prstGeom prst="rect">
            <a:avLst/>
          </a:prstGeom>
          <a:solidFill>
            <a:srgbClr val="BC8CFF">
              <a:alpha val="30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5146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389888" y="2532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 x  ←  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89888" y="27157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value into a variable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777240" cy="329184"/>
          </a:xfrm>
          <a:prstGeom prst="rect">
            <a:avLst/>
          </a:prstGeom>
          <a:solidFill>
            <a:srgbClr val="FFA657">
              <a:alpha val="30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29718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389888" y="2990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/ ELSE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89888" y="31729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two paths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429000"/>
            <a:ext cx="777240" cy="329184"/>
          </a:xfrm>
          <a:prstGeom prst="rect">
            <a:avLst/>
          </a:prstGeom>
          <a:solidFill>
            <a:srgbClr val="E3B341">
              <a:alpha val="30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4290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389888" y="3447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/ FOR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89888" y="3630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steps multiple times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886200"/>
            <a:ext cx="777240" cy="329184"/>
          </a:xfrm>
          <a:prstGeom prst="rect">
            <a:avLst/>
          </a:prstGeom>
          <a:solidFill>
            <a:srgbClr val="3FB950">
              <a:alpha val="30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38862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389888" y="3904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/ STOP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389888" y="40873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and give the result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80560" y="1170432"/>
            <a:ext cx="4251960" cy="1536192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480560" y="1170432"/>
            <a:ext cx="4251960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17720" y="12161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Example: Find the largest of two numbers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617720" y="15727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a, b   →   IF a &gt; b PRINT a   ELSE PRINT b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17720" y="1819656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a=7, b=4 → output 7      a=2, b=9 → output 9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17720" y="2139696"/>
            <a:ext cx="457200" cy="274320"/>
          </a:xfrm>
          <a:prstGeom prst="rect">
            <a:avLst/>
          </a:prstGeom>
          <a:solidFill>
            <a:srgbClr val="3FD9C4">
              <a:alpha val="22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17720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48072" y="2139696"/>
            <a:ext cx="457200" cy="274320"/>
          </a:xfrm>
          <a:prstGeom prst="rect">
            <a:avLst/>
          </a:prstGeom>
          <a:solidFill>
            <a:srgbClr val="3FD9C4">
              <a:alpha val="22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148072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678424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678424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08776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08776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39128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739128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269480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269480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799832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799832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330184" y="2139696"/>
            <a:ext cx="457200" cy="274320"/>
          </a:xfrm>
          <a:prstGeom prst="rect">
            <a:avLst/>
          </a:prstGeom>
          <a:solidFill>
            <a:srgbClr val="58A6FF">
              <a:alpha val="22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330184" y="21396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617720" y="245059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 a    INPUT  b    IF      a&gt;b      THEN     PRINT a    ELSE     PRINT b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480560" y="2834640"/>
            <a:ext cx="4251960" cy="1581912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480560" y="2834640"/>
            <a:ext cx="4251960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617720" y="28803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Key Idea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617720" y="397764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is a thinking tool, not a strict syntax. Use whatever keywords make the logic clear — your team only needs to agree on the meaning.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FLOWCHARTS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Flowchart Symbols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778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shapes covers almost every algorithm you will ever draw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2048256" cy="374904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2048256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Terminals &amp; Flow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572768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1572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◯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14984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 — START / entry point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1965960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965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◯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14984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 — END / exit point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2359152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14984" y="2386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— direction of flow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2752344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752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14984" y="2779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— on-page connector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3145536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3145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⬠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14984" y="3172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Pentagon — off-page link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02920" y="3538728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14984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— junction point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931920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14984" y="3959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— plain connector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4325112"/>
            <a:ext cx="457200" cy="256032"/>
          </a:xfrm>
          <a:prstGeom prst="rect">
            <a:avLst/>
          </a:prstGeom>
          <a:solidFill>
            <a:srgbClr val="58A6FF">
              <a:alpha val="28000"/>
            </a:srgbClr>
          </a:solidFill>
          <a:ln w="1016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4325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↻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14984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arrow — returns to step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87752" y="1170432"/>
            <a:ext cx="2048256" cy="3749040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87752" y="1170432"/>
            <a:ext cx="2048256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679192" y="12070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Process &amp; Computation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79192" y="1572768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679192" y="1572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▭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191256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— process step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79192" y="1965960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679192" y="1965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▥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191256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Double-rect — sub-process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679192" y="2359152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679192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⏢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191256" y="2386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Trapezoid — manual operation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679192" y="2752344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679192" y="2752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⌭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191256" y="2779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 — database / storage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679192" y="3145536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679192" y="3145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◖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191256" y="3172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Half-disc — internal storage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679192" y="3538728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679192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▭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191256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— reference / lookup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679192" y="3931920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679192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⌒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191256" y="3959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— sequential storage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679192" y="4325112"/>
            <a:ext cx="457200" cy="256032"/>
          </a:xfrm>
          <a:prstGeom prst="rect">
            <a:avLst/>
          </a:prstGeom>
          <a:solidFill>
            <a:srgbClr val="BC8CFF">
              <a:alpha val="28000"/>
            </a:srgbClr>
          </a:solidFill>
          <a:ln w="1016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679192" y="4325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⌗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191256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— annotation / note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64024" y="1170432"/>
            <a:ext cx="2048256" cy="3749040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764024" y="1170432"/>
            <a:ext cx="2048256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855464" y="12070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Input &amp; Output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855464" y="1572768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855464" y="1572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▱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367528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Parallelogram — generic I/O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855464" y="1965960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855464" y="1965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▤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367528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— printed output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855464" y="2359152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855464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▥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367528" y="2386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Multi-doc — many documents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855464" y="2752344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855464" y="2752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◐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367528" y="2779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— screen output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855464" y="3145536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855464" y="3145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⏞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367528" y="3172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input — typed by user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855464" y="3538728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855464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▭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367528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input — legacy form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855464" y="3931920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855464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⌒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5367528" y="3959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input — legacy form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4855464" y="4325112"/>
            <a:ext cx="457200" cy="256032"/>
          </a:xfrm>
          <a:prstGeom prst="rect">
            <a:avLst/>
          </a:prstGeom>
          <a:solidFill>
            <a:srgbClr val="FFA657">
              <a:alpha val="28000"/>
            </a:srgbClr>
          </a:solidFill>
          <a:ln w="1016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855464" y="4325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▭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5367528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input — from disk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6940296" y="1170432"/>
            <a:ext cx="2048256" cy="3749040"/>
          </a:xfrm>
          <a:prstGeom prst="rect">
            <a:avLst/>
          </a:prstGeom>
          <a:solidFill>
            <a:srgbClr val="161B26"/>
          </a:solidFill>
          <a:ln w="15240">
            <a:solidFill>
              <a:srgbClr val="3FB950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6940296" y="1170432"/>
            <a:ext cx="2048256" cy="329184"/>
          </a:xfrm>
          <a:prstGeom prst="rect">
            <a:avLst/>
          </a:prstGeom>
          <a:solidFill>
            <a:srgbClr val="3FB950">
              <a:alpha val="78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7031736" y="12070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Decisions &amp; Control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7031736" y="1572768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7031736" y="15727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◇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7543800" y="16002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Diamond — decision (Yes / No)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7031736" y="1965960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7031736" y="1965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⬡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7543800" y="19933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 — loop limit / setup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7031736" y="2359152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7031736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7543800" y="2386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Loop-up — top of a loop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7031736" y="2752344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7031736" y="2752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7543800" y="27797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Loop-down — end of a loop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7031736" y="3145536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7031736" y="31455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⌥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7543800" y="31729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— two-way split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7031736" y="3538728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7031736" y="3538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▽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7543800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— paths join again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7031736" y="3931920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7031736" y="39319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∨</a:t>
            </a:r>
            <a:endParaRPr lang="en-US" sz="900" dirty="0"/>
          </a:p>
        </p:txBody>
      </p:sp>
      <p:sp>
        <p:nvSpPr>
          <p:cNvPr id="111" name="Text 109"/>
          <p:cNvSpPr/>
          <p:nvPr/>
        </p:nvSpPr>
        <p:spPr>
          <a:xfrm>
            <a:off x="7543800" y="39593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multiple options merge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7031736" y="4325112"/>
            <a:ext cx="457200" cy="256032"/>
          </a:xfrm>
          <a:prstGeom prst="rect">
            <a:avLst/>
          </a:prstGeom>
          <a:solidFill>
            <a:srgbClr val="3FB950">
              <a:alpha val="28000"/>
            </a:srgbClr>
          </a:solidFill>
          <a:ln w="1016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7031736" y="43251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∑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7543800" y="43525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— combine inputs together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WALKTHROUGH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Making a Cup of Tea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algorithm with input, output, sequence, decision, and a loop — all in one familiar task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8321040" cy="137160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8321040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2161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The Tea-Making Pipeline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591056"/>
            <a:ext cx="1261872" cy="658368"/>
          </a:xfrm>
          <a:prstGeom prst="rect">
            <a:avLst/>
          </a:prstGeom>
          <a:solidFill>
            <a:srgbClr val="3FD9C4">
              <a:alpha val="28000"/>
            </a:srgbClr>
          </a:solidFill>
          <a:ln w="1524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 Water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10512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938528" y="1591056"/>
            <a:ext cx="1261872" cy="658368"/>
          </a:xfrm>
          <a:prstGeom prst="rect">
            <a:avLst/>
          </a:prstGeom>
          <a:solidFill>
            <a:srgbClr val="58A6FF">
              <a:alpha val="28000"/>
            </a:srgbClr>
          </a:solidFill>
          <a:ln w="1524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38528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 &amp; Tea Bag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0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28416" y="1591056"/>
            <a:ext cx="1261872" cy="658368"/>
          </a:xfrm>
          <a:prstGeom prst="rect">
            <a:avLst/>
          </a:prstGeom>
          <a:solidFill>
            <a:srgbClr val="BC8CFF">
              <a:alpha val="28000"/>
            </a:srgbClr>
          </a:solidFill>
          <a:ln w="1524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28416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Water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90288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18304" y="1591056"/>
            <a:ext cx="1261872" cy="658368"/>
          </a:xfrm>
          <a:prstGeom prst="rect">
            <a:avLst/>
          </a:prstGeom>
          <a:solidFill>
            <a:srgbClr val="FFA657">
              <a:alpha val="28000"/>
            </a:srgbClr>
          </a:solidFill>
          <a:ln w="1524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18304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80176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08192" y="1591056"/>
            <a:ext cx="1261872" cy="658368"/>
          </a:xfrm>
          <a:prstGeom prst="rect">
            <a:avLst/>
          </a:prstGeom>
          <a:solidFill>
            <a:srgbClr val="E3B341">
              <a:alpha val="28000"/>
            </a:srgbClr>
          </a:solidFill>
          <a:ln w="1524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08192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Stir &amp; Wait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70064" y="1847088"/>
            <a:ext cx="128016" cy="146304"/>
          </a:xfrm>
          <a:prstGeom prst="rect">
            <a:avLst/>
          </a:prstGeom>
          <a:solidFill>
            <a:srgbClr val="F0F6FC">
              <a:alpha val="60000"/>
            </a:srgbClr>
          </a:solidFill>
          <a:ln w="12700">
            <a:solidFill>
              <a:srgbClr val="F0F6FC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98080" y="1591056"/>
            <a:ext cx="1261872" cy="658368"/>
          </a:xfrm>
          <a:prstGeom prst="rect">
            <a:avLst/>
          </a:prstGeom>
          <a:solidFill>
            <a:srgbClr val="3FB950">
              <a:alpha val="28000"/>
            </a:srgbClr>
          </a:solidFill>
          <a:ln w="1524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498080" y="1591056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2670048"/>
            <a:ext cx="4160520" cy="1755648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11480" y="2670048"/>
            <a:ext cx="4160520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2715768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Step-by-step Algorithm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301752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INPUT: cup, tea bag, water, kettle, sugar (optional)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322326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Fill the kettle with water and switch it 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342900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WHILE water is not boiling → keep waiting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363474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Place the tea bag inside the empty cup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384048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Pour the boiling water over the tea bag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404622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IF user wants sugar → add 1 spoon and stir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4251960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OUTPUT: ready cup of tea  →  END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2670048"/>
            <a:ext cx="4069080" cy="1755648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63440" y="2670048"/>
            <a:ext cx="4069080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00600" y="2715768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Where the Algorithm Branches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00600" y="3017520"/>
            <a:ext cx="3803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(sugar?):  </a:t>
            </a: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add sugar then stir. NO → skip directly to serving. Both branches end at the same place.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800600" y="3566160"/>
            <a:ext cx="3803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(waiting):  </a:t>
            </a: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kettle has not boiled, do nothing and check again. The loop ends as soon as the condition becomes false.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00600" y="4206240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ingredients  ·  </a:t>
            </a:r>
            <a:r>
              <a:rPr lang="en-US" sz="1000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Process: boil &amp; pour  ·  </a:t>
            </a: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 cup of tea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0A1020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02920" y="45994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 </a:t>
            </a: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five building blocks — input, sequence, decision, loop, output — appear in every algorithm you will write, no matter how complex.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CATEGORIES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Categories of Algorithms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algorithms you meet fall into one of these eight families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70432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170432"/>
            <a:ext cx="2048256" cy="329184"/>
          </a:xfrm>
          <a:prstGeom prst="rect">
            <a:avLst/>
          </a:prstGeom>
          <a:solidFill>
            <a:srgbClr val="3FD9C4">
              <a:alpha val="78000"/>
            </a:srgbClr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216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Search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1517904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 item in a collection.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· Binary search.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databases, web search,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file lookups.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1170432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58A6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87752" y="1170432"/>
            <a:ext cx="2048256" cy="329184"/>
          </a:xfrm>
          <a:prstGeom prst="rect">
            <a:avLst/>
          </a:prstGeom>
          <a:solidFill>
            <a:srgbClr val="58A6FF">
              <a:alpha val="78000"/>
            </a:srgbClr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97480" y="1216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Sort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1517904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items in order.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· Selection · Insertion ·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· Quick sort. Foundation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efficient searching.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64024" y="1170432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BC8CFF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64024" y="1170432"/>
            <a:ext cx="2048256" cy="329184"/>
          </a:xfrm>
          <a:prstGeom prst="rect">
            <a:avLst/>
          </a:prstGeom>
          <a:solidFill>
            <a:srgbClr val="BC8CFF">
              <a:alpha val="78000"/>
            </a:srgbClr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73752" y="1216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  Math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73752" y="1517904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numerical results.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primes, GCD, factorial,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Fibonacci. Used everywhere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finance to graphics.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0296" y="1170432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FFA657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40296" y="1170432"/>
            <a:ext cx="2048256" cy="329184"/>
          </a:xfrm>
          <a:prstGeom prst="rect">
            <a:avLst/>
          </a:prstGeom>
          <a:solidFill>
            <a:srgbClr val="FFA657">
              <a:alpha val="78000"/>
            </a:srgbClr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50024" y="1216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  Graph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50024" y="1517904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networks of nodes.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· BFS · DFS.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GPS, social networks,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recommendation engines.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072384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E3B341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11480" y="3072384"/>
            <a:ext cx="2048256" cy="329184"/>
          </a:xfrm>
          <a:prstGeom prst="rect">
            <a:avLst/>
          </a:prstGeom>
          <a:solidFill>
            <a:srgbClr val="E3B341">
              <a:alpha val="78000"/>
            </a:srgbClr>
          </a:solidFill>
          <a:ln w="12700">
            <a:solidFill>
              <a:srgbClr val="E3B3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1208" y="3118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Recursive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" y="3419856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that calls itself.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problems by breaking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 into smaller versions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same problem.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87752" y="3072384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F85149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587752" y="3072384"/>
            <a:ext cx="2048256" cy="329184"/>
          </a:xfrm>
          <a:prstGeom prst="rect">
            <a:avLst/>
          </a:prstGeom>
          <a:solidFill>
            <a:srgbClr val="F85149">
              <a:alpha val="78000"/>
            </a:srgbClr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697480" y="3118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🍰  Greedy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97480" y="3419856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best step right now.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pick the local optimum,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hoping it leads to the global one.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coin change, scheduling.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64024" y="3072384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3FB950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64024" y="3072384"/>
            <a:ext cx="2048256" cy="329184"/>
          </a:xfrm>
          <a:prstGeom prst="rect">
            <a:avLst/>
          </a:prstGeom>
          <a:solidFill>
            <a:srgbClr val="3FB950">
              <a:alpha val="78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73752" y="3118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Divide &amp; Conquer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73752" y="3419856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problem in half.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each half on its own,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combine the answers.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sort, binary search.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40296" y="3072384"/>
            <a:ext cx="2048256" cy="1783080"/>
          </a:xfrm>
          <a:prstGeom prst="rect">
            <a:avLst/>
          </a:prstGeom>
          <a:solidFill>
            <a:srgbClr val="161B26"/>
          </a:solidFill>
          <a:ln w="15240">
            <a:solidFill>
              <a:srgbClr val="F778BA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940296" y="3072384"/>
            <a:ext cx="2048256" cy="329184"/>
          </a:xfrm>
          <a:prstGeom prst="rect">
            <a:avLst/>
          </a:prstGeom>
          <a:solidFill>
            <a:srgbClr val="F778BA">
              <a:alpha val="78000"/>
            </a:srgbClr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50024" y="31181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Cryptography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50024" y="3419856"/>
            <a:ext cx="18288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and verify data.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· Hashing · Signing.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every login, message,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online payment you make.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548640"/>
            <a:ext cx="8046720" cy="3657600"/>
          </a:xfrm>
          <a:prstGeom prst="rect">
            <a:avLst/>
          </a:prstGeom>
          <a:solidFill>
            <a:srgbClr val="161B26"/>
          </a:solidFill>
          <a:ln w="19050">
            <a:solidFill>
              <a:srgbClr val="3FD9C4"/>
            </a:solidFill>
            <a:prstDash val="solid"/>
          </a:ln>
          <a:effectLst>
            <a:outerShdw blurRad="1778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97864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81328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44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64792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48256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33172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15184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98648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D9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82112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44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65576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4904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32504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15968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99432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82896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44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6636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9824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33288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16752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0216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44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67144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50608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34072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17536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0100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84464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" y="1417320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</a:t>
            </a:r>
            <a:endParaRPr lang="en-US" sz="5200" dirty="0"/>
          </a:p>
        </p:txBody>
      </p:sp>
      <p:sp>
        <p:nvSpPr>
          <p:cNvPr id="33" name="Text 31"/>
          <p:cNvSpPr/>
          <p:nvPr/>
        </p:nvSpPr>
        <p:spPr>
          <a:xfrm>
            <a:off x="548640" y="2148840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FD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</a:t>
            </a:r>
            <a:endParaRPr lang="en-US" sz="5200" dirty="0"/>
          </a:p>
        </p:txBody>
      </p:sp>
      <p:sp>
        <p:nvSpPr>
          <p:cNvPr id="34" name="Text 32"/>
          <p:cNvSpPr/>
          <p:nvPr/>
        </p:nvSpPr>
        <p:spPr>
          <a:xfrm>
            <a:off x="548640" y="299923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we apply algorithms — checking items one by one to find what we need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2468880" y="3401568"/>
            <a:ext cx="274320" cy="274320"/>
          </a:xfrm>
          <a:prstGeom prst="ellipse">
            <a:avLst/>
          </a:prstGeom>
          <a:solidFill>
            <a:srgbClr val="3FD9C4"/>
          </a:solidFill>
          <a:ln w="12700">
            <a:solidFill>
              <a:srgbClr val="3FD9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090672" y="3401568"/>
            <a:ext cx="274320" cy="274320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712464" y="3401568"/>
            <a:ext cx="274320" cy="274320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334256" y="3401568"/>
            <a:ext cx="274320" cy="274320"/>
          </a:xfrm>
          <a:prstGeom prst="ellipse">
            <a:avLst/>
          </a:prstGeom>
          <a:solidFill>
            <a:srgbClr val="FFA657"/>
          </a:solidFill>
          <a:ln w="12700">
            <a:solidFill>
              <a:srgbClr val="FFA6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956048" y="3401568"/>
            <a:ext cx="274320" cy="27432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577840" y="3401568"/>
            <a:ext cx="274320" cy="274320"/>
          </a:xfrm>
          <a:prstGeom prst="ellipse">
            <a:avLst/>
          </a:prstGeom>
          <a:solidFill>
            <a:srgbClr val="F778BA"/>
          </a:solidFill>
          <a:ln w="12700">
            <a:solidFill>
              <a:srgbClr val="F778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0" y="45262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44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· Programming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8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80" name="Google Shape;580;p38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32563</TotalTime>
  <Words>2135</Words>
  <Application>Microsoft Office PowerPoint</Application>
  <PresentationFormat>On-screen Show (16:9)</PresentationFormat>
  <Paragraphs>416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IBM Plex Sans Arabic SemiBold</vt:lpstr>
      <vt:lpstr>IBM Plex Sans Arabic</vt:lpstr>
      <vt:lpstr>Consolas</vt:lpstr>
      <vt:lpstr>Tajawal</vt:lpstr>
      <vt:lpstr>IBM Plex Sans Arabic Medium</vt:lpstr>
      <vt:lpstr>Calibri</vt:lpstr>
      <vt:lpstr>Simple Light</vt:lpstr>
      <vt:lpstr>أكـــــاديميــــة طــــويـــق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Ahmed Al-Hadari</dc:creator>
  <cp:lastModifiedBy>Ahmed Alhussein</cp:lastModifiedBy>
  <cp:revision>258</cp:revision>
  <dcterms:modified xsi:type="dcterms:W3CDTF">2026-05-05T13:39:25Z</dcterms:modified>
</cp:coreProperties>
</file>