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7"/>
  </p:notesMasterIdLst>
  <p:sldIdLst>
    <p:sldId id="256" r:id="rId2"/>
    <p:sldId id="541" r:id="rId3"/>
    <p:sldId id="542" r:id="rId4"/>
    <p:sldId id="258" r:id="rId5"/>
    <p:sldId id="519" r:id="rId6"/>
    <p:sldId id="257" r:id="rId7"/>
    <p:sldId id="509" r:id="rId8"/>
    <p:sldId id="502" r:id="rId9"/>
    <p:sldId id="521" r:id="rId10"/>
    <p:sldId id="508" r:id="rId11"/>
    <p:sldId id="520" r:id="rId12"/>
    <p:sldId id="531" r:id="rId13"/>
    <p:sldId id="522" r:id="rId14"/>
    <p:sldId id="528" r:id="rId15"/>
    <p:sldId id="281" r:id="rId16"/>
  </p:sldIdLst>
  <p:sldSz cx="9144000" cy="5143500" type="screen16x9"/>
  <p:notesSz cx="6858000" cy="9144000"/>
  <p:embeddedFontLst>
    <p:embeddedFont>
      <p:font typeface="Consolas" panose="020B0609020204030204" pitchFamily="49" charset="0"/>
      <p:regular r:id="rId18"/>
      <p:bold r:id="rId19"/>
      <p:italic r:id="rId20"/>
      <p:boldItalic r:id="rId21"/>
    </p:embeddedFont>
    <p:embeddedFont>
      <p:font typeface="IBM Plex Sans Arabic" panose="020B0604020202020204" charset="-78"/>
      <p:regular r:id="rId22"/>
      <p:bold r:id="rId23"/>
    </p:embeddedFont>
    <p:embeddedFont>
      <p:font typeface="IBM Plex Sans Arabic Medium" panose="020B0604020202020204" charset="-78"/>
      <p:regular r:id="rId24"/>
      <p:bold r:id="rId25"/>
    </p:embeddedFont>
    <p:embeddedFont>
      <p:font typeface="IBM Plex Sans Arabic SemiBold" panose="020B0604020202020204" charset="-78"/>
      <p:regular r:id="rId26"/>
      <p:bold r:id="rId27"/>
    </p:embeddedFont>
    <p:embeddedFont>
      <p:font typeface="Tajawal" panose="020B0604020202020204" charset="-78"/>
      <p:regular r:id="rId28"/>
      <p:bold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24">
          <p15:clr>
            <a:srgbClr val="747775"/>
          </p15:clr>
        </p15:guide>
        <p15:guide id="2" orient="horz" pos="2560">
          <p15:clr>
            <a:srgbClr val="747775"/>
          </p15:clr>
        </p15:guide>
        <p15:guide id="3" pos="2880">
          <p15:clr>
            <a:srgbClr val="747775"/>
          </p15:clr>
        </p15:guide>
        <p15:guide id="4" orient="horz" pos="759">
          <p15:clr>
            <a:srgbClr val="747775"/>
          </p15:clr>
        </p15:guide>
        <p15:guide id="5" orient="horz" pos="2428">
          <p15:clr>
            <a:srgbClr val="747775"/>
          </p15:clr>
        </p15:guide>
        <p15:guide id="6" pos="5325">
          <p15:clr>
            <a:srgbClr val="747775"/>
          </p15:clr>
        </p15:guide>
        <p15:guide id="7" orient="horz" pos="96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22E0367-EB9C-4807-88CA-1A682D9BA7E9}">
  <a:tblStyle styleId="{922E0367-EB9C-4807-88CA-1A682D9BA7E9}" styleName="Table_0">
    <a:wholeTbl>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1" d="100"/>
          <a:sy n="111" d="100"/>
        </p:scale>
        <p:origin x="393" y="48"/>
      </p:cViewPr>
      <p:guideLst>
        <p:guide orient="horz" pos="524"/>
        <p:guide orient="horz" pos="2560"/>
        <p:guide pos="2880"/>
        <p:guide orient="horz" pos="759"/>
        <p:guide orient="horz" pos="2428"/>
        <p:guide pos="5325"/>
        <p:guide orient="horz" pos="9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 name="Google Shape;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1a09276e835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1a09276e835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01729062-C001-1BC3-21F3-013B25C79AB2}"/>
            </a:ext>
          </a:extLst>
        </p:cNvPr>
        <p:cNvGrpSpPr/>
        <p:nvPr/>
      </p:nvGrpSpPr>
      <p:grpSpPr>
        <a:xfrm>
          <a:off x="0" y="0"/>
          <a:ext cx="0" cy="0"/>
          <a:chOff x="0" y="0"/>
          <a:chExt cx="0" cy="0"/>
        </a:xfrm>
      </p:grpSpPr>
      <p:sp>
        <p:nvSpPr>
          <p:cNvPr id="74" name="Google Shape;74;g1a09276e835_1_0:notes">
            <a:extLst>
              <a:ext uri="{FF2B5EF4-FFF2-40B4-BE49-F238E27FC236}">
                <a16:creationId xmlns:a16="http://schemas.microsoft.com/office/drawing/2014/main" id="{A4925C8B-74A4-6D0E-A1F6-3ED5AFE7919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1a09276e835_1_0:notes">
            <a:extLst>
              <a:ext uri="{FF2B5EF4-FFF2-40B4-BE49-F238E27FC236}">
                <a16:creationId xmlns:a16="http://schemas.microsoft.com/office/drawing/2014/main" id="{40070772-E495-65C8-BB68-C028467C22B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976726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5C67915C-273D-DB22-68F9-4062B5581949}"/>
            </a:ext>
          </a:extLst>
        </p:cNvPr>
        <p:cNvGrpSpPr/>
        <p:nvPr/>
      </p:nvGrpSpPr>
      <p:grpSpPr>
        <a:xfrm>
          <a:off x="0" y="0"/>
          <a:ext cx="0" cy="0"/>
          <a:chOff x="0" y="0"/>
          <a:chExt cx="0" cy="0"/>
        </a:xfrm>
      </p:grpSpPr>
      <p:sp>
        <p:nvSpPr>
          <p:cNvPr id="74" name="Google Shape;74;g1a09276e835_1_0:notes">
            <a:extLst>
              <a:ext uri="{FF2B5EF4-FFF2-40B4-BE49-F238E27FC236}">
                <a16:creationId xmlns:a16="http://schemas.microsoft.com/office/drawing/2014/main" id="{706FDF88-2753-8D55-AD1A-6D580D9CEA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1a09276e835_1_0:notes">
            <a:extLst>
              <a:ext uri="{FF2B5EF4-FFF2-40B4-BE49-F238E27FC236}">
                <a16:creationId xmlns:a16="http://schemas.microsoft.com/office/drawing/2014/main" id="{B56EB0F5-1310-85DC-E000-8F4BA8E56A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026398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65ACD813-A344-EA14-2585-22D87E60A06E}"/>
            </a:ext>
          </a:extLst>
        </p:cNvPr>
        <p:cNvGrpSpPr/>
        <p:nvPr/>
      </p:nvGrpSpPr>
      <p:grpSpPr>
        <a:xfrm>
          <a:off x="0" y="0"/>
          <a:ext cx="0" cy="0"/>
          <a:chOff x="0" y="0"/>
          <a:chExt cx="0" cy="0"/>
        </a:xfrm>
      </p:grpSpPr>
      <p:sp>
        <p:nvSpPr>
          <p:cNvPr id="74" name="Google Shape;74;g1a09276e835_1_0:notes">
            <a:extLst>
              <a:ext uri="{FF2B5EF4-FFF2-40B4-BE49-F238E27FC236}">
                <a16:creationId xmlns:a16="http://schemas.microsoft.com/office/drawing/2014/main" id="{9AE6DE2A-13CA-F834-C6C6-D9FFB6543A0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1a09276e835_1_0:notes">
            <a:extLst>
              <a:ext uri="{FF2B5EF4-FFF2-40B4-BE49-F238E27FC236}">
                <a16:creationId xmlns:a16="http://schemas.microsoft.com/office/drawing/2014/main" id="{56AAAFB3-7192-6462-847D-721D6FC67F3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579881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g1a09276e835_1_9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7" name="Google Shape;577;g1a09276e835_1_9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4300"/>
              <a:buFont typeface="Tajawal"/>
              <a:buNone/>
              <a:defRPr sz="4300" b="1">
                <a:latin typeface="Tajawal"/>
                <a:ea typeface="Tajawal"/>
                <a:cs typeface="Tajawal"/>
                <a:sym typeface="Tajawal"/>
              </a:defRPr>
            </a:lvl1pPr>
            <a:lvl2pPr lvl="1" algn="ctr">
              <a:spcBef>
                <a:spcPts val="0"/>
              </a:spcBef>
              <a:spcAft>
                <a:spcPts val="0"/>
              </a:spcAft>
              <a:buSzPts val="4900"/>
              <a:buFont typeface="Tajawal"/>
              <a:buNone/>
              <a:defRPr sz="4900">
                <a:latin typeface="Tajawal"/>
                <a:ea typeface="Tajawal"/>
                <a:cs typeface="Tajawal"/>
                <a:sym typeface="Tajawal"/>
              </a:defRPr>
            </a:lvl2pPr>
            <a:lvl3pPr lvl="2" algn="ctr">
              <a:spcBef>
                <a:spcPts val="0"/>
              </a:spcBef>
              <a:spcAft>
                <a:spcPts val="0"/>
              </a:spcAft>
              <a:buSzPts val="4900"/>
              <a:buFont typeface="Tajawal"/>
              <a:buNone/>
              <a:defRPr sz="4900">
                <a:latin typeface="Tajawal"/>
                <a:ea typeface="Tajawal"/>
                <a:cs typeface="Tajawal"/>
                <a:sym typeface="Tajawal"/>
              </a:defRPr>
            </a:lvl3pPr>
            <a:lvl4pPr lvl="3" algn="ctr">
              <a:spcBef>
                <a:spcPts val="0"/>
              </a:spcBef>
              <a:spcAft>
                <a:spcPts val="0"/>
              </a:spcAft>
              <a:buSzPts val="4900"/>
              <a:buFont typeface="Tajawal"/>
              <a:buNone/>
              <a:defRPr sz="4900">
                <a:latin typeface="Tajawal"/>
                <a:ea typeface="Tajawal"/>
                <a:cs typeface="Tajawal"/>
                <a:sym typeface="Tajawal"/>
              </a:defRPr>
            </a:lvl4pPr>
            <a:lvl5pPr lvl="4" algn="ctr">
              <a:spcBef>
                <a:spcPts val="0"/>
              </a:spcBef>
              <a:spcAft>
                <a:spcPts val="0"/>
              </a:spcAft>
              <a:buSzPts val="4900"/>
              <a:buFont typeface="Tajawal"/>
              <a:buNone/>
              <a:defRPr sz="4900">
                <a:latin typeface="Tajawal"/>
                <a:ea typeface="Tajawal"/>
                <a:cs typeface="Tajawal"/>
                <a:sym typeface="Tajawal"/>
              </a:defRPr>
            </a:lvl5pPr>
            <a:lvl6pPr lvl="5" algn="ctr">
              <a:spcBef>
                <a:spcPts val="0"/>
              </a:spcBef>
              <a:spcAft>
                <a:spcPts val="0"/>
              </a:spcAft>
              <a:buSzPts val="4900"/>
              <a:buFont typeface="Tajawal"/>
              <a:buNone/>
              <a:defRPr sz="4900">
                <a:latin typeface="Tajawal"/>
                <a:ea typeface="Tajawal"/>
                <a:cs typeface="Tajawal"/>
                <a:sym typeface="Tajawal"/>
              </a:defRPr>
            </a:lvl6pPr>
            <a:lvl7pPr lvl="6" algn="ctr">
              <a:spcBef>
                <a:spcPts val="0"/>
              </a:spcBef>
              <a:spcAft>
                <a:spcPts val="0"/>
              </a:spcAft>
              <a:buSzPts val="4900"/>
              <a:buFont typeface="Tajawal"/>
              <a:buNone/>
              <a:defRPr sz="4900">
                <a:latin typeface="Tajawal"/>
                <a:ea typeface="Tajawal"/>
                <a:cs typeface="Tajawal"/>
                <a:sym typeface="Tajawal"/>
              </a:defRPr>
            </a:lvl7pPr>
            <a:lvl8pPr lvl="7" algn="ctr">
              <a:spcBef>
                <a:spcPts val="0"/>
              </a:spcBef>
              <a:spcAft>
                <a:spcPts val="0"/>
              </a:spcAft>
              <a:buSzPts val="4900"/>
              <a:buFont typeface="Tajawal"/>
              <a:buNone/>
              <a:defRPr sz="4900">
                <a:latin typeface="Tajawal"/>
                <a:ea typeface="Tajawal"/>
                <a:cs typeface="Tajawal"/>
                <a:sym typeface="Tajawal"/>
              </a:defRPr>
            </a:lvl8pPr>
            <a:lvl9pPr lvl="8" algn="ctr">
              <a:spcBef>
                <a:spcPts val="0"/>
              </a:spcBef>
              <a:spcAft>
                <a:spcPts val="0"/>
              </a:spcAft>
              <a:buSzPts val="4900"/>
              <a:buFont typeface="Tajawal"/>
              <a:buNone/>
              <a:defRPr sz="4900">
                <a:latin typeface="Tajawal"/>
                <a:ea typeface="Tajawal"/>
                <a:cs typeface="Tajawal"/>
                <a:sym typeface="Tajawal"/>
              </a:defRPr>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500"/>
              <a:buFont typeface="Tajawal"/>
              <a:buNone/>
              <a:defRPr sz="2500">
                <a:latin typeface="Tajawal"/>
                <a:ea typeface="Tajawal"/>
                <a:cs typeface="Tajawal"/>
                <a:sym typeface="Tajawal"/>
              </a:defRPr>
            </a:lvl1pPr>
            <a:lvl2pPr lvl="1" algn="ctr">
              <a:lnSpc>
                <a:spcPct val="100000"/>
              </a:lnSpc>
              <a:spcBef>
                <a:spcPts val="0"/>
              </a:spcBef>
              <a:spcAft>
                <a:spcPts val="0"/>
              </a:spcAft>
              <a:buSzPts val="2500"/>
              <a:buFont typeface="Tajawal"/>
              <a:buNone/>
              <a:defRPr sz="2500">
                <a:latin typeface="Tajawal"/>
                <a:ea typeface="Tajawal"/>
                <a:cs typeface="Tajawal"/>
                <a:sym typeface="Tajawal"/>
              </a:defRPr>
            </a:lvl2pPr>
            <a:lvl3pPr lvl="2" algn="ctr">
              <a:lnSpc>
                <a:spcPct val="100000"/>
              </a:lnSpc>
              <a:spcBef>
                <a:spcPts val="0"/>
              </a:spcBef>
              <a:spcAft>
                <a:spcPts val="0"/>
              </a:spcAft>
              <a:buSzPts val="2500"/>
              <a:buFont typeface="Tajawal"/>
              <a:buNone/>
              <a:defRPr sz="2500">
                <a:latin typeface="Tajawal"/>
                <a:ea typeface="Tajawal"/>
                <a:cs typeface="Tajawal"/>
                <a:sym typeface="Tajawal"/>
              </a:defRPr>
            </a:lvl3pPr>
            <a:lvl4pPr lvl="3" algn="ctr">
              <a:lnSpc>
                <a:spcPct val="100000"/>
              </a:lnSpc>
              <a:spcBef>
                <a:spcPts val="0"/>
              </a:spcBef>
              <a:spcAft>
                <a:spcPts val="0"/>
              </a:spcAft>
              <a:buSzPts val="2500"/>
              <a:buFont typeface="Tajawal"/>
              <a:buNone/>
              <a:defRPr sz="2500">
                <a:latin typeface="Tajawal"/>
                <a:ea typeface="Tajawal"/>
                <a:cs typeface="Tajawal"/>
                <a:sym typeface="Tajawal"/>
              </a:defRPr>
            </a:lvl4pPr>
            <a:lvl5pPr lvl="4" algn="ctr">
              <a:lnSpc>
                <a:spcPct val="100000"/>
              </a:lnSpc>
              <a:spcBef>
                <a:spcPts val="0"/>
              </a:spcBef>
              <a:spcAft>
                <a:spcPts val="0"/>
              </a:spcAft>
              <a:buSzPts val="2500"/>
              <a:buFont typeface="Tajawal"/>
              <a:buNone/>
              <a:defRPr sz="2500">
                <a:latin typeface="Tajawal"/>
                <a:ea typeface="Tajawal"/>
                <a:cs typeface="Tajawal"/>
                <a:sym typeface="Tajawal"/>
              </a:defRPr>
            </a:lvl5pPr>
            <a:lvl6pPr lvl="5" algn="ctr">
              <a:lnSpc>
                <a:spcPct val="100000"/>
              </a:lnSpc>
              <a:spcBef>
                <a:spcPts val="0"/>
              </a:spcBef>
              <a:spcAft>
                <a:spcPts val="0"/>
              </a:spcAft>
              <a:buSzPts val="2500"/>
              <a:buFont typeface="Tajawal"/>
              <a:buNone/>
              <a:defRPr sz="2500">
                <a:latin typeface="Tajawal"/>
                <a:ea typeface="Tajawal"/>
                <a:cs typeface="Tajawal"/>
                <a:sym typeface="Tajawal"/>
              </a:defRPr>
            </a:lvl6pPr>
            <a:lvl7pPr lvl="6" algn="ctr">
              <a:lnSpc>
                <a:spcPct val="100000"/>
              </a:lnSpc>
              <a:spcBef>
                <a:spcPts val="0"/>
              </a:spcBef>
              <a:spcAft>
                <a:spcPts val="0"/>
              </a:spcAft>
              <a:buSzPts val="2500"/>
              <a:buFont typeface="Tajawal"/>
              <a:buNone/>
              <a:defRPr sz="2500">
                <a:latin typeface="Tajawal"/>
                <a:ea typeface="Tajawal"/>
                <a:cs typeface="Tajawal"/>
                <a:sym typeface="Tajawal"/>
              </a:defRPr>
            </a:lvl7pPr>
            <a:lvl8pPr lvl="7" algn="ctr">
              <a:lnSpc>
                <a:spcPct val="100000"/>
              </a:lnSpc>
              <a:spcBef>
                <a:spcPts val="0"/>
              </a:spcBef>
              <a:spcAft>
                <a:spcPts val="0"/>
              </a:spcAft>
              <a:buSzPts val="2500"/>
              <a:buFont typeface="Tajawal"/>
              <a:buNone/>
              <a:defRPr sz="2500">
                <a:latin typeface="Tajawal"/>
                <a:ea typeface="Tajawal"/>
                <a:cs typeface="Tajawal"/>
                <a:sym typeface="Tajawal"/>
              </a:defRPr>
            </a:lvl8pPr>
            <a:lvl9pPr lvl="8" algn="ctr">
              <a:lnSpc>
                <a:spcPct val="100000"/>
              </a:lnSpc>
              <a:spcBef>
                <a:spcPts val="0"/>
              </a:spcBef>
              <a:spcAft>
                <a:spcPts val="0"/>
              </a:spcAft>
              <a:buSzPts val="2500"/>
              <a:buFont typeface="Tajawal"/>
              <a:buNone/>
              <a:defRPr sz="2500">
                <a:latin typeface="Tajawal"/>
                <a:ea typeface="Tajawal"/>
                <a:cs typeface="Tajawal"/>
                <a:sym typeface="Tajawal"/>
              </a:defRPr>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rtl="1">
              <a:spcBef>
                <a:spcPts val="0"/>
              </a:spcBef>
              <a:spcAft>
                <a:spcPts val="0"/>
              </a:spcAft>
              <a:buSzPts val="3600"/>
              <a:buFont typeface="Tajawal"/>
              <a:buNone/>
              <a:defRPr sz="3600">
                <a:latin typeface="Tajawal"/>
                <a:ea typeface="Tajawal"/>
                <a:cs typeface="Tajawal"/>
                <a:sym typeface="Tajawal"/>
              </a:defRPr>
            </a:lvl1pPr>
            <a:lvl2pPr lvl="1" algn="ctr">
              <a:spcBef>
                <a:spcPts val="0"/>
              </a:spcBef>
              <a:spcAft>
                <a:spcPts val="0"/>
              </a:spcAft>
              <a:buSzPts val="3600"/>
              <a:buFont typeface="Tajawal"/>
              <a:buNone/>
              <a:defRPr sz="3600">
                <a:latin typeface="Tajawal"/>
                <a:ea typeface="Tajawal"/>
                <a:cs typeface="Tajawal"/>
                <a:sym typeface="Tajawal"/>
              </a:defRPr>
            </a:lvl2pPr>
            <a:lvl3pPr lvl="2" algn="ctr">
              <a:spcBef>
                <a:spcPts val="0"/>
              </a:spcBef>
              <a:spcAft>
                <a:spcPts val="0"/>
              </a:spcAft>
              <a:buSzPts val="3600"/>
              <a:buFont typeface="Tajawal"/>
              <a:buNone/>
              <a:defRPr sz="3600">
                <a:latin typeface="Tajawal"/>
                <a:ea typeface="Tajawal"/>
                <a:cs typeface="Tajawal"/>
                <a:sym typeface="Tajawal"/>
              </a:defRPr>
            </a:lvl3pPr>
            <a:lvl4pPr lvl="3" algn="ctr">
              <a:spcBef>
                <a:spcPts val="0"/>
              </a:spcBef>
              <a:spcAft>
                <a:spcPts val="0"/>
              </a:spcAft>
              <a:buSzPts val="3600"/>
              <a:buFont typeface="Tajawal"/>
              <a:buNone/>
              <a:defRPr sz="3600">
                <a:latin typeface="Tajawal"/>
                <a:ea typeface="Tajawal"/>
                <a:cs typeface="Tajawal"/>
                <a:sym typeface="Tajawal"/>
              </a:defRPr>
            </a:lvl4pPr>
            <a:lvl5pPr lvl="4" algn="ctr">
              <a:spcBef>
                <a:spcPts val="0"/>
              </a:spcBef>
              <a:spcAft>
                <a:spcPts val="0"/>
              </a:spcAft>
              <a:buSzPts val="3600"/>
              <a:buFont typeface="Tajawal"/>
              <a:buNone/>
              <a:defRPr sz="3600">
                <a:latin typeface="Tajawal"/>
                <a:ea typeface="Tajawal"/>
                <a:cs typeface="Tajawal"/>
                <a:sym typeface="Tajawal"/>
              </a:defRPr>
            </a:lvl5pPr>
            <a:lvl6pPr lvl="5" algn="ctr">
              <a:spcBef>
                <a:spcPts val="0"/>
              </a:spcBef>
              <a:spcAft>
                <a:spcPts val="0"/>
              </a:spcAft>
              <a:buSzPts val="3600"/>
              <a:buFont typeface="Tajawal"/>
              <a:buNone/>
              <a:defRPr sz="3600">
                <a:latin typeface="Tajawal"/>
                <a:ea typeface="Tajawal"/>
                <a:cs typeface="Tajawal"/>
                <a:sym typeface="Tajawal"/>
              </a:defRPr>
            </a:lvl6pPr>
            <a:lvl7pPr lvl="6" algn="ctr">
              <a:spcBef>
                <a:spcPts val="0"/>
              </a:spcBef>
              <a:spcAft>
                <a:spcPts val="0"/>
              </a:spcAft>
              <a:buSzPts val="3600"/>
              <a:buFont typeface="Tajawal"/>
              <a:buNone/>
              <a:defRPr sz="3600">
                <a:latin typeface="Tajawal"/>
                <a:ea typeface="Tajawal"/>
                <a:cs typeface="Tajawal"/>
                <a:sym typeface="Tajawal"/>
              </a:defRPr>
            </a:lvl7pPr>
            <a:lvl8pPr lvl="7" algn="ctr">
              <a:spcBef>
                <a:spcPts val="0"/>
              </a:spcBef>
              <a:spcAft>
                <a:spcPts val="0"/>
              </a:spcAft>
              <a:buSzPts val="3600"/>
              <a:buFont typeface="Tajawal"/>
              <a:buNone/>
              <a:defRPr sz="3600">
                <a:latin typeface="Tajawal"/>
                <a:ea typeface="Tajawal"/>
                <a:cs typeface="Tajawal"/>
                <a:sym typeface="Tajawal"/>
              </a:defRPr>
            </a:lvl8pPr>
            <a:lvl9pPr lvl="8" algn="ctr">
              <a:spcBef>
                <a:spcPts val="0"/>
              </a:spcBef>
              <a:spcAft>
                <a:spcPts val="0"/>
              </a:spcAft>
              <a:buSzPts val="3600"/>
              <a:buFont typeface="Tajawal"/>
              <a:buNone/>
              <a:defRPr sz="3600">
                <a:latin typeface="Tajawal"/>
                <a:ea typeface="Tajawal"/>
                <a:cs typeface="Tajawal"/>
                <a:sym typeface="Tajawal"/>
              </a:defRPr>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2" name="Google Shape;22;p5"/>
          <p:cNvSpPr txBox="1">
            <a:spLocks noGrp="1"/>
          </p:cNvSpPr>
          <p:nvPr>
            <p:ph type="title"/>
          </p:nvPr>
        </p:nvSpPr>
        <p:spPr>
          <a:xfrm>
            <a:off x="2079450" y="714175"/>
            <a:ext cx="6707400" cy="777300"/>
          </a:xfrm>
          <a:prstGeom prst="rect">
            <a:avLst/>
          </a:prstGeom>
        </p:spPr>
        <p:txBody>
          <a:bodyPr spcFirstLastPara="1" wrap="square" lIns="91425" tIns="91425" rIns="91425" bIns="91425" anchor="t" anchorCtr="0">
            <a:normAutofit/>
          </a:bodyPr>
          <a:lstStyle>
            <a:lvl1pPr lvl="0" rtl="1">
              <a:spcBef>
                <a:spcPts val="0"/>
              </a:spcBef>
              <a:spcAft>
                <a:spcPts val="0"/>
              </a:spcAft>
              <a:buClr>
                <a:srgbClr val="543198"/>
              </a:buClr>
              <a:buSzPts val="2500"/>
              <a:buNone/>
              <a:defRPr b="1">
                <a:solidFill>
                  <a:srgbClr val="543198"/>
                </a:solidFill>
              </a:defRPr>
            </a:lvl1pPr>
            <a:lvl2pPr lvl="1" rtl="0">
              <a:spcBef>
                <a:spcPts val="0"/>
              </a:spcBef>
              <a:spcAft>
                <a:spcPts val="0"/>
              </a:spcAft>
              <a:buClr>
                <a:srgbClr val="543198"/>
              </a:buClr>
              <a:buSzPts val="2800"/>
              <a:buNone/>
              <a:defRPr b="1">
                <a:solidFill>
                  <a:srgbClr val="543198"/>
                </a:solidFill>
              </a:defRPr>
            </a:lvl2pPr>
            <a:lvl3pPr lvl="2" rtl="0">
              <a:spcBef>
                <a:spcPts val="0"/>
              </a:spcBef>
              <a:spcAft>
                <a:spcPts val="0"/>
              </a:spcAft>
              <a:buClr>
                <a:srgbClr val="543198"/>
              </a:buClr>
              <a:buSzPts val="2800"/>
              <a:buNone/>
              <a:defRPr b="1">
                <a:solidFill>
                  <a:srgbClr val="543198"/>
                </a:solidFill>
              </a:defRPr>
            </a:lvl3pPr>
            <a:lvl4pPr lvl="3" rtl="0">
              <a:spcBef>
                <a:spcPts val="0"/>
              </a:spcBef>
              <a:spcAft>
                <a:spcPts val="0"/>
              </a:spcAft>
              <a:buClr>
                <a:srgbClr val="543198"/>
              </a:buClr>
              <a:buSzPts val="2800"/>
              <a:buNone/>
              <a:defRPr b="1">
                <a:solidFill>
                  <a:srgbClr val="543198"/>
                </a:solidFill>
              </a:defRPr>
            </a:lvl4pPr>
            <a:lvl5pPr lvl="4" rtl="0">
              <a:spcBef>
                <a:spcPts val="0"/>
              </a:spcBef>
              <a:spcAft>
                <a:spcPts val="0"/>
              </a:spcAft>
              <a:buClr>
                <a:srgbClr val="543198"/>
              </a:buClr>
              <a:buSzPts val="2800"/>
              <a:buNone/>
              <a:defRPr b="1">
                <a:solidFill>
                  <a:srgbClr val="543198"/>
                </a:solidFill>
              </a:defRPr>
            </a:lvl5pPr>
            <a:lvl6pPr lvl="5" rtl="0">
              <a:spcBef>
                <a:spcPts val="0"/>
              </a:spcBef>
              <a:spcAft>
                <a:spcPts val="0"/>
              </a:spcAft>
              <a:buClr>
                <a:srgbClr val="543198"/>
              </a:buClr>
              <a:buSzPts val="2800"/>
              <a:buNone/>
              <a:defRPr b="1">
                <a:solidFill>
                  <a:srgbClr val="543198"/>
                </a:solidFill>
              </a:defRPr>
            </a:lvl6pPr>
            <a:lvl7pPr lvl="6" rtl="0">
              <a:spcBef>
                <a:spcPts val="0"/>
              </a:spcBef>
              <a:spcAft>
                <a:spcPts val="0"/>
              </a:spcAft>
              <a:buClr>
                <a:srgbClr val="543198"/>
              </a:buClr>
              <a:buSzPts val="2800"/>
              <a:buNone/>
              <a:defRPr b="1">
                <a:solidFill>
                  <a:srgbClr val="543198"/>
                </a:solidFill>
              </a:defRPr>
            </a:lvl7pPr>
            <a:lvl8pPr lvl="7" rtl="0">
              <a:spcBef>
                <a:spcPts val="0"/>
              </a:spcBef>
              <a:spcAft>
                <a:spcPts val="0"/>
              </a:spcAft>
              <a:buClr>
                <a:srgbClr val="543198"/>
              </a:buClr>
              <a:buSzPts val="2800"/>
              <a:buNone/>
              <a:defRPr b="1">
                <a:solidFill>
                  <a:srgbClr val="543198"/>
                </a:solidFill>
              </a:defRPr>
            </a:lvl8pPr>
            <a:lvl9pPr lvl="8" rtl="0">
              <a:spcBef>
                <a:spcPts val="0"/>
              </a:spcBef>
              <a:spcAft>
                <a:spcPts val="0"/>
              </a:spcAft>
              <a:buClr>
                <a:srgbClr val="543198"/>
              </a:buClr>
              <a:buSzPts val="2800"/>
              <a:buNone/>
              <a:defRPr b="1">
                <a:solidFill>
                  <a:srgbClr val="543198"/>
                </a:solidFill>
              </a:defRPr>
            </a:lvl9pPr>
          </a:lstStyle>
          <a:p>
            <a:endParaRPr/>
          </a:p>
        </p:txBody>
      </p:sp>
      <p:sp>
        <p:nvSpPr>
          <p:cNvPr id="23" name="Google Shape;23;p5"/>
          <p:cNvSpPr txBox="1">
            <a:spLocks noGrp="1"/>
          </p:cNvSpPr>
          <p:nvPr>
            <p:ph type="body" idx="1"/>
          </p:nvPr>
        </p:nvSpPr>
        <p:spPr>
          <a:xfrm>
            <a:off x="2758650" y="1526325"/>
            <a:ext cx="6028200" cy="1757400"/>
          </a:xfrm>
          <a:prstGeom prst="rect">
            <a:avLst/>
          </a:prstGeom>
        </p:spPr>
        <p:txBody>
          <a:bodyPr spcFirstLastPara="1" wrap="square" lIns="91425" tIns="91425" rIns="91425" bIns="91425" anchor="t" anchorCtr="0">
            <a:normAutofit/>
          </a:bodyPr>
          <a:lstStyle>
            <a:lvl1pPr marL="457200" lvl="0" indent="-342900" rtl="1">
              <a:spcBef>
                <a:spcPts val="0"/>
              </a:spcBef>
              <a:spcAft>
                <a:spcPts val="0"/>
              </a:spcAft>
              <a:buClr>
                <a:srgbClr val="424242"/>
              </a:buClr>
              <a:buSzPts val="1800"/>
              <a:buChar char="●"/>
              <a:defRPr>
                <a:solidFill>
                  <a:srgbClr val="424242"/>
                </a:solidFill>
              </a:defRPr>
            </a:lvl1pPr>
            <a:lvl2pPr marL="914400" lvl="1" indent="-317500" rtl="1">
              <a:spcBef>
                <a:spcPts val="0"/>
              </a:spcBef>
              <a:spcAft>
                <a:spcPts val="0"/>
              </a:spcAft>
              <a:buClr>
                <a:srgbClr val="424242"/>
              </a:buClr>
              <a:buSzPts val="1400"/>
              <a:buChar char="○"/>
              <a:defRPr>
                <a:solidFill>
                  <a:srgbClr val="424242"/>
                </a:solidFill>
              </a:defRPr>
            </a:lvl2pPr>
            <a:lvl3pPr marL="1371600" lvl="2" indent="-317500" rtl="1">
              <a:spcBef>
                <a:spcPts val="0"/>
              </a:spcBef>
              <a:spcAft>
                <a:spcPts val="0"/>
              </a:spcAft>
              <a:buClr>
                <a:srgbClr val="424242"/>
              </a:buClr>
              <a:buSzPts val="1400"/>
              <a:buChar char="■"/>
              <a:defRPr>
                <a:solidFill>
                  <a:srgbClr val="424242"/>
                </a:solidFill>
              </a:defRPr>
            </a:lvl3pPr>
            <a:lvl4pPr marL="1828800" lvl="3" indent="-317500" rtl="1">
              <a:spcBef>
                <a:spcPts val="0"/>
              </a:spcBef>
              <a:spcAft>
                <a:spcPts val="0"/>
              </a:spcAft>
              <a:buClr>
                <a:srgbClr val="424242"/>
              </a:buClr>
              <a:buSzPts val="1400"/>
              <a:buChar char="●"/>
              <a:defRPr>
                <a:solidFill>
                  <a:srgbClr val="424242"/>
                </a:solidFill>
              </a:defRPr>
            </a:lvl4pPr>
            <a:lvl5pPr marL="2286000" lvl="4" indent="-317500" rtl="1">
              <a:spcBef>
                <a:spcPts val="0"/>
              </a:spcBef>
              <a:spcAft>
                <a:spcPts val="0"/>
              </a:spcAft>
              <a:buClr>
                <a:srgbClr val="424242"/>
              </a:buClr>
              <a:buSzPts val="1400"/>
              <a:buChar char="○"/>
              <a:defRPr>
                <a:solidFill>
                  <a:srgbClr val="424242"/>
                </a:solidFill>
              </a:defRPr>
            </a:lvl5pPr>
            <a:lvl6pPr marL="2743200" lvl="5" indent="-317500" rtl="1">
              <a:spcBef>
                <a:spcPts val="0"/>
              </a:spcBef>
              <a:spcAft>
                <a:spcPts val="0"/>
              </a:spcAft>
              <a:buClr>
                <a:srgbClr val="424242"/>
              </a:buClr>
              <a:buSzPts val="1400"/>
              <a:buChar char="■"/>
              <a:defRPr>
                <a:solidFill>
                  <a:srgbClr val="424242"/>
                </a:solidFill>
              </a:defRPr>
            </a:lvl6pPr>
            <a:lvl7pPr marL="3200400" lvl="6" indent="-317500" rtl="1">
              <a:spcBef>
                <a:spcPts val="0"/>
              </a:spcBef>
              <a:spcAft>
                <a:spcPts val="0"/>
              </a:spcAft>
              <a:buClr>
                <a:srgbClr val="424242"/>
              </a:buClr>
              <a:buSzPts val="1400"/>
              <a:buChar char="●"/>
              <a:defRPr>
                <a:solidFill>
                  <a:srgbClr val="424242"/>
                </a:solidFill>
              </a:defRPr>
            </a:lvl7pPr>
            <a:lvl8pPr marL="3657600" lvl="7" indent="-317500" rtl="1">
              <a:spcBef>
                <a:spcPts val="0"/>
              </a:spcBef>
              <a:spcAft>
                <a:spcPts val="0"/>
              </a:spcAft>
              <a:buClr>
                <a:srgbClr val="424242"/>
              </a:buClr>
              <a:buSzPts val="1400"/>
              <a:buChar char="○"/>
              <a:defRPr>
                <a:solidFill>
                  <a:srgbClr val="424242"/>
                </a:solidFill>
              </a:defRPr>
            </a:lvl8pPr>
            <a:lvl9pPr marL="4114800" lvl="8" indent="-317500" rtl="1">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
        <p:cNvGrpSpPr/>
        <p:nvPr/>
      </p:nvGrpSpPr>
      <p:grpSpPr>
        <a:xfrm>
          <a:off x="0" y="0"/>
          <a:ext cx="0" cy="0"/>
          <a:chOff x="0" y="0"/>
          <a:chExt cx="0" cy="0"/>
        </a:xfrm>
      </p:grpSpPr>
      <p:sp>
        <p:nvSpPr>
          <p:cNvPr id="25" name="Google Shape;25;p6"/>
          <p:cNvSpPr txBox="1">
            <a:spLocks noGrp="1"/>
          </p:cNvSpPr>
          <p:nvPr>
            <p:ph type="title"/>
          </p:nvPr>
        </p:nvSpPr>
        <p:spPr>
          <a:xfrm>
            <a:off x="311700" y="282450"/>
            <a:ext cx="8520600" cy="572700"/>
          </a:xfrm>
          <a:prstGeom prst="rect">
            <a:avLst/>
          </a:prstGeom>
        </p:spPr>
        <p:txBody>
          <a:bodyPr spcFirstLastPara="1" wrap="square" lIns="91425" tIns="91425" rIns="91425" bIns="91425" anchor="t" anchorCtr="0">
            <a:normAutofit/>
          </a:bodyPr>
          <a:lstStyle>
            <a:lvl1pPr lvl="0" rtl="1">
              <a:spcBef>
                <a:spcPts val="0"/>
              </a:spcBef>
              <a:spcAft>
                <a:spcPts val="0"/>
              </a:spcAft>
              <a:buSzPts val="25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6" name="Google Shape;26;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27" name="Google Shape;27;p6"/>
          <p:cNvPicPr preferRelativeResize="0"/>
          <p:nvPr/>
        </p:nvPicPr>
        <p:blipFill>
          <a:blip r:embed="rId2">
            <a:alphaModFix/>
          </a:blip>
          <a:stretch>
            <a:fillRect/>
          </a:stretch>
        </p:blipFill>
        <p:spPr>
          <a:xfrm>
            <a:off x="7959271" y="4703039"/>
            <a:ext cx="946580" cy="213982"/>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rtl="1">
              <a:spcBef>
                <a:spcPts val="0"/>
              </a:spcBef>
              <a:spcAft>
                <a:spcPts val="0"/>
              </a:spcAft>
              <a:buSzPts val="4200"/>
              <a:buNone/>
              <a:defRPr sz="4200"/>
            </a:lvl1pPr>
            <a:lvl2pPr lvl="1" algn="ctr" rtl="1">
              <a:spcBef>
                <a:spcPts val="0"/>
              </a:spcBef>
              <a:spcAft>
                <a:spcPts val="0"/>
              </a:spcAft>
              <a:buSzPts val="4200"/>
              <a:buNone/>
              <a:defRPr sz="4200"/>
            </a:lvl2pPr>
            <a:lvl3pPr lvl="2" algn="ctr" rtl="1">
              <a:spcBef>
                <a:spcPts val="0"/>
              </a:spcBef>
              <a:spcAft>
                <a:spcPts val="0"/>
              </a:spcAft>
              <a:buSzPts val="4200"/>
              <a:buNone/>
              <a:defRPr sz="4200"/>
            </a:lvl3pPr>
            <a:lvl4pPr lvl="3" algn="ctr" rtl="1">
              <a:spcBef>
                <a:spcPts val="0"/>
              </a:spcBef>
              <a:spcAft>
                <a:spcPts val="0"/>
              </a:spcAft>
              <a:buSzPts val="4200"/>
              <a:buNone/>
              <a:defRPr sz="4200"/>
            </a:lvl4pPr>
            <a:lvl5pPr lvl="4" algn="ctr" rtl="1">
              <a:spcBef>
                <a:spcPts val="0"/>
              </a:spcBef>
              <a:spcAft>
                <a:spcPts val="0"/>
              </a:spcAft>
              <a:buSzPts val="4200"/>
              <a:buNone/>
              <a:defRPr sz="4200"/>
            </a:lvl5pPr>
            <a:lvl6pPr lvl="5" algn="ctr" rtl="1">
              <a:spcBef>
                <a:spcPts val="0"/>
              </a:spcBef>
              <a:spcAft>
                <a:spcPts val="0"/>
              </a:spcAft>
              <a:buSzPts val="4200"/>
              <a:buNone/>
              <a:defRPr sz="4200"/>
            </a:lvl6pPr>
            <a:lvl7pPr lvl="6" algn="ctr" rtl="1">
              <a:spcBef>
                <a:spcPts val="0"/>
              </a:spcBef>
              <a:spcAft>
                <a:spcPts val="0"/>
              </a:spcAft>
              <a:buSzPts val="4200"/>
              <a:buNone/>
              <a:defRPr sz="4200"/>
            </a:lvl7pPr>
            <a:lvl8pPr lvl="7" algn="ctr" rtl="1">
              <a:spcBef>
                <a:spcPts val="0"/>
              </a:spcBef>
              <a:spcAft>
                <a:spcPts val="0"/>
              </a:spcAft>
              <a:buSzPts val="4200"/>
              <a:buNone/>
              <a:defRPr sz="4200"/>
            </a:lvl8pPr>
            <a:lvl9pPr lvl="8" algn="ctr" rtl="1">
              <a:spcBef>
                <a:spcPts val="0"/>
              </a:spcBef>
              <a:spcAft>
                <a:spcPts val="0"/>
              </a:spcAft>
              <a:buSzPts val="4200"/>
              <a:buNone/>
              <a:defRPr sz="4200"/>
            </a:lvl9pPr>
          </a:lstStyle>
          <a:p>
            <a:endParaRPr/>
          </a:p>
        </p:txBody>
      </p:sp>
      <p:sp>
        <p:nvSpPr>
          <p:cNvPr id="37" name="Google Shape;37;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rtl="1">
              <a:lnSpc>
                <a:spcPct val="100000"/>
              </a:lnSpc>
              <a:spcBef>
                <a:spcPts val="0"/>
              </a:spcBef>
              <a:spcAft>
                <a:spcPts val="0"/>
              </a:spcAft>
              <a:buSzPts val="2100"/>
              <a:buNone/>
              <a:defRPr sz="2100"/>
            </a:lvl1pPr>
            <a:lvl2pPr lvl="1" algn="ctr" rtl="1">
              <a:lnSpc>
                <a:spcPct val="100000"/>
              </a:lnSpc>
              <a:spcBef>
                <a:spcPts val="0"/>
              </a:spcBef>
              <a:spcAft>
                <a:spcPts val="0"/>
              </a:spcAft>
              <a:buSzPts val="2100"/>
              <a:buNone/>
              <a:defRPr sz="2100"/>
            </a:lvl2pPr>
            <a:lvl3pPr lvl="2" algn="ctr" rtl="1">
              <a:lnSpc>
                <a:spcPct val="100000"/>
              </a:lnSpc>
              <a:spcBef>
                <a:spcPts val="0"/>
              </a:spcBef>
              <a:spcAft>
                <a:spcPts val="0"/>
              </a:spcAft>
              <a:buSzPts val="2100"/>
              <a:buNone/>
              <a:defRPr sz="2100"/>
            </a:lvl3pPr>
            <a:lvl4pPr lvl="3" algn="ctr" rtl="1">
              <a:lnSpc>
                <a:spcPct val="100000"/>
              </a:lnSpc>
              <a:spcBef>
                <a:spcPts val="0"/>
              </a:spcBef>
              <a:spcAft>
                <a:spcPts val="0"/>
              </a:spcAft>
              <a:buSzPts val="2100"/>
              <a:buNone/>
              <a:defRPr sz="2100"/>
            </a:lvl4pPr>
            <a:lvl5pPr lvl="4" algn="ctr" rtl="1">
              <a:lnSpc>
                <a:spcPct val="100000"/>
              </a:lnSpc>
              <a:spcBef>
                <a:spcPts val="0"/>
              </a:spcBef>
              <a:spcAft>
                <a:spcPts val="0"/>
              </a:spcAft>
              <a:buSzPts val="2100"/>
              <a:buNone/>
              <a:defRPr sz="2100"/>
            </a:lvl5pPr>
            <a:lvl6pPr lvl="5" algn="ctr" rtl="1">
              <a:lnSpc>
                <a:spcPct val="100000"/>
              </a:lnSpc>
              <a:spcBef>
                <a:spcPts val="0"/>
              </a:spcBef>
              <a:spcAft>
                <a:spcPts val="0"/>
              </a:spcAft>
              <a:buSzPts val="2100"/>
              <a:buNone/>
              <a:defRPr sz="2100"/>
            </a:lvl6pPr>
            <a:lvl7pPr lvl="6" algn="ctr" rtl="1">
              <a:lnSpc>
                <a:spcPct val="100000"/>
              </a:lnSpc>
              <a:spcBef>
                <a:spcPts val="0"/>
              </a:spcBef>
              <a:spcAft>
                <a:spcPts val="0"/>
              </a:spcAft>
              <a:buSzPts val="2100"/>
              <a:buNone/>
              <a:defRPr sz="2100"/>
            </a:lvl7pPr>
            <a:lvl8pPr lvl="7" algn="ctr" rtl="1">
              <a:lnSpc>
                <a:spcPct val="100000"/>
              </a:lnSpc>
              <a:spcBef>
                <a:spcPts val="0"/>
              </a:spcBef>
              <a:spcAft>
                <a:spcPts val="0"/>
              </a:spcAft>
              <a:buSzPts val="2100"/>
              <a:buNone/>
              <a:defRPr sz="2100"/>
            </a:lvl8pPr>
            <a:lvl9pPr lvl="8" algn="ctr" rtl="1">
              <a:lnSpc>
                <a:spcPct val="100000"/>
              </a:lnSpc>
              <a:spcBef>
                <a:spcPts val="0"/>
              </a:spcBef>
              <a:spcAft>
                <a:spcPts val="0"/>
              </a:spcAft>
              <a:buSzPts val="2100"/>
              <a:buNone/>
              <a:defRPr sz="2100"/>
            </a:lvl9pPr>
          </a:lstStyle>
          <a:p>
            <a:endParaRPr/>
          </a:p>
        </p:txBody>
      </p:sp>
      <p:sp>
        <p:nvSpPr>
          <p:cNvPr id="38" name="Google Shape;38;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39" name="Google Shape;39;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ig number">
  <p:cSld name="BIG_NUMBER">
    <p:bg>
      <p:bgPr>
        <a:blipFill>
          <a:blip r:embed="rId2">
            <a:alphaModFix/>
          </a:blip>
          <a:stretch>
            <a:fillRect/>
          </a:stretch>
        </a:blipFill>
        <a:effectLst/>
      </p:bgPr>
    </p:bg>
    <p:spTree>
      <p:nvGrpSpPr>
        <p:cNvPr id="1" name="Shape 41"/>
        <p:cNvGrpSpPr/>
        <p:nvPr/>
      </p:nvGrpSpPr>
      <p:grpSpPr>
        <a:xfrm>
          <a:off x="0" y="0"/>
          <a:ext cx="0" cy="0"/>
          <a:chOff x="0" y="0"/>
          <a:chExt cx="0" cy="0"/>
        </a:xfrm>
      </p:grpSpPr>
      <p:sp>
        <p:nvSpPr>
          <p:cNvPr id="42" name="Google Shape;42;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rtl="1">
              <a:spcBef>
                <a:spcPts val="0"/>
              </a:spcBef>
              <a:spcAft>
                <a:spcPts val="0"/>
              </a:spcAft>
              <a:buSzPts val="12000"/>
              <a:buNone/>
              <a:defRPr sz="12000"/>
            </a:lvl1pPr>
            <a:lvl2pPr lvl="1" algn="ctr" rtl="1">
              <a:spcBef>
                <a:spcPts val="0"/>
              </a:spcBef>
              <a:spcAft>
                <a:spcPts val="0"/>
              </a:spcAft>
              <a:buSzPts val="12000"/>
              <a:buNone/>
              <a:defRPr sz="12000"/>
            </a:lvl2pPr>
            <a:lvl3pPr lvl="2" algn="ctr" rtl="1">
              <a:spcBef>
                <a:spcPts val="0"/>
              </a:spcBef>
              <a:spcAft>
                <a:spcPts val="0"/>
              </a:spcAft>
              <a:buSzPts val="12000"/>
              <a:buNone/>
              <a:defRPr sz="12000"/>
            </a:lvl3pPr>
            <a:lvl4pPr lvl="3" algn="ctr" rtl="1">
              <a:spcBef>
                <a:spcPts val="0"/>
              </a:spcBef>
              <a:spcAft>
                <a:spcPts val="0"/>
              </a:spcAft>
              <a:buSzPts val="12000"/>
              <a:buNone/>
              <a:defRPr sz="12000"/>
            </a:lvl4pPr>
            <a:lvl5pPr lvl="4" algn="ctr" rtl="1">
              <a:spcBef>
                <a:spcPts val="0"/>
              </a:spcBef>
              <a:spcAft>
                <a:spcPts val="0"/>
              </a:spcAft>
              <a:buSzPts val="12000"/>
              <a:buNone/>
              <a:defRPr sz="12000"/>
            </a:lvl5pPr>
            <a:lvl6pPr lvl="5" algn="ctr" rtl="1">
              <a:spcBef>
                <a:spcPts val="0"/>
              </a:spcBef>
              <a:spcAft>
                <a:spcPts val="0"/>
              </a:spcAft>
              <a:buSzPts val="12000"/>
              <a:buNone/>
              <a:defRPr sz="12000"/>
            </a:lvl6pPr>
            <a:lvl7pPr lvl="6" algn="ctr" rtl="1">
              <a:spcBef>
                <a:spcPts val="0"/>
              </a:spcBef>
              <a:spcAft>
                <a:spcPts val="0"/>
              </a:spcAft>
              <a:buSzPts val="12000"/>
              <a:buNone/>
              <a:defRPr sz="12000"/>
            </a:lvl7pPr>
            <a:lvl8pPr lvl="7" algn="ctr" rtl="1">
              <a:spcBef>
                <a:spcPts val="0"/>
              </a:spcBef>
              <a:spcAft>
                <a:spcPts val="0"/>
              </a:spcAft>
              <a:buSzPts val="12000"/>
              <a:buNone/>
              <a:defRPr sz="12000"/>
            </a:lvl8pPr>
            <a:lvl9pPr lvl="8" algn="ctr" rtl="1">
              <a:spcBef>
                <a:spcPts val="0"/>
              </a:spcBef>
              <a:spcAft>
                <a:spcPts val="0"/>
              </a:spcAft>
              <a:buSzPts val="12000"/>
              <a:buNone/>
              <a:defRPr sz="12000"/>
            </a:lvl9pPr>
          </a:lstStyle>
          <a:p>
            <a:r>
              <a:t>xx%</a:t>
            </a:r>
          </a:p>
        </p:txBody>
      </p:sp>
      <p:pic>
        <p:nvPicPr>
          <p:cNvPr id="43" name="Google Shape;43;p11" title="twq white-20.png"/>
          <p:cNvPicPr preferRelativeResize="0"/>
          <p:nvPr/>
        </p:nvPicPr>
        <p:blipFill>
          <a:blip r:embed="rId3">
            <a:alphaModFix/>
          </a:blip>
          <a:stretch>
            <a:fillRect/>
          </a:stretch>
        </p:blipFill>
        <p:spPr>
          <a:xfrm>
            <a:off x="7443975" y="84975"/>
            <a:ext cx="1388326" cy="5999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44"/>
        <p:cNvGrpSpPr/>
        <p:nvPr/>
      </p:nvGrpSpPr>
      <p:grpSpPr>
        <a:xfrm>
          <a:off x="0" y="0"/>
          <a:ext cx="0" cy="0"/>
          <a:chOff x="0" y="0"/>
          <a:chExt cx="0" cy="0"/>
        </a:xfrm>
      </p:grpSpPr>
      <p:sp>
        <p:nvSpPr>
          <p:cNvPr id="45" name="Google Shape;45;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57841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0">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282450"/>
            <a:ext cx="8520600" cy="572700"/>
          </a:xfrm>
          <a:prstGeom prst="rect">
            <a:avLst/>
          </a:prstGeom>
          <a:noFill/>
          <a:ln>
            <a:noFill/>
          </a:ln>
        </p:spPr>
        <p:txBody>
          <a:bodyPr spcFirstLastPara="1" wrap="square" lIns="91425" tIns="91425" rIns="91425" bIns="91425" anchor="t" anchorCtr="0">
            <a:normAutofit/>
          </a:bodyPr>
          <a:lstStyle>
            <a:lvl1pPr lvl="0" rtl="1">
              <a:spcBef>
                <a:spcPts val="0"/>
              </a:spcBef>
              <a:spcAft>
                <a:spcPts val="0"/>
              </a:spcAft>
              <a:buClr>
                <a:srgbClr val="4F29B7"/>
              </a:buClr>
              <a:buSzPts val="2500"/>
              <a:buFont typeface="IBM Plex Sans Arabic Medium"/>
              <a:buNone/>
              <a:defRPr sz="2500">
                <a:solidFill>
                  <a:srgbClr val="4F29B7"/>
                </a:solidFill>
                <a:latin typeface="IBM Plex Sans Arabic Medium"/>
                <a:ea typeface="IBM Plex Sans Arabic Medium"/>
                <a:cs typeface="IBM Plex Sans Arabic Medium"/>
                <a:sym typeface="IBM Plex Sans Arabic Medium"/>
              </a:defRPr>
            </a:lvl1pPr>
            <a:lvl2pPr lvl="1"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2pPr>
            <a:lvl3pPr lvl="2"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3pPr>
            <a:lvl4pPr lvl="3"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4pPr>
            <a:lvl5pPr lvl="4"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5pPr>
            <a:lvl6pPr lvl="5"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6pPr>
            <a:lvl7pPr lvl="6"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7pPr>
            <a:lvl8pPr lvl="7"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8pPr>
            <a:lvl9pPr lvl="8"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rtl="1">
              <a:lnSpc>
                <a:spcPct val="115000"/>
              </a:lnSpc>
              <a:spcBef>
                <a:spcPts val="0"/>
              </a:spcBef>
              <a:spcAft>
                <a:spcPts val="0"/>
              </a:spcAft>
              <a:buClr>
                <a:srgbClr val="252526"/>
              </a:buClr>
              <a:buSzPts val="1800"/>
              <a:buFont typeface="IBM Plex Sans Arabic"/>
              <a:buChar char="●"/>
              <a:defRPr sz="1800">
                <a:solidFill>
                  <a:srgbClr val="252526"/>
                </a:solidFill>
                <a:latin typeface="IBM Plex Sans Arabic"/>
                <a:ea typeface="IBM Plex Sans Arabic"/>
                <a:cs typeface="IBM Plex Sans Arabic"/>
                <a:sym typeface="IBM Plex Sans Arabic"/>
              </a:defRPr>
            </a:lvl1pPr>
            <a:lvl2pPr marL="914400" lvl="1"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2pPr>
            <a:lvl3pPr marL="1371600" lvl="2"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3pPr>
            <a:lvl4pPr marL="1828800" lvl="3"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4pPr>
            <a:lvl5pPr marL="2286000" lvl="4"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5pPr>
            <a:lvl6pPr marL="2743200" lvl="5"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6pPr>
            <a:lvl7pPr marL="3200400" lvl="6"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7pPr>
            <a:lvl8pPr marL="3657600" lvl="7"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8pPr>
            <a:lvl9pPr marL="4114800" lvl="8"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5" r:id="rId5"/>
    <p:sldLayoutId id="2147483657" r:id="rId6"/>
    <p:sldLayoutId id="2147483658" r:id="rId7"/>
    <p:sldLayoutId id="2147483660"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13"/>
          <p:cNvSpPr txBox="1">
            <a:spLocks noGrp="1"/>
          </p:cNvSpPr>
          <p:nvPr>
            <p:ph type="title"/>
          </p:nvPr>
        </p:nvSpPr>
        <p:spPr>
          <a:xfrm>
            <a:off x="5435226" y="867625"/>
            <a:ext cx="2974200" cy="2262000"/>
          </a:xfrm>
          <a:prstGeom prst="rect">
            <a:avLst/>
          </a:prstGeom>
        </p:spPr>
        <p:txBody>
          <a:bodyPr spcFirstLastPara="1" wrap="square" lIns="91425" tIns="91425" rIns="91425" bIns="91425" anchor="b" anchorCtr="0">
            <a:normAutofit/>
          </a:bodyPr>
          <a:lstStyle/>
          <a:p>
            <a:pPr marL="0" lvl="0" indent="0" algn="r" rtl="0">
              <a:spcBef>
                <a:spcPts val="0"/>
              </a:spcBef>
              <a:spcAft>
                <a:spcPts val="0"/>
              </a:spcAft>
              <a:buNone/>
            </a:pPr>
            <a:r>
              <a:rPr lang="en" sz="4800" dirty="0">
                <a:solidFill>
                  <a:srgbClr val="58E3D8"/>
                </a:solidFill>
                <a:latin typeface="IBM Plex Sans Arabic SemiBold"/>
                <a:ea typeface="IBM Plex Sans Arabic SemiBold"/>
                <a:cs typeface="IBM Plex Sans Arabic SemiBold"/>
                <a:sym typeface="IBM Plex Sans Arabic SemiBold"/>
              </a:rPr>
              <a:t>أكـــــاديميــــة طــــويـــق</a:t>
            </a:r>
            <a:endParaRPr sz="4800" dirty="0">
              <a:solidFill>
                <a:srgbClr val="58E3D8"/>
              </a:solidFill>
              <a:latin typeface="IBM Plex Sans Arabic SemiBold"/>
              <a:ea typeface="IBM Plex Sans Arabic SemiBold"/>
              <a:cs typeface="IBM Plex Sans Arabic SemiBold"/>
              <a:sym typeface="IBM Plex Sans Arabic SemiBold"/>
            </a:endParaRPr>
          </a:p>
        </p:txBody>
      </p:sp>
      <p:sp>
        <p:nvSpPr>
          <p:cNvPr id="51" name="Google Shape;51;p13"/>
          <p:cNvSpPr txBox="1">
            <a:spLocks noGrp="1"/>
          </p:cNvSpPr>
          <p:nvPr>
            <p:ph type="body" idx="4294967295"/>
          </p:nvPr>
        </p:nvSpPr>
        <p:spPr>
          <a:xfrm>
            <a:off x="3902100" y="3253272"/>
            <a:ext cx="4447500" cy="403200"/>
          </a:xfrm>
          <a:prstGeom prst="rect">
            <a:avLst/>
          </a:prstGeom>
        </p:spPr>
        <p:txBody>
          <a:bodyPr spcFirstLastPara="1" wrap="square" lIns="91425" tIns="91425" rIns="91425" bIns="91425" anchor="t" anchorCtr="0">
            <a:noAutofit/>
          </a:bodyPr>
          <a:lstStyle/>
          <a:p>
            <a:pPr marL="114300" indent="0" algn="r">
              <a:buNone/>
            </a:pPr>
            <a:r>
              <a:rPr lang="ar-SA" sz="2000" b="1" dirty="0">
                <a:solidFill>
                  <a:schemeClr val="bg1"/>
                </a:solidFill>
              </a:rPr>
              <a:t>المعسكر التأسيسي - مسار البرمجة</a:t>
            </a:r>
          </a:p>
          <a:p>
            <a:pPr marL="114300" indent="0">
              <a:buNone/>
            </a:pPr>
            <a:br>
              <a:rPr lang="ar-SA" sz="2000" dirty="0"/>
            </a:br>
            <a:endParaRPr lang="ar-SA" sz="20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67E406D-77C5-64FC-1384-3ED885662E43}"/>
              </a:ext>
            </a:extLst>
          </p:cNvPr>
          <p:cNvSpPr/>
          <p:nvPr/>
        </p:nvSpPr>
        <p:spPr>
          <a:xfrm>
            <a:off x="0" y="0"/>
            <a:ext cx="9144000" cy="64008"/>
          </a:xfrm>
          <a:prstGeom prst="rect">
            <a:avLst/>
          </a:prstGeom>
          <a:solidFill>
            <a:srgbClr val="57E3D8"/>
          </a:solidFill>
          <a:ln w="12700">
            <a:solidFill>
              <a:srgbClr val="57E3D8"/>
            </a:solidFill>
            <a:prstDash val="solid"/>
          </a:ln>
        </p:spPr>
        <p:txBody>
          <a:bodyPr/>
          <a:lstStyle/>
          <a:p>
            <a:endParaRPr lang="en-US"/>
          </a:p>
        </p:txBody>
      </p:sp>
      <p:sp>
        <p:nvSpPr>
          <p:cNvPr id="3" name="Shape 1">
            <a:extLst>
              <a:ext uri="{FF2B5EF4-FFF2-40B4-BE49-F238E27FC236}">
                <a16:creationId xmlns:a16="http://schemas.microsoft.com/office/drawing/2014/main" id="{A58AB1B6-4F13-B6F1-65C4-FDEAF2A7575E}"/>
              </a:ext>
            </a:extLst>
          </p:cNvPr>
          <p:cNvSpPr/>
          <p:nvPr/>
        </p:nvSpPr>
        <p:spPr>
          <a:xfrm>
            <a:off x="0" y="5079492"/>
            <a:ext cx="9144000" cy="64008"/>
          </a:xfrm>
          <a:prstGeom prst="rect">
            <a:avLst/>
          </a:prstGeom>
          <a:solidFill>
            <a:srgbClr val="4F29B7"/>
          </a:solidFill>
          <a:ln w="12700">
            <a:solidFill>
              <a:srgbClr val="4F29B7"/>
            </a:solidFill>
            <a:prstDash val="solid"/>
          </a:ln>
        </p:spPr>
        <p:txBody>
          <a:bodyPr/>
          <a:lstStyle/>
          <a:p>
            <a:endParaRPr lang="en-US"/>
          </a:p>
        </p:txBody>
      </p:sp>
      <p:sp>
        <p:nvSpPr>
          <p:cNvPr id="4" name="Shape 2">
            <a:extLst>
              <a:ext uri="{FF2B5EF4-FFF2-40B4-BE49-F238E27FC236}">
                <a16:creationId xmlns:a16="http://schemas.microsoft.com/office/drawing/2014/main" id="{FF820E8F-A391-AC62-D54D-317374F62C88}"/>
              </a:ext>
            </a:extLst>
          </p:cNvPr>
          <p:cNvSpPr/>
          <p:nvPr/>
        </p:nvSpPr>
        <p:spPr>
          <a:xfrm>
            <a:off x="0" y="64008"/>
            <a:ext cx="2560320" cy="5015484"/>
          </a:xfrm>
          <a:prstGeom prst="rect">
            <a:avLst/>
          </a:prstGeom>
          <a:solidFill>
            <a:srgbClr val="0A2020"/>
          </a:solidFill>
          <a:ln w="12700">
            <a:solidFill>
              <a:srgbClr val="0A2020"/>
            </a:solidFill>
            <a:prstDash val="solid"/>
          </a:ln>
        </p:spPr>
        <p:txBody>
          <a:bodyPr/>
          <a:lstStyle/>
          <a:p>
            <a:endParaRPr lang="en-US"/>
          </a:p>
        </p:txBody>
      </p:sp>
      <p:sp>
        <p:nvSpPr>
          <p:cNvPr id="5" name="Shape 3">
            <a:extLst>
              <a:ext uri="{FF2B5EF4-FFF2-40B4-BE49-F238E27FC236}">
                <a16:creationId xmlns:a16="http://schemas.microsoft.com/office/drawing/2014/main" id="{244B5C98-FBD3-E2CD-5772-833C4D8DBE51}"/>
              </a:ext>
            </a:extLst>
          </p:cNvPr>
          <p:cNvSpPr/>
          <p:nvPr/>
        </p:nvSpPr>
        <p:spPr>
          <a:xfrm>
            <a:off x="2560320" y="64008"/>
            <a:ext cx="0" cy="5015484"/>
          </a:xfrm>
          <a:prstGeom prst="line">
            <a:avLst/>
          </a:prstGeom>
          <a:noFill/>
          <a:ln w="25400">
            <a:solidFill>
              <a:srgbClr val="57E3D8"/>
            </a:solidFill>
            <a:prstDash val="solid"/>
          </a:ln>
        </p:spPr>
        <p:txBody>
          <a:bodyPr/>
          <a:lstStyle/>
          <a:p>
            <a:endParaRPr lang="en-US"/>
          </a:p>
        </p:txBody>
      </p:sp>
      <p:sp>
        <p:nvSpPr>
          <p:cNvPr id="6" name="Text 4">
            <a:extLst>
              <a:ext uri="{FF2B5EF4-FFF2-40B4-BE49-F238E27FC236}">
                <a16:creationId xmlns:a16="http://schemas.microsoft.com/office/drawing/2014/main" id="{70A0054A-5F93-C0F8-68C3-1CAD4846EE0E}"/>
              </a:ext>
            </a:extLst>
          </p:cNvPr>
          <p:cNvSpPr/>
          <p:nvPr/>
        </p:nvSpPr>
        <p:spPr>
          <a:xfrm>
            <a:off x="0" y="320040"/>
            <a:ext cx="2560320" cy="1463040"/>
          </a:xfrm>
          <a:prstGeom prst="rect">
            <a:avLst/>
          </a:prstGeom>
          <a:noFill/>
          <a:ln/>
        </p:spPr>
        <p:txBody>
          <a:bodyPr wrap="square" lIns="0" tIns="0" rIns="0" bIns="0" rtlCol="0" anchor="ctr"/>
          <a:lstStyle/>
          <a:p>
            <a:pPr marL="0" indent="0" algn="ctr">
              <a:buNone/>
            </a:pPr>
            <a:r>
              <a:rPr lang="en-US" sz="8000" b="1" dirty="0">
                <a:solidFill>
                  <a:schemeClr val="bg1"/>
                </a:solidFill>
                <a:latin typeface="Calibri" pitchFamily="34" charset="0"/>
                <a:ea typeface="Calibri" pitchFamily="34" charset="-122"/>
                <a:cs typeface="Calibri" pitchFamily="34" charset="-120"/>
              </a:rPr>
              <a:t>03</a:t>
            </a:r>
            <a:endParaRPr lang="en-US" sz="8000" dirty="0">
              <a:solidFill>
                <a:schemeClr val="bg1"/>
              </a:solidFill>
            </a:endParaRPr>
          </a:p>
        </p:txBody>
      </p:sp>
      <p:sp>
        <p:nvSpPr>
          <p:cNvPr id="7" name="Shape 5">
            <a:extLst>
              <a:ext uri="{FF2B5EF4-FFF2-40B4-BE49-F238E27FC236}">
                <a16:creationId xmlns:a16="http://schemas.microsoft.com/office/drawing/2014/main" id="{2D400CA1-A6FF-D2ED-B42E-71359923989F}"/>
              </a:ext>
            </a:extLst>
          </p:cNvPr>
          <p:cNvSpPr/>
          <p:nvPr/>
        </p:nvSpPr>
        <p:spPr>
          <a:xfrm>
            <a:off x="228600" y="384048"/>
            <a:ext cx="822960" cy="256032"/>
          </a:xfrm>
          <a:prstGeom prst="roundRect">
            <a:avLst>
              <a:gd name="adj" fmla="val 42857"/>
            </a:avLst>
          </a:prstGeom>
          <a:solidFill>
            <a:srgbClr val="57E3D8"/>
          </a:solidFill>
          <a:ln w="12700">
            <a:solidFill>
              <a:srgbClr val="57E3D8"/>
            </a:solidFill>
            <a:prstDash val="solid"/>
          </a:ln>
        </p:spPr>
        <p:txBody>
          <a:bodyPr/>
          <a:lstStyle/>
          <a:p>
            <a:endParaRPr lang="en-US"/>
          </a:p>
        </p:txBody>
      </p:sp>
      <p:sp>
        <p:nvSpPr>
          <p:cNvPr id="8" name="Text 6">
            <a:extLst>
              <a:ext uri="{FF2B5EF4-FFF2-40B4-BE49-F238E27FC236}">
                <a16:creationId xmlns:a16="http://schemas.microsoft.com/office/drawing/2014/main" id="{F273ADA2-B102-4B1E-6AF9-898A94FBDFA6}"/>
              </a:ext>
            </a:extLst>
          </p:cNvPr>
          <p:cNvSpPr/>
          <p:nvPr/>
        </p:nvSpPr>
        <p:spPr>
          <a:xfrm>
            <a:off x="228600" y="384048"/>
            <a:ext cx="822960" cy="256032"/>
          </a:xfrm>
          <a:prstGeom prst="rect">
            <a:avLst/>
          </a:prstGeom>
          <a:noFill/>
          <a:ln/>
        </p:spPr>
        <p:txBody>
          <a:bodyPr wrap="square" lIns="0" tIns="0" rIns="0" bIns="0" rtlCol="0" anchor="ctr"/>
          <a:lstStyle/>
          <a:p>
            <a:pPr marL="0" indent="0" algn="ctr">
              <a:buNone/>
            </a:pPr>
            <a:r>
              <a:rPr lang="en-US" sz="1100" b="1" dirty="0">
                <a:solidFill>
                  <a:srgbClr val="0A2020"/>
                </a:solidFill>
                <a:latin typeface="Calibri" pitchFamily="34" charset="0"/>
                <a:ea typeface="Calibri" pitchFamily="34" charset="-122"/>
                <a:cs typeface="Calibri" pitchFamily="34" charset="-120"/>
              </a:rPr>
              <a:t>Week 3</a:t>
            </a:r>
            <a:endParaRPr lang="en-US" sz="1100" dirty="0"/>
          </a:p>
        </p:txBody>
      </p:sp>
      <p:sp>
        <p:nvSpPr>
          <p:cNvPr id="9" name="Text 7">
            <a:extLst>
              <a:ext uri="{FF2B5EF4-FFF2-40B4-BE49-F238E27FC236}">
                <a16:creationId xmlns:a16="http://schemas.microsoft.com/office/drawing/2014/main" id="{C09B99FC-C479-8C2D-E6D2-881A32388889}"/>
              </a:ext>
            </a:extLst>
          </p:cNvPr>
          <p:cNvSpPr/>
          <p:nvPr/>
        </p:nvSpPr>
        <p:spPr>
          <a:xfrm>
            <a:off x="137160" y="1417320"/>
            <a:ext cx="2286000" cy="8686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Algorithms</a:t>
            </a:r>
            <a:endParaRPr lang="en-US" sz="2200" dirty="0"/>
          </a:p>
          <a:p>
            <a:pPr marL="0" indent="0" algn="ctr">
              <a:buNone/>
            </a:pPr>
            <a:r>
              <a:rPr lang="en-US" sz="2200" b="1" dirty="0">
                <a:solidFill>
                  <a:srgbClr val="FFFFFF"/>
                </a:solidFill>
                <a:latin typeface="Calibri" pitchFamily="34" charset="0"/>
                <a:ea typeface="Calibri" pitchFamily="34" charset="-122"/>
                <a:cs typeface="Calibri" pitchFamily="34" charset="-120"/>
              </a:rPr>
              <a:t> </a:t>
            </a:r>
            <a:endParaRPr lang="en-US" sz="2200" dirty="0"/>
          </a:p>
        </p:txBody>
      </p:sp>
      <p:sp>
        <p:nvSpPr>
          <p:cNvPr id="10" name="Shape 8">
            <a:extLst>
              <a:ext uri="{FF2B5EF4-FFF2-40B4-BE49-F238E27FC236}">
                <a16:creationId xmlns:a16="http://schemas.microsoft.com/office/drawing/2014/main" id="{38A5CAEB-8102-DF38-E1B7-6B194D394D41}"/>
              </a:ext>
            </a:extLst>
          </p:cNvPr>
          <p:cNvSpPr/>
          <p:nvPr/>
        </p:nvSpPr>
        <p:spPr>
          <a:xfrm>
            <a:off x="320040" y="4069080"/>
            <a:ext cx="1920240" cy="0"/>
          </a:xfrm>
          <a:prstGeom prst="line">
            <a:avLst/>
          </a:prstGeom>
          <a:noFill/>
          <a:ln w="9525">
            <a:solidFill>
              <a:srgbClr val="333355"/>
            </a:solidFill>
            <a:prstDash val="solid"/>
          </a:ln>
        </p:spPr>
        <p:txBody>
          <a:bodyPr/>
          <a:lstStyle/>
          <a:p>
            <a:endParaRPr lang="en-US"/>
          </a:p>
        </p:txBody>
      </p:sp>
      <p:sp>
        <p:nvSpPr>
          <p:cNvPr id="11" name="Text 9">
            <a:extLst>
              <a:ext uri="{FF2B5EF4-FFF2-40B4-BE49-F238E27FC236}">
                <a16:creationId xmlns:a16="http://schemas.microsoft.com/office/drawing/2014/main" id="{92B591E3-3AA6-686E-4CAC-AF218B233E00}"/>
              </a:ext>
            </a:extLst>
          </p:cNvPr>
          <p:cNvSpPr/>
          <p:nvPr/>
        </p:nvSpPr>
        <p:spPr>
          <a:xfrm>
            <a:off x="137160" y="4160520"/>
            <a:ext cx="2286000" cy="228600"/>
          </a:xfrm>
          <a:prstGeom prst="rect">
            <a:avLst/>
          </a:prstGeom>
          <a:noFill/>
          <a:ln/>
        </p:spPr>
        <p:txBody>
          <a:bodyPr wrap="square" lIns="0" tIns="0" rIns="0" bIns="0" rtlCol="0" anchor="ctr"/>
          <a:lstStyle/>
          <a:p>
            <a:pPr marL="0" indent="0" algn="ctr">
              <a:buNone/>
            </a:pPr>
            <a:r>
              <a:rPr lang="en-US" sz="1000" dirty="0">
                <a:solidFill>
                  <a:srgbClr val="9AA4B2"/>
                </a:solidFill>
                <a:latin typeface="Calibri" pitchFamily="34" charset="0"/>
                <a:ea typeface="Calibri" pitchFamily="34" charset="-122"/>
                <a:cs typeface="Calibri" pitchFamily="34" charset="-120"/>
              </a:rPr>
              <a:t>Foundation Bootcamp</a:t>
            </a:r>
            <a:endParaRPr lang="en-US" sz="1000" dirty="0"/>
          </a:p>
        </p:txBody>
      </p:sp>
      <p:sp>
        <p:nvSpPr>
          <p:cNvPr id="12" name="Text 10">
            <a:extLst>
              <a:ext uri="{FF2B5EF4-FFF2-40B4-BE49-F238E27FC236}">
                <a16:creationId xmlns:a16="http://schemas.microsoft.com/office/drawing/2014/main" id="{5599767D-CE61-3911-E941-102809D30A60}"/>
              </a:ext>
            </a:extLst>
          </p:cNvPr>
          <p:cNvSpPr/>
          <p:nvPr/>
        </p:nvSpPr>
        <p:spPr>
          <a:xfrm>
            <a:off x="137160" y="4407408"/>
            <a:ext cx="2286000" cy="228600"/>
          </a:xfrm>
          <a:prstGeom prst="rect">
            <a:avLst/>
          </a:prstGeom>
          <a:noFill/>
          <a:ln/>
        </p:spPr>
        <p:txBody>
          <a:bodyPr wrap="square" lIns="0" tIns="0" rIns="0" bIns="0" rtlCol="0" anchor="ctr"/>
          <a:lstStyle/>
          <a:p>
            <a:pPr marL="0" indent="0" algn="ctr">
              <a:buNone/>
            </a:pPr>
            <a:r>
              <a:rPr lang="en-US" sz="1000" dirty="0">
                <a:solidFill>
                  <a:srgbClr val="9AA4B2"/>
                </a:solidFill>
                <a:latin typeface="Calibri" pitchFamily="34" charset="0"/>
                <a:ea typeface="Calibri" pitchFamily="34" charset="-122"/>
                <a:cs typeface="Calibri" pitchFamily="34" charset="-120"/>
              </a:rPr>
              <a:t>مسار البرمجة</a:t>
            </a:r>
            <a:endParaRPr lang="en-US" sz="1000" dirty="0"/>
          </a:p>
        </p:txBody>
      </p:sp>
      <p:sp>
        <p:nvSpPr>
          <p:cNvPr id="13" name="Shape 11">
            <a:extLst>
              <a:ext uri="{FF2B5EF4-FFF2-40B4-BE49-F238E27FC236}">
                <a16:creationId xmlns:a16="http://schemas.microsoft.com/office/drawing/2014/main" id="{55F4100E-9CB8-5B37-C0F2-CBEC90D9766C}"/>
              </a:ext>
            </a:extLst>
          </p:cNvPr>
          <p:cNvSpPr/>
          <p:nvPr/>
        </p:nvSpPr>
        <p:spPr>
          <a:xfrm>
            <a:off x="2834640" y="637794"/>
            <a:ext cx="6035040" cy="685800"/>
          </a:xfrm>
          <a:prstGeom prst="roundRect">
            <a:avLst>
              <a:gd name="adj" fmla="val 10667"/>
            </a:avLst>
          </a:prstGeom>
          <a:solidFill>
            <a:srgbClr val="1A1A2E"/>
          </a:solidFill>
          <a:ln w="9525">
            <a:solidFill>
              <a:srgbClr val="2A2A48"/>
            </a:solidFill>
            <a:prstDash val="solid"/>
          </a:ln>
        </p:spPr>
        <p:txBody>
          <a:bodyPr/>
          <a:lstStyle/>
          <a:p>
            <a:endParaRPr lang="en-US"/>
          </a:p>
        </p:txBody>
      </p:sp>
      <p:sp>
        <p:nvSpPr>
          <p:cNvPr id="14" name="Shape 12">
            <a:extLst>
              <a:ext uri="{FF2B5EF4-FFF2-40B4-BE49-F238E27FC236}">
                <a16:creationId xmlns:a16="http://schemas.microsoft.com/office/drawing/2014/main" id="{5C0B6CAB-0687-131B-B1A3-5DC2E6225321}"/>
              </a:ext>
            </a:extLst>
          </p:cNvPr>
          <p:cNvSpPr/>
          <p:nvPr/>
        </p:nvSpPr>
        <p:spPr>
          <a:xfrm>
            <a:off x="3035808" y="788670"/>
            <a:ext cx="384048" cy="384048"/>
          </a:xfrm>
          <a:prstGeom prst="ellipse">
            <a:avLst/>
          </a:prstGeom>
          <a:solidFill>
            <a:srgbClr val="57E3D8"/>
          </a:solidFill>
          <a:ln w="12700">
            <a:solidFill>
              <a:srgbClr val="57E3D8"/>
            </a:solidFill>
            <a:prstDash val="solid"/>
          </a:ln>
        </p:spPr>
        <p:txBody>
          <a:bodyPr/>
          <a:lstStyle/>
          <a:p>
            <a:endParaRPr lang="en-US"/>
          </a:p>
        </p:txBody>
      </p:sp>
      <p:sp>
        <p:nvSpPr>
          <p:cNvPr id="15" name="Text 13">
            <a:extLst>
              <a:ext uri="{FF2B5EF4-FFF2-40B4-BE49-F238E27FC236}">
                <a16:creationId xmlns:a16="http://schemas.microsoft.com/office/drawing/2014/main" id="{AC7BC44D-1FC9-9F64-5CC7-E434D27250A8}"/>
              </a:ext>
            </a:extLst>
          </p:cNvPr>
          <p:cNvSpPr/>
          <p:nvPr/>
        </p:nvSpPr>
        <p:spPr>
          <a:xfrm>
            <a:off x="3035808" y="788670"/>
            <a:ext cx="384048" cy="384048"/>
          </a:xfrm>
          <a:prstGeom prst="rect">
            <a:avLst/>
          </a:prstGeom>
          <a:noFill/>
          <a:ln/>
        </p:spPr>
        <p:txBody>
          <a:bodyPr wrap="square" lIns="0" tIns="0" rIns="0" bIns="0" rtlCol="0" anchor="ctr"/>
          <a:lstStyle/>
          <a:p>
            <a:pPr marL="0" indent="0" algn="ctr">
              <a:buNone/>
            </a:pPr>
            <a:r>
              <a:rPr lang="en-US" sz="1200" b="1" dirty="0">
                <a:solidFill>
                  <a:srgbClr val="262626"/>
                </a:solidFill>
                <a:latin typeface="Calibri" pitchFamily="34" charset="0"/>
                <a:ea typeface="Calibri" pitchFamily="34" charset="-122"/>
                <a:cs typeface="Calibri" pitchFamily="34" charset="-120"/>
              </a:rPr>
              <a:t>1</a:t>
            </a:r>
            <a:endParaRPr lang="en-US" sz="1200" dirty="0"/>
          </a:p>
        </p:txBody>
      </p:sp>
      <p:sp>
        <p:nvSpPr>
          <p:cNvPr id="16" name="Text 14">
            <a:extLst>
              <a:ext uri="{FF2B5EF4-FFF2-40B4-BE49-F238E27FC236}">
                <a16:creationId xmlns:a16="http://schemas.microsoft.com/office/drawing/2014/main" id="{C3F1AAB6-AEF6-43A8-6A84-7CBE0EB54EF6}"/>
              </a:ext>
            </a:extLst>
          </p:cNvPr>
          <p:cNvSpPr/>
          <p:nvPr/>
        </p:nvSpPr>
        <p:spPr>
          <a:xfrm>
            <a:off x="3584448" y="729234"/>
            <a:ext cx="731520" cy="228600"/>
          </a:xfrm>
          <a:prstGeom prst="rect">
            <a:avLst/>
          </a:prstGeom>
          <a:noFill/>
          <a:ln/>
        </p:spPr>
        <p:txBody>
          <a:bodyPr wrap="square" lIns="0" tIns="0" rIns="0" bIns="0" rtlCol="0" anchor="ctr"/>
          <a:lstStyle/>
          <a:p>
            <a:pPr marL="0" indent="0" algn="l">
              <a:buNone/>
            </a:pPr>
            <a:r>
              <a:rPr lang="en-US" sz="950" b="1" dirty="0">
                <a:solidFill>
                  <a:srgbClr val="57E3D8"/>
                </a:solidFill>
                <a:latin typeface="Calibri" pitchFamily="34" charset="0"/>
                <a:ea typeface="Calibri" pitchFamily="34" charset="-122"/>
                <a:cs typeface="Calibri" pitchFamily="34" charset="-120"/>
              </a:rPr>
              <a:t>Day 1</a:t>
            </a:r>
            <a:endParaRPr lang="en-US" sz="950" dirty="0"/>
          </a:p>
        </p:txBody>
      </p:sp>
      <p:sp>
        <p:nvSpPr>
          <p:cNvPr id="17" name="Shape 15">
            <a:extLst>
              <a:ext uri="{FF2B5EF4-FFF2-40B4-BE49-F238E27FC236}">
                <a16:creationId xmlns:a16="http://schemas.microsoft.com/office/drawing/2014/main" id="{648B9736-5271-3F10-9283-6A47244C9274}"/>
              </a:ext>
            </a:extLst>
          </p:cNvPr>
          <p:cNvSpPr/>
          <p:nvPr/>
        </p:nvSpPr>
        <p:spPr>
          <a:xfrm>
            <a:off x="4361688" y="784098"/>
            <a:ext cx="0" cy="393192"/>
          </a:xfrm>
          <a:prstGeom prst="line">
            <a:avLst/>
          </a:prstGeom>
          <a:noFill/>
          <a:ln w="9525">
            <a:solidFill>
              <a:srgbClr val="333355"/>
            </a:solidFill>
            <a:prstDash val="solid"/>
          </a:ln>
        </p:spPr>
        <p:txBody>
          <a:bodyPr/>
          <a:lstStyle/>
          <a:p>
            <a:endParaRPr lang="en-US"/>
          </a:p>
        </p:txBody>
      </p:sp>
      <p:sp>
        <p:nvSpPr>
          <p:cNvPr id="18" name="Text 16">
            <a:extLst>
              <a:ext uri="{FF2B5EF4-FFF2-40B4-BE49-F238E27FC236}">
                <a16:creationId xmlns:a16="http://schemas.microsoft.com/office/drawing/2014/main" id="{07A12A8A-1C6B-110F-8997-E7E5477EA5F8}"/>
              </a:ext>
            </a:extLst>
          </p:cNvPr>
          <p:cNvSpPr/>
          <p:nvPr/>
        </p:nvSpPr>
        <p:spPr>
          <a:xfrm>
            <a:off x="4453128" y="637794"/>
            <a:ext cx="4343400" cy="685800"/>
          </a:xfrm>
          <a:prstGeom prst="rect">
            <a:avLst/>
          </a:prstGeom>
          <a:noFill/>
          <a:ln/>
        </p:spPr>
        <p:txBody>
          <a:bodyPr wrap="square" lIns="0" tIns="0" rIns="0" bIns="0" rtlCol="0" anchor="ctr"/>
          <a:lstStyle/>
          <a:p>
            <a:pPr marL="0" indent="0" algn="l">
              <a:buNone/>
            </a:pPr>
            <a:r>
              <a:rPr lang="en-US" sz="1200" dirty="0">
                <a:solidFill>
                  <a:srgbClr val="EDEDED"/>
                </a:solidFill>
                <a:latin typeface="Calibri" pitchFamily="34" charset="0"/>
                <a:ea typeface="Calibri" pitchFamily="34" charset="-122"/>
                <a:cs typeface="Calibri" pitchFamily="34" charset="-120"/>
              </a:rPr>
              <a:t>Introduction to algorithms</a:t>
            </a:r>
            <a:endParaRPr lang="en-US" sz="1200" dirty="0"/>
          </a:p>
        </p:txBody>
      </p:sp>
      <p:sp>
        <p:nvSpPr>
          <p:cNvPr id="19" name="Shape 17">
            <a:extLst>
              <a:ext uri="{FF2B5EF4-FFF2-40B4-BE49-F238E27FC236}">
                <a16:creationId xmlns:a16="http://schemas.microsoft.com/office/drawing/2014/main" id="{63889319-52E7-F6EA-214C-6FB5D81E6B30}"/>
              </a:ext>
            </a:extLst>
          </p:cNvPr>
          <p:cNvSpPr/>
          <p:nvPr/>
        </p:nvSpPr>
        <p:spPr>
          <a:xfrm>
            <a:off x="2834640" y="1433322"/>
            <a:ext cx="6035040" cy="685800"/>
          </a:xfrm>
          <a:prstGeom prst="roundRect">
            <a:avLst>
              <a:gd name="adj" fmla="val 10667"/>
            </a:avLst>
          </a:prstGeom>
          <a:solidFill>
            <a:srgbClr val="16243A"/>
          </a:solidFill>
          <a:ln w="22225">
            <a:solidFill>
              <a:srgbClr val="57E3D8"/>
            </a:solidFill>
            <a:prstDash val="solid"/>
          </a:ln>
        </p:spPr>
        <p:txBody>
          <a:bodyPr/>
          <a:lstStyle/>
          <a:p>
            <a:endParaRPr lang="en-US"/>
          </a:p>
        </p:txBody>
      </p:sp>
      <p:sp>
        <p:nvSpPr>
          <p:cNvPr id="20" name="Shape 18">
            <a:extLst>
              <a:ext uri="{FF2B5EF4-FFF2-40B4-BE49-F238E27FC236}">
                <a16:creationId xmlns:a16="http://schemas.microsoft.com/office/drawing/2014/main" id="{06C2D083-16B0-081D-EC91-9BC5FB3A7C31}"/>
              </a:ext>
            </a:extLst>
          </p:cNvPr>
          <p:cNvSpPr/>
          <p:nvPr/>
        </p:nvSpPr>
        <p:spPr>
          <a:xfrm>
            <a:off x="3035808" y="1584198"/>
            <a:ext cx="384048" cy="384048"/>
          </a:xfrm>
          <a:prstGeom prst="ellipse">
            <a:avLst/>
          </a:prstGeom>
          <a:solidFill>
            <a:srgbClr val="57E3D8"/>
          </a:solidFill>
          <a:ln w="12700">
            <a:solidFill>
              <a:srgbClr val="57E3D8"/>
            </a:solidFill>
            <a:prstDash val="solid"/>
          </a:ln>
        </p:spPr>
        <p:txBody>
          <a:bodyPr/>
          <a:lstStyle/>
          <a:p>
            <a:endParaRPr lang="en-US"/>
          </a:p>
        </p:txBody>
      </p:sp>
      <p:sp>
        <p:nvSpPr>
          <p:cNvPr id="21" name="Text 19">
            <a:extLst>
              <a:ext uri="{FF2B5EF4-FFF2-40B4-BE49-F238E27FC236}">
                <a16:creationId xmlns:a16="http://schemas.microsoft.com/office/drawing/2014/main" id="{BAFCCA92-7DB9-D2AC-FF94-D4A25331D56E}"/>
              </a:ext>
            </a:extLst>
          </p:cNvPr>
          <p:cNvSpPr/>
          <p:nvPr/>
        </p:nvSpPr>
        <p:spPr>
          <a:xfrm>
            <a:off x="3035808" y="1584198"/>
            <a:ext cx="384048" cy="384048"/>
          </a:xfrm>
          <a:prstGeom prst="rect">
            <a:avLst/>
          </a:prstGeom>
          <a:noFill/>
          <a:ln/>
        </p:spPr>
        <p:txBody>
          <a:bodyPr wrap="square" lIns="0" tIns="0" rIns="0" bIns="0" rtlCol="0" anchor="ctr"/>
          <a:lstStyle/>
          <a:p>
            <a:pPr marL="0" indent="0" algn="ctr">
              <a:buNone/>
            </a:pPr>
            <a:r>
              <a:rPr lang="en-US" sz="1200" b="1" dirty="0">
                <a:solidFill>
                  <a:srgbClr val="262626"/>
                </a:solidFill>
                <a:latin typeface="Calibri" pitchFamily="34" charset="0"/>
                <a:ea typeface="Calibri" pitchFamily="34" charset="-122"/>
                <a:cs typeface="Calibri" pitchFamily="34" charset="-120"/>
              </a:rPr>
              <a:t>2</a:t>
            </a:r>
            <a:endParaRPr lang="en-US" sz="1200" dirty="0"/>
          </a:p>
        </p:txBody>
      </p:sp>
      <p:sp>
        <p:nvSpPr>
          <p:cNvPr id="22" name="Text 20">
            <a:extLst>
              <a:ext uri="{FF2B5EF4-FFF2-40B4-BE49-F238E27FC236}">
                <a16:creationId xmlns:a16="http://schemas.microsoft.com/office/drawing/2014/main" id="{0C22C430-4049-84D0-C905-1AECAADE9A85}"/>
              </a:ext>
            </a:extLst>
          </p:cNvPr>
          <p:cNvSpPr/>
          <p:nvPr/>
        </p:nvSpPr>
        <p:spPr>
          <a:xfrm>
            <a:off x="3584448" y="1524762"/>
            <a:ext cx="731520" cy="228600"/>
          </a:xfrm>
          <a:prstGeom prst="rect">
            <a:avLst/>
          </a:prstGeom>
          <a:noFill/>
          <a:ln/>
        </p:spPr>
        <p:txBody>
          <a:bodyPr wrap="square" lIns="0" tIns="0" rIns="0" bIns="0" rtlCol="0" anchor="ctr"/>
          <a:lstStyle/>
          <a:p>
            <a:pPr marL="0" indent="0" algn="l">
              <a:buNone/>
            </a:pPr>
            <a:r>
              <a:rPr lang="en-US" sz="950" b="1" dirty="0">
                <a:solidFill>
                  <a:srgbClr val="57E3D8"/>
                </a:solidFill>
                <a:latin typeface="Calibri" pitchFamily="34" charset="0"/>
                <a:ea typeface="Calibri" pitchFamily="34" charset="-122"/>
                <a:cs typeface="Calibri" pitchFamily="34" charset="-120"/>
              </a:rPr>
              <a:t>Day 2</a:t>
            </a:r>
            <a:endParaRPr lang="en-US" sz="950" dirty="0"/>
          </a:p>
        </p:txBody>
      </p:sp>
      <p:sp>
        <p:nvSpPr>
          <p:cNvPr id="23" name="Shape 21">
            <a:extLst>
              <a:ext uri="{FF2B5EF4-FFF2-40B4-BE49-F238E27FC236}">
                <a16:creationId xmlns:a16="http://schemas.microsoft.com/office/drawing/2014/main" id="{82A72DA3-1CC8-C226-C2AB-67A0BD33B796}"/>
              </a:ext>
            </a:extLst>
          </p:cNvPr>
          <p:cNvSpPr/>
          <p:nvPr/>
        </p:nvSpPr>
        <p:spPr>
          <a:xfrm>
            <a:off x="4361688" y="1579626"/>
            <a:ext cx="0" cy="393192"/>
          </a:xfrm>
          <a:prstGeom prst="line">
            <a:avLst/>
          </a:prstGeom>
          <a:noFill/>
          <a:ln w="9525">
            <a:solidFill>
              <a:srgbClr val="333355"/>
            </a:solidFill>
            <a:prstDash val="solid"/>
          </a:ln>
        </p:spPr>
        <p:txBody>
          <a:bodyPr/>
          <a:lstStyle/>
          <a:p>
            <a:endParaRPr lang="en-US"/>
          </a:p>
        </p:txBody>
      </p:sp>
      <p:sp>
        <p:nvSpPr>
          <p:cNvPr id="24" name="Text 22">
            <a:extLst>
              <a:ext uri="{FF2B5EF4-FFF2-40B4-BE49-F238E27FC236}">
                <a16:creationId xmlns:a16="http://schemas.microsoft.com/office/drawing/2014/main" id="{F2904907-D386-E744-B0D6-2A064A9BA7D6}"/>
              </a:ext>
            </a:extLst>
          </p:cNvPr>
          <p:cNvSpPr/>
          <p:nvPr/>
        </p:nvSpPr>
        <p:spPr>
          <a:xfrm>
            <a:off x="4453128" y="1433322"/>
            <a:ext cx="4343400" cy="685800"/>
          </a:xfrm>
          <a:prstGeom prst="rect">
            <a:avLst/>
          </a:prstGeom>
          <a:noFill/>
          <a:ln/>
        </p:spPr>
        <p:txBody>
          <a:bodyPr wrap="square" lIns="0" tIns="0" rIns="0" bIns="0" rtlCol="0" anchor="ctr"/>
          <a:lstStyle/>
          <a:p>
            <a:pPr marL="0" indent="0" algn="l">
              <a:buNone/>
            </a:pPr>
            <a:r>
              <a:rPr lang="en-US" sz="1200" dirty="0">
                <a:solidFill>
                  <a:srgbClr val="EDEDED"/>
                </a:solidFill>
                <a:latin typeface="Calibri" pitchFamily="34" charset="0"/>
                <a:ea typeface="Calibri" pitchFamily="34" charset="-122"/>
                <a:cs typeface="Calibri" pitchFamily="34" charset="-120"/>
              </a:rPr>
              <a:t>Linear Search</a:t>
            </a:r>
            <a:endParaRPr lang="en-US" sz="1200" dirty="0"/>
          </a:p>
        </p:txBody>
      </p:sp>
      <p:sp>
        <p:nvSpPr>
          <p:cNvPr id="25" name="Shape 23">
            <a:extLst>
              <a:ext uri="{FF2B5EF4-FFF2-40B4-BE49-F238E27FC236}">
                <a16:creationId xmlns:a16="http://schemas.microsoft.com/office/drawing/2014/main" id="{8D5DB58C-C19C-BF82-38F2-3520D1D40072}"/>
              </a:ext>
            </a:extLst>
          </p:cNvPr>
          <p:cNvSpPr/>
          <p:nvPr/>
        </p:nvSpPr>
        <p:spPr>
          <a:xfrm>
            <a:off x="2834640" y="2228850"/>
            <a:ext cx="6035040" cy="685800"/>
          </a:xfrm>
          <a:prstGeom prst="roundRect">
            <a:avLst>
              <a:gd name="adj" fmla="val 10667"/>
            </a:avLst>
          </a:prstGeom>
          <a:solidFill>
            <a:srgbClr val="1A1A2E"/>
          </a:solidFill>
          <a:ln w="9525">
            <a:solidFill>
              <a:srgbClr val="2A2A48"/>
            </a:solidFill>
            <a:prstDash val="solid"/>
          </a:ln>
        </p:spPr>
        <p:txBody>
          <a:bodyPr/>
          <a:lstStyle/>
          <a:p>
            <a:endParaRPr lang="en-US"/>
          </a:p>
        </p:txBody>
      </p:sp>
      <p:sp>
        <p:nvSpPr>
          <p:cNvPr id="26" name="Shape 24">
            <a:extLst>
              <a:ext uri="{FF2B5EF4-FFF2-40B4-BE49-F238E27FC236}">
                <a16:creationId xmlns:a16="http://schemas.microsoft.com/office/drawing/2014/main" id="{70736680-2F47-383C-0F62-87CCA75E254E}"/>
              </a:ext>
            </a:extLst>
          </p:cNvPr>
          <p:cNvSpPr/>
          <p:nvPr/>
        </p:nvSpPr>
        <p:spPr>
          <a:xfrm>
            <a:off x="3035808" y="2379726"/>
            <a:ext cx="384048" cy="384048"/>
          </a:xfrm>
          <a:prstGeom prst="ellipse">
            <a:avLst/>
          </a:prstGeom>
          <a:solidFill>
            <a:srgbClr val="57E3D8"/>
          </a:solidFill>
          <a:ln w="12700">
            <a:solidFill>
              <a:srgbClr val="57E3D8"/>
            </a:solidFill>
            <a:prstDash val="solid"/>
          </a:ln>
        </p:spPr>
        <p:txBody>
          <a:bodyPr/>
          <a:lstStyle/>
          <a:p>
            <a:endParaRPr lang="en-US"/>
          </a:p>
        </p:txBody>
      </p:sp>
      <p:sp>
        <p:nvSpPr>
          <p:cNvPr id="27" name="Text 25">
            <a:extLst>
              <a:ext uri="{FF2B5EF4-FFF2-40B4-BE49-F238E27FC236}">
                <a16:creationId xmlns:a16="http://schemas.microsoft.com/office/drawing/2014/main" id="{314C9277-EC05-FC71-5EA2-F4407D0C92BB}"/>
              </a:ext>
            </a:extLst>
          </p:cNvPr>
          <p:cNvSpPr/>
          <p:nvPr/>
        </p:nvSpPr>
        <p:spPr>
          <a:xfrm>
            <a:off x="3035808" y="2379726"/>
            <a:ext cx="384048" cy="384048"/>
          </a:xfrm>
          <a:prstGeom prst="rect">
            <a:avLst/>
          </a:prstGeom>
          <a:noFill/>
          <a:ln/>
        </p:spPr>
        <p:txBody>
          <a:bodyPr wrap="square" lIns="0" tIns="0" rIns="0" bIns="0" rtlCol="0" anchor="ctr"/>
          <a:lstStyle/>
          <a:p>
            <a:pPr marL="0" indent="0" algn="ctr">
              <a:buNone/>
            </a:pPr>
            <a:r>
              <a:rPr lang="en-US" sz="1200" b="1" dirty="0">
                <a:solidFill>
                  <a:srgbClr val="262626"/>
                </a:solidFill>
                <a:latin typeface="Calibri" pitchFamily="34" charset="0"/>
                <a:ea typeface="Calibri" pitchFamily="34" charset="-122"/>
                <a:cs typeface="Calibri" pitchFamily="34" charset="-120"/>
              </a:rPr>
              <a:t>3</a:t>
            </a:r>
            <a:endParaRPr lang="en-US" sz="1200" dirty="0"/>
          </a:p>
        </p:txBody>
      </p:sp>
      <p:sp>
        <p:nvSpPr>
          <p:cNvPr id="28" name="Text 26">
            <a:extLst>
              <a:ext uri="{FF2B5EF4-FFF2-40B4-BE49-F238E27FC236}">
                <a16:creationId xmlns:a16="http://schemas.microsoft.com/office/drawing/2014/main" id="{30DC768E-4FAE-A61B-FCEC-97E680516D22}"/>
              </a:ext>
            </a:extLst>
          </p:cNvPr>
          <p:cNvSpPr/>
          <p:nvPr/>
        </p:nvSpPr>
        <p:spPr>
          <a:xfrm>
            <a:off x="3584448" y="2320290"/>
            <a:ext cx="731520" cy="228600"/>
          </a:xfrm>
          <a:prstGeom prst="rect">
            <a:avLst/>
          </a:prstGeom>
          <a:noFill/>
          <a:ln/>
        </p:spPr>
        <p:txBody>
          <a:bodyPr wrap="square" lIns="0" tIns="0" rIns="0" bIns="0" rtlCol="0" anchor="ctr"/>
          <a:lstStyle/>
          <a:p>
            <a:pPr marL="0" indent="0" algn="l">
              <a:buNone/>
            </a:pPr>
            <a:r>
              <a:rPr lang="en-US" sz="950" b="1" dirty="0">
                <a:solidFill>
                  <a:srgbClr val="57E3D8"/>
                </a:solidFill>
                <a:latin typeface="Calibri" pitchFamily="34" charset="0"/>
                <a:ea typeface="Calibri" pitchFamily="34" charset="-122"/>
                <a:cs typeface="Calibri" pitchFamily="34" charset="-120"/>
              </a:rPr>
              <a:t>Day 3</a:t>
            </a:r>
            <a:endParaRPr lang="en-US" sz="950" dirty="0"/>
          </a:p>
        </p:txBody>
      </p:sp>
      <p:sp>
        <p:nvSpPr>
          <p:cNvPr id="29" name="Shape 27">
            <a:extLst>
              <a:ext uri="{FF2B5EF4-FFF2-40B4-BE49-F238E27FC236}">
                <a16:creationId xmlns:a16="http://schemas.microsoft.com/office/drawing/2014/main" id="{889D4878-03AA-AC42-C788-065DCECAD681}"/>
              </a:ext>
            </a:extLst>
          </p:cNvPr>
          <p:cNvSpPr/>
          <p:nvPr/>
        </p:nvSpPr>
        <p:spPr>
          <a:xfrm>
            <a:off x="4361688" y="2375154"/>
            <a:ext cx="0" cy="393192"/>
          </a:xfrm>
          <a:prstGeom prst="line">
            <a:avLst/>
          </a:prstGeom>
          <a:noFill/>
          <a:ln w="9525">
            <a:solidFill>
              <a:srgbClr val="333355"/>
            </a:solidFill>
            <a:prstDash val="solid"/>
          </a:ln>
        </p:spPr>
        <p:txBody>
          <a:bodyPr/>
          <a:lstStyle/>
          <a:p>
            <a:endParaRPr lang="en-US"/>
          </a:p>
        </p:txBody>
      </p:sp>
      <p:sp>
        <p:nvSpPr>
          <p:cNvPr id="30" name="Text 28">
            <a:extLst>
              <a:ext uri="{FF2B5EF4-FFF2-40B4-BE49-F238E27FC236}">
                <a16:creationId xmlns:a16="http://schemas.microsoft.com/office/drawing/2014/main" id="{431CF177-A807-CE31-1BB2-ECA9F30B5B25}"/>
              </a:ext>
            </a:extLst>
          </p:cNvPr>
          <p:cNvSpPr/>
          <p:nvPr/>
        </p:nvSpPr>
        <p:spPr>
          <a:xfrm>
            <a:off x="4453128" y="2228850"/>
            <a:ext cx="4343400" cy="685800"/>
          </a:xfrm>
          <a:prstGeom prst="rect">
            <a:avLst/>
          </a:prstGeom>
          <a:noFill/>
          <a:ln/>
        </p:spPr>
        <p:txBody>
          <a:bodyPr wrap="square" lIns="0" tIns="0" rIns="0" bIns="0" rtlCol="0" anchor="ctr"/>
          <a:lstStyle/>
          <a:p>
            <a:pPr marL="0" indent="0" algn="l">
              <a:buNone/>
            </a:pPr>
            <a:r>
              <a:rPr lang="en-US" sz="1200" dirty="0">
                <a:solidFill>
                  <a:srgbClr val="EDEDED"/>
                </a:solidFill>
                <a:latin typeface="Calibri" pitchFamily="34" charset="0"/>
                <a:ea typeface="Calibri" pitchFamily="34" charset="-122"/>
                <a:cs typeface="Calibri" pitchFamily="34" charset="-120"/>
              </a:rPr>
              <a:t>Binary Search</a:t>
            </a:r>
            <a:endParaRPr lang="en-US" sz="1200" dirty="0"/>
          </a:p>
        </p:txBody>
      </p:sp>
      <p:sp>
        <p:nvSpPr>
          <p:cNvPr id="31" name="Shape 29">
            <a:extLst>
              <a:ext uri="{FF2B5EF4-FFF2-40B4-BE49-F238E27FC236}">
                <a16:creationId xmlns:a16="http://schemas.microsoft.com/office/drawing/2014/main" id="{71BB9B55-CFA0-B2B9-D0D5-F9F84E14A700}"/>
              </a:ext>
            </a:extLst>
          </p:cNvPr>
          <p:cNvSpPr/>
          <p:nvPr/>
        </p:nvSpPr>
        <p:spPr>
          <a:xfrm>
            <a:off x="2834640" y="3024378"/>
            <a:ext cx="6035040" cy="685800"/>
          </a:xfrm>
          <a:prstGeom prst="roundRect">
            <a:avLst>
              <a:gd name="adj" fmla="val 10667"/>
            </a:avLst>
          </a:prstGeom>
          <a:solidFill>
            <a:srgbClr val="1A1A2E"/>
          </a:solidFill>
          <a:ln w="9525">
            <a:solidFill>
              <a:srgbClr val="2A2A48"/>
            </a:solidFill>
            <a:prstDash val="solid"/>
          </a:ln>
        </p:spPr>
        <p:txBody>
          <a:bodyPr/>
          <a:lstStyle/>
          <a:p>
            <a:endParaRPr lang="en-US"/>
          </a:p>
        </p:txBody>
      </p:sp>
      <p:sp>
        <p:nvSpPr>
          <p:cNvPr id="32" name="Shape 30">
            <a:extLst>
              <a:ext uri="{FF2B5EF4-FFF2-40B4-BE49-F238E27FC236}">
                <a16:creationId xmlns:a16="http://schemas.microsoft.com/office/drawing/2014/main" id="{591074AD-EEAF-CC1A-C64F-70E9EAAE6F93}"/>
              </a:ext>
            </a:extLst>
          </p:cNvPr>
          <p:cNvSpPr/>
          <p:nvPr/>
        </p:nvSpPr>
        <p:spPr>
          <a:xfrm>
            <a:off x="3035808" y="3175254"/>
            <a:ext cx="384048" cy="384048"/>
          </a:xfrm>
          <a:prstGeom prst="ellipse">
            <a:avLst/>
          </a:prstGeom>
          <a:solidFill>
            <a:srgbClr val="57E3D8"/>
          </a:solidFill>
          <a:ln w="12700">
            <a:solidFill>
              <a:srgbClr val="57E3D8"/>
            </a:solidFill>
            <a:prstDash val="solid"/>
          </a:ln>
        </p:spPr>
        <p:txBody>
          <a:bodyPr/>
          <a:lstStyle/>
          <a:p>
            <a:endParaRPr lang="en-US"/>
          </a:p>
        </p:txBody>
      </p:sp>
      <p:sp>
        <p:nvSpPr>
          <p:cNvPr id="33" name="Text 31">
            <a:extLst>
              <a:ext uri="{FF2B5EF4-FFF2-40B4-BE49-F238E27FC236}">
                <a16:creationId xmlns:a16="http://schemas.microsoft.com/office/drawing/2014/main" id="{72C1DB4C-7A30-FDE6-FBB2-5ED7FA0966C0}"/>
              </a:ext>
            </a:extLst>
          </p:cNvPr>
          <p:cNvSpPr/>
          <p:nvPr/>
        </p:nvSpPr>
        <p:spPr>
          <a:xfrm>
            <a:off x="3035808" y="3175254"/>
            <a:ext cx="384048" cy="384048"/>
          </a:xfrm>
          <a:prstGeom prst="rect">
            <a:avLst/>
          </a:prstGeom>
          <a:noFill/>
          <a:ln/>
        </p:spPr>
        <p:txBody>
          <a:bodyPr wrap="square" lIns="0" tIns="0" rIns="0" bIns="0" rtlCol="0" anchor="ctr"/>
          <a:lstStyle/>
          <a:p>
            <a:pPr marL="0" indent="0" algn="ctr">
              <a:buNone/>
            </a:pPr>
            <a:r>
              <a:rPr lang="en-US" sz="1200" b="1" dirty="0">
                <a:solidFill>
                  <a:srgbClr val="262626"/>
                </a:solidFill>
                <a:latin typeface="Calibri" pitchFamily="34" charset="0"/>
                <a:ea typeface="Calibri" pitchFamily="34" charset="-122"/>
                <a:cs typeface="Calibri" pitchFamily="34" charset="-120"/>
              </a:rPr>
              <a:t>4</a:t>
            </a:r>
            <a:endParaRPr lang="en-US" sz="1200" dirty="0"/>
          </a:p>
        </p:txBody>
      </p:sp>
      <p:sp>
        <p:nvSpPr>
          <p:cNvPr id="34" name="Text 32">
            <a:extLst>
              <a:ext uri="{FF2B5EF4-FFF2-40B4-BE49-F238E27FC236}">
                <a16:creationId xmlns:a16="http://schemas.microsoft.com/office/drawing/2014/main" id="{20D7429D-968C-6CC1-CB67-49328C66BFFF}"/>
              </a:ext>
            </a:extLst>
          </p:cNvPr>
          <p:cNvSpPr/>
          <p:nvPr/>
        </p:nvSpPr>
        <p:spPr>
          <a:xfrm>
            <a:off x="3584448" y="3115818"/>
            <a:ext cx="731520" cy="228600"/>
          </a:xfrm>
          <a:prstGeom prst="rect">
            <a:avLst/>
          </a:prstGeom>
          <a:noFill/>
          <a:ln/>
        </p:spPr>
        <p:txBody>
          <a:bodyPr wrap="square" lIns="0" tIns="0" rIns="0" bIns="0" rtlCol="0" anchor="ctr"/>
          <a:lstStyle/>
          <a:p>
            <a:pPr marL="0" indent="0" algn="l">
              <a:buNone/>
            </a:pPr>
            <a:r>
              <a:rPr lang="en-US" sz="950" b="1" dirty="0">
                <a:solidFill>
                  <a:srgbClr val="57E3D8"/>
                </a:solidFill>
                <a:latin typeface="Calibri" pitchFamily="34" charset="0"/>
                <a:ea typeface="Calibri" pitchFamily="34" charset="-122"/>
                <a:cs typeface="Calibri" pitchFamily="34" charset="-120"/>
              </a:rPr>
              <a:t>Day 4</a:t>
            </a:r>
            <a:endParaRPr lang="en-US" sz="950" dirty="0"/>
          </a:p>
        </p:txBody>
      </p:sp>
      <p:sp>
        <p:nvSpPr>
          <p:cNvPr id="35" name="Shape 33">
            <a:extLst>
              <a:ext uri="{FF2B5EF4-FFF2-40B4-BE49-F238E27FC236}">
                <a16:creationId xmlns:a16="http://schemas.microsoft.com/office/drawing/2014/main" id="{C00E2499-AF17-8119-3E32-ED104BE2C408}"/>
              </a:ext>
            </a:extLst>
          </p:cNvPr>
          <p:cNvSpPr/>
          <p:nvPr/>
        </p:nvSpPr>
        <p:spPr>
          <a:xfrm>
            <a:off x="4361688" y="3170682"/>
            <a:ext cx="0" cy="393192"/>
          </a:xfrm>
          <a:prstGeom prst="line">
            <a:avLst/>
          </a:prstGeom>
          <a:noFill/>
          <a:ln w="9525">
            <a:solidFill>
              <a:srgbClr val="333355"/>
            </a:solidFill>
            <a:prstDash val="solid"/>
          </a:ln>
        </p:spPr>
        <p:txBody>
          <a:bodyPr/>
          <a:lstStyle/>
          <a:p>
            <a:endParaRPr lang="en-US"/>
          </a:p>
        </p:txBody>
      </p:sp>
      <p:sp>
        <p:nvSpPr>
          <p:cNvPr id="36" name="Text 34">
            <a:extLst>
              <a:ext uri="{FF2B5EF4-FFF2-40B4-BE49-F238E27FC236}">
                <a16:creationId xmlns:a16="http://schemas.microsoft.com/office/drawing/2014/main" id="{5CBCAC83-FE09-B41B-A792-27B20AAC85CA}"/>
              </a:ext>
            </a:extLst>
          </p:cNvPr>
          <p:cNvSpPr/>
          <p:nvPr/>
        </p:nvSpPr>
        <p:spPr>
          <a:xfrm>
            <a:off x="4453128" y="3024378"/>
            <a:ext cx="4343400" cy="685800"/>
          </a:xfrm>
          <a:prstGeom prst="rect">
            <a:avLst/>
          </a:prstGeom>
          <a:noFill/>
          <a:ln/>
        </p:spPr>
        <p:txBody>
          <a:bodyPr wrap="square" lIns="0" tIns="0" rIns="0" bIns="0" rtlCol="0" anchor="ctr"/>
          <a:lstStyle/>
          <a:p>
            <a:pPr marL="0" indent="0" algn="l">
              <a:buNone/>
            </a:pPr>
            <a:r>
              <a:rPr lang="en-US" sz="1200" dirty="0">
                <a:solidFill>
                  <a:srgbClr val="EDEDED"/>
                </a:solidFill>
                <a:latin typeface="Calibri" pitchFamily="34" charset="0"/>
                <a:ea typeface="Calibri" pitchFamily="34" charset="-122"/>
                <a:cs typeface="Calibri" pitchFamily="34" charset="-120"/>
              </a:rPr>
              <a:t>Bubble Sort</a:t>
            </a:r>
            <a:endParaRPr lang="en-US" sz="1200" dirty="0"/>
          </a:p>
        </p:txBody>
      </p:sp>
      <p:sp>
        <p:nvSpPr>
          <p:cNvPr id="37" name="Shape 35">
            <a:extLst>
              <a:ext uri="{FF2B5EF4-FFF2-40B4-BE49-F238E27FC236}">
                <a16:creationId xmlns:a16="http://schemas.microsoft.com/office/drawing/2014/main" id="{56457514-840D-17B8-1CA3-22F36C9B7732}"/>
              </a:ext>
            </a:extLst>
          </p:cNvPr>
          <p:cNvSpPr/>
          <p:nvPr/>
        </p:nvSpPr>
        <p:spPr>
          <a:xfrm>
            <a:off x="2834640" y="3819906"/>
            <a:ext cx="6035040" cy="685800"/>
          </a:xfrm>
          <a:prstGeom prst="roundRect">
            <a:avLst>
              <a:gd name="adj" fmla="val 10667"/>
            </a:avLst>
          </a:prstGeom>
          <a:solidFill>
            <a:srgbClr val="1A1A2E"/>
          </a:solidFill>
          <a:ln w="9525">
            <a:solidFill>
              <a:srgbClr val="2A2A48"/>
            </a:solidFill>
            <a:prstDash val="solid"/>
          </a:ln>
        </p:spPr>
        <p:txBody>
          <a:bodyPr/>
          <a:lstStyle/>
          <a:p>
            <a:endParaRPr lang="en-US"/>
          </a:p>
        </p:txBody>
      </p:sp>
      <p:sp>
        <p:nvSpPr>
          <p:cNvPr id="38" name="Shape 36">
            <a:extLst>
              <a:ext uri="{FF2B5EF4-FFF2-40B4-BE49-F238E27FC236}">
                <a16:creationId xmlns:a16="http://schemas.microsoft.com/office/drawing/2014/main" id="{9DF37A64-ED3D-4331-0DFF-1C08C1392C97}"/>
              </a:ext>
            </a:extLst>
          </p:cNvPr>
          <p:cNvSpPr/>
          <p:nvPr/>
        </p:nvSpPr>
        <p:spPr>
          <a:xfrm>
            <a:off x="3035808" y="3970782"/>
            <a:ext cx="384048" cy="384048"/>
          </a:xfrm>
          <a:prstGeom prst="ellipse">
            <a:avLst/>
          </a:prstGeom>
          <a:solidFill>
            <a:srgbClr val="57E3D8"/>
          </a:solidFill>
          <a:ln w="12700">
            <a:solidFill>
              <a:srgbClr val="57E3D8"/>
            </a:solidFill>
            <a:prstDash val="solid"/>
          </a:ln>
        </p:spPr>
        <p:txBody>
          <a:bodyPr/>
          <a:lstStyle/>
          <a:p>
            <a:endParaRPr lang="en-US"/>
          </a:p>
        </p:txBody>
      </p:sp>
      <p:sp>
        <p:nvSpPr>
          <p:cNvPr id="39" name="Text 37">
            <a:extLst>
              <a:ext uri="{FF2B5EF4-FFF2-40B4-BE49-F238E27FC236}">
                <a16:creationId xmlns:a16="http://schemas.microsoft.com/office/drawing/2014/main" id="{4E4D50F2-2BDB-5D2A-D738-38A75BE73FEC}"/>
              </a:ext>
            </a:extLst>
          </p:cNvPr>
          <p:cNvSpPr/>
          <p:nvPr/>
        </p:nvSpPr>
        <p:spPr>
          <a:xfrm>
            <a:off x="3035808" y="3970782"/>
            <a:ext cx="384048" cy="384048"/>
          </a:xfrm>
          <a:prstGeom prst="rect">
            <a:avLst/>
          </a:prstGeom>
          <a:noFill/>
          <a:ln/>
        </p:spPr>
        <p:txBody>
          <a:bodyPr wrap="square" lIns="0" tIns="0" rIns="0" bIns="0" rtlCol="0" anchor="ctr"/>
          <a:lstStyle/>
          <a:p>
            <a:pPr marL="0" indent="0" algn="ctr">
              <a:buNone/>
            </a:pPr>
            <a:r>
              <a:rPr lang="en-US" sz="1200" b="1" dirty="0">
                <a:solidFill>
                  <a:srgbClr val="262626"/>
                </a:solidFill>
                <a:latin typeface="Calibri" pitchFamily="34" charset="0"/>
                <a:ea typeface="Calibri" pitchFamily="34" charset="-122"/>
                <a:cs typeface="Calibri" pitchFamily="34" charset="-120"/>
              </a:rPr>
              <a:t>5</a:t>
            </a:r>
            <a:endParaRPr lang="en-US" sz="1200" dirty="0"/>
          </a:p>
        </p:txBody>
      </p:sp>
      <p:sp>
        <p:nvSpPr>
          <p:cNvPr id="40" name="Text 38">
            <a:extLst>
              <a:ext uri="{FF2B5EF4-FFF2-40B4-BE49-F238E27FC236}">
                <a16:creationId xmlns:a16="http://schemas.microsoft.com/office/drawing/2014/main" id="{AD1F2660-4698-BAA4-6ECB-D1AD7F28A049}"/>
              </a:ext>
            </a:extLst>
          </p:cNvPr>
          <p:cNvSpPr/>
          <p:nvPr/>
        </p:nvSpPr>
        <p:spPr>
          <a:xfrm>
            <a:off x="3584448" y="3911346"/>
            <a:ext cx="731520" cy="228600"/>
          </a:xfrm>
          <a:prstGeom prst="rect">
            <a:avLst/>
          </a:prstGeom>
          <a:noFill/>
          <a:ln/>
        </p:spPr>
        <p:txBody>
          <a:bodyPr wrap="square" lIns="0" tIns="0" rIns="0" bIns="0" rtlCol="0" anchor="ctr"/>
          <a:lstStyle/>
          <a:p>
            <a:pPr marL="0" indent="0" algn="l">
              <a:buNone/>
            </a:pPr>
            <a:r>
              <a:rPr lang="en-US" sz="950" b="1" dirty="0">
                <a:solidFill>
                  <a:srgbClr val="57E3D8"/>
                </a:solidFill>
                <a:latin typeface="Calibri" pitchFamily="34" charset="0"/>
                <a:ea typeface="Calibri" pitchFamily="34" charset="-122"/>
                <a:cs typeface="Calibri" pitchFamily="34" charset="-120"/>
              </a:rPr>
              <a:t>Day 5</a:t>
            </a:r>
            <a:endParaRPr lang="en-US" sz="950" dirty="0"/>
          </a:p>
        </p:txBody>
      </p:sp>
      <p:sp>
        <p:nvSpPr>
          <p:cNvPr id="41" name="Shape 39">
            <a:extLst>
              <a:ext uri="{FF2B5EF4-FFF2-40B4-BE49-F238E27FC236}">
                <a16:creationId xmlns:a16="http://schemas.microsoft.com/office/drawing/2014/main" id="{D73F017A-5189-2942-0DBD-BF028C8152BF}"/>
              </a:ext>
            </a:extLst>
          </p:cNvPr>
          <p:cNvSpPr/>
          <p:nvPr/>
        </p:nvSpPr>
        <p:spPr>
          <a:xfrm>
            <a:off x="4361688" y="3966210"/>
            <a:ext cx="0" cy="393192"/>
          </a:xfrm>
          <a:prstGeom prst="line">
            <a:avLst/>
          </a:prstGeom>
          <a:noFill/>
          <a:ln w="9525">
            <a:solidFill>
              <a:srgbClr val="333355"/>
            </a:solidFill>
            <a:prstDash val="solid"/>
          </a:ln>
        </p:spPr>
        <p:txBody>
          <a:bodyPr/>
          <a:lstStyle/>
          <a:p>
            <a:endParaRPr lang="en-US"/>
          </a:p>
        </p:txBody>
      </p:sp>
      <p:sp>
        <p:nvSpPr>
          <p:cNvPr id="42" name="Text 40">
            <a:extLst>
              <a:ext uri="{FF2B5EF4-FFF2-40B4-BE49-F238E27FC236}">
                <a16:creationId xmlns:a16="http://schemas.microsoft.com/office/drawing/2014/main" id="{6D890D9C-81A6-2603-64EC-51DA4BF1757F}"/>
              </a:ext>
            </a:extLst>
          </p:cNvPr>
          <p:cNvSpPr/>
          <p:nvPr/>
        </p:nvSpPr>
        <p:spPr>
          <a:xfrm>
            <a:off x="4453128" y="3819906"/>
            <a:ext cx="4343400" cy="685800"/>
          </a:xfrm>
          <a:prstGeom prst="rect">
            <a:avLst/>
          </a:prstGeom>
          <a:noFill/>
          <a:ln/>
        </p:spPr>
        <p:txBody>
          <a:bodyPr wrap="square" lIns="0" tIns="0" rIns="0" bIns="0" rtlCol="0" anchor="ctr"/>
          <a:lstStyle/>
          <a:p>
            <a:pPr marL="0" indent="0" algn="l">
              <a:buNone/>
            </a:pPr>
            <a:r>
              <a:rPr lang="en-US" sz="1200" dirty="0">
                <a:solidFill>
                  <a:srgbClr val="EDEDED"/>
                </a:solidFill>
                <a:latin typeface="Calibri" pitchFamily="34" charset="0"/>
                <a:ea typeface="Calibri" pitchFamily="34" charset="-122"/>
                <a:cs typeface="Calibri" pitchFamily="34" charset="-120"/>
              </a:rPr>
              <a:t>Selection &amp; Insertion Sort + comparison</a:t>
            </a:r>
            <a:endParaRPr lang="en-US" sz="1200" dirty="0"/>
          </a:p>
        </p:txBody>
      </p:sp>
    </p:spTree>
    <p:extLst>
      <p:ext uri="{BB962C8B-B14F-4D97-AF65-F5344CB8AC3E}">
        <p14:creationId xmlns:p14="http://schemas.microsoft.com/office/powerpoint/2010/main" val="40896345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313FDBC-5DDD-9D99-0C14-ACF6DD9AF588}"/>
              </a:ext>
            </a:extLst>
          </p:cNvPr>
          <p:cNvSpPr/>
          <p:nvPr/>
        </p:nvSpPr>
        <p:spPr>
          <a:xfrm>
            <a:off x="0" y="0"/>
            <a:ext cx="9144000" cy="64008"/>
          </a:xfrm>
          <a:prstGeom prst="rect">
            <a:avLst/>
          </a:prstGeom>
          <a:solidFill>
            <a:srgbClr val="57E3D8"/>
          </a:solidFill>
          <a:ln w="12700">
            <a:solidFill>
              <a:srgbClr val="57E3D8"/>
            </a:solidFill>
            <a:prstDash val="solid"/>
          </a:ln>
        </p:spPr>
        <p:txBody>
          <a:bodyPr/>
          <a:lstStyle/>
          <a:p>
            <a:endParaRPr lang="en-US"/>
          </a:p>
        </p:txBody>
      </p:sp>
      <p:sp>
        <p:nvSpPr>
          <p:cNvPr id="3" name="Shape 1">
            <a:extLst>
              <a:ext uri="{FF2B5EF4-FFF2-40B4-BE49-F238E27FC236}">
                <a16:creationId xmlns:a16="http://schemas.microsoft.com/office/drawing/2014/main" id="{42E06120-A5BA-0588-9AFC-314C5FEDBA69}"/>
              </a:ext>
            </a:extLst>
          </p:cNvPr>
          <p:cNvSpPr/>
          <p:nvPr/>
        </p:nvSpPr>
        <p:spPr>
          <a:xfrm>
            <a:off x="0" y="5079492"/>
            <a:ext cx="9144000" cy="64008"/>
          </a:xfrm>
          <a:prstGeom prst="rect">
            <a:avLst/>
          </a:prstGeom>
          <a:solidFill>
            <a:srgbClr val="4F29B7"/>
          </a:solidFill>
          <a:ln w="12700">
            <a:solidFill>
              <a:srgbClr val="4F29B7"/>
            </a:solidFill>
            <a:prstDash val="solid"/>
          </a:ln>
        </p:spPr>
        <p:txBody>
          <a:bodyPr/>
          <a:lstStyle/>
          <a:p>
            <a:endParaRPr lang="en-US"/>
          </a:p>
        </p:txBody>
      </p:sp>
      <p:sp>
        <p:nvSpPr>
          <p:cNvPr id="4" name="Shape 2">
            <a:extLst>
              <a:ext uri="{FF2B5EF4-FFF2-40B4-BE49-F238E27FC236}">
                <a16:creationId xmlns:a16="http://schemas.microsoft.com/office/drawing/2014/main" id="{31E6587E-9A93-DCDC-751E-D59249E30628}"/>
              </a:ext>
            </a:extLst>
          </p:cNvPr>
          <p:cNvSpPr/>
          <p:nvPr/>
        </p:nvSpPr>
        <p:spPr>
          <a:xfrm>
            <a:off x="365760" y="274320"/>
            <a:ext cx="1371600" cy="868680"/>
          </a:xfrm>
          <a:prstGeom prst="rect">
            <a:avLst/>
          </a:prstGeom>
          <a:solidFill>
            <a:srgbClr val="57E3D8"/>
          </a:solidFill>
          <a:ln w="12700">
            <a:solidFill>
              <a:srgbClr val="57E3D8"/>
            </a:solidFill>
            <a:prstDash val="solid"/>
          </a:ln>
        </p:spPr>
        <p:txBody>
          <a:bodyPr/>
          <a:lstStyle/>
          <a:p>
            <a:endParaRPr lang="en-US"/>
          </a:p>
        </p:txBody>
      </p:sp>
      <p:sp>
        <p:nvSpPr>
          <p:cNvPr id="5" name="Text 3">
            <a:extLst>
              <a:ext uri="{FF2B5EF4-FFF2-40B4-BE49-F238E27FC236}">
                <a16:creationId xmlns:a16="http://schemas.microsoft.com/office/drawing/2014/main" id="{C67D5CF5-DB10-704C-D443-9DD16F3972AE}"/>
              </a:ext>
            </a:extLst>
          </p:cNvPr>
          <p:cNvSpPr/>
          <p:nvPr/>
        </p:nvSpPr>
        <p:spPr>
          <a:xfrm>
            <a:off x="365760" y="274320"/>
            <a:ext cx="1371600" cy="868680"/>
          </a:xfrm>
          <a:prstGeom prst="rect">
            <a:avLst/>
          </a:prstGeom>
          <a:noFill/>
          <a:ln/>
        </p:spPr>
        <p:txBody>
          <a:bodyPr wrap="square" lIns="0" tIns="0" rIns="0" bIns="0" rtlCol="0" anchor="ctr"/>
          <a:lstStyle/>
          <a:p>
            <a:pPr marL="0" indent="0" algn="ctr">
              <a:buNone/>
            </a:pPr>
            <a:r>
              <a:rPr lang="en-US" sz="1200" b="1" dirty="0">
                <a:solidFill>
                  <a:srgbClr val="0A2020"/>
                </a:solidFill>
                <a:latin typeface="Calibri" pitchFamily="34" charset="0"/>
                <a:ea typeface="Calibri" pitchFamily="34" charset="-122"/>
                <a:cs typeface="Calibri" pitchFamily="34" charset="-120"/>
              </a:rPr>
              <a:t>DAY</a:t>
            </a:r>
            <a:endParaRPr lang="en-US" sz="1200" dirty="0"/>
          </a:p>
          <a:p>
            <a:pPr marL="0" indent="0" algn="ctr">
              <a:buNone/>
            </a:pPr>
            <a:r>
              <a:rPr lang="en-US" sz="3200" b="1" dirty="0">
                <a:solidFill>
                  <a:srgbClr val="0A2020"/>
                </a:solidFill>
                <a:latin typeface="Calibri" pitchFamily="34" charset="0"/>
                <a:ea typeface="Calibri" pitchFamily="34" charset="-122"/>
                <a:cs typeface="Calibri" pitchFamily="34" charset="-120"/>
              </a:rPr>
              <a:t>2</a:t>
            </a:r>
            <a:endParaRPr lang="en-US" sz="1200" dirty="0"/>
          </a:p>
        </p:txBody>
      </p:sp>
      <p:sp>
        <p:nvSpPr>
          <p:cNvPr id="6" name="Text 4">
            <a:extLst>
              <a:ext uri="{FF2B5EF4-FFF2-40B4-BE49-F238E27FC236}">
                <a16:creationId xmlns:a16="http://schemas.microsoft.com/office/drawing/2014/main" id="{2618CB18-7DD1-DE12-784E-1AD843D14FD8}"/>
              </a:ext>
            </a:extLst>
          </p:cNvPr>
          <p:cNvSpPr/>
          <p:nvPr/>
        </p:nvSpPr>
        <p:spPr>
          <a:xfrm>
            <a:off x="4846320" y="292608"/>
            <a:ext cx="4023360" cy="256032"/>
          </a:xfrm>
          <a:prstGeom prst="rect">
            <a:avLst/>
          </a:prstGeom>
          <a:noFill/>
          <a:ln/>
        </p:spPr>
        <p:txBody>
          <a:bodyPr wrap="square" lIns="0" tIns="0" rIns="0" bIns="0" rtlCol="0" anchor="ctr"/>
          <a:lstStyle/>
          <a:p>
            <a:pPr marL="0" indent="0" algn="r">
              <a:buNone/>
            </a:pPr>
            <a:r>
              <a:rPr lang="en-US" sz="1000" dirty="0">
                <a:solidFill>
                  <a:srgbClr val="9AA4B2"/>
                </a:solidFill>
                <a:latin typeface="Calibri" pitchFamily="34" charset="0"/>
                <a:ea typeface="Calibri" pitchFamily="34" charset="-122"/>
                <a:cs typeface="Calibri" pitchFamily="34" charset="-120"/>
              </a:rPr>
              <a:t>Foundation Bootcamp  ·  Programming Fundamentals</a:t>
            </a:r>
            <a:endParaRPr lang="en-US" sz="1000" dirty="0"/>
          </a:p>
        </p:txBody>
      </p:sp>
      <p:sp>
        <p:nvSpPr>
          <p:cNvPr id="7" name="Text 5">
            <a:extLst>
              <a:ext uri="{FF2B5EF4-FFF2-40B4-BE49-F238E27FC236}">
                <a16:creationId xmlns:a16="http://schemas.microsoft.com/office/drawing/2014/main" id="{AB2A5451-C4E1-38AA-05F1-72B37457912F}"/>
              </a:ext>
            </a:extLst>
          </p:cNvPr>
          <p:cNvSpPr/>
          <p:nvPr/>
        </p:nvSpPr>
        <p:spPr>
          <a:xfrm>
            <a:off x="4846320" y="566928"/>
            <a:ext cx="4023360" cy="256032"/>
          </a:xfrm>
          <a:prstGeom prst="rect">
            <a:avLst/>
          </a:prstGeom>
          <a:noFill/>
          <a:ln/>
        </p:spPr>
        <p:txBody>
          <a:bodyPr wrap="square" lIns="0" tIns="0" rIns="0" bIns="0" rtlCol="0" anchor="ctr"/>
          <a:lstStyle/>
          <a:p>
            <a:pPr marL="0" indent="0" algn="r">
              <a:buNone/>
            </a:pPr>
            <a:r>
              <a:rPr lang="en-US" sz="1000" b="1" dirty="0">
                <a:solidFill>
                  <a:srgbClr val="57E3D8"/>
                </a:solidFill>
                <a:latin typeface="Calibri" pitchFamily="34" charset="0"/>
                <a:ea typeface="Calibri" pitchFamily="34" charset="-122"/>
                <a:cs typeface="Calibri" pitchFamily="34" charset="-120"/>
              </a:rPr>
              <a:t>Week 3  ·  Session 2</a:t>
            </a:r>
            <a:endParaRPr lang="en-US" sz="1000" dirty="0"/>
          </a:p>
        </p:txBody>
      </p:sp>
      <p:sp>
        <p:nvSpPr>
          <p:cNvPr id="8" name="Shape 6">
            <a:extLst>
              <a:ext uri="{FF2B5EF4-FFF2-40B4-BE49-F238E27FC236}">
                <a16:creationId xmlns:a16="http://schemas.microsoft.com/office/drawing/2014/main" id="{FAD083D8-2D1F-92BE-05A6-90E9ABE83F24}"/>
              </a:ext>
            </a:extLst>
          </p:cNvPr>
          <p:cNvSpPr/>
          <p:nvPr/>
        </p:nvSpPr>
        <p:spPr>
          <a:xfrm>
            <a:off x="365760" y="1298448"/>
            <a:ext cx="8412480" cy="1463040"/>
          </a:xfrm>
          <a:prstGeom prst="rect">
            <a:avLst/>
          </a:prstGeom>
          <a:solidFill>
            <a:srgbClr val="1A1A2E"/>
          </a:solidFill>
          <a:ln w="19050">
            <a:solidFill>
              <a:srgbClr val="57E3D8"/>
            </a:solidFill>
            <a:prstDash val="solid"/>
          </a:ln>
        </p:spPr>
        <p:txBody>
          <a:bodyPr/>
          <a:lstStyle/>
          <a:p>
            <a:endParaRPr lang="en-US"/>
          </a:p>
        </p:txBody>
      </p:sp>
      <p:sp>
        <p:nvSpPr>
          <p:cNvPr id="9" name="Shape 7">
            <a:extLst>
              <a:ext uri="{FF2B5EF4-FFF2-40B4-BE49-F238E27FC236}">
                <a16:creationId xmlns:a16="http://schemas.microsoft.com/office/drawing/2014/main" id="{0D5704D3-3BF1-E3E5-328C-6FEE31360790}"/>
              </a:ext>
            </a:extLst>
          </p:cNvPr>
          <p:cNvSpPr/>
          <p:nvPr/>
        </p:nvSpPr>
        <p:spPr>
          <a:xfrm>
            <a:off x="365760" y="1298448"/>
            <a:ext cx="109728" cy="1463040"/>
          </a:xfrm>
          <a:prstGeom prst="rect">
            <a:avLst/>
          </a:prstGeom>
          <a:solidFill>
            <a:srgbClr val="57E3D8"/>
          </a:solidFill>
          <a:ln w="12700">
            <a:solidFill>
              <a:srgbClr val="57E3D8"/>
            </a:solidFill>
            <a:prstDash val="solid"/>
          </a:ln>
        </p:spPr>
        <p:txBody>
          <a:bodyPr/>
          <a:lstStyle/>
          <a:p>
            <a:endParaRPr lang="en-US"/>
          </a:p>
        </p:txBody>
      </p:sp>
      <p:sp>
        <p:nvSpPr>
          <p:cNvPr id="10" name="Text 8">
            <a:extLst>
              <a:ext uri="{FF2B5EF4-FFF2-40B4-BE49-F238E27FC236}">
                <a16:creationId xmlns:a16="http://schemas.microsoft.com/office/drawing/2014/main" id="{D3858319-3A4E-91B1-C2EA-3847BFD5134B}"/>
              </a:ext>
            </a:extLst>
          </p:cNvPr>
          <p:cNvSpPr/>
          <p:nvPr/>
        </p:nvSpPr>
        <p:spPr>
          <a:xfrm>
            <a:off x="685800" y="1417320"/>
            <a:ext cx="3657600" cy="274320"/>
          </a:xfrm>
          <a:prstGeom prst="rect">
            <a:avLst/>
          </a:prstGeom>
          <a:noFill/>
          <a:ln/>
        </p:spPr>
        <p:txBody>
          <a:bodyPr wrap="square" lIns="0" tIns="0" rIns="0" bIns="0" rtlCol="0" anchor="ctr"/>
          <a:lstStyle/>
          <a:p>
            <a:pPr marL="0" indent="0" algn="l">
              <a:buNone/>
            </a:pPr>
            <a:r>
              <a:rPr lang="en-US" sz="1300" i="1" dirty="0">
                <a:solidFill>
                  <a:srgbClr val="9AA4B2"/>
                </a:solidFill>
                <a:latin typeface="Calibri" pitchFamily="34" charset="0"/>
                <a:ea typeface="Calibri" pitchFamily="34" charset="-122"/>
                <a:cs typeface="Calibri" pitchFamily="34" charset="-120"/>
              </a:rPr>
              <a:t>Today's Topics</a:t>
            </a:r>
            <a:endParaRPr lang="en-US" sz="1300" dirty="0"/>
          </a:p>
        </p:txBody>
      </p:sp>
      <p:sp>
        <p:nvSpPr>
          <p:cNvPr id="11" name="Text 9">
            <a:extLst>
              <a:ext uri="{FF2B5EF4-FFF2-40B4-BE49-F238E27FC236}">
                <a16:creationId xmlns:a16="http://schemas.microsoft.com/office/drawing/2014/main" id="{F7576970-1165-68A7-9A7D-AF857B550642}"/>
              </a:ext>
            </a:extLst>
          </p:cNvPr>
          <p:cNvSpPr/>
          <p:nvPr/>
        </p:nvSpPr>
        <p:spPr>
          <a:xfrm>
            <a:off x="685800" y="1737360"/>
            <a:ext cx="7955280" cy="914400"/>
          </a:xfrm>
          <a:prstGeom prst="rect">
            <a:avLst/>
          </a:prstGeom>
          <a:noFill/>
          <a:ln/>
        </p:spPr>
        <p:txBody>
          <a:bodyPr wrap="square" lIns="0" tIns="0" rIns="0" bIns="0" rtlCol="0" anchor="ctr"/>
          <a:lstStyle/>
          <a:p>
            <a:pPr marL="0" indent="0" algn="l">
              <a:buNone/>
            </a:pPr>
            <a:r>
              <a:rPr lang="en-US" sz="4000" b="1" dirty="0">
                <a:solidFill>
                  <a:srgbClr val="FFFFFF"/>
                </a:solidFill>
                <a:latin typeface="Calibri" pitchFamily="34" charset="0"/>
                <a:ea typeface="Calibri" pitchFamily="34" charset="-122"/>
                <a:cs typeface="Calibri" pitchFamily="34" charset="-120"/>
              </a:rPr>
              <a:t>Linear Search</a:t>
            </a:r>
            <a:endParaRPr lang="en-US" sz="4000" dirty="0"/>
          </a:p>
        </p:txBody>
      </p:sp>
      <p:sp>
        <p:nvSpPr>
          <p:cNvPr id="12" name="Shape 10">
            <a:extLst>
              <a:ext uri="{FF2B5EF4-FFF2-40B4-BE49-F238E27FC236}">
                <a16:creationId xmlns:a16="http://schemas.microsoft.com/office/drawing/2014/main" id="{8F5FA2A2-3F2F-83FD-13B0-8F916BDF8B68}"/>
              </a:ext>
            </a:extLst>
          </p:cNvPr>
          <p:cNvSpPr/>
          <p:nvPr/>
        </p:nvSpPr>
        <p:spPr>
          <a:xfrm>
            <a:off x="448056" y="2971800"/>
            <a:ext cx="1965960" cy="256032"/>
          </a:xfrm>
          <a:prstGeom prst="rect">
            <a:avLst/>
          </a:prstGeom>
          <a:solidFill>
            <a:srgbClr val="57E3D8"/>
          </a:solidFill>
          <a:ln w="12700">
            <a:solidFill>
              <a:srgbClr val="57E3D8"/>
            </a:solidFill>
            <a:prstDash val="solid"/>
          </a:ln>
        </p:spPr>
        <p:txBody>
          <a:bodyPr/>
          <a:lstStyle/>
          <a:p>
            <a:endParaRPr lang="en-US"/>
          </a:p>
        </p:txBody>
      </p:sp>
      <p:sp>
        <p:nvSpPr>
          <p:cNvPr id="13" name="Text 11">
            <a:extLst>
              <a:ext uri="{FF2B5EF4-FFF2-40B4-BE49-F238E27FC236}">
                <a16:creationId xmlns:a16="http://schemas.microsoft.com/office/drawing/2014/main" id="{44B0681B-DD72-BBAA-CF9F-BAB2A3B94A02}"/>
              </a:ext>
            </a:extLst>
          </p:cNvPr>
          <p:cNvSpPr/>
          <p:nvPr/>
        </p:nvSpPr>
        <p:spPr>
          <a:xfrm>
            <a:off x="557784" y="2990088"/>
            <a:ext cx="457200" cy="219456"/>
          </a:xfrm>
          <a:prstGeom prst="rect">
            <a:avLst/>
          </a:prstGeom>
          <a:noFill/>
          <a:ln/>
        </p:spPr>
        <p:txBody>
          <a:bodyPr wrap="square" lIns="0" tIns="0" rIns="0" bIns="0" rtlCol="0" anchor="ctr"/>
          <a:lstStyle/>
          <a:p>
            <a:pPr marL="0" indent="0" algn="l">
              <a:buNone/>
            </a:pPr>
            <a:r>
              <a:rPr lang="en-US" sz="1000" b="1" dirty="0">
                <a:solidFill>
                  <a:srgbClr val="0A2020"/>
                </a:solidFill>
                <a:latin typeface="Calibri" pitchFamily="34" charset="0"/>
                <a:ea typeface="Calibri" pitchFamily="34" charset="-122"/>
                <a:cs typeface="Calibri" pitchFamily="34" charset="-120"/>
              </a:rPr>
              <a:t>01</a:t>
            </a:r>
            <a:endParaRPr lang="en-US" sz="1000" dirty="0"/>
          </a:p>
        </p:txBody>
      </p:sp>
      <p:sp>
        <p:nvSpPr>
          <p:cNvPr id="14" name="Shape 12">
            <a:extLst>
              <a:ext uri="{FF2B5EF4-FFF2-40B4-BE49-F238E27FC236}">
                <a16:creationId xmlns:a16="http://schemas.microsoft.com/office/drawing/2014/main" id="{863F2B03-F032-249B-78BC-7A866DB649EF}"/>
              </a:ext>
            </a:extLst>
          </p:cNvPr>
          <p:cNvSpPr/>
          <p:nvPr/>
        </p:nvSpPr>
        <p:spPr>
          <a:xfrm>
            <a:off x="448056" y="3227832"/>
            <a:ext cx="1965960" cy="1435608"/>
          </a:xfrm>
          <a:prstGeom prst="rect">
            <a:avLst/>
          </a:prstGeom>
          <a:solidFill>
            <a:srgbClr val="1A1A2E"/>
          </a:solidFill>
          <a:ln w="9525">
            <a:solidFill>
              <a:srgbClr val="2A2A48"/>
            </a:solidFill>
            <a:prstDash val="solid"/>
          </a:ln>
        </p:spPr>
        <p:txBody>
          <a:bodyPr/>
          <a:lstStyle/>
          <a:p>
            <a:endParaRPr lang="en-US"/>
          </a:p>
        </p:txBody>
      </p:sp>
      <p:sp>
        <p:nvSpPr>
          <p:cNvPr id="15" name="Shape 13">
            <a:extLst>
              <a:ext uri="{FF2B5EF4-FFF2-40B4-BE49-F238E27FC236}">
                <a16:creationId xmlns:a16="http://schemas.microsoft.com/office/drawing/2014/main" id="{BEB099FC-10EB-F5A1-0946-B88DCE86BBD5}"/>
              </a:ext>
            </a:extLst>
          </p:cNvPr>
          <p:cNvSpPr/>
          <p:nvPr/>
        </p:nvSpPr>
        <p:spPr>
          <a:xfrm>
            <a:off x="1147572" y="3383280"/>
            <a:ext cx="566928" cy="566928"/>
          </a:xfrm>
          <a:prstGeom prst="ellipse">
            <a:avLst/>
          </a:prstGeom>
          <a:solidFill>
            <a:srgbClr val="1A1A2E"/>
          </a:solidFill>
          <a:ln w="19050">
            <a:solidFill>
              <a:srgbClr val="57E3D8"/>
            </a:solidFill>
            <a:prstDash val="solid"/>
          </a:ln>
        </p:spPr>
        <p:txBody>
          <a:bodyPr/>
          <a:lstStyle/>
          <a:p>
            <a:endParaRPr lang="en-US"/>
          </a:p>
        </p:txBody>
      </p:sp>
      <p:pic>
        <p:nvPicPr>
          <p:cNvPr id="16" name="Image 0" descr="preencoded.png">
            <a:extLst>
              <a:ext uri="{FF2B5EF4-FFF2-40B4-BE49-F238E27FC236}">
                <a16:creationId xmlns:a16="http://schemas.microsoft.com/office/drawing/2014/main" id="{2BB8682D-961A-DD53-45ED-B5032D0B87E6}"/>
              </a:ext>
            </a:extLst>
          </p:cNvPr>
          <p:cNvPicPr>
            <a:picLocks noChangeAspect="1"/>
          </p:cNvPicPr>
          <p:nvPr/>
        </p:nvPicPr>
        <p:blipFill>
          <a:blip r:embed="rId2"/>
          <a:stretch>
            <a:fillRect/>
          </a:stretch>
        </p:blipFill>
        <p:spPr>
          <a:xfrm>
            <a:off x="1284732" y="3520440"/>
            <a:ext cx="292608" cy="292608"/>
          </a:xfrm>
          <a:prstGeom prst="rect">
            <a:avLst/>
          </a:prstGeom>
        </p:spPr>
      </p:pic>
      <p:sp>
        <p:nvSpPr>
          <p:cNvPr id="17" name="Text 14">
            <a:extLst>
              <a:ext uri="{FF2B5EF4-FFF2-40B4-BE49-F238E27FC236}">
                <a16:creationId xmlns:a16="http://schemas.microsoft.com/office/drawing/2014/main" id="{A012E61B-F8AB-45CD-A4DE-3F1327EF0708}"/>
              </a:ext>
            </a:extLst>
          </p:cNvPr>
          <p:cNvSpPr/>
          <p:nvPr/>
        </p:nvSpPr>
        <p:spPr>
          <a:xfrm>
            <a:off x="539496" y="3995928"/>
            <a:ext cx="1783080" cy="256032"/>
          </a:xfrm>
          <a:prstGeom prst="rect">
            <a:avLst/>
          </a:prstGeom>
          <a:noFill/>
          <a:ln/>
        </p:spPr>
        <p:txBody>
          <a:bodyPr wrap="square" lIns="0" tIns="0" rIns="0" bIns="0" rtlCol="0" anchor="ctr"/>
          <a:lstStyle/>
          <a:p>
            <a:pPr marL="0" indent="0" algn="l">
              <a:buNone/>
            </a:pPr>
            <a:r>
              <a:rPr lang="en-US" sz="1250" b="1" dirty="0">
                <a:solidFill>
                  <a:srgbClr val="57E3D8"/>
                </a:solidFill>
                <a:latin typeface="Calibri" pitchFamily="34" charset="0"/>
                <a:ea typeface="Calibri" pitchFamily="34" charset="-122"/>
                <a:cs typeface="Calibri" pitchFamily="34" charset="-120"/>
              </a:rPr>
              <a:t>The Search Problem</a:t>
            </a:r>
            <a:endParaRPr lang="en-US" sz="1250" dirty="0"/>
          </a:p>
        </p:txBody>
      </p:sp>
      <p:sp>
        <p:nvSpPr>
          <p:cNvPr id="18" name="Text 15">
            <a:extLst>
              <a:ext uri="{FF2B5EF4-FFF2-40B4-BE49-F238E27FC236}">
                <a16:creationId xmlns:a16="http://schemas.microsoft.com/office/drawing/2014/main" id="{0E81D8A6-1D5A-C81F-0678-FB64F8ADF628}"/>
              </a:ext>
            </a:extLst>
          </p:cNvPr>
          <p:cNvSpPr/>
          <p:nvPr/>
        </p:nvSpPr>
        <p:spPr>
          <a:xfrm>
            <a:off x="539496" y="4251960"/>
            <a:ext cx="1783080" cy="384048"/>
          </a:xfrm>
          <a:prstGeom prst="rect">
            <a:avLst/>
          </a:prstGeom>
          <a:noFill/>
          <a:ln/>
        </p:spPr>
        <p:txBody>
          <a:bodyPr wrap="square" lIns="0" tIns="0" rIns="0" bIns="0" rtlCol="0" anchor="t"/>
          <a:lstStyle/>
          <a:p>
            <a:pPr marL="0" indent="0" algn="l">
              <a:buNone/>
            </a:pPr>
            <a:r>
              <a:rPr lang="en-US" sz="900" dirty="0">
                <a:solidFill>
                  <a:srgbClr val="EDEDED"/>
                </a:solidFill>
                <a:latin typeface="Calibri" pitchFamily="34" charset="0"/>
                <a:ea typeface="Calibri" pitchFamily="34" charset="-122"/>
                <a:cs typeface="Calibri" pitchFamily="34" charset="-120"/>
              </a:rPr>
              <a:t>Why finding things in a list is one of the most common tasks in programming</a:t>
            </a:r>
            <a:endParaRPr lang="en-US" sz="900" dirty="0"/>
          </a:p>
        </p:txBody>
      </p:sp>
      <p:sp>
        <p:nvSpPr>
          <p:cNvPr id="19" name="Shape 16">
            <a:extLst>
              <a:ext uri="{FF2B5EF4-FFF2-40B4-BE49-F238E27FC236}">
                <a16:creationId xmlns:a16="http://schemas.microsoft.com/office/drawing/2014/main" id="{509FF1E3-7F95-BF77-7884-C3713707FFEB}"/>
              </a:ext>
            </a:extLst>
          </p:cNvPr>
          <p:cNvSpPr/>
          <p:nvPr/>
        </p:nvSpPr>
        <p:spPr>
          <a:xfrm>
            <a:off x="2542032" y="2971800"/>
            <a:ext cx="1965960" cy="256032"/>
          </a:xfrm>
          <a:prstGeom prst="rect">
            <a:avLst/>
          </a:prstGeom>
          <a:solidFill>
            <a:srgbClr val="4A8AF4"/>
          </a:solidFill>
          <a:ln w="12700">
            <a:solidFill>
              <a:srgbClr val="4A8AF4"/>
            </a:solidFill>
            <a:prstDash val="solid"/>
          </a:ln>
        </p:spPr>
        <p:txBody>
          <a:bodyPr/>
          <a:lstStyle/>
          <a:p>
            <a:endParaRPr lang="en-US"/>
          </a:p>
        </p:txBody>
      </p:sp>
      <p:sp>
        <p:nvSpPr>
          <p:cNvPr id="20" name="Text 17">
            <a:extLst>
              <a:ext uri="{FF2B5EF4-FFF2-40B4-BE49-F238E27FC236}">
                <a16:creationId xmlns:a16="http://schemas.microsoft.com/office/drawing/2014/main" id="{D783B96E-964E-98F7-1DBA-93833A52BCDA}"/>
              </a:ext>
            </a:extLst>
          </p:cNvPr>
          <p:cNvSpPr/>
          <p:nvPr/>
        </p:nvSpPr>
        <p:spPr>
          <a:xfrm>
            <a:off x="2651760" y="2990088"/>
            <a:ext cx="457200" cy="219456"/>
          </a:xfrm>
          <a:prstGeom prst="rect">
            <a:avLst/>
          </a:prstGeom>
          <a:noFill/>
          <a:ln/>
        </p:spPr>
        <p:txBody>
          <a:bodyPr wrap="square" lIns="0" tIns="0" rIns="0" bIns="0" rtlCol="0" anchor="ctr"/>
          <a:lstStyle/>
          <a:p>
            <a:pPr marL="0" indent="0" algn="l">
              <a:buNone/>
            </a:pPr>
            <a:r>
              <a:rPr lang="en-US" sz="1000" b="1" dirty="0">
                <a:solidFill>
                  <a:srgbClr val="0A2020"/>
                </a:solidFill>
                <a:latin typeface="Calibri" pitchFamily="34" charset="0"/>
                <a:ea typeface="Calibri" pitchFamily="34" charset="-122"/>
                <a:cs typeface="Calibri" pitchFamily="34" charset="-120"/>
              </a:rPr>
              <a:t>02</a:t>
            </a:r>
            <a:endParaRPr lang="en-US" sz="1000" dirty="0"/>
          </a:p>
        </p:txBody>
      </p:sp>
      <p:sp>
        <p:nvSpPr>
          <p:cNvPr id="21" name="Shape 18">
            <a:extLst>
              <a:ext uri="{FF2B5EF4-FFF2-40B4-BE49-F238E27FC236}">
                <a16:creationId xmlns:a16="http://schemas.microsoft.com/office/drawing/2014/main" id="{6FFD5674-F734-94AD-0AC9-E1FA43B9DB81}"/>
              </a:ext>
            </a:extLst>
          </p:cNvPr>
          <p:cNvSpPr/>
          <p:nvPr/>
        </p:nvSpPr>
        <p:spPr>
          <a:xfrm>
            <a:off x="2542032" y="3227832"/>
            <a:ext cx="1965960" cy="1435608"/>
          </a:xfrm>
          <a:prstGeom prst="rect">
            <a:avLst/>
          </a:prstGeom>
          <a:solidFill>
            <a:srgbClr val="1A1A2E"/>
          </a:solidFill>
          <a:ln w="9525">
            <a:solidFill>
              <a:srgbClr val="2A2A48"/>
            </a:solidFill>
            <a:prstDash val="solid"/>
          </a:ln>
        </p:spPr>
        <p:txBody>
          <a:bodyPr/>
          <a:lstStyle/>
          <a:p>
            <a:endParaRPr lang="en-US"/>
          </a:p>
        </p:txBody>
      </p:sp>
      <p:sp>
        <p:nvSpPr>
          <p:cNvPr id="22" name="Shape 19">
            <a:extLst>
              <a:ext uri="{FF2B5EF4-FFF2-40B4-BE49-F238E27FC236}">
                <a16:creationId xmlns:a16="http://schemas.microsoft.com/office/drawing/2014/main" id="{9D2A8F47-C25F-DCA5-15B0-45A6A6E685C0}"/>
              </a:ext>
            </a:extLst>
          </p:cNvPr>
          <p:cNvSpPr/>
          <p:nvPr/>
        </p:nvSpPr>
        <p:spPr>
          <a:xfrm>
            <a:off x="3241548" y="3383280"/>
            <a:ext cx="566928" cy="566928"/>
          </a:xfrm>
          <a:prstGeom prst="ellipse">
            <a:avLst/>
          </a:prstGeom>
          <a:solidFill>
            <a:srgbClr val="1A1A2E"/>
          </a:solidFill>
          <a:ln w="19050">
            <a:solidFill>
              <a:srgbClr val="4A8AF4"/>
            </a:solidFill>
            <a:prstDash val="solid"/>
          </a:ln>
        </p:spPr>
        <p:txBody>
          <a:bodyPr/>
          <a:lstStyle/>
          <a:p>
            <a:endParaRPr lang="en-US"/>
          </a:p>
        </p:txBody>
      </p:sp>
      <p:pic>
        <p:nvPicPr>
          <p:cNvPr id="23" name="Image 1" descr="preencoded.png">
            <a:extLst>
              <a:ext uri="{FF2B5EF4-FFF2-40B4-BE49-F238E27FC236}">
                <a16:creationId xmlns:a16="http://schemas.microsoft.com/office/drawing/2014/main" id="{412C1324-714A-69F6-27F7-4F9223D687B9}"/>
              </a:ext>
            </a:extLst>
          </p:cNvPr>
          <p:cNvPicPr>
            <a:picLocks noChangeAspect="1"/>
          </p:cNvPicPr>
          <p:nvPr/>
        </p:nvPicPr>
        <p:blipFill>
          <a:blip r:embed="rId3"/>
          <a:stretch>
            <a:fillRect/>
          </a:stretch>
        </p:blipFill>
        <p:spPr>
          <a:xfrm>
            <a:off x="3378708" y="3520440"/>
            <a:ext cx="292608" cy="292608"/>
          </a:xfrm>
          <a:prstGeom prst="rect">
            <a:avLst/>
          </a:prstGeom>
        </p:spPr>
      </p:pic>
      <p:sp>
        <p:nvSpPr>
          <p:cNvPr id="24" name="Text 20">
            <a:extLst>
              <a:ext uri="{FF2B5EF4-FFF2-40B4-BE49-F238E27FC236}">
                <a16:creationId xmlns:a16="http://schemas.microsoft.com/office/drawing/2014/main" id="{1AE054CC-788A-0238-EC96-FA57C021FC40}"/>
              </a:ext>
            </a:extLst>
          </p:cNvPr>
          <p:cNvSpPr/>
          <p:nvPr/>
        </p:nvSpPr>
        <p:spPr>
          <a:xfrm>
            <a:off x="2633472" y="3995928"/>
            <a:ext cx="1783080" cy="256032"/>
          </a:xfrm>
          <a:prstGeom prst="rect">
            <a:avLst/>
          </a:prstGeom>
          <a:noFill/>
          <a:ln/>
        </p:spPr>
        <p:txBody>
          <a:bodyPr wrap="square" lIns="0" tIns="0" rIns="0" bIns="0" rtlCol="0" anchor="ctr"/>
          <a:lstStyle/>
          <a:p>
            <a:pPr marL="0" indent="0" algn="l">
              <a:buNone/>
            </a:pPr>
            <a:r>
              <a:rPr lang="en-US" sz="1250" b="1" dirty="0">
                <a:solidFill>
                  <a:srgbClr val="4A8AF4"/>
                </a:solidFill>
                <a:latin typeface="Calibri" pitchFamily="34" charset="0"/>
                <a:ea typeface="Calibri" pitchFamily="34" charset="-122"/>
                <a:cs typeface="Calibri" pitchFamily="34" charset="-120"/>
              </a:rPr>
              <a:t>The Algorithm</a:t>
            </a:r>
            <a:endParaRPr lang="en-US" sz="1250" dirty="0"/>
          </a:p>
        </p:txBody>
      </p:sp>
      <p:sp>
        <p:nvSpPr>
          <p:cNvPr id="25" name="Text 21">
            <a:extLst>
              <a:ext uri="{FF2B5EF4-FFF2-40B4-BE49-F238E27FC236}">
                <a16:creationId xmlns:a16="http://schemas.microsoft.com/office/drawing/2014/main" id="{C7AFB4C8-A5F1-8E8E-6768-231160D342BA}"/>
              </a:ext>
            </a:extLst>
          </p:cNvPr>
          <p:cNvSpPr/>
          <p:nvPr/>
        </p:nvSpPr>
        <p:spPr>
          <a:xfrm>
            <a:off x="2633472" y="4251960"/>
            <a:ext cx="1783080" cy="384048"/>
          </a:xfrm>
          <a:prstGeom prst="rect">
            <a:avLst/>
          </a:prstGeom>
          <a:noFill/>
          <a:ln/>
        </p:spPr>
        <p:txBody>
          <a:bodyPr wrap="square" lIns="0" tIns="0" rIns="0" bIns="0" rtlCol="0" anchor="t"/>
          <a:lstStyle/>
          <a:p>
            <a:pPr marL="0" indent="0" algn="l">
              <a:buNone/>
            </a:pPr>
            <a:r>
              <a:rPr lang="en-US" sz="900" dirty="0">
                <a:solidFill>
                  <a:srgbClr val="EDEDED"/>
                </a:solidFill>
                <a:latin typeface="Calibri" pitchFamily="34" charset="0"/>
                <a:ea typeface="Calibri" pitchFamily="34" charset="-122"/>
                <a:cs typeface="Calibri" pitchFamily="34" charset="-120"/>
              </a:rPr>
              <a:t>The pseudocode and flowchart for Linear Search, line by line</a:t>
            </a:r>
            <a:endParaRPr lang="en-US" sz="900" dirty="0"/>
          </a:p>
        </p:txBody>
      </p:sp>
      <p:sp>
        <p:nvSpPr>
          <p:cNvPr id="26" name="Shape 22">
            <a:extLst>
              <a:ext uri="{FF2B5EF4-FFF2-40B4-BE49-F238E27FC236}">
                <a16:creationId xmlns:a16="http://schemas.microsoft.com/office/drawing/2014/main" id="{9D78CCF1-008A-5CE5-AC2B-DCEF547897A9}"/>
              </a:ext>
            </a:extLst>
          </p:cNvPr>
          <p:cNvSpPr/>
          <p:nvPr/>
        </p:nvSpPr>
        <p:spPr>
          <a:xfrm>
            <a:off x="4636008" y="2971800"/>
            <a:ext cx="1965960" cy="256032"/>
          </a:xfrm>
          <a:prstGeom prst="rect">
            <a:avLst/>
          </a:prstGeom>
          <a:solidFill>
            <a:srgbClr val="E08845"/>
          </a:solidFill>
          <a:ln w="12700">
            <a:solidFill>
              <a:srgbClr val="E08845"/>
            </a:solidFill>
            <a:prstDash val="solid"/>
          </a:ln>
        </p:spPr>
        <p:txBody>
          <a:bodyPr/>
          <a:lstStyle/>
          <a:p>
            <a:endParaRPr lang="en-US"/>
          </a:p>
        </p:txBody>
      </p:sp>
      <p:sp>
        <p:nvSpPr>
          <p:cNvPr id="27" name="Text 23">
            <a:extLst>
              <a:ext uri="{FF2B5EF4-FFF2-40B4-BE49-F238E27FC236}">
                <a16:creationId xmlns:a16="http://schemas.microsoft.com/office/drawing/2014/main" id="{EB9130E3-8857-DC7C-907D-FE7C1B53B464}"/>
              </a:ext>
            </a:extLst>
          </p:cNvPr>
          <p:cNvSpPr/>
          <p:nvPr/>
        </p:nvSpPr>
        <p:spPr>
          <a:xfrm>
            <a:off x="4745736" y="2990088"/>
            <a:ext cx="457200" cy="219456"/>
          </a:xfrm>
          <a:prstGeom prst="rect">
            <a:avLst/>
          </a:prstGeom>
          <a:noFill/>
          <a:ln/>
        </p:spPr>
        <p:txBody>
          <a:bodyPr wrap="square" lIns="0" tIns="0" rIns="0" bIns="0" rtlCol="0" anchor="ctr"/>
          <a:lstStyle/>
          <a:p>
            <a:pPr marL="0" indent="0" algn="l">
              <a:buNone/>
            </a:pPr>
            <a:r>
              <a:rPr lang="en-US" sz="1000" b="1" dirty="0">
                <a:solidFill>
                  <a:srgbClr val="0A2020"/>
                </a:solidFill>
                <a:latin typeface="Calibri" pitchFamily="34" charset="0"/>
                <a:ea typeface="Calibri" pitchFamily="34" charset="-122"/>
                <a:cs typeface="Calibri" pitchFamily="34" charset="-120"/>
              </a:rPr>
              <a:t>03</a:t>
            </a:r>
            <a:endParaRPr lang="en-US" sz="1000" dirty="0"/>
          </a:p>
        </p:txBody>
      </p:sp>
      <p:sp>
        <p:nvSpPr>
          <p:cNvPr id="28" name="Shape 24">
            <a:extLst>
              <a:ext uri="{FF2B5EF4-FFF2-40B4-BE49-F238E27FC236}">
                <a16:creationId xmlns:a16="http://schemas.microsoft.com/office/drawing/2014/main" id="{015392AA-FAA7-FAF0-16B9-DB2D2E80ABE9}"/>
              </a:ext>
            </a:extLst>
          </p:cNvPr>
          <p:cNvSpPr/>
          <p:nvPr/>
        </p:nvSpPr>
        <p:spPr>
          <a:xfrm>
            <a:off x="4636008" y="3227832"/>
            <a:ext cx="1965960" cy="1435608"/>
          </a:xfrm>
          <a:prstGeom prst="rect">
            <a:avLst/>
          </a:prstGeom>
          <a:solidFill>
            <a:srgbClr val="1A1A2E"/>
          </a:solidFill>
          <a:ln w="9525">
            <a:solidFill>
              <a:srgbClr val="2A2A48"/>
            </a:solidFill>
            <a:prstDash val="solid"/>
          </a:ln>
        </p:spPr>
        <p:txBody>
          <a:bodyPr/>
          <a:lstStyle/>
          <a:p>
            <a:endParaRPr lang="en-US"/>
          </a:p>
        </p:txBody>
      </p:sp>
      <p:sp>
        <p:nvSpPr>
          <p:cNvPr id="29" name="Shape 25">
            <a:extLst>
              <a:ext uri="{FF2B5EF4-FFF2-40B4-BE49-F238E27FC236}">
                <a16:creationId xmlns:a16="http://schemas.microsoft.com/office/drawing/2014/main" id="{35E4AB96-40B3-FFCD-7B2C-BEC27DB50F93}"/>
              </a:ext>
            </a:extLst>
          </p:cNvPr>
          <p:cNvSpPr/>
          <p:nvPr/>
        </p:nvSpPr>
        <p:spPr>
          <a:xfrm>
            <a:off x="5335524" y="3383280"/>
            <a:ext cx="566928" cy="566928"/>
          </a:xfrm>
          <a:prstGeom prst="ellipse">
            <a:avLst/>
          </a:prstGeom>
          <a:solidFill>
            <a:srgbClr val="1A1A2E"/>
          </a:solidFill>
          <a:ln w="19050">
            <a:solidFill>
              <a:srgbClr val="E08845"/>
            </a:solidFill>
            <a:prstDash val="solid"/>
          </a:ln>
        </p:spPr>
        <p:txBody>
          <a:bodyPr/>
          <a:lstStyle/>
          <a:p>
            <a:endParaRPr lang="en-US"/>
          </a:p>
        </p:txBody>
      </p:sp>
      <p:pic>
        <p:nvPicPr>
          <p:cNvPr id="30" name="Image 2" descr="preencoded.png">
            <a:extLst>
              <a:ext uri="{FF2B5EF4-FFF2-40B4-BE49-F238E27FC236}">
                <a16:creationId xmlns:a16="http://schemas.microsoft.com/office/drawing/2014/main" id="{B4F08430-4DE3-A123-6DE3-E6E4102C890A}"/>
              </a:ext>
            </a:extLst>
          </p:cNvPr>
          <p:cNvPicPr>
            <a:picLocks noChangeAspect="1"/>
          </p:cNvPicPr>
          <p:nvPr/>
        </p:nvPicPr>
        <p:blipFill>
          <a:blip r:embed="rId4"/>
          <a:stretch>
            <a:fillRect/>
          </a:stretch>
        </p:blipFill>
        <p:spPr>
          <a:xfrm>
            <a:off x="5472684" y="3520440"/>
            <a:ext cx="292608" cy="292608"/>
          </a:xfrm>
          <a:prstGeom prst="rect">
            <a:avLst/>
          </a:prstGeom>
        </p:spPr>
      </p:pic>
      <p:sp>
        <p:nvSpPr>
          <p:cNvPr id="31" name="Text 26">
            <a:extLst>
              <a:ext uri="{FF2B5EF4-FFF2-40B4-BE49-F238E27FC236}">
                <a16:creationId xmlns:a16="http://schemas.microsoft.com/office/drawing/2014/main" id="{C70E47AA-2F2E-EEB7-BD8B-85FCC7D175B6}"/>
              </a:ext>
            </a:extLst>
          </p:cNvPr>
          <p:cNvSpPr/>
          <p:nvPr/>
        </p:nvSpPr>
        <p:spPr>
          <a:xfrm>
            <a:off x="4727448" y="3995928"/>
            <a:ext cx="1783080" cy="256032"/>
          </a:xfrm>
          <a:prstGeom prst="rect">
            <a:avLst/>
          </a:prstGeom>
          <a:noFill/>
          <a:ln/>
        </p:spPr>
        <p:txBody>
          <a:bodyPr wrap="square" lIns="0" tIns="0" rIns="0" bIns="0" rtlCol="0" anchor="ctr"/>
          <a:lstStyle/>
          <a:p>
            <a:pPr marL="0" indent="0" algn="l">
              <a:buNone/>
            </a:pPr>
            <a:r>
              <a:rPr lang="en-US" sz="1250" b="1" dirty="0">
                <a:solidFill>
                  <a:srgbClr val="E08845"/>
                </a:solidFill>
                <a:latin typeface="Calibri" pitchFamily="34" charset="0"/>
                <a:ea typeface="Calibri" pitchFamily="34" charset="-122"/>
                <a:cs typeface="Calibri" pitchFamily="34" charset="-120"/>
              </a:rPr>
              <a:t>Tracing the Code</a:t>
            </a:r>
            <a:endParaRPr lang="en-US" sz="1250" dirty="0"/>
          </a:p>
        </p:txBody>
      </p:sp>
      <p:sp>
        <p:nvSpPr>
          <p:cNvPr id="32" name="Text 27">
            <a:extLst>
              <a:ext uri="{FF2B5EF4-FFF2-40B4-BE49-F238E27FC236}">
                <a16:creationId xmlns:a16="http://schemas.microsoft.com/office/drawing/2014/main" id="{8ECCBAFC-4FF7-E939-9F85-F5EFDC3F0AFF}"/>
              </a:ext>
            </a:extLst>
          </p:cNvPr>
          <p:cNvSpPr/>
          <p:nvPr/>
        </p:nvSpPr>
        <p:spPr>
          <a:xfrm>
            <a:off x="4727448" y="4251960"/>
            <a:ext cx="1783080" cy="384048"/>
          </a:xfrm>
          <a:prstGeom prst="rect">
            <a:avLst/>
          </a:prstGeom>
          <a:noFill/>
          <a:ln/>
        </p:spPr>
        <p:txBody>
          <a:bodyPr wrap="square" lIns="0" tIns="0" rIns="0" bIns="0" rtlCol="0" anchor="t"/>
          <a:lstStyle/>
          <a:p>
            <a:pPr marL="0" indent="0" algn="l">
              <a:buNone/>
            </a:pPr>
            <a:r>
              <a:rPr lang="en-US" sz="900" dirty="0">
                <a:solidFill>
                  <a:srgbClr val="EDEDED"/>
                </a:solidFill>
                <a:latin typeface="Calibri" pitchFamily="34" charset="0"/>
                <a:ea typeface="Calibri" pitchFamily="34" charset="-122"/>
                <a:cs typeface="Calibri" pitchFamily="34" charset="-120"/>
              </a:rPr>
              <a:t>Walking through real examples and tracking variables at every step</a:t>
            </a:r>
            <a:endParaRPr lang="en-US" sz="900" dirty="0"/>
          </a:p>
        </p:txBody>
      </p:sp>
      <p:sp>
        <p:nvSpPr>
          <p:cNvPr id="33" name="Shape 28">
            <a:extLst>
              <a:ext uri="{FF2B5EF4-FFF2-40B4-BE49-F238E27FC236}">
                <a16:creationId xmlns:a16="http://schemas.microsoft.com/office/drawing/2014/main" id="{7610D32B-5A46-C321-DF99-3AA4DD031AF2}"/>
              </a:ext>
            </a:extLst>
          </p:cNvPr>
          <p:cNvSpPr/>
          <p:nvPr/>
        </p:nvSpPr>
        <p:spPr>
          <a:xfrm>
            <a:off x="6729984" y="2971800"/>
            <a:ext cx="1965960" cy="256032"/>
          </a:xfrm>
          <a:prstGeom prst="rect">
            <a:avLst/>
          </a:prstGeom>
          <a:solidFill>
            <a:srgbClr val="9B7EDA"/>
          </a:solidFill>
          <a:ln w="12700">
            <a:solidFill>
              <a:srgbClr val="9B7EDA"/>
            </a:solidFill>
            <a:prstDash val="solid"/>
          </a:ln>
        </p:spPr>
        <p:txBody>
          <a:bodyPr/>
          <a:lstStyle/>
          <a:p>
            <a:endParaRPr lang="en-US"/>
          </a:p>
        </p:txBody>
      </p:sp>
      <p:sp>
        <p:nvSpPr>
          <p:cNvPr id="34" name="Text 29">
            <a:extLst>
              <a:ext uri="{FF2B5EF4-FFF2-40B4-BE49-F238E27FC236}">
                <a16:creationId xmlns:a16="http://schemas.microsoft.com/office/drawing/2014/main" id="{B950023F-CCE1-382C-FDCF-D5C19DE609C4}"/>
              </a:ext>
            </a:extLst>
          </p:cNvPr>
          <p:cNvSpPr/>
          <p:nvPr/>
        </p:nvSpPr>
        <p:spPr>
          <a:xfrm>
            <a:off x="6839712" y="2990088"/>
            <a:ext cx="457200" cy="219456"/>
          </a:xfrm>
          <a:prstGeom prst="rect">
            <a:avLst/>
          </a:prstGeom>
          <a:noFill/>
          <a:ln/>
        </p:spPr>
        <p:txBody>
          <a:bodyPr wrap="square" lIns="0" tIns="0" rIns="0" bIns="0" rtlCol="0" anchor="ctr"/>
          <a:lstStyle/>
          <a:p>
            <a:pPr marL="0" indent="0" algn="l">
              <a:buNone/>
            </a:pPr>
            <a:r>
              <a:rPr lang="en-US" sz="1000" b="1" dirty="0">
                <a:solidFill>
                  <a:srgbClr val="0A2020"/>
                </a:solidFill>
                <a:latin typeface="Calibri" pitchFamily="34" charset="0"/>
                <a:ea typeface="Calibri" pitchFamily="34" charset="-122"/>
                <a:cs typeface="Calibri" pitchFamily="34" charset="-120"/>
              </a:rPr>
              <a:t>04</a:t>
            </a:r>
            <a:endParaRPr lang="en-US" sz="1000" dirty="0"/>
          </a:p>
        </p:txBody>
      </p:sp>
      <p:sp>
        <p:nvSpPr>
          <p:cNvPr id="35" name="Shape 30">
            <a:extLst>
              <a:ext uri="{FF2B5EF4-FFF2-40B4-BE49-F238E27FC236}">
                <a16:creationId xmlns:a16="http://schemas.microsoft.com/office/drawing/2014/main" id="{3BDC98BD-C247-517E-A975-095E85D2D3D7}"/>
              </a:ext>
            </a:extLst>
          </p:cNvPr>
          <p:cNvSpPr/>
          <p:nvPr/>
        </p:nvSpPr>
        <p:spPr>
          <a:xfrm>
            <a:off x="6729984" y="3227832"/>
            <a:ext cx="1965960" cy="1435608"/>
          </a:xfrm>
          <a:prstGeom prst="rect">
            <a:avLst/>
          </a:prstGeom>
          <a:solidFill>
            <a:srgbClr val="1A1A2E"/>
          </a:solidFill>
          <a:ln w="9525">
            <a:solidFill>
              <a:srgbClr val="2A2A48"/>
            </a:solidFill>
            <a:prstDash val="solid"/>
          </a:ln>
        </p:spPr>
        <p:txBody>
          <a:bodyPr/>
          <a:lstStyle/>
          <a:p>
            <a:endParaRPr lang="en-US"/>
          </a:p>
        </p:txBody>
      </p:sp>
      <p:sp>
        <p:nvSpPr>
          <p:cNvPr id="36" name="Shape 31">
            <a:extLst>
              <a:ext uri="{FF2B5EF4-FFF2-40B4-BE49-F238E27FC236}">
                <a16:creationId xmlns:a16="http://schemas.microsoft.com/office/drawing/2014/main" id="{C4514252-80E3-795E-49A1-898709149828}"/>
              </a:ext>
            </a:extLst>
          </p:cNvPr>
          <p:cNvSpPr/>
          <p:nvPr/>
        </p:nvSpPr>
        <p:spPr>
          <a:xfrm>
            <a:off x="7429500" y="3383280"/>
            <a:ext cx="566928" cy="566928"/>
          </a:xfrm>
          <a:prstGeom prst="ellipse">
            <a:avLst/>
          </a:prstGeom>
          <a:solidFill>
            <a:srgbClr val="1A1A2E"/>
          </a:solidFill>
          <a:ln w="19050">
            <a:solidFill>
              <a:srgbClr val="9B7EDA"/>
            </a:solidFill>
            <a:prstDash val="solid"/>
          </a:ln>
        </p:spPr>
        <p:txBody>
          <a:bodyPr/>
          <a:lstStyle/>
          <a:p>
            <a:endParaRPr lang="en-US"/>
          </a:p>
        </p:txBody>
      </p:sp>
      <p:pic>
        <p:nvPicPr>
          <p:cNvPr id="37" name="Image 3" descr="preencoded.png">
            <a:extLst>
              <a:ext uri="{FF2B5EF4-FFF2-40B4-BE49-F238E27FC236}">
                <a16:creationId xmlns:a16="http://schemas.microsoft.com/office/drawing/2014/main" id="{347FB59D-AC00-AA50-8B4C-5C338DD2508F}"/>
              </a:ext>
            </a:extLst>
          </p:cNvPr>
          <p:cNvPicPr>
            <a:picLocks noChangeAspect="1"/>
          </p:cNvPicPr>
          <p:nvPr/>
        </p:nvPicPr>
        <p:blipFill>
          <a:blip r:embed="rId5"/>
          <a:stretch>
            <a:fillRect/>
          </a:stretch>
        </p:blipFill>
        <p:spPr>
          <a:xfrm>
            <a:off x="7566660" y="3520440"/>
            <a:ext cx="292608" cy="292608"/>
          </a:xfrm>
          <a:prstGeom prst="rect">
            <a:avLst/>
          </a:prstGeom>
        </p:spPr>
      </p:pic>
      <p:sp>
        <p:nvSpPr>
          <p:cNvPr id="38" name="Text 32">
            <a:extLst>
              <a:ext uri="{FF2B5EF4-FFF2-40B4-BE49-F238E27FC236}">
                <a16:creationId xmlns:a16="http://schemas.microsoft.com/office/drawing/2014/main" id="{871EB010-BBA8-F194-F2DE-05B41DDB8680}"/>
              </a:ext>
            </a:extLst>
          </p:cNvPr>
          <p:cNvSpPr/>
          <p:nvPr/>
        </p:nvSpPr>
        <p:spPr>
          <a:xfrm>
            <a:off x="6821424" y="3995928"/>
            <a:ext cx="1783080" cy="256032"/>
          </a:xfrm>
          <a:prstGeom prst="rect">
            <a:avLst/>
          </a:prstGeom>
          <a:noFill/>
          <a:ln/>
        </p:spPr>
        <p:txBody>
          <a:bodyPr wrap="square" lIns="0" tIns="0" rIns="0" bIns="0" rtlCol="0" anchor="ctr"/>
          <a:lstStyle/>
          <a:p>
            <a:pPr marL="0" indent="0" algn="l">
              <a:buNone/>
            </a:pPr>
            <a:r>
              <a:rPr lang="en-US" sz="1250" b="1" dirty="0">
                <a:solidFill>
                  <a:srgbClr val="9B7EDA"/>
                </a:solidFill>
                <a:latin typeface="Calibri" pitchFamily="34" charset="0"/>
                <a:ea typeface="Calibri" pitchFamily="34" charset="-122"/>
                <a:cs typeface="Calibri" pitchFamily="34" charset="-120"/>
              </a:rPr>
              <a:t>Performance</a:t>
            </a:r>
            <a:endParaRPr lang="en-US" sz="1250" dirty="0"/>
          </a:p>
        </p:txBody>
      </p:sp>
      <p:sp>
        <p:nvSpPr>
          <p:cNvPr id="39" name="Text 33">
            <a:extLst>
              <a:ext uri="{FF2B5EF4-FFF2-40B4-BE49-F238E27FC236}">
                <a16:creationId xmlns:a16="http://schemas.microsoft.com/office/drawing/2014/main" id="{B1957D08-2E17-FA5D-3577-06DB3E45697E}"/>
              </a:ext>
            </a:extLst>
          </p:cNvPr>
          <p:cNvSpPr/>
          <p:nvPr/>
        </p:nvSpPr>
        <p:spPr>
          <a:xfrm>
            <a:off x="6821424" y="4251960"/>
            <a:ext cx="1783080" cy="384048"/>
          </a:xfrm>
          <a:prstGeom prst="rect">
            <a:avLst/>
          </a:prstGeom>
          <a:noFill/>
          <a:ln/>
        </p:spPr>
        <p:txBody>
          <a:bodyPr wrap="square" lIns="0" tIns="0" rIns="0" bIns="0" rtlCol="0" anchor="t"/>
          <a:lstStyle/>
          <a:p>
            <a:pPr marL="0" indent="0" algn="l">
              <a:buNone/>
            </a:pPr>
            <a:r>
              <a:rPr lang="en-US" sz="900" dirty="0">
                <a:solidFill>
                  <a:srgbClr val="EDEDED"/>
                </a:solidFill>
                <a:latin typeface="Calibri" pitchFamily="34" charset="0"/>
                <a:ea typeface="Calibri" pitchFamily="34" charset="-122"/>
                <a:cs typeface="Calibri" pitchFamily="34" charset="-120"/>
              </a:rPr>
              <a:t>Best, worst, and average cases — and when Linear Search is the right choice</a:t>
            </a:r>
            <a:endParaRPr lang="en-US" sz="900" dirty="0"/>
          </a:p>
        </p:txBody>
      </p:sp>
      <p:sp>
        <p:nvSpPr>
          <p:cNvPr id="40" name="Text 34">
            <a:extLst>
              <a:ext uri="{FF2B5EF4-FFF2-40B4-BE49-F238E27FC236}">
                <a16:creationId xmlns:a16="http://schemas.microsoft.com/office/drawing/2014/main" id="{A0849E45-C363-F4CE-04BD-BDB92DA86730}"/>
              </a:ext>
            </a:extLst>
          </p:cNvPr>
          <p:cNvSpPr/>
          <p:nvPr/>
        </p:nvSpPr>
        <p:spPr>
          <a:xfrm>
            <a:off x="0" y="4777740"/>
            <a:ext cx="9144000" cy="274320"/>
          </a:xfrm>
          <a:prstGeom prst="rect">
            <a:avLst/>
          </a:prstGeom>
          <a:noFill/>
          <a:ln/>
        </p:spPr>
        <p:txBody>
          <a:bodyPr wrap="square" lIns="0" tIns="0" rIns="0" bIns="0" rtlCol="0" anchor="ctr"/>
          <a:lstStyle/>
          <a:p>
            <a:pPr marL="0" indent="0" algn="ctr">
              <a:buNone/>
            </a:pPr>
            <a:r>
              <a:rPr lang="en-US" sz="1100" i="1" dirty="0">
                <a:solidFill>
                  <a:srgbClr val="9AA4B2"/>
                </a:solidFill>
                <a:latin typeface="Calibri" pitchFamily="34" charset="0"/>
                <a:ea typeface="Calibri" pitchFamily="34" charset="-122"/>
                <a:cs typeface="Calibri" pitchFamily="34" charset="-120"/>
              </a:rPr>
              <a:t>Let's get started 🚀</a:t>
            </a:r>
            <a:endParaRPr lang="en-US" sz="1100" dirty="0"/>
          </a:p>
        </p:txBody>
      </p:sp>
    </p:spTree>
    <p:extLst>
      <p:ext uri="{BB962C8B-B14F-4D97-AF65-F5344CB8AC3E}">
        <p14:creationId xmlns:p14="http://schemas.microsoft.com/office/powerpoint/2010/main" val="14416587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Shape 76"/>
        <p:cNvGrpSpPr/>
        <p:nvPr/>
      </p:nvGrpSpPr>
      <p:grpSpPr>
        <a:xfrm>
          <a:off x="0" y="0"/>
          <a:ext cx="0" cy="0"/>
          <a:chOff x="0" y="0"/>
          <a:chExt cx="0" cy="0"/>
        </a:xfrm>
      </p:grpSpPr>
      <p:sp>
        <p:nvSpPr>
          <p:cNvPr id="48" name="Shape 0">
            <a:extLst>
              <a:ext uri="{FF2B5EF4-FFF2-40B4-BE49-F238E27FC236}">
                <a16:creationId xmlns:a16="http://schemas.microsoft.com/office/drawing/2014/main" id="{1B6EA25D-920F-01B3-FB70-D7432FF6B1A1}"/>
              </a:ext>
            </a:extLst>
          </p:cNvPr>
          <p:cNvSpPr/>
          <p:nvPr/>
        </p:nvSpPr>
        <p:spPr>
          <a:xfrm>
            <a:off x="0" y="0"/>
            <a:ext cx="9144000" cy="73152"/>
          </a:xfrm>
          <a:prstGeom prst="rect">
            <a:avLst/>
          </a:prstGeom>
          <a:solidFill>
            <a:srgbClr val="57E3D8"/>
          </a:solidFill>
          <a:ln w="12700">
            <a:solidFill>
              <a:srgbClr val="57E3D8"/>
            </a:solidFill>
            <a:prstDash val="solid"/>
          </a:ln>
        </p:spPr>
        <p:txBody>
          <a:bodyPr/>
          <a:lstStyle/>
          <a:p>
            <a:endParaRPr lang="en-US"/>
          </a:p>
        </p:txBody>
      </p:sp>
      <p:sp>
        <p:nvSpPr>
          <p:cNvPr id="49" name="Shape 1">
            <a:extLst>
              <a:ext uri="{FF2B5EF4-FFF2-40B4-BE49-F238E27FC236}">
                <a16:creationId xmlns:a16="http://schemas.microsoft.com/office/drawing/2014/main" id="{AEA1A76F-C3F1-CC2E-D0A4-B9D7109230A5}"/>
              </a:ext>
            </a:extLst>
          </p:cNvPr>
          <p:cNvSpPr/>
          <p:nvPr/>
        </p:nvSpPr>
        <p:spPr>
          <a:xfrm>
            <a:off x="0" y="5070348"/>
            <a:ext cx="9144000" cy="73152"/>
          </a:xfrm>
          <a:prstGeom prst="rect">
            <a:avLst/>
          </a:prstGeom>
          <a:solidFill>
            <a:srgbClr val="4F29B7"/>
          </a:solidFill>
          <a:ln w="12700">
            <a:solidFill>
              <a:srgbClr val="4F29B7"/>
            </a:solidFill>
            <a:prstDash val="solid"/>
          </a:ln>
        </p:spPr>
        <p:txBody>
          <a:bodyPr/>
          <a:lstStyle/>
          <a:p>
            <a:endParaRPr lang="en-US"/>
          </a:p>
        </p:txBody>
      </p:sp>
      <p:sp>
        <p:nvSpPr>
          <p:cNvPr id="50" name="Shape 2">
            <a:extLst>
              <a:ext uri="{FF2B5EF4-FFF2-40B4-BE49-F238E27FC236}">
                <a16:creationId xmlns:a16="http://schemas.microsoft.com/office/drawing/2014/main" id="{FC4C1BC1-0746-CC9A-B8CF-995FD26AE8B3}"/>
              </a:ext>
            </a:extLst>
          </p:cNvPr>
          <p:cNvSpPr/>
          <p:nvPr/>
        </p:nvSpPr>
        <p:spPr>
          <a:xfrm>
            <a:off x="0" y="73152"/>
            <a:ext cx="9144000" cy="658368"/>
          </a:xfrm>
          <a:prstGeom prst="rect">
            <a:avLst/>
          </a:prstGeom>
          <a:solidFill>
            <a:srgbClr val="262626"/>
          </a:solidFill>
          <a:ln w="12700">
            <a:solidFill>
              <a:srgbClr val="262626"/>
            </a:solidFill>
            <a:prstDash val="solid"/>
          </a:ln>
        </p:spPr>
        <p:txBody>
          <a:bodyPr/>
          <a:lstStyle/>
          <a:p>
            <a:endParaRPr lang="en-US"/>
          </a:p>
        </p:txBody>
      </p:sp>
      <p:sp>
        <p:nvSpPr>
          <p:cNvPr id="51" name="Text 3">
            <a:extLst>
              <a:ext uri="{FF2B5EF4-FFF2-40B4-BE49-F238E27FC236}">
                <a16:creationId xmlns:a16="http://schemas.microsoft.com/office/drawing/2014/main" id="{821F3991-3C81-09DF-1A56-9976147ADD80}"/>
              </a:ext>
            </a:extLst>
          </p:cNvPr>
          <p:cNvSpPr/>
          <p:nvPr/>
        </p:nvSpPr>
        <p:spPr>
          <a:xfrm>
            <a:off x="365760" y="73152"/>
            <a:ext cx="8412480" cy="658368"/>
          </a:xfrm>
          <a:prstGeom prst="rect">
            <a:avLst/>
          </a:prstGeom>
          <a:noFill/>
          <a:ln/>
        </p:spPr>
        <p:txBody>
          <a:bodyPr wrap="square" lIns="0" tIns="0" rIns="0" bIns="0" rtlCol="0" anchor="ctr"/>
          <a:lstStyle/>
          <a:p>
            <a:pPr marL="0" indent="0">
              <a:buNone/>
            </a:pPr>
            <a:r>
              <a:rPr lang="en-US" sz="2000" b="1" dirty="0">
                <a:solidFill>
                  <a:srgbClr val="57E3D8"/>
                </a:solidFill>
                <a:latin typeface="Calibri" pitchFamily="34" charset="0"/>
                <a:ea typeface="Calibri" pitchFamily="34" charset="-122"/>
                <a:cs typeface="Calibri" pitchFamily="34" charset="-120"/>
              </a:rPr>
              <a:t>Quick recap from Day 1</a:t>
            </a:r>
            <a:endParaRPr lang="en-US" sz="2000" dirty="0"/>
          </a:p>
        </p:txBody>
      </p:sp>
      <p:sp>
        <p:nvSpPr>
          <p:cNvPr id="52" name="Shape 4">
            <a:extLst>
              <a:ext uri="{FF2B5EF4-FFF2-40B4-BE49-F238E27FC236}">
                <a16:creationId xmlns:a16="http://schemas.microsoft.com/office/drawing/2014/main" id="{FC21FB84-F6AB-7665-1308-5BF721CA043C}"/>
              </a:ext>
            </a:extLst>
          </p:cNvPr>
          <p:cNvSpPr/>
          <p:nvPr/>
        </p:nvSpPr>
        <p:spPr>
          <a:xfrm>
            <a:off x="274320" y="841248"/>
            <a:ext cx="8595360" cy="4133088"/>
          </a:xfrm>
          <a:prstGeom prst="roundRect">
            <a:avLst>
              <a:gd name="adj" fmla="val 2655"/>
            </a:avLst>
          </a:prstGeom>
          <a:solidFill>
            <a:srgbClr val="1A1040"/>
          </a:solidFill>
          <a:ln w="6350">
            <a:solidFill>
              <a:srgbClr val="333366"/>
            </a:solidFill>
            <a:prstDash val="solid"/>
          </a:ln>
        </p:spPr>
        <p:txBody>
          <a:bodyPr/>
          <a:lstStyle/>
          <a:p>
            <a:endParaRPr lang="en-US"/>
          </a:p>
        </p:txBody>
      </p:sp>
      <p:sp>
        <p:nvSpPr>
          <p:cNvPr id="53" name="Text 5">
            <a:extLst>
              <a:ext uri="{FF2B5EF4-FFF2-40B4-BE49-F238E27FC236}">
                <a16:creationId xmlns:a16="http://schemas.microsoft.com/office/drawing/2014/main" id="{5505480E-9E51-0769-FE17-12FDA406D690}"/>
              </a:ext>
            </a:extLst>
          </p:cNvPr>
          <p:cNvSpPr/>
          <p:nvPr/>
        </p:nvSpPr>
        <p:spPr>
          <a:xfrm>
            <a:off x="502920" y="914400"/>
            <a:ext cx="8138160" cy="3977640"/>
          </a:xfrm>
          <a:prstGeom prst="rect">
            <a:avLst/>
          </a:prstGeom>
          <a:noFill/>
          <a:ln/>
        </p:spPr>
        <p:txBody>
          <a:bodyPr wrap="square" rtlCol="0" anchor="t"/>
          <a:lstStyle/>
          <a:p>
            <a:pPr marL="0" indent="0">
              <a:lnSpc>
                <a:spcPct val="140000"/>
              </a:lnSpc>
              <a:buNone/>
            </a:pPr>
            <a:r>
              <a:rPr lang="en-US" sz="1200" dirty="0">
                <a:solidFill>
                  <a:srgbClr val="EDEDED"/>
                </a:solidFill>
                <a:latin typeface="Calibri" pitchFamily="34" charset="0"/>
                <a:ea typeface="Calibri" pitchFamily="34" charset="-122"/>
                <a:cs typeface="Calibri" pitchFamily="34" charset="-120"/>
              </a:rPr>
              <a:t>An algorithm is a finite, ordered sequence of clear instructions designed to solve a specific problem. Every algorithm takes some input, follows a series of steps, and produces an output.</a:t>
            </a:r>
            <a:endParaRPr lang="en-US" sz="1200" dirty="0"/>
          </a:p>
          <a:p>
            <a:pPr marL="0" indent="0">
              <a:lnSpc>
                <a:spcPct val="140000"/>
              </a:lnSpc>
              <a:buNone/>
            </a:pPr>
            <a:r>
              <a:rPr lang="en-US" sz="600" dirty="0">
                <a:solidFill>
                  <a:srgbClr val="EDEDED"/>
                </a:solidFill>
                <a:latin typeface="Calibri" pitchFamily="34" charset="0"/>
                <a:ea typeface="Calibri" pitchFamily="34" charset="-122"/>
                <a:cs typeface="Calibri" pitchFamily="34" charset="-120"/>
              </a:rPr>
              <a:t> </a:t>
            </a:r>
            <a:endParaRPr lang="en-US" sz="1200" dirty="0"/>
          </a:p>
          <a:p>
            <a:pPr marL="0" indent="0">
              <a:lnSpc>
                <a:spcPct val="140000"/>
              </a:lnSpc>
              <a:buNone/>
            </a:pPr>
            <a:r>
              <a:rPr lang="en-US" sz="1200" dirty="0">
                <a:solidFill>
                  <a:srgbClr val="EDEDED"/>
                </a:solidFill>
                <a:latin typeface="Calibri" pitchFamily="34" charset="0"/>
                <a:ea typeface="Calibri" pitchFamily="34" charset="-122"/>
                <a:cs typeface="Calibri" pitchFamily="34" charset="-120"/>
              </a:rPr>
              <a:t>Yesterday we learned that a good algorithm is definite (every step is clear), finite (it always stops), and effective (it actually solves the problem). Today we apply all of this to a real, named algorithm.</a:t>
            </a:r>
            <a:endParaRPr lang="en-US" sz="1200" dirty="0"/>
          </a:p>
          <a:p>
            <a:pPr marL="0" indent="0">
              <a:lnSpc>
                <a:spcPct val="140000"/>
              </a:lnSpc>
              <a:buNone/>
            </a:pPr>
            <a:r>
              <a:rPr lang="en-US" sz="600" dirty="0">
                <a:solidFill>
                  <a:srgbClr val="EDEDED"/>
                </a:solidFill>
                <a:latin typeface="Calibri" pitchFamily="34" charset="0"/>
                <a:ea typeface="Calibri" pitchFamily="34" charset="-122"/>
                <a:cs typeface="Calibri" pitchFamily="34" charset="-120"/>
              </a:rPr>
              <a:t> </a:t>
            </a:r>
            <a:endParaRPr lang="en-US" sz="1200" dirty="0"/>
          </a:p>
          <a:p>
            <a:pPr marL="0" indent="0">
              <a:lnSpc>
                <a:spcPct val="140000"/>
              </a:lnSpc>
              <a:buNone/>
            </a:pPr>
            <a:r>
              <a:rPr lang="en-US" sz="1200" b="1" dirty="0">
                <a:solidFill>
                  <a:srgbClr val="57E3D8"/>
                </a:solidFill>
                <a:latin typeface="Calibri" pitchFamily="34" charset="0"/>
                <a:ea typeface="Calibri" pitchFamily="34" charset="-122"/>
                <a:cs typeface="Calibri" pitchFamily="34" charset="-120"/>
              </a:rPr>
              <a:t>The problem  </a:t>
            </a:r>
            <a:r>
              <a:rPr lang="en-US" sz="1200" dirty="0">
                <a:solidFill>
                  <a:srgbClr val="EDEDED"/>
                </a:solidFill>
                <a:latin typeface="Calibri" pitchFamily="34" charset="0"/>
                <a:ea typeface="Calibri" pitchFamily="34" charset="-122"/>
                <a:cs typeface="Calibri" pitchFamily="34" charset="-120"/>
              </a:rPr>
              <a:t>You have a list of items — names, numbers, products, anything — and you want to know whether a specific value is in the list, and if so, where.</a:t>
            </a:r>
            <a:endParaRPr lang="en-US" sz="1200" dirty="0"/>
          </a:p>
          <a:p>
            <a:pPr marL="0" indent="0">
              <a:lnSpc>
                <a:spcPct val="140000"/>
              </a:lnSpc>
              <a:buNone/>
            </a:pPr>
            <a:r>
              <a:rPr lang="en-US" sz="600" dirty="0">
                <a:solidFill>
                  <a:srgbClr val="EDEDED"/>
                </a:solidFill>
                <a:latin typeface="Calibri" pitchFamily="34" charset="0"/>
                <a:ea typeface="Calibri" pitchFamily="34" charset="-122"/>
                <a:cs typeface="Calibri" pitchFamily="34" charset="-120"/>
              </a:rPr>
              <a:t> </a:t>
            </a:r>
            <a:endParaRPr lang="en-US" sz="1200" dirty="0"/>
          </a:p>
          <a:p>
            <a:pPr marL="0" indent="0">
              <a:lnSpc>
                <a:spcPct val="140000"/>
              </a:lnSpc>
              <a:buNone/>
            </a:pPr>
            <a:r>
              <a:rPr lang="en-US" sz="1200" b="1" dirty="0">
                <a:solidFill>
                  <a:srgbClr val="57E3D8"/>
                </a:solidFill>
                <a:latin typeface="Calibri" pitchFamily="34" charset="0"/>
                <a:ea typeface="Calibri" pitchFamily="34" charset="-122"/>
                <a:cs typeface="Calibri" pitchFamily="34" charset="-120"/>
              </a:rPr>
              <a:t>The solution  </a:t>
            </a:r>
            <a:r>
              <a:rPr lang="en-US" sz="1200" dirty="0">
                <a:solidFill>
                  <a:srgbClr val="EDEDED"/>
                </a:solidFill>
                <a:latin typeface="Calibri" pitchFamily="34" charset="0"/>
                <a:ea typeface="Calibri" pitchFamily="34" charset="-122"/>
                <a:cs typeface="Calibri" pitchFamily="34" charset="-120"/>
              </a:rPr>
              <a:t>Linear Search is the most natural answer: look at every item, one at a time, from the beginning to the end, and stop as soon as you find a match.</a:t>
            </a:r>
            <a:endParaRPr lang="en-US" sz="1200" dirty="0"/>
          </a:p>
          <a:p>
            <a:pPr marL="0" indent="0">
              <a:lnSpc>
                <a:spcPct val="140000"/>
              </a:lnSpc>
              <a:buNone/>
            </a:pPr>
            <a:r>
              <a:rPr lang="en-US" sz="600" dirty="0">
                <a:solidFill>
                  <a:srgbClr val="EDEDED"/>
                </a:solidFill>
                <a:latin typeface="Calibri" pitchFamily="34" charset="0"/>
                <a:ea typeface="Calibri" pitchFamily="34" charset="-122"/>
                <a:cs typeface="Calibri" pitchFamily="34" charset="-120"/>
              </a:rPr>
              <a:t> </a:t>
            </a:r>
            <a:endParaRPr lang="en-US" sz="1200" dirty="0"/>
          </a:p>
          <a:p>
            <a:pPr marL="0" indent="0">
              <a:lnSpc>
                <a:spcPct val="140000"/>
              </a:lnSpc>
              <a:buNone/>
            </a:pPr>
            <a:r>
              <a:rPr lang="en-US" sz="1200" dirty="0">
                <a:solidFill>
                  <a:srgbClr val="EDEDED"/>
                </a:solidFill>
                <a:latin typeface="Calibri" pitchFamily="34" charset="0"/>
                <a:ea typeface="Calibri" pitchFamily="34" charset="-122"/>
                <a:cs typeface="Calibri" pitchFamily="34" charset="-120"/>
              </a:rPr>
              <a:t>Linear Search is sometimes called Sequential Search because it walks through items in order. It is the first algorithm most students learn — not because it is the fastest, but because it is the clearest. Once you understand Linear Search, every other search algorithm becomes a variation on the same idea.</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Shape 2"/>
          <p:cNvSpPr/>
          <p:nvPr/>
        </p:nvSpPr>
        <p:spPr>
          <a:xfrm>
            <a:off x="548640" y="548640"/>
            <a:ext cx="8046720" cy="3657600"/>
          </a:xfrm>
          <a:prstGeom prst="rect">
            <a:avLst/>
          </a:prstGeom>
          <a:solidFill>
            <a:srgbClr val="161B26"/>
          </a:solidFill>
          <a:ln w="1905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5" name="Shape 3"/>
          <p:cNvSpPr/>
          <p:nvPr/>
        </p:nvSpPr>
        <p:spPr>
          <a:xfrm>
            <a:off x="914400" y="914400"/>
            <a:ext cx="822960" cy="594360"/>
          </a:xfrm>
          <a:prstGeom prst="rect">
            <a:avLst/>
          </a:prstGeom>
          <a:solidFill>
            <a:srgbClr val="3FD9C4">
              <a:alpha val="12000"/>
            </a:srgbClr>
          </a:solidFill>
          <a:ln w="12700">
            <a:solidFill>
              <a:srgbClr val="3FD9C4">
                <a:alpha val="30000"/>
              </a:srgbClr>
            </a:solidFill>
            <a:prstDash val="solid"/>
          </a:ln>
        </p:spPr>
        <p:txBody>
          <a:bodyPr/>
          <a:lstStyle/>
          <a:p>
            <a:endParaRPr lang="en-US"/>
          </a:p>
        </p:txBody>
      </p:sp>
      <p:sp>
        <p:nvSpPr>
          <p:cNvPr id="6" name="Shape 4"/>
          <p:cNvSpPr/>
          <p:nvPr/>
        </p:nvSpPr>
        <p:spPr>
          <a:xfrm>
            <a:off x="914400" y="786384"/>
            <a:ext cx="329184" cy="164592"/>
          </a:xfrm>
          <a:prstGeom prst="rect">
            <a:avLst/>
          </a:prstGeom>
          <a:solidFill>
            <a:srgbClr val="3FD9C4">
              <a:alpha val="20000"/>
            </a:srgbClr>
          </a:solidFill>
          <a:ln w="12700">
            <a:solidFill>
              <a:srgbClr val="3FD9C4">
                <a:alpha val="35000"/>
              </a:srgbClr>
            </a:solidFill>
            <a:prstDash val="solid"/>
          </a:ln>
        </p:spPr>
        <p:txBody>
          <a:bodyPr/>
          <a:lstStyle/>
          <a:p>
            <a:endParaRPr lang="en-US"/>
          </a:p>
        </p:txBody>
      </p:sp>
      <p:sp>
        <p:nvSpPr>
          <p:cNvPr id="7" name="Shape 5"/>
          <p:cNvSpPr/>
          <p:nvPr/>
        </p:nvSpPr>
        <p:spPr>
          <a:xfrm>
            <a:off x="2011680" y="777240"/>
            <a:ext cx="822960" cy="594360"/>
          </a:xfrm>
          <a:prstGeom prst="rect">
            <a:avLst/>
          </a:prstGeom>
          <a:solidFill>
            <a:srgbClr val="3FD9C4">
              <a:alpha val="12000"/>
            </a:srgbClr>
          </a:solidFill>
          <a:ln w="12700">
            <a:solidFill>
              <a:srgbClr val="3FD9C4">
                <a:alpha val="30000"/>
              </a:srgbClr>
            </a:solidFill>
            <a:prstDash val="solid"/>
          </a:ln>
        </p:spPr>
        <p:txBody>
          <a:bodyPr/>
          <a:lstStyle/>
          <a:p>
            <a:endParaRPr lang="en-US"/>
          </a:p>
        </p:txBody>
      </p:sp>
      <p:sp>
        <p:nvSpPr>
          <p:cNvPr id="8" name="Shape 6"/>
          <p:cNvSpPr/>
          <p:nvPr/>
        </p:nvSpPr>
        <p:spPr>
          <a:xfrm>
            <a:off x="2011680" y="649224"/>
            <a:ext cx="329184" cy="164592"/>
          </a:xfrm>
          <a:prstGeom prst="rect">
            <a:avLst/>
          </a:prstGeom>
          <a:solidFill>
            <a:srgbClr val="3FD9C4">
              <a:alpha val="20000"/>
            </a:srgbClr>
          </a:solidFill>
          <a:ln w="12700">
            <a:solidFill>
              <a:srgbClr val="3FD9C4">
                <a:alpha val="35000"/>
              </a:srgbClr>
            </a:solidFill>
            <a:prstDash val="solid"/>
          </a:ln>
        </p:spPr>
        <p:txBody>
          <a:bodyPr/>
          <a:lstStyle/>
          <a:p>
            <a:endParaRPr lang="en-US"/>
          </a:p>
        </p:txBody>
      </p:sp>
      <p:sp>
        <p:nvSpPr>
          <p:cNvPr id="9" name="Shape 7"/>
          <p:cNvSpPr/>
          <p:nvPr/>
        </p:nvSpPr>
        <p:spPr>
          <a:xfrm>
            <a:off x="3291840" y="1005840"/>
            <a:ext cx="822960" cy="594360"/>
          </a:xfrm>
          <a:prstGeom prst="rect">
            <a:avLst/>
          </a:prstGeom>
          <a:solidFill>
            <a:srgbClr val="3FD9C4">
              <a:alpha val="12000"/>
            </a:srgbClr>
          </a:solidFill>
          <a:ln w="12700">
            <a:solidFill>
              <a:srgbClr val="3FD9C4">
                <a:alpha val="30000"/>
              </a:srgbClr>
            </a:solidFill>
            <a:prstDash val="solid"/>
          </a:ln>
        </p:spPr>
        <p:txBody>
          <a:bodyPr/>
          <a:lstStyle/>
          <a:p>
            <a:endParaRPr lang="en-US"/>
          </a:p>
        </p:txBody>
      </p:sp>
      <p:sp>
        <p:nvSpPr>
          <p:cNvPr id="10" name="Shape 8"/>
          <p:cNvSpPr/>
          <p:nvPr/>
        </p:nvSpPr>
        <p:spPr>
          <a:xfrm>
            <a:off x="3291840" y="877824"/>
            <a:ext cx="329184" cy="164592"/>
          </a:xfrm>
          <a:prstGeom prst="rect">
            <a:avLst/>
          </a:prstGeom>
          <a:solidFill>
            <a:srgbClr val="3FD9C4">
              <a:alpha val="20000"/>
            </a:srgbClr>
          </a:solidFill>
          <a:ln w="12700">
            <a:solidFill>
              <a:srgbClr val="3FD9C4">
                <a:alpha val="35000"/>
              </a:srgbClr>
            </a:solidFill>
            <a:prstDash val="solid"/>
          </a:ln>
        </p:spPr>
        <p:txBody>
          <a:bodyPr/>
          <a:lstStyle/>
          <a:p>
            <a:endParaRPr lang="en-US"/>
          </a:p>
        </p:txBody>
      </p:sp>
      <p:sp>
        <p:nvSpPr>
          <p:cNvPr id="11" name="Shape 9"/>
          <p:cNvSpPr/>
          <p:nvPr/>
        </p:nvSpPr>
        <p:spPr>
          <a:xfrm>
            <a:off x="4572000" y="822960"/>
            <a:ext cx="822960" cy="594360"/>
          </a:xfrm>
          <a:prstGeom prst="rect">
            <a:avLst/>
          </a:prstGeom>
          <a:solidFill>
            <a:srgbClr val="3FD9C4">
              <a:alpha val="12000"/>
            </a:srgbClr>
          </a:solidFill>
          <a:ln w="12700">
            <a:solidFill>
              <a:srgbClr val="3FD9C4">
                <a:alpha val="30000"/>
              </a:srgbClr>
            </a:solidFill>
            <a:prstDash val="solid"/>
          </a:ln>
        </p:spPr>
        <p:txBody>
          <a:bodyPr/>
          <a:lstStyle/>
          <a:p>
            <a:endParaRPr lang="en-US"/>
          </a:p>
        </p:txBody>
      </p:sp>
      <p:sp>
        <p:nvSpPr>
          <p:cNvPr id="12" name="Shape 10"/>
          <p:cNvSpPr/>
          <p:nvPr/>
        </p:nvSpPr>
        <p:spPr>
          <a:xfrm>
            <a:off x="4572000" y="694944"/>
            <a:ext cx="329184" cy="164592"/>
          </a:xfrm>
          <a:prstGeom prst="rect">
            <a:avLst/>
          </a:prstGeom>
          <a:solidFill>
            <a:srgbClr val="3FD9C4">
              <a:alpha val="20000"/>
            </a:srgbClr>
          </a:solidFill>
          <a:ln w="12700">
            <a:solidFill>
              <a:srgbClr val="3FD9C4">
                <a:alpha val="35000"/>
              </a:srgbClr>
            </a:solidFill>
            <a:prstDash val="solid"/>
          </a:ln>
        </p:spPr>
        <p:txBody>
          <a:bodyPr/>
          <a:lstStyle/>
          <a:p>
            <a:endParaRPr lang="en-US"/>
          </a:p>
        </p:txBody>
      </p:sp>
      <p:sp>
        <p:nvSpPr>
          <p:cNvPr id="13" name="Shape 11"/>
          <p:cNvSpPr/>
          <p:nvPr/>
        </p:nvSpPr>
        <p:spPr>
          <a:xfrm>
            <a:off x="5852160" y="914400"/>
            <a:ext cx="822960" cy="594360"/>
          </a:xfrm>
          <a:prstGeom prst="rect">
            <a:avLst/>
          </a:prstGeom>
          <a:solidFill>
            <a:srgbClr val="3FD9C4">
              <a:alpha val="12000"/>
            </a:srgbClr>
          </a:solidFill>
          <a:ln w="12700">
            <a:solidFill>
              <a:srgbClr val="3FD9C4">
                <a:alpha val="30000"/>
              </a:srgbClr>
            </a:solidFill>
            <a:prstDash val="solid"/>
          </a:ln>
        </p:spPr>
        <p:txBody>
          <a:bodyPr/>
          <a:lstStyle/>
          <a:p>
            <a:endParaRPr lang="en-US"/>
          </a:p>
        </p:txBody>
      </p:sp>
      <p:sp>
        <p:nvSpPr>
          <p:cNvPr id="14" name="Shape 12"/>
          <p:cNvSpPr/>
          <p:nvPr/>
        </p:nvSpPr>
        <p:spPr>
          <a:xfrm>
            <a:off x="5852160" y="786384"/>
            <a:ext cx="329184" cy="164592"/>
          </a:xfrm>
          <a:prstGeom prst="rect">
            <a:avLst/>
          </a:prstGeom>
          <a:solidFill>
            <a:srgbClr val="3FD9C4">
              <a:alpha val="20000"/>
            </a:srgbClr>
          </a:solidFill>
          <a:ln w="12700">
            <a:solidFill>
              <a:srgbClr val="3FD9C4">
                <a:alpha val="35000"/>
              </a:srgbClr>
            </a:solidFill>
            <a:prstDash val="solid"/>
          </a:ln>
        </p:spPr>
        <p:txBody>
          <a:bodyPr/>
          <a:lstStyle/>
          <a:p>
            <a:endParaRPr lang="en-US"/>
          </a:p>
        </p:txBody>
      </p:sp>
      <p:sp>
        <p:nvSpPr>
          <p:cNvPr id="15" name="Shape 13"/>
          <p:cNvSpPr/>
          <p:nvPr/>
        </p:nvSpPr>
        <p:spPr>
          <a:xfrm>
            <a:off x="6949440" y="777240"/>
            <a:ext cx="822960" cy="594360"/>
          </a:xfrm>
          <a:prstGeom prst="rect">
            <a:avLst/>
          </a:prstGeom>
          <a:solidFill>
            <a:srgbClr val="3FD9C4">
              <a:alpha val="12000"/>
            </a:srgbClr>
          </a:solidFill>
          <a:ln w="12700">
            <a:solidFill>
              <a:srgbClr val="3FD9C4">
                <a:alpha val="30000"/>
              </a:srgbClr>
            </a:solidFill>
            <a:prstDash val="solid"/>
          </a:ln>
        </p:spPr>
        <p:txBody>
          <a:bodyPr/>
          <a:lstStyle/>
          <a:p>
            <a:endParaRPr lang="en-US"/>
          </a:p>
        </p:txBody>
      </p:sp>
      <p:sp>
        <p:nvSpPr>
          <p:cNvPr id="16" name="Shape 14"/>
          <p:cNvSpPr/>
          <p:nvPr/>
        </p:nvSpPr>
        <p:spPr>
          <a:xfrm>
            <a:off x="6949440" y="649224"/>
            <a:ext cx="329184" cy="164592"/>
          </a:xfrm>
          <a:prstGeom prst="rect">
            <a:avLst/>
          </a:prstGeom>
          <a:solidFill>
            <a:srgbClr val="3FD9C4">
              <a:alpha val="20000"/>
            </a:srgbClr>
          </a:solidFill>
          <a:ln w="12700">
            <a:solidFill>
              <a:srgbClr val="3FD9C4">
                <a:alpha val="35000"/>
              </a:srgbClr>
            </a:solidFill>
            <a:prstDash val="solid"/>
          </a:ln>
        </p:spPr>
        <p:txBody>
          <a:bodyPr/>
          <a:lstStyle/>
          <a:p>
            <a:endParaRPr lang="en-US"/>
          </a:p>
        </p:txBody>
      </p:sp>
      <p:sp>
        <p:nvSpPr>
          <p:cNvPr id="17" name="Text 15"/>
          <p:cNvSpPr/>
          <p:nvPr/>
        </p:nvSpPr>
        <p:spPr>
          <a:xfrm>
            <a:off x="548640" y="1417320"/>
            <a:ext cx="8046720" cy="777240"/>
          </a:xfrm>
          <a:prstGeom prst="rect">
            <a:avLst/>
          </a:prstGeom>
          <a:noFill/>
          <a:ln/>
        </p:spPr>
        <p:txBody>
          <a:bodyPr wrap="square" lIns="0" tIns="0" rIns="0" bIns="0" rtlCol="0" anchor="ctr"/>
          <a:lstStyle/>
          <a:p>
            <a:pPr marL="0" indent="0" algn="ctr">
              <a:buNone/>
            </a:pPr>
            <a:r>
              <a:rPr lang="en-US" sz="5200" b="1" dirty="0">
                <a:solidFill>
                  <a:srgbClr val="F0F6FC"/>
                </a:solidFill>
                <a:latin typeface="Calibri" pitchFamily="34" charset="0"/>
                <a:ea typeface="Calibri" pitchFamily="34" charset="-122"/>
                <a:cs typeface="Calibri" pitchFamily="34" charset="-120"/>
              </a:rPr>
              <a:t>The Search</a:t>
            </a:r>
            <a:endParaRPr lang="en-US" sz="5200" dirty="0"/>
          </a:p>
        </p:txBody>
      </p:sp>
      <p:sp>
        <p:nvSpPr>
          <p:cNvPr id="18" name="Text 16"/>
          <p:cNvSpPr/>
          <p:nvPr/>
        </p:nvSpPr>
        <p:spPr>
          <a:xfrm>
            <a:off x="548640" y="2121408"/>
            <a:ext cx="8046720" cy="777240"/>
          </a:xfrm>
          <a:prstGeom prst="rect">
            <a:avLst/>
          </a:prstGeom>
          <a:noFill/>
          <a:ln/>
        </p:spPr>
        <p:txBody>
          <a:bodyPr wrap="square" lIns="0" tIns="0" rIns="0" bIns="0" rtlCol="0" anchor="ctr"/>
          <a:lstStyle/>
          <a:p>
            <a:pPr marL="0" indent="0" algn="ctr">
              <a:buNone/>
            </a:pPr>
            <a:r>
              <a:rPr lang="en-US" sz="5200" b="1" dirty="0">
                <a:solidFill>
                  <a:srgbClr val="3FD9C4"/>
                </a:solidFill>
                <a:latin typeface="Calibri" pitchFamily="34" charset="0"/>
                <a:ea typeface="Calibri" pitchFamily="34" charset="-122"/>
                <a:cs typeface="Calibri" pitchFamily="34" charset="-120"/>
              </a:rPr>
              <a:t>Problem</a:t>
            </a:r>
            <a:endParaRPr lang="en-US" sz="5200" dirty="0"/>
          </a:p>
        </p:txBody>
      </p:sp>
      <p:sp>
        <p:nvSpPr>
          <p:cNvPr id="19" name="Text 17"/>
          <p:cNvSpPr/>
          <p:nvPr/>
        </p:nvSpPr>
        <p:spPr>
          <a:xfrm>
            <a:off x="548640" y="2944368"/>
            <a:ext cx="8046720" cy="329184"/>
          </a:xfrm>
          <a:prstGeom prst="rect">
            <a:avLst/>
          </a:prstGeom>
          <a:noFill/>
          <a:ln/>
        </p:spPr>
        <p:txBody>
          <a:bodyPr wrap="square" lIns="0" tIns="0" rIns="0" bIns="0" rtlCol="0" anchor="ctr"/>
          <a:lstStyle/>
          <a:p>
            <a:pPr marL="0" indent="0" algn="ctr">
              <a:buNone/>
            </a:pPr>
            <a:r>
              <a:rPr lang="en-US" sz="1500" i="1" dirty="0">
                <a:solidFill>
                  <a:srgbClr val="8B949E"/>
                </a:solidFill>
                <a:latin typeface="Calibri" pitchFamily="34" charset="0"/>
                <a:ea typeface="Calibri" pitchFamily="34" charset="-122"/>
                <a:cs typeface="Calibri" pitchFamily="34" charset="-120"/>
              </a:rPr>
              <a:t>Why search · Where search · How we measure search</a:t>
            </a:r>
            <a:endParaRPr lang="en-US" sz="1500" dirty="0"/>
          </a:p>
        </p:txBody>
      </p:sp>
      <p:sp>
        <p:nvSpPr>
          <p:cNvPr id="20" name="Shape 18"/>
          <p:cNvSpPr/>
          <p:nvPr/>
        </p:nvSpPr>
        <p:spPr>
          <a:xfrm>
            <a:off x="2468880" y="3401568"/>
            <a:ext cx="274320" cy="274320"/>
          </a:xfrm>
          <a:prstGeom prst="ellipse">
            <a:avLst/>
          </a:prstGeom>
          <a:solidFill>
            <a:srgbClr val="3FD9C4"/>
          </a:solidFill>
          <a:ln w="12700">
            <a:solidFill>
              <a:srgbClr val="3FD9C4"/>
            </a:solidFill>
            <a:prstDash val="solid"/>
          </a:ln>
        </p:spPr>
        <p:txBody>
          <a:bodyPr/>
          <a:lstStyle/>
          <a:p>
            <a:endParaRPr lang="en-US"/>
          </a:p>
        </p:txBody>
      </p:sp>
      <p:sp>
        <p:nvSpPr>
          <p:cNvPr id="21" name="Shape 19"/>
          <p:cNvSpPr/>
          <p:nvPr/>
        </p:nvSpPr>
        <p:spPr>
          <a:xfrm>
            <a:off x="3090672" y="3401568"/>
            <a:ext cx="274320" cy="274320"/>
          </a:xfrm>
          <a:prstGeom prst="ellipse">
            <a:avLst/>
          </a:prstGeom>
          <a:solidFill>
            <a:srgbClr val="58A6FF"/>
          </a:solidFill>
          <a:ln w="12700">
            <a:solidFill>
              <a:srgbClr val="58A6FF"/>
            </a:solidFill>
            <a:prstDash val="solid"/>
          </a:ln>
        </p:spPr>
        <p:txBody>
          <a:bodyPr/>
          <a:lstStyle/>
          <a:p>
            <a:endParaRPr lang="en-US"/>
          </a:p>
        </p:txBody>
      </p:sp>
      <p:sp>
        <p:nvSpPr>
          <p:cNvPr id="22" name="Shape 20"/>
          <p:cNvSpPr/>
          <p:nvPr/>
        </p:nvSpPr>
        <p:spPr>
          <a:xfrm>
            <a:off x="3712464" y="3401568"/>
            <a:ext cx="274320" cy="274320"/>
          </a:xfrm>
          <a:prstGeom prst="ellipse">
            <a:avLst/>
          </a:prstGeom>
          <a:solidFill>
            <a:srgbClr val="BC8CFF"/>
          </a:solidFill>
          <a:ln w="12700">
            <a:solidFill>
              <a:srgbClr val="BC8CFF"/>
            </a:solidFill>
            <a:prstDash val="solid"/>
          </a:ln>
        </p:spPr>
        <p:txBody>
          <a:bodyPr/>
          <a:lstStyle/>
          <a:p>
            <a:endParaRPr lang="en-US"/>
          </a:p>
        </p:txBody>
      </p:sp>
      <p:sp>
        <p:nvSpPr>
          <p:cNvPr id="23" name="Shape 21"/>
          <p:cNvSpPr/>
          <p:nvPr/>
        </p:nvSpPr>
        <p:spPr>
          <a:xfrm>
            <a:off x="4334256" y="3401568"/>
            <a:ext cx="274320" cy="274320"/>
          </a:xfrm>
          <a:prstGeom prst="ellipse">
            <a:avLst/>
          </a:prstGeom>
          <a:solidFill>
            <a:srgbClr val="FFA657"/>
          </a:solidFill>
          <a:ln w="12700">
            <a:solidFill>
              <a:srgbClr val="FFA657"/>
            </a:solidFill>
            <a:prstDash val="solid"/>
          </a:ln>
        </p:spPr>
        <p:txBody>
          <a:bodyPr/>
          <a:lstStyle/>
          <a:p>
            <a:endParaRPr lang="en-US"/>
          </a:p>
        </p:txBody>
      </p:sp>
      <p:sp>
        <p:nvSpPr>
          <p:cNvPr id="24" name="Shape 22"/>
          <p:cNvSpPr/>
          <p:nvPr/>
        </p:nvSpPr>
        <p:spPr>
          <a:xfrm>
            <a:off x="4956048" y="3401568"/>
            <a:ext cx="274320" cy="274320"/>
          </a:xfrm>
          <a:prstGeom prst="ellipse">
            <a:avLst/>
          </a:prstGeom>
          <a:solidFill>
            <a:srgbClr val="3FB950"/>
          </a:solidFill>
          <a:ln w="12700">
            <a:solidFill>
              <a:srgbClr val="3FB950"/>
            </a:solidFill>
            <a:prstDash val="solid"/>
          </a:ln>
        </p:spPr>
        <p:txBody>
          <a:bodyPr/>
          <a:lstStyle/>
          <a:p>
            <a:endParaRPr lang="en-US"/>
          </a:p>
        </p:txBody>
      </p:sp>
      <p:sp>
        <p:nvSpPr>
          <p:cNvPr id="25" name="Shape 23"/>
          <p:cNvSpPr/>
          <p:nvPr/>
        </p:nvSpPr>
        <p:spPr>
          <a:xfrm>
            <a:off x="5577840" y="3401568"/>
            <a:ext cx="274320" cy="274320"/>
          </a:xfrm>
          <a:prstGeom prst="ellipse">
            <a:avLst/>
          </a:prstGeom>
          <a:solidFill>
            <a:srgbClr val="F778BA"/>
          </a:solidFill>
          <a:ln w="12700">
            <a:solidFill>
              <a:srgbClr val="F778BA"/>
            </a:solidFill>
            <a:prstDash val="solid"/>
          </a:ln>
        </p:spPr>
        <p:txBody>
          <a:bodyPr/>
          <a:lstStyle/>
          <a:p>
            <a:endParaRPr lang="en-US"/>
          </a:p>
        </p:txBody>
      </p:sp>
      <p:sp>
        <p:nvSpPr>
          <p:cNvPr id="26" name="Text 24"/>
          <p:cNvSpPr/>
          <p:nvPr/>
        </p:nvSpPr>
        <p:spPr>
          <a:xfrm>
            <a:off x="0" y="4526280"/>
            <a:ext cx="9144000" cy="292608"/>
          </a:xfrm>
          <a:prstGeom prst="rect">
            <a:avLst/>
          </a:prstGeom>
          <a:noFill/>
          <a:ln/>
        </p:spPr>
        <p:txBody>
          <a:bodyPr wrap="square" lIns="0" tIns="0" rIns="0" bIns="0" rtlCol="0" anchor="ctr"/>
          <a:lstStyle/>
          <a:p>
            <a:pPr marL="0" indent="0" algn="ctr">
              <a:buNone/>
            </a:pPr>
            <a:r>
              <a:rPr lang="en-US" sz="1000" dirty="0">
                <a:solidFill>
                  <a:srgbClr val="3D444D"/>
                </a:solidFill>
                <a:latin typeface="Calibri" pitchFamily="34" charset="0"/>
                <a:ea typeface="Calibri" pitchFamily="34" charset="-122"/>
                <a:cs typeface="Calibri" pitchFamily="34" charset="-120"/>
              </a:rPr>
              <a:t>Foundation Bootcamp · Programming Fundamentals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MOTIVATION</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Search is Everywhere</a:t>
            </a:r>
            <a:endParaRPr lang="en-US" sz="2800" dirty="0"/>
          </a:p>
        </p:txBody>
      </p:sp>
      <p:sp>
        <p:nvSpPr>
          <p:cNvPr id="6" name="Text 4"/>
          <p:cNvSpPr/>
          <p:nvPr/>
        </p:nvSpPr>
        <p:spPr>
          <a:xfrm>
            <a:off x="457200" y="868680"/>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Almost every program you use runs a search algorithm — many times every second</a:t>
            </a:r>
            <a:endParaRPr lang="en-US" sz="1300" dirty="0"/>
          </a:p>
        </p:txBody>
      </p:sp>
      <p:sp>
        <p:nvSpPr>
          <p:cNvPr id="7" name="Shape 5"/>
          <p:cNvSpPr/>
          <p:nvPr/>
        </p:nvSpPr>
        <p:spPr>
          <a:xfrm>
            <a:off x="411480" y="1170432"/>
            <a:ext cx="8321040" cy="914400"/>
          </a:xfrm>
          <a:prstGeom prst="rect">
            <a:avLst/>
          </a:prstGeom>
          <a:solidFill>
            <a:srgbClr val="161B26"/>
          </a:solidFill>
          <a:ln w="1524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8" name="Text 6"/>
          <p:cNvSpPr/>
          <p:nvPr/>
        </p:nvSpPr>
        <p:spPr>
          <a:xfrm>
            <a:off x="594360" y="1243584"/>
            <a:ext cx="7955280" cy="749808"/>
          </a:xfrm>
          <a:prstGeom prst="rect">
            <a:avLst/>
          </a:prstGeom>
          <a:noFill/>
          <a:ln/>
        </p:spPr>
        <p:txBody>
          <a:bodyPr wrap="square" lIns="0" tIns="0" rIns="0" bIns="0" rtlCol="0" anchor="ctr"/>
          <a:lstStyle/>
          <a:p>
            <a:pPr marL="0" indent="0">
              <a:buNone/>
            </a:pPr>
            <a:r>
              <a:rPr lang="en-US" sz="1300" b="1" dirty="0">
                <a:solidFill>
                  <a:srgbClr val="3FD9C4"/>
                </a:solidFill>
                <a:latin typeface="Calibri" pitchFamily="34" charset="0"/>
                <a:ea typeface="Calibri" pitchFamily="34" charset="-122"/>
                <a:cs typeface="Calibri" pitchFamily="34" charset="-120"/>
              </a:rPr>
              <a:t>Searching  </a:t>
            </a:r>
            <a:r>
              <a:rPr lang="en-US" sz="1300" dirty="0">
                <a:solidFill>
                  <a:srgbClr val="F0F6FC"/>
                </a:solidFill>
                <a:latin typeface="Calibri" pitchFamily="34" charset="0"/>
                <a:ea typeface="Calibri" pitchFamily="34" charset="-122"/>
                <a:cs typeface="Calibri" pitchFamily="34" charset="-120"/>
              </a:rPr>
              <a:t>means looking through a </a:t>
            </a:r>
            <a:r>
              <a:rPr lang="en-US" sz="1300" b="1" dirty="0">
                <a:solidFill>
                  <a:srgbClr val="E3B341"/>
                </a:solidFill>
                <a:latin typeface="Calibri" pitchFamily="34" charset="0"/>
                <a:ea typeface="Calibri" pitchFamily="34" charset="-122"/>
                <a:cs typeface="Calibri" pitchFamily="34" charset="-120"/>
              </a:rPr>
              <a:t>collection </a:t>
            </a:r>
            <a:r>
              <a:rPr lang="en-US" sz="1300" dirty="0">
                <a:solidFill>
                  <a:srgbClr val="F0F6FC"/>
                </a:solidFill>
                <a:latin typeface="Calibri" pitchFamily="34" charset="0"/>
                <a:ea typeface="Calibri" pitchFamily="34" charset="-122"/>
                <a:cs typeface="Calibri" pitchFamily="34" charset="-120"/>
              </a:rPr>
              <a:t>of items to find one that matches a value you care about. The four examples below all rely on it — </a:t>
            </a:r>
            <a:r>
              <a:rPr lang="en-US" sz="1300" dirty="0">
                <a:solidFill>
                  <a:srgbClr val="8B949E"/>
                </a:solidFill>
                <a:latin typeface="Calibri" pitchFamily="34" charset="0"/>
                <a:ea typeface="Calibri" pitchFamily="34" charset="-122"/>
                <a:cs typeface="Calibri" pitchFamily="34" charset="-120"/>
              </a:rPr>
              <a:t>without search, none of these would work.</a:t>
            </a:r>
            <a:endParaRPr lang="en-US" sz="1300" dirty="0"/>
          </a:p>
        </p:txBody>
      </p:sp>
      <p:sp>
        <p:nvSpPr>
          <p:cNvPr id="9" name="Shape 7"/>
          <p:cNvSpPr/>
          <p:nvPr/>
        </p:nvSpPr>
        <p:spPr>
          <a:xfrm>
            <a:off x="411480" y="2212848"/>
            <a:ext cx="1993392" cy="2148840"/>
          </a:xfrm>
          <a:prstGeom prst="rect">
            <a:avLst/>
          </a:prstGeom>
          <a:solidFill>
            <a:srgbClr val="161B26"/>
          </a:solidFill>
          <a:ln w="1524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10" name="Shape 8"/>
          <p:cNvSpPr/>
          <p:nvPr/>
        </p:nvSpPr>
        <p:spPr>
          <a:xfrm>
            <a:off x="411480" y="2212848"/>
            <a:ext cx="1993392" cy="329184"/>
          </a:xfrm>
          <a:prstGeom prst="rect">
            <a:avLst/>
          </a:prstGeom>
          <a:solidFill>
            <a:srgbClr val="3FD9C4">
              <a:alpha val="78000"/>
            </a:srgbClr>
          </a:solidFill>
          <a:ln w="12700">
            <a:solidFill>
              <a:srgbClr val="3FD9C4"/>
            </a:solidFill>
            <a:prstDash val="solid"/>
          </a:ln>
        </p:spPr>
        <p:txBody>
          <a:bodyPr/>
          <a:lstStyle/>
          <a:p>
            <a:endParaRPr lang="en-US"/>
          </a:p>
        </p:txBody>
      </p:sp>
      <p:sp>
        <p:nvSpPr>
          <p:cNvPr id="11" name="Text 9"/>
          <p:cNvSpPr/>
          <p:nvPr/>
        </p:nvSpPr>
        <p:spPr>
          <a:xfrm>
            <a:off x="521208" y="2249424"/>
            <a:ext cx="1773936"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Contacts</a:t>
            </a:r>
            <a:endParaRPr lang="en-US" sz="1100" dirty="0"/>
          </a:p>
        </p:txBody>
      </p:sp>
      <p:sp>
        <p:nvSpPr>
          <p:cNvPr id="12" name="Text 10"/>
          <p:cNvSpPr/>
          <p:nvPr/>
        </p:nvSpPr>
        <p:spPr>
          <a:xfrm>
            <a:off x="521208" y="2578608"/>
            <a:ext cx="1773936" cy="1673352"/>
          </a:xfrm>
          <a:prstGeom prst="rect">
            <a:avLst/>
          </a:prstGeom>
          <a:noFill/>
          <a:ln/>
        </p:spPr>
        <p:txBody>
          <a:bodyPr wrap="square" lIns="0" tIns="0" rIns="0" bIns="0" rtlCol="0" anchor="t"/>
          <a:lstStyle/>
          <a:p>
            <a:pPr marL="0" indent="0" algn="l">
              <a:buNone/>
            </a:pPr>
            <a:r>
              <a:rPr lang="en-US" sz="1100" dirty="0">
                <a:solidFill>
                  <a:srgbClr val="F0F6FC"/>
                </a:solidFill>
                <a:latin typeface="Calibri" pitchFamily="34" charset="0"/>
                <a:ea typeface="Calibri" pitchFamily="34" charset="-122"/>
                <a:cs typeface="Calibri" pitchFamily="34" charset="-120"/>
              </a:rPr>
              <a:t>Find a friend by name</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among hundreds of contacts</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stored on your phone</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or in the cloud.</a:t>
            </a:r>
            <a:endParaRPr lang="en-US" sz="1100" dirty="0"/>
          </a:p>
        </p:txBody>
      </p:sp>
      <p:sp>
        <p:nvSpPr>
          <p:cNvPr id="13" name="Shape 11"/>
          <p:cNvSpPr/>
          <p:nvPr/>
        </p:nvSpPr>
        <p:spPr>
          <a:xfrm>
            <a:off x="2532888" y="2212848"/>
            <a:ext cx="1993392" cy="2148840"/>
          </a:xfrm>
          <a:prstGeom prst="rect">
            <a:avLst/>
          </a:prstGeom>
          <a:solidFill>
            <a:srgbClr val="161B26"/>
          </a:solidFill>
          <a:ln w="15240">
            <a:solidFill>
              <a:srgbClr val="58A6FF"/>
            </a:solidFill>
            <a:prstDash val="solid"/>
          </a:ln>
          <a:effectLst>
            <a:outerShdw blurRad="177800" dist="38100" dir="8100000" algn="bl" rotWithShape="0">
              <a:srgbClr val="000000">
                <a:alpha val="35000"/>
              </a:srgbClr>
            </a:outerShdw>
          </a:effectLst>
        </p:spPr>
        <p:txBody>
          <a:bodyPr/>
          <a:lstStyle/>
          <a:p>
            <a:endParaRPr lang="en-US"/>
          </a:p>
        </p:txBody>
      </p:sp>
      <p:sp>
        <p:nvSpPr>
          <p:cNvPr id="14" name="Shape 12"/>
          <p:cNvSpPr/>
          <p:nvPr/>
        </p:nvSpPr>
        <p:spPr>
          <a:xfrm>
            <a:off x="2532888" y="2212848"/>
            <a:ext cx="1993392" cy="329184"/>
          </a:xfrm>
          <a:prstGeom prst="rect">
            <a:avLst/>
          </a:prstGeom>
          <a:solidFill>
            <a:srgbClr val="58A6FF">
              <a:alpha val="78000"/>
            </a:srgbClr>
          </a:solidFill>
          <a:ln w="12700">
            <a:solidFill>
              <a:srgbClr val="58A6FF"/>
            </a:solidFill>
            <a:prstDash val="solid"/>
          </a:ln>
        </p:spPr>
        <p:txBody>
          <a:bodyPr/>
          <a:lstStyle/>
          <a:p>
            <a:endParaRPr lang="en-US"/>
          </a:p>
        </p:txBody>
      </p:sp>
      <p:sp>
        <p:nvSpPr>
          <p:cNvPr id="15" name="Text 13"/>
          <p:cNvSpPr/>
          <p:nvPr/>
        </p:nvSpPr>
        <p:spPr>
          <a:xfrm>
            <a:off x="2642616" y="2249424"/>
            <a:ext cx="1773936"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Web Search</a:t>
            </a:r>
            <a:endParaRPr lang="en-US" sz="1100" dirty="0"/>
          </a:p>
        </p:txBody>
      </p:sp>
      <p:sp>
        <p:nvSpPr>
          <p:cNvPr id="16" name="Text 14"/>
          <p:cNvSpPr/>
          <p:nvPr/>
        </p:nvSpPr>
        <p:spPr>
          <a:xfrm>
            <a:off x="2642616" y="2578608"/>
            <a:ext cx="1773936" cy="1673352"/>
          </a:xfrm>
          <a:prstGeom prst="rect">
            <a:avLst/>
          </a:prstGeom>
          <a:noFill/>
          <a:ln/>
        </p:spPr>
        <p:txBody>
          <a:bodyPr wrap="square" lIns="0" tIns="0" rIns="0" bIns="0" rtlCol="0" anchor="t"/>
          <a:lstStyle/>
          <a:p>
            <a:pPr marL="0" indent="0" algn="l">
              <a:buNone/>
            </a:pPr>
            <a:r>
              <a:rPr lang="en-US" sz="1100" dirty="0">
                <a:solidFill>
                  <a:srgbClr val="F0F6FC"/>
                </a:solidFill>
                <a:latin typeface="Calibri" pitchFamily="34" charset="0"/>
                <a:ea typeface="Calibri" pitchFamily="34" charset="-122"/>
                <a:cs typeface="Calibri" pitchFamily="34" charset="-120"/>
              </a:rPr>
              <a:t>Find pages matching</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your query among</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billions of web pages —</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in milliseconds.</a:t>
            </a:r>
            <a:endParaRPr lang="en-US" sz="1100" dirty="0"/>
          </a:p>
        </p:txBody>
      </p:sp>
      <p:sp>
        <p:nvSpPr>
          <p:cNvPr id="17" name="Shape 15"/>
          <p:cNvSpPr/>
          <p:nvPr/>
        </p:nvSpPr>
        <p:spPr>
          <a:xfrm>
            <a:off x="4654296" y="2212848"/>
            <a:ext cx="1993392" cy="2148840"/>
          </a:xfrm>
          <a:prstGeom prst="rect">
            <a:avLst/>
          </a:prstGeom>
          <a:solidFill>
            <a:srgbClr val="161B26"/>
          </a:solidFill>
          <a:ln w="15240">
            <a:solidFill>
              <a:srgbClr val="BC8CFF"/>
            </a:solidFill>
            <a:prstDash val="solid"/>
          </a:ln>
          <a:effectLst>
            <a:outerShdw blurRad="177800" dist="38100" dir="8100000" algn="bl" rotWithShape="0">
              <a:srgbClr val="000000">
                <a:alpha val="35000"/>
              </a:srgbClr>
            </a:outerShdw>
          </a:effectLst>
        </p:spPr>
        <p:txBody>
          <a:bodyPr/>
          <a:lstStyle/>
          <a:p>
            <a:endParaRPr lang="en-US"/>
          </a:p>
        </p:txBody>
      </p:sp>
      <p:sp>
        <p:nvSpPr>
          <p:cNvPr id="18" name="Shape 16"/>
          <p:cNvSpPr/>
          <p:nvPr/>
        </p:nvSpPr>
        <p:spPr>
          <a:xfrm>
            <a:off x="4654296" y="2212848"/>
            <a:ext cx="1993392" cy="329184"/>
          </a:xfrm>
          <a:prstGeom prst="rect">
            <a:avLst/>
          </a:prstGeom>
          <a:solidFill>
            <a:srgbClr val="BC8CFF">
              <a:alpha val="78000"/>
            </a:srgbClr>
          </a:solidFill>
          <a:ln w="12700">
            <a:solidFill>
              <a:srgbClr val="BC8CFF"/>
            </a:solidFill>
            <a:prstDash val="solid"/>
          </a:ln>
        </p:spPr>
        <p:txBody>
          <a:bodyPr/>
          <a:lstStyle/>
          <a:p>
            <a:endParaRPr lang="en-US"/>
          </a:p>
        </p:txBody>
      </p:sp>
      <p:sp>
        <p:nvSpPr>
          <p:cNvPr id="19" name="Text 17"/>
          <p:cNvSpPr/>
          <p:nvPr/>
        </p:nvSpPr>
        <p:spPr>
          <a:xfrm>
            <a:off x="4764024" y="2249424"/>
            <a:ext cx="1773936"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Database</a:t>
            </a:r>
            <a:endParaRPr lang="en-US" sz="1100" dirty="0"/>
          </a:p>
        </p:txBody>
      </p:sp>
      <p:sp>
        <p:nvSpPr>
          <p:cNvPr id="20" name="Text 18"/>
          <p:cNvSpPr/>
          <p:nvPr/>
        </p:nvSpPr>
        <p:spPr>
          <a:xfrm>
            <a:off x="4764024" y="2578608"/>
            <a:ext cx="1773936" cy="1673352"/>
          </a:xfrm>
          <a:prstGeom prst="rect">
            <a:avLst/>
          </a:prstGeom>
          <a:noFill/>
          <a:ln/>
        </p:spPr>
        <p:txBody>
          <a:bodyPr wrap="square" lIns="0" tIns="0" rIns="0" bIns="0" rtlCol="0" anchor="t"/>
          <a:lstStyle/>
          <a:p>
            <a:pPr marL="0" indent="0" algn="l">
              <a:buNone/>
            </a:pPr>
            <a:r>
              <a:rPr lang="en-US" sz="1100" dirty="0">
                <a:solidFill>
                  <a:srgbClr val="F0F6FC"/>
                </a:solidFill>
                <a:latin typeface="Calibri" pitchFamily="34" charset="0"/>
                <a:ea typeface="Calibri" pitchFamily="34" charset="-122"/>
                <a:cs typeface="Calibri" pitchFamily="34" charset="-120"/>
              </a:rPr>
              <a:t>Find a customer record</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by ID, email, or phone</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in a database with</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millions of rows.</a:t>
            </a:r>
            <a:endParaRPr lang="en-US" sz="1100" dirty="0"/>
          </a:p>
        </p:txBody>
      </p:sp>
      <p:sp>
        <p:nvSpPr>
          <p:cNvPr id="21" name="Shape 19"/>
          <p:cNvSpPr/>
          <p:nvPr/>
        </p:nvSpPr>
        <p:spPr>
          <a:xfrm>
            <a:off x="6775704" y="2212848"/>
            <a:ext cx="1993392" cy="2148840"/>
          </a:xfrm>
          <a:prstGeom prst="rect">
            <a:avLst/>
          </a:prstGeom>
          <a:solidFill>
            <a:srgbClr val="161B26"/>
          </a:solidFill>
          <a:ln w="15240">
            <a:solidFill>
              <a:srgbClr val="FFA657"/>
            </a:solidFill>
            <a:prstDash val="solid"/>
          </a:ln>
          <a:effectLst>
            <a:outerShdw blurRad="177800" dist="38100" dir="8100000" algn="bl" rotWithShape="0">
              <a:srgbClr val="000000">
                <a:alpha val="35000"/>
              </a:srgbClr>
            </a:outerShdw>
          </a:effectLst>
        </p:spPr>
        <p:txBody>
          <a:bodyPr/>
          <a:lstStyle/>
          <a:p>
            <a:endParaRPr lang="en-US"/>
          </a:p>
        </p:txBody>
      </p:sp>
      <p:sp>
        <p:nvSpPr>
          <p:cNvPr id="22" name="Shape 20"/>
          <p:cNvSpPr/>
          <p:nvPr/>
        </p:nvSpPr>
        <p:spPr>
          <a:xfrm>
            <a:off x="6775704" y="2212848"/>
            <a:ext cx="1993392" cy="329184"/>
          </a:xfrm>
          <a:prstGeom prst="rect">
            <a:avLst/>
          </a:prstGeom>
          <a:solidFill>
            <a:srgbClr val="FFA657">
              <a:alpha val="78000"/>
            </a:srgbClr>
          </a:solidFill>
          <a:ln w="12700">
            <a:solidFill>
              <a:srgbClr val="FFA657"/>
            </a:solidFill>
            <a:prstDash val="solid"/>
          </a:ln>
        </p:spPr>
        <p:txBody>
          <a:bodyPr/>
          <a:lstStyle/>
          <a:p>
            <a:endParaRPr lang="en-US"/>
          </a:p>
        </p:txBody>
      </p:sp>
      <p:sp>
        <p:nvSpPr>
          <p:cNvPr id="23" name="Text 21"/>
          <p:cNvSpPr/>
          <p:nvPr/>
        </p:nvSpPr>
        <p:spPr>
          <a:xfrm>
            <a:off x="6885432" y="2249424"/>
            <a:ext cx="1773936"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File Search</a:t>
            </a:r>
            <a:endParaRPr lang="en-US" sz="1100" dirty="0"/>
          </a:p>
        </p:txBody>
      </p:sp>
      <p:sp>
        <p:nvSpPr>
          <p:cNvPr id="24" name="Text 22"/>
          <p:cNvSpPr/>
          <p:nvPr/>
        </p:nvSpPr>
        <p:spPr>
          <a:xfrm>
            <a:off x="6885432" y="2578608"/>
            <a:ext cx="1773936" cy="1673352"/>
          </a:xfrm>
          <a:prstGeom prst="rect">
            <a:avLst/>
          </a:prstGeom>
          <a:noFill/>
          <a:ln/>
        </p:spPr>
        <p:txBody>
          <a:bodyPr wrap="square" lIns="0" tIns="0" rIns="0" bIns="0" rtlCol="0" anchor="t"/>
          <a:lstStyle/>
          <a:p>
            <a:pPr marL="0" indent="0" algn="l">
              <a:buNone/>
            </a:pPr>
            <a:r>
              <a:rPr lang="en-US" sz="1100" dirty="0">
                <a:solidFill>
                  <a:srgbClr val="F0F6FC"/>
                </a:solidFill>
                <a:latin typeface="Calibri" pitchFamily="34" charset="0"/>
                <a:ea typeface="Calibri" pitchFamily="34" charset="-122"/>
                <a:cs typeface="Calibri" pitchFamily="34" charset="-120"/>
              </a:rPr>
              <a:t>Find a document on</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your computer by name</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or content using the</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OS file finder.</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 </a:t>
            </a:r>
            <a:endParaRPr lang="en-US" sz="1100" dirty="0"/>
          </a:p>
        </p:txBody>
      </p:sp>
      <p:sp>
        <p:nvSpPr>
          <p:cNvPr id="25" name="Shape 23"/>
          <p:cNvSpPr/>
          <p:nvPr/>
        </p:nvSpPr>
        <p:spPr>
          <a:xfrm>
            <a:off x="365760" y="4572000"/>
            <a:ext cx="8412480" cy="384048"/>
          </a:xfrm>
          <a:prstGeom prst="rect">
            <a:avLst/>
          </a:prstGeom>
          <a:solidFill>
            <a:srgbClr val="0A1020"/>
          </a:solidFill>
          <a:ln w="12700">
            <a:solidFill>
              <a:srgbClr val="E3B341"/>
            </a:solidFill>
            <a:prstDash val="solid"/>
          </a:ln>
        </p:spPr>
        <p:txBody>
          <a:bodyPr/>
          <a:lstStyle/>
          <a:p>
            <a:endParaRPr lang="en-US"/>
          </a:p>
        </p:txBody>
      </p:sp>
      <p:sp>
        <p:nvSpPr>
          <p:cNvPr id="26" name="Text 24"/>
          <p:cNvSpPr/>
          <p:nvPr/>
        </p:nvSpPr>
        <p:spPr>
          <a:xfrm>
            <a:off x="502920" y="4599432"/>
            <a:ext cx="8229600" cy="310896"/>
          </a:xfrm>
          <a:prstGeom prst="rect">
            <a:avLst/>
          </a:prstGeom>
          <a:noFill/>
          <a:ln/>
        </p:spPr>
        <p:txBody>
          <a:bodyPr wrap="square" lIns="0" tIns="0" rIns="0" bIns="0" rtlCol="0" anchor="ctr"/>
          <a:lstStyle/>
          <a:p>
            <a:pPr marL="0" indent="0">
              <a:buNone/>
            </a:pPr>
            <a:r>
              <a:rPr lang="en-US" sz="1100" b="1" dirty="0">
                <a:solidFill>
                  <a:srgbClr val="E3B341"/>
                </a:solidFill>
                <a:latin typeface="Calibri" pitchFamily="34" charset="0"/>
                <a:ea typeface="Calibri" pitchFamily="34" charset="-122"/>
                <a:cs typeface="Calibri" pitchFamily="34" charset="-120"/>
              </a:rPr>
              <a:t>Why this matters:  </a:t>
            </a:r>
            <a:r>
              <a:rPr lang="en-US" sz="1100" dirty="0">
                <a:solidFill>
                  <a:srgbClr val="F0F6FC"/>
                </a:solidFill>
                <a:latin typeface="Calibri" pitchFamily="34" charset="0"/>
                <a:ea typeface="Calibri" pitchFamily="34" charset="-122"/>
                <a:cs typeface="Calibri" pitchFamily="34" charset="-120"/>
              </a:rPr>
              <a:t>Search is so common that even a small improvement in the algorithm can make an entire app feel faster. That is why we study Linear Search before adding optimisations like Binary Search tomorrow.</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Shape 76">
          <a:extLst>
            <a:ext uri="{FF2B5EF4-FFF2-40B4-BE49-F238E27FC236}">
              <a16:creationId xmlns:a16="http://schemas.microsoft.com/office/drawing/2014/main" id="{67E7A1E3-A543-8BE6-F2F7-46DDFC0E611F}"/>
            </a:ext>
          </a:extLst>
        </p:cNvPr>
        <p:cNvGrpSpPr/>
        <p:nvPr/>
      </p:nvGrpSpPr>
      <p:grpSpPr>
        <a:xfrm>
          <a:off x="0" y="0"/>
          <a:ext cx="0" cy="0"/>
          <a:chOff x="0" y="0"/>
          <a:chExt cx="0" cy="0"/>
        </a:xfrm>
      </p:grpSpPr>
      <p:sp>
        <p:nvSpPr>
          <p:cNvPr id="60" name="Shape 1">
            <a:extLst>
              <a:ext uri="{FF2B5EF4-FFF2-40B4-BE49-F238E27FC236}">
                <a16:creationId xmlns:a16="http://schemas.microsoft.com/office/drawing/2014/main" id="{1B08139B-E6D3-F862-7147-3E3B0F5894E8}"/>
              </a:ext>
            </a:extLst>
          </p:cNvPr>
          <p:cNvSpPr/>
          <p:nvPr/>
        </p:nvSpPr>
        <p:spPr>
          <a:xfrm>
            <a:off x="0" y="73152"/>
            <a:ext cx="9144000" cy="841248"/>
          </a:xfrm>
          <a:prstGeom prst="rect">
            <a:avLst/>
          </a:prstGeom>
          <a:solidFill>
            <a:srgbClr val="262626"/>
          </a:solidFill>
          <a:ln w="12700">
            <a:solidFill>
              <a:srgbClr val="262626"/>
            </a:solidFill>
            <a:prstDash val="solid"/>
          </a:ln>
        </p:spPr>
        <p:txBody>
          <a:bodyPr/>
          <a:lstStyle/>
          <a:p>
            <a:endParaRPr lang="en-US"/>
          </a:p>
        </p:txBody>
      </p:sp>
      <p:sp>
        <p:nvSpPr>
          <p:cNvPr id="2" name="Shape 0">
            <a:extLst>
              <a:ext uri="{FF2B5EF4-FFF2-40B4-BE49-F238E27FC236}">
                <a16:creationId xmlns:a16="http://schemas.microsoft.com/office/drawing/2014/main" id="{36AB523D-D286-0D36-36F4-F617E2643A46}"/>
              </a:ext>
            </a:extLst>
          </p:cNvPr>
          <p:cNvSpPr/>
          <p:nvPr/>
        </p:nvSpPr>
        <p:spPr>
          <a:xfrm>
            <a:off x="0" y="0"/>
            <a:ext cx="9144000" cy="54864"/>
          </a:xfrm>
          <a:prstGeom prst="rect">
            <a:avLst/>
          </a:prstGeom>
          <a:solidFill>
            <a:srgbClr val="57E3D8"/>
          </a:solidFill>
          <a:ln w="12700">
            <a:solidFill>
              <a:srgbClr val="57E3D8"/>
            </a:solidFill>
            <a:prstDash val="solid"/>
          </a:ln>
        </p:spPr>
        <p:txBody>
          <a:bodyPr/>
          <a:lstStyle/>
          <a:p>
            <a:endParaRPr lang="en-US"/>
          </a:p>
        </p:txBody>
      </p:sp>
      <p:sp>
        <p:nvSpPr>
          <p:cNvPr id="3" name="Shape 1">
            <a:extLst>
              <a:ext uri="{FF2B5EF4-FFF2-40B4-BE49-F238E27FC236}">
                <a16:creationId xmlns:a16="http://schemas.microsoft.com/office/drawing/2014/main" id="{96E2A5D1-669D-2D64-D734-7763B1DABBBF}"/>
              </a:ext>
            </a:extLst>
          </p:cNvPr>
          <p:cNvSpPr/>
          <p:nvPr/>
        </p:nvSpPr>
        <p:spPr>
          <a:xfrm>
            <a:off x="0" y="5088636"/>
            <a:ext cx="9144000" cy="54864"/>
          </a:xfrm>
          <a:prstGeom prst="rect">
            <a:avLst/>
          </a:prstGeom>
          <a:solidFill>
            <a:srgbClr val="4F29B7"/>
          </a:solidFill>
          <a:ln w="12700">
            <a:solidFill>
              <a:srgbClr val="4F29B7"/>
            </a:solidFill>
            <a:prstDash val="solid"/>
          </a:ln>
        </p:spPr>
        <p:txBody>
          <a:bodyPr/>
          <a:lstStyle/>
          <a:p>
            <a:endParaRPr lang="en-US"/>
          </a:p>
        </p:txBody>
      </p:sp>
      <p:sp>
        <p:nvSpPr>
          <p:cNvPr id="4" name="Text 2">
            <a:extLst>
              <a:ext uri="{FF2B5EF4-FFF2-40B4-BE49-F238E27FC236}">
                <a16:creationId xmlns:a16="http://schemas.microsoft.com/office/drawing/2014/main" id="{94F68E73-7C67-8C4B-94D3-86BAF3646AF3}"/>
              </a:ext>
            </a:extLst>
          </p:cNvPr>
          <p:cNvSpPr/>
          <p:nvPr/>
        </p:nvSpPr>
        <p:spPr>
          <a:xfrm>
            <a:off x="347472" y="164592"/>
            <a:ext cx="8449056" cy="475488"/>
          </a:xfrm>
          <a:prstGeom prst="rect">
            <a:avLst/>
          </a:prstGeom>
          <a:noFill/>
          <a:ln/>
        </p:spPr>
        <p:txBody>
          <a:bodyPr wrap="square" rtlCol="0" anchor="ctr"/>
          <a:lstStyle/>
          <a:p>
            <a:pPr marL="0" indent="0">
              <a:buNone/>
            </a:pPr>
            <a:r>
              <a:rPr lang="en-US" sz="2800" b="1" dirty="0">
                <a:solidFill>
                  <a:srgbClr val="57E3D8"/>
                </a:solidFill>
                <a:latin typeface="Calibri" pitchFamily="34" charset="0"/>
                <a:ea typeface="Calibri" pitchFamily="34" charset="-122"/>
                <a:cs typeface="Calibri" pitchFamily="34" charset="-120"/>
              </a:rPr>
              <a:t>What is Linear Search?</a:t>
            </a:r>
            <a:endParaRPr lang="en-US" sz="2800" dirty="0"/>
          </a:p>
        </p:txBody>
      </p:sp>
      <p:sp>
        <p:nvSpPr>
          <p:cNvPr id="5" name="Text 3">
            <a:extLst>
              <a:ext uri="{FF2B5EF4-FFF2-40B4-BE49-F238E27FC236}">
                <a16:creationId xmlns:a16="http://schemas.microsoft.com/office/drawing/2014/main" id="{B0544E3C-EA5C-AE66-3D74-449FAE81DEA2}"/>
              </a:ext>
            </a:extLst>
          </p:cNvPr>
          <p:cNvSpPr/>
          <p:nvPr/>
        </p:nvSpPr>
        <p:spPr>
          <a:xfrm>
            <a:off x="347472" y="621792"/>
            <a:ext cx="8449056" cy="256032"/>
          </a:xfrm>
          <a:prstGeom prst="rect">
            <a:avLst/>
          </a:prstGeom>
          <a:noFill/>
          <a:ln/>
        </p:spPr>
        <p:txBody>
          <a:bodyPr wrap="square" rtlCol="0" anchor="ctr"/>
          <a:lstStyle/>
          <a:p>
            <a:pPr marL="0" indent="0">
              <a:buNone/>
            </a:pPr>
            <a:r>
              <a:rPr lang="en-US" sz="1300" i="1" dirty="0">
                <a:solidFill>
                  <a:srgbClr val="EDEDED"/>
                </a:solidFill>
                <a:latin typeface="Calibri" pitchFamily="34" charset="0"/>
                <a:ea typeface="Calibri" pitchFamily="34" charset="-122"/>
                <a:cs typeface="Calibri" pitchFamily="34" charset="-120"/>
              </a:rPr>
              <a:t>Definition · How it works · When to use it</a:t>
            </a:r>
            <a:endParaRPr lang="en-US" sz="1300" dirty="0"/>
          </a:p>
        </p:txBody>
      </p:sp>
      <p:sp>
        <p:nvSpPr>
          <p:cNvPr id="6" name="Shape 4">
            <a:extLst>
              <a:ext uri="{FF2B5EF4-FFF2-40B4-BE49-F238E27FC236}">
                <a16:creationId xmlns:a16="http://schemas.microsoft.com/office/drawing/2014/main" id="{0620B4A6-1285-10D5-B7E1-D15AEF559736}"/>
              </a:ext>
            </a:extLst>
          </p:cNvPr>
          <p:cNvSpPr/>
          <p:nvPr/>
        </p:nvSpPr>
        <p:spPr>
          <a:xfrm>
            <a:off x="256032" y="987552"/>
            <a:ext cx="2779776" cy="4041648"/>
          </a:xfrm>
          <a:prstGeom prst="roundRect">
            <a:avLst>
              <a:gd name="adj" fmla="val 4605"/>
            </a:avLst>
          </a:prstGeom>
          <a:solidFill>
            <a:srgbClr val="1E0F40"/>
          </a:solidFill>
          <a:ln w="19050">
            <a:solidFill>
              <a:srgbClr val="4F29B7"/>
            </a:solidFill>
            <a:prstDash val="solid"/>
          </a:ln>
        </p:spPr>
        <p:txBody>
          <a:bodyPr/>
          <a:lstStyle/>
          <a:p>
            <a:endParaRPr lang="en-US"/>
          </a:p>
        </p:txBody>
      </p:sp>
      <p:sp>
        <p:nvSpPr>
          <p:cNvPr id="7" name="Text 5">
            <a:extLst>
              <a:ext uri="{FF2B5EF4-FFF2-40B4-BE49-F238E27FC236}">
                <a16:creationId xmlns:a16="http://schemas.microsoft.com/office/drawing/2014/main" id="{09026CF8-B1DC-8B2E-83F5-9A0B426D2580}"/>
              </a:ext>
            </a:extLst>
          </p:cNvPr>
          <p:cNvSpPr/>
          <p:nvPr/>
        </p:nvSpPr>
        <p:spPr>
          <a:xfrm>
            <a:off x="256032" y="1033272"/>
            <a:ext cx="2779776" cy="457200"/>
          </a:xfrm>
          <a:prstGeom prst="rect">
            <a:avLst/>
          </a:prstGeom>
          <a:noFill/>
          <a:ln/>
        </p:spPr>
        <p:txBody>
          <a:bodyPr wrap="square" rtlCol="0" anchor="ctr"/>
          <a:lstStyle/>
          <a:p>
            <a:pPr marL="0" indent="0" algn="ctr">
              <a:buNone/>
            </a:pPr>
            <a:r>
              <a:rPr lang="en-US" sz="2000" b="1" dirty="0">
                <a:solidFill>
                  <a:srgbClr val="4F29B7"/>
                </a:solidFill>
                <a:latin typeface="Calibri" pitchFamily="34" charset="0"/>
                <a:ea typeface="Calibri" pitchFamily="34" charset="-122"/>
                <a:cs typeface="Calibri" pitchFamily="34" charset="-120"/>
              </a:rPr>
              <a:t>Definition</a:t>
            </a:r>
            <a:endParaRPr lang="en-US" sz="2000" dirty="0"/>
          </a:p>
        </p:txBody>
      </p:sp>
      <p:sp>
        <p:nvSpPr>
          <p:cNvPr id="8" name="Text 6">
            <a:extLst>
              <a:ext uri="{FF2B5EF4-FFF2-40B4-BE49-F238E27FC236}">
                <a16:creationId xmlns:a16="http://schemas.microsoft.com/office/drawing/2014/main" id="{4D3D41A9-4F3D-397F-A9C4-61A6A930AF77}"/>
              </a:ext>
            </a:extLst>
          </p:cNvPr>
          <p:cNvSpPr/>
          <p:nvPr/>
        </p:nvSpPr>
        <p:spPr>
          <a:xfrm>
            <a:off x="256032" y="1463040"/>
            <a:ext cx="2779776" cy="256032"/>
          </a:xfrm>
          <a:prstGeom prst="rect">
            <a:avLst/>
          </a:prstGeom>
          <a:noFill/>
          <a:ln/>
        </p:spPr>
        <p:txBody>
          <a:bodyPr wrap="square" rtlCol="0" anchor="ctr"/>
          <a:lstStyle/>
          <a:p>
            <a:pPr marL="0" indent="0" algn="ctr">
              <a:buNone/>
            </a:pPr>
            <a:r>
              <a:rPr lang="en-US" sz="1000" i="1" dirty="0">
                <a:solidFill>
                  <a:srgbClr val="EDEDED"/>
                </a:solidFill>
                <a:latin typeface="Calibri" pitchFamily="34" charset="0"/>
                <a:ea typeface="Calibri" pitchFamily="34" charset="-122"/>
                <a:cs typeface="Calibri" pitchFamily="34" charset="-120"/>
              </a:rPr>
              <a:t>The simplest way to search</a:t>
            </a:r>
            <a:endParaRPr lang="en-US" sz="1000" dirty="0"/>
          </a:p>
        </p:txBody>
      </p:sp>
      <p:sp>
        <p:nvSpPr>
          <p:cNvPr id="9" name="Shape 7">
            <a:extLst>
              <a:ext uri="{FF2B5EF4-FFF2-40B4-BE49-F238E27FC236}">
                <a16:creationId xmlns:a16="http://schemas.microsoft.com/office/drawing/2014/main" id="{6F286425-02A2-36F1-AD2F-8D132EFF3265}"/>
              </a:ext>
            </a:extLst>
          </p:cNvPr>
          <p:cNvSpPr/>
          <p:nvPr/>
        </p:nvSpPr>
        <p:spPr>
          <a:xfrm>
            <a:off x="384048" y="1901952"/>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10" name="Text 8">
            <a:extLst>
              <a:ext uri="{FF2B5EF4-FFF2-40B4-BE49-F238E27FC236}">
                <a16:creationId xmlns:a16="http://schemas.microsoft.com/office/drawing/2014/main" id="{E3CCCA66-CDB9-37CF-7D8A-7918BF601DCD}"/>
              </a:ext>
            </a:extLst>
          </p:cNvPr>
          <p:cNvSpPr/>
          <p:nvPr/>
        </p:nvSpPr>
        <p:spPr>
          <a:xfrm>
            <a:off x="457200" y="1938528"/>
            <a:ext cx="2377440" cy="201168"/>
          </a:xfrm>
          <a:prstGeom prst="rect">
            <a:avLst/>
          </a:prstGeom>
          <a:noFill/>
          <a:ln/>
        </p:spPr>
        <p:txBody>
          <a:bodyPr wrap="square" lIns="0" tIns="0" rIns="0" bIns="0" rtlCol="0" anchor="ctr"/>
          <a:lstStyle/>
          <a:p>
            <a:pPr marL="0" indent="0">
              <a:buNone/>
            </a:pPr>
            <a:r>
              <a:rPr lang="en-US" sz="800" b="1" dirty="0">
                <a:solidFill>
                  <a:srgbClr val="4F29B7"/>
                </a:solidFill>
                <a:latin typeface="Calibri" pitchFamily="34" charset="0"/>
                <a:ea typeface="Calibri" pitchFamily="34" charset="-122"/>
                <a:cs typeface="Calibri" pitchFamily="34" charset="-120"/>
              </a:rPr>
              <a:t>What it does</a:t>
            </a:r>
            <a:endParaRPr lang="en-US" sz="800" dirty="0"/>
          </a:p>
        </p:txBody>
      </p:sp>
      <p:sp>
        <p:nvSpPr>
          <p:cNvPr id="11" name="Text 9">
            <a:extLst>
              <a:ext uri="{FF2B5EF4-FFF2-40B4-BE49-F238E27FC236}">
                <a16:creationId xmlns:a16="http://schemas.microsoft.com/office/drawing/2014/main" id="{5DBA05D7-435E-9CC8-C1F8-1F4D7C558FB6}"/>
              </a:ext>
            </a:extLst>
          </p:cNvPr>
          <p:cNvSpPr/>
          <p:nvPr/>
        </p:nvSpPr>
        <p:spPr>
          <a:xfrm>
            <a:off x="457200" y="2157984"/>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Finds an item in a list</a:t>
            </a:r>
            <a:endParaRPr lang="en-US" sz="1000" dirty="0"/>
          </a:p>
        </p:txBody>
      </p:sp>
      <p:sp>
        <p:nvSpPr>
          <p:cNvPr id="12" name="Shape 10">
            <a:extLst>
              <a:ext uri="{FF2B5EF4-FFF2-40B4-BE49-F238E27FC236}">
                <a16:creationId xmlns:a16="http://schemas.microsoft.com/office/drawing/2014/main" id="{6D9A7D8D-F20F-F17A-CA44-E30DA6E443DE}"/>
              </a:ext>
            </a:extLst>
          </p:cNvPr>
          <p:cNvSpPr/>
          <p:nvPr/>
        </p:nvSpPr>
        <p:spPr>
          <a:xfrm>
            <a:off x="384048" y="2505456"/>
            <a:ext cx="2523744" cy="512064"/>
          </a:xfrm>
          <a:prstGeom prst="roundRect">
            <a:avLst>
              <a:gd name="adj" fmla="val 12500"/>
            </a:avLst>
          </a:prstGeom>
          <a:solidFill>
            <a:srgbClr val="250F50"/>
          </a:solidFill>
          <a:ln w="12700">
            <a:solidFill>
              <a:srgbClr val="250F50"/>
            </a:solidFill>
            <a:prstDash val="solid"/>
          </a:ln>
        </p:spPr>
        <p:txBody>
          <a:bodyPr/>
          <a:lstStyle/>
          <a:p>
            <a:endParaRPr lang="en-US"/>
          </a:p>
        </p:txBody>
      </p:sp>
      <p:sp>
        <p:nvSpPr>
          <p:cNvPr id="13" name="Text 11">
            <a:extLst>
              <a:ext uri="{FF2B5EF4-FFF2-40B4-BE49-F238E27FC236}">
                <a16:creationId xmlns:a16="http://schemas.microsoft.com/office/drawing/2014/main" id="{F18D6611-CA0F-6B2E-017D-756FEF7CEFD5}"/>
              </a:ext>
            </a:extLst>
          </p:cNvPr>
          <p:cNvSpPr/>
          <p:nvPr/>
        </p:nvSpPr>
        <p:spPr>
          <a:xfrm>
            <a:off x="457200" y="2542032"/>
            <a:ext cx="2377440" cy="201168"/>
          </a:xfrm>
          <a:prstGeom prst="rect">
            <a:avLst/>
          </a:prstGeom>
          <a:noFill/>
          <a:ln/>
        </p:spPr>
        <p:txBody>
          <a:bodyPr wrap="square" lIns="0" tIns="0" rIns="0" bIns="0" rtlCol="0" anchor="ctr"/>
          <a:lstStyle/>
          <a:p>
            <a:pPr marL="0" indent="0">
              <a:buNone/>
            </a:pPr>
            <a:r>
              <a:rPr lang="en-US" sz="800" b="1" dirty="0">
                <a:solidFill>
                  <a:srgbClr val="4F29B7"/>
                </a:solidFill>
                <a:latin typeface="Calibri" pitchFamily="34" charset="0"/>
                <a:ea typeface="Calibri" pitchFamily="34" charset="-122"/>
                <a:cs typeface="Calibri" pitchFamily="34" charset="-120"/>
              </a:rPr>
              <a:t>How</a:t>
            </a:r>
            <a:endParaRPr lang="en-US" sz="800" dirty="0"/>
          </a:p>
        </p:txBody>
      </p:sp>
      <p:sp>
        <p:nvSpPr>
          <p:cNvPr id="14" name="Text 12">
            <a:extLst>
              <a:ext uri="{FF2B5EF4-FFF2-40B4-BE49-F238E27FC236}">
                <a16:creationId xmlns:a16="http://schemas.microsoft.com/office/drawing/2014/main" id="{D77B5AAC-9204-5CA5-F374-0C161542F61F}"/>
              </a:ext>
            </a:extLst>
          </p:cNvPr>
          <p:cNvSpPr/>
          <p:nvPr/>
        </p:nvSpPr>
        <p:spPr>
          <a:xfrm>
            <a:off x="457200" y="2761488"/>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Checks every item in order</a:t>
            </a:r>
            <a:endParaRPr lang="en-US" sz="1000" dirty="0"/>
          </a:p>
        </p:txBody>
      </p:sp>
      <p:sp>
        <p:nvSpPr>
          <p:cNvPr id="15" name="Shape 13">
            <a:extLst>
              <a:ext uri="{FF2B5EF4-FFF2-40B4-BE49-F238E27FC236}">
                <a16:creationId xmlns:a16="http://schemas.microsoft.com/office/drawing/2014/main" id="{C41D8654-471B-E1B5-2246-47BEE515918D}"/>
              </a:ext>
            </a:extLst>
          </p:cNvPr>
          <p:cNvSpPr/>
          <p:nvPr/>
        </p:nvSpPr>
        <p:spPr>
          <a:xfrm>
            <a:off x="384048" y="3108960"/>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16" name="Text 14">
            <a:extLst>
              <a:ext uri="{FF2B5EF4-FFF2-40B4-BE49-F238E27FC236}">
                <a16:creationId xmlns:a16="http://schemas.microsoft.com/office/drawing/2014/main" id="{5BFDBB1E-9225-A8E1-1205-7B7E0637227B}"/>
              </a:ext>
            </a:extLst>
          </p:cNvPr>
          <p:cNvSpPr/>
          <p:nvPr/>
        </p:nvSpPr>
        <p:spPr>
          <a:xfrm>
            <a:off x="457200" y="3145536"/>
            <a:ext cx="2377440" cy="201168"/>
          </a:xfrm>
          <a:prstGeom prst="rect">
            <a:avLst/>
          </a:prstGeom>
          <a:noFill/>
          <a:ln/>
        </p:spPr>
        <p:txBody>
          <a:bodyPr wrap="square" lIns="0" tIns="0" rIns="0" bIns="0" rtlCol="0" anchor="ctr"/>
          <a:lstStyle/>
          <a:p>
            <a:pPr marL="0" indent="0">
              <a:buNone/>
            </a:pPr>
            <a:r>
              <a:rPr lang="en-US" sz="800" b="1" dirty="0">
                <a:solidFill>
                  <a:srgbClr val="4F29B7"/>
                </a:solidFill>
                <a:latin typeface="Calibri" pitchFamily="34" charset="0"/>
                <a:ea typeface="Calibri" pitchFamily="34" charset="-122"/>
                <a:cs typeface="Calibri" pitchFamily="34" charset="-120"/>
              </a:rPr>
              <a:t>Input</a:t>
            </a:r>
            <a:endParaRPr lang="en-US" sz="800" dirty="0"/>
          </a:p>
        </p:txBody>
      </p:sp>
      <p:sp>
        <p:nvSpPr>
          <p:cNvPr id="17" name="Text 15">
            <a:extLst>
              <a:ext uri="{FF2B5EF4-FFF2-40B4-BE49-F238E27FC236}">
                <a16:creationId xmlns:a16="http://schemas.microsoft.com/office/drawing/2014/main" id="{BE4CBAA0-1DD8-C300-54C8-98269928DCB6}"/>
              </a:ext>
            </a:extLst>
          </p:cNvPr>
          <p:cNvSpPr/>
          <p:nvPr/>
        </p:nvSpPr>
        <p:spPr>
          <a:xfrm>
            <a:off x="457200" y="3364992"/>
            <a:ext cx="2377440" cy="201168"/>
          </a:xfrm>
          <a:prstGeom prst="rect">
            <a:avLst/>
          </a:prstGeom>
          <a:noFill/>
          <a:ln/>
        </p:spPr>
        <p:txBody>
          <a:bodyPr wrap="square" lIns="0" tIns="0" rIns="0" bIns="0" rtlCol="0" anchor="ctr"/>
          <a:lstStyle/>
          <a:p>
            <a:r>
              <a:rPr lang="en-US" sz="1000" dirty="0">
                <a:solidFill>
                  <a:srgbClr val="EDEDED"/>
                </a:solidFill>
                <a:latin typeface="Calibri" pitchFamily="34" charset="0"/>
                <a:ea typeface="Calibri" pitchFamily="34" charset="-122"/>
                <a:cs typeface="Calibri" pitchFamily="34" charset="-120"/>
              </a:rPr>
              <a:t>A list and a target value</a:t>
            </a:r>
          </a:p>
        </p:txBody>
      </p:sp>
      <p:sp>
        <p:nvSpPr>
          <p:cNvPr id="18" name="Shape 16">
            <a:extLst>
              <a:ext uri="{FF2B5EF4-FFF2-40B4-BE49-F238E27FC236}">
                <a16:creationId xmlns:a16="http://schemas.microsoft.com/office/drawing/2014/main" id="{2F063973-CA98-3791-04FD-D91B4BFEBE96}"/>
              </a:ext>
            </a:extLst>
          </p:cNvPr>
          <p:cNvSpPr/>
          <p:nvPr/>
        </p:nvSpPr>
        <p:spPr>
          <a:xfrm>
            <a:off x="384048" y="3712464"/>
            <a:ext cx="2523744" cy="512064"/>
          </a:xfrm>
          <a:prstGeom prst="roundRect">
            <a:avLst>
              <a:gd name="adj" fmla="val 12500"/>
            </a:avLst>
          </a:prstGeom>
          <a:solidFill>
            <a:srgbClr val="250F50"/>
          </a:solidFill>
          <a:ln w="12700">
            <a:solidFill>
              <a:srgbClr val="250F50"/>
            </a:solidFill>
            <a:prstDash val="solid"/>
          </a:ln>
        </p:spPr>
        <p:txBody>
          <a:bodyPr/>
          <a:lstStyle/>
          <a:p>
            <a:endParaRPr lang="en-US"/>
          </a:p>
        </p:txBody>
      </p:sp>
      <p:sp>
        <p:nvSpPr>
          <p:cNvPr id="19" name="Text 17">
            <a:extLst>
              <a:ext uri="{FF2B5EF4-FFF2-40B4-BE49-F238E27FC236}">
                <a16:creationId xmlns:a16="http://schemas.microsoft.com/office/drawing/2014/main" id="{4A354414-8980-435D-357F-D4B467A84BCA}"/>
              </a:ext>
            </a:extLst>
          </p:cNvPr>
          <p:cNvSpPr/>
          <p:nvPr/>
        </p:nvSpPr>
        <p:spPr>
          <a:xfrm>
            <a:off x="457200" y="3749040"/>
            <a:ext cx="2377440" cy="201168"/>
          </a:xfrm>
          <a:prstGeom prst="rect">
            <a:avLst/>
          </a:prstGeom>
          <a:noFill/>
          <a:ln/>
        </p:spPr>
        <p:txBody>
          <a:bodyPr wrap="square" lIns="0" tIns="0" rIns="0" bIns="0" rtlCol="0" anchor="ctr"/>
          <a:lstStyle/>
          <a:p>
            <a:pPr marL="0" indent="0">
              <a:buNone/>
            </a:pPr>
            <a:r>
              <a:rPr lang="en-US" sz="800" b="1" dirty="0">
                <a:solidFill>
                  <a:srgbClr val="4F29B7"/>
                </a:solidFill>
                <a:latin typeface="Calibri" pitchFamily="34" charset="0"/>
                <a:ea typeface="Calibri" pitchFamily="34" charset="-122"/>
                <a:cs typeface="Calibri" pitchFamily="34" charset="-120"/>
              </a:rPr>
              <a:t>Output</a:t>
            </a:r>
            <a:endParaRPr lang="en-US" sz="800" dirty="0"/>
          </a:p>
        </p:txBody>
      </p:sp>
      <p:sp>
        <p:nvSpPr>
          <p:cNvPr id="20" name="Text 18">
            <a:extLst>
              <a:ext uri="{FF2B5EF4-FFF2-40B4-BE49-F238E27FC236}">
                <a16:creationId xmlns:a16="http://schemas.microsoft.com/office/drawing/2014/main" id="{10988D5E-7783-F62D-3D58-985154F9F681}"/>
              </a:ext>
            </a:extLst>
          </p:cNvPr>
          <p:cNvSpPr/>
          <p:nvPr/>
        </p:nvSpPr>
        <p:spPr>
          <a:xfrm>
            <a:off x="457200" y="3968496"/>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Index of match, or -1</a:t>
            </a:r>
            <a:endParaRPr lang="en-US" sz="1000" dirty="0"/>
          </a:p>
        </p:txBody>
      </p:sp>
      <p:sp>
        <p:nvSpPr>
          <p:cNvPr id="21" name="Shape 19">
            <a:extLst>
              <a:ext uri="{FF2B5EF4-FFF2-40B4-BE49-F238E27FC236}">
                <a16:creationId xmlns:a16="http://schemas.microsoft.com/office/drawing/2014/main" id="{6B229D71-6A56-AE58-3983-D7ECD4AE715E}"/>
              </a:ext>
            </a:extLst>
          </p:cNvPr>
          <p:cNvSpPr/>
          <p:nvPr/>
        </p:nvSpPr>
        <p:spPr>
          <a:xfrm>
            <a:off x="384048" y="4315968"/>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22" name="Text 20">
            <a:extLst>
              <a:ext uri="{FF2B5EF4-FFF2-40B4-BE49-F238E27FC236}">
                <a16:creationId xmlns:a16="http://schemas.microsoft.com/office/drawing/2014/main" id="{45F3FB27-EDB2-C24A-106E-053C8980AE8E}"/>
              </a:ext>
            </a:extLst>
          </p:cNvPr>
          <p:cNvSpPr/>
          <p:nvPr/>
        </p:nvSpPr>
        <p:spPr>
          <a:xfrm>
            <a:off x="457200" y="4352544"/>
            <a:ext cx="2377440" cy="201168"/>
          </a:xfrm>
          <a:prstGeom prst="rect">
            <a:avLst/>
          </a:prstGeom>
          <a:noFill/>
          <a:ln/>
        </p:spPr>
        <p:txBody>
          <a:bodyPr wrap="square" lIns="0" tIns="0" rIns="0" bIns="0" rtlCol="0" anchor="ctr"/>
          <a:lstStyle/>
          <a:p>
            <a:pPr marL="0" indent="0">
              <a:buNone/>
            </a:pPr>
            <a:r>
              <a:rPr lang="en-US" sz="800" b="1" dirty="0">
                <a:solidFill>
                  <a:srgbClr val="4F29B7"/>
                </a:solidFill>
                <a:latin typeface="Calibri" pitchFamily="34" charset="0"/>
                <a:ea typeface="Calibri" pitchFamily="34" charset="-122"/>
                <a:cs typeface="Calibri" pitchFamily="34" charset="-120"/>
              </a:rPr>
              <a:t>Other names</a:t>
            </a:r>
            <a:endParaRPr lang="en-US" sz="800" dirty="0"/>
          </a:p>
        </p:txBody>
      </p:sp>
      <p:sp>
        <p:nvSpPr>
          <p:cNvPr id="23" name="Text 21">
            <a:extLst>
              <a:ext uri="{FF2B5EF4-FFF2-40B4-BE49-F238E27FC236}">
                <a16:creationId xmlns:a16="http://schemas.microsoft.com/office/drawing/2014/main" id="{5CA971F4-B0DF-8B96-0DC6-6F777F3A889A}"/>
              </a:ext>
            </a:extLst>
          </p:cNvPr>
          <p:cNvSpPr/>
          <p:nvPr/>
        </p:nvSpPr>
        <p:spPr>
          <a:xfrm>
            <a:off x="457200" y="4572000"/>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Sequential Search</a:t>
            </a:r>
            <a:endParaRPr lang="en-US" sz="1000" dirty="0"/>
          </a:p>
        </p:txBody>
      </p:sp>
      <p:sp>
        <p:nvSpPr>
          <p:cNvPr id="24" name="Shape 22">
            <a:extLst>
              <a:ext uri="{FF2B5EF4-FFF2-40B4-BE49-F238E27FC236}">
                <a16:creationId xmlns:a16="http://schemas.microsoft.com/office/drawing/2014/main" id="{BD48AD9D-5621-E7F3-EC42-8BA9A0AFAFB7}"/>
              </a:ext>
            </a:extLst>
          </p:cNvPr>
          <p:cNvSpPr/>
          <p:nvPr/>
        </p:nvSpPr>
        <p:spPr>
          <a:xfrm>
            <a:off x="3163824" y="987552"/>
            <a:ext cx="2779776" cy="4041648"/>
          </a:xfrm>
          <a:prstGeom prst="roundRect">
            <a:avLst>
              <a:gd name="adj" fmla="val 4605"/>
            </a:avLst>
          </a:prstGeom>
          <a:solidFill>
            <a:srgbClr val="110A2E"/>
          </a:solidFill>
          <a:ln w="19050">
            <a:solidFill>
              <a:srgbClr val="A380FF"/>
            </a:solidFill>
            <a:prstDash val="solid"/>
          </a:ln>
        </p:spPr>
        <p:txBody>
          <a:bodyPr/>
          <a:lstStyle/>
          <a:p>
            <a:endParaRPr lang="en-US"/>
          </a:p>
        </p:txBody>
      </p:sp>
      <p:sp>
        <p:nvSpPr>
          <p:cNvPr id="25" name="Text 23">
            <a:extLst>
              <a:ext uri="{FF2B5EF4-FFF2-40B4-BE49-F238E27FC236}">
                <a16:creationId xmlns:a16="http://schemas.microsoft.com/office/drawing/2014/main" id="{2A2AE263-E84F-29F5-59D7-0A4B5C3EDF8B}"/>
              </a:ext>
            </a:extLst>
          </p:cNvPr>
          <p:cNvSpPr/>
          <p:nvPr/>
        </p:nvSpPr>
        <p:spPr>
          <a:xfrm>
            <a:off x="3163824" y="1033272"/>
            <a:ext cx="2779776" cy="457200"/>
          </a:xfrm>
          <a:prstGeom prst="rect">
            <a:avLst/>
          </a:prstGeom>
          <a:noFill/>
          <a:ln/>
        </p:spPr>
        <p:txBody>
          <a:bodyPr wrap="square" rtlCol="0" anchor="ctr"/>
          <a:lstStyle/>
          <a:p>
            <a:pPr marL="0" indent="0" algn="ctr">
              <a:buNone/>
            </a:pPr>
            <a:r>
              <a:rPr lang="en-US" sz="2000" b="1" dirty="0">
                <a:solidFill>
                  <a:srgbClr val="A380FF"/>
                </a:solidFill>
                <a:latin typeface="Calibri" pitchFamily="34" charset="0"/>
                <a:ea typeface="Calibri" pitchFamily="34" charset="-122"/>
                <a:cs typeface="Calibri" pitchFamily="34" charset="-120"/>
              </a:rPr>
              <a:t>How It Works</a:t>
            </a:r>
            <a:endParaRPr lang="en-US" sz="2000" dirty="0"/>
          </a:p>
        </p:txBody>
      </p:sp>
      <p:sp>
        <p:nvSpPr>
          <p:cNvPr id="26" name="Text 24">
            <a:extLst>
              <a:ext uri="{FF2B5EF4-FFF2-40B4-BE49-F238E27FC236}">
                <a16:creationId xmlns:a16="http://schemas.microsoft.com/office/drawing/2014/main" id="{F014DDB2-FE98-268C-10BC-7AFC14ECC9A2}"/>
              </a:ext>
            </a:extLst>
          </p:cNvPr>
          <p:cNvSpPr/>
          <p:nvPr/>
        </p:nvSpPr>
        <p:spPr>
          <a:xfrm>
            <a:off x="3163824" y="1463040"/>
            <a:ext cx="2779776" cy="256032"/>
          </a:xfrm>
          <a:prstGeom prst="rect">
            <a:avLst/>
          </a:prstGeom>
          <a:noFill/>
          <a:ln/>
        </p:spPr>
        <p:txBody>
          <a:bodyPr wrap="square" rtlCol="0" anchor="ctr"/>
          <a:lstStyle/>
          <a:p>
            <a:pPr marL="0" indent="0" algn="ctr">
              <a:buNone/>
            </a:pPr>
            <a:r>
              <a:rPr lang="en-US" sz="1000" i="1" dirty="0">
                <a:solidFill>
                  <a:srgbClr val="EDEDED"/>
                </a:solidFill>
                <a:latin typeface="Calibri" pitchFamily="34" charset="0"/>
                <a:ea typeface="Calibri" pitchFamily="34" charset="-122"/>
                <a:cs typeface="Calibri" pitchFamily="34" charset="-120"/>
              </a:rPr>
              <a:t>Five clear steps, every time</a:t>
            </a:r>
            <a:endParaRPr lang="en-US" sz="1000" dirty="0"/>
          </a:p>
        </p:txBody>
      </p:sp>
      <p:sp>
        <p:nvSpPr>
          <p:cNvPr id="27" name="Shape 25">
            <a:extLst>
              <a:ext uri="{FF2B5EF4-FFF2-40B4-BE49-F238E27FC236}">
                <a16:creationId xmlns:a16="http://schemas.microsoft.com/office/drawing/2014/main" id="{A05F0EF5-72AD-AB9A-BBF5-81CE3F4341A6}"/>
              </a:ext>
            </a:extLst>
          </p:cNvPr>
          <p:cNvSpPr/>
          <p:nvPr/>
        </p:nvSpPr>
        <p:spPr>
          <a:xfrm>
            <a:off x="3291840" y="1901952"/>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28" name="Text 26">
            <a:extLst>
              <a:ext uri="{FF2B5EF4-FFF2-40B4-BE49-F238E27FC236}">
                <a16:creationId xmlns:a16="http://schemas.microsoft.com/office/drawing/2014/main" id="{083A298E-36BD-B8BD-C903-2E6D89F08F9D}"/>
              </a:ext>
            </a:extLst>
          </p:cNvPr>
          <p:cNvSpPr/>
          <p:nvPr/>
        </p:nvSpPr>
        <p:spPr>
          <a:xfrm>
            <a:off x="3364992" y="1938528"/>
            <a:ext cx="2377440" cy="201168"/>
          </a:xfrm>
          <a:prstGeom prst="rect">
            <a:avLst/>
          </a:prstGeom>
          <a:noFill/>
          <a:ln/>
        </p:spPr>
        <p:txBody>
          <a:bodyPr wrap="square" lIns="0" tIns="0" rIns="0" bIns="0" rtlCol="0" anchor="ctr"/>
          <a:lstStyle/>
          <a:p>
            <a:pPr marL="0" indent="0">
              <a:buNone/>
            </a:pPr>
            <a:r>
              <a:rPr lang="en-US" sz="800" b="1" dirty="0">
                <a:solidFill>
                  <a:srgbClr val="A380FF"/>
                </a:solidFill>
                <a:latin typeface="Calibri" pitchFamily="34" charset="0"/>
                <a:ea typeface="Calibri" pitchFamily="34" charset="-122"/>
                <a:cs typeface="Calibri" pitchFamily="34" charset="-120"/>
              </a:rPr>
              <a:t>Step 1</a:t>
            </a:r>
            <a:endParaRPr lang="en-US" sz="800" dirty="0"/>
          </a:p>
        </p:txBody>
      </p:sp>
      <p:sp>
        <p:nvSpPr>
          <p:cNvPr id="29" name="Text 27">
            <a:extLst>
              <a:ext uri="{FF2B5EF4-FFF2-40B4-BE49-F238E27FC236}">
                <a16:creationId xmlns:a16="http://schemas.microsoft.com/office/drawing/2014/main" id="{B10E638F-8073-CA1D-CF8D-6A0034C827F0}"/>
              </a:ext>
            </a:extLst>
          </p:cNvPr>
          <p:cNvSpPr/>
          <p:nvPr/>
        </p:nvSpPr>
        <p:spPr>
          <a:xfrm>
            <a:off x="3364992" y="2157984"/>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Start at the first item</a:t>
            </a:r>
            <a:endParaRPr lang="en-US" sz="1000" dirty="0"/>
          </a:p>
        </p:txBody>
      </p:sp>
      <p:sp>
        <p:nvSpPr>
          <p:cNvPr id="30" name="Shape 28">
            <a:extLst>
              <a:ext uri="{FF2B5EF4-FFF2-40B4-BE49-F238E27FC236}">
                <a16:creationId xmlns:a16="http://schemas.microsoft.com/office/drawing/2014/main" id="{1115F7D5-AB59-4793-3017-56977D651FA9}"/>
              </a:ext>
            </a:extLst>
          </p:cNvPr>
          <p:cNvSpPr/>
          <p:nvPr/>
        </p:nvSpPr>
        <p:spPr>
          <a:xfrm>
            <a:off x="3291840" y="2505456"/>
            <a:ext cx="2523744" cy="512064"/>
          </a:xfrm>
          <a:prstGeom prst="roundRect">
            <a:avLst>
              <a:gd name="adj" fmla="val 12500"/>
            </a:avLst>
          </a:prstGeom>
          <a:solidFill>
            <a:srgbClr val="250F50"/>
          </a:solidFill>
          <a:ln w="12700">
            <a:solidFill>
              <a:srgbClr val="250F50"/>
            </a:solidFill>
            <a:prstDash val="solid"/>
          </a:ln>
        </p:spPr>
        <p:txBody>
          <a:bodyPr/>
          <a:lstStyle/>
          <a:p>
            <a:endParaRPr lang="en-US"/>
          </a:p>
        </p:txBody>
      </p:sp>
      <p:sp>
        <p:nvSpPr>
          <p:cNvPr id="31" name="Text 29">
            <a:extLst>
              <a:ext uri="{FF2B5EF4-FFF2-40B4-BE49-F238E27FC236}">
                <a16:creationId xmlns:a16="http://schemas.microsoft.com/office/drawing/2014/main" id="{6073D696-90F9-5831-A9FA-CEB3FFD55143}"/>
              </a:ext>
            </a:extLst>
          </p:cNvPr>
          <p:cNvSpPr/>
          <p:nvPr/>
        </p:nvSpPr>
        <p:spPr>
          <a:xfrm>
            <a:off x="3364992" y="2542032"/>
            <a:ext cx="2377440" cy="201168"/>
          </a:xfrm>
          <a:prstGeom prst="rect">
            <a:avLst/>
          </a:prstGeom>
          <a:noFill/>
          <a:ln/>
        </p:spPr>
        <p:txBody>
          <a:bodyPr wrap="square" lIns="0" tIns="0" rIns="0" bIns="0" rtlCol="0" anchor="ctr"/>
          <a:lstStyle/>
          <a:p>
            <a:pPr marL="0" indent="0">
              <a:buNone/>
            </a:pPr>
            <a:r>
              <a:rPr lang="en-US" sz="800" b="1" dirty="0">
                <a:solidFill>
                  <a:srgbClr val="A380FF"/>
                </a:solidFill>
                <a:latin typeface="Calibri" pitchFamily="34" charset="0"/>
                <a:ea typeface="Calibri" pitchFamily="34" charset="-122"/>
                <a:cs typeface="Calibri" pitchFamily="34" charset="-120"/>
              </a:rPr>
              <a:t>Step 2</a:t>
            </a:r>
            <a:endParaRPr lang="en-US" sz="800" dirty="0"/>
          </a:p>
        </p:txBody>
      </p:sp>
      <p:sp>
        <p:nvSpPr>
          <p:cNvPr id="32" name="Text 30">
            <a:extLst>
              <a:ext uri="{FF2B5EF4-FFF2-40B4-BE49-F238E27FC236}">
                <a16:creationId xmlns:a16="http://schemas.microsoft.com/office/drawing/2014/main" id="{338F6E8F-D4EE-58E6-AB3E-E676EB6B9BC9}"/>
              </a:ext>
            </a:extLst>
          </p:cNvPr>
          <p:cNvSpPr/>
          <p:nvPr/>
        </p:nvSpPr>
        <p:spPr>
          <a:xfrm>
            <a:off x="3364992" y="2761488"/>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Compare with the target</a:t>
            </a:r>
            <a:endParaRPr lang="en-US" sz="1000" dirty="0"/>
          </a:p>
        </p:txBody>
      </p:sp>
      <p:sp>
        <p:nvSpPr>
          <p:cNvPr id="33" name="Shape 31">
            <a:extLst>
              <a:ext uri="{FF2B5EF4-FFF2-40B4-BE49-F238E27FC236}">
                <a16:creationId xmlns:a16="http://schemas.microsoft.com/office/drawing/2014/main" id="{90BAC11F-E1A8-35E9-18F1-62E05E2CCAC8}"/>
              </a:ext>
            </a:extLst>
          </p:cNvPr>
          <p:cNvSpPr/>
          <p:nvPr/>
        </p:nvSpPr>
        <p:spPr>
          <a:xfrm>
            <a:off x="3291840" y="3108960"/>
            <a:ext cx="2523744" cy="512064"/>
          </a:xfrm>
          <a:prstGeom prst="roundRect">
            <a:avLst>
              <a:gd name="adj" fmla="val 12500"/>
            </a:avLst>
          </a:prstGeom>
          <a:solidFill>
            <a:srgbClr val="1E1040"/>
          </a:solidFill>
          <a:ln w="12700">
            <a:solidFill>
              <a:srgbClr val="1E1040"/>
            </a:solidFill>
            <a:prstDash val="solid"/>
          </a:ln>
        </p:spPr>
        <p:txBody>
          <a:bodyPr/>
          <a:lstStyle/>
          <a:p>
            <a:endParaRPr lang="en-US" dirty="0"/>
          </a:p>
        </p:txBody>
      </p:sp>
      <p:sp>
        <p:nvSpPr>
          <p:cNvPr id="34" name="Text 32">
            <a:extLst>
              <a:ext uri="{FF2B5EF4-FFF2-40B4-BE49-F238E27FC236}">
                <a16:creationId xmlns:a16="http://schemas.microsoft.com/office/drawing/2014/main" id="{C0F462FF-7F1E-5DB8-413D-E855FFD315EE}"/>
              </a:ext>
            </a:extLst>
          </p:cNvPr>
          <p:cNvSpPr/>
          <p:nvPr/>
        </p:nvSpPr>
        <p:spPr>
          <a:xfrm>
            <a:off x="3364992" y="3145536"/>
            <a:ext cx="2377440" cy="201168"/>
          </a:xfrm>
          <a:prstGeom prst="rect">
            <a:avLst/>
          </a:prstGeom>
          <a:noFill/>
          <a:ln/>
        </p:spPr>
        <p:txBody>
          <a:bodyPr wrap="square" lIns="0" tIns="0" rIns="0" bIns="0" rtlCol="0" anchor="ctr"/>
          <a:lstStyle/>
          <a:p>
            <a:pPr marL="0" indent="0">
              <a:buNone/>
            </a:pPr>
            <a:r>
              <a:rPr lang="en-US" sz="800" b="1" dirty="0">
                <a:solidFill>
                  <a:srgbClr val="A380FF"/>
                </a:solidFill>
                <a:latin typeface="Calibri" pitchFamily="34" charset="0"/>
                <a:ea typeface="Calibri" pitchFamily="34" charset="-122"/>
                <a:cs typeface="Calibri" pitchFamily="34" charset="-120"/>
              </a:rPr>
              <a:t>Step 3</a:t>
            </a:r>
            <a:endParaRPr lang="en-US" sz="800" dirty="0"/>
          </a:p>
        </p:txBody>
      </p:sp>
      <p:sp>
        <p:nvSpPr>
          <p:cNvPr id="35" name="Text 33">
            <a:extLst>
              <a:ext uri="{FF2B5EF4-FFF2-40B4-BE49-F238E27FC236}">
                <a16:creationId xmlns:a16="http://schemas.microsoft.com/office/drawing/2014/main" id="{431CD1D4-728D-D439-8C9C-8F258123E6FF}"/>
              </a:ext>
            </a:extLst>
          </p:cNvPr>
          <p:cNvSpPr/>
          <p:nvPr/>
        </p:nvSpPr>
        <p:spPr>
          <a:xfrm>
            <a:off x="3364992" y="3364992"/>
            <a:ext cx="2377440" cy="201168"/>
          </a:xfrm>
          <a:prstGeom prst="rect">
            <a:avLst/>
          </a:prstGeom>
          <a:noFill/>
          <a:ln/>
        </p:spPr>
        <p:txBody>
          <a:bodyPr wrap="square" lIns="0" tIns="0" rIns="0" bIns="0" rtlCol="0" anchor="ctr"/>
          <a:lstStyle/>
          <a:p>
            <a:r>
              <a:rPr lang="en-US" sz="1000" dirty="0">
                <a:solidFill>
                  <a:srgbClr val="EDEDED"/>
                </a:solidFill>
                <a:latin typeface="Calibri" pitchFamily="34" charset="0"/>
                <a:ea typeface="Calibri" pitchFamily="34" charset="-122"/>
                <a:cs typeface="Calibri" pitchFamily="34" charset="-120"/>
              </a:rPr>
              <a:t>If equal → return the index</a:t>
            </a:r>
          </a:p>
        </p:txBody>
      </p:sp>
      <p:sp>
        <p:nvSpPr>
          <p:cNvPr id="36" name="Shape 34">
            <a:extLst>
              <a:ext uri="{FF2B5EF4-FFF2-40B4-BE49-F238E27FC236}">
                <a16:creationId xmlns:a16="http://schemas.microsoft.com/office/drawing/2014/main" id="{1CB16C89-C1B7-CE23-A8E7-A5BD72507E34}"/>
              </a:ext>
            </a:extLst>
          </p:cNvPr>
          <p:cNvSpPr/>
          <p:nvPr/>
        </p:nvSpPr>
        <p:spPr>
          <a:xfrm>
            <a:off x="3291840" y="3712464"/>
            <a:ext cx="2523744" cy="512064"/>
          </a:xfrm>
          <a:prstGeom prst="roundRect">
            <a:avLst>
              <a:gd name="adj" fmla="val 12500"/>
            </a:avLst>
          </a:prstGeom>
          <a:solidFill>
            <a:srgbClr val="250F50"/>
          </a:solidFill>
          <a:ln w="12700">
            <a:solidFill>
              <a:srgbClr val="250F50"/>
            </a:solidFill>
            <a:prstDash val="solid"/>
          </a:ln>
        </p:spPr>
        <p:txBody>
          <a:bodyPr/>
          <a:lstStyle/>
          <a:p>
            <a:endParaRPr lang="en-US"/>
          </a:p>
        </p:txBody>
      </p:sp>
      <p:sp>
        <p:nvSpPr>
          <p:cNvPr id="37" name="Text 35">
            <a:extLst>
              <a:ext uri="{FF2B5EF4-FFF2-40B4-BE49-F238E27FC236}">
                <a16:creationId xmlns:a16="http://schemas.microsoft.com/office/drawing/2014/main" id="{CAAECD9B-B974-69AF-96E1-1ED6A15A2AC6}"/>
              </a:ext>
            </a:extLst>
          </p:cNvPr>
          <p:cNvSpPr/>
          <p:nvPr/>
        </p:nvSpPr>
        <p:spPr>
          <a:xfrm>
            <a:off x="3364992" y="3749040"/>
            <a:ext cx="2377440" cy="201168"/>
          </a:xfrm>
          <a:prstGeom prst="rect">
            <a:avLst/>
          </a:prstGeom>
          <a:noFill/>
          <a:ln/>
        </p:spPr>
        <p:txBody>
          <a:bodyPr wrap="square" lIns="0" tIns="0" rIns="0" bIns="0" rtlCol="0" anchor="ctr"/>
          <a:lstStyle/>
          <a:p>
            <a:pPr marL="0" indent="0">
              <a:buNone/>
            </a:pPr>
            <a:r>
              <a:rPr lang="en-US" sz="800" b="1" dirty="0">
                <a:solidFill>
                  <a:srgbClr val="A380FF"/>
                </a:solidFill>
                <a:latin typeface="Calibri" pitchFamily="34" charset="0"/>
                <a:ea typeface="Calibri" pitchFamily="34" charset="-122"/>
                <a:cs typeface="Calibri" pitchFamily="34" charset="-120"/>
              </a:rPr>
              <a:t>Step 4</a:t>
            </a:r>
            <a:endParaRPr lang="en-US" sz="800" dirty="0"/>
          </a:p>
        </p:txBody>
      </p:sp>
      <p:sp>
        <p:nvSpPr>
          <p:cNvPr id="38" name="Text 36">
            <a:extLst>
              <a:ext uri="{FF2B5EF4-FFF2-40B4-BE49-F238E27FC236}">
                <a16:creationId xmlns:a16="http://schemas.microsoft.com/office/drawing/2014/main" id="{C69C938C-3E85-8060-A306-4D527DF6A6C0}"/>
              </a:ext>
            </a:extLst>
          </p:cNvPr>
          <p:cNvSpPr/>
          <p:nvPr/>
        </p:nvSpPr>
        <p:spPr>
          <a:xfrm>
            <a:off x="3364992" y="3968496"/>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If not → move to next item</a:t>
            </a:r>
            <a:endParaRPr lang="en-US" sz="1000" dirty="0"/>
          </a:p>
        </p:txBody>
      </p:sp>
      <p:sp>
        <p:nvSpPr>
          <p:cNvPr id="39" name="Shape 37">
            <a:extLst>
              <a:ext uri="{FF2B5EF4-FFF2-40B4-BE49-F238E27FC236}">
                <a16:creationId xmlns:a16="http://schemas.microsoft.com/office/drawing/2014/main" id="{3DF86B9F-C390-852B-54F8-32B4EAAF6A7E}"/>
              </a:ext>
            </a:extLst>
          </p:cNvPr>
          <p:cNvSpPr/>
          <p:nvPr/>
        </p:nvSpPr>
        <p:spPr>
          <a:xfrm>
            <a:off x="3291840" y="4315968"/>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40" name="Text 38">
            <a:extLst>
              <a:ext uri="{FF2B5EF4-FFF2-40B4-BE49-F238E27FC236}">
                <a16:creationId xmlns:a16="http://schemas.microsoft.com/office/drawing/2014/main" id="{A66CDEBF-5B8A-A325-4EDA-D77297C625E7}"/>
              </a:ext>
            </a:extLst>
          </p:cNvPr>
          <p:cNvSpPr/>
          <p:nvPr/>
        </p:nvSpPr>
        <p:spPr>
          <a:xfrm>
            <a:off x="3364992" y="4352544"/>
            <a:ext cx="2377440" cy="201168"/>
          </a:xfrm>
          <a:prstGeom prst="rect">
            <a:avLst/>
          </a:prstGeom>
          <a:noFill/>
          <a:ln/>
        </p:spPr>
        <p:txBody>
          <a:bodyPr wrap="square" lIns="0" tIns="0" rIns="0" bIns="0" rtlCol="0" anchor="ctr"/>
          <a:lstStyle/>
          <a:p>
            <a:pPr marL="0" indent="0">
              <a:buNone/>
            </a:pPr>
            <a:r>
              <a:rPr lang="en-US" sz="800" b="1" dirty="0">
                <a:solidFill>
                  <a:srgbClr val="A380FF"/>
                </a:solidFill>
                <a:latin typeface="Calibri" pitchFamily="34" charset="0"/>
                <a:ea typeface="Calibri" pitchFamily="34" charset="-122"/>
                <a:cs typeface="Calibri" pitchFamily="34" charset="-120"/>
              </a:rPr>
              <a:t>Step 5</a:t>
            </a:r>
            <a:endParaRPr lang="en-US" sz="800" dirty="0"/>
          </a:p>
        </p:txBody>
      </p:sp>
      <p:sp>
        <p:nvSpPr>
          <p:cNvPr id="41" name="Text 39">
            <a:extLst>
              <a:ext uri="{FF2B5EF4-FFF2-40B4-BE49-F238E27FC236}">
                <a16:creationId xmlns:a16="http://schemas.microsoft.com/office/drawing/2014/main" id="{70C90110-7151-0F5E-7B75-4281C7115836}"/>
              </a:ext>
            </a:extLst>
          </p:cNvPr>
          <p:cNvSpPr/>
          <p:nvPr/>
        </p:nvSpPr>
        <p:spPr>
          <a:xfrm>
            <a:off x="3364992" y="4572000"/>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End of list reached → return -1</a:t>
            </a:r>
            <a:endParaRPr lang="en-US" sz="1000" dirty="0"/>
          </a:p>
        </p:txBody>
      </p:sp>
      <p:sp>
        <p:nvSpPr>
          <p:cNvPr id="42" name="Shape 40">
            <a:extLst>
              <a:ext uri="{FF2B5EF4-FFF2-40B4-BE49-F238E27FC236}">
                <a16:creationId xmlns:a16="http://schemas.microsoft.com/office/drawing/2014/main" id="{23D47241-34CE-835E-D9B3-5DF3E9C86A4D}"/>
              </a:ext>
            </a:extLst>
          </p:cNvPr>
          <p:cNvSpPr/>
          <p:nvPr/>
        </p:nvSpPr>
        <p:spPr>
          <a:xfrm>
            <a:off x="6071616" y="987552"/>
            <a:ext cx="2779776" cy="4041648"/>
          </a:xfrm>
          <a:prstGeom prst="roundRect">
            <a:avLst>
              <a:gd name="adj" fmla="val 4605"/>
            </a:avLst>
          </a:prstGeom>
          <a:solidFill>
            <a:srgbClr val="0A2E2E"/>
          </a:solidFill>
          <a:ln w="19050">
            <a:solidFill>
              <a:srgbClr val="57E3D8"/>
            </a:solidFill>
            <a:prstDash val="solid"/>
          </a:ln>
        </p:spPr>
        <p:txBody>
          <a:bodyPr/>
          <a:lstStyle/>
          <a:p>
            <a:endParaRPr lang="en-US"/>
          </a:p>
        </p:txBody>
      </p:sp>
      <p:sp>
        <p:nvSpPr>
          <p:cNvPr id="43" name="Text 41">
            <a:extLst>
              <a:ext uri="{FF2B5EF4-FFF2-40B4-BE49-F238E27FC236}">
                <a16:creationId xmlns:a16="http://schemas.microsoft.com/office/drawing/2014/main" id="{160F8E2C-8366-D789-0BA3-8DA4032B4304}"/>
              </a:ext>
            </a:extLst>
          </p:cNvPr>
          <p:cNvSpPr/>
          <p:nvPr/>
        </p:nvSpPr>
        <p:spPr>
          <a:xfrm>
            <a:off x="6071616" y="1033272"/>
            <a:ext cx="2779776" cy="457200"/>
          </a:xfrm>
          <a:prstGeom prst="rect">
            <a:avLst/>
          </a:prstGeom>
          <a:noFill/>
          <a:ln/>
        </p:spPr>
        <p:txBody>
          <a:bodyPr wrap="square" rtlCol="0" anchor="ctr"/>
          <a:lstStyle/>
          <a:p>
            <a:pPr marL="0" indent="0" algn="ctr">
              <a:buNone/>
            </a:pPr>
            <a:r>
              <a:rPr lang="en-US" sz="2000" b="1" dirty="0">
                <a:solidFill>
                  <a:srgbClr val="57E3D8"/>
                </a:solidFill>
                <a:latin typeface="Calibri" pitchFamily="34" charset="0"/>
                <a:ea typeface="Calibri" pitchFamily="34" charset="-122"/>
                <a:cs typeface="Calibri" pitchFamily="34" charset="-120"/>
              </a:rPr>
              <a:t>When to Use It</a:t>
            </a:r>
            <a:endParaRPr lang="en-US" sz="2000" dirty="0"/>
          </a:p>
        </p:txBody>
      </p:sp>
      <p:sp>
        <p:nvSpPr>
          <p:cNvPr id="44" name="Text 42">
            <a:extLst>
              <a:ext uri="{FF2B5EF4-FFF2-40B4-BE49-F238E27FC236}">
                <a16:creationId xmlns:a16="http://schemas.microsoft.com/office/drawing/2014/main" id="{400A9794-536B-5ED1-EAE6-B302049B104A}"/>
              </a:ext>
            </a:extLst>
          </p:cNvPr>
          <p:cNvSpPr/>
          <p:nvPr/>
        </p:nvSpPr>
        <p:spPr>
          <a:xfrm>
            <a:off x="6071616" y="1463040"/>
            <a:ext cx="2779776" cy="256032"/>
          </a:xfrm>
          <a:prstGeom prst="rect">
            <a:avLst/>
          </a:prstGeom>
          <a:noFill/>
          <a:ln/>
        </p:spPr>
        <p:txBody>
          <a:bodyPr wrap="square" rtlCol="0" anchor="ctr"/>
          <a:lstStyle/>
          <a:p>
            <a:pPr marL="0" indent="0" algn="ctr">
              <a:buNone/>
            </a:pPr>
            <a:r>
              <a:rPr lang="en-US" sz="1000" i="1" dirty="0">
                <a:solidFill>
                  <a:srgbClr val="EDEDED"/>
                </a:solidFill>
                <a:latin typeface="Calibri" pitchFamily="34" charset="0"/>
                <a:ea typeface="Calibri" pitchFamily="34" charset="-122"/>
                <a:cs typeface="Calibri" pitchFamily="34" charset="-120"/>
              </a:rPr>
              <a:t>The right tool for some jobs</a:t>
            </a:r>
            <a:endParaRPr lang="en-US" sz="1000" dirty="0"/>
          </a:p>
        </p:txBody>
      </p:sp>
      <p:sp>
        <p:nvSpPr>
          <p:cNvPr id="45" name="Shape 43">
            <a:extLst>
              <a:ext uri="{FF2B5EF4-FFF2-40B4-BE49-F238E27FC236}">
                <a16:creationId xmlns:a16="http://schemas.microsoft.com/office/drawing/2014/main" id="{17BB9C3C-FBE9-5806-C1E4-F9F0239F94FD}"/>
              </a:ext>
            </a:extLst>
          </p:cNvPr>
          <p:cNvSpPr/>
          <p:nvPr/>
        </p:nvSpPr>
        <p:spPr>
          <a:xfrm>
            <a:off x="6199632" y="1901952"/>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46" name="Text 44">
            <a:extLst>
              <a:ext uri="{FF2B5EF4-FFF2-40B4-BE49-F238E27FC236}">
                <a16:creationId xmlns:a16="http://schemas.microsoft.com/office/drawing/2014/main" id="{1934E9C9-C2E5-4054-607E-4F78E6D73CD6}"/>
              </a:ext>
            </a:extLst>
          </p:cNvPr>
          <p:cNvSpPr/>
          <p:nvPr/>
        </p:nvSpPr>
        <p:spPr>
          <a:xfrm>
            <a:off x="6272784" y="1938528"/>
            <a:ext cx="2377440" cy="201168"/>
          </a:xfrm>
          <a:prstGeom prst="rect">
            <a:avLst/>
          </a:prstGeom>
          <a:noFill/>
          <a:ln/>
        </p:spPr>
        <p:txBody>
          <a:bodyPr wrap="square" lIns="0" tIns="0" rIns="0" bIns="0"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Small list</a:t>
            </a:r>
            <a:endParaRPr lang="en-US" sz="800" dirty="0"/>
          </a:p>
        </p:txBody>
      </p:sp>
      <p:sp>
        <p:nvSpPr>
          <p:cNvPr id="47" name="Text 45">
            <a:extLst>
              <a:ext uri="{FF2B5EF4-FFF2-40B4-BE49-F238E27FC236}">
                <a16:creationId xmlns:a16="http://schemas.microsoft.com/office/drawing/2014/main" id="{BC2E8DD9-F45B-A649-12EE-B4F1127DA68F}"/>
              </a:ext>
            </a:extLst>
          </p:cNvPr>
          <p:cNvSpPr/>
          <p:nvPr/>
        </p:nvSpPr>
        <p:spPr>
          <a:xfrm>
            <a:off x="6272784" y="2157984"/>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Up to a few hundred items</a:t>
            </a:r>
            <a:endParaRPr lang="en-US" sz="1000" dirty="0"/>
          </a:p>
        </p:txBody>
      </p:sp>
      <p:sp>
        <p:nvSpPr>
          <p:cNvPr id="48" name="Shape 46">
            <a:extLst>
              <a:ext uri="{FF2B5EF4-FFF2-40B4-BE49-F238E27FC236}">
                <a16:creationId xmlns:a16="http://schemas.microsoft.com/office/drawing/2014/main" id="{CD98D845-A5B7-CD8A-6A17-A786BC952BFB}"/>
              </a:ext>
            </a:extLst>
          </p:cNvPr>
          <p:cNvSpPr/>
          <p:nvPr/>
        </p:nvSpPr>
        <p:spPr>
          <a:xfrm>
            <a:off x="6199632" y="2505456"/>
            <a:ext cx="2523744" cy="512064"/>
          </a:xfrm>
          <a:prstGeom prst="roundRect">
            <a:avLst>
              <a:gd name="adj" fmla="val 12500"/>
            </a:avLst>
          </a:prstGeom>
          <a:solidFill>
            <a:srgbClr val="250F50"/>
          </a:solidFill>
          <a:ln w="12700">
            <a:solidFill>
              <a:srgbClr val="250F50"/>
            </a:solidFill>
            <a:prstDash val="solid"/>
          </a:ln>
        </p:spPr>
        <p:txBody>
          <a:bodyPr/>
          <a:lstStyle/>
          <a:p>
            <a:endParaRPr lang="en-US"/>
          </a:p>
        </p:txBody>
      </p:sp>
      <p:sp>
        <p:nvSpPr>
          <p:cNvPr id="49" name="Text 47">
            <a:extLst>
              <a:ext uri="{FF2B5EF4-FFF2-40B4-BE49-F238E27FC236}">
                <a16:creationId xmlns:a16="http://schemas.microsoft.com/office/drawing/2014/main" id="{E4E004CF-D99A-D43E-DEBD-62A9A585E8BC}"/>
              </a:ext>
            </a:extLst>
          </p:cNvPr>
          <p:cNvSpPr/>
          <p:nvPr/>
        </p:nvSpPr>
        <p:spPr>
          <a:xfrm>
            <a:off x="6272784" y="2542032"/>
            <a:ext cx="2377440" cy="201168"/>
          </a:xfrm>
          <a:prstGeom prst="rect">
            <a:avLst/>
          </a:prstGeom>
          <a:noFill/>
          <a:ln/>
        </p:spPr>
        <p:txBody>
          <a:bodyPr wrap="square" lIns="0" tIns="0" rIns="0" bIns="0"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Unsorted data</a:t>
            </a:r>
            <a:endParaRPr lang="en-US" sz="800" dirty="0"/>
          </a:p>
        </p:txBody>
      </p:sp>
      <p:sp>
        <p:nvSpPr>
          <p:cNvPr id="50" name="Text 48">
            <a:extLst>
              <a:ext uri="{FF2B5EF4-FFF2-40B4-BE49-F238E27FC236}">
                <a16:creationId xmlns:a16="http://schemas.microsoft.com/office/drawing/2014/main" id="{E1C58A4B-FE46-1795-D7D0-944949F52C8B}"/>
              </a:ext>
            </a:extLst>
          </p:cNvPr>
          <p:cNvSpPr/>
          <p:nvPr/>
        </p:nvSpPr>
        <p:spPr>
          <a:xfrm>
            <a:off x="6272784" y="2761488"/>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Items in any random order</a:t>
            </a:r>
            <a:endParaRPr lang="en-US" sz="1000" dirty="0"/>
          </a:p>
        </p:txBody>
      </p:sp>
      <p:sp>
        <p:nvSpPr>
          <p:cNvPr id="51" name="Shape 49">
            <a:extLst>
              <a:ext uri="{FF2B5EF4-FFF2-40B4-BE49-F238E27FC236}">
                <a16:creationId xmlns:a16="http://schemas.microsoft.com/office/drawing/2014/main" id="{A4F5B864-A547-85E2-687E-468DA9810227}"/>
              </a:ext>
            </a:extLst>
          </p:cNvPr>
          <p:cNvSpPr/>
          <p:nvPr/>
        </p:nvSpPr>
        <p:spPr>
          <a:xfrm>
            <a:off x="6199632" y="3108960"/>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52" name="Text 50">
            <a:extLst>
              <a:ext uri="{FF2B5EF4-FFF2-40B4-BE49-F238E27FC236}">
                <a16:creationId xmlns:a16="http://schemas.microsoft.com/office/drawing/2014/main" id="{47875D30-CA79-24B3-8B55-3CA6B7546DD1}"/>
              </a:ext>
            </a:extLst>
          </p:cNvPr>
          <p:cNvSpPr/>
          <p:nvPr/>
        </p:nvSpPr>
        <p:spPr>
          <a:xfrm>
            <a:off x="6272784" y="3145536"/>
            <a:ext cx="2377440" cy="201168"/>
          </a:xfrm>
          <a:prstGeom prst="rect">
            <a:avLst/>
          </a:prstGeom>
          <a:noFill/>
          <a:ln/>
        </p:spPr>
        <p:txBody>
          <a:bodyPr wrap="square" lIns="0" tIns="0" rIns="0" bIns="0"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One-time search</a:t>
            </a:r>
            <a:endParaRPr lang="en-US" sz="800" dirty="0"/>
          </a:p>
        </p:txBody>
      </p:sp>
      <p:sp>
        <p:nvSpPr>
          <p:cNvPr id="53" name="Text 51">
            <a:extLst>
              <a:ext uri="{FF2B5EF4-FFF2-40B4-BE49-F238E27FC236}">
                <a16:creationId xmlns:a16="http://schemas.microsoft.com/office/drawing/2014/main" id="{15E016C0-85D1-360B-6E43-07A7D50C7823}"/>
              </a:ext>
            </a:extLst>
          </p:cNvPr>
          <p:cNvSpPr/>
          <p:nvPr/>
        </p:nvSpPr>
        <p:spPr>
          <a:xfrm>
            <a:off x="6272784" y="3364992"/>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You search the list only once</a:t>
            </a:r>
            <a:endParaRPr lang="en-US" sz="1000" dirty="0"/>
          </a:p>
        </p:txBody>
      </p:sp>
      <p:sp>
        <p:nvSpPr>
          <p:cNvPr id="54" name="Shape 52">
            <a:extLst>
              <a:ext uri="{FF2B5EF4-FFF2-40B4-BE49-F238E27FC236}">
                <a16:creationId xmlns:a16="http://schemas.microsoft.com/office/drawing/2014/main" id="{4180C4C0-6012-AC85-4B17-3AFA774A2271}"/>
              </a:ext>
            </a:extLst>
          </p:cNvPr>
          <p:cNvSpPr/>
          <p:nvPr/>
        </p:nvSpPr>
        <p:spPr>
          <a:xfrm>
            <a:off x="6199632" y="3712464"/>
            <a:ext cx="2523744" cy="512064"/>
          </a:xfrm>
          <a:prstGeom prst="roundRect">
            <a:avLst>
              <a:gd name="adj" fmla="val 12500"/>
            </a:avLst>
          </a:prstGeom>
          <a:solidFill>
            <a:srgbClr val="250F50"/>
          </a:solidFill>
          <a:ln w="12700">
            <a:solidFill>
              <a:srgbClr val="250F50"/>
            </a:solidFill>
            <a:prstDash val="solid"/>
          </a:ln>
        </p:spPr>
        <p:txBody>
          <a:bodyPr/>
          <a:lstStyle/>
          <a:p>
            <a:endParaRPr lang="en-US"/>
          </a:p>
        </p:txBody>
      </p:sp>
      <p:sp>
        <p:nvSpPr>
          <p:cNvPr id="55" name="Text 53">
            <a:extLst>
              <a:ext uri="{FF2B5EF4-FFF2-40B4-BE49-F238E27FC236}">
                <a16:creationId xmlns:a16="http://schemas.microsoft.com/office/drawing/2014/main" id="{6F0CCA05-6F6B-73EB-BB3E-40FF49D41D8D}"/>
              </a:ext>
            </a:extLst>
          </p:cNvPr>
          <p:cNvSpPr/>
          <p:nvPr/>
        </p:nvSpPr>
        <p:spPr>
          <a:xfrm>
            <a:off x="6272784" y="3749040"/>
            <a:ext cx="2377440" cy="201168"/>
          </a:xfrm>
          <a:prstGeom prst="rect">
            <a:avLst/>
          </a:prstGeom>
          <a:noFill/>
          <a:ln/>
        </p:spPr>
        <p:txBody>
          <a:bodyPr wrap="square" lIns="0" tIns="0" rIns="0" bIns="0"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Simple code</a:t>
            </a:r>
            <a:endParaRPr lang="en-US" sz="800" dirty="0"/>
          </a:p>
        </p:txBody>
      </p:sp>
      <p:sp>
        <p:nvSpPr>
          <p:cNvPr id="56" name="Text 54">
            <a:extLst>
              <a:ext uri="{FF2B5EF4-FFF2-40B4-BE49-F238E27FC236}">
                <a16:creationId xmlns:a16="http://schemas.microsoft.com/office/drawing/2014/main" id="{1B5A695C-4E1C-1D37-4C84-4CC97C0EF229}"/>
              </a:ext>
            </a:extLst>
          </p:cNvPr>
          <p:cNvSpPr/>
          <p:nvPr/>
        </p:nvSpPr>
        <p:spPr>
          <a:xfrm>
            <a:off x="6272784" y="3968496"/>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When clarity matters more than speed</a:t>
            </a:r>
            <a:endParaRPr lang="en-US" sz="1000" dirty="0"/>
          </a:p>
        </p:txBody>
      </p:sp>
      <p:sp>
        <p:nvSpPr>
          <p:cNvPr id="57" name="Shape 55">
            <a:extLst>
              <a:ext uri="{FF2B5EF4-FFF2-40B4-BE49-F238E27FC236}">
                <a16:creationId xmlns:a16="http://schemas.microsoft.com/office/drawing/2014/main" id="{9479889D-FE47-827C-03B8-A090B2C69810}"/>
              </a:ext>
            </a:extLst>
          </p:cNvPr>
          <p:cNvSpPr/>
          <p:nvPr/>
        </p:nvSpPr>
        <p:spPr>
          <a:xfrm>
            <a:off x="6199632" y="4315968"/>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58" name="Text 56">
            <a:extLst>
              <a:ext uri="{FF2B5EF4-FFF2-40B4-BE49-F238E27FC236}">
                <a16:creationId xmlns:a16="http://schemas.microsoft.com/office/drawing/2014/main" id="{30B55CAD-3273-8860-07F1-9A86A45AE431}"/>
              </a:ext>
            </a:extLst>
          </p:cNvPr>
          <p:cNvSpPr/>
          <p:nvPr/>
        </p:nvSpPr>
        <p:spPr>
          <a:xfrm>
            <a:off x="6272784" y="4352544"/>
            <a:ext cx="2377440" cy="201168"/>
          </a:xfrm>
          <a:prstGeom prst="rect">
            <a:avLst/>
          </a:prstGeom>
          <a:noFill/>
          <a:ln/>
        </p:spPr>
        <p:txBody>
          <a:bodyPr wrap="square" lIns="0" tIns="0" rIns="0" bIns="0"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Avoid when</a:t>
            </a:r>
            <a:endParaRPr lang="en-US" sz="800" dirty="0"/>
          </a:p>
        </p:txBody>
      </p:sp>
      <p:sp>
        <p:nvSpPr>
          <p:cNvPr id="59" name="Text 57">
            <a:extLst>
              <a:ext uri="{FF2B5EF4-FFF2-40B4-BE49-F238E27FC236}">
                <a16:creationId xmlns:a16="http://schemas.microsoft.com/office/drawing/2014/main" id="{0270D8ED-165B-1400-E041-17FA430DE5B7}"/>
              </a:ext>
            </a:extLst>
          </p:cNvPr>
          <p:cNvSpPr/>
          <p:nvPr/>
        </p:nvSpPr>
        <p:spPr>
          <a:xfrm>
            <a:off x="6272784" y="4572000"/>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List is huge and sorted</a:t>
            </a:r>
            <a:endParaRPr lang="en-US" sz="1000" dirty="0"/>
          </a:p>
        </p:txBody>
      </p:sp>
    </p:spTree>
    <p:extLst>
      <p:ext uri="{BB962C8B-B14F-4D97-AF65-F5344CB8AC3E}">
        <p14:creationId xmlns:p14="http://schemas.microsoft.com/office/powerpoint/2010/main" val="8345557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Shape 76">
          <a:extLst>
            <a:ext uri="{FF2B5EF4-FFF2-40B4-BE49-F238E27FC236}">
              <a16:creationId xmlns:a16="http://schemas.microsoft.com/office/drawing/2014/main" id="{F938DC5C-7D51-33EF-EC2F-903B4691A76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D737442-8D81-2853-880E-B42C3E57B121}"/>
              </a:ext>
            </a:extLst>
          </p:cNvPr>
          <p:cNvSpPr/>
          <p:nvPr/>
        </p:nvSpPr>
        <p:spPr>
          <a:xfrm>
            <a:off x="0" y="0"/>
            <a:ext cx="9144000" cy="73152"/>
          </a:xfrm>
          <a:prstGeom prst="rect">
            <a:avLst/>
          </a:prstGeom>
          <a:solidFill>
            <a:srgbClr val="57E3D8"/>
          </a:solidFill>
          <a:ln w="12700">
            <a:solidFill>
              <a:srgbClr val="57E3D8"/>
            </a:solidFill>
            <a:prstDash val="solid"/>
          </a:ln>
        </p:spPr>
        <p:txBody>
          <a:bodyPr/>
          <a:lstStyle/>
          <a:p>
            <a:endParaRPr lang="en-US"/>
          </a:p>
        </p:txBody>
      </p:sp>
      <p:sp>
        <p:nvSpPr>
          <p:cNvPr id="3" name="Shape 1">
            <a:extLst>
              <a:ext uri="{FF2B5EF4-FFF2-40B4-BE49-F238E27FC236}">
                <a16:creationId xmlns:a16="http://schemas.microsoft.com/office/drawing/2014/main" id="{0C7F8120-DDCD-B00F-157A-EA938D251AAE}"/>
              </a:ext>
            </a:extLst>
          </p:cNvPr>
          <p:cNvSpPr/>
          <p:nvPr/>
        </p:nvSpPr>
        <p:spPr>
          <a:xfrm>
            <a:off x="0" y="73152"/>
            <a:ext cx="9144000" cy="658368"/>
          </a:xfrm>
          <a:prstGeom prst="rect">
            <a:avLst/>
          </a:prstGeom>
          <a:solidFill>
            <a:srgbClr val="262626"/>
          </a:solidFill>
          <a:ln w="12700">
            <a:solidFill>
              <a:srgbClr val="262626"/>
            </a:solidFill>
            <a:prstDash val="solid"/>
          </a:ln>
        </p:spPr>
        <p:txBody>
          <a:bodyPr/>
          <a:lstStyle/>
          <a:p>
            <a:endParaRPr lang="en-US"/>
          </a:p>
        </p:txBody>
      </p:sp>
      <p:sp>
        <p:nvSpPr>
          <p:cNvPr id="4" name="Text 2">
            <a:extLst>
              <a:ext uri="{FF2B5EF4-FFF2-40B4-BE49-F238E27FC236}">
                <a16:creationId xmlns:a16="http://schemas.microsoft.com/office/drawing/2014/main" id="{16098926-9EDA-9F30-BFD8-DFDDAF496B5B}"/>
              </a:ext>
            </a:extLst>
          </p:cNvPr>
          <p:cNvSpPr/>
          <p:nvPr/>
        </p:nvSpPr>
        <p:spPr>
          <a:xfrm>
            <a:off x="365760" y="73152"/>
            <a:ext cx="8412480" cy="411480"/>
          </a:xfrm>
          <a:prstGeom prst="rect">
            <a:avLst/>
          </a:prstGeom>
          <a:noFill/>
          <a:ln/>
        </p:spPr>
        <p:txBody>
          <a:bodyPr wrap="square" lIns="0" tIns="0" rIns="0" bIns="0" rtlCol="0" anchor="ctr"/>
          <a:lstStyle/>
          <a:p>
            <a:pPr marL="0" indent="0">
              <a:buNone/>
            </a:pPr>
            <a:r>
              <a:rPr lang="en-US" sz="2200" b="1" dirty="0">
                <a:solidFill>
                  <a:srgbClr val="57E3D8"/>
                </a:solidFill>
                <a:latin typeface="Calibri" pitchFamily="34" charset="0"/>
                <a:ea typeface="Calibri" pitchFamily="34" charset="-122"/>
                <a:cs typeface="Calibri" pitchFamily="34" charset="-120"/>
              </a:rPr>
              <a:t>How a Person vs. How a Computer Searches</a:t>
            </a:r>
            <a:endParaRPr lang="en-US" sz="2200" dirty="0"/>
          </a:p>
        </p:txBody>
      </p:sp>
      <p:sp>
        <p:nvSpPr>
          <p:cNvPr id="5" name="Text 3">
            <a:extLst>
              <a:ext uri="{FF2B5EF4-FFF2-40B4-BE49-F238E27FC236}">
                <a16:creationId xmlns:a16="http://schemas.microsoft.com/office/drawing/2014/main" id="{E716D937-3C6D-88A6-7F45-F226E11D57EC}"/>
              </a:ext>
            </a:extLst>
          </p:cNvPr>
          <p:cNvSpPr/>
          <p:nvPr/>
        </p:nvSpPr>
        <p:spPr>
          <a:xfrm>
            <a:off x="365760" y="484632"/>
            <a:ext cx="8412480" cy="246888"/>
          </a:xfrm>
          <a:prstGeom prst="rect">
            <a:avLst/>
          </a:prstGeom>
          <a:noFill/>
          <a:ln/>
        </p:spPr>
        <p:txBody>
          <a:bodyPr wrap="square" lIns="0" tIns="0" rIns="0" bIns="0" rtlCol="0" anchor="t"/>
          <a:lstStyle/>
          <a:p>
            <a:pPr marL="0" indent="0">
              <a:buNone/>
            </a:pPr>
            <a:r>
              <a:rPr lang="en-US" sz="1100" i="1" dirty="0">
                <a:solidFill>
                  <a:srgbClr val="EDEDED"/>
                </a:solidFill>
                <a:latin typeface="Calibri" pitchFamily="34" charset="0"/>
                <a:ea typeface="Calibri" pitchFamily="34" charset="-122"/>
                <a:cs typeface="Calibri" pitchFamily="34" charset="-120"/>
              </a:rPr>
              <a:t>You already do Linear Search by hand. The algorithm just makes it precise.</a:t>
            </a:r>
            <a:endParaRPr lang="en-US" sz="1100" dirty="0"/>
          </a:p>
        </p:txBody>
      </p:sp>
      <p:sp>
        <p:nvSpPr>
          <p:cNvPr id="6" name="Shape 4">
            <a:extLst>
              <a:ext uri="{FF2B5EF4-FFF2-40B4-BE49-F238E27FC236}">
                <a16:creationId xmlns:a16="http://schemas.microsoft.com/office/drawing/2014/main" id="{575D64EF-ED1C-72CD-B931-D7593460A20B}"/>
              </a:ext>
            </a:extLst>
          </p:cNvPr>
          <p:cNvSpPr/>
          <p:nvPr/>
        </p:nvSpPr>
        <p:spPr>
          <a:xfrm>
            <a:off x="0" y="5070348"/>
            <a:ext cx="9144000" cy="73152"/>
          </a:xfrm>
          <a:prstGeom prst="rect">
            <a:avLst/>
          </a:prstGeom>
          <a:solidFill>
            <a:srgbClr val="4F29B7"/>
          </a:solidFill>
          <a:ln w="12700">
            <a:solidFill>
              <a:srgbClr val="4F29B7"/>
            </a:solidFill>
            <a:prstDash val="solid"/>
          </a:ln>
        </p:spPr>
        <p:txBody>
          <a:bodyPr/>
          <a:lstStyle/>
          <a:p>
            <a:endParaRPr lang="en-US"/>
          </a:p>
        </p:txBody>
      </p:sp>
      <p:sp>
        <p:nvSpPr>
          <p:cNvPr id="7" name="Shape 5">
            <a:extLst>
              <a:ext uri="{FF2B5EF4-FFF2-40B4-BE49-F238E27FC236}">
                <a16:creationId xmlns:a16="http://schemas.microsoft.com/office/drawing/2014/main" id="{7C653463-1142-179E-88BD-AFAF6F8C8637}"/>
              </a:ext>
            </a:extLst>
          </p:cNvPr>
          <p:cNvSpPr/>
          <p:nvPr/>
        </p:nvSpPr>
        <p:spPr>
          <a:xfrm>
            <a:off x="274320" y="822960"/>
            <a:ext cx="3886200" cy="4114800"/>
          </a:xfrm>
          <a:prstGeom prst="roundRect">
            <a:avLst>
              <a:gd name="adj" fmla="val 2824"/>
            </a:avLst>
          </a:prstGeom>
          <a:solidFill>
            <a:srgbClr val="1E0F40"/>
          </a:solidFill>
          <a:ln w="12700">
            <a:solidFill>
              <a:srgbClr val="4F29B7"/>
            </a:solidFill>
            <a:prstDash val="solid"/>
          </a:ln>
        </p:spPr>
        <p:txBody>
          <a:bodyPr/>
          <a:lstStyle/>
          <a:p>
            <a:endParaRPr lang="en-US"/>
          </a:p>
        </p:txBody>
      </p:sp>
      <p:sp>
        <p:nvSpPr>
          <p:cNvPr id="8" name="Text 6">
            <a:extLst>
              <a:ext uri="{FF2B5EF4-FFF2-40B4-BE49-F238E27FC236}">
                <a16:creationId xmlns:a16="http://schemas.microsoft.com/office/drawing/2014/main" id="{87C3DF9D-CF81-CFC2-24DE-26789DF7C566}"/>
              </a:ext>
            </a:extLst>
          </p:cNvPr>
          <p:cNvSpPr/>
          <p:nvPr/>
        </p:nvSpPr>
        <p:spPr>
          <a:xfrm>
            <a:off x="274320" y="822960"/>
            <a:ext cx="3886200" cy="4572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 Person</a:t>
            </a:r>
            <a:endParaRPr lang="en-US" sz="2000" dirty="0"/>
          </a:p>
        </p:txBody>
      </p:sp>
      <p:sp>
        <p:nvSpPr>
          <p:cNvPr id="9" name="Text 7">
            <a:extLst>
              <a:ext uri="{FF2B5EF4-FFF2-40B4-BE49-F238E27FC236}">
                <a16:creationId xmlns:a16="http://schemas.microsoft.com/office/drawing/2014/main" id="{8F6E38CC-3D4A-3E0B-2BE5-A1AFFE25B54B}"/>
              </a:ext>
            </a:extLst>
          </p:cNvPr>
          <p:cNvSpPr/>
          <p:nvPr/>
        </p:nvSpPr>
        <p:spPr>
          <a:xfrm>
            <a:off x="274320" y="1188720"/>
            <a:ext cx="3886200" cy="256032"/>
          </a:xfrm>
          <a:prstGeom prst="rect">
            <a:avLst/>
          </a:prstGeom>
          <a:noFill/>
          <a:ln/>
        </p:spPr>
        <p:txBody>
          <a:bodyPr wrap="square" rtlCol="0" anchor="ctr"/>
          <a:lstStyle/>
          <a:p>
            <a:pPr marL="0" indent="0" algn="ctr">
              <a:buNone/>
            </a:pPr>
            <a:r>
              <a:rPr lang="en-US" sz="1000" i="1" dirty="0">
                <a:solidFill>
                  <a:srgbClr val="A380FF"/>
                </a:solidFill>
                <a:latin typeface="Calibri" pitchFamily="34" charset="0"/>
                <a:ea typeface="Calibri" pitchFamily="34" charset="-122"/>
                <a:cs typeface="Calibri" pitchFamily="34" charset="-120"/>
              </a:rPr>
              <a:t>What you do without thinking</a:t>
            </a:r>
            <a:endParaRPr lang="en-US" sz="1000" dirty="0"/>
          </a:p>
        </p:txBody>
      </p:sp>
      <p:sp>
        <p:nvSpPr>
          <p:cNvPr id="10" name="Shape 8">
            <a:extLst>
              <a:ext uri="{FF2B5EF4-FFF2-40B4-BE49-F238E27FC236}">
                <a16:creationId xmlns:a16="http://schemas.microsoft.com/office/drawing/2014/main" id="{F539B252-D602-88A8-A23E-D20791397C62}"/>
              </a:ext>
            </a:extLst>
          </p:cNvPr>
          <p:cNvSpPr/>
          <p:nvPr/>
        </p:nvSpPr>
        <p:spPr>
          <a:xfrm>
            <a:off x="457200" y="1536192"/>
            <a:ext cx="3520440" cy="402336"/>
          </a:xfrm>
          <a:prstGeom prst="roundRect">
            <a:avLst>
              <a:gd name="adj" fmla="val 13636"/>
            </a:avLst>
          </a:prstGeom>
          <a:solidFill>
            <a:srgbClr val="2D1A5E"/>
          </a:solidFill>
          <a:ln w="6350">
            <a:solidFill>
              <a:srgbClr val="3A2A70"/>
            </a:solidFill>
            <a:prstDash val="solid"/>
          </a:ln>
        </p:spPr>
        <p:txBody>
          <a:bodyPr/>
          <a:lstStyle/>
          <a:p>
            <a:endParaRPr lang="en-US"/>
          </a:p>
        </p:txBody>
      </p:sp>
      <p:sp>
        <p:nvSpPr>
          <p:cNvPr id="11" name="Text 9">
            <a:extLst>
              <a:ext uri="{FF2B5EF4-FFF2-40B4-BE49-F238E27FC236}">
                <a16:creationId xmlns:a16="http://schemas.microsoft.com/office/drawing/2014/main" id="{6F22105E-A2B1-5DB5-D76C-63941344DE60}"/>
              </a:ext>
            </a:extLst>
          </p:cNvPr>
          <p:cNvSpPr/>
          <p:nvPr/>
        </p:nvSpPr>
        <p:spPr>
          <a:xfrm>
            <a:off x="502920" y="1536192"/>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Approach:</a:t>
            </a:r>
            <a:endParaRPr lang="en-US" sz="800" dirty="0"/>
          </a:p>
        </p:txBody>
      </p:sp>
      <p:sp>
        <p:nvSpPr>
          <p:cNvPr id="12" name="Text 10">
            <a:extLst>
              <a:ext uri="{FF2B5EF4-FFF2-40B4-BE49-F238E27FC236}">
                <a16:creationId xmlns:a16="http://schemas.microsoft.com/office/drawing/2014/main" id="{DFF3E5FA-C8C4-1DB7-9D76-AF20B79D4766}"/>
              </a:ext>
            </a:extLst>
          </p:cNvPr>
          <p:cNvSpPr/>
          <p:nvPr/>
        </p:nvSpPr>
        <p:spPr>
          <a:xfrm>
            <a:off x="1325880" y="1536192"/>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Skim the list, look for the name</a:t>
            </a:r>
            <a:endParaRPr lang="en-US" sz="900" dirty="0"/>
          </a:p>
        </p:txBody>
      </p:sp>
      <p:sp>
        <p:nvSpPr>
          <p:cNvPr id="13" name="Shape 11">
            <a:extLst>
              <a:ext uri="{FF2B5EF4-FFF2-40B4-BE49-F238E27FC236}">
                <a16:creationId xmlns:a16="http://schemas.microsoft.com/office/drawing/2014/main" id="{251E9839-9550-A02D-B6AA-E0AF4A750EA8}"/>
              </a:ext>
            </a:extLst>
          </p:cNvPr>
          <p:cNvSpPr/>
          <p:nvPr/>
        </p:nvSpPr>
        <p:spPr>
          <a:xfrm>
            <a:off x="457200" y="2011680"/>
            <a:ext cx="3520440" cy="402336"/>
          </a:xfrm>
          <a:prstGeom prst="roundRect">
            <a:avLst>
              <a:gd name="adj" fmla="val 13636"/>
            </a:avLst>
          </a:prstGeom>
          <a:solidFill>
            <a:srgbClr val="2D1A5E"/>
          </a:solidFill>
          <a:ln w="6350">
            <a:solidFill>
              <a:srgbClr val="3A2A70"/>
            </a:solidFill>
            <a:prstDash val="solid"/>
          </a:ln>
        </p:spPr>
        <p:txBody>
          <a:bodyPr/>
          <a:lstStyle/>
          <a:p>
            <a:endParaRPr lang="en-US"/>
          </a:p>
        </p:txBody>
      </p:sp>
      <p:sp>
        <p:nvSpPr>
          <p:cNvPr id="14" name="Text 12">
            <a:extLst>
              <a:ext uri="{FF2B5EF4-FFF2-40B4-BE49-F238E27FC236}">
                <a16:creationId xmlns:a16="http://schemas.microsoft.com/office/drawing/2014/main" id="{87599456-8900-62A4-86BE-14B5BFD4D0C7}"/>
              </a:ext>
            </a:extLst>
          </p:cNvPr>
          <p:cNvSpPr/>
          <p:nvPr/>
        </p:nvSpPr>
        <p:spPr>
          <a:xfrm>
            <a:off x="502920" y="2011680"/>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Order:</a:t>
            </a:r>
            <a:endParaRPr lang="en-US" sz="800" dirty="0"/>
          </a:p>
        </p:txBody>
      </p:sp>
      <p:sp>
        <p:nvSpPr>
          <p:cNvPr id="15" name="Text 13">
            <a:extLst>
              <a:ext uri="{FF2B5EF4-FFF2-40B4-BE49-F238E27FC236}">
                <a16:creationId xmlns:a16="http://schemas.microsoft.com/office/drawing/2014/main" id="{0F359D1C-3746-BFAC-361A-B9CAFC55E886}"/>
              </a:ext>
            </a:extLst>
          </p:cNvPr>
          <p:cNvSpPr/>
          <p:nvPr/>
        </p:nvSpPr>
        <p:spPr>
          <a:xfrm>
            <a:off x="1325880" y="2011680"/>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Roughly top to bottom, eyes moving</a:t>
            </a:r>
            <a:endParaRPr lang="en-US" sz="900" dirty="0"/>
          </a:p>
        </p:txBody>
      </p:sp>
      <p:sp>
        <p:nvSpPr>
          <p:cNvPr id="16" name="Shape 14">
            <a:extLst>
              <a:ext uri="{FF2B5EF4-FFF2-40B4-BE49-F238E27FC236}">
                <a16:creationId xmlns:a16="http://schemas.microsoft.com/office/drawing/2014/main" id="{F71D1348-3AA5-3882-54A1-57A76FAC380D}"/>
              </a:ext>
            </a:extLst>
          </p:cNvPr>
          <p:cNvSpPr/>
          <p:nvPr/>
        </p:nvSpPr>
        <p:spPr>
          <a:xfrm>
            <a:off x="457200" y="2487168"/>
            <a:ext cx="3520440" cy="402336"/>
          </a:xfrm>
          <a:prstGeom prst="roundRect">
            <a:avLst>
              <a:gd name="adj" fmla="val 13636"/>
            </a:avLst>
          </a:prstGeom>
          <a:solidFill>
            <a:srgbClr val="2D1A5E"/>
          </a:solidFill>
          <a:ln w="6350">
            <a:solidFill>
              <a:srgbClr val="3A2A70"/>
            </a:solidFill>
            <a:prstDash val="solid"/>
          </a:ln>
        </p:spPr>
        <p:txBody>
          <a:bodyPr/>
          <a:lstStyle/>
          <a:p>
            <a:endParaRPr lang="en-US"/>
          </a:p>
        </p:txBody>
      </p:sp>
      <p:sp>
        <p:nvSpPr>
          <p:cNvPr id="17" name="Text 15">
            <a:extLst>
              <a:ext uri="{FF2B5EF4-FFF2-40B4-BE49-F238E27FC236}">
                <a16:creationId xmlns:a16="http://schemas.microsoft.com/office/drawing/2014/main" id="{CF8A9D77-12E4-A989-944B-42A32BEC703B}"/>
              </a:ext>
            </a:extLst>
          </p:cNvPr>
          <p:cNvSpPr/>
          <p:nvPr/>
        </p:nvSpPr>
        <p:spPr>
          <a:xfrm>
            <a:off x="502920" y="2487168"/>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Memory:</a:t>
            </a:r>
            <a:endParaRPr lang="en-US" sz="800" dirty="0"/>
          </a:p>
        </p:txBody>
      </p:sp>
      <p:sp>
        <p:nvSpPr>
          <p:cNvPr id="18" name="Text 16">
            <a:extLst>
              <a:ext uri="{FF2B5EF4-FFF2-40B4-BE49-F238E27FC236}">
                <a16:creationId xmlns:a16="http://schemas.microsoft.com/office/drawing/2014/main" id="{6AF3EE4B-F711-A440-7FC2-F5F1CC31B724}"/>
              </a:ext>
            </a:extLst>
          </p:cNvPr>
          <p:cNvSpPr/>
          <p:nvPr/>
        </p:nvSpPr>
        <p:spPr>
          <a:xfrm>
            <a:off x="1325880" y="2487168"/>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You may skip or revisit items</a:t>
            </a:r>
            <a:endParaRPr lang="en-US" sz="900" dirty="0"/>
          </a:p>
        </p:txBody>
      </p:sp>
      <p:sp>
        <p:nvSpPr>
          <p:cNvPr id="19" name="Shape 17">
            <a:extLst>
              <a:ext uri="{FF2B5EF4-FFF2-40B4-BE49-F238E27FC236}">
                <a16:creationId xmlns:a16="http://schemas.microsoft.com/office/drawing/2014/main" id="{596A5860-F2B4-C8FE-B166-FD5219F46DE7}"/>
              </a:ext>
            </a:extLst>
          </p:cNvPr>
          <p:cNvSpPr/>
          <p:nvPr/>
        </p:nvSpPr>
        <p:spPr>
          <a:xfrm>
            <a:off x="457200" y="2962656"/>
            <a:ext cx="3520440" cy="402336"/>
          </a:xfrm>
          <a:prstGeom prst="roundRect">
            <a:avLst>
              <a:gd name="adj" fmla="val 13636"/>
            </a:avLst>
          </a:prstGeom>
          <a:solidFill>
            <a:srgbClr val="2D1A5E"/>
          </a:solidFill>
          <a:ln w="6350">
            <a:solidFill>
              <a:srgbClr val="3A2A70"/>
            </a:solidFill>
            <a:prstDash val="solid"/>
          </a:ln>
        </p:spPr>
        <p:txBody>
          <a:bodyPr/>
          <a:lstStyle/>
          <a:p>
            <a:endParaRPr lang="en-US"/>
          </a:p>
        </p:txBody>
      </p:sp>
      <p:sp>
        <p:nvSpPr>
          <p:cNvPr id="20" name="Text 18">
            <a:extLst>
              <a:ext uri="{FF2B5EF4-FFF2-40B4-BE49-F238E27FC236}">
                <a16:creationId xmlns:a16="http://schemas.microsoft.com/office/drawing/2014/main" id="{A81CB853-7AB7-49EC-8C36-43EFC3EE9829}"/>
              </a:ext>
            </a:extLst>
          </p:cNvPr>
          <p:cNvSpPr/>
          <p:nvPr/>
        </p:nvSpPr>
        <p:spPr>
          <a:xfrm>
            <a:off x="502920" y="2962656"/>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Stops when:</a:t>
            </a:r>
            <a:endParaRPr lang="en-US" sz="800" dirty="0"/>
          </a:p>
        </p:txBody>
      </p:sp>
      <p:sp>
        <p:nvSpPr>
          <p:cNvPr id="21" name="Text 19">
            <a:extLst>
              <a:ext uri="{FF2B5EF4-FFF2-40B4-BE49-F238E27FC236}">
                <a16:creationId xmlns:a16="http://schemas.microsoft.com/office/drawing/2014/main" id="{01F475CF-1041-BAFD-6AA4-A1D372E0B2C7}"/>
              </a:ext>
            </a:extLst>
          </p:cNvPr>
          <p:cNvSpPr/>
          <p:nvPr/>
        </p:nvSpPr>
        <p:spPr>
          <a:xfrm>
            <a:off x="1325880" y="2962656"/>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You spot a match — or give up</a:t>
            </a:r>
            <a:endParaRPr lang="en-US" sz="900" dirty="0"/>
          </a:p>
        </p:txBody>
      </p:sp>
      <p:sp>
        <p:nvSpPr>
          <p:cNvPr id="22" name="Shape 20">
            <a:extLst>
              <a:ext uri="{FF2B5EF4-FFF2-40B4-BE49-F238E27FC236}">
                <a16:creationId xmlns:a16="http://schemas.microsoft.com/office/drawing/2014/main" id="{03F49C8D-AD9E-60C1-F1AA-48F0627BF1EF}"/>
              </a:ext>
            </a:extLst>
          </p:cNvPr>
          <p:cNvSpPr/>
          <p:nvPr/>
        </p:nvSpPr>
        <p:spPr>
          <a:xfrm>
            <a:off x="457200" y="3438144"/>
            <a:ext cx="3520440" cy="402336"/>
          </a:xfrm>
          <a:prstGeom prst="roundRect">
            <a:avLst>
              <a:gd name="adj" fmla="val 13636"/>
            </a:avLst>
          </a:prstGeom>
          <a:solidFill>
            <a:srgbClr val="2D1A5E"/>
          </a:solidFill>
          <a:ln w="6350">
            <a:solidFill>
              <a:srgbClr val="3A2A70"/>
            </a:solidFill>
            <a:prstDash val="solid"/>
          </a:ln>
        </p:spPr>
        <p:txBody>
          <a:bodyPr/>
          <a:lstStyle/>
          <a:p>
            <a:endParaRPr lang="en-US"/>
          </a:p>
        </p:txBody>
      </p:sp>
      <p:sp>
        <p:nvSpPr>
          <p:cNvPr id="23" name="Text 21">
            <a:extLst>
              <a:ext uri="{FF2B5EF4-FFF2-40B4-BE49-F238E27FC236}">
                <a16:creationId xmlns:a16="http://schemas.microsoft.com/office/drawing/2014/main" id="{82834748-8E04-C1D1-F4AC-BB51AD8FF547}"/>
              </a:ext>
            </a:extLst>
          </p:cNvPr>
          <p:cNvSpPr/>
          <p:nvPr/>
        </p:nvSpPr>
        <p:spPr>
          <a:xfrm>
            <a:off x="502920" y="3438144"/>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Result:</a:t>
            </a:r>
            <a:endParaRPr lang="en-US" sz="800" dirty="0"/>
          </a:p>
        </p:txBody>
      </p:sp>
      <p:sp>
        <p:nvSpPr>
          <p:cNvPr id="24" name="Text 22">
            <a:extLst>
              <a:ext uri="{FF2B5EF4-FFF2-40B4-BE49-F238E27FC236}">
                <a16:creationId xmlns:a16="http://schemas.microsoft.com/office/drawing/2014/main" id="{2595A1BA-789B-D1C6-BA77-FFA46E209E26}"/>
              </a:ext>
            </a:extLst>
          </p:cNvPr>
          <p:cNvSpPr/>
          <p:nvPr/>
        </p:nvSpPr>
        <p:spPr>
          <a:xfrm>
            <a:off x="1325880" y="3438144"/>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"Yes, I see it" or "Not there"</a:t>
            </a:r>
            <a:endParaRPr lang="en-US" sz="900" dirty="0"/>
          </a:p>
        </p:txBody>
      </p:sp>
      <p:sp>
        <p:nvSpPr>
          <p:cNvPr id="25" name="Shape 23">
            <a:extLst>
              <a:ext uri="{FF2B5EF4-FFF2-40B4-BE49-F238E27FC236}">
                <a16:creationId xmlns:a16="http://schemas.microsoft.com/office/drawing/2014/main" id="{0CA1FABC-481F-2EA3-FA26-2D0379687B51}"/>
              </a:ext>
            </a:extLst>
          </p:cNvPr>
          <p:cNvSpPr/>
          <p:nvPr/>
        </p:nvSpPr>
        <p:spPr>
          <a:xfrm>
            <a:off x="457200" y="3913632"/>
            <a:ext cx="3520440" cy="402336"/>
          </a:xfrm>
          <a:prstGeom prst="roundRect">
            <a:avLst>
              <a:gd name="adj" fmla="val 13636"/>
            </a:avLst>
          </a:prstGeom>
          <a:solidFill>
            <a:srgbClr val="2D1A5E"/>
          </a:solidFill>
          <a:ln w="6350">
            <a:solidFill>
              <a:srgbClr val="3A2A70"/>
            </a:solidFill>
            <a:prstDash val="solid"/>
          </a:ln>
        </p:spPr>
        <p:txBody>
          <a:bodyPr/>
          <a:lstStyle/>
          <a:p>
            <a:endParaRPr lang="en-US"/>
          </a:p>
        </p:txBody>
      </p:sp>
      <p:sp>
        <p:nvSpPr>
          <p:cNvPr id="26" name="Text 24">
            <a:extLst>
              <a:ext uri="{FF2B5EF4-FFF2-40B4-BE49-F238E27FC236}">
                <a16:creationId xmlns:a16="http://schemas.microsoft.com/office/drawing/2014/main" id="{513F6708-4696-FCC6-0F1F-74D3C8F7F1BF}"/>
              </a:ext>
            </a:extLst>
          </p:cNvPr>
          <p:cNvSpPr/>
          <p:nvPr/>
        </p:nvSpPr>
        <p:spPr>
          <a:xfrm>
            <a:off x="502920" y="3913632"/>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Reliable?</a:t>
            </a:r>
            <a:endParaRPr lang="en-US" sz="800" dirty="0"/>
          </a:p>
        </p:txBody>
      </p:sp>
      <p:sp>
        <p:nvSpPr>
          <p:cNvPr id="27" name="Text 25">
            <a:extLst>
              <a:ext uri="{FF2B5EF4-FFF2-40B4-BE49-F238E27FC236}">
                <a16:creationId xmlns:a16="http://schemas.microsoft.com/office/drawing/2014/main" id="{CB8CF467-F7B2-6C94-9752-D91C4E5AD506}"/>
              </a:ext>
            </a:extLst>
          </p:cNvPr>
          <p:cNvSpPr/>
          <p:nvPr/>
        </p:nvSpPr>
        <p:spPr>
          <a:xfrm>
            <a:off x="1325880" y="3913632"/>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Easy to miss items, especially in long lists</a:t>
            </a:r>
            <a:endParaRPr lang="en-US" sz="900" dirty="0"/>
          </a:p>
        </p:txBody>
      </p:sp>
      <p:sp>
        <p:nvSpPr>
          <p:cNvPr id="28" name="Shape 26">
            <a:extLst>
              <a:ext uri="{FF2B5EF4-FFF2-40B4-BE49-F238E27FC236}">
                <a16:creationId xmlns:a16="http://schemas.microsoft.com/office/drawing/2014/main" id="{28D0995B-6653-F79C-9F46-E12B88A13D38}"/>
              </a:ext>
            </a:extLst>
          </p:cNvPr>
          <p:cNvSpPr/>
          <p:nvPr/>
        </p:nvSpPr>
        <p:spPr>
          <a:xfrm>
            <a:off x="4416552" y="843534"/>
            <a:ext cx="310896" cy="4114800"/>
          </a:xfrm>
          <a:prstGeom prst="rect">
            <a:avLst/>
          </a:prstGeom>
          <a:solidFill>
            <a:srgbClr val="4F29B7"/>
          </a:solidFill>
          <a:ln w="12700">
            <a:solidFill>
              <a:srgbClr val="4F29B7"/>
            </a:solidFill>
            <a:prstDash val="solid"/>
          </a:ln>
        </p:spPr>
        <p:txBody>
          <a:bodyPr/>
          <a:lstStyle/>
          <a:p>
            <a:endParaRPr lang="en-US"/>
          </a:p>
        </p:txBody>
      </p:sp>
      <p:sp>
        <p:nvSpPr>
          <p:cNvPr id="29" name="Text 27">
            <a:extLst>
              <a:ext uri="{FF2B5EF4-FFF2-40B4-BE49-F238E27FC236}">
                <a16:creationId xmlns:a16="http://schemas.microsoft.com/office/drawing/2014/main" id="{8FEE9ABE-4588-73AD-31E1-FC833708A9CC}"/>
              </a:ext>
            </a:extLst>
          </p:cNvPr>
          <p:cNvSpPr/>
          <p:nvPr/>
        </p:nvSpPr>
        <p:spPr>
          <a:xfrm>
            <a:off x="4306824" y="2718054"/>
            <a:ext cx="530352" cy="365760"/>
          </a:xfrm>
          <a:prstGeom prst="rect">
            <a:avLst/>
          </a:prstGeom>
          <a:noFill/>
          <a:ln/>
        </p:spPr>
        <p:txBody>
          <a:bodyPr wrap="square" rtlCol="0" anchor="ctr"/>
          <a:lstStyle/>
          <a:p>
            <a:pPr marL="0" indent="0" algn="ctr">
              <a:buNone/>
            </a:pPr>
            <a:r>
              <a:rPr lang="en-US" sz="1300" b="1" dirty="0">
                <a:solidFill>
                  <a:srgbClr val="EDEDED"/>
                </a:solidFill>
                <a:latin typeface="Calibri" pitchFamily="34" charset="0"/>
                <a:ea typeface="Calibri" pitchFamily="34" charset="-122"/>
                <a:cs typeface="Calibri" pitchFamily="34" charset="-120"/>
              </a:rPr>
              <a:t>vs</a:t>
            </a:r>
            <a:endParaRPr lang="en-US" sz="1300" dirty="0"/>
          </a:p>
        </p:txBody>
      </p:sp>
      <p:sp>
        <p:nvSpPr>
          <p:cNvPr id="30" name="Shape 28">
            <a:extLst>
              <a:ext uri="{FF2B5EF4-FFF2-40B4-BE49-F238E27FC236}">
                <a16:creationId xmlns:a16="http://schemas.microsoft.com/office/drawing/2014/main" id="{AEE34ACF-5233-297C-7290-F82D7391F43A}"/>
              </a:ext>
            </a:extLst>
          </p:cNvPr>
          <p:cNvSpPr/>
          <p:nvPr/>
        </p:nvSpPr>
        <p:spPr>
          <a:xfrm>
            <a:off x="4983480" y="822960"/>
            <a:ext cx="3886200" cy="4114800"/>
          </a:xfrm>
          <a:prstGeom prst="roundRect">
            <a:avLst>
              <a:gd name="adj" fmla="val 2824"/>
            </a:avLst>
          </a:prstGeom>
          <a:solidFill>
            <a:srgbClr val="0D2020"/>
          </a:solidFill>
          <a:ln w="12700">
            <a:solidFill>
              <a:srgbClr val="57E3D8"/>
            </a:solidFill>
            <a:prstDash val="solid"/>
          </a:ln>
        </p:spPr>
        <p:txBody>
          <a:bodyPr/>
          <a:lstStyle/>
          <a:p>
            <a:endParaRPr lang="en-US"/>
          </a:p>
        </p:txBody>
      </p:sp>
      <p:sp>
        <p:nvSpPr>
          <p:cNvPr id="31" name="Text 29">
            <a:extLst>
              <a:ext uri="{FF2B5EF4-FFF2-40B4-BE49-F238E27FC236}">
                <a16:creationId xmlns:a16="http://schemas.microsoft.com/office/drawing/2014/main" id="{F2EF1F1A-21A0-05F7-0DAD-248D9EFC403C}"/>
              </a:ext>
            </a:extLst>
          </p:cNvPr>
          <p:cNvSpPr/>
          <p:nvPr/>
        </p:nvSpPr>
        <p:spPr>
          <a:xfrm>
            <a:off x="4983480" y="822960"/>
            <a:ext cx="3886200" cy="4572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 Computer</a:t>
            </a:r>
            <a:endParaRPr lang="en-US" sz="2000" dirty="0"/>
          </a:p>
        </p:txBody>
      </p:sp>
      <p:sp>
        <p:nvSpPr>
          <p:cNvPr id="32" name="Text 30">
            <a:extLst>
              <a:ext uri="{FF2B5EF4-FFF2-40B4-BE49-F238E27FC236}">
                <a16:creationId xmlns:a16="http://schemas.microsoft.com/office/drawing/2014/main" id="{46E4A81B-148B-8CD9-9160-86527E3CF4B9}"/>
              </a:ext>
            </a:extLst>
          </p:cNvPr>
          <p:cNvSpPr/>
          <p:nvPr/>
        </p:nvSpPr>
        <p:spPr>
          <a:xfrm>
            <a:off x="4983480" y="1188720"/>
            <a:ext cx="3886200" cy="256032"/>
          </a:xfrm>
          <a:prstGeom prst="rect">
            <a:avLst/>
          </a:prstGeom>
          <a:noFill/>
          <a:ln/>
        </p:spPr>
        <p:txBody>
          <a:bodyPr wrap="square" rtlCol="0" anchor="ctr"/>
          <a:lstStyle/>
          <a:p>
            <a:pPr marL="0" indent="0" algn="ctr">
              <a:buNone/>
            </a:pPr>
            <a:r>
              <a:rPr lang="en-US" sz="1000" i="1" dirty="0">
                <a:solidFill>
                  <a:srgbClr val="57E3D8"/>
                </a:solidFill>
                <a:latin typeface="Calibri" pitchFamily="34" charset="0"/>
                <a:ea typeface="Calibri" pitchFamily="34" charset="-122"/>
                <a:cs typeface="Calibri" pitchFamily="34" charset="-120"/>
              </a:rPr>
              <a:t>Linear Search, made precise</a:t>
            </a:r>
            <a:endParaRPr lang="en-US" sz="1000" dirty="0"/>
          </a:p>
        </p:txBody>
      </p:sp>
      <p:sp>
        <p:nvSpPr>
          <p:cNvPr id="33" name="Shape 31">
            <a:extLst>
              <a:ext uri="{FF2B5EF4-FFF2-40B4-BE49-F238E27FC236}">
                <a16:creationId xmlns:a16="http://schemas.microsoft.com/office/drawing/2014/main" id="{2AA6F638-5CE6-FF35-A36A-357ACBC7A5EE}"/>
              </a:ext>
            </a:extLst>
          </p:cNvPr>
          <p:cNvSpPr/>
          <p:nvPr/>
        </p:nvSpPr>
        <p:spPr>
          <a:xfrm>
            <a:off x="5166360" y="1536192"/>
            <a:ext cx="3520440" cy="402336"/>
          </a:xfrm>
          <a:prstGeom prst="roundRect">
            <a:avLst>
              <a:gd name="adj" fmla="val 13636"/>
            </a:avLst>
          </a:prstGeom>
          <a:solidFill>
            <a:srgbClr val="0F2E2E"/>
          </a:solidFill>
          <a:ln w="6350">
            <a:solidFill>
              <a:srgbClr val="1A3E3E"/>
            </a:solidFill>
            <a:prstDash val="solid"/>
          </a:ln>
        </p:spPr>
        <p:txBody>
          <a:bodyPr/>
          <a:lstStyle/>
          <a:p>
            <a:endParaRPr lang="en-US"/>
          </a:p>
        </p:txBody>
      </p:sp>
      <p:sp>
        <p:nvSpPr>
          <p:cNvPr id="34" name="Text 32">
            <a:extLst>
              <a:ext uri="{FF2B5EF4-FFF2-40B4-BE49-F238E27FC236}">
                <a16:creationId xmlns:a16="http://schemas.microsoft.com/office/drawing/2014/main" id="{40D20E3D-237B-9D65-0005-F1470DFDA85F}"/>
              </a:ext>
            </a:extLst>
          </p:cNvPr>
          <p:cNvSpPr/>
          <p:nvPr/>
        </p:nvSpPr>
        <p:spPr>
          <a:xfrm>
            <a:off x="5212080" y="1536192"/>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Approach:</a:t>
            </a:r>
            <a:endParaRPr lang="en-US" sz="800" dirty="0"/>
          </a:p>
        </p:txBody>
      </p:sp>
      <p:sp>
        <p:nvSpPr>
          <p:cNvPr id="35" name="Text 33">
            <a:extLst>
              <a:ext uri="{FF2B5EF4-FFF2-40B4-BE49-F238E27FC236}">
                <a16:creationId xmlns:a16="http://schemas.microsoft.com/office/drawing/2014/main" id="{254710F6-A3D0-2BDA-1EDF-0B27D0168981}"/>
              </a:ext>
            </a:extLst>
          </p:cNvPr>
          <p:cNvSpPr/>
          <p:nvPr/>
        </p:nvSpPr>
        <p:spPr>
          <a:xfrm>
            <a:off x="6035040" y="1536192"/>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Compare each item to the target</a:t>
            </a:r>
            <a:endParaRPr lang="en-US" sz="900" dirty="0"/>
          </a:p>
        </p:txBody>
      </p:sp>
      <p:sp>
        <p:nvSpPr>
          <p:cNvPr id="36" name="Shape 34">
            <a:extLst>
              <a:ext uri="{FF2B5EF4-FFF2-40B4-BE49-F238E27FC236}">
                <a16:creationId xmlns:a16="http://schemas.microsoft.com/office/drawing/2014/main" id="{276EF63A-0F9F-9871-090D-42662C083648}"/>
              </a:ext>
            </a:extLst>
          </p:cNvPr>
          <p:cNvSpPr/>
          <p:nvPr/>
        </p:nvSpPr>
        <p:spPr>
          <a:xfrm>
            <a:off x="5166360" y="2011680"/>
            <a:ext cx="3520440" cy="402336"/>
          </a:xfrm>
          <a:prstGeom prst="roundRect">
            <a:avLst>
              <a:gd name="adj" fmla="val 13636"/>
            </a:avLst>
          </a:prstGeom>
          <a:solidFill>
            <a:srgbClr val="0F2E2E"/>
          </a:solidFill>
          <a:ln w="6350">
            <a:solidFill>
              <a:srgbClr val="1A3E3E"/>
            </a:solidFill>
            <a:prstDash val="solid"/>
          </a:ln>
        </p:spPr>
        <p:txBody>
          <a:bodyPr/>
          <a:lstStyle/>
          <a:p>
            <a:endParaRPr lang="en-US"/>
          </a:p>
        </p:txBody>
      </p:sp>
      <p:sp>
        <p:nvSpPr>
          <p:cNvPr id="37" name="Text 35">
            <a:extLst>
              <a:ext uri="{FF2B5EF4-FFF2-40B4-BE49-F238E27FC236}">
                <a16:creationId xmlns:a16="http://schemas.microsoft.com/office/drawing/2014/main" id="{50710570-BD97-07DD-973A-6E0879828529}"/>
              </a:ext>
            </a:extLst>
          </p:cNvPr>
          <p:cNvSpPr/>
          <p:nvPr/>
        </p:nvSpPr>
        <p:spPr>
          <a:xfrm>
            <a:off x="5212080" y="2011680"/>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Order:</a:t>
            </a:r>
            <a:endParaRPr lang="en-US" sz="800" dirty="0"/>
          </a:p>
        </p:txBody>
      </p:sp>
      <p:sp>
        <p:nvSpPr>
          <p:cNvPr id="38" name="Text 36">
            <a:extLst>
              <a:ext uri="{FF2B5EF4-FFF2-40B4-BE49-F238E27FC236}">
                <a16:creationId xmlns:a16="http://schemas.microsoft.com/office/drawing/2014/main" id="{325466D3-0145-6B0D-2552-02E73F82500A}"/>
              </a:ext>
            </a:extLst>
          </p:cNvPr>
          <p:cNvSpPr/>
          <p:nvPr/>
        </p:nvSpPr>
        <p:spPr>
          <a:xfrm>
            <a:off x="6035040" y="2011680"/>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Index 0, 1, 2, ... in strict order</a:t>
            </a:r>
            <a:endParaRPr lang="en-US" sz="900" dirty="0"/>
          </a:p>
        </p:txBody>
      </p:sp>
      <p:sp>
        <p:nvSpPr>
          <p:cNvPr id="39" name="Shape 37">
            <a:extLst>
              <a:ext uri="{FF2B5EF4-FFF2-40B4-BE49-F238E27FC236}">
                <a16:creationId xmlns:a16="http://schemas.microsoft.com/office/drawing/2014/main" id="{6942382F-E7A3-C1F2-B83D-D6FA86B546E1}"/>
              </a:ext>
            </a:extLst>
          </p:cNvPr>
          <p:cNvSpPr/>
          <p:nvPr/>
        </p:nvSpPr>
        <p:spPr>
          <a:xfrm>
            <a:off x="5166360" y="2487168"/>
            <a:ext cx="3520440" cy="402336"/>
          </a:xfrm>
          <a:prstGeom prst="roundRect">
            <a:avLst>
              <a:gd name="adj" fmla="val 13636"/>
            </a:avLst>
          </a:prstGeom>
          <a:solidFill>
            <a:srgbClr val="0F2E2E"/>
          </a:solidFill>
          <a:ln w="6350">
            <a:solidFill>
              <a:srgbClr val="1A3E3E"/>
            </a:solidFill>
            <a:prstDash val="solid"/>
          </a:ln>
        </p:spPr>
        <p:txBody>
          <a:bodyPr/>
          <a:lstStyle/>
          <a:p>
            <a:endParaRPr lang="en-US"/>
          </a:p>
        </p:txBody>
      </p:sp>
      <p:sp>
        <p:nvSpPr>
          <p:cNvPr id="40" name="Text 38">
            <a:extLst>
              <a:ext uri="{FF2B5EF4-FFF2-40B4-BE49-F238E27FC236}">
                <a16:creationId xmlns:a16="http://schemas.microsoft.com/office/drawing/2014/main" id="{E5CD63DE-A2FD-FE4E-8F62-CFED0F0E9EA7}"/>
              </a:ext>
            </a:extLst>
          </p:cNvPr>
          <p:cNvSpPr/>
          <p:nvPr/>
        </p:nvSpPr>
        <p:spPr>
          <a:xfrm>
            <a:off x="5212080" y="2487168"/>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Memory:</a:t>
            </a:r>
            <a:endParaRPr lang="en-US" sz="800" dirty="0"/>
          </a:p>
        </p:txBody>
      </p:sp>
      <p:sp>
        <p:nvSpPr>
          <p:cNvPr id="41" name="Text 39">
            <a:extLst>
              <a:ext uri="{FF2B5EF4-FFF2-40B4-BE49-F238E27FC236}">
                <a16:creationId xmlns:a16="http://schemas.microsoft.com/office/drawing/2014/main" id="{3B5504F8-686E-BA78-2DB4-23833D5191B0}"/>
              </a:ext>
            </a:extLst>
          </p:cNvPr>
          <p:cNvSpPr/>
          <p:nvPr/>
        </p:nvSpPr>
        <p:spPr>
          <a:xfrm>
            <a:off x="6035040" y="2487168"/>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Tracks current index, never skips</a:t>
            </a:r>
            <a:endParaRPr lang="en-US" sz="900" dirty="0"/>
          </a:p>
        </p:txBody>
      </p:sp>
      <p:sp>
        <p:nvSpPr>
          <p:cNvPr id="42" name="Shape 40">
            <a:extLst>
              <a:ext uri="{FF2B5EF4-FFF2-40B4-BE49-F238E27FC236}">
                <a16:creationId xmlns:a16="http://schemas.microsoft.com/office/drawing/2014/main" id="{B4BD8040-DFF5-8EB7-EFFC-2EDD0AA4C308}"/>
              </a:ext>
            </a:extLst>
          </p:cNvPr>
          <p:cNvSpPr/>
          <p:nvPr/>
        </p:nvSpPr>
        <p:spPr>
          <a:xfrm>
            <a:off x="5166360" y="2962656"/>
            <a:ext cx="3520440" cy="402336"/>
          </a:xfrm>
          <a:prstGeom prst="roundRect">
            <a:avLst>
              <a:gd name="adj" fmla="val 13636"/>
            </a:avLst>
          </a:prstGeom>
          <a:solidFill>
            <a:srgbClr val="0F2E2E"/>
          </a:solidFill>
          <a:ln w="6350">
            <a:solidFill>
              <a:srgbClr val="1A3E3E"/>
            </a:solidFill>
            <a:prstDash val="solid"/>
          </a:ln>
        </p:spPr>
        <p:txBody>
          <a:bodyPr/>
          <a:lstStyle/>
          <a:p>
            <a:endParaRPr lang="en-US"/>
          </a:p>
        </p:txBody>
      </p:sp>
      <p:sp>
        <p:nvSpPr>
          <p:cNvPr id="43" name="Text 41">
            <a:extLst>
              <a:ext uri="{FF2B5EF4-FFF2-40B4-BE49-F238E27FC236}">
                <a16:creationId xmlns:a16="http://schemas.microsoft.com/office/drawing/2014/main" id="{3C3B4DAE-E3CC-8255-554E-4C338D6C2133}"/>
              </a:ext>
            </a:extLst>
          </p:cNvPr>
          <p:cNvSpPr/>
          <p:nvPr/>
        </p:nvSpPr>
        <p:spPr>
          <a:xfrm>
            <a:off x="5212080" y="2962656"/>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Stops when:</a:t>
            </a:r>
            <a:endParaRPr lang="en-US" sz="800" dirty="0"/>
          </a:p>
        </p:txBody>
      </p:sp>
      <p:sp>
        <p:nvSpPr>
          <p:cNvPr id="44" name="Text 42">
            <a:extLst>
              <a:ext uri="{FF2B5EF4-FFF2-40B4-BE49-F238E27FC236}">
                <a16:creationId xmlns:a16="http://schemas.microsoft.com/office/drawing/2014/main" id="{0EA8348F-EAC9-B6A1-A0A9-981B05749E1E}"/>
              </a:ext>
            </a:extLst>
          </p:cNvPr>
          <p:cNvSpPr/>
          <p:nvPr/>
        </p:nvSpPr>
        <p:spPr>
          <a:xfrm>
            <a:off x="6035040" y="2962656"/>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Match found, or end of list reached</a:t>
            </a:r>
            <a:endParaRPr lang="en-US" sz="900" dirty="0"/>
          </a:p>
        </p:txBody>
      </p:sp>
      <p:sp>
        <p:nvSpPr>
          <p:cNvPr id="45" name="Shape 43">
            <a:extLst>
              <a:ext uri="{FF2B5EF4-FFF2-40B4-BE49-F238E27FC236}">
                <a16:creationId xmlns:a16="http://schemas.microsoft.com/office/drawing/2014/main" id="{AF19D472-79B4-7EAD-A3A0-DB3C2232CDB5}"/>
              </a:ext>
            </a:extLst>
          </p:cNvPr>
          <p:cNvSpPr/>
          <p:nvPr/>
        </p:nvSpPr>
        <p:spPr>
          <a:xfrm>
            <a:off x="5166360" y="3438144"/>
            <a:ext cx="3520440" cy="402336"/>
          </a:xfrm>
          <a:prstGeom prst="roundRect">
            <a:avLst>
              <a:gd name="adj" fmla="val 13636"/>
            </a:avLst>
          </a:prstGeom>
          <a:solidFill>
            <a:srgbClr val="0F2E2E"/>
          </a:solidFill>
          <a:ln w="6350">
            <a:solidFill>
              <a:srgbClr val="1A3E3E"/>
            </a:solidFill>
            <a:prstDash val="solid"/>
          </a:ln>
        </p:spPr>
        <p:txBody>
          <a:bodyPr/>
          <a:lstStyle/>
          <a:p>
            <a:endParaRPr lang="en-US"/>
          </a:p>
        </p:txBody>
      </p:sp>
      <p:sp>
        <p:nvSpPr>
          <p:cNvPr id="46" name="Text 44">
            <a:extLst>
              <a:ext uri="{FF2B5EF4-FFF2-40B4-BE49-F238E27FC236}">
                <a16:creationId xmlns:a16="http://schemas.microsoft.com/office/drawing/2014/main" id="{AE5764AD-FEB5-7C1D-EED5-D76C266FC016}"/>
              </a:ext>
            </a:extLst>
          </p:cNvPr>
          <p:cNvSpPr/>
          <p:nvPr/>
        </p:nvSpPr>
        <p:spPr>
          <a:xfrm>
            <a:off x="5212080" y="3438144"/>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Result:</a:t>
            </a:r>
            <a:endParaRPr lang="en-US" sz="800" dirty="0"/>
          </a:p>
        </p:txBody>
      </p:sp>
      <p:sp>
        <p:nvSpPr>
          <p:cNvPr id="47" name="Text 45">
            <a:extLst>
              <a:ext uri="{FF2B5EF4-FFF2-40B4-BE49-F238E27FC236}">
                <a16:creationId xmlns:a16="http://schemas.microsoft.com/office/drawing/2014/main" id="{C71AEF8E-A22F-ADC6-B183-DCD242EA877B}"/>
              </a:ext>
            </a:extLst>
          </p:cNvPr>
          <p:cNvSpPr/>
          <p:nvPr/>
        </p:nvSpPr>
        <p:spPr>
          <a:xfrm>
            <a:off x="6035040" y="3438144"/>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Index of the match, or -1 if not found</a:t>
            </a:r>
            <a:endParaRPr lang="en-US" sz="900" dirty="0"/>
          </a:p>
        </p:txBody>
      </p:sp>
      <p:sp>
        <p:nvSpPr>
          <p:cNvPr id="48" name="Shape 46">
            <a:extLst>
              <a:ext uri="{FF2B5EF4-FFF2-40B4-BE49-F238E27FC236}">
                <a16:creationId xmlns:a16="http://schemas.microsoft.com/office/drawing/2014/main" id="{42600777-6D46-7631-F808-A9562ACAB92E}"/>
              </a:ext>
            </a:extLst>
          </p:cNvPr>
          <p:cNvSpPr/>
          <p:nvPr/>
        </p:nvSpPr>
        <p:spPr>
          <a:xfrm>
            <a:off x="5166360" y="3913632"/>
            <a:ext cx="3520440" cy="402336"/>
          </a:xfrm>
          <a:prstGeom prst="roundRect">
            <a:avLst>
              <a:gd name="adj" fmla="val 13636"/>
            </a:avLst>
          </a:prstGeom>
          <a:solidFill>
            <a:srgbClr val="0F2E2E"/>
          </a:solidFill>
          <a:ln w="6350">
            <a:solidFill>
              <a:srgbClr val="1A3E3E"/>
            </a:solidFill>
            <a:prstDash val="solid"/>
          </a:ln>
        </p:spPr>
        <p:txBody>
          <a:bodyPr/>
          <a:lstStyle/>
          <a:p>
            <a:endParaRPr lang="en-US"/>
          </a:p>
        </p:txBody>
      </p:sp>
      <p:sp>
        <p:nvSpPr>
          <p:cNvPr id="49" name="Text 47">
            <a:extLst>
              <a:ext uri="{FF2B5EF4-FFF2-40B4-BE49-F238E27FC236}">
                <a16:creationId xmlns:a16="http://schemas.microsoft.com/office/drawing/2014/main" id="{519DB8C3-055F-459B-82F6-A024731C65B5}"/>
              </a:ext>
            </a:extLst>
          </p:cNvPr>
          <p:cNvSpPr/>
          <p:nvPr/>
        </p:nvSpPr>
        <p:spPr>
          <a:xfrm>
            <a:off x="5212080" y="3913632"/>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Reliable?</a:t>
            </a:r>
            <a:endParaRPr lang="en-US" sz="800" dirty="0"/>
          </a:p>
        </p:txBody>
      </p:sp>
      <p:sp>
        <p:nvSpPr>
          <p:cNvPr id="50" name="Text 48">
            <a:extLst>
              <a:ext uri="{FF2B5EF4-FFF2-40B4-BE49-F238E27FC236}">
                <a16:creationId xmlns:a16="http://schemas.microsoft.com/office/drawing/2014/main" id="{3D362DF0-8C20-2710-479A-BDFA915F4002}"/>
              </a:ext>
            </a:extLst>
          </p:cNvPr>
          <p:cNvSpPr/>
          <p:nvPr/>
        </p:nvSpPr>
        <p:spPr>
          <a:xfrm>
            <a:off x="6035040" y="3913632"/>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Always finds it if it exists — guaranteed</a:t>
            </a:r>
            <a:endParaRPr lang="en-US" sz="900" dirty="0"/>
          </a:p>
        </p:txBody>
      </p:sp>
    </p:spTree>
    <p:extLst>
      <p:ext uri="{BB962C8B-B14F-4D97-AF65-F5344CB8AC3E}">
        <p14:creationId xmlns:p14="http://schemas.microsoft.com/office/powerpoint/2010/main" val="8828588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THE ALGORITHM</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Linear Search — Step by Step</a:t>
            </a:r>
            <a:endParaRPr lang="en-US" sz="2800" dirty="0"/>
          </a:p>
        </p:txBody>
      </p:sp>
      <p:sp>
        <p:nvSpPr>
          <p:cNvPr id="6" name="Text 4"/>
          <p:cNvSpPr/>
          <p:nvPr/>
        </p:nvSpPr>
        <p:spPr>
          <a:xfrm>
            <a:off x="457200" y="868680"/>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The complete algorithm broken down into six clear, repeatable steps</a:t>
            </a:r>
            <a:endParaRPr lang="en-US" sz="1300" dirty="0"/>
          </a:p>
        </p:txBody>
      </p:sp>
      <p:sp>
        <p:nvSpPr>
          <p:cNvPr id="7" name="Shape 5"/>
          <p:cNvSpPr/>
          <p:nvPr/>
        </p:nvSpPr>
        <p:spPr>
          <a:xfrm>
            <a:off x="411480" y="1170432"/>
            <a:ext cx="4206240" cy="1097280"/>
          </a:xfrm>
          <a:prstGeom prst="rect">
            <a:avLst/>
          </a:prstGeom>
          <a:solidFill>
            <a:srgbClr val="161B26"/>
          </a:solidFill>
          <a:ln w="1524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8" name="Shape 6"/>
          <p:cNvSpPr/>
          <p:nvPr/>
        </p:nvSpPr>
        <p:spPr>
          <a:xfrm>
            <a:off x="411480" y="1170432"/>
            <a:ext cx="4206240" cy="329184"/>
          </a:xfrm>
          <a:prstGeom prst="rect">
            <a:avLst/>
          </a:prstGeom>
          <a:solidFill>
            <a:srgbClr val="3FD9C4">
              <a:alpha val="78000"/>
            </a:srgbClr>
          </a:solidFill>
          <a:ln w="12700">
            <a:solidFill>
              <a:srgbClr val="3FD9C4"/>
            </a:solidFill>
            <a:prstDash val="solid"/>
          </a:ln>
        </p:spPr>
        <p:txBody>
          <a:bodyPr/>
          <a:lstStyle/>
          <a:p>
            <a:endParaRPr lang="en-US"/>
          </a:p>
        </p:txBody>
      </p:sp>
      <p:sp>
        <p:nvSpPr>
          <p:cNvPr id="9" name="Shape 7"/>
          <p:cNvSpPr/>
          <p:nvPr/>
        </p:nvSpPr>
        <p:spPr>
          <a:xfrm>
            <a:off x="521208" y="1207008"/>
            <a:ext cx="347472" cy="347472"/>
          </a:xfrm>
          <a:prstGeom prst="ellipse">
            <a:avLst/>
          </a:prstGeom>
          <a:solidFill>
            <a:srgbClr val="3FD9C4">
              <a:alpha val="80000"/>
            </a:srgbClr>
          </a:solidFill>
          <a:ln w="19050">
            <a:solidFill>
              <a:srgbClr val="3FD9C4"/>
            </a:solidFill>
            <a:prstDash val="solid"/>
          </a:ln>
        </p:spPr>
        <p:txBody>
          <a:bodyPr/>
          <a:lstStyle/>
          <a:p>
            <a:endParaRPr lang="en-US"/>
          </a:p>
        </p:txBody>
      </p:sp>
      <p:sp>
        <p:nvSpPr>
          <p:cNvPr id="10" name="Text 8"/>
          <p:cNvSpPr/>
          <p:nvPr/>
        </p:nvSpPr>
        <p:spPr>
          <a:xfrm>
            <a:off x="521208" y="1207008"/>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1</a:t>
            </a:r>
            <a:endParaRPr lang="en-US" sz="1400" dirty="0">
              <a:solidFill>
                <a:schemeClr val="bg1"/>
              </a:solidFill>
            </a:endParaRPr>
          </a:p>
        </p:txBody>
      </p:sp>
      <p:sp>
        <p:nvSpPr>
          <p:cNvPr id="11" name="Text 9"/>
          <p:cNvSpPr/>
          <p:nvPr/>
        </p:nvSpPr>
        <p:spPr>
          <a:xfrm>
            <a:off x="960120" y="1225296"/>
            <a:ext cx="3529584" cy="21945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Receive input</a:t>
            </a:r>
            <a:endParaRPr lang="en-US" sz="1200" dirty="0"/>
          </a:p>
        </p:txBody>
      </p:sp>
      <p:sp>
        <p:nvSpPr>
          <p:cNvPr id="12" name="Shape 10"/>
          <p:cNvSpPr/>
          <p:nvPr/>
        </p:nvSpPr>
        <p:spPr>
          <a:xfrm>
            <a:off x="548640" y="1517904"/>
            <a:ext cx="3931920" cy="0"/>
          </a:xfrm>
          <a:prstGeom prst="line">
            <a:avLst/>
          </a:prstGeom>
          <a:noFill/>
          <a:ln w="7620">
            <a:solidFill>
              <a:srgbClr val="3D444D"/>
            </a:solidFill>
            <a:prstDash val="solid"/>
          </a:ln>
        </p:spPr>
        <p:txBody>
          <a:bodyPr/>
          <a:lstStyle/>
          <a:p>
            <a:endParaRPr lang="en-US"/>
          </a:p>
        </p:txBody>
      </p:sp>
      <p:sp>
        <p:nvSpPr>
          <p:cNvPr id="13" name="Text 11"/>
          <p:cNvSpPr/>
          <p:nvPr/>
        </p:nvSpPr>
        <p:spPr>
          <a:xfrm>
            <a:off x="548640" y="1572768"/>
            <a:ext cx="3931920" cy="621792"/>
          </a:xfrm>
          <a:prstGeom prst="rect">
            <a:avLst/>
          </a:prstGeom>
          <a:noFill/>
          <a:ln/>
        </p:spPr>
        <p:txBody>
          <a:bodyPr wrap="square" lIns="0" tIns="0" rIns="0" bIns="0" rtlCol="0" anchor="t"/>
          <a:lstStyle/>
          <a:p>
            <a:pPr marL="0" indent="0" algn="l">
              <a:buNone/>
            </a:pPr>
            <a:r>
              <a:rPr lang="en-US" sz="1050" dirty="0">
                <a:solidFill>
                  <a:srgbClr val="F0F6FC"/>
                </a:solidFill>
                <a:latin typeface="Calibri" pitchFamily="34" charset="0"/>
                <a:ea typeface="Calibri" pitchFamily="34" charset="-122"/>
                <a:cs typeface="Calibri" pitchFamily="34" charset="-120"/>
              </a:rPr>
              <a:t>Take in two values:</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the list of items, and</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the target value we want</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to find inside that list.</a:t>
            </a:r>
            <a:endParaRPr lang="en-US" sz="1050" dirty="0"/>
          </a:p>
        </p:txBody>
      </p:sp>
      <p:sp>
        <p:nvSpPr>
          <p:cNvPr id="14" name="Shape 12"/>
          <p:cNvSpPr/>
          <p:nvPr/>
        </p:nvSpPr>
        <p:spPr>
          <a:xfrm>
            <a:off x="411480" y="2386584"/>
            <a:ext cx="4206240" cy="1097280"/>
          </a:xfrm>
          <a:prstGeom prst="rect">
            <a:avLst/>
          </a:prstGeom>
          <a:solidFill>
            <a:srgbClr val="161B26"/>
          </a:solidFill>
          <a:ln w="15240">
            <a:solidFill>
              <a:srgbClr val="58A6FF"/>
            </a:solidFill>
            <a:prstDash val="solid"/>
          </a:ln>
          <a:effectLst>
            <a:outerShdw blurRad="177800" dist="38100" dir="8100000" algn="bl" rotWithShape="0">
              <a:srgbClr val="000000">
                <a:alpha val="35000"/>
              </a:srgbClr>
            </a:outerShdw>
          </a:effectLst>
        </p:spPr>
        <p:txBody>
          <a:bodyPr/>
          <a:lstStyle/>
          <a:p>
            <a:endParaRPr lang="en-US"/>
          </a:p>
        </p:txBody>
      </p:sp>
      <p:sp>
        <p:nvSpPr>
          <p:cNvPr id="15" name="Shape 13"/>
          <p:cNvSpPr/>
          <p:nvPr/>
        </p:nvSpPr>
        <p:spPr>
          <a:xfrm>
            <a:off x="411480" y="2386584"/>
            <a:ext cx="4206240" cy="329184"/>
          </a:xfrm>
          <a:prstGeom prst="rect">
            <a:avLst/>
          </a:prstGeom>
          <a:solidFill>
            <a:srgbClr val="58A6FF">
              <a:alpha val="78000"/>
            </a:srgbClr>
          </a:solidFill>
          <a:ln w="12700">
            <a:solidFill>
              <a:srgbClr val="58A6FF"/>
            </a:solidFill>
            <a:prstDash val="solid"/>
          </a:ln>
        </p:spPr>
        <p:txBody>
          <a:bodyPr/>
          <a:lstStyle/>
          <a:p>
            <a:endParaRPr lang="en-US"/>
          </a:p>
        </p:txBody>
      </p:sp>
      <p:sp>
        <p:nvSpPr>
          <p:cNvPr id="16" name="Shape 14"/>
          <p:cNvSpPr/>
          <p:nvPr/>
        </p:nvSpPr>
        <p:spPr>
          <a:xfrm>
            <a:off x="521208" y="2423160"/>
            <a:ext cx="347472" cy="347472"/>
          </a:xfrm>
          <a:prstGeom prst="ellipse">
            <a:avLst/>
          </a:prstGeom>
          <a:solidFill>
            <a:srgbClr val="58A6FF">
              <a:alpha val="80000"/>
            </a:srgbClr>
          </a:solidFill>
          <a:ln w="19050">
            <a:solidFill>
              <a:srgbClr val="58A6FF"/>
            </a:solidFill>
            <a:prstDash val="solid"/>
          </a:ln>
        </p:spPr>
        <p:txBody>
          <a:bodyPr/>
          <a:lstStyle/>
          <a:p>
            <a:endParaRPr lang="en-US"/>
          </a:p>
        </p:txBody>
      </p:sp>
      <p:sp>
        <p:nvSpPr>
          <p:cNvPr id="17" name="Text 15"/>
          <p:cNvSpPr/>
          <p:nvPr/>
        </p:nvSpPr>
        <p:spPr>
          <a:xfrm>
            <a:off x="521208" y="2423160"/>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2</a:t>
            </a:r>
            <a:endParaRPr lang="en-US" sz="1400" dirty="0">
              <a:solidFill>
                <a:schemeClr val="bg1"/>
              </a:solidFill>
            </a:endParaRPr>
          </a:p>
        </p:txBody>
      </p:sp>
      <p:sp>
        <p:nvSpPr>
          <p:cNvPr id="18" name="Text 16"/>
          <p:cNvSpPr/>
          <p:nvPr/>
        </p:nvSpPr>
        <p:spPr>
          <a:xfrm>
            <a:off x="960120" y="2441448"/>
            <a:ext cx="3529584" cy="21945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  Initialise index</a:t>
            </a:r>
            <a:endParaRPr lang="en-US" sz="1200" dirty="0"/>
          </a:p>
        </p:txBody>
      </p:sp>
      <p:sp>
        <p:nvSpPr>
          <p:cNvPr id="19" name="Shape 17"/>
          <p:cNvSpPr/>
          <p:nvPr/>
        </p:nvSpPr>
        <p:spPr>
          <a:xfrm>
            <a:off x="548640" y="2734056"/>
            <a:ext cx="3931920" cy="0"/>
          </a:xfrm>
          <a:prstGeom prst="line">
            <a:avLst/>
          </a:prstGeom>
          <a:noFill/>
          <a:ln w="7620">
            <a:solidFill>
              <a:srgbClr val="3D444D"/>
            </a:solidFill>
            <a:prstDash val="solid"/>
          </a:ln>
        </p:spPr>
        <p:txBody>
          <a:bodyPr/>
          <a:lstStyle/>
          <a:p>
            <a:endParaRPr lang="en-US"/>
          </a:p>
        </p:txBody>
      </p:sp>
      <p:sp>
        <p:nvSpPr>
          <p:cNvPr id="20" name="Text 18"/>
          <p:cNvSpPr/>
          <p:nvPr/>
        </p:nvSpPr>
        <p:spPr>
          <a:xfrm>
            <a:off x="548640" y="2788920"/>
            <a:ext cx="3931920" cy="621792"/>
          </a:xfrm>
          <a:prstGeom prst="rect">
            <a:avLst/>
          </a:prstGeom>
          <a:noFill/>
          <a:ln/>
        </p:spPr>
        <p:txBody>
          <a:bodyPr wrap="square" lIns="0" tIns="0" rIns="0" bIns="0" rtlCol="0" anchor="t"/>
          <a:lstStyle/>
          <a:p>
            <a:pPr marL="0" indent="0" algn="l">
              <a:buNone/>
            </a:pPr>
            <a:r>
              <a:rPr lang="en-US" sz="1050" dirty="0">
                <a:solidFill>
                  <a:srgbClr val="F0F6FC"/>
                </a:solidFill>
                <a:latin typeface="Calibri" pitchFamily="34" charset="0"/>
                <a:ea typeface="Calibri" pitchFamily="34" charset="-122"/>
                <a:cs typeface="Calibri" pitchFamily="34" charset="-120"/>
              </a:rPr>
              <a:t>Set a counter variable</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called "index" to 0 — the</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position of the first item.</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This is where we begin.</a:t>
            </a:r>
            <a:endParaRPr lang="en-US" sz="1050" dirty="0"/>
          </a:p>
        </p:txBody>
      </p:sp>
      <p:sp>
        <p:nvSpPr>
          <p:cNvPr id="21" name="Shape 19"/>
          <p:cNvSpPr/>
          <p:nvPr/>
        </p:nvSpPr>
        <p:spPr>
          <a:xfrm>
            <a:off x="411480" y="3602736"/>
            <a:ext cx="4206240" cy="1097280"/>
          </a:xfrm>
          <a:prstGeom prst="rect">
            <a:avLst/>
          </a:prstGeom>
          <a:solidFill>
            <a:srgbClr val="161B26"/>
          </a:solidFill>
          <a:ln w="15240">
            <a:solidFill>
              <a:srgbClr val="BC8CFF"/>
            </a:solidFill>
            <a:prstDash val="solid"/>
          </a:ln>
          <a:effectLst>
            <a:outerShdw blurRad="177800" dist="38100" dir="8100000" algn="bl" rotWithShape="0">
              <a:srgbClr val="000000">
                <a:alpha val="35000"/>
              </a:srgbClr>
            </a:outerShdw>
          </a:effectLst>
        </p:spPr>
        <p:txBody>
          <a:bodyPr/>
          <a:lstStyle/>
          <a:p>
            <a:endParaRPr lang="en-US"/>
          </a:p>
        </p:txBody>
      </p:sp>
      <p:sp>
        <p:nvSpPr>
          <p:cNvPr id="22" name="Shape 20"/>
          <p:cNvSpPr/>
          <p:nvPr/>
        </p:nvSpPr>
        <p:spPr>
          <a:xfrm>
            <a:off x="411480" y="3602736"/>
            <a:ext cx="4206240" cy="329184"/>
          </a:xfrm>
          <a:prstGeom prst="rect">
            <a:avLst/>
          </a:prstGeom>
          <a:solidFill>
            <a:srgbClr val="BC8CFF">
              <a:alpha val="78000"/>
            </a:srgbClr>
          </a:solidFill>
          <a:ln w="12700">
            <a:solidFill>
              <a:srgbClr val="BC8CFF"/>
            </a:solidFill>
            <a:prstDash val="solid"/>
          </a:ln>
        </p:spPr>
        <p:txBody>
          <a:bodyPr/>
          <a:lstStyle/>
          <a:p>
            <a:endParaRPr lang="en-US"/>
          </a:p>
        </p:txBody>
      </p:sp>
      <p:sp>
        <p:nvSpPr>
          <p:cNvPr id="23" name="Shape 21"/>
          <p:cNvSpPr/>
          <p:nvPr/>
        </p:nvSpPr>
        <p:spPr>
          <a:xfrm>
            <a:off x="521208" y="3639312"/>
            <a:ext cx="347472" cy="347472"/>
          </a:xfrm>
          <a:prstGeom prst="ellipse">
            <a:avLst/>
          </a:prstGeom>
          <a:solidFill>
            <a:srgbClr val="BC8CFF">
              <a:alpha val="80000"/>
            </a:srgbClr>
          </a:solidFill>
          <a:ln w="19050">
            <a:solidFill>
              <a:srgbClr val="BC8CFF"/>
            </a:solidFill>
            <a:prstDash val="solid"/>
          </a:ln>
        </p:spPr>
        <p:txBody>
          <a:bodyPr/>
          <a:lstStyle/>
          <a:p>
            <a:endParaRPr lang="en-US"/>
          </a:p>
        </p:txBody>
      </p:sp>
      <p:sp>
        <p:nvSpPr>
          <p:cNvPr id="24" name="Text 22"/>
          <p:cNvSpPr/>
          <p:nvPr/>
        </p:nvSpPr>
        <p:spPr>
          <a:xfrm>
            <a:off x="521208" y="3639312"/>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3</a:t>
            </a:r>
            <a:endParaRPr lang="en-US" sz="1400" dirty="0">
              <a:solidFill>
                <a:schemeClr val="bg1"/>
              </a:solidFill>
            </a:endParaRPr>
          </a:p>
        </p:txBody>
      </p:sp>
      <p:sp>
        <p:nvSpPr>
          <p:cNvPr id="25" name="Text 23"/>
          <p:cNvSpPr/>
          <p:nvPr/>
        </p:nvSpPr>
        <p:spPr>
          <a:xfrm>
            <a:off x="960120" y="3657600"/>
            <a:ext cx="3529584" cy="21945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Loop through list</a:t>
            </a:r>
            <a:endParaRPr lang="en-US" sz="1200" dirty="0"/>
          </a:p>
        </p:txBody>
      </p:sp>
      <p:sp>
        <p:nvSpPr>
          <p:cNvPr id="26" name="Shape 24"/>
          <p:cNvSpPr/>
          <p:nvPr/>
        </p:nvSpPr>
        <p:spPr>
          <a:xfrm>
            <a:off x="548640" y="3950208"/>
            <a:ext cx="3931920" cy="0"/>
          </a:xfrm>
          <a:prstGeom prst="line">
            <a:avLst/>
          </a:prstGeom>
          <a:noFill/>
          <a:ln w="7620">
            <a:solidFill>
              <a:srgbClr val="3D444D"/>
            </a:solidFill>
            <a:prstDash val="solid"/>
          </a:ln>
        </p:spPr>
        <p:txBody>
          <a:bodyPr/>
          <a:lstStyle/>
          <a:p>
            <a:endParaRPr lang="en-US"/>
          </a:p>
        </p:txBody>
      </p:sp>
      <p:sp>
        <p:nvSpPr>
          <p:cNvPr id="27" name="Text 25"/>
          <p:cNvSpPr/>
          <p:nvPr/>
        </p:nvSpPr>
        <p:spPr>
          <a:xfrm>
            <a:off x="548640" y="4005072"/>
            <a:ext cx="3931920" cy="621792"/>
          </a:xfrm>
          <a:prstGeom prst="rect">
            <a:avLst/>
          </a:prstGeom>
          <a:noFill/>
          <a:ln/>
        </p:spPr>
        <p:txBody>
          <a:bodyPr wrap="square" lIns="0" tIns="0" rIns="0" bIns="0" rtlCol="0" anchor="t"/>
          <a:lstStyle/>
          <a:p>
            <a:pPr marL="0" indent="0" algn="l">
              <a:buNone/>
            </a:pPr>
            <a:r>
              <a:rPr lang="en-US" sz="1050" dirty="0">
                <a:solidFill>
                  <a:srgbClr val="F0F6FC"/>
                </a:solidFill>
                <a:latin typeface="Calibri" pitchFamily="34" charset="0"/>
                <a:ea typeface="Calibri" pitchFamily="34" charset="-122"/>
                <a:cs typeface="Calibri" pitchFamily="34" charset="-120"/>
              </a:rPr>
              <a:t>While index is less than</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the length of the list,</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repeat the next steps for</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each item in turn.</a:t>
            </a:r>
            <a:endParaRPr lang="en-US" sz="1050" dirty="0"/>
          </a:p>
        </p:txBody>
      </p:sp>
      <p:sp>
        <p:nvSpPr>
          <p:cNvPr id="28" name="Shape 26"/>
          <p:cNvSpPr/>
          <p:nvPr/>
        </p:nvSpPr>
        <p:spPr>
          <a:xfrm>
            <a:off x="4800600" y="1170432"/>
            <a:ext cx="4206240" cy="1097280"/>
          </a:xfrm>
          <a:prstGeom prst="rect">
            <a:avLst/>
          </a:prstGeom>
          <a:solidFill>
            <a:srgbClr val="161B26"/>
          </a:solidFill>
          <a:ln w="15240">
            <a:solidFill>
              <a:srgbClr val="FFA657"/>
            </a:solidFill>
            <a:prstDash val="solid"/>
          </a:ln>
          <a:effectLst>
            <a:outerShdw blurRad="177800" dist="38100" dir="8100000" algn="bl" rotWithShape="0">
              <a:srgbClr val="000000">
                <a:alpha val="35000"/>
              </a:srgbClr>
            </a:outerShdw>
          </a:effectLst>
        </p:spPr>
        <p:txBody>
          <a:bodyPr/>
          <a:lstStyle/>
          <a:p>
            <a:endParaRPr lang="en-US"/>
          </a:p>
        </p:txBody>
      </p:sp>
      <p:sp>
        <p:nvSpPr>
          <p:cNvPr id="29" name="Shape 27"/>
          <p:cNvSpPr/>
          <p:nvPr/>
        </p:nvSpPr>
        <p:spPr>
          <a:xfrm>
            <a:off x="4800600" y="1170432"/>
            <a:ext cx="4206240" cy="329184"/>
          </a:xfrm>
          <a:prstGeom prst="rect">
            <a:avLst/>
          </a:prstGeom>
          <a:solidFill>
            <a:srgbClr val="FFA657">
              <a:alpha val="78000"/>
            </a:srgbClr>
          </a:solidFill>
          <a:ln w="12700">
            <a:solidFill>
              <a:srgbClr val="FFA657"/>
            </a:solidFill>
            <a:prstDash val="solid"/>
          </a:ln>
        </p:spPr>
        <p:txBody>
          <a:bodyPr/>
          <a:lstStyle/>
          <a:p>
            <a:endParaRPr lang="en-US"/>
          </a:p>
        </p:txBody>
      </p:sp>
      <p:sp>
        <p:nvSpPr>
          <p:cNvPr id="30" name="Shape 28"/>
          <p:cNvSpPr/>
          <p:nvPr/>
        </p:nvSpPr>
        <p:spPr>
          <a:xfrm>
            <a:off x="4910328" y="1207008"/>
            <a:ext cx="347472" cy="347472"/>
          </a:xfrm>
          <a:prstGeom prst="ellipse">
            <a:avLst/>
          </a:prstGeom>
          <a:solidFill>
            <a:srgbClr val="FFA657">
              <a:alpha val="80000"/>
            </a:srgbClr>
          </a:solidFill>
          <a:ln w="19050">
            <a:solidFill>
              <a:srgbClr val="FFA657"/>
            </a:solidFill>
            <a:prstDash val="solid"/>
          </a:ln>
        </p:spPr>
        <p:txBody>
          <a:bodyPr/>
          <a:lstStyle/>
          <a:p>
            <a:endParaRPr lang="en-US"/>
          </a:p>
        </p:txBody>
      </p:sp>
      <p:sp>
        <p:nvSpPr>
          <p:cNvPr id="31" name="Text 29"/>
          <p:cNvSpPr/>
          <p:nvPr/>
        </p:nvSpPr>
        <p:spPr>
          <a:xfrm>
            <a:off x="4910328" y="1207008"/>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4</a:t>
            </a:r>
            <a:endParaRPr lang="en-US" sz="1400" dirty="0">
              <a:solidFill>
                <a:schemeClr val="bg1"/>
              </a:solidFill>
            </a:endParaRPr>
          </a:p>
        </p:txBody>
      </p:sp>
      <p:sp>
        <p:nvSpPr>
          <p:cNvPr id="32" name="Text 30"/>
          <p:cNvSpPr/>
          <p:nvPr/>
        </p:nvSpPr>
        <p:spPr>
          <a:xfrm>
            <a:off x="5349240" y="1225296"/>
            <a:ext cx="3529584" cy="21945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Compare</a:t>
            </a:r>
            <a:endParaRPr lang="en-US" sz="1200" dirty="0"/>
          </a:p>
        </p:txBody>
      </p:sp>
      <p:sp>
        <p:nvSpPr>
          <p:cNvPr id="33" name="Shape 31"/>
          <p:cNvSpPr/>
          <p:nvPr/>
        </p:nvSpPr>
        <p:spPr>
          <a:xfrm>
            <a:off x="4937760" y="1517904"/>
            <a:ext cx="3931920" cy="0"/>
          </a:xfrm>
          <a:prstGeom prst="line">
            <a:avLst/>
          </a:prstGeom>
          <a:noFill/>
          <a:ln w="7620">
            <a:solidFill>
              <a:srgbClr val="3D444D"/>
            </a:solidFill>
            <a:prstDash val="solid"/>
          </a:ln>
        </p:spPr>
        <p:txBody>
          <a:bodyPr/>
          <a:lstStyle/>
          <a:p>
            <a:endParaRPr lang="en-US"/>
          </a:p>
        </p:txBody>
      </p:sp>
      <p:sp>
        <p:nvSpPr>
          <p:cNvPr id="34" name="Text 32"/>
          <p:cNvSpPr/>
          <p:nvPr/>
        </p:nvSpPr>
        <p:spPr>
          <a:xfrm>
            <a:off x="4937760" y="1572768"/>
            <a:ext cx="3931920" cy="621792"/>
          </a:xfrm>
          <a:prstGeom prst="rect">
            <a:avLst/>
          </a:prstGeom>
          <a:noFill/>
          <a:ln/>
        </p:spPr>
        <p:txBody>
          <a:bodyPr wrap="square" lIns="0" tIns="0" rIns="0" bIns="0" rtlCol="0" anchor="t"/>
          <a:lstStyle/>
          <a:p>
            <a:pPr marL="0" indent="0" algn="l">
              <a:buNone/>
            </a:pPr>
            <a:r>
              <a:rPr lang="en-US" sz="1050" dirty="0">
                <a:solidFill>
                  <a:srgbClr val="F0F6FC"/>
                </a:solidFill>
                <a:latin typeface="Calibri" pitchFamily="34" charset="0"/>
                <a:ea typeface="Calibri" pitchFamily="34" charset="-122"/>
                <a:cs typeface="Calibri" pitchFamily="34" charset="-120"/>
              </a:rPr>
              <a:t>Read the item at the</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current index. Compare it</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against the target value</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using the equality check.</a:t>
            </a:r>
            <a:endParaRPr lang="en-US" sz="1050" dirty="0"/>
          </a:p>
        </p:txBody>
      </p:sp>
      <p:sp>
        <p:nvSpPr>
          <p:cNvPr id="35" name="Shape 33"/>
          <p:cNvSpPr/>
          <p:nvPr/>
        </p:nvSpPr>
        <p:spPr>
          <a:xfrm>
            <a:off x="4800600" y="2386584"/>
            <a:ext cx="4206240" cy="1097280"/>
          </a:xfrm>
          <a:prstGeom prst="rect">
            <a:avLst/>
          </a:prstGeom>
          <a:solidFill>
            <a:srgbClr val="161B26"/>
          </a:solidFill>
          <a:ln w="15240">
            <a:solidFill>
              <a:srgbClr val="E3B341"/>
            </a:solidFill>
            <a:prstDash val="solid"/>
          </a:ln>
          <a:effectLst>
            <a:outerShdw blurRad="177800" dist="38100" dir="8100000" algn="bl" rotWithShape="0">
              <a:srgbClr val="000000">
                <a:alpha val="35000"/>
              </a:srgbClr>
            </a:outerShdw>
          </a:effectLst>
        </p:spPr>
        <p:txBody>
          <a:bodyPr/>
          <a:lstStyle/>
          <a:p>
            <a:endParaRPr lang="en-US"/>
          </a:p>
        </p:txBody>
      </p:sp>
      <p:sp>
        <p:nvSpPr>
          <p:cNvPr id="36" name="Shape 34"/>
          <p:cNvSpPr/>
          <p:nvPr/>
        </p:nvSpPr>
        <p:spPr>
          <a:xfrm>
            <a:off x="4800600" y="2386584"/>
            <a:ext cx="4206240" cy="329184"/>
          </a:xfrm>
          <a:prstGeom prst="rect">
            <a:avLst/>
          </a:prstGeom>
          <a:solidFill>
            <a:srgbClr val="E3B341">
              <a:alpha val="78000"/>
            </a:srgbClr>
          </a:solidFill>
          <a:ln w="12700">
            <a:solidFill>
              <a:srgbClr val="E3B341"/>
            </a:solidFill>
            <a:prstDash val="solid"/>
          </a:ln>
        </p:spPr>
        <p:txBody>
          <a:bodyPr/>
          <a:lstStyle/>
          <a:p>
            <a:endParaRPr lang="en-US"/>
          </a:p>
        </p:txBody>
      </p:sp>
      <p:sp>
        <p:nvSpPr>
          <p:cNvPr id="37" name="Shape 35"/>
          <p:cNvSpPr/>
          <p:nvPr/>
        </p:nvSpPr>
        <p:spPr>
          <a:xfrm>
            <a:off x="4910328" y="2423160"/>
            <a:ext cx="347472" cy="347472"/>
          </a:xfrm>
          <a:prstGeom prst="ellipse">
            <a:avLst/>
          </a:prstGeom>
          <a:solidFill>
            <a:srgbClr val="E3B341">
              <a:alpha val="80000"/>
            </a:srgbClr>
          </a:solidFill>
          <a:ln w="19050">
            <a:solidFill>
              <a:srgbClr val="E3B341"/>
            </a:solidFill>
            <a:prstDash val="solid"/>
          </a:ln>
        </p:spPr>
        <p:txBody>
          <a:bodyPr/>
          <a:lstStyle/>
          <a:p>
            <a:endParaRPr lang="en-US"/>
          </a:p>
        </p:txBody>
      </p:sp>
      <p:sp>
        <p:nvSpPr>
          <p:cNvPr id="38" name="Text 36"/>
          <p:cNvSpPr/>
          <p:nvPr/>
        </p:nvSpPr>
        <p:spPr>
          <a:xfrm>
            <a:off x="4910328" y="2423160"/>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5</a:t>
            </a:r>
            <a:endParaRPr lang="en-US" sz="1400" dirty="0">
              <a:solidFill>
                <a:schemeClr val="bg1"/>
              </a:solidFill>
            </a:endParaRPr>
          </a:p>
        </p:txBody>
      </p:sp>
      <p:sp>
        <p:nvSpPr>
          <p:cNvPr id="39" name="Text 37"/>
          <p:cNvSpPr/>
          <p:nvPr/>
        </p:nvSpPr>
        <p:spPr>
          <a:xfrm>
            <a:off x="5349240" y="2441448"/>
            <a:ext cx="3529584" cy="21945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Match found</a:t>
            </a:r>
            <a:endParaRPr lang="en-US" sz="1200" dirty="0"/>
          </a:p>
        </p:txBody>
      </p:sp>
      <p:sp>
        <p:nvSpPr>
          <p:cNvPr id="40" name="Shape 38"/>
          <p:cNvSpPr/>
          <p:nvPr/>
        </p:nvSpPr>
        <p:spPr>
          <a:xfrm>
            <a:off x="4937760" y="2734056"/>
            <a:ext cx="3931920" cy="0"/>
          </a:xfrm>
          <a:prstGeom prst="line">
            <a:avLst/>
          </a:prstGeom>
          <a:noFill/>
          <a:ln w="7620">
            <a:solidFill>
              <a:srgbClr val="3D444D"/>
            </a:solidFill>
            <a:prstDash val="solid"/>
          </a:ln>
        </p:spPr>
        <p:txBody>
          <a:bodyPr/>
          <a:lstStyle/>
          <a:p>
            <a:endParaRPr lang="en-US"/>
          </a:p>
        </p:txBody>
      </p:sp>
      <p:sp>
        <p:nvSpPr>
          <p:cNvPr id="41" name="Text 39"/>
          <p:cNvSpPr/>
          <p:nvPr/>
        </p:nvSpPr>
        <p:spPr>
          <a:xfrm>
            <a:off x="4937760" y="2788920"/>
            <a:ext cx="3931920" cy="621792"/>
          </a:xfrm>
          <a:prstGeom prst="rect">
            <a:avLst/>
          </a:prstGeom>
          <a:noFill/>
          <a:ln/>
        </p:spPr>
        <p:txBody>
          <a:bodyPr wrap="square" lIns="0" tIns="0" rIns="0" bIns="0" rtlCol="0" anchor="t"/>
          <a:lstStyle/>
          <a:p>
            <a:pPr marL="0" indent="0" algn="l">
              <a:buNone/>
            </a:pPr>
            <a:r>
              <a:rPr lang="en-US" sz="1050" dirty="0">
                <a:solidFill>
                  <a:srgbClr val="F0F6FC"/>
                </a:solidFill>
                <a:latin typeface="Calibri" pitchFamily="34" charset="0"/>
                <a:ea typeface="Calibri" pitchFamily="34" charset="-122"/>
                <a:cs typeface="Calibri" pitchFamily="34" charset="-120"/>
              </a:rPr>
              <a:t>If the item equals the</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target, return the current</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index immediately. The</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algorithm stops here.</a:t>
            </a:r>
            <a:endParaRPr lang="en-US" sz="1050" dirty="0"/>
          </a:p>
        </p:txBody>
      </p:sp>
      <p:sp>
        <p:nvSpPr>
          <p:cNvPr id="42" name="Shape 40"/>
          <p:cNvSpPr/>
          <p:nvPr/>
        </p:nvSpPr>
        <p:spPr>
          <a:xfrm>
            <a:off x="4800600" y="3602736"/>
            <a:ext cx="4206240" cy="1097280"/>
          </a:xfrm>
          <a:prstGeom prst="rect">
            <a:avLst/>
          </a:prstGeom>
          <a:solidFill>
            <a:srgbClr val="161B26"/>
          </a:solidFill>
          <a:ln w="15240">
            <a:solidFill>
              <a:srgbClr val="3FB950"/>
            </a:solidFill>
            <a:prstDash val="solid"/>
          </a:ln>
          <a:effectLst>
            <a:outerShdw blurRad="177800" dist="38100" dir="8100000" algn="bl" rotWithShape="0">
              <a:srgbClr val="000000">
                <a:alpha val="35000"/>
              </a:srgbClr>
            </a:outerShdw>
          </a:effectLst>
        </p:spPr>
        <p:txBody>
          <a:bodyPr/>
          <a:lstStyle/>
          <a:p>
            <a:endParaRPr lang="en-US"/>
          </a:p>
        </p:txBody>
      </p:sp>
      <p:sp>
        <p:nvSpPr>
          <p:cNvPr id="43" name="Shape 41"/>
          <p:cNvSpPr/>
          <p:nvPr/>
        </p:nvSpPr>
        <p:spPr>
          <a:xfrm>
            <a:off x="4800600" y="3602736"/>
            <a:ext cx="4206240" cy="329184"/>
          </a:xfrm>
          <a:prstGeom prst="rect">
            <a:avLst/>
          </a:prstGeom>
          <a:solidFill>
            <a:srgbClr val="3FB950">
              <a:alpha val="78000"/>
            </a:srgbClr>
          </a:solidFill>
          <a:ln w="12700">
            <a:solidFill>
              <a:srgbClr val="3FB950"/>
            </a:solidFill>
            <a:prstDash val="solid"/>
          </a:ln>
        </p:spPr>
        <p:txBody>
          <a:bodyPr/>
          <a:lstStyle/>
          <a:p>
            <a:endParaRPr lang="en-US"/>
          </a:p>
        </p:txBody>
      </p:sp>
      <p:sp>
        <p:nvSpPr>
          <p:cNvPr id="44" name="Shape 42"/>
          <p:cNvSpPr/>
          <p:nvPr/>
        </p:nvSpPr>
        <p:spPr>
          <a:xfrm>
            <a:off x="4910328" y="3639312"/>
            <a:ext cx="347472" cy="347472"/>
          </a:xfrm>
          <a:prstGeom prst="ellipse">
            <a:avLst/>
          </a:prstGeom>
          <a:solidFill>
            <a:srgbClr val="3FB950">
              <a:alpha val="80000"/>
            </a:srgbClr>
          </a:solidFill>
          <a:ln w="19050">
            <a:solidFill>
              <a:srgbClr val="3FB950"/>
            </a:solidFill>
            <a:prstDash val="solid"/>
          </a:ln>
        </p:spPr>
        <p:txBody>
          <a:bodyPr/>
          <a:lstStyle/>
          <a:p>
            <a:endParaRPr lang="en-US"/>
          </a:p>
        </p:txBody>
      </p:sp>
      <p:sp>
        <p:nvSpPr>
          <p:cNvPr id="45" name="Text 43"/>
          <p:cNvSpPr/>
          <p:nvPr/>
        </p:nvSpPr>
        <p:spPr>
          <a:xfrm>
            <a:off x="4910328" y="3639312"/>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6</a:t>
            </a:r>
            <a:endParaRPr lang="en-US" sz="1400" dirty="0">
              <a:solidFill>
                <a:schemeClr val="bg1"/>
              </a:solidFill>
            </a:endParaRPr>
          </a:p>
        </p:txBody>
      </p:sp>
      <p:sp>
        <p:nvSpPr>
          <p:cNvPr id="46" name="Text 44"/>
          <p:cNvSpPr/>
          <p:nvPr/>
        </p:nvSpPr>
        <p:spPr>
          <a:xfrm>
            <a:off x="5349240" y="3657600"/>
            <a:ext cx="3529584" cy="21945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Not found</a:t>
            </a:r>
            <a:endParaRPr lang="en-US" sz="1200" dirty="0"/>
          </a:p>
        </p:txBody>
      </p:sp>
      <p:sp>
        <p:nvSpPr>
          <p:cNvPr id="47" name="Shape 45"/>
          <p:cNvSpPr/>
          <p:nvPr/>
        </p:nvSpPr>
        <p:spPr>
          <a:xfrm>
            <a:off x="4937760" y="3950208"/>
            <a:ext cx="3931920" cy="0"/>
          </a:xfrm>
          <a:prstGeom prst="line">
            <a:avLst/>
          </a:prstGeom>
          <a:noFill/>
          <a:ln w="7620">
            <a:solidFill>
              <a:srgbClr val="3D444D"/>
            </a:solidFill>
            <a:prstDash val="solid"/>
          </a:ln>
        </p:spPr>
        <p:txBody>
          <a:bodyPr/>
          <a:lstStyle/>
          <a:p>
            <a:endParaRPr lang="en-US"/>
          </a:p>
        </p:txBody>
      </p:sp>
      <p:sp>
        <p:nvSpPr>
          <p:cNvPr id="48" name="Text 46"/>
          <p:cNvSpPr/>
          <p:nvPr/>
        </p:nvSpPr>
        <p:spPr>
          <a:xfrm>
            <a:off x="4937760" y="4005072"/>
            <a:ext cx="3931920" cy="621792"/>
          </a:xfrm>
          <a:prstGeom prst="rect">
            <a:avLst/>
          </a:prstGeom>
          <a:noFill/>
          <a:ln/>
        </p:spPr>
        <p:txBody>
          <a:bodyPr wrap="square" lIns="0" tIns="0" rIns="0" bIns="0" rtlCol="0" anchor="t"/>
          <a:lstStyle/>
          <a:p>
            <a:pPr marL="0" indent="0" algn="l">
              <a:buNone/>
            </a:pPr>
            <a:r>
              <a:rPr lang="en-US" sz="1050" dirty="0">
                <a:solidFill>
                  <a:srgbClr val="F0F6FC"/>
                </a:solidFill>
                <a:latin typeface="Calibri" pitchFamily="34" charset="0"/>
                <a:ea typeface="Calibri" pitchFamily="34" charset="-122"/>
                <a:cs typeface="Calibri" pitchFamily="34" charset="-120"/>
              </a:rPr>
              <a:t>If no item matches and</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the loop ends, the target</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is not in the list. Return</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-1 to signal "not found".</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Shape 76">
          <a:extLst>
            <a:ext uri="{FF2B5EF4-FFF2-40B4-BE49-F238E27FC236}">
              <a16:creationId xmlns:a16="http://schemas.microsoft.com/office/drawing/2014/main" id="{68E519A1-F28A-CD0E-64F7-A7210D78C55F}"/>
            </a:ext>
          </a:extLst>
        </p:cNvPr>
        <p:cNvGrpSpPr/>
        <p:nvPr/>
      </p:nvGrpSpPr>
      <p:grpSpPr>
        <a:xfrm>
          <a:off x="0" y="0"/>
          <a:ext cx="0" cy="0"/>
          <a:chOff x="0" y="0"/>
          <a:chExt cx="0" cy="0"/>
        </a:xfrm>
      </p:grpSpPr>
      <p:sp>
        <p:nvSpPr>
          <p:cNvPr id="20" name="Shape 1">
            <a:extLst>
              <a:ext uri="{FF2B5EF4-FFF2-40B4-BE49-F238E27FC236}">
                <a16:creationId xmlns:a16="http://schemas.microsoft.com/office/drawing/2014/main" id="{0099FBD7-A32B-D033-BD5D-D091E47C00D1}"/>
              </a:ext>
            </a:extLst>
          </p:cNvPr>
          <p:cNvSpPr/>
          <p:nvPr/>
        </p:nvSpPr>
        <p:spPr>
          <a:xfrm>
            <a:off x="0" y="73152"/>
            <a:ext cx="9144000" cy="841248"/>
          </a:xfrm>
          <a:prstGeom prst="rect">
            <a:avLst/>
          </a:prstGeom>
          <a:solidFill>
            <a:srgbClr val="262626"/>
          </a:solidFill>
          <a:ln w="12700">
            <a:solidFill>
              <a:srgbClr val="262626"/>
            </a:solidFill>
            <a:prstDash val="solid"/>
          </a:ln>
        </p:spPr>
        <p:txBody>
          <a:bodyPr/>
          <a:lstStyle/>
          <a:p>
            <a:endParaRPr lang="en-US"/>
          </a:p>
        </p:txBody>
      </p:sp>
      <p:sp>
        <p:nvSpPr>
          <p:cNvPr id="2" name="Shape 0">
            <a:extLst>
              <a:ext uri="{FF2B5EF4-FFF2-40B4-BE49-F238E27FC236}">
                <a16:creationId xmlns:a16="http://schemas.microsoft.com/office/drawing/2014/main" id="{BF6F45A1-7818-3F7E-F60C-7F708FD03E4C}"/>
              </a:ext>
            </a:extLst>
          </p:cNvPr>
          <p:cNvSpPr/>
          <p:nvPr/>
        </p:nvSpPr>
        <p:spPr>
          <a:xfrm>
            <a:off x="0" y="0"/>
            <a:ext cx="9144000" cy="54864"/>
          </a:xfrm>
          <a:prstGeom prst="rect">
            <a:avLst/>
          </a:prstGeom>
          <a:solidFill>
            <a:srgbClr val="57E3D8"/>
          </a:solidFill>
          <a:ln w="12700">
            <a:solidFill>
              <a:srgbClr val="57E3D8"/>
            </a:solidFill>
            <a:prstDash val="solid"/>
          </a:ln>
        </p:spPr>
        <p:txBody>
          <a:bodyPr/>
          <a:lstStyle/>
          <a:p>
            <a:endParaRPr lang="en-US"/>
          </a:p>
        </p:txBody>
      </p:sp>
      <p:sp>
        <p:nvSpPr>
          <p:cNvPr id="3" name="Shape 1">
            <a:extLst>
              <a:ext uri="{FF2B5EF4-FFF2-40B4-BE49-F238E27FC236}">
                <a16:creationId xmlns:a16="http://schemas.microsoft.com/office/drawing/2014/main" id="{1EB54078-98E6-CAE0-0567-E08FA45D2C91}"/>
              </a:ext>
            </a:extLst>
          </p:cNvPr>
          <p:cNvSpPr/>
          <p:nvPr/>
        </p:nvSpPr>
        <p:spPr>
          <a:xfrm>
            <a:off x="0" y="5088636"/>
            <a:ext cx="9144000" cy="54864"/>
          </a:xfrm>
          <a:prstGeom prst="rect">
            <a:avLst/>
          </a:prstGeom>
          <a:solidFill>
            <a:srgbClr val="4F29B7"/>
          </a:solidFill>
          <a:ln w="12700">
            <a:solidFill>
              <a:srgbClr val="4F29B7"/>
            </a:solidFill>
            <a:prstDash val="solid"/>
          </a:ln>
        </p:spPr>
        <p:txBody>
          <a:bodyPr/>
          <a:lstStyle/>
          <a:p>
            <a:endParaRPr lang="en-US"/>
          </a:p>
        </p:txBody>
      </p:sp>
      <p:sp>
        <p:nvSpPr>
          <p:cNvPr id="4" name="Text 2">
            <a:extLst>
              <a:ext uri="{FF2B5EF4-FFF2-40B4-BE49-F238E27FC236}">
                <a16:creationId xmlns:a16="http://schemas.microsoft.com/office/drawing/2014/main" id="{F8593CDB-74C1-3A80-4B08-6F33A7ADDE9F}"/>
              </a:ext>
            </a:extLst>
          </p:cNvPr>
          <p:cNvSpPr/>
          <p:nvPr/>
        </p:nvSpPr>
        <p:spPr>
          <a:xfrm>
            <a:off x="347472" y="164592"/>
            <a:ext cx="8449056" cy="475488"/>
          </a:xfrm>
          <a:prstGeom prst="rect">
            <a:avLst/>
          </a:prstGeom>
          <a:noFill/>
          <a:ln/>
        </p:spPr>
        <p:txBody>
          <a:bodyPr wrap="square" rtlCol="0" anchor="ctr"/>
          <a:lstStyle/>
          <a:p>
            <a:pPr marL="0" indent="0">
              <a:buNone/>
            </a:pPr>
            <a:r>
              <a:rPr lang="en-US" sz="2800" b="1" dirty="0">
                <a:solidFill>
                  <a:srgbClr val="57E3D8"/>
                </a:solidFill>
                <a:latin typeface="Calibri" pitchFamily="34" charset="0"/>
                <a:ea typeface="Calibri" pitchFamily="34" charset="-122"/>
                <a:cs typeface="Calibri" pitchFamily="34" charset="-120"/>
              </a:rPr>
              <a:t>Three ways to write Linear Search</a:t>
            </a:r>
            <a:endParaRPr lang="en-US" sz="2800" dirty="0"/>
          </a:p>
        </p:txBody>
      </p:sp>
      <p:sp>
        <p:nvSpPr>
          <p:cNvPr id="5" name="Text 3">
            <a:extLst>
              <a:ext uri="{FF2B5EF4-FFF2-40B4-BE49-F238E27FC236}">
                <a16:creationId xmlns:a16="http://schemas.microsoft.com/office/drawing/2014/main" id="{13CD6B20-AAA5-2647-47EF-A45F5864FAB1}"/>
              </a:ext>
            </a:extLst>
          </p:cNvPr>
          <p:cNvSpPr/>
          <p:nvPr/>
        </p:nvSpPr>
        <p:spPr>
          <a:xfrm>
            <a:off x="347472" y="621792"/>
            <a:ext cx="8449056" cy="256032"/>
          </a:xfrm>
          <a:prstGeom prst="rect">
            <a:avLst/>
          </a:prstGeom>
          <a:noFill/>
          <a:ln/>
        </p:spPr>
        <p:txBody>
          <a:bodyPr wrap="square" rtlCol="0" anchor="ctr"/>
          <a:lstStyle/>
          <a:p>
            <a:pPr marL="0" indent="0">
              <a:buNone/>
            </a:pPr>
            <a:r>
              <a:rPr lang="en-US" sz="1300" i="1" dirty="0">
                <a:solidFill>
                  <a:srgbClr val="EDEDED"/>
                </a:solidFill>
                <a:latin typeface="Calibri" pitchFamily="34" charset="0"/>
                <a:ea typeface="Calibri" pitchFamily="34" charset="-122"/>
                <a:cs typeface="Calibri" pitchFamily="34" charset="-120"/>
              </a:rPr>
              <a:t>The same algorithm, expressed in three different forms</a:t>
            </a:r>
            <a:endParaRPr lang="en-US" sz="1300" dirty="0"/>
          </a:p>
        </p:txBody>
      </p:sp>
      <p:sp>
        <p:nvSpPr>
          <p:cNvPr id="6" name="Shape 4">
            <a:extLst>
              <a:ext uri="{FF2B5EF4-FFF2-40B4-BE49-F238E27FC236}">
                <a16:creationId xmlns:a16="http://schemas.microsoft.com/office/drawing/2014/main" id="{8517B760-DBCE-52BB-9F4D-84305AC19443}"/>
              </a:ext>
            </a:extLst>
          </p:cNvPr>
          <p:cNvSpPr/>
          <p:nvPr/>
        </p:nvSpPr>
        <p:spPr>
          <a:xfrm>
            <a:off x="274320" y="987552"/>
            <a:ext cx="8595360" cy="420624"/>
          </a:xfrm>
          <a:prstGeom prst="roundRect">
            <a:avLst>
              <a:gd name="adj" fmla="val 26087"/>
            </a:avLst>
          </a:prstGeom>
          <a:solidFill>
            <a:srgbClr val="1A1040"/>
          </a:solidFill>
          <a:ln w="12700">
            <a:solidFill>
              <a:srgbClr val="1A1040"/>
            </a:solidFill>
            <a:prstDash val="solid"/>
          </a:ln>
        </p:spPr>
        <p:txBody>
          <a:bodyPr/>
          <a:lstStyle/>
          <a:p>
            <a:endParaRPr lang="en-US"/>
          </a:p>
        </p:txBody>
      </p:sp>
      <p:sp>
        <p:nvSpPr>
          <p:cNvPr id="7" name="Text 5">
            <a:extLst>
              <a:ext uri="{FF2B5EF4-FFF2-40B4-BE49-F238E27FC236}">
                <a16:creationId xmlns:a16="http://schemas.microsoft.com/office/drawing/2014/main" id="{C66EFC53-6AE3-524A-AEAD-3F7782680B35}"/>
              </a:ext>
            </a:extLst>
          </p:cNvPr>
          <p:cNvSpPr/>
          <p:nvPr/>
        </p:nvSpPr>
        <p:spPr>
          <a:xfrm>
            <a:off x="502920" y="1024128"/>
            <a:ext cx="8138160" cy="329184"/>
          </a:xfrm>
          <a:prstGeom prst="rect">
            <a:avLst/>
          </a:prstGeom>
          <a:noFill/>
          <a:ln/>
        </p:spPr>
        <p:txBody>
          <a:bodyPr wrap="square" lIns="0" tIns="0" rIns="0" bIns="0" rtlCol="0" anchor="ctr"/>
          <a:lstStyle/>
          <a:p>
            <a:pPr marL="0" indent="0">
              <a:buNone/>
            </a:pPr>
            <a:r>
              <a:rPr lang="en-US" sz="1200" dirty="0">
                <a:solidFill>
                  <a:srgbClr val="EDEDED"/>
                </a:solidFill>
                <a:latin typeface="Calibri" pitchFamily="34" charset="0"/>
                <a:ea typeface="Calibri" pitchFamily="34" charset="-122"/>
                <a:cs typeface="Calibri" pitchFamily="34" charset="-120"/>
              </a:rPr>
              <a:t>Each format has its own audience. </a:t>
            </a:r>
            <a:r>
              <a:rPr lang="en-US" sz="1200" b="1" dirty="0">
                <a:solidFill>
                  <a:srgbClr val="57E3D8"/>
                </a:solidFill>
                <a:latin typeface="Calibri" pitchFamily="34" charset="0"/>
                <a:ea typeface="Calibri" pitchFamily="34" charset="-122"/>
                <a:cs typeface="Calibri" pitchFamily="34" charset="-120"/>
              </a:rPr>
              <a:t>Read the three columns below side by side</a:t>
            </a:r>
            <a:r>
              <a:rPr lang="en-US" sz="1200" dirty="0">
                <a:solidFill>
                  <a:srgbClr val="EDEDED"/>
                </a:solidFill>
                <a:latin typeface="Calibri" pitchFamily="34" charset="0"/>
                <a:ea typeface="Calibri" pitchFamily="34" charset="-122"/>
                <a:cs typeface="Calibri" pitchFamily="34" charset="-120"/>
              </a:rPr>
              <a:t> — they describe exactly the same algorithm.</a:t>
            </a:r>
            <a:endParaRPr lang="en-US" sz="1200" dirty="0"/>
          </a:p>
        </p:txBody>
      </p:sp>
      <p:sp>
        <p:nvSpPr>
          <p:cNvPr id="8" name="Shape 6">
            <a:extLst>
              <a:ext uri="{FF2B5EF4-FFF2-40B4-BE49-F238E27FC236}">
                <a16:creationId xmlns:a16="http://schemas.microsoft.com/office/drawing/2014/main" id="{B10692DA-084B-2BAE-A611-4B7E95E96F9A}"/>
              </a:ext>
            </a:extLst>
          </p:cNvPr>
          <p:cNvSpPr/>
          <p:nvPr/>
        </p:nvSpPr>
        <p:spPr>
          <a:xfrm>
            <a:off x="292608" y="1499616"/>
            <a:ext cx="2779776" cy="3401568"/>
          </a:xfrm>
          <a:prstGeom prst="roundRect">
            <a:avLst>
              <a:gd name="adj" fmla="val 4605"/>
            </a:avLst>
          </a:prstGeom>
          <a:solidFill>
            <a:srgbClr val="1E0F40"/>
          </a:solidFill>
          <a:ln w="19050">
            <a:solidFill>
              <a:srgbClr val="4F29B7"/>
            </a:solidFill>
            <a:prstDash val="solid"/>
          </a:ln>
        </p:spPr>
        <p:txBody>
          <a:bodyPr/>
          <a:lstStyle/>
          <a:p>
            <a:endParaRPr lang="en-US"/>
          </a:p>
        </p:txBody>
      </p:sp>
      <p:sp>
        <p:nvSpPr>
          <p:cNvPr id="9" name="Text 7">
            <a:extLst>
              <a:ext uri="{FF2B5EF4-FFF2-40B4-BE49-F238E27FC236}">
                <a16:creationId xmlns:a16="http://schemas.microsoft.com/office/drawing/2014/main" id="{06B2DC9B-FB98-86D6-CF21-280BB1E66B52}"/>
              </a:ext>
            </a:extLst>
          </p:cNvPr>
          <p:cNvSpPr/>
          <p:nvPr/>
        </p:nvSpPr>
        <p:spPr>
          <a:xfrm>
            <a:off x="292608" y="1545336"/>
            <a:ext cx="2779776" cy="457200"/>
          </a:xfrm>
          <a:prstGeom prst="rect">
            <a:avLst/>
          </a:prstGeom>
          <a:noFill/>
          <a:ln/>
        </p:spPr>
        <p:txBody>
          <a:bodyPr wrap="square" rtlCol="0" anchor="ctr"/>
          <a:lstStyle/>
          <a:p>
            <a:pPr marL="0" indent="0" algn="ctr">
              <a:buNone/>
            </a:pPr>
            <a:r>
              <a:rPr lang="en-US" sz="2000" b="1" dirty="0">
                <a:solidFill>
                  <a:srgbClr val="4F29B7"/>
                </a:solidFill>
                <a:latin typeface="Calibri" pitchFamily="34" charset="0"/>
                <a:ea typeface="Calibri" pitchFamily="34" charset="-122"/>
                <a:cs typeface="Calibri" pitchFamily="34" charset="-120"/>
              </a:rPr>
              <a:t>Plain English</a:t>
            </a:r>
            <a:endParaRPr lang="en-US" sz="2000" dirty="0"/>
          </a:p>
        </p:txBody>
      </p:sp>
      <p:sp>
        <p:nvSpPr>
          <p:cNvPr id="10" name="Text 8">
            <a:extLst>
              <a:ext uri="{FF2B5EF4-FFF2-40B4-BE49-F238E27FC236}">
                <a16:creationId xmlns:a16="http://schemas.microsoft.com/office/drawing/2014/main" id="{80F72355-3A6B-4A6C-5A0C-BF6E7C6EF484}"/>
              </a:ext>
            </a:extLst>
          </p:cNvPr>
          <p:cNvSpPr/>
          <p:nvPr/>
        </p:nvSpPr>
        <p:spPr>
          <a:xfrm>
            <a:off x="292608" y="1975104"/>
            <a:ext cx="2779776" cy="256032"/>
          </a:xfrm>
          <a:prstGeom prst="rect">
            <a:avLst/>
          </a:prstGeom>
          <a:noFill/>
          <a:ln/>
        </p:spPr>
        <p:txBody>
          <a:bodyPr wrap="square" rtlCol="0" anchor="ctr"/>
          <a:lstStyle/>
          <a:p>
            <a:pPr marL="0" indent="0" algn="ctr">
              <a:buNone/>
            </a:pPr>
            <a:r>
              <a:rPr lang="en-US" sz="1000" i="1" dirty="0">
                <a:solidFill>
                  <a:srgbClr val="EDEDED"/>
                </a:solidFill>
                <a:latin typeface="Calibri" pitchFamily="34" charset="0"/>
                <a:ea typeface="Calibri" pitchFamily="34" charset="-122"/>
                <a:cs typeface="Calibri" pitchFamily="34" charset="-120"/>
              </a:rPr>
              <a:t>For humans · No symbols</a:t>
            </a:r>
            <a:endParaRPr lang="en-US" sz="1000" dirty="0"/>
          </a:p>
        </p:txBody>
      </p:sp>
      <p:sp>
        <p:nvSpPr>
          <p:cNvPr id="11" name="Text 9">
            <a:extLst>
              <a:ext uri="{FF2B5EF4-FFF2-40B4-BE49-F238E27FC236}">
                <a16:creationId xmlns:a16="http://schemas.microsoft.com/office/drawing/2014/main" id="{A6F7F312-11C7-6E2E-23D2-71C708D73857}"/>
              </a:ext>
            </a:extLst>
          </p:cNvPr>
          <p:cNvSpPr/>
          <p:nvPr/>
        </p:nvSpPr>
        <p:spPr>
          <a:xfrm>
            <a:off x="457200" y="2212848"/>
            <a:ext cx="2468880" cy="2615184"/>
          </a:xfrm>
          <a:prstGeom prst="rect">
            <a:avLst/>
          </a:prstGeom>
          <a:noFill/>
          <a:ln/>
        </p:spPr>
        <p:txBody>
          <a:bodyPr wrap="square" lIns="0" tIns="0" rIns="0" bIns="0" rtlCol="0" anchor="t"/>
          <a:lstStyle/>
          <a:p>
            <a:pPr marL="0" indent="0">
              <a:lnSpc>
                <a:spcPct val="135000"/>
              </a:lnSpc>
              <a:buNone/>
            </a:pPr>
            <a:r>
              <a:rPr lang="en-US" sz="1100" dirty="0">
                <a:solidFill>
                  <a:srgbClr val="EDEDED"/>
                </a:solidFill>
                <a:latin typeface="Calibri" pitchFamily="34" charset="0"/>
                <a:ea typeface="Calibri" pitchFamily="34" charset="-122"/>
                <a:cs typeface="Calibri" pitchFamily="34" charset="-120"/>
              </a:rPr>
              <a:t>1. Look at the first item.   2. If it is the target, stop and report its position.   3. If not, move to the next item.   4. Repeat until found, or until you run out of items. If you run out, report "not found".</a:t>
            </a:r>
            <a:endParaRPr lang="en-US" sz="1100" dirty="0"/>
          </a:p>
        </p:txBody>
      </p:sp>
      <p:sp>
        <p:nvSpPr>
          <p:cNvPr id="12" name="Shape 10">
            <a:extLst>
              <a:ext uri="{FF2B5EF4-FFF2-40B4-BE49-F238E27FC236}">
                <a16:creationId xmlns:a16="http://schemas.microsoft.com/office/drawing/2014/main" id="{B319AB59-A1E4-7495-8B8A-D8FB6939DB40}"/>
              </a:ext>
            </a:extLst>
          </p:cNvPr>
          <p:cNvSpPr/>
          <p:nvPr/>
        </p:nvSpPr>
        <p:spPr>
          <a:xfrm>
            <a:off x="3200400" y="1499616"/>
            <a:ext cx="2779776" cy="3401568"/>
          </a:xfrm>
          <a:prstGeom prst="roundRect">
            <a:avLst>
              <a:gd name="adj" fmla="val 4605"/>
            </a:avLst>
          </a:prstGeom>
          <a:solidFill>
            <a:srgbClr val="110A2E"/>
          </a:solidFill>
          <a:ln w="19050">
            <a:solidFill>
              <a:srgbClr val="A380FF"/>
            </a:solidFill>
            <a:prstDash val="solid"/>
          </a:ln>
        </p:spPr>
        <p:txBody>
          <a:bodyPr/>
          <a:lstStyle/>
          <a:p>
            <a:endParaRPr lang="en-US"/>
          </a:p>
        </p:txBody>
      </p:sp>
      <p:sp>
        <p:nvSpPr>
          <p:cNvPr id="13" name="Text 11">
            <a:extLst>
              <a:ext uri="{FF2B5EF4-FFF2-40B4-BE49-F238E27FC236}">
                <a16:creationId xmlns:a16="http://schemas.microsoft.com/office/drawing/2014/main" id="{7B9E2542-0415-D53F-89A6-B2737BF2D2E8}"/>
              </a:ext>
            </a:extLst>
          </p:cNvPr>
          <p:cNvSpPr/>
          <p:nvPr/>
        </p:nvSpPr>
        <p:spPr>
          <a:xfrm>
            <a:off x="3200400" y="1545336"/>
            <a:ext cx="2779776" cy="457200"/>
          </a:xfrm>
          <a:prstGeom prst="rect">
            <a:avLst/>
          </a:prstGeom>
          <a:noFill/>
          <a:ln/>
        </p:spPr>
        <p:txBody>
          <a:bodyPr wrap="square" rtlCol="0" anchor="ctr"/>
          <a:lstStyle/>
          <a:p>
            <a:pPr marL="0" indent="0" algn="ctr">
              <a:buNone/>
            </a:pPr>
            <a:r>
              <a:rPr lang="en-US" sz="2000" b="1" dirty="0">
                <a:solidFill>
                  <a:srgbClr val="A380FF"/>
                </a:solidFill>
                <a:latin typeface="Calibri" pitchFamily="34" charset="0"/>
                <a:ea typeface="Calibri" pitchFamily="34" charset="-122"/>
                <a:cs typeface="Calibri" pitchFamily="34" charset="-120"/>
              </a:rPr>
              <a:t>Pseudocode</a:t>
            </a:r>
            <a:endParaRPr lang="en-US" sz="2000" dirty="0"/>
          </a:p>
        </p:txBody>
      </p:sp>
      <p:sp>
        <p:nvSpPr>
          <p:cNvPr id="14" name="Text 12">
            <a:extLst>
              <a:ext uri="{FF2B5EF4-FFF2-40B4-BE49-F238E27FC236}">
                <a16:creationId xmlns:a16="http://schemas.microsoft.com/office/drawing/2014/main" id="{D520DB52-41BD-3A9E-774F-0E90DB7F8CDE}"/>
              </a:ext>
            </a:extLst>
          </p:cNvPr>
          <p:cNvSpPr/>
          <p:nvPr/>
        </p:nvSpPr>
        <p:spPr>
          <a:xfrm>
            <a:off x="3200400" y="1975104"/>
            <a:ext cx="2779776" cy="256032"/>
          </a:xfrm>
          <a:prstGeom prst="rect">
            <a:avLst/>
          </a:prstGeom>
          <a:noFill/>
          <a:ln/>
        </p:spPr>
        <p:txBody>
          <a:bodyPr wrap="square" rtlCol="0" anchor="ctr"/>
          <a:lstStyle/>
          <a:p>
            <a:pPr marL="0" indent="0" algn="ctr">
              <a:buNone/>
            </a:pPr>
            <a:r>
              <a:rPr lang="en-US" sz="1000" i="1" dirty="0">
                <a:solidFill>
                  <a:srgbClr val="EDEDED"/>
                </a:solidFill>
                <a:latin typeface="Calibri" pitchFamily="34" charset="0"/>
                <a:ea typeface="Calibri" pitchFamily="34" charset="-122"/>
                <a:cs typeface="Calibri" pitchFamily="34" charset="-120"/>
              </a:rPr>
              <a:t>Code-like · Language-free</a:t>
            </a:r>
            <a:endParaRPr lang="en-US" sz="1000" dirty="0"/>
          </a:p>
        </p:txBody>
      </p:sp>
      <p:sp>
        <p:nvSpPr>
          <p:cNvPr id="15" name="Text 13">
            <a:extLst>
              <a:ext uri="{FF2B5EF4-FFF2-40B4-BE49-F238E27FC236}">
                <a16:creationId xmlns:a16="http://schemas.microsoft.com/office/drawing/2014/main" id="{966A8129-1A41-594C-31D7-611070D24803}"/>
              </a:ext>
            </a:extLst>
          </p:cNvPr>
          <p:cNvSpPr/>
          <p:nvPr/>
        </p:nvSpPr>
        <p:spPr>
          <a:xfrm>
            <a:off x="3364992" y="2212848"/>
            <a:ext cx="2468880" cy="2615184"/>
          </a:xfrm>
          <a:prstGeom prst="rect">
            <a:avLst/>
          </a:prstGeom>
          <a:noFill/>
          <a:ln/>
        </p:spPr>
        <p:txBody>
          <a:bodyPr wrap="square" lIns="0" tIns="0" rIns="0" bIns="0" rtlCol="0" anchor="t"/>
          <a:lstStyle/>
          <a:p>
            <a:pPr marL="0" indent="0">
              <a:lnSpc>
                <a:spcPct val="135000"/>
              </a:lnSpc>
              <a:buNone/>
            </a:pPr>
            <a:r>
              <a:rPr lang="en-US" sz="1100" dirty="0">
                <a:solidFill>
                  <a:srgbClr val="EDEDED"/>
                </a:solidFill>
                <a:latin typeface="Calibri" pitchFamily="34" charset="0"/>
                <a:ea typeface="Calibri" pitchFamily="34" charset="-122"/>
                <a:cs typeface="Calibri" pitchFamily="34" charset="-120"/>
              </a:rPr>
              <a:t>FUNCTION linearSearch(list, target):     SET index ← 0     WHILE index &lt; length(list):         IF list[index] = target:             RETURN index         SET index ← index + 1     RETURN -1</a:t>
            </a:r>
            <a:endParaRPr lang="en-US" sz="1100" dirty="0"/>
          </a:p>
        </p:txBody>
      </p:sp>
      <p:sp>
        <p:nvSpPr>
          <p:cNvPr id="16" name="Shape 14">
            <a:extLst>
              <a:ext uri="{FF2B5EF4-FFF2-40B4-BE49-F238E27FC236}">
                <a16:creationId xmlns:a16="http://schemas.microsoft.com/office/drawing/2014/main" id="{7C1B5EBA-52EB-ABC9-D3EB-5CFA15DCA663}"/>
              </a:ext>
            </a:extLst>
          </p:cNvPr>
          <p:cNvSpPr/>
          <p:nvPr/>
        </p:nvSpPr>
        <p:spPr>
          <a:xfrm>
            <a:off x="6108192" y="1499616"/>
            <a:ext cx="2779776" cy="3401568"/>
          </a:xfrm>
          <a:prstGeom prst="roundRect">
            <a:avLst>
              <a:gd name="adj" fmla="val 4605"/>
            </a:avLst>
          </a:prstGeom>
          <a:solidFill>
            <a:srgbClr val="0A2E2E"/>
          </a:solidFill>
          <a:ln w="19050">
            <a:solidFill>
              <a:srgbClr val="57E3D8"/>
            </a:solidFill>
            <a:prstDash val="solid"/>
          </a:ln>
        </p:spPr>
        <p:txBody>
          <a:bodyPr/>
          <a:lstStyle/>
          <a:p>
            <a:endParaRPr lang="en-US"/>
          </a:p>
        </p:txBody>
      </p:sp>
      <p:sp>
        <p:nvSpPr>
          <p:cNvPr id="17" name="Text 15">
            <a:extLst>
              <a:ext uri="{FF2B5EF4-FFF2-40B4-BE49-F238E27FC236}">
                <a16:creationId xmlns:a16="http://schemas.microsoft.com/office/drawing/2014/main" id="{BD01AF8F-536E-C495-E8A0-F7655F895F22}"/>
              </a:ext>
            </a:extLst>
          </p:cNvPr>
          <p:cNvSpPr/>
          <p:nvPr/>
        </p:nvSpPr>
        <p:spPr>
          <a:xfrm>
            <a:off x="6108192" y="1545336"/>
            <a:ext cx="2779776" cy="457200"/>
          </a:xfrm>
          <a:prstGeom prst="rect">
            <a:avLst/>
          </a:prstGeom>
          <a:noFill/>
          <a:ln/>
        </p:spPr>
        <p:txBody>
          <a:bodyPr wrap="square" rtlCol="0" anchor="ctr"/>
          <a:lstStyle/>
          <a:p>
            <a:pPr marL="0" indent="0" algn="ctr">
              <a:buNone/>
            </a:pPr>
            <a:r>
              <a:rPr lang="en-US" sz="2000" b="1" dirty="0">
                <a:solidFill>
                  <a:srgbClr val="57E3D8"/>
                </a:solidFill>
                <a:latin typeface="Calibri" pitchFamily="34" charset="0"/>
                <a:ea typeface="Calibri" pitchFamily="34" charset="-122"/>
                <a:cs typeface="Calibri" pitchFamily="34" charset="-120"/>
              </a:rPr>
              <a:t>Flowchart</a:t>
            </a:r>
            <a:endParaRPr lang="en-US" sz="2000" dirty="0"/>
          </a:p>
        </p:txBody>
      </p:sp>
      <p:sp>
        <p:nvSpPr>
          <p:cNvPr id="18" name="Text 16">
            <a:extLst>
              <a:ext uri="{FF2B5EF4-FFF2-40B4-BE49-F238E27FC236}">
                <a16:creationId xmlns:a16="http://schemas.microsoft.com/office/drawing/2014/main" id="{C4029E02-E763-B814-4C30-6D610F53CED9}"/>
              </a:ext>
            </a:extLst>
          </p:cNvPr>
          <p:cNvSpPr/>
          <p:nvPr/>
        </p:nvSpPr>
        <p:spPr>
          <a:xfrm>
            <a:off x="6108192" y="1975104"/>
            <a:ext cx="2779776" cy="256032"/>
          </a:xfrm>
          <a:prstGeom prst="rect">
            <a:avLst/>
          </a:prstGeom>
          <a:noFill/>
          <a:ln/>
        </p:spPr>
        <p:txBody>
          <a:bodyPr wrap="square" rtlCol="0" anchor="ctr"/>
          <a:lstStyle/>
          <a:p>
            <a:pPr marL="0" indent="0" algn="ctr">
              <a:buNone/>
            </a:pPr>
            <a:r>
              <a:rPr lang="en-US" sz="1000" i="1" dirty="0">
                <a:solidFill>
                  <a:srgbClr val="EDEDED"/>
                </a:solidFill>
                <a:latin typeface="Calibri" pitchFamily="34" charset="0"/>
                <a:ea typeface="Calibri" pitchFamily="34" charset="-122"/>
                <a:cs typeface="Calibri" pitchFamily="34" charset="-120"/>
              </a:rPr>
              <a:t>Visual · Standard symbols</a:t>
            </a:r>
            <a:endParaRPr lang="en-US" sz="1000" dirty="0"/>
          </a:p>
        </p:txBody>
      </p:sp>
      <p:sp>
        <p:nvSpPr>
          <p:cNvPr id="19" name="Text 17">
            <a:extLst>
              <a:ext uri="{FF2B5EF4-FFF2-40B4-BE49-F238E27FC236}">
                <a16:creationId xmlns:a16="http://schemas.microsoft.com/office/drawing/2014/main" id="{68B76B5C-86FB-DDD2-2643-011F7DA0DB57}"/>
              </a:ext>
            </a:extLst>
          </p:cNvPr>
          <p:cNvSpPr/>
          <p:nvPr/>
        </p:nvSpPr>
        <p:spPr>
          <a:xfrm>
            <a:off x="6272784" y="2212848"/>
            <a:ext cx="2468880" cy="2615184"/>
          </a:xfrm>
          <a:prstGeom prst="rect">
            <a:avLst/>
          </a:prstGeom>
          <a:noFill/>
          <a:ln/>
        </p:spPr>
        <p:txBody>
          <a:bodyPr wrap="square" lIns="0" tIns="0" rIns="0" bIns="0" rtlCol="0" anchor="t"/>
          <a:lstStyle/>
          <a:p>
            <a:pPr marL="0" indent="0">
              <a:lnSpc>
                <a:spcPct val="135000"/>
              </a:lnSpc>
              <a:buNone/>
            </a:pPr>
            <a:r>
              <a:rPr lang="en-US" sz="1100" dirty="0">
                <a:solidFill>
                  <a:srgbClr val="EDEDED"/>
                </a:solidFill>
                <a:latin typeface="Calibri" pitchFamily="34" charset="0"/>
                <a:ea typeface="Calibri" pitchFamily="34" charset="-122"/>
                <a:cs typeface="Calibri" pitchFamily="34" charset="-120"/>
              </a:rPr>
              <a:t>Start (oval) → Set index = 0 (rectangle) → Index &lt; length? (diamond) → Yes branch: list[index] = target? (diamond) → if Yes: Return index (oval). If No: index = index + 1 (rectangle) → loop back. No branch: Return -1 (oval).</a:t>
            </a:r>
            <a:endParaRPr lang="en-US" sz="1100" dirty="0"/>
          </a:p>
        </p:txBody>
      </p:sp>
    </p:spTree>
    <p:extLst>
      <p:ext uri="{BB962C8B-B14F-4D97-AF65-F5344CB8AC3E}">
        <p14:creationId xmlns:p14="http://schemas.microsoft.com/office/powerpoint/2010/main" val="36912561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VARIABLES &amp; FLOW</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Linear Search in Detail</a:t>
            </a:r>
            <a:endParaRPr lang="en-US" sz="2800" dirty="0"/>
          </a:p>
        </p:txBody>
      </p:sp>
      <p:sp>
        <p:nvSpPr>
          <p:cNvPr id="6" name="Text 4"/>
          <p:cNvSpPr/>
          <p:nvPr/>
        </p:nvSpPr>
        <p:spPr>
          <a:xfrm>
            <a:off x="457200" y="868680"/>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The variables you track at every step, and how they change as the algorithm runs</a:t>
            </a:r>
            <a:endParaRPr lang="en-US" sz="1300" dirty="0"/>
          </a:p>
        </p:txBody>
      </p:sp>
      <p:sp>
        <p:nvSpPr>
          <p:cNvPr id="7" name="Shape 5"/>
          <p:cNvSpPr/>
          <p:nvPr/>
        </p:nvSpPr>
        <p:spPr>
          <a:xfrm>
            <a:off x="411480" y="1170432"/>
            <a:ext cx="3931920" cy="3246120"/>
          </a:xfrm>
          <a:prstGeom prst="rect">
            <a:avLst/>
          </a:prstGeom>
          <a:solidFill>
            <a:srgbClr val="161B26"/>
          </a:solidFill>
          <a:ln w="15240">
            <a:solidFill>
              <a:srgbClr val="58A6FF"/>
            </a:solidFill>
            <a:prstDash val="solid"/>
          </a:ln>
          <a:effectLst>
            <a:outerShdw blurRad="177800" dist="38100" dir="8100000" algn="bl" rotWithShape="0">
              <a:srgbClr val="000000">
                <a:alpha val="35000"/>
              </a:srgbClr>
            </a:outerShdw>
          </a:effectLst>
        </p:spPr>
        <p:txBody>
          <a:bodyPr/>
          <a:lstStyle/>
          <a:p>
            <a:endParaRPr lang="en-US"/>
          </a:p>
        </p:txBody>
      </p:sp>
      <p:sp>
        <p:nvSpPr>
          <p:cNvPr id="8" name="Shape 6"/>
          <p:cNvSpPr/>
          <p:nvPr/>
        </p:nvSpPr>
        <p:spPr>
          <a:xfrm>
            <a:off x="411480" y="1170432"/>
            <a:ext cx="3931920" cy="329184"/>
          </a:xfrm>
          <a:prstGeom prst="rect">
            <a:avLst/>
          </a:prstGeom>
          <a:solidFill>
            <a:srgbClr val="58A6FF">
              <a:alpha val="78000"/>
            </a:srgbClr>
          </a:solidFill>
          <a:ln w="12700">
            <a:solidFill>
              <a:srgbClr val="58A6FF"/>
            </a:solidFill>
            <a:prstDash val="solid"/>
          </a:ln>
        </p:spPr>
        <p:txBody>
          <a:bodyPr/>
          <a:lstStyle/>
          <a:p>
            <a:endParaRPr lang="en-US"/>
          </a:p>
        </p:txBody>
      </p:sp>
      <p:sp>
        <p:nvSpPr>
          <p:cNvPr id="9" name="Text 7"/>
          <p:cNvSpPr/>
          <p:nvPr/>
        </p:nvSpPr>
        <p:spPr>
          <a:xfrm>
            <a:off x="548640" y="1216152"/>
            <a:ext cx="365760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The Variables We Track</a:t>
            </a:r>
            <a:endParaRPr lang="en-US" sz="1100" dirty="0"/>
          </a:p>
        </p:txBody>
      </p:sp>
      <p:sp>
        <p:nvSpPr>
          <p:cNvPr id="10" name="Shape 8"/>
          <p:cNvSpPr/>
          <p:nvPr/>
        </p:nvSpPr>
        <p:spPr>
          <a:xfrm>
            <a:off x="548640" y="1600200"/>
            <a:ext cx="777240" cy="329184"/>
          </a:xfrm>
          <a:prstGeom prst="rect">
            <a:avLst/>
          </a:prstGeom>
          <a:solidFill>
            <a:srgbClr val="3FD9C4">
              <a:alpha val="30000"/>
            </a:srgbClr>
          </a:solidFill>
          <a:ln w="12700">
            <a:solidFill>
              <a:srgbClr val="3FD9C4"/>
            </a:solidFill>
            <a:prstDash val="solid"/>
          </a:ln>
        </p:spPr>
        <p:txBody>
          <a:bodyPr/>
          <a:lstStyle/>
          <a:p>
            <a:endParaRPr lang="en-US"/>
          </a:p>
        </p:txBody>
      </p:sp>
      <p:sp>
        <p:nvSpPr>
          <p:cNvPr id="11" name="Text 9"/>
          <p:cNvSpPr/>
          <p:nvPr/>
        </p:nvSpPr>
        <p:spPr>
          <a:xfrm>
            <a:off x="548640" y="1600200"/>
            <a:ext cx="777240" cy="329184"/>
          </a:xfrm>
          <a:prstGeom prst="rect">
            <a:avLst/>
          </a:prstGeom>
          <a:noFill/>
          <a:ln/>
        </p:spPr>
        <p:txBody>
          <a:bodyPr wrap="square" lIns="0" tIns="0" rIns="0" bIns="0" rtlCol="0" anchor="ctr"/>
          <a:lstStyle/>
          <a:p>
            <a:pPr marL="0" indent="0" algn="ctr">
              <a:buNone/>
            </a:pPr>
            <a:r>
              <a:rPr lang="en-US" sz="950" b="1" dirty="0">
                <a:solidFill>
                  <a:srgbClr val="3FD9C4"/>
                </a:solidFill>
                <a:latin typeface="Consolas" pitchFamily="34" charset="0"/>
                <a:ea typeface="Consolas" pitchFamily="34" charset="-122"/>
                <a:cs typeface="Consolas" pitchFamily="34" charset="-120"/>
              </a:rPr>
              <a:t>list</a:t>
            </a:r>
            <a:endParaRPr lang="en-US" sz="950" dirty="0"/>
          </a:p>
        </p:txBody>
      </p:sp>
      <p:sp>
        <p:nvSpPr>
          <p:cNvPr id="12" name="Text 10"/>
          <p:cNvSpPr/>
          <p:nvPr/>
        </p:nvSpPr>
        <p:spPr>
          <a:xfrm>
            <a:off x="1389888" y="1618488"/>
            <a:ext cx="1828800" cy="256032"/>
          </a:xfrm>
          <a:prstGeom prst="rect">
            <a:avLst/>
          </a:prstGeom>
          <a:noFill/>
          <a:ln/>
        </p:spPr>
        <p:txBody>
          <a:bodyPr wrap="square" lIns="0" tIns="0" rIns="0" bIns="0" rtlCol="0" anchor="ctr"/>
          <a:lstStyle/>
          <a:p>
            <a:pPr marL="0" indent="0">
              <a:buNone/>
            </a:pPr>
            <a:r>
              <a:rPr lang="en-US" sz="1100" b="1" dirty="0">
                <a:solidFill>
                  <a:srgbClr val="F0F6FC"/>
                </a:solidFill>
                <a:latin typeface="Consolas" pitchFamily="34" charset="0"/>
                <a:ea typeface="Consolas" pitchFamily="34" charset="-122"/>
                <a:cs typeface="Consolas" pitchFamily="34" charset="-120"/>
              </a:rPr>
              <a:t>INPUT</a:t>
            </a:r>
            <a:endParaRPr lang="en-US" sz="1100" dirty="0"/>
          </a:p>
        </p:txBody>
      </p:sp>
      <p:sp>
        <p:nvSpPr>
          <p:cNvPr id="13" name="Text 11"/>
          <p:cNvSpPr/>
          <p:nvPr/>
        </p:nvSpPr>
        <p:spPr>
          <a:xfrm>
            <a:off x="1389888" y="1801368"/>
            <a:ext cx="2651760" cy="182880"/>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The collection to search</a:t>
            </a:r>
            <a:endParaRPr lang="en-US" sz="900" dirty="0"/>
          </a:p>
        </p:txBody>
      </p:sp>
      <p:sp>
        <p:nvSpPr>
          <p:cNvPr id="14" name="Shape 12"/>
          <p:cNvSpPr/>
          <p:nvPr/>
        </p:nvSpPr>
        <p:spPr>
          <a:xfrm>
            <a:off x="548640" y="2057400"/>
            <a:ext cx="777240" cy="329184"/>
          </a:xfrm>
          <a:prstGeom prst="rect">
            <a:avLst/>
          </a:prstGeom>
          <a:solidFill>
            <a:srgbClr val="58A6FF">
              <a:alpha val="30000"/>
            </a:srgbClr>
          </a:solidFill>
          <a:ln w="12700">
            <a:solidFill>
              <a:srgbClr val="58A6FF"/>
            </a:solidFill>
            <a:prstDash val="solid"/>
          </a:ln>
        </p:spPr>
        <p:txBody>
          <a:bodyPr/>
          <a:lstStyle/>
          <a:p>
            <a:endParaRPr lang="en-US"/>
          </a:p>
        </p:txBody>
      </p:sp>
      <p:sp>
        <p:nvSpPr>
          <p:cNvPr id="15" name="Text 13"/>
          <p:cNvSpPr/>
          <p:nvPr/>
        </p:nvSpPr>
        <p:spPr>
          <a:xfrm>
            <a:off x="548640" y="2057400"/>
            <a:ext cx="777240" cy="329184"/>
          </a:xfrm>
          <a:prstGeom prst="rect">
            <a:avLst/>
          </a:prstGeom>
          <a:noFill/>
          <a:ln/>
        </p:spPr>
        <p:txBody>
          <a:bodyPr wrap="square" lIns="0" tIns="0" rIns="0" bIns="0" rtlCol="0" anchor="ctr"/>
          <a:lstStyle/>
          <a:p>
            <a:pPr marL="0" indent="0" algn="ctr">
              <a:buNone/>
            </a:pPr>
            <a:r>
              <a:rPr lang="en-US" sz="950" b="1" dirty="0">
                <a:solidFill>
                  <a:srgbClr val="58A6FF"/>
                </a:solidFill>
                <a:latin typeface="Consolas" pitchFamily="34" charset="0"/>
                <a:ea typeface="Consolas" pitchFamily="34" charset="-122"/>
                <a:cs typeface="Consolas" pitchFamily="34" charset="-120"/>
              </a:rPr>
              <a:t>target</a:t>
            </a:r>
            <a:endParaRPr lang="en-US" sz="950" dirty="0"/>
          </a:p>
        </p:txBody>
      </p:sp>
      <p:sp>
        <p:nvSpPr>
          <p:cNvPr id="16" name="Text 14"/>
          <p:cNvSpPr/>
          <p:nvPr/>
        </p:nvSpPr>
        <p:spPr>
          <a:xfrm>
            <a:off x="1389888" y="2075688"/>
            <a:ext cx="1828800" cy="256032"/>
          </a:xfrm>
          <a:prstGeom prst="rect">
            <a:avLst/>
          </a:prstGeom>
          <a:noFill/>
          <a:ln/>
        </p:spPr>
        <p:txBody>
          <a:bodyPr wrap="square" lIns="0" tIns="0" rIns="0" bIns="0" rtlCol="0" anchor="ctr"/>
          <a:lstStyle/>
          <a:p>
            <a:pPr marL="0" indent="0">
              <a:buNone/>
            </a:pPr>
            <a:r>
              <a:rPr lang="en-US" sz="1100" b="1" dirty="0">
                <a:solidFill>
                  <a:srgbClr val="F0F6FC"/>
                </a:solidFill>
                <a:latin typeface="Consolas" pitchFamily="34" charset="0"/>
                <a:ea typeface="Consolas" pitchFamily="34" charset="-122"/>
                <a:cs typeface="Consolas" pitchFamily="34" charset="-120"/>
              </a:rPr>
              <a:t>INPUT</a:t>
            </a:r>
            <a:endParaRPr lang="en-US" sz="1100" dirty="0"/>
          </a:p>
        </p:txBody>
      </p:sp>
      <p:sp>
        <p:nvSpPr>
          <p:cNvPr id="17" name="Text 15"/>
          <p:cNvSpPr/>
          <p:nvPr/>
        </p:nvSpPr>
        <p:spPr>
          <a:xfrm>
            <a:off x="1389888" y="2258568"/>
            <a:ext cx="2651760" cy="182880"/>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The value we want to find</a:t>
            </a:r>
            <a:endParaRPr lang="en-US" sz="900" dirty="0"/>
          </a:p>
        </p:txBody>
      </p:sp>
      <p:sp>
        <p:nvSpPr>
          <p:cNvPr id="18" name="Shape 16"/>
          <p:cNvSpPr/>
          <p:nvPr/>
        </p:nvSpPr>
        <p:spPr>
          <a:xfrm>
            <a:off x="548640" y="2514600"/>
            <a:ext cx="777240" cy="329184"/>
          </a:xfrm>
          <a:prstGeom prst="rect">
            <a:avLst/>
          </a:prstGeom>
          <a:solidFill>
            <a:srgbClr val="BC8CFF">
              <a:alpha val="30000"/>
            </a:srgbClr>
          </a:solidFill>
          <a:ln w="12700">
            <a:solidFill>
              <a:srgbClr val="BC8CFF"/>
            </a:solidFill>
            <a:prstDash val="solid"/>
          </a:ln>
        </p:spPr>
        <p:txBody>
          <a:bodyPr/>
          <a:lstStyle/>
          <a:p>
            <a:endParaRPr lang="en-US"/>
          </a:p>
        </p:txBody>
      </p:sp>
      <p:sp>
        <p:nvSpPr>
          <p:cNvPr id="19" name="Text 17"/>
          <p:cNvSpPr/>
          <p:nvPr/>
        </p:nvSpPr>
        <p:spPr>
          <a:xfrm>
            <a:off x="548640" y="2514600"/>
            <a:ext cx="777240" cy="329184"/>
          </a:xfrm>
          <a:prstGeom prst="rect">
            <a:avLst/>
          </a:prstGeom>
          <a:noFill/>
          <a:ln/>
        </p:spPr>
        <p:txBody>
          <a:bodyPr wrap="square" lIns="0" tIns="0" rIns="0" bIns="0" rtlCol="0" anchor="ctr"/>
          <a:lstStyle/>
          <a:p>
            <a:pPr marL="0" indent="0" algn="ctr">
              <a:buNone/>
            </a:pPr>
            <a:r>
              <a:rPr lang="en-US" sz="950" b="1" dirty="0">
                <a:solidFill>
                  <a:srgbClr val="BC8CFF"/>
                </a:solidFill>
                <a:latin typeface="Consolas" pitchFamily="34" charset="0"/>
                <a:ea typeface="Consolas" pitchFamily="34" charset="-122"/>
                <a:cs typeface="Consolas" pitchFamily="34" charset="-120"/>
              </a:rPr>
              <a:t>index</a:t>
            </a:r>
            <a:endParaRPr lang="en-US" sz="950" dirty="0"/>
          </a:p>
        </p:txBody>
      </p:sp>
      <p:sp>
        <p:nvSpPr>
          <p:cNvPr id="20" name="Text 18"/>
          <p:cNvSpPr/>
          <p:nvPr/>
        </p:nvSpPr>
        <p:spPr>
          <a:xfrm>
            <a:off x="1389888" y="2532888"/>
            <a:ext cx="1828800" cy="256032"/>
          </a:xfrm>
          <a:prstGeom prst="rect">
            <a:avLst/>
          </a:prstGeom>
          <a:noFill/>
          <a:ln/>
        </p:spPr>
        <p:txBody>
          <a:bodyPr wrap="square" lIns="0" tIns="0" rIns="0" bIns="0" rtlCol="0" anchor="ctr"/>
          <a:lstStyle/>
          <a:p>
            <a:pPr marL="0" indent="0">
              <a:buNone/>
            </a:pPr>
            <a:r>
              <a:rPr lang="en-US" sz="1100" b="1" dirty="0">
                <a:solidFill>
                  <a:srgbClr val="F0F6FC"/>
                </a:solidFill>
                <a:latin typeface="Consolas" pitchFamily="34" charset="0"/>
                <a:ea typeface="Consolas" pitchFamily="34" charset="-122"/>
                <a:cs typeface="Consolas" pitchFamily="34" charset="-120"/>
              </a:rPr>
              <a:t>COUNTER</a:t>
            </a:r>
            <a:endParaRPr lang="en-US" sz="1100" dirty="0"/>
          </a:p>
        </p:txBody>
      </p:sp>
      <p:sp>
        <p:nvSpPr>
          <p:cNvPr id="21" name="Text 19"/>
          <p:cNvSpPr/>
          <p:nvPr/>
        </p:nvSpPr>
        <p:spPr>
          <a:xfrm>
            <a:off x="1389888" y="2715768"/>
            <a:ext cx="2651760" cy="182880"/>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Current position, starts at 0</a:t>
            </a:r>
            <a:endParaRPr lang="en-US" sz="900" dirty="0"/>
          </a:p>
        </p:txBody>
      </p:sp>
      <p:sp>
        <p:nvSpPr>
          <p:cNvPr id="22" name="Shape 20"/>
          <p:cNvSpPr/>
          <p:nvPr/>
        </p:nvSpPr>
        <p:spPr>
          <a:xfrm>
            <a:off x="548640" y="2971800"/>
            <a:ext cx="777240" cy="329184"/>
          </a:xfrm>
          <a:prstGeom prst="rect">
            <a:avLst/>
          </a:prstGeom>
          <a:solidFill>
            <a:srgbClr val="FFA657">
              <a:alpha val="30000"/>
            </a:srgbClr>
          </a:solidFill>
          <a:ln w="12700">
            <a:solidFill>
              <a:srgbClr val="FFA657"/>
            </a:solidFill>
            <a:prstDash val="solid"/>
          </a:ln>
        </p:spPr>
        <p:txBody>
          <a:bodyPr/>
          <a:lstStyle/>
          <a:p>
            <a:endParaRPr lang="en-US"/>
          </a:p>
        </p:txBody>
      </p:sp>
      <p:sp>
        <p:nvSpPr>
          <p:cNvPr id="23" name="Text 21"/>
          <p:cNvSpPr/>
          <p:nvPr/>
        </p:nvSpPr>
        <p:spPr>
          <a:xfrm>
            <a:off x="548640" y="2971800"/>
            <a:ext cx="777240" cy="329184"/>
          </a:xfrm>
          <a:prstGeom prst="rect">
            <a:avLst/>
          </a:prstGeom>
          <a:noFill/>
          <a:ln/>
        </p:spPr>
        <p:txBody>
          <a:bodyPr wrap="square" lIns="0" tIns="0" rIns="0" bIns="0" rtlCol="0" anchor="ctr"/>
          <a:lstStyle/>
          <a:p>
            <a:pPr marL="0" indent="0" algn="ctr">
              <a:buNone/>
            </a:pPr>
            <a:r>
              <a:rPr lang="en-US" sz="950" b="1" dirty="0">
                <a:solidFill>
                  <a:srgbClr val="FFA657"/>
                </a:solidFill>
                <a:latin typeface="Consolas" pitchFamily="34" charset="0"/>
                <a:ea typeface="Consolas" pitchFamily="34" charset="-122"/>
                <a:cs typeface="Consolas" pitchFamily="34" charset="-120"/>
              </a:rPr>
              <a:t>length</a:t>
            </a:r>
            <a:endParaRPr lang="en-US" sz="950" dirty="0"/>
          </a:p>
        </p:txBody>
      </p:sp>
      <p:sp>
        <p:nvSpPr>
          <p:cNvPr id="24" name="Text 22"/>
          <p:cNvSpPr/>
          <p:nvPr/>
        </p:nvSpPr>
        <p:spPr>
          <a:xfrm>
            <a:off x="1389888" y="2990088"/>
            <a:ext cx="1828800" cy="256032"/>
          </a:xfrm>
          <a:prstGeom prst="rect">
            <a:avLst/>
          </a:prstGeom>
          <a:noFill/>
          <a:ln/>
        </p:spPr>
        <p:txBody>
          <a:bodyPr wrap="square" lIns="0" tIns="0" rIns="0" bIns="0" rtlCol="0" anchor="ctr"/>
          <a:lstStyle/>
          <a:p>
            <a:pPr marL="0" indent="0">
              <a:buNone/>
            </a:pPr>
            <a:r>
              <a:rPr lang="en-US" sz="1100" b="1" dirty="0">
                <a:solidFill>
                  <a:srgbClr val="F0F6FC"/>
                </a:solidFill>
                <a:latin typeface="Consolas" pitchFamily="34" charset="0"/>
                <a:ea typeface="Consolas" pitchFamily="34" charset="-122"/>
                <a:cs typeface="Consolas" pitchFamily="34" charset="-120"/>
              </a:rPr>
              <a:t>BOUNDARY</a:t>
            </a:r>
            <a:endParaRPr lang="en-US" sz="1100" dirty="0"/>
          </a:p>
        </p:txBody>
      </p:sp>
      <p:sp>
        <p:nvSpPr>
          <p:cNvPr id="25" name="Text 23"/>
          <p:cNvSpPr/>
          <p:nvPr/>
        </p:nvSpPr>
        <p:spPr>
          <a:xfrm>
            <a:off x="1389888" y="3172968"/>
            <a:ext cx="2651760" cy="182880"/>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Stops the loop at the end</a:t>
            </a:r>
            <a:endParaRPr lang="en-US" sz="900" dirty="0"/>
          </a:p>
        </p:txBody>
      </p:sp>
      <p:sp>
        <p:nvSpPr>
          <p:cNvPr id="26" name="Shape 24"/>
          <p:cNvSpPr/>
          <p:nvPr/>
        </p:nvSpPr>
        <p:spPr>
          <a:xfrm>
            <a:off x="548640" y="3429000"/>
            <a:ext cx="777240" cy="329184"/>
          </a:xfrm>
          <a:prstGeom prst="rect">
            <a:avLst/>
          </a:prstGeom>
          <a:solidFill>
            <a:srgbClr val="E3B341">
              <a:alpha val="30000"/>
            </a:srgbClr>
          </a:solidFill>
          <a:ln w="12700">
            <a:solidFill>
              <a:srgbClr val="E3B341"/>
            </a:solidFill>
            <a:prstDash val="solid"/>
          </a:ln>
        </p:spPr>
        <p:txBody>
          <a:bodyPr/>
          <a:lstStyle/>
          <a:p>
            <a:endParaRPr lang="en-US"/>
          </a:p>
        </p:txBody>
      </p:sp>
      <p:sp>
        <p:nvSpPr>
          <p:cNvPr id="27" name="Text 25"/>
          <p:cNvSpPr/>
          <p:nvPr/>
        </p:nvSpPr>
        <p:spPr>
          <a:xfrm>
            <a:off x="548640" y="3429000"/>
            <a:ext cx="777240" cy="329184"/>
          </a:xfrm>
          <a:prstGeom prst="rect">
            <a:avLst/>
          </a:prstGeom>
          <a:noFill/>
          <a:ln/>
        </p:spPr>
        <p:txBody>
          <a:bodyPr wrap="square" lIns="0" tIns="0" rIns="0" bIns="0" rtlCol="0" anchor="ctr"/>
          <a:lstStyle/>
          <a:p>
            <a:pPr marL="0" indent="0" algn="ctr">
              <a:buNone/>
            </a:pPr>
            <a:r>
              <a:rPr lang="en-US" sz="950" b="1" dirty="0">
                <a:solidFill>
                  <a:srgbClr val="E3B341"/>
                </a:solidFill>
                <a:latin typeface="Consolas" pitchFamily="34" charset="0"/>
                <a:ea typeface="Consolas" pitchFamily="34" charset="-122"/>
                <a:cs typeface="Consolas" pitchFamily="34" charset="-120"/>
              </a:rPr>
              <a:t>list[i]</a:t>
            </a:r>
            <a:endParaRPr lang="en-US" sz="950" dirty="0"/>
          </a:p>
        </p:txBody>
      </p:sp>
      <p:sp>
        <p:nvSpPr>
          <p:cNvPr id="28" name="Text 26"/>
          <p:cNvSpPr/>
          <p:nvPr/>
        </p:nvSpPr>
        <p:spPr>
          <a:xfrm>
            <a:off x="1389888" y="3447288"/>
            <a:ext cx="1828800" cy="256032"/>
          </a:xfrm>
          <a:prstGeom prst="rect">
            <a:avLst/>
          </a:prstGeom>
          <a:noFill/>
          <a:ln/>
        </p:spPr>
        <p:txBody>
          <a:bodyPr wrap="square" lIns="0" tIns="0" rIns="0" bIns="0" rtlCol="0" anchor="ctr"/>
          <a:lstStyle/>
          <a:p>
            <a:pPr marL="0" indent="0">
              <a:buNone/>
            </a:pPr>
            <a:r>
              <a:rPr lang="en-US" sz="1100" b="1" dirty="0">
                <a:solidFill>
                  <a:srgbClr val="F0F6FC"/>
                </a:solidFill>
                <a:latin typeface="Consolas" pitchFamily="34" charset="0"/>
                <a:ea typeface="Consolas" pitchFamily="34" charset="-122"/>
                <a:cs typeface="Consolas" pitchFamily="34" charset="-120"/>
              </a:rPr>
              <a:t>CURRENT</a:t>
            </a:r>
            <a:endParaRPr lang="en-US" sz="1100" dirty="0"/>
          </a:p>
        </p:txBody>
      </p:sp>
      <p:sp>
        <p:nvSpPr>
          <p:cNvPr id="29" name="Text 27"/>
          <p:cNvSpPr/>
          <p:nvPr/>
        </p:nvSpPr>
        <p:spPr>
          <a:xfrm>
            <a:off x="1389888" y="3630168"/>
            <a:ext cx="2651760" cy="182880"/>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The item we are checking</a:t>
            </a:r>
            <a:endParaRPr lang="en-US" sz="900" dirty="0"/>
          </a:p>
        </p:txBody>
      </p:sp>
      <p:sp>
        <p:nvSpPr>
          <p:cNvPr id="30" name="Shape 28"/>
          <p:cNvSpPr/>
          <p:nvPr/>
        </p:nvSpPr>
        <p:spPr>
          <a:xfrm>
            <a:off x="548640" y="3886200"/>
            <a:ext cx="777240" cy="329184"/>
          </a:xfrm>
          <a:prstGeom prst="rect">
            <a:avLst/>
          </a:prstGeom>
          <a:solidFill>
            <a:srgbClr val="3FB950">
              <a:alpha val="30000"/>
            </a:srgbClr>
          </a:solidFill>
          <a:ln w="12700">
            <a:solidFill>
              <a:srgbClr val="3FB950"/>
            </a:solidFill>
            <a:prstDash val="solid"/>
          </a:ln>
        </p:spPr>
        <p:txBody>
          <a:bodyPr/>
          <a:lstStyle/>
          <a:p>
            <a:endParaRPr lang="en-US"/>
          </a:p>
        </p:txBody>
      </p:sp>
      <p:sp>
        <p:nvSpPr>
          <p:cNvPr id="31" name="Text 29"/>
          <p:cNvSpPr/>
          <p:nvPr/>
        </p:nvSpPr>
        <p:spPr>
          <a:xfrm>
            <a:off x="548640" y="3886200"/>
            <a:ext cx="777240" cy="329184"/>
          </a:xfrm>
          <a:prstGeom prst="rect">
            <a:avLst/>
          </a:prstGeom>
          <a:noFill/>
          <a:ln/>
        </p:spPr>
        <p:txBody>
          <a:bodyPr wrap="square" lIns="0" tIns="0" rIns="0" bIns="0" rtlCol="0" anchor="ctr"/>
          <a:lstStyle/>
          <a:p>
            <a:pPr marL="0" indent="0" algn="ctr">
              <a:buNone/>
            </a:pPr>
            <a:r>
              <a:rPr lang="en-US" sz="950" b="1" dirty="0">
                <a:solidFill>
                  <a:srgbClr val="3FB950"/>
                </a:solidFill>
                <a:latin typeface="Consolas" pitchFamily="34" charset="0"/>
                <a:ea typeface="Consolas" pitchFamily="34" charset="-122"/>
                <a:cs typeface="Consolas" pitchFamily="34" charset="-120"/>
              </a:rPr>
              <a:t>result</a:t>
            </a:r>
            <a:endParaRPr lang="en-US" sz="950" dirty="0"/>
          </a:p>
        </p:txBody>
      </p:sp>
      <p:sp>
        <p:nvSpPr>
          <p:cNvPr id="32" name="Text 30"/>
          <p:cNvSpPr/>
          <p:nvPr/>
        </p:nvSpPr>
        <p:spPr>
          <a:xfrm>
            <a:off x="1389888" y="3904488"/>
            <a:ext cx="1828800" cy="256032"/>
          </a:xfrm>
          <a:prstGeom prst="rect">
            <a:avLst/>
          </a:prstGeom>
          <a:noFill/>
          <a:ln/>
        </p:spPr>
        <p:txBody>
          <a:bodyPr wrap="square" lIns="0" tIns="0" rIns="0" bIns="0" rtlCol="0" anchor="ctr"/>
          <a:lstStyle/>
          <a:p>
            <a:pPr marL="0" indent="0">
              <a:buNone/>
            </a:pPr>
            <a:r>
              <a:rPr lang="en-US" sz="1100" b="1" dirty="0">
                <a:solidFill>
                  <a:srgbClr val="F0F6FC"/>
                </a:solidFill>
                <a:latin typeface="Consolas" pitchFamily="34" charset="0"/>
                <a:ea typeface="Consolas" pitchFamily="34" charset="-122"/>
                <a:cs typeface="Consolas" pitchFamily="34" charset="-120"/>
              </a:rPr>
              <a:t>OUTPUT</a:t>
            </a:r>
            <a:endParaRPr lang="en-US" sz="1100" dirty="0"/>
          </a:p>
        </p:txBody>
      </p:sp>
      <p:sp>
        <p:nvSpPr>
          <p:cNvPr id="33" name="Text 31"/>
          <p:cNvSpPr/>
          <p:nvPr/>
        </p:nvSpPr>
        <p:spPr>
          <a:xfrm>
            <a:off x="1389888" y="4087368"/>
            <a:ext cx="2651760" cy="182880"/>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Index found, or -1</a:t>
            </a:r>
            <a:endParaRPr lang="en-US" sz="900" dirty="0"/>
          </a:p>
        </p:txBody>
      </p:sp>
      <p:sp>
        <p:nvSpPr>
          <p:cNvPr id="34" name="Shape 32"/>
          <p:cNvSpPr/>
          <p:nvPr/>
        </p:nvSpPr>
        <p:spPr>
          <a:xfrm>
            <a:off x="4480560" y="1170432"/>
            <a:ext cx="4251960" cy="1536192"/>
          </a:xfrm>
          <a:prstGeom prst="rect">
            <a:avLst/>
          </a:prstGeom>
          <a:solidFill>
            <a:srgbClr val="161B26"/>
          </a:solidFill>
          <a:ln w="1524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35" name="Shape 33"/>
          <p:cNvSpPr/>
          <p:nvPr/>
        </p:nvSpPr>
        <p:spPr>
          <a:xfrm>
            <a:off x="4480560" y="1170432"/>
            <a:ext cx="4251960" cy="329184"/>
          </a:xfrm>
          <a:prstGeom prst="rect">
            <a:avLst/>
          </a:prstGeom>
          <a:solidFill>
            <a:srgbClr val="3FD9C4">
              <a:alpha val="78000"/>
            </a:srgbClr>
          </a:solidFill>
          <a:ln w="12700">
            <a:solidFill>
              <a:srgbClr val="3FD9C4"/>
            </a:solidFill>
            <a:prstDash val="solid"/>
          </a:ln>
        </p:spPr>
        <p:txBody>
          <a:bodyPr/>
          <a:lstStyle/>
          <a:p>
            <a:endParaRPr lang="en-US"/>
          </a:p>
        </p:txBody>
      </p:sp>
      <p:sp>
        <p:nvSpPr>
          <p:cNvPr id="36" name="Text 34"/>
          <p:cNvSpPr/>
          <p:nvPr/>
        </p:nvSpPr>
        <p:spPr>
          <a:xfrm>
            <a:off x="4617720" y="1216152"/>
            <a:ext cx="397764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The Complete Pseudocode</a:t>
            </a:r>
            <a:endParaRPr lang="en-US" sz="1100" dirty="0"/>
          </a:p>
        </p:txBody>
      </p:sp>
      <p:sp>
        <p:nvSpPr>
          <p:cNvPr id="37" name="Text 35"/>
          <p:cNvSpPr/>
          <p:nvPr/>
        </p:nvSpPr>
        <p:spPr>
          <a:xfrm>
            <a:off x="4617720" y="1572768"/>
            <a:ext cx="3977640" cy="237744"/>
          </a:xfrm>
          <a:prstGeom prst="rect">
            <a:avLst/>
          </a:prstGeom>
          <a:noFill/>
          <a:ln/>
        </p:spPr>
        <p:txBody>
          <a:bodyPr wrap="square" lIns="0" tIns="0" rIns="0" bIns="0" rtlCol="0" anchor="ctr"/>
          <a:lstStyle/>
          <a:p>
            <a:pPr marL="0" indent="0">
              <a:buNone/>
            </a:pPr>
            <a:r>
              <a:rPr lang="en-US" sz="1050" dirty="0">
                <a:solidFill>
                  <a:srgbClr val="F0F6FC"/>
                </a:solidFill>
                <a:latin typeface="Consolas" pitchFamily="34" charset="0"/>
                <a:ea typeface="Consolas" pitchFamily="34" charset="-122"/>
                <a:cs typeface="Consolas" pitchFamily="34" charset="-120"/>
              </a:rPr>
              <a:t>FUNCTION linearSearch(list, target):</a:t>
            </a:r>
            <a:endParaRPr lang="en-US" sz="1050" dirty="0"/>
          </a:p>
        </p:txBody>
      </p:sp>
      <p:sp>
        <p:nvSpPr>
          <p:cNvPr id="38" name="Text 36"/>
          <p:cNvSpPr/>
          <p:nvPr/>
        </p:nvSpPr>
        <p:spPr>
          <a:xfrm>
            <a:off x="4617720" y="1819656"/>
            <a:ext cx="3977640" cy="219456"/>
          </a:xfrm>
          <a:prstGeom prst="rect">
            <a:avLst/>
          </a:prstGeom>
          <a:noFill/>
          <a:ln/>
        </p:spPr>
        <p:txBody>
          <a:bodyPr wrap="square" lIns="0" tIns="0" rIns="0" bIns="0" rtlCol="0" anchor="ctr"/>
          <a:lstStyle/>
          <a:p>
            <a:pPr marL="0" indent="0">
              <a:buNone/>
            </a:pPr>
            <a:r>
              <a:rPr lang="en-US" sz="1050" dirty="0">
                <a:solidFill>
                  <a:srgbClr val="8B949E"/>
                </a:solidFill>
                <a:latin typeface="Consolas" pitchFamily="34" charset="0"/>
                <a:ea typeface="Consolas" pitchFamily="34" charset="-122"/>
                <a:cs typeface="Consolas" pitchFamily="34" charset="-120"/>
              </a:rPr>
              <a:t>SET i ← 0    WHILE i &lt; len: IF list[i]=target RETURN i</a:t>
            </a:r>
            <a:endParaRPr lang="en-US" sz="1050" dirty="0"/>
          </a:p>
        </p:txBody>
      </p:sp>
      <p:sp>
        <p:nvSpPr>
          <p:cNvPr id="39" name="Shape 37"/>
          <p:cNvSpPr/>
          <p:nvPr/>
        </p:nvSpPr>
        <p:spPr>
          <a:xfrm>
            <a:off x="4617720" y="2139696"/>
            <a:ext cx="457200" cy="274320"/>
          </a:xfrm>
          <a:prstGeom prst="rect">
            <a:avLst/>
          </a:prstGeom>
          <a:solidFill>
            <a:srgbClr val="3FD9C4">
              <a:alpha val="22000"/>
            </a:srgbClr>
          </a:solidFill>
          <a:ln w="12700">
            <a:solidFill>
              <a:srgbClr val="3FD9C4"/>
            </a:solidFill>
            <a:prstDash val="solid"/>
          </a:ln>
        </p:spPr>
        <p:txBody>
          <a:bodyPr/>
          <a:lstStyle/>
          <a:p>
            <a:endParaRPr lang="en-US"/>
          </a:p>
        </p:txBody>
      </p:sp>
      <p:sp>
        <p:nvSpPr>
          <p:cNvPr id="40" name="Text 38"/>
          <p:cNvSpPr/>
          <p:nvPr/>
        </p:nvSpPr>
        <p:spPr>
          <a:xfrm>
            <a:off x="4617720" y="2139696"/>
            <a:ext cx="457200" cy="274320"/>
          </a:xfrm>
          <a:prstGeom prst="rect">
            <a:avLst/>
          </a:prstGeom>
          <a:noFill/>
          <a:ln/>
        </p:spPr>
        <p:txBody>
          <a:bodyPr wrap="square" lIns="0" tIns="0" rIns="0" bIns="0" rtlCol="0" anchor="ctr"/>
          <a:lstStyle/>
          <a:p>
            <a:pPr marL="0" indent="0" algn="ctr">
              <a:buNone/>
            </a:pPr>
            <a:r>
              <a:rPr lang="en-US" sz="950" b="1" dirty="0">
                <a:solidFill>
                  <a:srgbClr val="3FD9C4"/>
                </a:solidFill>
                <a:latin typeface="Consolas" pitchFamily="34" charset="0"/>
                <a:ea typeface="Consolas" pitchFamily="34" charset="-122"/>
                <a:cs typeface="Consolas" pitchFamily="34" charset="-120"/>
              </a:rPr>
              <a:t>L1</a:t>
            </a:r>
            <a:endParaRPr lang="en-US" sz="950" dirty="0"/>
          </a:p>
        </p:txBody>
      </p:sp>
      <p:sp>
        <p:nvSpPr>
          <p:cNvPr id="41" name="Shape 39"/>
          <p:cNvSpPr/>
          <p:nvPr/>
        </p:nvSpPr>
        <p:spPr>
          <a:xfrm>
            <a:off x="5148072" y="2139696"/>
            <a:ext cx="457200" cy="274320"/>
          </a:xfrm>
          <a:prstGeom prst="rect">
            <a:avLst/>
          </a:prstGeom>
          <a:solidFill>
            <a:srgbClr val="3FD9C4">
              <a:alpha val="22000"/>
            </a:srgbClr>
          </a:solidFill>
          <a:ln w="12700">
            <a:solidFill>
              <a:srgbClr val="3FD9C4"/>
            </a:solidFill>
            <a:prstDash val="solid"/>
          </a:ln>
        </p:spPr>
        <p:txBody>
          <a:bodyPr/>
          <a:lstStyle/>
          <a:p>
            <a:endParaRPr lang="en-US"/>
          </a:p>
        </p:txBody>
      </p:sp>
      <p:sp>
        <p:nvSpPr>
          <p:cNvPr id="42" name="Text 40"/>
          <p:cNvSpPr/>
          <p:nvPr/>
        </p:nvSpPr>
        <p:spPr>
          <a:xfrm>
            <a:off x="5148072" y="2139696"/>
            <a:ext cx="457200" cy="274320"/>
          </a:xfrm>
          <a:prstGeom prst="rect">
            <a:avLst/>
          </a:prstGeom>
          <a:noFill/>
          <a:ln/>
        </p:spPr>
        <p:txBody>
          <a:bodyPr wrap="square" lIns="0" tIns="0" rIns="0" bIns="0" rtlCol="0" anchor="ctr"/>
          <a:lstStyle/>
          <a:p>
            <a:pPr marL="0" indent="0" algn="ctr">
              <a:buNone/>
            </a:pPr>
            <a:r>
              <a:rPr lang="en-US" sz="950" b="1" dirty="0">
                <a:solidFill>
                  <a:srgbClr val="3FD9C4"/>
                </a:solidFill>
                <a:latin typeface="Consolas" pitchFamily="34" charset="0"/>
                <a:ea typeface="Consolas" pitchFamily="34" charset="-122"/>
                <a:cs typeface="Consolas" pitchFamily="34" charset="-120"/>
              </a:rPr>
              <a:t>L2</a:t>
            </a:r>
            <a:endParaRPr lang="en-US" sz="950" dirty="0"/>
          </a:p>
        </p:txBody>
      </p:sp>
      <p:sp>
        <p:nvSpPr>
          <p:cNvPr id="43" name="Shape 41"/>
          <p:cNvSpPr/>
          <p:nvPr/>
        </p:nvSpPr>
        <p:spPr>
          <a:xfrm>
            <a:off x="5678424" y="2139696"/>
            <a:ext cx="457200" cy="274320"/>
          </a:xfrm>
          <a:prstGeom prst="rect">
            <a:avLst/>
          </a:prstGeom>
          <a:solidFill>
            <a:srgbClr val="58A6FF">
              <a:alpha val="22000"/>
            </a:srgbClr>
          </a:solidFill>
          <a:ln w="12700">
            <a:solidFill>
              <a:srgbClr val="58A6FF"/>
            </a:solidFill>
            <a:prstDash val="solid"/>
          </a:ln>
        </p:spPr>
        <p:txBody>
          <a:bodyPr/>
          <a:lstStyle/>
          <a:p>
            <a:endParaRPr lang="en-US"/>
          </a:p>
        </p:txBody>
      </p:sp>
      <p:sp>
        <p:nvSpPr>
          <p:cNvPr id="44" name="Text 42"/>
          <p:cNvSpPr/>
          <p:nvPr/>
        </p:nvSpPr>
        <p:spPr>
          <a:xfrm>
            <a:off x="5678424" y="2139696"/>
            <a:ext cx="457200" cy="274320"/>
          </a:xfrm>
          <a:prstGeom prst="rect">
            <a:avLst/>
          </a:prstGeom>
          <a:noFill/>
          <a:ln/>
        </p:spPr>
        <p:txBody>
          <a:bodyPr wrap="square" lIns="0" tIns="0" rIns="0" bIns="0" rtlCol="0" anchor="ctr"/>
          <a:lstStyle/>
          <a:p>
            <a:pPr marL="0" indent="0" algn="ctr">
              <a:buNone/>
            </a:pPr>
            <a:r>
              <a:rPr lang="en-US" sz="950" b="1" dirty="0">
                <a:solidFill>
                  <a:srgbClr val="58A6FF"/>
                </a:solidFill>
                <a:latin typeface="Consolas" pitchFamily="34" charset="0"/>
                <a:ea typeface="Consolas" pitchFamily="34" charset="-122"/>
                <a:cs typeface="Consolas" pitchFamily="34" charset="-120"/>
              </a:rPr>
              <a:t>L3</a:t>
            </a:r>
            <a:endParaRPr lang="en-US" sz="950" dirty="0"/>
          </a:p>
        </p:txBody>
      </p:sp>
      <p:sp>
        <p:nvSpPr>
          <p:cNvPr id="45" name="Shape 43"/>
          <p:cNvSpPr/>
          <p:nvPr/>
        </p:nvSpPr>
        <p:spPr>
          <a:xfrm>
            <a:off x="6208776" y="2139696"/>
            <a:ext cx="457200" cy="274320"/>
          </a:xfrm>
          <a:prstGeom prst="rect">
            <a:avLst/>
          </a:prstGeom>
          <a:solidFill>
            <a:srgbClr val="58A6FF">
              <a:alpha val="22000"/>
            </a:srgbClr>
          </a:solidFill>
          <a:ln w="12700">
            <a:solidFill>
              <a:srgbClr val="58A6FF"/>
            </a:solidFill>
            <a:prstDash val="solid"/>
          </a:ln>
        </p:spPr>
        <p:txBody>
          <a:bodyPr/>
          <a:lstStyle/>
          <a:p>
            <a:endParaRPr lang="en-US"/>
          </a:p>
        </p:txBody>
      </p:sp>
      <p:sp>
        <p:nvSpPr>
          <p:cNvPr id="46" name="Text 44"/>
          <p:cNvSpPr/>
          <p:nvPr/>
        </p:nvSpPr>
        <p:spPr>
          <a:xfrm>
            <a:off x="6208776" y="2139696"/>
            <a:ext cx="457200" cy="274320"/>
          </a:xfrm>
          <a:prstGeom prst="rect">
            <a:avLst/>
          </a:prstGeom>
          <a:noFill/>
          <a:ln/>
        </p:spPr>
        <p:txBody>
          <a:bodyPr wrap="square" lIns="0" tIns="0" rIns="0" bIns="0" rtlCol="0" anchor="ctr"/>
          <a:lstStyle/>
          <a:p>
            <a:pPr marL="0" indent="0" algn="ctr">
              <a:buNone/>
            </a:pPr>
            <a:r>
              <a:rPr lang="en-US" sz="950" b="1" dirty="0">
                <a:solidFill>
                  <a:srgbClr val="58A6FF"/>
                </a:solidFill>
                <a:latin typeface="Consolas" pitchFamily="34" charset="0"/>
                <a:ea typeface="Consolas" pitchFamily="34" charset="-122"/>
                <a:cs typeface="Consolas" pitchFamily="34" charset="-120"/>
              </a:rPr>
              <a:t>L4</a:t>
            </a:r>
            <a:endParaRPr lang="en-US" sz="950" dirty="0"/>
          </a:p>
        </p:txBody>
      </p:sp>
      <p:sp>
        <p:nvSpPr>
          <p:cNvPr id="47" name="Shape 45"/>
          <p:cNvSpPr/>
          <p:nvPr/>
        </p:nvSpPr>
        <p:spPr>
          <a:xfrm>
            <a:off x="6739128" y="2139696"/>
            <a:ext cx="457200" cy="274320"/>
          </a:xfrm>
          <a:prstGeom prst="rect">
            <a:avLst/>
          </a:prstGeom>
          <a:solidFill>
            <a:srgbClr val="58A6FF">
              <a:alpha val="22000"/>
            </a:srgbClr>
          </a:solidFill>
          <a:ln w="12700">
            <a:solidFill>
              <a:srgbClr val="58A6FF"/>
            </a:solidFill>
            <a:prstDash val="solid"/>
          </a:ln>
        </p:spPr>
        <p:txBody>
          <a:bodyPr/>
          <a:lstStyle/>
          <a:p>
            <a:endParaRPr lang="en-US"/>
          </a:p>
        </p:txBody>
      </p:sp>
      <p:sp>
        <p:nvSpPr>
          <p:cNvPr id="48" name="Text 46"/>
          <p:cNvSpPr/>
          <p:nvPr/>
        </p:nvSpPr>
        <p:spPr>
          <a:xfrm>
            <a:off x="6739128" y="2139696"/>
            <a:ext cx="457200" cy="274320"/>
          </a:xfrm>
          <a:prstGeom prst="rect">
            <a:avLst/>
          </a:prstGeom>
          <a:noFill/>
          <a:ln/>
        </p:spPr>
        <p:txBody>
          <a:bodyPr wrap="square" lIns="0" tIns="0" rIns="0" bIns="0" rtlCol="0" anchor="ctr"/>
          <a:lstStyle/>
          <a:p>
            <a:pPr marL="0" indent="0" algn="ctr">
              <a:buNone/>
            </a:pPr>
            <a:r>
              <a:rPr lang="en-US" sz="950" b="1" dirty="0">
                <a:solidFill>
                  <a:srgbClr val="58A6FF"/>
                </a:solidFill>
                <a:latin typeface="Consolas" pitchFamily="34" charset="0"/>
                <a:ea typeface="Consolas" pitchFamily="34" charset="-122"/>
                <a:cs typeface="Consolas" pitchFamily="34" charset="-120"/>
              </a:rPr>
              <a:t>L5</a:t>
            </a:r>
            <a:endParaRPr lang="en-US" sz="950" dirty="0"/>
          </a:p>
        </p:txBody>
      </p:sp>
      <p:sp>
        <p:nvSpPr>
          <p:cNvPr id="49" name="Shape 47"/>
          <p:cNvSpPr/>
          <p:nvPr/>
        </p:nvSpPr>
        <p:spPr>
          <a:xfrm>
            <a:off x="7269480" y="2139696"/>
            <a:ext cx="457200" cy="274320"/>
          </a:xfrm>
          <a:prstGeom prst="rect">
            <a:avLst/>
          </a:prstGeom>
          <a:solidFill>
            <a:srgbClr val="58A6FF">
              <a:alpha val="22000"/>
            </a:srgbClr>
          </a:solidFill>
          <a:ln w="12700">
            <a:solidFill>
              <a:srgbClr val="58A6FF"/>
            </a:solidFill>
            <a:prstDash val="solid"/>
          </a:ln>
        </p:spPr>
        <p:txBody>
          <a:bodyPr/>
          <a:lstStyle/>
          <a:p>
            <a:endParaRPr lang="en-US"/>
          </a:p>
        </p:txBody>
      </p:sp>
      <p:sp>
        <p:nvSpPr>
          <p:cNvPr id="50" name="Text 48"/>
          <p:cNvSpPr/>
          <p:nvPr/>
        </p:nvSpPr>
        <p:spPr>
          <a:xfrm>
            <a:off x="7269480" y="2139696"/>
            <a:ext cx="457200" cy="274320"/>
          </a:xfrm>
          <a:prstGeom prst="rect">
            <a:avLst/>
          </a:prstGeom>
          <a:noFill/>
          <a:ln/>
        </p:spPr>
        <p:txBody>
          <a:bodyPr wrap="square" lIns="0" tIns="0" rIns="0" bIns="0" rtlCol="0" anchor="ctr"/>
          <a:lstStyle/>
          <a:p>
            <a:pPr marL="0" indent="0" algn="ctr">
              <a:buNone/>
            </a:pPr>
            <a:r>
              <a:rPr lang="en-US" sz="950" b="1" dirty="0">
                <a:solidFill>
                  <a:srgbClr val="58A6FF"/>
                </a:solidFill>
                <a:latin typeface="Consolas" pitchFamily="34" charset="0"/>
                <a:ea typeface="Consolas" pitchFamily="34" charset="-122"/>
                <a:cs typeface="Consolas" pitchFamily="34" charset="-120"/>
              </a:rPr>
              <a:t>L6</a:t>
            </a:r>
            <a:endParaRPr lang="en-US" sz="950" dirty="0"/>
          </a:p>
        </p:txBody>
      </p:sp>
      <p:sp>
        <p:nvSpPr>
          <p:cNvPr id="51" name="Shape 49"/>
          <p:cNvSpPr/>
          <p:nvPr/>
        </p:nvSpPr>
        <p:spPr>
          <a:xfrm>
            <a:off x="7799832" y="2139696"/>
            <a:ext cx="457200" cy="274320"/>
          </a:xfrm>
          <a:prstGeom prst="rect">
            <a:avLst/>
          </a:prstGeom>
          <a:solidFill>
            <a:srgbClr val="58A6FF">
              <a:alpha val="22000"/>
            </a:srgbClr>
          </a:solidFill>
          <a:ln w="12700">
            <a:solidFill>
              <a:srgbClr val="58A6FF"/>
            </a:solidFill>
            <a:prstDash val="solid"/>
          </a:ln>
        </p:spPr>
        <p:txBody>
          <a:bodyPr/>
          <a:lstStyle/>
          <a:p>
            <a:endParaRPr lang="en-US"/>
          </a:p>
        </p:txBody>
      </p:sp>
      <p:sp>
        <p:nvSpPr>
          <p:cNvPr id="52" name="Text 50"/>
          <p:cNvSpPr/>
          <p:nvPr/>
        </p:nvSpPr>
        <p:spPr>
          <a:xfrm>
            <a:off x="7799832" y="2139696"/>
            <a:ext cx="457200" cy="274320"/>
          </a:xfrm>
          <a:prstGeom prst="rect">
            <a:avLst/>
          </a:prstGeom>
          <a:noFill/>
          <a:ln/>
        </p:spPr>
        <p:txBody>
          <a:bodyPr wrap="square" lIns="0" tIns="0" rIns="0" bIns="0" rtlCol="0" anchor="ctr"/>
          <a:lstStyle/>
          <a:p>
            <a:pPr marL="0" indent="0" algn="ctr">
              <a:buNone/>
            </a:pPr>
            <a:r>
              <a:rPr lang="en-US" sz="950" b="1" dirty="0">
                <a:solidFill>
                  <a:srgbClr val="58A6FF"/>
                </a:solidFill>
                <a:latin typeface="Consolas" pitchFamily="34" charset="0"/>
                <a:ea typeface="Consolas" pitchFamily="34" charset="-122"/>
                <a:cs typeface="Consolas" pitchFamily="34" charset="-120"/>
              </a:rPr>
              <a:t>L7</a:t>
            </a:r>
            <a:endParaRPr lang="en-US" sz="950" dirty="0"/>
          </a:p>
        </p:txBody>
      </p:sp>
      <p:sp>
        <p:nvSpPr>
          <p:cNvPr id="53" name="Shape 51"/>
          <p:cNvSpPr/>
          <p:nvPr/>
        </p:nvSpPr>
        <p:spPr>
          <a:xfrm>
            <a:off x="8330184" y="2139696"/>
            <a:ext cx="457200" cy="274320"/>
          </a:xfrm>
          <a:prstGeom prst="rect">
            <a:avLst/>
          </a:prstGeom>
          <a:solidFill>
            <a:srgbClr val="58A6FF">
              <a:alpha val="22000"/>
            </a:srgbClr>
          </a:solidFill>
          <a:ln w="12700">
            <a:solidFill>
              <a:srgbClr val="58A6FF"/>
            </a:solidFill>
            <a:prstDash val="solid"/>
          </a:ln>
        </p:spPr>
        <p:txBody>
          <a:bodyPr/>
          <a:lstStyle/>
          <a:p>
            <a:endParaRPr lang="en-US"/>
          </a:p>
        </p:txBody>
      </p:sp>
      <p:sp>
        <p:nvSpPr>
          <p:cNvPr id="54" name="Text 52"/>
          <p:cNvSpPr/>
          <p:nvPr/>
        </p:nvSpPr>
        <p:spPr>
          <a:xfrm>
            <a:off x="8330184" y="2139696"/>
            <a:ext cx="457200" cy="274320"/>
          </a:xfrm>
          <a:prstGeom prst="rect">
            <a:avLst/>
          </a:prstGeom>
          <a:noFill/>
          <a:ln/>
        </p:spPr>
        <p:txBody>
          <a:bodyPr wrap="square" lIns="0" tIns="0" rIns="0" bIns="0" rtlCol="0" anchor="ctr"/>
          <a:lstStyle/>
          <a:p>
            <a:pPr marL="0" indent="0" algn="ctr">
              <a:buNone/>
            </a:pPr>
            <a:r>
              <a:rPr lang="en-US" sz="950" b="1" dirty="0">
                <a:solidFill>
                  <a:srgbClr val="58A6FF"/>
                </a:solidFill>
                <a:latin typeface="Consolas" pitchFamily="34" charset="0"/>
                <a:ea typeface="Consolas" pitchFamily="34" charset="-122"/>
                <a:cs typeface="Consolas" pitchFamily="34" charset="-120"/>
              </a:rPr>
              <a:t>L8</a:t>
            </a:r>
            <a:endParaRPr lang="en-US" sz="950" dirty="0"/>
          </a:p>
        </p:txBody>
      </p:sp>
      <p:sp>
        <p:nvSpPr>
          <p:cNvPr id="55" name="Text 53"/>
          <p:cNvSpPr/>
          <p:nvPr/>
        </p:nvSpPr>
        <p:spPr>
          <a:xfrm>
            <a:off x="4617720" y="2450592"/>
            <a:ext cx="3977640" cy="201168"/>
          </a:xfrm>
          <a:prstGeom prst="rect">
            <a:avLst/>
          </a:prstGeom>
          <a:noFill/>
          <a:ln/>
        </p:spPr>
        <p:txBody>
          <a:bodyPr wrap="square" lIns="0" tIns="0" rIns="0" bIns="0" rtlCol="0" anchor="ctr"/>
          <a:lstStyle/>
          <a:p>
            <a:pPr marL="0" indent="0">
              <a:buNone/>
            </a:pPr>
            <a:r>
              <a:rPr lang="en-US" sz="850" dirty="0">
                <a:solidFill>
                  <a:srgbClr val="8B949E"/>
                </a:solidFill>
                <a:latin typeface="Consolas" pitchFamily="34" charset="0"/>
                <a:ea typeface="Consolas" pitchFamily="34" charset="-122"/>
                <a:cs typeface="Consolas" pitchFamily="34" charset="-120"/>
              </a:rPr>
              <a:t>FUNC    SET    WHILE    IF    RETURN    ELSE    NEXT    END</a:t>
            </a:r>
            <a:endParaRPr lang="en-US" sz="850" dirty="0"/>
          </a:p>
        </p:txBody>
      </p:sp>
      <p:sp>
        <p:nvSpPr>
          <p:cNvPr id="56" name="Shape 54"/>
          <p:cNvSpPr/>
          <p:nvPr/>
        </p:nvSpPr>
        <p:spPr>
          <a:xfrm>
            <a:off x="4480560" y="2834640"/>
            <a:ext cx="4251960" cy="1581912"/>
          </a:xfrm>
          <a:prstGeom prst="rect">
            <a:avLst/>
          </a:prstGeom>
          <a:solidFill>
            <a:srgbClr val="161B26"/>
          </a:solidFill>
          <a:ln w="15240">
            <a:solidFill>
              <a:srgbClr val="BC8CFF"/>
            </a:solidFill>
            <a:prstDash val="solid"/>
          </a:ln>
          <a:effectLst>
            <a:outerShdw blurRad="177800" dist="38100" dir="8100000" algn="bl" rotWithShape="0">
              <a:srgbClr val="000000">
                <a:alpha val="35000"/>
              </a:srgbClr>
            </a:outerShdw>
          </a:effectLst>
        </p:spPr>
        <p:txBody>
          <a:bodyPr/>
          <a:lstStyle/>
          <a:p>
            <a:endParaRPr lang="en-US"/>
          </a:p>
        </p:txBody>
      </p:sp>
      <p:sp>
        <p:nvSpPr>
          <p:cNvPr id="57" name="Shape 55"/>
          <p:cNvSpPr/>
          <p:nvPr/>
        </p:nvSpPr>
        <p:spPr>
          <a:xfrm>
            <a:off x="4480560" y="2834640"/>
            <a:ext cx="4251960" cy="329184"/>
          </a:xfrm>
          <a:prstGeom prst="rect">
            <a:avLst/>
          </a:prstGeom>
          <a:solidFill>
            <a:srgbClr val="BC8CFF">
              <a:alpha val="78000"/>
            </a:srgbClr>
          </a:solidFill>
          <a:ln w="12700">
            <a:solidFill>
              <a:srgbClr val="BC8CFF"/>
            </a:solidFill>
            <a:prstDash val="solid"/>
          </a:ln>
        </p:spPr>
        <p:txBody>
          <a:bodyPr/>
          <a:lstStyle/>
          <a:p>
            <a:endParaRPr lang="en-US"/>
          </a:p>
        </p:txBody>
      </p:sp>
      <p:sp>
        <p:nvSpPr>
          <p:cNvPr id="58" name="Text 56"/>
          <p:cNvSpPr/>
          <p:nvPr/>
        </p:nvSpPr>
        <p:spPr>
          <a:xfrm>
            <a:off x="4617720" y="2880360"/>
            <a:ext cx="397764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Reading the Code</a:t>
            </a:r>
            <a:endParaRPr lang="en-US" sz="1100" dirty="0"/>
          </a:p>
        </p:txBody>
      </p:sp>
      <p:sp>
        <p:nvSpPr>
          <p:cNvPr id="75" name="Text 73"/>
          <p:cNvSpPr/>
          <p:nvPr/>
        </p:nvSpPr>
        <p:spPr>
          <a:xfrm>
            <a:off x="4617720" y="3977640"/>
            <a:ext cx="3977640" cy="329184"/>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The arrow ← means "assign". The colon : marks the start of a block. Indentation shows what belongs to the WHILE loop and IF check.</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VISUAL TRACE</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Watching Linear Search Run</a:t>
            </a:r>
            <a:endParaRPr lang="en-US" sz="2800" dirty="0"/>
          </a:p>
        </p:txBody>
      </p:sp>
      <p:sp>
        <p:nvSpPr>
          <p:cNvPr id="6" name="Text 4"/>
          <p:cNvSpPr/>
          <p:nvPr/>
        </p:nvSpPr>
        <p:spPr>
          <a:xfrm>
            <a:off x="457200" y="877824"/>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Searching the list  [4, 2, 7, 1, 9, 3, 8, 5]  for the target value  7</a:t>
            </a:r>
            <a:endParaRPr lang="en-US" sz="1300" dirty="0"/>
          </a:p>
        </p:txBody>
      </p:sp>
      <p:sp>
        <p:nvSpPr>
          <p:cNvPr id="7" name="Shape 5"/>
          <p:cNvSpPr/>
          <p:nvPr/>
        </p:nvSpPr>
        <p:spPr>
          <a:xfrm>
            <a:off x="411480" y="1170432"/>
            <a:ext cx="2048256" cy="3749040"/>
          </a:xfrm>
          <a:prstGeom prst="rect">
            <a:avLst/>
          </a:prstGeom>
          <a:solidFill>
            <a:srgbClr val="161B26"/>
          </a:solidFill>
          <a:ln w="15240">
            <a:solidFill>
              <a:srgbClr val="58A6FF"/>
            </a:solidFill>
            <a:prstDash val="solid"/>
          </a:ln>
          <a:effectLst>
            <a:outerShdw blurRad="177800" dist="38100" dir="8100000" algn="bl" rotWithShape="0">
              <a:srgbClr val="000000">
                <a:alpha val="35000"/>
              </a:srgbClr>
            </a:outerShdw>
          </a:effectLst>
        </p:spPr>
        <p:txBody>
          <a:bodyPr/>
          <a:lstStyle/>
          <a:p>
            <a:endParaRPr lang="en-US"/>
          </a:p>
        </p:txBody>
      </p:sp>
      <p:sp>
        <p:nvSpPr>
          <p:cNvPr id="8" name="Shape 6"/>
          <p:cNvSpPr/>
          <p:nvPr/>
        </p:nvSpPr>
        <p:spPr>
          <a:xfrm>
            <a:off x="411480" y="1170432"/>
            <a:ext cx="2048256" cy="329184"/>
          </a:xfrm>
          <a:prstGeom prst="rect">
            <a:avLst/>
          </a:prstGeom>
          <a:solidFill>
            <a:srgbClr val="58A6FF">
              <a:alpha val="78000"/>
            </a:srgbClr>
          </a:solidFill>
          <a:ln w="12700">
            <a:solidFill>
              <a:srgbClr val="58A6FF"/>
            </a:solidFill>
            <a:prstDash val="solid"/>
          </a:ln>
        </p:spPr>
        <p:txBody>
          <a:bodyPr/>
          <a:lstStyle/>
          <a:p>
            <a:endParaRPr lang="en-US"/>
          </a:p>
        </p:txBody>
      </p:sp>
      <p:sp>
        <p:nvSpPr>
          <p:cNvPr id="9" name="Text 7"/>
          <p:cNvSpPr/>
          <p:nvPr/>
        </p:nvSpPr>
        <p:spPr>
          <a:xfrm>
            <a:off x="502920" y="1207008"/>
            <a:ext cx="1865376" cy="25603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  Start (index = 0, target = 7)</a:t>
            </a:r>
            <a:endParaRPr lang="en-US" sz="1000" dirty="0"/>
          </a:p>
        </p:txBody>
      </p:sp>
      <p:sp>
        <p:nvSpPr>
          <p:cNvPr id="10" name="Shape 8"/>
          <p:cNvSpPr/>
          <p:nvPr/>
        </p:nvSpPr>
        <p:spPr>
          <a:xfrm>
            <a:off x="502920" y="1572768"/>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11" name="Text 9"/>
          <p:cNvSpPr/>
          <p:nvPr/>
        </p:nvSpPr>
        <p:spPr>
          <a:xfrm>
            <a:off x="502920" y="1572768"/>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4</a:t>
            </a:r>
            <a:endParaRPr lang="en-US" sz="900" dirty="0"/>
          </a:p>
        </p:txBody>
      </p:sp>
      <p:sp>
        <p:nvSpPr>
          <p:cNvPr id="12" name="Text 10"/>
          <p:cNvSpPr/>
          <p:nvPr/>
        </p:nvSpPr>
        <p:spPr>
          <a:xfrm>
            <a:off x="1014984" y="160020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position 0 ← here</a:t>
            </a:r>
            <a:endParaRPr lang="en-US" sz="950" dirty="0"/>
          </a:p>
        </p:txBody>
      </p:sp>
      <p:sp>
        <p:nvSpPr>
          <p:cNvPr id="13" name="Shape 11"/>
          <p:cNvSpPr/>
          <p:nvPr/>
        </p:nvSpPr>
        <p:spPr>
          <a:xfrm>
            <a:off x="502920" y="1965960"/>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14" name="Text 12"/>
          <p:cNvSpPr/>
          <p:nvPr/>
        </p:nvSpPr>
        <p:spPr>
          <a:xfrm>
            <a:off x="502920" y="1965960"/>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2</a:t>
            </a:r>
            <a:endParaRPr lang="en-US" sz="900" dirty="0"/>
          </a:p>
        </p:txBody>
      </p:sp>
      <p:sp>
        <p:nvSpPr>
          <p:cNvPr id="15" name="Text 13"/>
          <p:cNvSpPr/>
          <p:nvPr/>
        </p:nvSpPr>
        <p:spPr>
          <a:xfrm>
            <a:off x="1014984" y="199339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position 1</a:t>
            </a:r>
            <a:endParaRPr lang="en-US" sz="950" dirty="0"/>
          </a:p>
        </p:txBody>
      </p:sp>
      <p:sp>
        <p:nvSpPr>
          <p:cNvPr id="16" name="Shape 14"/>
          <p:cNvSpPr/>
          <p:nvPr/>
        </p:nvSpPr>
        <p:spPr>
          <a:xfrm>
            <a:off x="502920" y="2359152"/>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17" name="Text 15"/>
          <p:cNvSpPr/>
          <p:nvPr/>
        </p:nvSpPr>
        <p:spPr>
          <a:xfrm>
            <a:off x="502920" y="2359152"/>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7</a:t>
            </a:r>
            <a:endParaRPr lang="en-US" sz="900" dirty="0"/>
          </a:p>
        </p:txBody>
      </p:sp>
      <p:sp>
        <p:nvSpPr>
          <p:cNvPr id="18" name="Text 16"/>
          <p:cNvSpPr/>
          <p:nvPr/>
        </p:nvSpPr>
        <p:spPr>
          <a:xfrm>
            <a:off x="1014984" y="238658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position 2</a:t>
            </a:r>
            <a:endParaRPr lang="en-US" sz="950" dirty="0"/>
          </a:p>
        </p:txBody>
      </p:sp>
      <p:sp>
        <p:nvSpPr>
          <p:cNvPr id="19" name="Shape 17"/>
          <p:cNvSpPr/>
          <p:nvPr/>
        </p:nvSpPr>
        <p:spPr>
          <a:xfrm>
            <a:off x="502920" y="2752344"/>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20" name="Text 18"/>
          <p:cNvSpPr/>
          <p:nvPr/>
        </p:nvSpPr>
        <p:spPr>
          <a:xfrm>
            <a:off x="502920" y="2752344"/>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1</a:t>
            </a:r>
            <a:endParaRPr lang="en-US" sz="900" dirty="0"/>
          </a:p>
        </p:txBody>
      </p:sp>
      <p:sp>
        <p:nvSpPr>
          <p:cNvPr id="21" name="Text 19"/>
          <p:cNvSpPr/>
          <p:nvPr/>
        </p:nvSpPr>
        <p:spPr>
          <a:xfrm>
            <a:off x="1014984" y="2779776"/>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position 3</a:t>
            </a:r>
            <a:endParaRPr lang="en-US" sz="950" dirty="0"/>
          </a:p>
        </p:txBody>
      </p:sp>
      <p:sp>
        <p:nvSpPr>
          <p:cNvPr id="22" name="Shape 20"/>
          <p:cNvSpPr/>
          <p:nvPr/>
        </p:nvSpPr>
        <p:spPr>
          <a:xfrm>
            <a:off x="502920" y="3145536"/>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23" name="Text 21"/>
          <p:cNvSpPr/>
          <p:nvPr/>
        </p:nvSpPr>
        <p:spPr>
          <a:xfrm>
            <a:off x="502920" y="3145536"/>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9</a:t>
            </a:r>
            <a:endParaRPr lang="en-US" sz="900" dirty="0"/>
          </a:p>
        </p:txBody>
      </p:sp>
      <p:sp>
        <p:nvSpPr>
          <p:cNvPr id="24" name="Text 22"/>
          <p:cNvSpPr/>
          <p:nvPr/>
        </p:nvSpPr>
        <p:spPr>
          <a:xfrm>
            <a:off x="1014984" y="3172968"/>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position 4</a:t>
            </a:r>
            <a:endParaRPr lang="en-US" sz="950" dirty="0"/>
          </a:p>
        </p:txBody>
      </p:sp>
      <p:sp>
        <p:nvSpPr>
          <p:cNvPr id="25" name="Shape 23"/>
          <p:cNvSpPr/>
          <p:nvPr/>
        </p:nvSpPr>
        <p:spPr>
          <a:xfrm>
            <a:off x="502920" y="3538728"/>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26" name="Text 24"/>
          <p:cNvSpPr/>
          <p:nvPr/>
        </p:nvSpPr>
        <p:spPr>
          <a:xfrm>
            <a:off x="502920" y="3538728"/>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3</a:t>
            </a:r>
            <a:endParaRPr lang="en-US" sz="900" dirty="0"/>
          </a:p>
        </p:txBody>
      </p:sp>
      <p:sp>
        <p:nvSpPr>
          <p:cNvPr id="27" name="Text 25"/>
          <p:cNvSpPr/>
          <p:nvPr/>
        </p:nvSpPr>
        <p:spPr>
          <a:xfrm>
            <a:off x="1014984" y="356616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position 5</a:t>
            </a:r>
            <a:endParaRPr lang="en-US" sz="950" dirty="0"/>
          </a:p>
        </p:txBody>
      </p:sp>
      <p:sp>
        <p:nvSpPr>
          <p:cNvPr id="28" name="Shape 26"/>
          <p:cNvSpPr/>
          <p:nvPr/>
        </p:nvSpPr>
        <p:spPr>
          <a:xfrm>
            <a:off x="502920" y="3931920"/>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29" name="Text 27"/>
          <p:cNvSpPr/>
          <p:nvPr/>
        </p:nvSpPr>
        <p:spPr>
          <a:xfrm>
            <a:off x="502920" y="3931920"/>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8</a:t>
            </a:r>
            <a:endParaRPr lang="en-US" sz="900" dirty="0"/>
          </a:p>
        </p:txBody>
      </p:sp>
      <p:sp>
        <p:nvSpPr>
          <p:cNvPr id="30" name="Text 28"/>
          <p:cNvSpPr/>
          <p:nvPr/>
        </p:nvSpPr>
        <p:spPr>
          <a:xfrm>
            <a:off x="1014984" y="395935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position 6</a:t>
            </a:r>
            <a:endParaRPr lang="en-US" sz="950" dirty="0"/>
          </a:p>
        </p:txBody>
      </p:sp>
      <p:sp>
        <p:nvSpPr>
          <p:cNvPr id="31" name="Shape 29"/>
          <p:cNvSpPr/>
          <p:nvPr/>
        </p:nvSpPr>
        <p:spPr>
          <a:xfrm>
            <a:off x="502920" y="4325112"/>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32" name="Text 30"/>
          <p:cNvSpPr/>
          <p:nvPr/>
        </p:nvSpPr>
        <p:spPr>
          <a:xfrm>
            <a:off x="502920" y="4325112"/>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5</a:t>
            </a:r>
            <a:endParaRPr lang="en-US" sz="900" dirty="0"/>
          </a:p>
        </p:txBody>
      </p:sp>
      <p:sp>
        <p:nvSpPr>
          <p:cNvPr id="33" name="Text 31"/>
          <p:cNvSpPr/>
          <p:nvPr/>
        </p:nvSpPr>
        <p:spPr>
          <a:xfrm>
            <a:off x="1014984" y="435254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position 7</a:t>
            </a:r>
            <a:endParaRPr lang="en-US" sz="950" dirty="0"/>
          </a:p>
        </p:txBody>
      </p:sp>
      <p:sp>
        <p:nvSpPr>
          <p:cNvPr id="34" name="Shape 32"/>
          <p:cNvSpPr/>
          <p:nvPr/>
        </p:nvSpPr>
        <p:spPr>
          <a:xfrm>
            <a:off x="2587752" y="1170432"/>
            <a:ext cx="2048256" cy="3749040"/>
          </a:xfrm>
          <a:prstGeom prst="rect">
            <a:avLst/>
          </a:prstGeom>
          <a:solidFill>
            <a:srgbClr val="161B26"/>
          </a:solidFill>
          <a:ln w="15240">
            <a:solidFill>
              <a:srgbClr val="BC8CFF"/>
            </a:solidFill>
            <a:prstDash val="solid"/>
          </a:ln>
          <a:effectLst>
            <a:outerShdw blurRad="177800" dist="38100" dir="8100000" algn="bl" rotWithShape="0">
              <a:srgbClr val="000000">
                <a:alpha val="35000"/>
              </a:srgbClr>
            </a:outerShdw>
          </a:effectLst>
        </p:spPr>
        <p:txBody>
          <a:bodyPr/>
          <a:lstStyle/>
          <a:p>
            <a:endParaRPr lang="en-US"/>
          </a:p>
        </p:txBody>
      </p:sp>
      <p:sp>
        <p:nvSpPr>
          <p:cNvPr id="35" name="Shape 33"/>
          <p:cNvSpPr/>
          <p:nvPr/>
        </p:nvSpPr>
        <p:spPr>
          <a:xfrm>
            <a:off x="2587752" y="1170432"/>
            <a:ext cx="2048256" cy="329184"/>
          </a:xfrm>
          <a:prstGeom prst="rect">
            <a:avLst/>
          </a:prstGeom>
          <a:solidFill>
            <a:srgbClr val="BC8CFF">
              <a:alpha val="78000"/>
            </a:srgbClr>
          </a:solidFill>
          <a:ln w="12700">
            <a:solidFill>
              <a:srgbClr val="BC8CFF"/>
            </a:solidFill>
            <a:prstDash val="solid"/>
          </a:ln>
        </p:spPr>
        <p:txBody>
          <a:bodyPr/>
          <a:lstStyle/>
          <a:p>
            <a:endParaRPr lang="en-US"/>
          </a:p>
        </p:txBody>
      </p:sp>
      <p:sp>
        <p:nvSpPr>
          <p:cNvPr id="36" name="Text 34"/>
          <p:cNvSpPr/>
          <p:nvPr/>
        </p:nvSpPr>
        <p:spPr>
          <a:xfrm>
            <a:off x="2679192" y="1207008"/>
            <a:ext cx="1865376" cy="25603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1️⃣  Iteration 1: list[0] = 4. Is 4 = 7? NO → advance</a:t>
            </a:r>
            <a:endParaRPr lang="en-US" sz="1000" dirty="0"/>
          </a:p>
        </p:txBody>
      </p:sp>
      <p:sp>
        <p:nvSpPr>
          <p:cNvPr id="37" name="Shape 35"/>
          <p:cNvSpPr/>
          <p:nvPr/>
        </p:nvSpPr>
        <p:spPr>
          <a:xfrm>
            <a:off x="2679192" y="1572768"/>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38" name="Text 36"/>
          <p:cNvSpPr/>
          <p:nvPr/>
        </p:nvSpPr>
        <p:spPr>
          <a:xfrm>
            <a:off x="2679192" y="1572768"/>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4</a:t>
            </a:r>
            <a:endParaRPr lang="en-US" sz="900" dirty="0"/>
          </a:p>
        </p:txBody>
      </p:sp>
      <p:sp>
        <p:nvSpPr>
          <p:cNvPr id="39" name="Text 37"/>
          <p:cNvSpPr/>
          <p:nvPr/>
        </p:nvSpPr>
        <p:spPr>
          <a:xfrm>
            <a:off x="3191256" y="160020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checked, no match</a:t>
            </a:r>
            <a:endParaRPr lang="en-US" sz="950" dirty="0"/>
          </a:p>
        </p:txBody>
      </p:sp>
      <p:sp>
        <p:nvSpPr>
          <p:cNvPr id="40" name="Shape 38"/>
          <p:cNvSpPr/>
          <p:nvPr/>
        </p:nvSpPr>
        <p:spPr>
          <a:xfrm>
            <a:off x="2679192" y="1965960"/>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41" name="Text 39"/>
          <p:cNvSpPr/>
          <p:nvPr/>
        </p:nvSpPr>
        <p:spPr>
          <a:xfrm>
            <a:off x="2679192" y="1965960"/>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2</a:t>
            </a:r>
            <a:endParaRPr lang="en-US" sz="900" dirty="0"/>
          </a:p>
        </p:txBody>
      </p:sp>
      <p:sp>
        <p:nvSpPr>
          <p:cNvPr id="42" name="Text 40"/>
          <p:cNvSpPr/>
          <p:nvPr/>
        </p:nvSpPr>
        <p:spPr>
          <a:xfrm>
            <a:off x="3191256" y="199339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next ← here</a:t>
            </a:r>
            <a:endParaRPr lang="en-US" sz="950" dirty="0"/>
          </a:p>
        </p:txBody>
      </p:sp>
      <p:sp>
        <p:nvSpPr>
          <p:cNvPr id="43" name="Shape 41"/>
          <p:cNvSpPr/>
          <p:nvPr/>
        </p:nvSpPr>
        <p:spPr>
          <a:xfrm>
            <a:off x="2679192" y="2359152"/>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44" name="Text 42"/>
          <p:cNvSpPr/>
          <p:nvPr/>
        </p:nvSpPr>
        <p:spPr>
          <a:xfrm>
            <a:off x="2679192" y="2359152"/>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7</a:t>
            </a:r>
            <a:endParaRPr lang="en-US" sz="900" dirty="0"/>
          </a:p>
        </p:txBody>
      </p:sp>
      <p:sp>
        <p:nvSpPr>
          <p:cNvPr id="45" name="Text 43"/>
          <p:cNvSpPr/>
          <p:nvPr/>
        </p:nvSpPr>
        <p:spPr>
          <a:xfrm>
            <a:off x="3191256" y="238658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not yet visited</a:t>
            </a:r>
            <a:endParaRPr lang="en-US" sz="950" dirty="0"/>
          </a:p>
        </p:txBody>
      </p:sp>
      <p:sp>
        <p:nvSpPr>
          <p:cNvPr id="46" name="Shape 44"/>
          <p:cNvSpPr/>
          <p:nvPr/>
        </p:nvSpPr>
        <p:spPr>
          <a:xfrm>
            <a:off x="2679192" y="2752344"/>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47" name="Text 45"/>
          <p:cNvSpPr/>
          <p:nvPr/>
        </p:nvSpPr>
        <p:spPr>
          <a:xfrm>
            <a:off x="2679192" y="2752344"/>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1</a:t>
            </a:r>
            <a:endParaRPr lang="en-US" sz="900" dirty="0"/>
          </a:p>
        </p:txBody>
      </p:sp>
      <p:sp>
        <p:nvSpPr>
          <p:cNvPr id="48" name="Text 46"/>
          <p:cNvSpPr/>
          <p:nvPr/>
        </p:nvSpPr>
        <p:spPr>
          <a:xfrm>
            <a:off x="3191256" y="2779776"/>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not yet visited</a:t>
            </a:r>
            <a:endParaRPr lang="en-US" sz="950" dirty="0"/>
          </a:p>
        </p:txBody>
      </p:sp>
      <p:sp>
        <p:nvSpPr>
          <p:cNvPr id="49" name="Shape 47"/>
          <p:cNvSpPr/>
          <p:nvPr/>
        </p:nvSpPr>
        <p:spPr>
          <a:xfrm>
            <a:off x="2679192" y="3145536"/>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50" name="Text 48"/>
          <p:cNvSpPr/>
          <p:nvPr/>
        </p:nvSpPr>
        <p:spPr>
          <a:xfrm>
            <a:off x="2679192" y="3145536"/>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9</a:t>
            </a:r>
            <a:endParaRPr lang="en-US" sz="900" dirty="0"/>
          </a:p>
        </p:txBody>
      </p:sp>
      <p:sp>
        <p:nvSpPr>
          <p:cNvPr id="51" name="Text 49"/>
          <p:cNvSpPr/>
          <p:nvPr/>
        </p:nvSpPr>
        <p:spPr>
          <a:xfrm>
            <a:off x="3191256" y="3172968"/>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not yet visited</a:t>
            </a:r>
            <a:endParaRPr lang="en-US" sz="950" dirty="0"/>
          </a:p>
        </p:txBody>
      </p:sp>
      <p:sp>
        <p:nvSpPr>
          <p:cNvPr id="52" name="Shape 50"/>
          <p:cNvSpPr/>
          <p:nvPr/>
        </p:nvSpPr>
        <p:spPr>
          <a:xfrm>
            <a:off x="2679192" y="3538728"/>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53" name="Text 51"/>
          <p:cNvSpPr/>
          <p:nvPr/>
        </p:nvSpPr>
        <p:spPr>
          <a:xfrm>
            <a:off x="2679192" y="3538728"/>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3</a:t>
            </a:r>
            <a:endParaRPr lang="en-US" sz="900" dirty="0"/>
          </a:p>
        </p:txBody>
      </p:sp>
      <p:sp>
        <p:nvSpPr>
          <p:cNvPr id="54" name="Text 52"/>
          <p:cNvSpPr/>
          <p:nvPr/>
        </p:nvSpPr>
        <p:spPr>
          <a:xfrm>
            <a:off x="3191256" y="356616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not yet visited</a:t>
            </a:r>
            <a:endParaRPr lang="en-US" sz="950" dirty="0"/>
          </a:p>
        </p:txBody>
      </p:sp>
      <p:sp>
        <p:nvSpPr>
          <p:cNvPr id="55" name="Shape 53"/>
          <p:cNvSpPr/>
          <p:nvPr/>
        </p:nvSpPr>
        <p:spPr>
          <a:xfrm>
            <a:off x="2679192" y="3931920"/>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56" name="Text 54"/>
          <p:cNvSpPr/>
          <p:nvPr/>
        </p:nvSpPr>
        <p:spPr>
          <a:xfrm>
            <a:off x="2679192" y="3931920"/>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8</a:t>
            </a:r>
            <a:endParaRPr lang="en-US" sz="900" dirty="0"/>
          </a:p>
        </p:txBody>
      </p:sp>
      <p:sp>
        <p:nvSpPr>
          <p:cNvPr id="57" name="Text 55"/>
          <p:cNvSpPr/>
          <p:nvPr/>
        </p:nvSpPr>
        <p:spPr>
          <a:xfrm>
            <a:off x="3191256" y="395935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not yet visited</a:t>
            </a:r>
            <a:endParaRPr lang="en-US" sz="950" dirty="0"/>
          </a:p>
        </p:txBody>
      </p:sp>
      <p:sp>
        <p:nvSpPr>
          <p:cNvPr id="58" name="Shape 56"/>
          <p:cNvSpPr/>
          <p:nvPr/>
        </p:nvSpPr>
        <p:spPr>
          <a:xfrm>
            <a:off x="2679192" y="4325112"/>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59" name="Text 57"/>
          <p:cNvSpPr/>
          <p:nvPr/>
        </p:nvSpPr>
        <p:spPr>
          <a:xfrm>
            <a:off x="2679192" y="4325112"/>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5</a:t>
            </a:r>
            <a:endParaRPr lang="en-US" sz="900" dirty="0"/>
          </a:p>
        </p:txBody>
      </p:sp>
      <p:sp>
        <p:nvSpPr>
          <p:cNvPr id="60" name="Text 58"/>
          <p:cNvSpPr/>
          <p:nvPr/>
        </p:nvSpPr>
        <p:spPr>
          <a:xfrm>
            <a:off x="3191256" y="435254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not yet visited</a:t>
            </a:r>
            <a:endParaRPr lang="en-US" sz="950" dirty="0"/>
          </a:p>
        </p:txBody>
      </p:sp>
      <p:sp>
        <p:nvSpPr>
          <p:cNvPr id="61" name="Shape 59"/>
          <p:cNvSpPr/>
          <p:nvPr/>
        </p:nvSpPr>
        <p:spPr>
          <a:xfrm>
            <a:off x="4764024" y="1170432"/>
            <a:ext cx="2048256" cy="3749040"/>
          </a:xfrm>
          <a:prstGeom prst="rect">
            <a:avLst/>
          </a:prstGeom>
          <a:solidFill>
            <a:srgbClr val="161B26"/>
          </a:solidFill>
          <a:ln w="15240">
            <a:solidFill>
              <a:srgbClr val="FFA657"/>
            </a:solidFill>
            <a:prstDash val="solid"/>
          </a:ln>
          <a:effectLst>
            <a:outerShdw blurRad="177800" dist="38100" dir="8100000" algn="bl" rotWithShape="0">
              <a:srgbClr val="000000">
                <a:alpha val="35000"/>
              </a:srgbClr>
            </a:outerShdw>
          </a:effectLst>
        </p:spPr>
        <p:txBody>
          <a:bodyPr/>
          <a:lstStyle/>
          <a:p>
            <a:endParaRPr lang="en-US"/>
          </a:p>
        </p:txBody>
      </p:sp>
      <p:sp>
        <p:nvSpPr>
          <p:cNvPr id="62" name="Shape 60"/>
          <p:cNvSpPr/>
          <p:nvPr/>
        </p:nvSpPr>
        <p:spPr>
          <a:xfrm>
            <a:off x="4764024" y="1170432"/>
            <a:ext cx="2048256" cy="329184"/>
          </a:xfrm>
          <a:prstGeom prst="rect">
            <a:avLst/>
          </a:prstGeom>
          <a:solidFill>
            <a:srgbClr val="FFA657">
              <a:alpha val="78000"/>
            </a:srgbClr>
          </a:solidFill>
          <a:ln w="12700">
            <a:solidFill>
              <a:srgbClr val="FFA657"/>
            </a:solidFill>
            <a:prstDash val="solid"/>
          </a:ln>
        </p:spPr>
        <p:txBody>
          <a:bodyPr/>
          <a:lstStyle/>
          <a:p>
            <a:endParaRPr lang="en-US"/>
          </a:p>
        </p:txBody>
      </p:sp>
      <p:sp>
        <p:nvSpPr>
          <p:cNvPr id="63" name="Text 61"/>
          <p:cNvSpPr/>
          <p:nvPr/>
        </p:nvSpPr>
        <p:spPr>
          <a:xfrm>
            <a:off x="4855464" y="1207008"/>
            <a:ext cx="1865376" cy="25603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2️⃣  Iteration 2: list[1] = 2. Is 2 = 7? NO → advance</a:t>
            </a:r>
            <a:endParaRPr lang="en-US" sz="1000" dirty="0"/>
          </a:p>
        </p:txBody>
      </p:sp>
      <p:sp>
        <p:nvSpPr>
          <p:cNvPr id="64" name="Shape 62"/>
          <p:cNvSpPr/>
          <p:nvPr/>
        </p:nvSpPr>
        <p:spPr>
          <a:xfrm>
            <a:off x="4855464" y="1572768"/>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65" name="Text 63"/>
          <p:cNvSpPr/>
          <p:nvPr/>
        </p:nvSpPr>
        <p:spPr>
          <a:xfrm>
            <a:off x="4855464" y="1572768"/>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4</a:t>
            </a:r>
            <a:endParaRPr lang="en-US" sz="900" dirty="0"/>
          </a:p>
        </p:txBody>
      </p:sp>
      <p:sp>
        <p:nvSpPr>
          <p:cNvPr id="66" name="Text 64"/>
          <p:cNvSpPr/>
          <p:nvPr/>
        </p:nvSpPr>
        <p:spPr>
          <a:xfrm>
            <a:off x="5367528" y="160020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checked, no match</a:t>
            </a:r>
            <a:endParaRPr lang="en-US" sz="950" dirty="0"/>
          </a:p>
        </p:txBody>
      </p:sp>
      <p:sp>
        <p:nvSpPr>
          <p:cNvPr id="67" name="Shape 65"/>
          <p:cNvSpPr/>
          <p:nvPr/>
        </p:nvSpPr>
        <p:spPr>
          <a:xfrm>
            <a:off x="4855464" y="1965960"/>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68" name="Text 66"/>
          <p:cNvSpPr/>
          <p:nvPr/>
        </p:nvSpPr>
        <p:spPr>
          <a:xfrm>
            <a:off x="4855464" y="1965960"/>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2</a:t>
            </a:r>
            <a:endParaRPr lang="en-US" sz="900" dirty="0"/>
          </a:p>
        </p:txBody>
      </p:sp>
      <p:sp>
        <p:nvSpPr>
          <p:cNvPr id="69" name="Text 67"/>
          <p:cNvSpPr/>
          <p:nvPr/>
        </p:nvSpPr>
        <p:spPr>
          <a:xfrm>
            <a:off x="5367528" y="199339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checked, no match</a:t>
            </a:r>
            <a:endParaRPr lang="en-US" sz="950" dirty="0"/>
          </a:p>
        </p:txBody>
      </p:sp>
      <p:sp>
        <p:nvSpPr>
          <p:cNvPr id="70" name="Shape 68"/>
          <p:cNvSpPr/>
          <p:nvPr/>
        </p:nvSpPr>
        <p:spPr>
          <a:xfrm>
            <a:off x="4855464" y="2359152"/>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71" name="Text 69"/>
          <p:cNvSpPr/>
          <p:nvPr/>
        </p:nvSpPr>
        <p:spPr>
          <a:xfrm>
            <a:off x="4855464" y="2359152"/>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7</a:t>
            </a:r>
            <a:endParaRPr lang="en-US" sz="900" dirty="0"/>
          </a:p>
        </p:txBody>
      </p:sp>
      <p:sp>
        <p:nvSpPr>
          <p:cNvPr id="72" name="Text 70"/>
          <p:cNvSpPr/>
          <p:nvPr/>
        </p:nvSpPr>
        <p:spPr>
          <a:xfrm>
            <a:off x="5367528" y="238658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next ← here</a:t>
            </a:r>
            <a:endParaRPr lang="en-US" sz="950" dirty="0"/>
          </a:p>
        </p:txBody>
      </p:sp>
      <p:sp>
        <p:nvSpPr>
          <p:cNvPr id="73" name="Shape 71"/>
          <p:cNvSpPr/>
          <p:nvPr/>
        </p:nvSpPr>
        <p:spPr>
          <a:xfrm>
            <a:off x="4855464" y="2752344"/>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74" name="Text 72"/>
          <p:cNvSpPr/>
          <p:nvPr/>
        </p:nvSpPr>
        <p:spPr>
          <a:xfrm>
            <a:off x="4855464" y="2752344"/>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1</a:t>
            </a:r>
            <a:endParaRPr lang="en-US" sz="900" dirty="0"/>
          </a:p>
        </p:txBody>
      </p:sp>
      <p:sp>
        <p:nvSpPr>
          <p:cNvPr id="75" name="Text 73"/>
          <p:cNvSpPr/>
          <p:nvPr/>
        </p:nvSpPr>
        <p:spPr>
          <a:xfrm>
            <a:off x="5367528" y="2779776"/>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not yet visited</a:t>
            </a:r>
            <a:endParaRPr lang="en-US" sz="950" dirty="0"/>
          </a:p>
        </p:txBody>
      </p:sp>
      <p:sp>
        <p:nvSpPr>
          <p:cNvPr id="76" name="Shape 74"/>
          <p:cNvSpPr/>
          <p:nvPr/>
        </p:nvSpPr>
        <p:spPr>
          <a:xfrm>
            <a:off x="4855464" y="3145536"/>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77" name="Text 75"/>
          <p:cNvSpPr/>
          <p:nvPr/>
        </p:nvSpPr>
        <p:spPr>
          <a:xfrm>
            <a:off x="4855464" y="3145536"/>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9</a:t>
            </a:r>
            <a:endParaRPr lang="en-US" sz="900" dirty="0"/>
          </a:p>
        </p:txBody>
      </p:sp>
      <p:sp>
        <p:nvSpPr>
          <p:cNvPr id="78" name="Text 76"/>
          <p:cNvSpPr/>
          <p:nvPr/>
        </p:nvSpPr>
        <p:spPr>
          <a:xfrm>
            <a:off x="5367528" y="3172968"/>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not yet visited</a:t>
            </a:r>
            <a:endParaRPr lang="en-US" sz="950" dirty="0"/>
          </a:p>
        </p:txBody>
      </p:sp>
      <p:sp>
        <p:nvSpPr>
          <p:cNvPr id="79" name="Shape 77"/>
          <p:cNvSpPr/>
          <p:nvPr/>
        </p:nvSpPr>
        <p:spPr>
          <a:xfrm>
            <a:off x="4855464" y="3538728"/>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80" name="Text 78"/>
          <p:cNvSpPr/>
          <p:nvPr/>
        </p:nvSpPr>
        <p:spPr>
          <a:xfrm>
            <a:off x="4855464" y="3538728"/>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3</a:t>
            </a:r>
            <a:endParaRPr lang="en-US" sz="900" dirty="0"/>
          </a:p>
        </p:txBody>
      </p:sp>
      <p:sp>
        <p:nvSpPr>
          <p:cNvPr id="81" name="Text 79"/>
          <p:cNvSpPr/>
          <p:nvPr/>
        </p:nvSpPr>
        <p:spPr>
          <a:xfrm>
            <a:off x="5367528" y="356616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not yet visited</a:t>
            </a:r>
            <a:endParaRPr lang="en-US" sz="950" dirty="0"/>
          </a:p>
        </p:txBody>
      </p:sp>
      <p:sp>
        <p:nvSpPr>
          <p:cNvPr id="82" name="Shape 80"/>
          <p:cNvSpPr/>
          <p:nvPr/>
        </p:nvSpPr>
        <p:spPr>
          <a:xfrm>
            <a:off x="4855464" y="3931920"/>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83" name="Text 81"/>
          <p:cNvSpPr/>
          <p:nvPr/>
        </p:nvSpPr>
        <p:spPr>
          <a:xfrm>
            <a:off x="4855464" y="3931920"/>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8</a:t>
            </a:r>
            <a:endParaRPr lang="en-US" sz="900" dirty="0"/>
          </a:p>
        </p:txBody>
      </p:sp>
      <p:sp>
        <p:nvSpPr>
          <p:cNvPr id="84" name="Text 82"/>
          <p:cNvSpPr/>
          <p:nvPr/>
        </p:nvSpPr>
        <p:spPr>
          <a:xfrm>
            <a:off x="5367528" y="395935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not yet visited</a:t>
            </a:r>
            <a:endParaRPr lang="en-US" sz="950" dirty="0"/>
          </a:p>
        </p:txBody>
      </p:sp>
      <p:sp>
        <p:nvSpPr>
          <p:cNvPr id="85" name="Shape 83"/>
          <p:cNvSpPr/>
          <p:nvPr/>
        </p:nvSpPr>
        <p:spPr>
          <a:xfrm>
            <a:off x="4855464" y="4325112"/>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86" name="Text 84"/>
          <p:cNvSpPr/>
          <p:nvPr/>
        </p:nvSpPr>
        <p:spPr>
          <a:xfrm>
            <a:off x="4855464" y="4325112"/>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5</a:t>
            </a:r>
            <a:endParaRPr lang="en-US" sz="900" dirty="0"/>
          </a:p>
        </p:txBody>
      </p:sp>
      <p:sp>
        <p:nvSpPr>
          <p:cNvPr id="87" name="Text 85"/>
          <p:cNvSpPr/>
          <p:nvPr/>
        </p:nvSpPr>
        <p:spPr>
          <a:xfrm>
            <a:off x="5367528" y="435254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not yet visited</a:t>
            </a:r>
            <a:endParaRPr lang="en-US" sz="950" dirty="0"/>
          </a:p>
        </p:txBody>
      </p:sp>
      <p:sp>
        <p:nvSpPr>
          <p:cNvPr id="88" name="Shape 86"/>
          <p:cNvSpPr/>
          <p:nvPr/>
        </p:nvSpPr>
        <p:spPr>
          <a:xfrm>
            <a:off x="6940296" y="1170432"/>
            <a:ext cx="2048256" cy="3749040"/>
          </a:xfrm>
          <a:prstGeom prst="rect">
            <a:avLst/>
          </a:prstGeom>
          <a:solidFill>
            <a:srgbClr val="161B26"/>
          </a:solidFill>
          <a:ln w="15240">
            <a:solidFill>
              <a:srgbClr val="3FB950"/>
            </a:solidFill>
            <a:prstDash val="solid"/>
          </a:ln>
          <a:effectLst>
            <a:outerShdw blurRad="177800" dist="38100" dir="8100000" algn="bl" rotWithShape="0">
              <a:srgbClr val="000000">
                <a:alpha val="35000"/>
              </a:srgbClr>
            </a:outerShdw>
          </a:effectLst>
        </p:spPr>
        <p:txBody>
          <a:bodyPr/>
          <a:lstStyle/>
          <a:p>
            <a:endParaRPr lang="en-US"/>
          </a:p>
        </p:txBody>
      </p:sp>
      <p:sp>
        <p:nvSpPr>
          <p:cNvPr id="89" name="Shape 87"/>
          <p:cNvSpPr/>
          <p:nvPr/>
        </p:nvSpPr>
        <p:spPr>
          <a:xfrm>
            <a:off x="6940296" y="1170432"/>
            <a:ext cx="2048256" cy="329184"/>
          </a:xfrm>
          <a:prstGeom prst="rect">
            <a:avLst/>
          </a:prstGeom>
          <a:solidFill>
            <a:srgbClr val="3FB950">
              <a:alpha val="78000"/>
            </a:srgbClr>
          </a:solidFill>
          <a:ln w="12700">
            <a:solidFill>
              <a:srgbClr val="3FB950"/>
            </a:solidFill>
            <a:prstDash val="solid"/>
          </a:ln>
        </p:spPr>
        <p:txBody>
          <a:bodyPr/>
          <a:lstStyle/>
          <a:p>
            <a:endParaRPr lang="en-US"/>
          </a:p>
        </p:txBody>
      </p:sp>
      <p:sp>
        <p:nvSpPr>
          <p:cNvPr id="90" name="Text 88"/>
          <p:cNvSpPr/>
          <p:nvPr/>
        </p:nvSpPr>
        <p:spPr>
          <a:xfrm>
            <a:off x="7031736" y="1207008"/>
            <a:ext cx="1865376" cy="25603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3️⃣  Iteration 3: list[2] = 7. Is 7 = 7? YES → RETURN 2 ✅</a:t>
            </a:r>
            <a:endParaRPr lang="en-US" sz="1000" dirty="0"/>
          </a:p>
        </p:txBody>
      </p:sp>
      <p:sp>
        <p:nvSpPr>
          <p:cNvPr id="91" name="Shape 89"/>
          <p:cNvSpPr/>
          <p:nvPr/>
        </p:nvSpPr>
        <p:spPr>
          <a:xfrm>
            <a:off x="7031736" y="1572768"/>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92" name="Text 90"/>
          <p:cNvSpPr/>
          <p:nvPr/>
        </p:nvSpPr>
        <p:spPr>
          <a:xfrm>
            <a:off x="7031736" y="1572768"/>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4</a:t>
            </a:r>
            <a:endParaRPr lang="en-US" sz="900" dirty="0"/>
          </a:p>
        </p:txBody>
      </p:sp>
      <p:sp>
        <p:nvSpPr>
          <p:cNvPr id="93" name="Text 91"/>
          <p:cNvSpPr/>
          <p:nvPr/>
        </p:nvSpPr>
        <p:spPr>
          <a:xfrm>
            <a:off x="7543800" y="160020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checked, no match</a:t>
            </a:r>
            <a:endParaRPr lang="en-US" sz="950" dirty="0"/>
          </a:p>
        </p:txBody>
      </p:sp>
      <p:sp>
        <p:nvSpPr>
          <p:cNvPr id="94" name="Shape 92"/>
          <p:cNvSpPr/>
          <p:nvPr/>
        </p:nvSpPr>
        <p:spPr>
          <a:xfrm>
            <a:off x="7031736" y="1965960"/>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95" name="Text 93"/>
          <p:cNvSpPr/>
          <p:nvPr/>
        </p:nvSpPr>
        <p:spPr>
          <a:xfrm>
            <a:off x="7031736" y="1965960"/>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2</a:t>
            </a:r>
            <a:endParaRPr lang="en-US" sz="900" dirty="0"/>
          </a:p>
        </p:txBody>
      </p:sp>
      <p:sp>
        <p:nvSpPr>
          <p:cNvPr id="96" name="Text 94"/>
          <p:cNvSpPr/>
          <p:nvPr/>
        </p:nvSpPr>
        <p:spPr>
          <a:xfrm>
            <a:off x="7543800" y="199339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checked, no match</a:t>
            </a:r>
            <a:endParaRPr lang="en-US" sz="950" dirty="0"/>
          </a:p>
        </p:txBody>
      </p:sp>
      <p:sp>
        <p:nvSpPr>
          <p:cNvPr id="97" name="Shape 95"/>
          <p:cNvSpPr/>
          <p:nvPr/>
        </p:nvSpPr>
        <p:spPr>
          <a:xfrm>
            <a:off x="7031736" y="2359152"/>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98" name="Text 96"/>
          <p:cNvSpPr/>
          <p:nvPr/>
        </p:nvSpPr>
        <p:spPr>
          <a:xfrm>
            <a:off x="7031736" y="2359152"/>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7</a:t>
            </a:r>
            <a:endParaRPr lang="en-US" sz="900" dirty="0"/>
          </a:p>
        </p:txBody>
      </p:sp>
      <p:sp>
        <p:nvSpPr>
          <p:cNvPr id="99" name="Text 97"/>
          <p:cNvSpPr/>
          <p:nvPr/>
        </p:nvSpPr>
        <p:spPr>
          <a:xfrm>
            <a:off x="7543800" y="238658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MATCH! return 2</a:t>
            </a:r>
            <a:endParaRPr lang="en-US" sz="950" dirty="0"/>
          </a:p>
        </p:txBody>
      </p:sp>
      <p:sp>
        <p:nvSpPr>
          <p:cNvPr id="100" name="Shape 98"/>
          <p:cNvSpPr/>
          <p:nvPr/>
        </p:nvSpPr>
        <p:spPr>
          <a:xfrm>
            <a:off x="7031736" y="2752344"/>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101" name="Text 99"/>
          <p:cNvSpPr/>
          <p:nvPr/>
        </p:nvSpPr>
        <p:spPr>
          <a:xfrm>
            <a:off x="7031736" y="2752344"/>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1</a:t>
            </a:r>
            <a:endParaRPr lang="en-US" sz="900" dirty="0"/>
          </a:p>
        </p:txBody>
      </p:sp>
      <p:sp>
        <p:nvSpPr>
          <p:cNvPr id="102" name="Text 100"/>
          <p:cNvSpPr/>
          <p:nvPr/>
        </p:nvSpPr>
        <p:spPr>
          <a:xfrm>
            <a:off x="7543800" y="2779776"/>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never visited</a:t>
            </a:r>
            <a:endParaRPr lang="en-US" sz="950" dirty="0"/>
          </a:p>
        </p:txBody>
      </p:sp>
      <p:sp>
        <p:nvSpPr>
          <p:cNvPr id="103" name="Shape 101"/>
          <p:cNvSpPr/>
          <p:nvPr/>
        </p:nvSpPr>
        <p:spPr>
          <a:xfrm>
            <a:off x="7031736" y="3145536"/>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104" name="Text 102"/>
          <p:cNvSpPr/>
          <p:nvPr/>
        </p:nvSpPr>
        <p:spPr>
          <a:xfrm>
            <a:off x="7031736" y="3145536"/>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9</a:t>
            </a:r>
            <a:endParaRPr lang="en-US" sz="900" dirty="0"/>
          </a:p>
        </p:txBody>
      </p:sp>
      <p:sp>
        <p:nvSpPr>
          <p:cNvPr id="105" name="Text 103"/>
          <p:cNvSpPr/>
          <p:nvPr/>
        </p:nvSpPr>
        <p:spPr>
          <a:xfrm>
            <a:off x="7543800" y="3172968"/>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never visited</a:t>
            </a:r>
            <a:endParaRPr lang="en-US" sz="950" dirty="0"/>
          </a:p>
        </p:txBody>
      </p:sp>
      <p:sp>
        <p:nvSpPr>
          <p:cNvPr id="106" name="Shape 104"/>
          <p:cNvSpPr/>
          <p:nvPr/>
        </p:nvSpPr>
        <p:spPr>
          <a:xfrm>
            <a:off x="7031736" y="3538728"/>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107" name="Text 105"/>
          <p:cNvSpPr/>
          <p:nvPr/>
        </p:nvSpPr>
        <p:spPr>
          <a:xfrm>
            <a:off x="7031736" y="3538728"/>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3</a:t>
            </a:r>
            <a:endParaRPr lang="en-US" sz="900" dirty="0"/>
          </a:p>
        </p:txBody>
      </p:sp>
      <p:sp>
        <p:nvSpPr>
          <p:cNvPr id="108" name="Text 106"/>
          <p:cNvSpPr/>
          <p:nvPr/>
        </p:nvSpPr>
        <p:spPr>
          <a:xfrm>
            <a:off x="7543800" y="356616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never visited</a:t>
            </a:r>
            <a:endParaRPr lang="en-US" sz="950" dirty="0"/>
          </a:p>
        </p:txBody>
      </p:sp>
      <p:sp>
        <p:nvSpPr>
          <p:cNvPr id="109" name="Shape 107"/>
          <p:cNvSpPr/>
          <p:nvPr/>
        </p:nvSpPr>
        <p:spPr>
          <a:xfrm>
            <a:off x="7031736" y="3931920"/>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110" name="Text 108"/>
          <p:cNvSpPr/>
          <p:nvPr/>
        </p:nvSpPr>
        <p:spPr>
          <a:xfrm>
            <a:off x="7031736" y="3931920"/>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8</a:t>
            </a:r>
            <a:endParaRPr lang="en-US" sz="900" dirty="0"/>
          </a:p>
        </p:txBody>
      </p:sp>
      <p:sp>
        <p:nvSpPr>
          <p:cNvPr id="111" name="Text 109"/>
          <p:cNvSpPr/>
          <p:nvPr/>
        </p:nvSpPr>
        <p:spPr>
          <a:xfrm>
            <a:off x="7543800" y="395935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never visited</a:t>
            </a:r>
            <a:endParaRPr lang="en-US" sz="950" dirty="0"/>
          </a:p>
        </p:txBody>
      </p:sp>
      <p:sp>
        <p:nvSpPr>
          <p:cNvPr id="112" name="Shape 110"/>
          <p:cNvSpPr/>
          <p:nvPr/>
        </p:nvSpPr>
        <p:spPr>
          <a:xfrm>
            <a:off x="7031736" y="4325112"/>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113" name="Text 111"/>
          <p:cNvSpPr/>
          <p:nvPr/>
        </p:nvSpPr>
        <p:spPr>
          <a:xfrm>
            <a:off x="7031736" y="4325112"/>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5</a:t>
            </a:r>
            <a:endParaRPr lang="en-US" sz="900" dirty="0"/>
          </a:p>
        </p:txBody>
      </p:sp>
      <p:sp>
        <p:nvSpPr>
          <p:cNvPr id="114" name="Text 112"/>
          <p:cNvSpPr/>
          <p:nvPr/>
        </p:nvSpPr>
        <p:spPr>
          <a:xfrm>
            <a:off x="7543800" y="435254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never visited</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WORKED EXAMPLE</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Worked Example — Searching a Names List</a:t>
            </a:r>
            <a:endParaRPr lang="en-US" sz="2800" dirty="0"/>
          </a:p>
        </p:txBody>
      </p:sp>
      <p:sp>
        <p:nvSpPr>
          <p:cNvPr id="6" name="Text 4"/>
          <p:cNvSpPr/>
          <p:nvPr/>
        </p:nvSpPr>
        <p:spPr>
          <a:xfrm>
            <a:off x="457200" y="868680"/>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Find "Khalid" in ["Sara", "Omar", "Lina", "Khalid", "Hessa"] — every step, every variable</a:t>
            </a:r>
            <a:endParaRPr lang="en-US" sz="1300" dirty="0"/>
          </a:p>
        </p:txBody>
      </p:sp>
      <p:sp>
        <p:nvSpPr>
          <p:cNvPr id="7" name="Shape 5"/>
          <p:cNvSpPr/>
          <p:nvPr/>
        </p:nvSpPr>
        <p:spPr>
          <a:xfrm>
            <a:off x="411480" y="1170432"/>
            <a:ext cx="8321040" cy="1371600"/>
          </a:xfrm>
          <a:prstGeom prst="rect">
            <a:avLst/>
          </a:prstGeom>
          <a:solidFill>
            <a:srgbClr val="161B26"/>
          </a:solidFill>
          <a:ln w="1524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8" name="Shape 6"/>
          <p:cNvSpPr/>
          <p:nvPr/>
        </p:nvSpPr>
        <p:spPr>
          <a:xfrm>
            <a:off x="411480" y="1170432"/>
            <a:ext cx="8321040" cy="329184"/>
          </a:xfrm>
          <a:prstGeom prst="rect">
            <a:avLst/>
          </a:prstGeom>
          <a:solidFill>
            <a:srgbClr val="3FD9C4">
              <a:alpha val="78000"/>
            </a:srgbClr>
          </a:solidFill>
          <a:ln w="12700">
            <a:solidFill>
              <a:srgbClr val="3FD9C4"/>
            </a:solidFill>
            <a:prstDash val="solid"/>
          </a:ln>
        </p:spPr>
        <p:txBody>
          <a:bodyPr/>
          <a:lstStyle/>
          <a:p>
            <a:endParaRPr lang="en-US"/>
          </a:p>
        </p:txBody>
      </p:sp>
      <p:sp>
        <p:nvSpPr>
          <p:cNvPr id="9" name="Text 7"/>
          <p:cNvSpPr/>
          <p:nvPr/>
        </p:nvSpPr>
        <p:spPr>
          <a:xfrm>
            <a:off x="548640" y="1216152"/>
            <a:ext cx="804672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The Search Pipeline</a:t>
            </a:r>
            <a:endParaRPr lang="en-US" sz="1100" dirty="0"/>
          </a:p>
        </p:txBody>
      </p:sp>
      <p:sp>
        <p:nvSpPr>
          <p:cNvPr id="10" name="Shape 8"/>
          <p:cNvSpPr/>
          <p:nvPr/>
        </p:nvSpPr>
        <p:spPr>
          <a:xfrm>
            <a:off x="548640" y="1591056"/>
            <a:ext cx="1261872" cy="658368"/>
          </a:xfrm>
          <a:prstGeom prst="rect">
            <a:avLst/>
          </a:prstGeom>
          <a:solidFill>
            <a:srgbClr val="3FD9C4">
              <a:alpha val="28000"/>
            </a:srgbClr>
          </a:solidFill>
          <a:ln w="15240">
            <a:solidFill>
              <a:srgbClr val="3FD9C4"/>
            </a:solidFill>
            <a:prstDash val="solid"/>
          </a:ln>
        </p:spPr>
        <p:txBody>
          <a:bodyPr/>
          <a:lstStyle/>
          <a:p>
            <a:endParaRPr lang="en-US"/>
          </a:p>
        </p:txBody>
      </p:sp>
      <p:sp>
        <p:nvSpPr>
          <p:cNvPr id="11" name="Text 9"/>
          <p:cNvSpPr/>
          <p:nvPr/>
        </p:nvSpPr>
        <p:spPr>
          <a:xfrm>
            <a:off x="548640" y="1591056"/>
            <a:ext cx="1261872" cy="658368"/>
          </a:xfrm>
          <a:prstGeom prst="rect">
            <a:avLst/>
          </a:prstGeom>
          <a:noFill/>
          <a:ln/>
        </p:spPr>
        <p:txBody>
          <a:bodyPr wrap="square" lIns="0" tIns="0" rIns="0" bIns="0" rtlCol="0" anchor="ctr"/>
          <a:lstStyle/>
          <a:p>
            <a:pPr marL="0" indent="0" algn="ctr">
              <a:buNone/>
            </a:pPr>
            <a:r>
              <a:rPr lang="en-US" sz="950" b="1" dirty="0">
                <a:solidFill>
                  <a:srgbClr val="3FD9C4"/>
                </a:solidFill>
                <a:latin typeface="Calibri" pitchFamily="34" charset="0"/>
                <a:ea typeface="Calibri" pitchFamily="34" charset="-122"/>
                <a:cs typeface="Calibri" pitchFamily="34" charset="-120"/>
              </a:rPr>
              <a:t>Sara (idx 0)</a:t>
            </a:r>
            <a:endParaRPr lang="en-US" sz="950" dirty="0"/>
          </a:p>
        </p:txBody>
      </p:sp>
      <p:sp>
        <p:nvSpPr>
          <p:cNvPr id="12" name="Shape 10"/>
          <p:cNvSpPr/>
          <p:nvPr/>
        </p:nvSpPr>
        <p:spPr>
          <a:xfrm>
            <a:off x="1810512" y="1847088"/>
            <a:ext cx="128016" cy="146304"/>
          </a:xfrm>
          <a:prstGeom prst="rect">
            <a:avLst/>
          </a:prstGeom>
          <a:solidFill>
            <a:srgbClr val="F0F6FC">
              <a:alpha val="60000"/>
            </a:srgbClr>
          </a:solidFill>
          <a:ln w="12700">
            <a:solidFill>
              <a:srgbClr val="F0F6FC">
                <a:alpha val="60000"/>
              </a:srgbClr>
            </a:solidFill>
            <a:prstDash val="solid"/>
          </a:ln>
        </p:spPr>
        <p:txBody>
          <a:bodyPr/>
          <a:lstStyle/>
          <a:p>
            <a:endParaRPr lang="en-US"/>
          </a:p>
        </p:txBody>
      </p:sp>
      <p:sp>
        <p:nvSpPr>
          <p:cNvPr id="13" name="Shape 11"/>
          <p:cNvSpPr/>
          <p:nvPr/>
        </p:nvSpPr>
        <p:spPr>
          <a:xfrm>
            <a:off x="1938528" y="1591056"/>
            <a:ext cx="1261872" cy="658368"/>
          </a:xfrm>
          <a:prstGeom prst="rect">
            <a:avLst/>
          </a:prstGeom>
          <a:solidFill>
            <a:srgbClr val="58A6FF">
              <a:alpha val="28000"/>
            </a:srgbClr>
          </a:solidFill>
          <a:ln w="15240">
            <a:solidFill>
              <a:srgbClr val="58A6FF"/>
            </a:solidFill>
            <a:prstDash val="solid"/>
          </a:ln>
        </p:spPr>
        <p:txBody>
          <a:bodyPr/>
          <a:lstStyle/>
          <a:p>
            <a:endParaRPr lang="en-US"/>
          </a:p>
        </p:txBody>
      </p:sp>
      <p:sp>
        <p:nvSpPr>
          <p:cNvPr id="14" name="Text 12"/>
          <p:cNvSpPr/>
          <p:nvPr/>
        </p:nvSpPr>
        <p:spPr>
          <a:xfrm>
            <a:off x="1938528" y="1591056"/>
            <a:ext cx="1261872" cy="658368"/>
          </a:xfrm>
          <a:prstGeom prst="rect">
            <a:avLst/>
          </a:prstGeom>
          <a:noFill/>
          <a:ln/>
        </p:spPr>
        <p:txBody>
          <a:bodyPr wrap="square" lIns="0" tIns="0" rIns="0" bIns="0" rtlCol="0" anchor="ctr"/>
          <a:lstStyle/>
          <a:p>
            <a:pPr marL="0" indent="0" algn="ctr">
              <a:buNone/>
            </a:pPr>
            <a:r>
              <a:rPr lang="en-US" sz="950" b="1" dirty="0">
                <a:solidFill>
                  <a:srgbClr val="58A6FF"/>
                </a:solidFill>
                <a:latin typeface="Calibri" pitchFamily="34" charset="0"/>
                <a:ea typeface="Calibri" pitchFamily="34" charset="-122"/>
                <a:cs typeface="Calibri" pitchFamily="34" charset="-120"/>
              </a:rPr>
              <a:t>Omar (idx 1)</a:t>
            </a:r>
            <a:endParaRPr lang="en-US" sz="950" dirty="0"/>
          </a:p>
        </p:txBody>
      </p:sp>
      <p:sp>
        <p:nvSpPr>
          <p:cNvPr id="15" name="Shape 13"/>
          <p:cNvSpPr/>
          <p:nvPr/>
        </p:nvSpPr>
        <p:spPr>
          <a:xfrm>
            <a:off x="3200400" y="1847088"/>
            <a:ext cx="128016" cy="146304"/>
          </a:xfrm>
          <a:prstGeom prst="rect">
            <a:avLst/>
          </a:prstGeom>
          <a:solidFill>
            <a:srgbClr val="F0F6FC">
              <a:alpha val="60000"/>
            </a:srgbClr>
          </a:solidFill>
          <a:ln w="12700">
            <a:solidFill>
              <a:srgbClr val="F0F6FC">
                <a:alpha val="60000"/>
              </a:srgbClr>
            </a:solidFill>
            <a:prstDash val="solid"/>
          </a:ln>
        </p:spPr>
        <p:txBody>
          <a:bodyPr/>
          <a:lstStyle/>
          <a:p>
            <a:endParaRPr lang="en-US"/>
          </a:p>
        </p:txBody>
      </p:sp>
      <p:sp>
        <p:nvSpPr>
          <p:cNvPr id="16" name="Shape 14"/>
          <p:cNvSpPr/>
          <p:nvPr/>
        </p:nvSpPr>
        <p:spPr>
          <a:xfrm>
            <a:off x="3328416" y="1591056"/>
            <a:ext cx="1261872" cy="658368"/>
          </a:xfrm>
          <a:prstGeom prst="rect">
            <a:avLst/>
          </a:prstGeom>
          <a:solidFill>
            <a:srgbClr val="BC8CFF">
              <a:alpha val="28000"/>
            </a:srgbClr>
          </a:solidFill>
          <a:ln w="15240">
            <a:solidFill>
              <a:srgbClr val="BC8CFF"/>
            </a:solidFill>
            <a:prstDash val="solid"/>
          </a:ln>
        </p:spPr>
        <p:txBody>
          <a:bodyPr/>
          <a:lstStyle/>
          <a:p>
            <a:endParaRPr lang="en-US"/>
          </a:p>
        </p:txBody>
      </p:sp>
      <p:sp>
        <p:nvSpPr>
          <p:cNvPr id="17" name="Text 15"/>
          <p:cNvSpPr/>
          <p:nvPr/>
        </p:nvSpPr>
        <p:spPr>
          <a:xfrm>
            <a:off x="3328416" y="1591056"/>
            <a:ext cx="1261872" cy="658368"/>
          </a:xfrm>
          <a:prstGeom prst="rect">
            <a:avLst/>
          </a:prstGeom>
          <a:noFill/>
          <a:ln/>
        </p:spPr>
        <p:txBody>
          <a:bodyPr wrap="square" lIns="0" tIns="0" rIns="0" bIns="0" rtlCol="0" anchor="ctr"/>
          <a:lstStyle/>
          <a:p>
            <a:pPr marL="0" indent="0" algn="ctr">
              <a:buNone/>
            </a:pPr>
            <a:r>
              <a:rPr lang="en-US" sz="950" b="1" dirty="0">
                <a:solidFill>
                  <a:srgbClr val="BC8CFF"/>
                </a:solidFill>
                <a:latin typeface="Calibri" pitchFamily="34" charset="0"/>
                <a:ea typeface="Calibri" pitchFamily="34" charset="-122"/>
                <a:cs typeface="Calibri" pitchFamily="34" charset="-120"/>
              </a:rPr>
              <a:t>Lina (idx 2)</a:t>
            </a:r>
            <a:endParaRPr lang="en-US" sz="950" dirty="0"/>
          </a:p>
        </p:txBody>
      </p:sp>
      <p:sp>
        <p:nvSpPr>
          <p:cNvPr id="18" name="Shape 16"/>
          <p:cNvSpPr/>
          <p:nvPr/>
        </p:nvSpPr>
        <p:spPr>
          <a:xfrm>
            <a:off x="4590288" y="1847088"/>
            <a:ext cx="128016" cy="146304"/>
          </a:xfrm>
          <a:prstGeom prst="rect">
            <a:avLst/>
          </a:prstGeom>
          <a:solidFill>
            <a:srgbClr val="F0F6FC">
              <a:alpha val="60000"/>
            </a:srgbClr>
          </a:solidFill>
          <a:ln w="12700">
            <a:solidFill>
              <a:srgbClr val="F0F6FC">
                <a:alpha val="60000"/>
              </a:srgbClr>
            </a:solidFill>
            <a:prstDash val="solid"/>
          </a:ln>
        </p:spPr>
        <p:txBody>
          <a:bodyPr/>
          <a:lstStyle/>
          <a:p>
            <a:endParaRPr lang="en-US"/>
          </a:p>
        </p:txBody>
      </p:sp>
      <p:sp>
        <p:nvSpPr>
          <p:cNvPr id="19" name="Shape 17"/>
          <p:cNvSpPr/>
          <p:nvPr/>
        </p:nvSpPr>
        <p:spPr>
          <a:xfrm>
            <a:off x="4718304" y="1591056"/>
            <a:ext cx="1261872" cy="658368"/>
          </a:xfrm>
          <a:prstGeom prst="rect">
            <a:avLst/>
          </a:prstGeom>
          <a:solidFill>
            <a:srgbClr val="FFA657">
              <a:alpha val="28000"/>
            </a:srgbClr>
          </a:solidFill>
          <a:ln w="15240">
            <a:solidFill>
              <a:srgbClr val="FFA657"/>
            </a:solidFill>
            <a:prstDash val="solid"/>
          </a:ln>
        </p:spPr>
        <p:txBody>
          <a:bodyPr/>
          <a:lstStyle/>
          <a:p>
            <a:endParaRPr lang="en-US"/>
          </a:p>
        </p:txBody>
      </p:sp>
      <p:sp>
        <p:nvSpPr>
          <p:cNvPr id="20" name="Text 18"/>
          <p:cNvSpPr/>
          <p:nvPr/>
        </p:nvSpPr>
        <p:spPr>
          <a:xfrm>
            <a:off x="4718304" y="1591056"/>
            <a:ext cx="1261872" cy="658368"/>
          </a:xfrm>
          <a:prstGeom prst="rect">
            <a:avLst/>
          </a:prstGeom>
          <a:noFill/>
          <a:ln/>
        </p:spPr>
        <p:txBody>
          <a:bodyPr wrap="square" lIns="0" tIns="0" rIns="0" bIns="0" rtlCol="0" anchor="ctr"/>
          <a:lstStyle/>
          <a:p>
            <a:pPr marL="0" indent="0" algn="ctr">
              <a:buNone/>
            </a:pPr>
            <a:r>
              <a:rPr lang="en-US" sz="950" b="1" dirty="0">
                <a:solidFill>
                  <a:srgbClr val="FFA657"/>
                </a:solidFill>
                <a:latin typeface="Calibri" pitchFamily="34" charset="0"/>
                <a:ea typeface="Calibri" pitchFamily="34" charset="-122"/>
                <a:cs typeface="Calibri" pitchFamily="34" charset="-120"/>
              </a:rPr>
              <a:t>Khalid ✅</a:t>
            </a:r>
            <a:endParaRPr lang="en-US" sz="950" dirty="0"/>
          </a:p>
        </p:txBody>
      </p:sp>
      <p:sp>
        <p:nvSpPr>
          <p:cNvPr id="21" name="Shape 19"/>
          <p:cNvSpPr/>
          <p:nvPr/>
        </p:nvSpPr>
        <p:spPr>
          <a:xfrm>
            <a:off x="5980176" y="1847088"/>
            <a:ext cx="128016" cy="146304"/>
          </a:xfrm>
          <a:prstGeom prst="rect">
            <a:avLst/>
          </a:prstGeom>
          <a:solidFill>
            <a:srgbClr val="F0F6FC">
              <a:alpha val="60000"/>
            </a:srgbClr>
          </a:solidFill>
          <a:ln w="12700">
            <a:solidFill>
              <a:srgbClr val="F0F6FC">
                <a:alpha val="60000"/>
              </a:srgbClr>
            </a:solidFill>
            <a:prstDash val="solid"/>
          </a:ln>
        </p:spPr>
        <p:txBody>
          <a:bodyPr/>
          <a:lstStyle/>
          <a:p>
            <a:endParaRPr lang="en-US"/>
          </a:p>
        </p:txBody>
      </p:sp>
      <p:sp>
        <p:nvSpPr>
          <p:cNvPr id="22" name="Shape 20"/>
          <p:cNvSpPr/>
          <p:nvPr/>
        </p:nvSpPr>
        <p:spPr>
          <a:xfrm>
            <a:off x="6108192" y="1591056"/>
            <a:ext cx="1261872" cy="658368"/>
          </a:xfrm>
          <a:prstGeom prst="rect">
            <a:avLst/>
          </a:prstGeom>
          <a:solidFill>
            <a:srgbClr val="E3B341">
              <a:alpha val="28000"/>
            </a:srgbClr>
          </a:solidFill>
          <a:ln w="15240">
            <a:solidFill>
              <a:srgbClr val="E3B341"/>
            </a:solidFill>
            <a:prstDash val="solid"/>
          </a:ln>
        </p:spPr>
        <p:txBody>
          <a:bodyPr/>
          <a:lstStyle/>
          <a:p>
            <a:endParaRPr lang="en-US"/>
          </a:p>
        </p:txBody>
      </p:sp>
      <p:sp>
        <p:nvSpPr>
          <p:cNvPr id="23" name="Text 21"/>
          <p:cNvSpPr/>
          <p:nvPr/>
        </p:nvSpPr>
        <p:spPr>
          <a:xfrm>
            <a:off x="6108192" y="1591056"/>
            <a:ext cx="1261872" cy="658368"/>
          </a:xfrm>
          <a:prstGeom prst="rect">
            <a:avLst/>
          </a:prstGeom>
          <a:noFill/>
          <a:ln/>
        </p:spPr>
        <p:txBody>
          <a:bodyPr wrap="square" lIns="0" tIns="0" rIns="0" bIns="0" rtlCol="0" anchor="ctr"/>
          <a:lstStyle/>
          <a:p>
            <a:pPr marL="0" indent="0" algn="ctr">
              <a:buNone/>
            </a:pPr>
            <a:r>
              <a:rPr lang="en-US" sz="950" b="1" dirty="0">
                <a:solidFill>
                  <a:srgbClr val="E3B341"/>
                </a:solidFill>
                <a:latin typeface="Calibri" pitchFamily="34" charset="0"/>
                <a:ea typeface="Calibri" pitchFamily="34" charset="-122"/>
                <a:cs typeface="Calibri" pitchFamily="34" charset="-120"/>
              </a:rPr>
              <a:t>(skipped)</a:t>
            </a:r>
            <a:endParaRPr lang="en-US" sz="950" dirty="0"/>
          </a:p>
        </p:txBody>
      </p:sp>
      <p:sp>
        <p:nvSpPr>
          <p:cNvPr id="24" name="Shape 22"/>
          <p:cNvSpPr/>
          <p:nvPr/>
        </p:nvSpPr>
        <p:spPr>
          <a:xfrm>
            <a:off x="7370064" y="1847088"/>
            <a:ext cx="128016" cy="146304"/>
          </a:xfrm>
          <a:prstGeom prst="rect">
            <a:avLst/>
          </a:prstGeom>
          <a:solidFill>
            <a:srgbClr val="F0F6FC">
              <a:alpha val="60000"/>
            </a:srgbClr>
          </a:solidFill>
          <a:ln w="12700">
            <a:solidFill>
              <a:srgbClr val="F0F6FC">
                <a:alpha val="60000"/>
              </a:srgbClr>
            </a:solidFill>
            <a:prstDash val="solid"/>
          </a:ln>
        </p:spPr>
        <p:txBody>
          <a:bodyPr/>
          <a:lstStyle/>
          <a:p>
            <a:endParaRPr lang="en-US"/>
          </a:p>
        </p:txBody>
      </p:sp>
      <p:sp>
        <p:nvSpPr>
          <p:cNvPr id="25" name="Shape 23"/>
          <p:cNvSpPr/>
          <p:nvPr/>
        </p:nvSpPr>
        <p:spPr>
          <a:xfrm>
            <a:off x="7498080" y="1591056"/>
            <a:ext cx="1261872" cy="658368"/>
          </a:xfrm>
          <a:prstGeom prst="rect">
            <a:avLst/>
          </a:prstGeom>
          <a:solidFill>
            <a:srgbClr val="3FB950">
              <a:alpha val="28000"/>
            </a:srgbClr>
          </a:solidFill>
          <a:ln w="15240">
            <a:solidFill>
              <a:srgbClr val="3FB950"/>
            </a:solidFill>
            <a:prstDash val="solid"/>
          </a:ln>
        </p:spPr>
        <p:txBody>
          <a:bodyPr/>
          <a:lstStyle/>
          <a:p>
            <a:endParaRPr lang="en-US"/>
          </a:p>
        </p:txBody>
      </p:sp>
      <p:sp>
        <p:nvSpPr>
          <p:cNvPr id="26" name="Text 24"/>
          <p:cNvSpPr/>
          <p:nvPr/>
        </p:nvSpPr>
        <p:spPr>
          <a:xfrm>
            <a:off x="7498080" y="1591056"/>
            <a:ext cx="1261872" cy="658368"/>
          </a:xfrm>
          <a:prstGeom prst="rect">
            <a:avLst/>
          </a:prstGeom>
          <a:noFill/>
          <a:ln/>
        </p:spPr>
        <p:txBody>
          <a:bodyPr wrap="square" lIns="0" tIns="0" rIns="0" bIns="0" rtlCol="0" anchor="ctr"/>
          <a:lstStyle/>
          <a:p>
            <a:pPr marL="0" indent="0" algn="ctr">
              <a:buNone/>
            </a:pPr>
            <a:r>
              <a:rPr lang="en-US" sz="950" b="1" dirty="0">
                <a:solidFill>
                  <a:srgbClr val="3FB950"/>
                </a:solidFill>
                <a:latin typeface="Calibri" pitchFamily="34" charset="0"/>
                <a:ea typeface="Calibri" pitchFamily="34" charset="-122"/>
                <a:cs typeface="Calibri" pitchFamily="34" charset="-120"/>
              </a:rPr>
              <a:t>RETURN 3</a:t>
            </a:r>
            <a:endParaRPr lang="en-US" sz="950" dirty="0"/>
          </a:p>
        </p:txBody>
      </p:sp>
      <p:sp>
        <p:nvSpPr>
          <p:cNvPr id="27" name="Shape 25"/>
          <p:cNvSpPr/>
          <p:nvPr/>
        </p:nvSpPr>
        <p:spPr>
          <a:xfrm>
            <a:off x="411480" y="2670048"/>
            <a:ext cx="4160520" cy="1755648"/>
          </a:xfrm>
          <a:prstGeom prst="rect">
            <a:avLst/>
          </a:prstGeom>
          <a:solidFill>
            <a:srgbClr val="161B26"/>
          </a:solidFill>
          <a:ln w="15240">
            <a:solidFill>
              <a:srgbClr val="58A6FF"/>
            </a:solidFill>
            <a:prstDash val="solid"/>
          </a:ln>
          <a:effectLst>
            <a:outerShdw blurRad="177800" dist="38100" dir="8100000" algn="bl" rotWithShape="0">
              <a:srgbClr val="000000">
                <a:alpha val="35000"/>
              </a:srgbClr>
            </a:outerShdw>
          </a:effectLst>
        </p:spPr>
        <p:txBody>
          <a:bodyPr/>
          <a:lstStyle/>
          <a:p>
            <a:endParaRPr lang="en-US"/>
          </a:p>
        </p:txBody>
      </p:sp>
      <p:sp>
        <p:nvSpPr>
          <p:cNvPr id="28" name="Shape 26"/>
          <p:cNvSpPr/>
          <p:nvPr/>
        </p:nvSpPr>
        <p:spPr>
          <a:xfrm>
            <a:off x="411480" y="2670048"/>
            <a:ext cx="4160520" cy="329184"/>
          </a:xfrm>
          <a:prstGeom prst="rect">
            <a:avLst/>
          </a:prstGeom>
          <a:solidFill>
            <a:srgbClr val="58A6FF">
              <a:alpha val="78000"/>
            </a:srgbClr>
          </a:solidFill>
          <a:ln w="12700">
            <a:solidFill>
              <a:srgbClr val="58A6FF"/>
            </a:solidFill>
            <a:prstDash val="solid"/>
          </a:ln>
        </p:spPr>
        <p:txBody>
          <a:bodyPr/>
          <a:lstStyle/>
          <a:p>
            <a:endParaRPr lang="en-US"/>
          </a:p>
        </p:txBody>
      </p:sp>
      <p:sp>
        <p:nvSpPr>
          <p:cNvPr id="29" name="Text 27"/>
          <p:cNvSpPr/>
          <p:nvPr/>
        </p:nvSpPr>
        <p:spPr>
          <a:xfrm>
            <a:off x="548640" y="2715768"/>
            <a:ext cx="3895344"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Step-by-Step Trace</a:t>
            </a:r>
            <a:endParaRPr lang="en-US" sz="1100" dirty="0"/>
          </a:p>
        </p:txBody>
      </p:sp>
      <p:sp>
        <p:nvSpPr>
          <p:cNvPr id="30" name="Text 28"/>
          <p:cNvSpPr/>
          <p:nvPr/>
        </p:nvSpPr>
        <p:spPr>
          <a:xfrm>
            <a:off x="548640" y="3017520"/>
            <a:ext cx="3895344" cy="201168"/>
          </a:xfrm>
          <a:prstGeom prst="rect">
            <a:avLst/>
          </a:prstGeom>
          <a:noFill/>
          <a:ln/>
        </p:spPr>
        <p:txBody>
          <a:bodyPr wrap="square" lIns="0" tIns="0" rIns="0" bIns="0" rtlCol="0" anchor="ctr"/>
          <a:lstStyle/>
          <a:p>
            <a:pPr marL="0" indent="0">
              <a:buNone/>
            </a:pPr>
            <a:r>
              <a:rPr lang="en-US" sz="950" dirty="0">
                <a:solidFill>
                  <a:srgbClr val="58A6FF"/>
                </a:solidFill>
                <a:latin typeface="Consolas" pitchFamily="34" charset="0"/>
                <a:ea typeface="Consolas" pitchFamily="34" charset="-122"/>
                <a:cs typeface="Consolas" pitchFamily="34" charset="-120"/>
              </a:rPr>
              <a:t>1. INPUT: list = ["Sara", "Omar", "Lina", "Khalid", "Hessa"]</a:t>
            </a:r>
            <a:endParaRPr lang="en-US" sz="950" dirty="0"/>
          </a:p>
        </p:txBody>
      </p:sp>
      <p:sp>
        <p:nvSpPr>
          <p:cNvPr id="31" name="Text 29"/>
          <p:cNvSpPr/>
          <p:nvPr/>
        </p:nvSpPr>
        <p:spPr>
          <a:xfrm>
            <a:off x="548640" y="3223260"/>
            <a:ext cx="3895344" cy="201168"/>
          </a:xfrm>
          <a:prstGeom prst="rect">
            <a:avLst/>
          </a:prstGeom>
          <a:noFill/>
          <a:ln/>
        </p:spPr>
        <p:txBody>
          <a:bodyPr wrap="square" lIns="0" tIns="0" rIns="0" bIns="0" rtlCol="0" anchor="ctr"/>
          <a:lstStyle/>
          <a:p>
            <a:pPr marL="0" indent="0">
              <a:buNone/>
            </a:pPr>
            <a:r>
              <a:rPr lang="en-US" sz="950" dirty="0">
                <a:solidFill>
                  <a:srgbClr val="F0F6FC"/>
                </a:solidFill>
                <a:latin typeface="Consolas" pitchFamily="34" charset="0"/>
                <a:ea typeface="Consolas" pitchFamily="34" charset="-122"/>
                <a:cs typeface="Consolas" pitchFamily="34" charset="-120"/>
              </a:rPr>
              <a:t>2. INPUT: target = "Khalid".   SET index ← 0</a:t>
            </a:r>
            <a:endParaRPr lang="en-US" sz="950" dirty="0"/>
          </a:p>
        </p:txBody>
      </p:sp>
      <p:sp>
        <p:nvSpPr>
          <p:cNvPr id="32" name="Text 30"/>
          <p:cNvSpPr/>
          <p:nvPr/>
        </p:nvSpPr>
        <p:spPr>
          <a:xfrm>
            <a:off x="548640" y="3429000"/>
            <a:ext cx="3895344" cy="201168"/>
          </a:xfrm>
          <a:prstGeom prst="rect">
            <a:avLst/>
          </a:prstGeom>
          <a:noFill/>
          <a:ln/>
        </p:spPr>
        <p:txBody>
          <a:bodyPr wrap="square" lIns="0" tIns="0" rIns="0" bIns="0" rtlCol="0" anchor="ctr"/>
          <a:lstStyle/>
          <a:p>
            <a:pPr marL="0" indent="0">
              <a:buNone/>
            </a:pPr>
            <a:r>
              <a:rPr lang="en-US" sz="950" dirty="0">
                <a:solidFill>
                  <a:srgbClr val="F0F6FC"/>
                </a:solidFill>
                <a:latin typeface="Consolas" pitchFamily="34" charset="0"/>
                <a:ea typeface="Consolas" pitchFamily="34" charset="-122"/>
                <a:cs typeface="Consolas" pitchFamily="34" charset="-120"/>
              </a:rPr>
              <a:t>3. index 0: list[0] = "Sara".   "Sara" = "Khalid"? NO</a:t>
            </a:r>
            <a:endParaRPr lang="en-US" sz="950" dirty="0"/>
          </a:p>
        </p:txBody>
      </p:sp>
      <p:sp>
        <p:nvSpPr>
          <p:cNvPr id="33" name="Text 31"/>
          <p:cNvSpPr/>
          <p:nvPr/>
        </p:nvSpPr>
        <p:spPr>
          <a:xfrm>
            <a:off x="548640" y="3634740"/>
            <a:ext cx="3895344" cy="201168"/>
          </a:xfrm>
          <a:prstGeom prst="rect">
            <a:avLst/>
          </a:prstGeom>
          <a:noFill/>
          <a:ln/>
        </p:spPr>
        <p:txBody>
          <a:bodyPr wrap="square" lIns="0" tIns="0" rIns="0" bIns="0" rtlCol="0" anchor="ctr"/>
          <a:lstStyle/>
          <a:p>
            <a:pPr marL="0" indent="0">
              <a:buNone/>
            </a:pPr>
            <a:r>
              <a:rPr lang="en-US" sz="950" dirty="0">
                <a:solidFill>
                  <a:srgbClr val="F0F6FC"/>
                </a:solidFill>
                <a:latin typeface="Consolas" pitchFamily="34" charset="0"/>
                <a:ea typeface="Consolas" pitchFamily="34" charset="-122"/>
                <a:cs typeface="Consolas" pitchFamily="34" charset="-120"/>
              </a:rPr>
              <a:t>4. index 1: list[1] = "Omar".   "Omar" = "Khalid"? NO</a:t>
            </a:r>
            <a:endParaRPr lang="en-US" sz="950" dirty="0"/>
          </a:p>
        </p:txBody>
      </p:sp>
      <p:sp>
        <p:nvSpPr>
          <p:cNvPr id="34" name="Text 32"/>
          <p:cNvSpPr/>
          <p:nvPr/>
        </p:nvSpPr>
        <p:spPr>
          <a:xfrm>
            <a:off x="548640" y="3840480"/>
            <a:ext cx="3895344" cy="201168"/>
          </a:xfrm>
          <a:prstGeom prst="rect">
            <a:avLst/>
          </a:prstGeom>
          <a:noFill/>
          <a:ln/>
        </p:spPr>
        <p:txBody>
          <a:bodyPr wrap="square" lIns="0" tIns="0" rIns="0" bIns="0" rtlCol="0" anchor="ctr"/>
          <a:lstStyle/>
          <a:p>
            <a:pPr marL="0" indent="0">
              <a:buNone/>
            </a:pPr>
            <a:r>
              <a:rPr lang="en-US" sz="950" dirty="0">
                <a:solidFill>
                  <a:srgbClr val="F0F6FC"/>
                </a:solidFill>
                <a:latin typeface="Consolas" pitchFamily="34" charset="0"/>
                <a:ea typeface="Consolas" pitchFamily="34" charset="-122"/>
                <a:cs typeface="Consolas" pitchFamily="34" charset="-120"/>
              </a:rPr>
              <a:t>5. index 2: list[2] = "Lina".   "Lina" = "Khalid"? NO</a:t>
            </a:r>
            <a:endParaRPr lang="en-US" sz="950" dirty="0"/>
          </a:p>
        </p:txBody>
      </p:sp>
      <p:sp>
        <p:nvSpPr>
          <p:cNvPr id="35" name="Text 33"/>
          <p:cNvSpPr/>
          <p:nvPr/>
        </p:nvSpPr>
        <p:spPr>
          <a:xfrm>
            <a:off x="548640" y="4046220"/>
            <a:ext cx="3895344" cy="201168"/>
          </a:xfrm>
          <a:prstGeom prst="rect">
            <a:avLst/>
          </a:prstGeom>
          <a:noFill/>
          <a:ln/>
        </p:spPr>
        <p:txBody>
          <a:bodyPr wrap="square" lIns="0" tIns="0" rIns="0" bIns="0" rtlCol="0" anchor="ctr"/>
          <a:lstStyle/>
          <a:p>
            <a:pPr marL="0" indent="0">
              <a:buNone/>
            </a:pPr>
            <a:r>
              <a:rPr lang="en-US" sz="950" dirty="0">
                <a:solidFill>
                  <a:srgbClr val="F0F6FC"/>
                </a:solidFill>
                <a:latin typeface="Consolas" pitchFamily="34" charset="0"/>
                <a:ea typeface="Consolas" pitchFamily="34" charset="-122"/>
                <a:cs typeface="Consolas" pitchFamily="34" charset="-120"/>
              </a:rPr>
              <a:t>6. index 3: list[3] = "Khalid".   Match found!</a:t>
            </a:r>
            <a:endParaRPr lang="en-US" sz="950" dirty="0"/>
          </a:p>
        </p:txBody>
      </p:sp>
      <p:sp>
        <p:nvSpPr>
          <p:cNvPr id="36" name="Text 34"/>
          <p:cNvSpPr/>
          <p:nvPr/>
        </p:nvSpPr>
        <p:spPr>
          <a:xfrm>
            <a:off x="548640" y="4251960"/>
            <a:ext cx="3895344" cy="201168"/>
          </a:xfrm>
          <a:prstGeom prst="rect">
            <a:avLst/>
          </a:prstGeom>
          <a:noFill/>
          <a:ln/>
        </p:spPr>
        <p:txBody>
          <a:bodyPr wrap="square" lIns="0" tIns="0" rIns="0" bIns="0" rtlCol="0" anchor="ctr"/>
          <a:lstStyle/>
          <a:p>
            <a:pPr marL="0" indent="0">
              <a:buNone/>
            </a:pPr>
            <a:r>
              <a:rPr lang="en-US" sz="950" dirty="0">
                <a:solidFill>
                  <a:srgbClr val="3FD9C4"/>
                </a:solidFill>
                <a:latin typeface="Consolas" pitchFamily="34" charset="0"/>
                <a:ea typeface="Consolas" pitchFamily="34" charset="-122"/>
                <a:cs typeface="Consolas" pitchFamily="34" charset="-120"/>
              </a:rPr>
              <a:t>7. RETURN 3.   index 4 ("Hessa") is never visited.</a:t>
            </a:r>
            <a:endParaRPr lang="en-US" sz="950" dirty="0"/>
          </a:p>
        </p:txBody>
      </p:sp>
      <p:sp>
        <p:nvSpPr>
          <p:cNvPr id="37" name="Shape 35"/>
          <p:cNvSpPr/>
          <p:nvPr/>
        </p:nvSpPr>
        <p:spPr>
          <a:xfrm>
            <a:off x="4663440" y="2670048"/>
            <a:ext cx="4069080" cy="1755648"/>
          </a:xfrm>
          <a:prstGeom prst="rect">
            <a:avLst/>
          </a:prstGeom>
          <a:solidFill>
            <a:srgbClr val="161B26"/>
          </a:solidFill>
          <a:ln w="15240">
            <a:solidFill>
              <a:srgbClr val="FFA657"/>
            </a:solidFill>
            <a:prstDash val="solid"/>
          </a:ln>
          <a:effectLst>
            <a:outerShdw blurRad="177800" dist="38100" dir="8100000" algn="bl" rotWithShape="0">
              <a:srgbClr val="000000">
                <a:alpha val="35000"/>
              </a:srgbClr>
            </a:outerShdw>
          </a:effectLst>
        </p:spPr>
        <p:txBody>
          <a:bodyPr/>
          <a:lstStyle/>
          <a:p>
            <a:endParaRPr lang="en-US"/>
          </a:p>
        </p:txBody>
      </p:sp>
      <p:sp>
        <p:nvSpPr>
          <p:cNvPr id="38" name="Shape 36"/>
          <p:cNvSpPr/>
          <p:nvPr/>
        </p:nvSpPr>
        <p:spPr>
          <a:xfrm>
            <a:off x="4663440" y="2670048"/>
            <a:ext cx="4069080" cy="329184"/>
          </a:xfrm>
          <a:prstGeom prst="rect">
            <a:avLst/>
          </a:prstGeom>
          <a:solidFill>
            <a:srgbClr val="FFA657">
              <a:alpha val="78000"/>
            </a:srgbClr>
          </a:solidFill>
          <a:ln w="12700">
            <a:solidFill>
              <a:srgbClr val="FFA657"/>
            </a:solidFill>
            <a:prstDash val="solid"/>
          </a:ln>
        </p:spPr>
        <p:txBody>
          <a:bodyPr/>
          <a:lstStyle/>
          <a:p>
            <a:endParaRPr lang="en-US"/>
          </a:p>
        </p:txBody>
      </p:sp>
      <p:sp>
        <p:nvSpPr>
          <p:cNvPr id="39" name="Text 37"/>
          <p:cNvSpPr/>
          <p:nvPr/>
        </p:nvSpPr>
        <p:spPr>
          <a:xfrm>
            <a:off x="4800600" y="2715768"/>
            <a:ext cx="3803904"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Counting the Work</a:t>
            </a:r>
            <a:endParaRPr lang="en-US" sz="1100" dirty="0"/>
          </a:p>
        </p:txBody>
      </p:sp>
      <p:sp>
        <p:nvSpPr>
          <p:cNvPr id="40" name="Text 38"/>
          <p:cNvSpPr/>
          <p:nvPr/>
        </p:nvSpPr>
        <p:spPr>
          <a:xfrm>
            <a:off x="4800600" y="3017520"/>
            <a:ext cx="3803904" cy="502920"/>
          </a:xfrm>
          <a:prstGeom prst="rect">
            <a:avLst/>
          </a:prstGeom>
          <a:noFill/>
          <a:ln/>
        </p:spPr>
        <p:txBody>
          <a:bodyPr wrap="square" lIns="0" tIns="0" rIns="0" bIns="0" rtlCol="0" anchor="ctr"/>
          <a:lstStyle/>
          <a:p>
            <a:pPr marL="0" indent="0">
              <a:buNone/>
            </a:pPr>
            <a:r>
              <a:rPr lang="en-US" sz="1050" b="1" dirty="0">
                <a:solidFill>
                  <a:srgbClr val="3FB950"/>
                </a:solidFill>
                <a:latin typeface="Calibri" pitchFamily="34" charset="0"/>
                <a:ea typeface="Calibri" pitchFamily="34" charset="-122"/>
                <a:cs typeface="Calibri" pitchFamily="34" charset="-120"/>
              </a:rPr>
              <a:t>Comparisons:  </a:t>
            </a:r>
            <a:r>
              <a:rPr lang="en-US" sz="1050" dirty="0">
                <a:solidFill>
                  <a:srgbClr val="F0F6FC"/>
                </a:solidFill>
                <a:latin typeface="Calibri" pitchFamily="34" charset="0"/>
                <a:ea typeface="Calibri" pitchFamily="34" charset="-122"/>
                <a:cs typeface="Calibri" pitchFamily="34" charset="-120"/>
              </a:rPr>
              <a:t>4 comparisons total — Sara, Omar, Lina, Khalid. We stop the moment we find a match, never visiting Hessa.</a:t>
            </a:r>
            <a:endParaRPr lang="en-US" sz="1050" dirty="0"/>
          </a:p>
        </p:txBody>
      </p:sp>
      <p:sp>
        <p:nvSpPr>
          <p:cNvPr id="41" name="Text 39"/>
          <p:cNvSpPr/>
          <p:nvPr/>
        </p:nvSpPr>
        <p:spPr>
          <a:xfrm>
            <a:off x="4800600" y="3566160"/>
            <a:ext cx="3803904" cy="594360"/>
          </a:xfrm>
          <a:prstGeom prst="rect">
            <a:avLst/>
          </a:prstGeom>
          <a:noFill/>
          <a:ln/>
        </p:spPr>
        <p:txBody>
          <a:bodyPr wrap="square" lIns="0" tIns="0" rIns="0" bIns="0" rtlCol="0" anchor="ctr"/>
          <a:lstStyle/>
          <a:p>
            <a:pPr marL="0" indent="0">
              <a:buNone/>
            </a:pPr>
            <a:r>
              <a:rPr lang="en-US" sz="1050" b="1" dirty="0">
                <a:solidFill>
                  <a:srgbClr val="F85149"/>
                </a:solidFill>
                <a:latin typeface="Calibri" pitchFamily="34" charset="0"/>
                <a:ea typeface="Calibri" pitchFamily="34" charset="-122"/>
                <a:cs typeface="Calibri" pitchFamily="34" charset="-120"/>
              </a:rPr>
              <a:t>If not present:  </a:t>
            </a:r>
            <a:r>
              <a:rPr lang="en-US" sz="1050" dirty="0">
                <a:solidFill>
                  <a:srgbClr val="F0F6FC"/>
                </a:solidFill>
                <a:latin typeface="Calibri" pitchFamily="34" charset="0"/>
                <a:ea typeface="Calibri" pitchFamily="34" charset="-122"/>
                <a:cs typeface="Calibri" pitchFamily="34" charset="-120"/>
              </a:rPr>
              <a:t>If "Khalid" were not in the list, we would do all 5 comparisons and then return -1 to signal not found.</a:t>
            </a:r>
            <a:endParaRPr lang="en-US" sz="1050" dirty="0"/>
          </a:p>
        </p:txBody>
      </p:sp>
      <p:sp>
        <p:nvSpPr>
          <p:cNvPr id="42" name="Text 40"/>
          <p:cNvSpPr/>
          <p:nvPr/>
        </p:nvSpPr>
        <p:spPr>
          <a:xfrm>
            <a:off x="4800600" y="4206240"/>
            <a:ext cx="3803904" cy="182880"/>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Input: list, target  ·  </a:t>
            </a:r>
            <a:r>
              <a:rPr lang="en-US" sz="1000" dirty="0">
                <a:solidFill>
                  <a:srgbClr val="3FD9C4"/>
                </a:solidFill>
                <a:latin typeface="Calibri" pitchFamily="34" charset="0"/>
                <a:ea typeface="Calibri" pitchFamily="34" charset="-122"/>
                <a:cs typeface="Calibri" pitchFamily="34" charset="-120"/>
              </a:rPr>
              <a:t>Variables: index = 0..3  ·  </a:t>
            </a:r>
            <a:r>
              <a:rPr lang="en-US" sz="1000" dirty="0">
                <a:solidFill>
                  <a:srgbClr val="3FB950"/>
                </a:solidFill>
                <a:latin typeface="Calibri" pitchFamily="34" charset="0"/>
                <a:ea typeface="Calibri" pitchFamily="34" charset="-122"/>
                <a:cs typeface="Calibri" pitchFamily="34" charset="-120"/>
              </a:rPr>
              <a:t>Output: 3</a:t>
            </a:r>
            <a:endParaRPr lang="en-US" sz="1000" dirty="0"/>
          </a:p>
        </p:txBody>
      </p:sp>
      <p:sp>
        <p:nvSpPr>
          <p:cNvPr id="43" name="Shape 41"/>
          <p:cNvSpPr/>
          <p:nvPr/>
        </p:nvSpPr>
        <p:spPr>
          <a:xfrm>
            <a:off x="365760" y="4572000"/>
            <a:ext cx="8412480" cy="384048"/>
          </a:xfrm>
          <a:prstGeom prst="rect">
            <a:avLst/>
          </a:prstGeom>
          <a:solidFill>
            <a:srgbClr val="0A1020"/>
          </a:solidFill>
          <a:ln w="12700">
            <a:solidFill>
              <a:srgbClr val="3FD9C4"/>
            </a:solidFill>
            <a:prstDash val="solid"/>
          </a:ln>
        </p:spPr>
        <p:txBody>
          <a:bodyPr/>
          <a:lstStyle/>
          <a:p>
            <a:endParaRPr lang="en-US"/>
          </a:p>
        </p:txBody>
      </p:sp>
      <p:sp>
        <p:nvSpPr>
          <p:cNvPr id="44" name="Text 42"/>
          <p:cNvSpPr/>
          <p:nvPr/>
        </p:nvSpPr>
        <p:spPr>
          <a:xfrm>
            <a:off x="502920" y="4599432"/>
            <a:ext cx="8229600" cy="310896"/>
          </a:xfrm>
          <a:prstGeom prst="rect">
            <a:avLst/>
          </a:prstGeom>
          <a:noFill/>
          <a:ln/>
        </p:spPr>
        <p:txBody>
          <a:bodyPr wrap="square" lIns="0" tIns="0" rIns="0" bIns="0" rtlCol="0" anchor="ctr"/>
          <a:lstStyle/>
          <a:p>
            <a:pPr marL="0" indent="0">
              <a:buNone/>
            </a:pPr>
            <a:r>
              <a:rPr lang="en-US" sz="1100" b="1" dirty="0">
                <a:solidFill>
                  <a:srgbClr val="3FD9C4"/>
                </a:solidFill>
                <a:latin typeface="Calibri" pitchFamily="34" charset="0"/>
                <a:ea typeface="Calibri" pitchFamily="34" charset="-122"/>
                <a:cs typeface="Calibri" pitchFamily="34" charset="-120"/>
              </a:rPr>
              <a:t>Pattern to remember:  </a:t>
            </a:r>
            <a:r>
              <a:rPr lang="en-US" sz="1100" dirty="0">
                <a:solidFill>
                  <a:srgbClr val="F0F6FC"/>
                </a:solidFill>
                <a:latin typeface="Calibri" pitchFamily="34" charset="0"/>
                <a:ea typeface="Calibri" pitchFamily="34" charset="-122"/>
                <a:cs typeface="Calibri" pitchFamily="34" charset="-120"/>
              </a:rPr>
              <a:t>Linear Search makes between 1 and N comparisons, where N is the list length. The position of the target inside the list decides how many comparisons we need.</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PERFORMANCE</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How Fast is Linear Search?</a:t>
            </a:r>
            <a:endParaRPr lang="en-US" sz="2800" dirty="0"/>
          </a:p>
        </p:txBody>
      </p:sp>
      <p:sp>
        <p:nvSpPr>
          <p:cNvPr id="6" name="Text 4"/>
          <p:cNvSpPr/>
          <p:nvPr/>
        </p:nvSpPr>
        <p:spPr>
          <a:xfrm>
            <a:off x="457200" y="868680"/>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The three cases every developer thinks about — plus what they mean for your code</a:t>
            </a:r>
            <a:endParaRPr lang="en-US" sz="1300" dirty="0"/>
          </a:p>
        </p:txBody>
      </p:sp>
      <p:sp>
        <p:nvSpPr>
          <p:cNvPr id="7" name="Shape 5"/>
          <p:cNvSpPr/>
          <p:nvPr/>
        </p:nvSpPr>
        <p:spPr>
          <a:xfrm>
            <a:off x="411480" y="1170432"/>
            <a:ext cx="2048256" cy="1783080"/>
          </a:xfrm>
          <a:prstGeom prst="rect">
            <a:avLst/>
          </a:prstGeom>
          <a:solidFill>
            <a:srgbClr val="161B26"/>
          </a:solidFill>
          <a:ln w="1524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8" name="Shape 6"/>
          <p:cNvSpPr/>
          <p:nvPr/>
        </p:nvSpPr>
        <p:spPr>
          <a:xfrm>
            <a:off x="411480" y="1170432"/>
            <a:ext cx="2048256" cy="329184"/>
          </a:xfrm>
          <a:prstGeom prst="rect">
            <a:avLst/>
          </a:prstGeom>
          <a:solidFill>
            <a:srgbClr val="3FD9C4">
              <a:alpha val="78000"/>
            </a:srgbClr>
          </a:solidFill>
          <a:ln w="12700">
            <a:solidFill>
              <a:srgbClr val="3FD9C4"/>
            </a:solidFill>
            <a:prstDash val="solid"/>
          </a:ln>
        </p:spPr>
        <p:txBody>
          <a:bodyPr/>
          <a:lstStyle/>
          <a:p>
            <a:endParaRPr lang="en-US"/>
          </a:p>
        </p:txBody>
      </p:sp>
      <p:sp>
        <p:nvSpPr>
          <p:cNvPr id="9" name="Text 7"/>
          <p:cNvSpPr/>
          <p:nvPr/>
        </p:nvSpPr>
        <p:spPr>
          <a:xfrm>
            <a:off x="521208" y="1216152"/>
            <a:ext cx="182880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Best Case</a:t>
            </a:r>
            <a:endParaRPr lang="en-US" sz="1100" dirty="0"/>
          </a:p>
        </p:txBody>
      </p:sp>
      <p:sp>
        <p:nvSpPr>
          <p:cNvPr id="10" name="Text 8"/>
          <p:cNvSpPr/>
          <p:nvPr/>
        </p:nvSpPr>
        <p:spPr>
          <a:xfrm>
            <a:off x="521208" y="1517904"/>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The lucky scenario.</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Target is the very first item.</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Just 1 comparison needed.</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Notation: O(1) — constant time.</a:t>
            </a:r>
            <a:endParaRPr lang="en-US" sz="1000" dirty="0"/>
          </a:p>
        </p:txBody>
      </p:sp>
      <p:sp>
        <p:nvSpPr>
          <p:cNvPr id="11" name="Shape 9"/>
          <p:cNvSpPr/>
          <p:nvPr/>
        </p:nvSpPr>
        <p:spPr>
          <a:xfrm>
            <a:off x="2587752" y="1170432"/>
            <a:ext cx="2048256" cy="1783080"/>
          </a:xfrm>
          <a:prstGeom prst="rect">
            <a:avLst/>
          </a:prstGeom>
          <a:solidFill>
            <a:srgbClr val="161B26"/>
          </a:solidFill>
          <a:ln w="15240">
            <a:solidFill>
              <a:srgbClr val="58A6FF"/>
            </a:solidFill>
            <a:prstDash val="solid"/>
          </a:ln>
          <a:effectLst>
            <a:outerShdw blurRad="177800" dist="38100" dir="8100000" algn="bl" rotWithShape="0">
              <a:srgbClr val="000000">
                <a:alpha val="35000"/>
              </a:srgbClr>
            </a:outerShdw>
          </a:effectLst>
        </p:spPr>
        <p:txBody>
          <a:bodyPr/>
          <a:lstStyle/>
          <a:p>
            <a:endParaRPr lang="en-US"/>
          </a:p>
        </p:txBody>
      </p:sp>
      <p:sp>
        <p:nvSpPr>
          <p:cNvPr id="12" name="Shape 10"/>
          <p:cNvSpPr/>
          <p:nvPr/>
        </p:nvSpPr>
        <p:spPr>
          <a:xfrm>
            <a:off x="2587752" y="1170432"/>
            <a:ext cx="2048256" cy="329184"/>
          </a:xfrm>
          <a:prstGeom prst="rect">
            <a:avLst/>
          </a:prstGeom>
          <a:solidFill>
            <a:srgbClr val="58A6FF">
              <a:alpha val="78000"/>
            </a:srgbClr>
          </a:solidFill>
          <a:ln w="12700">
            <a:solidFill>
              <a:srgbClr val="58A6FF"/>
            </a:solidFill>
            <a:prstDash val="solid"/>
          </a:ln>
        </p:spPr>
        <p:txBody>
          <a:bodyPr/>
          <a:lstStyle/>
          <a:p>
            <a:endParaRPr lang="en-US"/>
          </a:p>
        </p:txBody>
      </p:sp>
      <p:sp>
        <p:nvSpPr>
          <p:cNvPr id="13" name="Text 11"/>
          <p:cNvSpPr/>
          <p:nvPr/>
        </p:nvSpPr>
        <p:spPr>
          <a:xfrm>
            <a:off x="2697480" y="1216152"/>
            <a:ext cx="182880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Worst Case</a:t>
            </a:r>
            <a:endParaRPr lang="en-US" sz="1100" dirty="0"/>
          </a:p>
        </p:txBody>
      </p:sp>
      <p:sp>
        <p:nvSpPr>
          <p:cNvPr id="14" name="Text 12"/>
          <p:cNvSpPr/>
          <p:nvPr/>
        </p:nvSpPr>
        <p:spPr>
          <a:xfrm>
            <a:off x="2697480" y="1517904"/>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The unlucky scenario.</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Target is last, or not present.</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All N comparisons needed.</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Notation: O(N) — linear time.</a:t>
            </a:r>
            <a:endParaRPr lang="en-US" sz="1000" dirty="0"/>
          </a:p>
        </p:txBody>
      </p:sp>
      <p:sp>
        <p:nvSpPr>
          <p:cNvPr id="15" name="Shape 13"/>
          <p:cNvSpPr/>
          <p:nvPr/>
        </p:nvSpPr>
        <p:spPr>
          <a:xfrm>
            <a:off x="4764024" y="1170432"/>
            <a:ext cx="2048256" cy="1783080"/>
          </a:xfrm>
          <a:prstGeom prst="rect">
            <a:avLst/>
          </a:prstGeom>
          <a:solidFill>
            <a:srgbClr val="161B26"/>
          </a:solidFill>
          <a:ln w="15240">
            <a:solidFill>
              <a:srgbClr val="BC8CFF"/>
            </a:solidFill>
            <a:prstDash val="solid"/>
          </a:ln>
          <a:effectLst>
            <a:outerShdw blurRad="177800" dist="38100" dir="8100000" algn="bl" rotWithShape="0">
              <a:srgbClr val="000000">
                <a:alpha val="35000"/>
              </a:srgbClr>
            </a:outerShdw>
          </a:effectLst>
        </p:spPr>
        <p:txBody>
          <a:bodyPr/>
          <a:lstStyle/>
          <a:p>
            <a:endParaRPr lang="en-US"/>
          </a:p>
        </p:txBody>
      </p:sp>
      <p:sp>
        <p:nvSpPr>
          <p:cNvPr id="16" name="Shape 14"/>
          <p:cNvSpPr/>
          <p:nvPr/>
        </p:nvSpPr>
        <p:spPr>
          <a:xfrm>
            <a:off x="4764024" y="1170432"/>
            <a:ext cx="2048256" cy="329184"/>
          </a:xfrm>
          <a:prstGeom prst="rect">
            <a:avLst/>
          </a:prstGeom>
          <a:solidFill>
            <a:srgbClr val="BC8CFF">
              <a:alpha val="78000"/>
            </a:srgbClr>
          </a:solidFill>
          <a:ln w="12700">
            <a:solidFill>
              <a:srgbClr val="BC8CFF"/>
            </a:solidFill>
            <a:prstDash val="solid"/>
          </a:ln>
        </p:spPr>
        <p:txBody>
          <a:bodyPr/>
          <a:lstStyle/>
          <a:p>
            <a:endParaRPr lang="en-US"/>
          </a:p>
        </p:txBody>
      </p:sp>
      <p:sp>
        <p:nvSpPr>
          <p:cNvPr id="17" name="Text 15"/>
          <p:cNvSpPr/>
          <p:nvPr/>
        </p:nvSpPr>
        <p:spPr>
          <a:xfrm>
            <a:off x="4873752" y="1216152"/>
            <a:ext cx="182880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Average Case</a:t>
            </a:r>
            <a:endParaRPr lang="en-US" sz="1100" dirty="0"/>
          </a:p>
        </p:txBody>
      </p:sp>
      <p:sp>
        <p:nvSpPr>
          <p:cNvPr id="18" name="Text 16"/>
          <p:cNvSpPr/>
          <p:nvPr/>
        </p:nvSpPr>
        <p:spPr>
          <a:xfrm>
            <a:off x="4873752" y="1517904"/>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The realistic scenario.</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Target is somewhere in the middle.</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About N/2 comparisons needed.</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Notation: O(N) — still linear.</a:t>
            </a:r>
            <a:endParaRPr lang="en-US" sz="1000" dirty="0"/>
          </a:p>
        </p:txBody>
      </p:sp>
      <p:sp>
        <p:nvSpPr>
          <p:cNvPr id="19" name="Shape 17"/>
          <p:cNvSpPr/>
          <p:nvPr/>
        </p:nvSpPr>
        <p:spPr>
          <a:xfrm>
            <a:off x="6940296" y="1170432"/>
            <a:ext cx="2048256" cy="1783080"/>
          </a:xfrm>
          <a:prstGeom prst="rect">
            <a:avLst/>
          </a:prstGeom>
          <a:solidFill>
            <a:srgbClr val="161B26"/>
          </a:solidFill>
          <a:ln w="15240">
            <a:solidFill>
              <a:srgbClr val="FFA657"/>
            </a:solidFill>
            <a:prstDash val="solid"/>
          </a:ln>
          <a:effectLst>
            <a:outerShdw blurRad="177800" dist="38100" dir="8100000" algn="bl" rotWithShape="0">
              <a:srgbClr val="000000">
                <a:alpha val="35000"/>
              </a:srgbClr>
            </a:outerShdw>
          </a:effectLst>
        </p:spPr>
        <p:txBody>
          <a:bodyPr/>
          <a:lstStyle/>
          <a:p>
            <a:endParaRPr lang="en-US"/>
          </a:p>
        </p:txBody>
      </p:sp>
      <p:sp>
        <p:nvSpPr>
          <p:cNvPr id="20" name="Shape 18"/>
          <p:cNvSpPr/>
          <p:nvPr/>
        </p:nvSpPr>
        <p:spPr>
          <a:xfrm>
            <a:off x="6940296" y="1170432"/>
            <a:ext cx="2048256" cy="329184"/>
          </a:xfrm>
          <a:prstGeom prst="rect">
            <a:avLst/>
          </a:prstGeom>
          <a:solidFill>
            <a:srgbClr val="FFA657">
              <a:alpha val="78000"/>
            </a:srgbClr>
          </a:solidFill>
          <a:ln w="12700">
            <a:solidFill>
              <a:srgbClr val="FFA657"/>
            </a:solidFill>
            <a:prstDash val="solid"/>
          </a:ln>
        </p:spPr>
        <p:txBody>
          <a:bodyPr/>
          <a:lstStyle/>
          <a:p>
            <a:endParaRPr lang="en-US"/>
          </a:p>
        </p:txBody>
      </p:sp>
      <p:sp>
        <p:nvSpPr>
          <p:cNvPr id="21" name="Text 19"/>
          <p:cNvSpPr/>
          <p:nvPr/>
        </p:nvSpPr>
        <p:spPr>
          <a:xfrm>
            <a:off x="7050024" y="1216152"/>
            <a:ext cx="182880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What is O(N)?</a:t>
            </a:r>
            <a:endParaRPr lang="en-US" sz="1100" dirty="0"/>
          </a:p>
        </p:txBody>
      </p:sp>
      <p:sp>
        <p:nvSpPr>
          <p:cNvPr id="22" name="Text 20"/>
          <p:cNvSpPr/>
          <p:nvPr/>
        </p:nvSpPr>
        <p:spPr>
          <a:xfrm>
            <a:off x="7050024" y="1517904"/>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Big-O notation, simplified.</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If you double the list size,</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the work also doubles.</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It scales linearly with input.</a:t>
            </a:r>
            <a:endParaRPr lang="en-US" sz="1000" dirty="0"/>
          </a:p>
        </p:txBody>
      </p:sp>
      <p:sp>
        <p:nvSpPr>
          <p:cNvPr id="23" name="Shape 21"/>
          <p:cNvSpPr/>
          <p:nvPr/>
        </p:nvSpPr>
        <p:spPr>
          <a:xfrm>
            <a:off x="411480" y="3072384"/>
            <a:ext cx="2048256" cy="1783080"/>
          </a:xfrm>
          <a:prstGeom prst="rect">
            <a:avLst/>
          </a:prstGeom>
          <a:solidFill>
            <a:srgbClr val="161B26"/>
          </a:solidFill>
          <a:ln w="15240">
            <a:solidFill>
              <a:srgbClr val="E3B341"/>
            </a:solidFill>
            <a:prstDash val="solid"/>
          </a:ln>
          <a:effectLst>
            <a:outerShdw blurRad="177800" dist="38100" dir="8100000" algn="bl" rotWithShape="0">
              <a:srgbClr val="000000">
                <a:alpha val="35000"/>
              </a:srgbClr>
            </a:outerShdw>
          </a:effectLst>
        </p:spPr>
        <p:txBody>
          <a:bodyPr/>
          <a:lstStyle/>
          <a:p>
            <a:endParaRPr lang="en-US"/>
          </a:p>
        </p:txBody>
      </p:sp>
      <p:sp>
        <p:nvSpPr>
          <p:cNvPr id="24" name="Shape 22"/>
          <p:cNvSpPr/>
          <p:nvPr/>
        </p:nvSpPr>
        <p:spPr>
          <a:xfrm>
            <a:off x="411480" y="3072384"/>
            <a:ext cx="2048256" cy="329184"/>
          </a:xfrm>
          <a:prstGeom prst="rect">
            <a:avLst/>
          </a:prstGeom>
          <a:solidFill>
            <a:srgbClr val="E3B341">
              <a:alpha val="78000"/>
            </a:srgbClr>
          </a:solidFill>
          <a:ln w="12700">
            <a:solidFill>
              <a:srgbClr val="E3B341"/>
            </a:solidFill>
            <a:prstDash val="solid"/>
          </a:ln>
        </p:spPr>
        <p:txBody>
          <a:bodyPr/>
          <a:lstStyle/>
          <a:p>
            <a:endParaRPr lang="en-US"/>
          </a:p>
        </p:txBody>
      </p:sp>
      <p:sp>
        <p:nvSpPr>
          <p:cNvPr id="25" name="Text 23"/>
          <p:cNvSpPr/>
          <p:nvPr/>
        </p:nvSpPr>
        <p:spPr>
          <a:xfrm>
            <a:off x="521208" y="3118104"/>
            <a:ext cx="182880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Strengths</a:t>
            </a:r>
            <a:endParaRPr lang="en-US" sz="1100" dirty="0"/>
          </a:p>
        </p:txBody>
      </p:sp>
      <p:sp>
        <p:nvSpPr>
          <p:cNvPr id="26" name="Text 24"/>
          <p:cNvSpPr/>
          <p:nvPr/>
        </p:nvSpPr>
        <p:spPr>
          <a:xfrm>
            <a:off x="521208" y="3419856"/>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Why we still teach it.</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Works on any list — sorted</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or unsorted. No setup needed.</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Easy to write and to debug.</a:t>
            </a:r>
            <a:endParaRPr lang="en-US" sz="1000" dirty="0"/>
          </a:p>
        </p:txBody>
      </p:sp>
      <p:sp>
        <p:nvSpPr>
          <p:cNvPr id="27" name="Shape 25"/>
          <p:cNvSpPr/>
          <p:nvPr/>
        </p:nvSpPr>
        <p:spPr>
          <a:xfrm>
            <a:off x="2587752" y="3072384"/>
            <a:ext cx="2048256" cy="1783080"/>
          </a:xfrm>
          <a:prstGeom prst="rect">
            <a:avLst/>
          </a:prstGeom>
          <a:solidFill>
            <a:srgbClr val="161B26"/>
          </a:solidFill>
          <a:ln w="15240">
            <a:solidFill>
              <a:srgbClr val="F85149"/>
            </a:solidFill>
            <a:prstDash val="solid"/>
          </a:ln>
          <a:effectLst>
            <a:outerShdw blurRad="177800" dist="38100" dir="8100000" algn="bl" rotWithShape="0">
              <a:srgbClr val="000000">
                <a:alpha val="35000"/>
              </a:srgbClr>
            </a:outerShdw>
          </a:effectLst>
        </p:spPr>
        <p:txBody>
          <a:bodyPr/>
          <a:lstStyle/>
          <a:p>
            <a:endParaRPr lang="en-US"/>
          </a:p>
        </p:txBody>
      </p:sp>
      <p:sp>
        <p:nvSpPr>
          <p:cNvPr id="28" name="Shape 26"/>
          <p:cNvSpPr/>
          <p:nvPr/>
        </p:nvSpPr>
        <p:spPr>
          <a:xfrm>
            <a:off x="2587752" y="3072384"/>
            <a:ext cx="2048256" cy="329184"/>
          </a:xfrm>
          <a:prstGeom prst="rect">
            <a:avLst/>
          </a:prstGeom>
          <a:solidFill>
            <a:srgbClr val="F85149">
              <a:alpha val="78000"/>
            </a:srgbClr>
          </a:solidFill>
          <a:ln w="12700">
            <a:solidFill>
              <a:srgbClr val="F85149"/>
            </a:solidFill>
            <a:prstDash val="solid"/>
          </a:ln>
        </p:spPr>
        <p:txBody>
          <a:bodyPr/>
          <a:lstStyle/>
          <a:p>
            <a:endParaRPr lang="en-US"/>
          </a:p>
        </p:txBody>
      </p:sp>
      <p:sp>
        <p:nvSpPr>
          <p:cNvPr id="29" name="Text 27"/>
          <p:cNvSpPr/>
          <p:nvPr/>
        </p:nvSpPr>
        <p:spPr>
          <a:xfrm>
            <a:off x="2697480" y="3118104"/>
            <a:ext cx="182880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Weaknesses</a:t>
            </a:r>
            <a:endParaRPr lang="en-US" sz="1100" dirty="0"/>
          </a:p>
        </p:txBody>
      </p:sp>
      <p:sp>
        <p:nvSpPr>
          <p:cNvPr id="30" name="Text 28"/>
          <p:cNvSpPr/>
          <p:nvPr/>
        </p:nvSpPr>
        <p:spPr>
          <a:xfrm>
            <a:off x="2697480" y="3419856"/>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Where it falls short.</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Slow on huge lists.</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Ignores list ordering, even</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when sorted data could help.</a:t>
            </a:r>
            <a:endParaRPr lang="en-US" sz="1000" dirty="0"/>
          </a:p>
        </p:txBody>
      </p:sp>
      <p:sp>
        <p:nvSpPr>
          <p:cNvPr id="31" name="Shape 29"/>
          <p:cNvSpPr/>
          <p:nvPr/>
        </p:nvSpPr>
        <p:spPr>
          <a:xfrm>
            <a:off x="4764024" y="3072384"/>
            <a:ext cx="2048256" cy="1783080"/>
          </a:xfrm>
          <a:prstGeom prst="rect">
            <a:avLst/>
          </a:prstGeom>
          <a:solidFill>
            <a:srgbClr val="161B26"/>
          </a:solidFill>
          <a:ln w="15240">
            <a:solidFill>
              <a:srgbClr val="3FB950"/>
            </a:solidFill>
            <a:prstDash val="solid"/>
          </a:ln>
          <a:effectLst>
            <a:outerShdw blurRad="177800" dist="38100" dir="8100000" algn="bl" rotWithShape="0">
              <a:srgbClr val="000000">
                <a:alpha val="35000"/>
              </a:srgbClr>
            </a:outerShdw>
          </a:effectLst>
        </p:spPr>
        <p:txBody>
          <a:bodyPr/>
          <a:lstStyle/>
          <a:p>
            <a:endParaRPr lang="en-US"/>
          </a:p>
        </p:txBody>
      </p:sp>
      <p:sp>
        <p:nvSpPr>
          <p:cNvPr id="32" name="Shape 30"/>
          <p:cNvSpPr/>
          <p:nvPr/>
        </p:nvSpPr>
        <p:spPr>
          <a:xfrm>
            <a:off x="4764024" y="3072384"/>
            <a:ext cx="2048256" cy="329184"/>
          </a:xfrm>
          <a:prstGeom prst="rect">
            <a:avLst/>
          </a:prstGeom>
          <a:solidFill>
            <a:srgbClr val="3FB950">
              <a:alpha val="78000"/>
            </a:srgbClr>
          </a:solidFill>
          <a:ln w="12700">
            <a:solidFill>
              <a:srgbClr val="3FB950"/>
            </a:solidFill>
            <a:prstDash val="solid"/>
          </a:ln>
        </p:spPr>
        <p:txBody>
          <a:bodyPr/>
          <a:lstStyle/>
          <a:p>
            <a:endParaRPr lang="en-US"/>
          </a:p>
        </p:txBody>
      </p:sp>
      <p:sp>
        <p:nvSpPr>
          <p:cNvPr id="33" name="Text 31"/>
          <p:cNvSpPr/>
          <p:nvPr/>
        </p:nvSpPr>
        <p:spPr>
          <a:xfrm>
            <a:off x="4873752" y="3118104"/>
            <a:ext cx="182880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Real Numbers</a:t>
            </a:r>
            <a:endParaRPr lang="en-US" sz="1100" dirty="0"/>
          </a:p>
        </p:txBody>
      </p:sp>
      <p:sp>
        <p:nvSpPr>
          <p:cNvPr id="34" name="Text 32"/>
          <p:cNvSpPr/>
          <p:nvPr/>
        </p:nvSpPr>
        <p:spPr>
          <a:xfrm>
            <a:off x="4873752" y="3419856"/>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What N actually costs.</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10 items: up to 10 checks</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1,000 items: up to 1,000</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1 million: up to 1 million</a:t>
            </a:r>
            <a:endParaRPr lang="en-US" sz="1000" dirty="0"/>
          </a:p>
        </p:txBody>
      </p:sp>
      <p:sp>
        <p:nvSpPr>
          <p:cNvPr id="35" name="Shape 33"/>
          <p:cNvSpPr/>
          <p:nvPr/>
        </p:nvSpPr>
        <p:spPr>
          <a:xfrm>
            <a:off x="6940296" y="3072384"/>
            <a:ext cx="2048256" cy="1783080"/>
          </a:xfrm>
          <a:prstGeom prst="rect">
            <a:avLst/>
          </a:prstGeom>
          <a:solidFill>
            <a:srgbClr val="161B26"/>
          </a:solidFill>
          <a:ln w="15240">
            <a:solidFill>
              <a:srgbClr val="F778BA"/>
            </a:solidFill>
            <a:prstDash val="solid"/>
          </a:ln>
          <a:effectLst>
            <a:outerShdw blurRad="177800" dist="38100" dir="8100000" algn="bl" rotWithShape="0">
              <a:srgbClr val="000000">
                <a:alpha val="35000"/>
              </a:srgbClr>
            </a:outerShdw>
          </a:effectLst>
        </p:spPr>
        <p:txBody>
          <a:bodyPr/>
          <a:lstStyle/>
          <a:p>
            <a:endParaRPr lang="en-US"/>
          </a:p>
        </p:txBody>
      </p:sp>
      <p:sp>
        <p:nvSpPr>
          <p:cNvPr id="36" name="Shape 34"/>
          <p:cNvSpPr/>
          <p:nvPr/>
        </p:nvSpPr>
        <p:spPr>
          <a:xfrm>
            <a:off x="6940296" y="3072384"/>
            <a:ext cx="2048256" cy="329184"/>
          </a:xfrm>
          <a:prstGeom prst="rect">
            <a:avLst/>
          </a:prstGeom>
          <a:solidFill>
            <a:srgbClr val="F778BA">
              <a:alpha val="78000"/>
            </a:srgbClr>
          </a:solidFill>
          <a:ln w="12700">
            <a:solidFill>
              <a:srgbClr val="F778BA"/>
            </a:solidFill>
            <a:prstDash val="solid"/>
          </a:ln>
        </p:spPr>
        <p:txBody>
          <a:bodyPr/>
          <a:lstStyle/>
          <a:p>
            <a:endParaRPr lang="en-US"/>
          </a:p>
        </p:txBody>
      </p:sp>
      <p:sp>
        <p:nvSpPr>
          <p:cNvPr id="37" name="Text 35"/>
          <p:cNvSpPr/>
          <p:nvPr/>
        </p:nvSpPr>
        <p:spPr>
          <a:xfrm>
            <a:off x="7050024" y="3118104"/>
            <a:ext cx="182880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Use it when</a:t>
            </a:r>
            <a:endParaRPr lang="en-US" sz="1100" dirty="0"/>
          </a:p>
        </p:txBody>
      </p:sp>
      <p:sp>
        <p:nvSpPr>
          <p:cNvPr id="38" name="Text 36"/>
          <p:cNvSpPr/>
          <p:nvPr/>
        </p:nvSpPr>
        <p:spPr>
          <a:xfrm>
            <a:off x="7050024" y="3419856"/>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The right tool for the job.</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Lists are short or unsorted.</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You search the list rarely.</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Otherwise: use Binary Search.</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sp>
        <p:nvSpPr>
          <p:cNvPr id="579" name="Google Shape;579;p38"/>
          <p:cNvSpPr txBox="1">
            <a:spLocks noGrp="1"/>
          </p:cNvSpPr>
          <p:nvPr>
            <p:ph type="title"/>
          </p:nvPr>
        </p:nvSpPr>
        <p:spPr>
          <a:xfrm>
            <a:off x="5548225" y="2230950"/>
            <a:ext cx="3062100" cy="681600"/>
          </a:xfrm>
          <a:prstGeom prst="rect">
            <a:avLst/>
          </a:prstGeom>
        </p:spPr>
        <p:txBody>
          <a:bodyPr spcFirstLastPara="1" wrap="square" lIns="91425" tIns="91425" rIns="91425" bIns="91425" anchor="b" anchorCtr="0">
            <a:normAutofit fontScale="90000"/>
          </a:bodyPr>
          <a:lstStyle/>
          <a:p>
            <a:pPr marL="0" lvl="0" indent="0" algn="r" rtl="0">
              <a:spcBef>
                <a:spcPts val="0"/>
              </a:spcBef>
              <a:spcAft>
                <a:spcPts val="0"/>
              </a:spcAft>
              <a:buNone/>
            </a:pPr>
            <a:r>
              <a:rPr lang="en" sz="4000" b="1">
                <a:solidFill>
                  <a:schemeClr val="lt1"/>
                </a:solidFill>
                <a:latin typeface="IBM Plex Sans Arabic"/>
                <a:ea typeface="IBM Plex Sans Arabic"/>
                <a:cs typeface="IBM Plex Sans Arabic"/>
                <a:sym typeface="IBM Plex Sans Arabic"/>
              </a:rPr>
              <a:t>شــــــكــــرًا لكــــــم</a:t>
            </a:r>
            <a:endParaRPr sz="4000" b="1">
              <a:solidFill>
                <a:schemeClr val="lt1"/>
              </a:solidFill>
              <a:latin typeface="IBM Plex Sans Arabic"/>
              <a:ea typeface="IBM Plex Sans Arabic"/>
              <a:cs typeface="IBM Plex Sans Arabic"/>
              <a:sym typeface="IBM Plex Sans Arabic"/>
            </a:endParaRPr>
          </a:p>
        </p:txBody>
      </p:sp>
      <p:sp>
        <p:nvSpPr>
          <p:cNvPr id="580" name="Google Shape;580;p38"/>
          <p:cNvSpPr txBox="1">
            <a:spLocks noGrp="1"/>
          </p:cNvSpPr>
          <p:nvPr>
            <p:ph type="ctrTitle" idx="4294967295"/>
          </p:nvPr>
        </p:nvSpPr>
        <p:spPr>
          <a:xfrm>
            <a:off x="4166050" y="2870075"/>
            <a:ext cx="4444200" cy="576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SzPts val="990"/>
              <a:buNone/>
            </a:pPr>
            <a:r>
              <a:rPr lang="en" sz="2900" b="1">
                <a:solidFill>
                  <a:schemeClr val="lt1"/>
                </a:solidFill>
                <a:latin typeface="IBM Plex Sans Arabic"/>
                <a:ea typeface="IBM Plex Sans Arabic"/>
                <a:cs typeface="IBM Plex Sans Arabic"/>
                <a:sym typeface="IBM Plex Sans Arabic"/>
              </a:rPr>
              <a:t>THANK YOU</a:t>
            </a:r>
            <a:endParaRPr sz="2900" b="1">
              <a:solidFill>
                <a:schemeClr val="lt1"/>
              </a:solidFill>
              <a:latin typeface="IBM Plex Sans Arabic"/>
              <a:ea typeface="IBM Plex Sans Arabic"/>
              <a:cs typeface="IBM Plex Sans Arabic"/>
              <a:sym typeface="IBM Plex Sans Arabic"/>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31173</TotalTime>
  <Words>2192</Words>
  <Application>Microsoft Office PowerPoint</Application>
  <PresentationFormat>On-screen Show (16:9)</PresentationFormat>
  <Paragraphs>385</Paragraphs>
  <Slides>15</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IBM Plex Sans Arabic</vt:lpstr>
      <vt:lpstr>Arial</vt:lpstr>
      <vt:lpstr>IBM Plex Sans Arabic SemiBold</vt:lpstr>
      <vt:lpstr>Consolas</vt:lpstr>
      <vt:lpstr>Calibri</vt:lpstr>
      <vt:lpstr>Tajawal</vt:lpstr>
      <vt:lpstr>IBM Plex Sans Arabic Medium</vt:lpstr>
      <vt:lpstr>Simple Light</vt:lpstr>
      <vt:lpstr>أكـــــاديميــــة طــــويـــق</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شــــــكــــرًا لكــــــم</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Ahmed Al-Hadari</dc:creator>
  <cp:lastModifiedBy>Ahmed Alhussein</cp:lastModifiedBy>
  <cp:revision>258</cp:revision>
  <dcterms:modified xsi:type="dcterms:W3CDTF">2026-05-01T14:15:41Z</dcterms:modified>
</cp:coreProperties>
</file>