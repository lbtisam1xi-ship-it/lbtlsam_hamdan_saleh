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541" r:id="rId3"/>
    <p:sldId id="542" r:id="rId4"/>
    <p:sldId id="258" r:id="rId5"/>
    <p:sldId id="519" r:id="rId6"/>
    <p:sldId id="257" r:id="rId7"/>
    <p:sldId id="509" r:id="rId8"/>
    <p:sldId id="502" r:id="rId9"/>
    <p:sldId id="521" r:id="rId10"/>
    <p:sldId id="508" r:id="rId11"/>
    <p:sldId id="520" r:id="rId12"/>
    <p:sldId id="531" r:id="rId13"/>
    <p:sldId id="522" r:id="rId14"/>
    <p:sldId id="528" r:id="rId15"/>
    <p:sldId id="281" r:id="rId16"/>
  </p:sldIdLst>
  <p:sldSz cx="9144000" cy="5143500" type="screen16x9"/>
  <p:notesSz cx="6858000" cy="9144000"/>
  <p:embeddedFontLst>
    <p:embeddedFont>
      <p:font typeface="Consolas" panose="020B0609020204030204" pitchFamily="49" charset="0"/>
      <p:regular r:id="rId18"/>
      <p:bold r:id="rId19"/>
      <p:italic r:id="rId20"/>
      <p:boldItalic r:id="rId21"/>
    </p:embeddedFont>
    <p:embeddedFont>
      <p:font typeface="IBM Plex Sans Arabic" panose="020B0604020202020204" charset="-78"/>
      <p:regular r:id="rId22"/>
      <p:bold r:id="rId23"/>
    </p:embeddedFont>
    <p:embeddedFont>
      <p:font typeface="IBM Plex Sans Arabic Medium" panose="020B0604020202020204" charset="-78"/>
      <p:regular r:id="rId24"/>
      <p:bold r:id="rId25"/>
    </p:embeddedFont>
    <p:embeddedFont>
      <p:font typeface="IBM Plex Sans Arabic SemiBold" panose="020B0604020202020204" charset="-78"/>
      <p:regular r:id="rId26"/>
      <p:bold r:id="rId27"/>
    </p:embeddedFont>
    <p:embeddedFont>
      <p:font typeface="Tajawal" panose="020B0604020202020204" charset="-78"/>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03</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3</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Algorithms</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 </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Introduction to algorithms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Linear Search</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Binary Search</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Bubble Sort</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Selection &amp; Insertion Sort + comparison</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3</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3  ·  Session 3</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Binary Search</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Why Binary Search</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The trade-off that makes Binary Search dramatically faster than Linear Search</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The Algorithm</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Halving the search space at every step using the low, high, and mid pointers</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Tracing the Code</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Walking through the algorithm by hand and watching the search space shrink</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Performance &amp; Limits</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O(log N) explained simply, plus the one condition Binary Search needs to work</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Quick recap – Linear Search</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We learned Linear Search: walk through a list one item at a time, from the first to the last, until you find the target — or reach the end and report -1.</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Linear Search is simple, reliable, and works on any list. But it has one weakness: on a list of one million items, the worst case requires one million comparisons. There has to be a faster way.</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trick  </a:t>
            </a:r>
            <a:r>
              <a:rPr lang="en-US" sz="1200" dirty="0">
                <a:solidFill>
                  <a:srgbClr val="EDEDED"/>
                </a:solidFill>
                <a:latin typeface="Calibri" pitchFamily="34" charset="0"/>
                <a:ea typeface="Calibri" pitchFamily="34" charset="-122"/>
                <a:cs typeface="Calibri" pitchFamily="34" charset="-120"/>
              </a:rPr>
              <a:t>If the list is already sorted, we can do much better. Sorted data has structure, and structure is information we can exploit to skip large parts of the list at every step.</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The algorithm  </a:t>
            </a:r>
            <a:r>
              <a:rPr lang="en-US" sz="1200" dirty="0">
                <a:solidFill>
                  <a:srgbClr val="EDEDED"/>
                </a:solidFill>
                <a:latin typeface="Calibri" pitchFamily="34" charset="0"/>
                <a:ea typeface="Calibri" pitchFamily="34" charset="-122"/>
                <a:cs typeface="Calibri" pitchFamily="34" charset="-120"/>
              </a:rPr>
              <a:t>Binary Search is the answer. It looks at the middle item of a sorted list, decides whether the target is to the left or to the right, and discards the half it cannot be in — every single step.</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This is the same strategy you use when looking up a word in a dictionary: you do not start at page 1 and read every word. You open the book in the middle, see whether your word comes before or after, and ignore half the dictionary instantly. Binary Search is that idea, made precise.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Faster Than</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Linear</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Halving · Sorted Data · O(log N) · The Dictionary Strategy</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Programming Fundamentals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MOTIVATION</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When Linear Search Falls Short</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four scenarios below all need millions of comparisons with Linear Search — but only a handful with Binary Search</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The reason  </a:t>
            </a:r>
            <a:r>
              <a:rPr lang="en-US" sz="1300" dirty="0">
                <a:solidFill>
                  <a:srgbClr val="F0F6FC"/>
                </a:solidFill>
                <a:latin typeface="Calibri" pitchFamily="34" charset="0"/>
                <a:ea typeface="Calibri" pitchFamily="34" charset="-122"/>
                <a:cs typeface="Calibri" pitchFamily="34" charset="-120"/>
              </a:rPr>
              <a:t>is simple: most real-world </a:t>
            </a:r>
            <a:r>
              <a:rPr lang="en-US" sz="1300" b="1" dirty="0">
                <a:solidFill>
                  <a:srgbClr val="E3B341"/>
                </a:solidFill>
                <a:latin typeface="Calibri" pitchFamily="34" charset="0"/>
                <a:ea typeface="Calibri" pitchFamily="34" charset="-122"/>
                <a:cs typeface="Calibri" pitchFamily="34" charset="-120"/>
              </a:rPr>
              <a:t>data </a:t>
            </a:r>
            <a:r>
              <a:rPr lang="en-US" sz="1300" dirty="0">
                <a:solidFill>
                  <a:srgbClr val="F0F6FC"/>
                </a:solidFill>
                <a:latin typeface="Calibri" pitchFamily="34" charset="0"/>
                <a:ea typeface="Calibri" pitchFamily="34" charset="-122"/>
                <a:cs typeface="Calibri" pitchFamily="34" charset="-120"/>
              </a:rPr>
              <a:t>is already sorted, or can be sorted once and searched many times. </a:t>
            </a:r>
            <a:r>
              <a:rPr lang="en-US" sz="1300" dirty="0">
                <a:solidFill>
                  <a:srgbClr val="8B949E"/>
                </a:solidFill>
                <a:latin typeface="Calibri" pitchFamily="34" charset="0"/>
                <a:ea typeface="Calibri" pitchFamily="34" charset="-122"/>
                <a:cs typeface="Calibri" pitchFamily="34" charset="-120"/>
              </a:rPr>
              <a:t>When that is true, Binary Search is almost always the right choice.</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Dictionary</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Look up a word among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250,000 entries — sorted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alphabetically. Binary</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Search needs ~18 steps.</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Phone Book</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a number in a sorted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directory of 1 million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names. Linear: up to 1M</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checks. Binary: ~20.</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Database Index</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a row by ID in a</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sorted index — every</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major database uses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Binary Search underneath.</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Library Catalog</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Find a book by call</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number on a sorted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shelf — without walking</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past every other book.</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The pattern:  </a:t>
            </a:r>
            <a:r>
              <a:rPr lang="en-US" sz="1100" dirty="0">
                <a:solidFill>
                  <a:srgbClr val="F0F6FC"/>
                </a:solidFill>
                <a:latin typeface="Calibri" pitchFamily="34" charset="0"/>
                <a:ea typeface="Calibri" pitchFamily="34" charset="-122"/>
                <a:cs typeface="Calibri" pitchFamily="34" charset="-120"/>
              </a:rPr>
              <a:t>Whenever data is sorted and searched repeatedly, Binary Search is the standard choice. It turns "up to a million checks" into "at most twenty checks" — the same speedup that makes search engines and databases feel instant.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What is Binary Search?</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Definition · How it works · When to use it</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Definition</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fast way to search</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What it does</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Finds an item in a sorted list</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How</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Halves the search space each step</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Input</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A SORTED list and a target</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Output</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Index of match, or -1</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Other names</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Logarithmic / Half-interval Search</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How It Works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Six steps, halving each time</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1</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Set low = 0, high = length - 1</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2</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Compute mid = (low + high) / 2</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3</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If list[mid] = target → return mid</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4</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If list[mid] &lt; target → low = mid+1</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Step 5</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If list[mid] &gt; target → high = mid-1</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When to Use It</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The right tool when conditions match</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Sorted data</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This is the must-have condition</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Large list</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Thousands or millions of items</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Many searches</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You search the same list often</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Random access</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You can jump to any index instantly</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Avoid when</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Data is unsorted, or list is tiny</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Linear Search vs. Binary Search</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Same problem, two very different strategies — and a huge difference in speed</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1303776"/>
            <a:ext cx="3886200" cy="3287268"/>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1385343"/>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Linear Search</a:t>
            </a:r>
            <a:endParaRPr lang="en-US" sz="2000" dirty="0"/>
          </a:p>
        </p:txBody>
      </p:sp>
      <p:sp>
        <p:nvSpPr>
          <p:cNvPr id="9" name="Text 7">
            <a:extLst>
              <a:ext uri="{FF2B5EF4-FFF2-40B4-BE49-F238E27FC236}">
                <a16:creationId xmlns:a16="http://schemas.microsoft.com/office/drawing/2014/main" id="{8F6E38CC-3D4A-3E0B-2BE5-A1AFFE25B54B}"/>
              </a:ext>
            </a:extLst>
          </p:cNvPr>
          <p:cNvSpPr/>
          <p:nvPr/>
        </p:nvSpPr>
        <p:spPr>
          <a:xfrm>
            <a:off x="274320" y="1751103"/>
            <a:ext cx="3886200" cy="256032"/>
          </a:xfrm>
          <a:prstGeom prst="rect">
            <a:avLst/>
          </a:prstGeom>
          <a:noFill/>
          <a:ln/>
        </p:spPr>
        <p:txBody>
          <a:bodyPr wrap="square" rtlCol="0" anchor="ctr"/>
          <a:lstStyle/>
          <a:p>
            <a:pPr marL="0" indent="0" algn="ctr">
              <a:buNone/>
            </a:pPr>
            <a:endParaRPr lang="en-US" sz="1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2098575"/>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2098575"/>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Strategy:</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2098575"/>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Check every item, one by one</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574063"/>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574063"/>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Needs sorted?</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574063"/>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No — works on any order</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3049551"/>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3049551"/>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Steps used:</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3049551"/>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Up to N comparisons</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3525039"/>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3525039"/>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1,000 items:</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3525039"/>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Up to 1,000 comparisons</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4000527"/>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4000527"/>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1 million:</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4000527"/>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Up to 1,000,000 comparisons</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1324350"/>
            <a:ext cx="310896" cy="3266694"/>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808207"/>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vs</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1303776"/>
            <a:ext cx="3886200" cy="3287268"/>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1385343"/>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Binary Search</a:t>
            </a:r>
            <a:endParaRPr lang="en-US" sz="2000" dirty="0"/>
          </a:p>
        </p:txBody>
      </p:sp>
      <p:sp>
        <p:nvSpPr>
          <p:cNvPr id="32" name="Text 30">
            <a:extLst>
              <a:ext uri="{FF2B5EF4-FFF2-40B4-BE49-F238E27FC236}">
                <a16:creationId xmlns:a16="http://schemas.microsoft.com/office/drawing/2014/main" id="{46E4A81B-148B-8CD9-9160-86527E3CF4B9}"/>
              </a:ext>
            </a:extLst>
          </p:cNvPr>
          <p:cNvSpPr/>
          <p:nvPr/>
        </p:nvSpPr>
        <p:spPr>
          <a:xfrm>
            <a:off x="4983480" y="1751103"/>
            <a:ext cx="3886200" cy="256032"/>
          </a:xfrm>
          <a:prstGeom prst="rect">
            <a:avLst/>
          </a:prstGeom>
          <a:noFill/>
          <a:ln/>
        </p:spPr>
        <p:txBody>
          <a:bodyPr wrap="square" rtlCol="0" anchor="ctr"/>
          <a:lstStyle/>
          <a:p>
            <a:pPr marL="0" indent="0" algn="ctr">
              <a:buNone/>
            </a:pPr>
            <a:endParaRPr lang="en-US" sz="1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2098575"/>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2098575"/>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Strategy:</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2098575"/>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Halve the search range each step</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574063"/>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574063"/>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Needs sorted?</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574063"/>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YES — required for it to work</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3049551"/>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3049551"/>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Steps used:</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3049551"/>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About log₂(N) comparisons</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3525039"/>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3525039"/>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1,000 items:</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3525039"/>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About 10 comparisons</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4000527"/>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4000527"/>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1 million:</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4000527"/>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About 20 comparisons</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THE ALGORITHM</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Binary Search — Step by Step</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Six clear steps that turn a sorted list and a target into a fast, exact answer</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Receive sorted input</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Take in the sorted list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and the target value to find.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Sorted order is what makes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everything that follows work.</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Set the boundaries</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Set low = 0 (first index)</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and high = length - 1 (last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index). These two pointers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frame the active search area.</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Find the middle</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While low is not greater than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high, compute the middle: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mid = (low + high) / 2</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(integer division).</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Compare with target</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Look at list[mid] and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compare it to the target.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One of three things will be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true: equal, less, or greater.</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Halve the range</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list[mid] = target, return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mid. If less, search the right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half: low = mid + 1. If greater,</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search the left: high = mid - 1.</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Empty range</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If low ever exceeds high,</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search range is empty.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target is not present.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Return -1 to signal not found.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Three ways to write Binary Search</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same algorithm in three forms — pick the one that helps you think</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Read all three side by side. </a:t>
            </a:r>
            <a:r>
              <a:rPr lang="en-US" sz="1200" b="1" dirty="0">
                <a:solidFill>
                  <a:srgbClr val="57E3D8"/>
                </a:solidFill>
                <a:latin typeface="Calibri" pitchFamily="34" charset="0"/>
                <a:ea typeface="Calibri" pitchFamily="34" charset="-122"/>
                <a:cs typeface="Calibri" pitchFamily="34" charset="-120"/>
              </a:rPr>
              <a:t>They describe the exact same algorithm</a:t>
            </a:r>
            <a:r>
              <a:rPr lang="en-US" sz="1200" dirty="0">
                <a:solidFill>
                  <a:srgbClr val="EDEDED"/>
                </a:solidFill>
                <a:latin typeface="Calibri" pitchFamily="34" charset="0"/>
                <a:ea typeface="Calibri" pitchFamily="34" charset="-122"/>
                <a:cs typeface="Calibri" pitchFamily="34" charset="-120"/>
              </a:rPr>
              <a:t> — only the language and the level of detail change.</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Plain English</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For humans · No symbols</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1. Look at the middle item of the list.   2. If it equals the target, you are done.   3. If the target is smaller, search only the left half from now on.   4. If larger, search only the right half.   5. Repeat. If the range becomes empty, the target is not in the list.</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Pseudocode</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Code-like · Language-free</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FUNCTION binarySearch(list, target):    SET low ← 0,  high ← length(list) - 1    WHILE low ≤ high:        SET mid ← (low + high) / 2        IF list[mid] = target: RETURN mid        IF list[mid] &lt; target: low ← mid + 1        ELSE: high ← mid - 1    RETURN -1</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Flowchart</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Visual · Standard symbols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Start (oval) → low = 0, high = N-1 (rectangle) → low ≤ high? (diamond) → No: Return -1 (oval). Yes: mid = (low+high)/2 (rectangle) → list[mid] = target? (diamond) → if Yes: Return mid (oval). If No: list[mid] &lt; target? (diamond) → Yes: low = mid+1. No: high = mid-1. Loop back.</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VARIABLES &amp; FLOW</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Binary Search in Detail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Three pointers (low, high, mid) and a sorted list — that is all Binary Search needs to work</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Variables We Track</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list</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INPUT</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sorted collection</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target</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INPUT</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The value we want to find</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low</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POINTER</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Left edge of search range</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high</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POINTER</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Right edge of search range</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mid</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COMPUTED</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(low + high) / 2 each step</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result</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OUTPUT</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Index found, or -1</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Complete Pseudocode</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FUNCTION binarySearch(list, target):</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low ← 0, high ← len-1   WHILE low ≤ high: mid ← (low+high)/2 ...</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L1</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L2</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L3</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L4</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L5</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L6</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L7</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L8</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FUNC    INIT    WHILE    MID    EQ    LESS    MORE    END</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Reading the Code</a:t>
            </a:r>
            <a:endParaRPr lang="en-US" sz="1100" dirty="0"/>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The condition low ≤ high is what makes the loop end. When the range becomes empty, the target was not in the list.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VISUAL TRACE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Watching Binary Search Halve the List</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Searching the sorted list  [1, 3, 5, 7, 9, 11, 13, 15]  for the target value  11</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Start (low = 0, high = 7, target = 11)</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0 ← low</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3</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1</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5</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2</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7</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3</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9</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4</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11</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5</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13</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6</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15</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idx 7 ← high</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1️⃣  Iteration 1: mid = 3, list[3] = 7. 7 &lt; 11 → search RIGHT half</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discarded</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3</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discarded</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5</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discarded</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7</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mid — discarded</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9</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new low = 4</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11</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still in range</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13</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still in range</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15</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high = 7</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2️⃣  Iteration 2: mid = 5, list[5] = 11. 11 = 11 → RETURN 5 ✅</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3</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5</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7</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9</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low = 4</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11</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MATCH! return 5</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13</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15</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never visited</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The Power of Halving — only 2 comparisons checked 8 items</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8</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start: full list</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4</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after step 1</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2</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after step 2</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1</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after step 3</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0</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found / empty</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log₂8</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3 max</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steps</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for any 8-item list</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WORKED EXAMPLE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Worked Example — Searching for 42</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Find 42 in the sorted list  [4, 11, 18, 25, 33, 42, 56, 78]  using only 2 comparisons</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Search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low=0, high=7</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mid=3, list[3]=25</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25 &lt; 42 → low=4</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mid=5, list[5]=42</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42 = 42 ✅</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RETURN 5</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Step-by-Step Trace</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INPUT: list = [4, 11, 18, 25, 33, 42, 56, 78], target = 42</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SET low = 0, high = 7  (range covers entire list)</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mid = 3.   list[3] = 25.   25 &lt; 42 → no match</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Discard left half: low = mid+1 = 4. high stays 7.</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mid = 5.   list[5] = 42.   42 = 42 → MATCH!</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RETURN 5.   Indices 0–2 and 6–7 never read.</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Total work done: 2 comparisons for 8 items.</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Counting the Work</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Comparisons:  </a:t>
            </a:r>
            <a:r>
              <a:rPr lang="en-US" sz="1050" dirty="0">
                <a:solidFill>
                  <a:srgbClr val="F0F6FC"/>
                </a:solidFill>
                <a:latin typeface="Calibri" pitchFamily="34" charset="0"/>
                <a:ea typeface="Calibri" pitchFamily="34" charset="-122"/>
                <a:cs typeface="Calibri" pitchFamily="34" charset="-120"/>
              </a:rPr>
              <a:t>Just 2 comparisons for an 8-item list. Linear Search would have done 6 comparisons in the same case (target at index 5).</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Items skipped:  </a:t>
            </a:r>
            <a:r>
              <a:rPr lang="en-US" sz="1050" dirty="0">
                <a:solidFill>
                  <a:srgbClr val="F0F6FC"/>
                </a:solidFill>
                <a:latin typeface="Calibri" pitchFamily="34" charset="0"/>
                <a:ea typeface="Calibri" pitchFamily="34" charset="-122"/>
                <a:cs typeface="Calibri" pitchFamily="34" charset="-120"/>
              </a:rPr>
              <a:t>5 of 8 items were never visited (4, 11, 18, 56, 78). Each comparison eliminated about half of what was left.</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Input: sorted list, target  ·  </a:t>
            </a:r>
            <a:r>
              <a:rPr lang="en-US" sz="1000" dirty="0">
                <a:solidFill>
                  <a:srgbClr val="3FD9C4"/>
                </a:solidFill>
                <a:latin typeface="Calibri" pitchFamily="34" charset="0"/>
                <a:ea typeface="Calibri" pitchFamily="34" charset="-122"/>
                <a:cs typeface="Calibri" pitchFamily="34" charset="-120"/>
              </a:rPr>
              <a:t>Pointers: low, high, mid  ·  </a:t>
            </a:r>
            <a:r>
              <a:rPr lang="en-US" sz="1000" dirty="0">
                <a:solidFill>
                  <a:srgbClr val="3FB950"/>
                </a:solidFill>
                <a:latin typeface="Calibri" pitchFamily="34" charset="0"/>
                <a:ea typeface="Calibri" pitchFamily="34" charset="-122"/>
                <a:cs typeface="Calibri" pitchFamily="34" charset="-120"/>
              </a:rPr>
              <a:t>Output: 5</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Pattern to remember:  </a:t>
            </a:r>
            <a:r>
              <a:rPr lang="en-US" sz="1100" dirty="0">
                <a:solidFill>
                  <a:srgbClr val="F0F6FC"/>
                </a:solidFill>
                <a:latin typeface="Calibri" pitchFamily="34" charset="0"/>
                <a:ea typeface="Calibri" pitchFamily="34" charset="-122"/>
                <a:cs typeface="Calibri" pitchFamily="34" charset="-120"/>
              </a:rPr>
              <a:t>Binary Search makes at most ⌈log₂(N)⌉ comparisons. For 8 items: ≤ 3. For 1,000: ≤ 10. For 1 million: ≤ 20. The win grows as the list grows.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PERFORMANCE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How Fast is Binary Search?</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numbers, the trade-off, and the conditions you must respect</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Best Case</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lucky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Target is right at the middle.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Just 1 comparison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O(1) — constant.</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Worst Case</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unlucky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Target is at an edge or absent.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About log₂(N) comparisons.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O(log N).</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Average Case</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realistic scenario.</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Target somewhere in the list.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Still about log₂(N) checks.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Notation: O(log N).</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What is O(log N)?</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Big-O simplified.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If you double the list size,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the work grows by just 1 step.</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Massively scalable.</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Strengths</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Why we love it.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Extremely fast on big data.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Predictable performance.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Used inside major databases.</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The Catch</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One firm requirement.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The list MUST be sorted.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Sorting first costs time —</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only worth it for many searches.</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Real Numbers</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Maximum comparisons by size.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1,000 items: ~10 checks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 million: ~20 checks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1 billion: ~30 checks</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Linear vs Binary</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The fundamental trade-off.</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Linear: O(N), no setup needed.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Binary: O(log N), needs sort.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Sort once, search many times.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31442</TotalTime>
  <Words>2358</Words>
  <Application>Microsoft Office PowerPoint</Application>
  <PresentationFormat>On-screen Show (16:9)</PresentationFormat>
  <Paragraphs>379</Paragraphs>
  <Slides>15</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IBM Plex Sans Arabic SemiBold</vt:lpstr>
      <vt:lpstr>IBM Plex Sans Arabic</vt:lpstr>
      <vt:lpstr>Consolas</vt:lpstr>
      <vt:lpstr>Tajawal</vt:lpstr>
      <vt:lpstr>IBM Plex Sans Arabic Medium</vt:lpstr>
      <vt:lpstr>Calibri</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259</cp:revision>
  <dcterms:modified xsi:type="dcterms:W3CDTF">2026-05-05T18:02:57Z</dcterms:modified>
</cp:coreProperties>
</file>