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504" r:id="rId3"/>
    <p:sldId id="505" r:id="rId4"/>
    <p:sldId id="503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81" r:id="rId15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Georgia" panose="02040502050405020303" pitchFamily="18" charset="0"/>
      <p:regular r:id="rId22"/>
      <p:bold r:id="rId23"/>
      <p:italic r:id="rId24"/>
      <p:boldItalic r:id="rId25"/>
    </p:embeddedFont>
    <p:embeddedFont>
      <p:font typeface="IBM Plex Sans Arabic" panose="020B0604020202020204" charset="-78"/>
      <p:regular r:id="rId26"/>
      <p:bold r:id="rId27"/>
    </p:embeddedFont>
    <p:embeddedFont>
      <p:font typeface="IBM Plex Sans Arabic Medium" panose="020B0604020202020204" charset="-78"/>
      <p:regular r:id="rId28"/>
      <p:bold r:id="rId29"/>
    </p:embeddedFont>
    <p:embeddedFont>
      <p:font typeface="IBM Plex Sans Arabic SemiBold" panose="020B0604020202020204" charset="-78"/>
      <p:regular r:id="rId30"/>
      <p:bold r:id="rId31"/>
    </p:embeddedFont>
    <p:embeddedFont>
      <p:font typeface="Tajawal" panose="020B0604020202020204" charset="-78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45" y="258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552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6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2560320" cy="5015484"/>
          </a:xfrm>
          <a:prstGeom prst="rect">
            <a:avLst/>
          </a:prstGeom>
          <a:solidFill>
            <a:srgbClr val="0A2020"/>
          </a:solidFill>
          <a:ln w="12700">
            <a:solidFill>
              <a:srgbClr val="0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560320" y="64008"/>
            <a:ext cx="0" cy="5015484"/>
          </a:xfrm>
          <a:prstGeom prst="line">
            <a:avLst/>
          </a:prstGeom>
          <a:noFill/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3200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" y="384048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" y="3840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 &amp;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0040" y="4069080"/>
            <a:ext cx="1920240" cy="0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637794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035808" y="788670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035808" y="7886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84448" y="72923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61688" y="784098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53128" y="63779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systems, files, extensions, file paths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34640" y="1433322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035808" y="1584198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35808" y="1584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84448" y="152476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61688" y="1579626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53128" y="143332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 (cd, ls, mkdir, touch, rm)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834640" y="222885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035808" y="2379726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35808" y="2379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84448" y="232029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61688" y="2375154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53128" y="222885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fundamentals: repository, staging, commit, history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34640" y="3024378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6243A"/>
          </a:solidFill>
          <a:ln w="22225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035808" y="3175254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035808" y="31752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84448" y="311581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61688" y="3170682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53128" y="302437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clone, push, pull, remote repositories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834640" y="3819906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035808" y="3970782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035808" y="39707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84448" y="391134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61688" y="3966210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53128" y="381990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usage and debugging concepts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292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 ·  Programming Fundamentals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566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 ·  Session 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8412480" cy="1463040"/>
          </a:xfrm>
          <a:prstGeom prst="rect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109728" cy="146304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Remote Repos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448056" y="2971800"/>
            <a:ext cx="1965960" cy="25603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7784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47572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32" y="352044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9496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Basics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39496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GitHub is and how it extends Git online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542032" y="2971800"/>
            <a:ext cx="1965960" cy="256032"/>
          </a:xfrm>
          <a:prstGeom prst="rect">
            <a:avLst/>
          </a:prstGeom>
          <a:solidFill>
            <a:srgbClr val="4A8AF4"/>
          </a:solidFill>
          <a:ln w="1270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651760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542032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3241548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708" y="3520440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633472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8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2633472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copy of a remote repository on your machine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636008" y="2971800"/>
            <a:ext cx="1965960" cy="256032"/>
          </a:xfrm>
          <a:prstGeom prst="rect">
            <a:avLst/>
          </a:prstGeom>
          <a:solidFill>
            <a:srgbClr val="E08845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745736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636008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5335524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2684" y="3520440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727448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Pull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4727448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and receiving changes to and from a remote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729984" y="2971800"/>
            <a:ext cx="1965960" cy="256032"/>
          </a:xfrm>
          <a:prstGeom prst="rect">
            <a:avLst/>
          </a:prstGeom>
          <a:solidFill>
            <a:srgbClr val="9B7EDA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839712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6729984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7429500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6660" y="3520440"/>
            <a:ext cx="292608" cy="2926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821424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Remotes</a:t>
            </a:r>
            <a:endParaRPr lang="en-US" sz="1250" dirty="0"/>
          </a:p>
        </p:txBody>
      </p:sp>
      <p:sp>
        <p:nvSpPr>
          <p:cNvPr id="39" name="Text 33"/>
          <p:cNvSpPr/>
          <p:nvPr/>
        </p:nvSpPr>
        <p:spPr>
          <a:xfrm>
            <a:off x="6821424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remote URLs and collaborating with others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 🚀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411480"/>
            <a:ext cx="109728" cy="109728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Shape 1"/>
          <p:cNvSpPr/>
          <p:nvPr/>
        </p:nvSpPr>
        <p:spPr>
          <a:xfrm>
            <a:off x="891540" y="891540"/>
            <a:ext cx="109728" cy="109728"/>
          </a:xfrm>
          <a:prstGeom prst="rect">
            <a:avLst/>
          </a:prstGeom>
          <a:solidFill>
            <a:srgbClr val="00E5CC">
              <a:alpha val="2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8572500" y="480060"/>
            <a:ext cx="109728" cy="109728"/>
          </a:xfrm>
          <a:prstGeom prst="rect">
            <a:avLst/>
          </a:prstGeom>
          <a:solidFill>
            <a:srgbClr val="F97316">
              <a:alpha val="3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8092440" y="1028700"/>
            <a:ext cx="109728" cy="109728"/>
          </a:xfrm>
          <a:prstGeom prst="rect">
            <a:avLst/>
          </a:prstGeom>
          <a:solidFill>
            <a:srgbClr val="A78BFA">
              <a:alpha val="3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480060" y="4526280"/>
            <a:ext cx="109728" cy="109728"/>
          </a:xfrm>
          <a:prstGeom prst="rect">
            <a:avLst/>
          </a:prstGeom>
          <a:solidFill>
            <a:srgbClr val="00E5CC">
              <a:alpha val="3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1097280" y="4800600"/>
            <a:ext cx="109728" cy="109728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8572500" y="4526280"/>
            <a:ext cx="109728" cy="109728"/>
          </a:xfrm>
          <a:prstGeom prst="rect">
            <a:avLst/>
          </a:prstGeom>
          <a:solidFill>
            <a:srgbClr val="FBBF24">
              <a:alpha val="30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7955280" y="4800600"/>
            <a:ext cx="109728" cy="109728"/>
          </a:xfrm>
          <a:prstGeom prst="rect">
            <a:avLst/>
          </a:prstGeom>
          <a:solidFill>
            <a:srgbClr val="EC4899">
              <a:alpha val="2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617220" y="2606040"/>
            <a:ext cx="109728" cy="109728"/>
          </a:xfrm>
          <a:prstGeom prst="rect">
            <a:avLst/>
          </a:prstGeom>
          <a:solidFill>
            <a:srgbClr val="00E5CC">
              <a:alpha val="1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8435340" y="2400300"/>
            <a:ext cx="109728" cy="109728"/>
          </a:xfrm>
          <a:prstGeom prst="rect">
            <a:avLst/>
          </a:prstGeom>
          <a:solidFill>
            <a:srgbClr val="F97316">
              <a:alpha val="15000"/>
            </a:srgbClr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WEEK 1  ·  SESSION 4  ·  DEVELOPER TOOLS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42900" y="1508760"/>
            <a:ext cx="1303020" cy="342900"/>
          </a:xfrm>
          <a:prstGeom prst="roundRect">
            <a:avLst>
              <a:gd name="adj" fmla="val 50000"/>
            </a:avLst>
          </a:prstGeom>
          <a:solidFill>
            <a:srgbClr val="0D0D1F"/>
          </a:solidFill>
          <a:ln w="190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342900" y="1508760"/>
            <a:ext cx="1303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</a:t>
            </a:r>
            <a:r>
              <a:rPr lang="en-US" sz="1050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2900" y="1988820"/>
            <a:ext cx="845591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</a:t>
            </a:r>
            <a:endParaRPr lang="en-US" sz="9750" dirty="0"/>
          </a:p>
        </p:txBody>
      </p:sp>
      <p:sp>
        <p:nvSpPr>
          <p:cNvPr id="18" name="Text 16"/>
          <p:cNvSpPr/>
          <p:nvPr/>
        </p:nvSpPr>
        <p:spPr>
          <a:xfrm>
            <a:off x="342900" y="2983230"/>
            <a:ext cx="84559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spc="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 · push · pull · remotes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342900" y="3703320"/>
            <a:ext cx="8455914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code lives in the cloud now.  Let's learn the handshake.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3232" y="4217670"/>
            <a:ext cx="185166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713232" y="4217670"/>
            <a:ext cx="1851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3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REMOTES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2667762" y="4217670"/>
            <a:ext cx="185166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2667762" y="4217670"/>
            <a:ext cx="1851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4622292" y="4217670"/>
            <a:ext cx="185166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4622292" y="4217670"/>
            <a:ext cx="1851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30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/ PULL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6576822" y="4217670"/>
            <a:ext cx="185166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576822" y="4217670"/>
            <a:ext cx="18516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spc="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COLLABORATE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342900" y="4834890"/>
            <a:ext cx="84559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  </a:t>
            </a: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let's connect to the world</a:t>
            </a:r>
            <a:r>
              <a:rPr lang="en-US" sz="90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▊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TODAY'S TOPICS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4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 you need to live on GitHub as a developer.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106299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80060" y="144018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85466" y="141960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🌐</a:t>
            </a:r>
          </a:p>
        </p:txBody>
      </p:sp>
      <p:sp>
        <p:nvSpPr>
          <p:cNvPr id="13" name="Text 11"/>
          <p:cNvSpPr/>
          <p:nvPr/>
        </p:nvSpPr>
        <p:spPr>
          <a:xfrm>
            <a:off x="480060" y="173507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Remotes Explained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480060" y="203682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'origin' actually means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71266" y="133731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271266" y="1337310"/>
            <a:ext cx="54864" cy="106299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3408426" y="144018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13832" y="141960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🆕</a:t>
            </a:r>
          </a:p>
        </p:txBody>
      </p:sp>
      <p:sp>
        <p:nvSpPr>
          <p:cNvPr id="19" name="Text 17"/>
          <p:cNvSpPr/>
          <p:nvPr/>
        </p:nvSpPr>
        <p:spPr>
          <a:xfrm>
            <a:off x="3408426" y="173507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Repo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3408426" y="203682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Step-by-step on github.com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99632" y="133731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6199632" y="1337310"/>
            <a:ext cx="54864" cy="106299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336792" y="144018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42198" y="141960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⬇️</a:t>
            </a:r>
          </a:p>
        </p:txBody>
      </p:sp>
      <p:sp>
        <p:nvSpPr>
          <p:cNvPr id="25" name="Text 23"/>
          <p:cNvSpPr/>
          <p:nvPr/>
        </p:nvSpPr>
        <p:spPr>
          <a:xfrm>
            <a:off x="6336792" y="173507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6336792" y="203682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a repo to your machine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2900" y="253746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342900" y="2537460"/>
            <a:ext cx="54864" cy="106299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80060" y="264033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85466" y="261975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⬆️</a:t>
            </a:r>
          </a:p>
        </p:txBody>
      </p:sp>
      <p:sp>
        <p:nvSpPr>
          <p:cNvPr id="31" name="Text 29"/>
          <p:cNvSpPr/>
          <p:nvPr/>
        </p:nvSpPr>
        <p:spPr>
          <a:xfrm>
            <a:off x="480060" y="293522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480060" y="323697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 your commits to GitHub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71266" y="253746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3271266" y="2537460"/>
            <a:ext cx="54864" cy="106299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3408426" y="264033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13832" y="261975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🔄</a:t>
            </a:r>
          </a:p>
        </p:txBody>
      </p:sp>
      <p:sp>
        <p:nvSpPr>
          <p:cNvPr id="37" name="Text 35"/>
          <p:cNvSpPr/>
          <p:nvPr/>
        </p:nvSpPr>
        <p:spPr>
          <a:xfrm>
            <a:off x="3408426" y="293522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&amp; Fetch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3408426" y="323697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Stay in sync with teammates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99632" y="2537460"/>
            <a:ext cx="2791206" cy="106299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6199632" y="2537460"/>
            <a:ext cx="54864" cy="106299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6336792" y="2640330"/>
            <a:ext cx="548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1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442198" y="2619756"/>
            <a:ext cx="41148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dirty="0"/>
              <a:t>👥</a:t>
            </a:r>
          </a:p>
        </p:txBody>
      </p:sp>
      <p:sp>
        <p:nvSpPr>
          <p:cNvPr id="43" name="Text 41"/>
          <p:cNvSpPr/>
          <p:nvPr/>
        </p:nvSpPr>
        <p:spPr>
          <a:xfrm>
            <a:off x="6336792" y="2935224"/>
            <a:ext cx="25854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Flow</a:t>
            </a:r>
            <a:endParaRPr lang="en-US" sz="1275" dirty="0"/>
          </a:p>
        </p:txBody>
      </p:sp>
      <p:sp>
        <p:nvSpPr>
          <p:cNvPr id="44" name="Text 42"/>
          <p:cNvSpPr/>
          <p:nvPr/>
        </p:nvSpPr>
        <p:spPr>
          <a:xfrm>
            <a:off x="6336792" y="3236976"/>
            <a:ext cx="2585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Fork, PR, code review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42900" y="459486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🎯 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end of today: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project is live on github.com and your teammates can contribute.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REMOTES EXPLAINED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4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 Remote Repository?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copy of your repo that lives somewhere else — usually on GitHub.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4046220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325755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14350" y="1474470"/>
            <a:ext cx="377190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THE CONCEPT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548640" y="1851660"/>
            <a:ext cx="3634740" cy="960120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651510" y="1920240"/>
            <a:ext cx="34975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💻  </a:t>
            </a:r>
            <a:r>
              <a:rPr lang="en-US" sz="900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1510" y="216027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.git folder on YOUR computer. Where you do your work.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651510" y="246888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can commit, branch, diff — fully offline.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8640" y="2948940"/>
            <a:ext cx="3634740" cy="960120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651510" y="3017520"/>
            <a:ext cx="34975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☁️  </a:t>
            </a:r>
            <a:r>
              <a:rPr lang="en-US" sz="900" b="1" spc="22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1510" y="325755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copy hosted on github.com. Synced via push &amp; pull.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51510" y="3566160"/>
            <a:ext cx="3497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backup, your team's hub, the source of truth.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8640" y="41833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name: </a:t>
            </a:r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points to the remote you cloned from.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4491990" y="1337310"/>
            <a:ext cx="4306824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491990" y="1337310"/>
            <a:ext cx="54864" cy="325755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663440" y="1474470"/>
            <a:ext cx="403250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REMOTE COMMANDS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4663440" y="1817370"/>
            <a:ext cx="3963924" cy="493776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4766310" y="1844802"/>
            <a:ext cx="382676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766310" y="2077974"/>
            <a:ext cx="382676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all remotes you're connected to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2352294"/>
            <a:ext cx="3963924" cy="493776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4766310" y="2379726"/>
            <a:ext cx="382676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766310" y="2612898"/>
            <a:ext cx="382676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new remote (first time)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63440" y="2887218"/>
            <a:ext cx="3963924" cy="493776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4766310" y="2914650"/>
            <a:ext cx="382676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set-url origin &lt;url&gt;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766310" y="3147822"/>
            <a:ext cx="382676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 a remote's URL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63440" y="3422142"/>
            <a:ext cx="3963924" cy="493776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766310" y="3449574"/>
            <a:ext cx="382676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rename origin upstream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766310" y="3682746"/>
            <a:ext cx="382676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Rename a remote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63440" y="3957066"/>
            <a:ext cx="3963924" cy="493776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4766310" y="3984498"/>
            <a:ext cx="382676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remove origin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766310" y="4217670"/>
            <a:ext cx="382676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Disconnect from a remote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42900" y="469773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Mental model:  </a:t>
            </a:r>
            <a:r>
              <a:rPr lang="en-US" sz="9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remote is just a </a:t>
            </a:r>
            <a:r>
              <a:rPr lang="en-US" sz="97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nickname </a:t>
            </a:r>
            <a:r>
              <a:rPr lang="en-US" sz="97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 URL your Git knows about.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A REPO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4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Your First Repo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minutes on github.com — then it's ready to clone.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4457700" cy="288036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45770" y="142646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596646" y="142646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747522" y="14264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960120" y="1392174"/>
            <a:ext cx="3703320" cy="178308"/>
          </a:xfrm>
          <a:prstGeom prst="roundRect">
            <a:avLst>
              <a:gd name="adj" fmla="val 38462"/>
            </a:avLst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1062990" y="1392174"/>
            <a:ext cx="360045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🔒 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github.com/new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342900" y="1625346"/>
            <a:ext cx="4457700" cy="2969514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582930" y="1748790"/>
            <a:ext cx="39776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repository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930" y="1988820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repository contains all project files, including the revision history.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82930" y="2297430"/>
            <a:ext cx="3977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 name *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82930" y="2468880"/>
            <a:ext cx="3977640" cy="274320"/>
          </a:xfrm>
          <a:prstGeom prst="rect">
            <a:avLst/>
          </a:prstGeom>
          <a:solidFill>
            <a:srgbClr val="0F0F22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685800" y="2468880"/>
            <a:ext cx="3771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ahmed  /  </a:t>
            </a: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my-first-project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2930" y="2777490"/>
            <a:ext cx="3977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my-first-project is available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582930" y="3017520"/>
            <a:ext cx="39776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 (optional)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82930" y="3188970"/>
            <a:ext cx="3977640" cy="27432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85800" y="3188970"/>
            <a:ext cx="3771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first bootcamp project — learning to code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582930" y="3600450"/>
            <a:ext cx="1954530" cy="377190"/>
          </a:xfrm>
          <a:prstGeom prst="rect">
            <a:avLst/>
          </a:prstGeom>
          <a:solidFill>
            <a:srgbClr val="0F0F22"/>
          </a:solidFill>
          <a:ln w="190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720090" y="3600450"/>
            <a:ext cx="181737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🌍  </a:t>
            </a:r>
            <a:r>
              <a:rPr lang="en-US" sz="9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endParaRPr lang="en-US" sz="975" dirty="0"/>
          </a:p>
          <a:p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Anyone on the internet can see this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2606040" y="3600450"/>
            <a:ext cx="1954530" cy="37719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2743200" y="3600450"/>
            <a:ext cx="181737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🔒  </a:t>
            </a: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</a:t>
            </a:r>
            <a:endParaRPr lang="en-US" sz="975" dirty="0"/>
          </a:p>
          <a:p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Only you and people you invite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582930" y="4080510"/>
            <a:ext cx="171450" cy="17145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582930" y="4080510"/>
            <a:ext cx="17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" y="4066794"/>
            <a:ext cx="3703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README file (recommended)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582930" y="4368546"/>
            <a:ext cx="1577340" cy="27432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582930" y="4368546"/>
            <a:ext cx="15773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0D0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975" dirty="0"/>
          </a:p>
        </p:txBody>
      </p:sp>
      <p:sp>
        <p:nvSpPr>
          <p:cNvPr id="34" name="Shape 32"/>
          <p:cNvSpPr/>
          <p:nvPr/>
        </p:nvSpPr>
        <p:spPr>
          <a:xfrm>
            <a:off x="4937760" y="1337310"/>
            <a:ext cx="3861054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4937760" y="1337310"/>
            <a:ext cx="54864" cy="325755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5109210" y="1474470"/>
            <a:ext cx="358673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 STEPS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5109210" y="1803654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5109210" y="18036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5452110" y="1783080"/>
            <a:ext cx="32438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github.com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5452110" y="2002536"/>
            <a:ext cx="32438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 an account? Free at github.com/join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5109210" y="2269998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5109210" y="22699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5452110" y="2249424"/>
            <a:ext cx="32438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'+' top-right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5452110" y="2468880"/>
            <a:ext cx="32438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'New repository' from the dropdown</a:t>
            </a:r>
            <a:endParaRPr lang="en-US" sz="675" dirty="0"/>
          </a:p>
        </p:txBody>
      </p:sp>
      <p:sp>
        <p:nvSpPr>
          <p:cNvPr id="45" name="Shape 43"/>
          <p:cNvSpPr/>
          <p:nvPr/>
        </p:nvSpPr>
        <p:spPr>
          <a:xfrm>
            <a:off x="5109210" y="2736342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5109210" y="27363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5452110" y="2715768"/>
            <a:ext cx="32438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name (no spaces)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5452110" y="2935224"/>
            <a:ext cx="32438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hyphens: my-first-project, not 'my first'</a:t>
            </a:r>
            <a:endParaRPr lang="en-US" sz="675" dirty="0"/>
          </a:p>
        </p:txBody>
      </p:sp>
      <p:sp>
        <p:nvSpPr>
          <p:cNvPr id="49" name="Shape 47"/>
          <p:cNvSpPr/>
          <p:nvPr/>
        </p:nvSpPr>
        <p:spPr>
          <a:xfrm>
            <a:off x="5109210" y="3202686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5109210" y="32026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5452110" y="3182112"/>
            <a:ext cx="32438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Public or Private</a:t>
            </a:r>
            <a:endParaRPr lang="en-US" sz="975" dirty="0"/>
          </a:p>
        </p:txBody>
      </p:sp>
      <p:sp>
        <p:nvSpPr>
          <p:cNvPr id="52" name="Text 50"/>
          <p:cNvSpPr/>
          <p:nvPr/>
        </p:nvSpPr>
        <p:spPr>
          <a:xfrm>
            <a:off x="5452110" y="3401568"/>
            <a:ext cx="32438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shows on your profile, private stays hidden</a:t>
            </a:r>
            <a:endParaRPr lang="en-US" sz="675" dirty="0"/>
          </a:p>
        </p:txBody>
      </p:sp>
      <p:sp>
        <p:nvSpPr>
          <p:cNvPr id="53" name="Shape 51"/>
          <p:cNvSpPr/>
          <p:nvPr/>
        </p:nvSpPr>
        <p:spPr>
          <a:xfrm>
            <a:off x="5109210" y="3669030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5109210" y="36690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975" dirty="0"/>
          </a:p>
        </p:txBody>
      </p:sp>
      <p:sp>
        <p:nvSpPr>
          <p:cNvPr id="55" name="Text 53"/>
          <p:cNvSpPr/>
          <p:nvPr/>
        </p:nvSpPr>
        <p:spPr>
          <a:xfrm>
            <a:off x="5452110" y="3648456"/>
            <a:ext cx="32438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'Add a README'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5452110" y="3867912"/>
            <a:ext cx="32438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 you can clone immediately (empty repos are awkward)</a:t>
            </a:r>
            <a:endParaRPr lang="en-US" sz="675" dirty="0"/>
          </a:p>
        </p:txBody>
      </p:sp>
      <p:sp>
        <p:nvSpPr>
          <p:cNvPr id="57" name="Shape 55"/>
          <p:cNvSpPr/>
          <p:nvPr/>
        </p:nvSpPr>
        <p:spPr>
          <a:xfrm>
            <a:off x="5109210" y="4135374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5109210" y="413537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5452110" y="4114800"/>
            <a:ext cx="32438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'Create repository'</a:t>
            </a:r>
            <a:endParaRPr lang="en-US" sz="975" dirty="0"/>
          </a:p>
        </p:txBody>
      </p:sp>
      <p:sp>
        <p:nvSpPr>
          <p:cNvPr id="60" name="Text 58"/>
          <p:cNvSpPr/>
          <p:nvPr/>
        </p:nvSpPr>
        <p:spPr>
          <a:xfrm>
            <a:off x="5452110" y="4334256"/>
            <a:ext cx="32438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— you now have a real repo on the web</a:t>
            </a:r>
            <a:endParaRPr lang="en-US" sz="675" dirty="0"/>
          </a:p>
        </p:txBody>
      </p:sp>
      <p:sp>
        <p:nvSpPr>
          <p:cNvPr id="61" name="Text 59"/>
          <p:cNvSpPr/>
          <p:nvPr/>
        </p:nvSpPr>
        <p:spPr>
          <a:xfrm>
            <a:off x="342900" y="469773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💡 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step: clone it locally  → 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&lt;your-repo-url&gt;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CLONE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4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 —  Download a Repo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first handshake: copy a remote repo to your machine, fully set up.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5143500" cy="260604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45770" y="141960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596646" y="141960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747522" y="141960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960120" y="1337310"/>
            <a:ext cx="257175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▸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zsh — ~/bootcamp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400300" y="1337310"/>
            <a:ext cx="298323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7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 session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342900" y="1597914"/>
            <a:ext cx="5143500" cy="2996946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514350" y="171450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https://github.com/ahmed/my-first-project.git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14350" y="187909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Cloning into 'my-first-project'...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14350" y="204368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remote: Enumerating objects: 8, done.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14350" y="220827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remote: Counting objects: 100% (8/8), done.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14350" y="237286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Receiving objects: 100% (8/8), 1.2 KiB  |  1.20 MiB/s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14350" y="253746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Resolving deltas: 100% (2/2), done.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14350" y="270205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8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— repo is now in ./my-first-project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514350" y="303123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my-first-project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14350" y="319582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14350" y="3360420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14350" y="3525012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14350" y="368960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https://github.com/ahmed/my-first-project.git 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(fetch)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14350" y="3854196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https://github.com/ahmed/my-first-project.git 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(push)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14350" y="401878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▊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623560" y="1337310"/>
            <a:ext cx="3175254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5623560" y="1337310"/>
            <a:ext cx="54864" cy="325755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5795010" y="1474470"/>
            <a:ext cx="290093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🔐  HTTPS  vs  SSH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5795010" y="1714500"/>
            <a:ext cx="290093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ways to authenticate with GitHub</a:t>
            </a:r>
            <a:endParaRPr lang="en-US" sz="675" dirty="0"/>
          </a:p>
        </p:txBody>
      </p:sp>
      <p:sp>
        <p:nvSpPr>
          <p:cNvPr id="34" name="Shape 32"/>
          <p:cNvSpPr/>
          <p:nvPr/>
        </p:nvSpPr>
        <p:spPr>
          <a:xfrm>
            <a:off x="5795010" y="1988820"/>
            <a:ext cx="2832354" cy="1131570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5897880" y="2057400"/>
            <a:ext cx="26951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🌍  </a:t>
            </a:r>
            <a:r>
              <a:rPr lang="en-US" sz="900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97880" y="2263140"/>
            <a:ext cx="26951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https://github.com/user/repo.git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5897880" y="2489454"/>
            <a:ext cx="269519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Easiest to set up</a:t>
            </a:r>
            <a:endParaRPr lang="en-US" sz="713" dirty="0"/>
          </a:p>
          <a:p>
            <a:r>
              <a:rPr lang="en-US" sz="71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Works behind most firewalls</a:t>
            </a:r>
            <a:endParaRPr lang="en-US" sz="713" dirty="0"/>
          </a:p>
          <a:p>
            <a:r>
              <a:rPr lang="en-US" sz="713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Needs a token for push (since 2021)</a:t>
            </a:r>
            <a:endParaRPr lang="en-US" sz="713" dirty="0"/>
          </a:p>
        </p:txBody>
      </p:sp>
      <p:sp>
        <p:nvSpPr>
          <p:cNvPr id="38" name="Shape 36"/>
          <p:cNvSpPr/>
          <p:nvPr/>
        </p:nvSpPr>
        <p:spPr>
          <a:xfrm>
            <a:off x="5795010" y="3223260"/>
            <a:ext cx="2832354" cy="1131570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5897880" y="3291840"/>
            <a:ext cx="26951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🔑  </a:t>
            </a:r>
            <a:r>
              <a:rPr lang="en-US" sz="900" b="1" spc="2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897880" y="3497580"/>
            <a:ext cx="26951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git@github.com:user/repo.git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5897880" y="3723894"/>
            <a:ext cx="269519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1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No password prompts ever</a:t>
            </a:r>
            <a:endParaRPr lang="en-US" sz="713" dirty="0"/>
          </a:p>
          <a:p>
            <a:r>
              <a:rPr lang="en-US" sz="713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More secure, key-based auth</a:t>
            </a:r>
            <a:endParaRPr lang="en-US" sz="713" dirty="0"/>
          </a:p>
          <a:p>
            <a:r>
              <a:rPr lang="en-US" sz="713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Initial setup (generate key)</a:t>
            </a:r>
            <a:endParaRPr lang="en-US" sz="713" dirty="0"/>
          </a:p>
        </p:txBody>
      </p:sp>
      <p:sp>
        <p:nvSpPr>
          <p:cNvPr id="42" name="Text 40"/>
          <p:cNvSpPr/>
          <p:nvPr/>
        </p:nvSpPr>
        <p:spPr>
          <a:xfrm>
            <a:off x="5795010" y="4354830"/>
            <a:ext cx="283235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Tip: </a:t>
            </a:r>
            <a:r>
              <a:rPr lang="en-US" sz="75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with HTTPS, switch to SSH later.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42900" y="4697730"/>
            <a:ext cx="8455914" cy="240030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342900" y="469773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  </a:t>
            </a:r>
            <a:r>
              <a:rPr lang="en-US" sz="750" dirty="0">
                <a:solidFill>
                  <a:srgbClr val="3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 does TWO things: downloads the files AND sets up </a:t>
            </a:r>
            <a:r>
              <a:rPr lang="en-US" sz="825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automatically.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PUSH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4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 —  Share Your Work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 your local commits to GitHub so everyone can see them.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5143500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325755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14350" y="1474470"/>
            <a:ext cx="48691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▲  LOCAL  →  REMOTE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617220" y="1851660"/>
            <a:ext cx="2057400" cy="1165860"/>
          </a:xfrm>
          <a:prstGeom prst="rect">
            <a:avLst/>
          </a:prstGeom>
          <a:solidFill>
            <a:srgbClr val="1A1A35"/>
          </a:solidFill>
          <a:ln w="190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720090" y="1920240"/>
            <a:ext cx="1851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💻  </a:t>
            </a:r>
            <a:r>
              <a:rPr lang="en-US" sz="750" b="1" spc="150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(your laptop)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4380" y="2160270"/>
            <a:ext cx="137160" cy="137160"/>
          </a:xfrm>
          <a:prstGeom prst="ellipse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960120" y="213969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a1f3e8b feat: new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54380" y="2420874"/>
            <a:ext cx="137160" cy="137160"/>
          </a:xfrm>
          <a:prstGeom prst="ellipse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960120" y="2400300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c7d22a1 fix: bug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54380" y="2681478"/>
            <a:ext cx="137160" cy="137160"/>
          </a:xfrm>
          <a:prstGeom prst="ellipse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960120" y="2660904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9e4b0c2 add: tests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086100" y="3223260"/>
            <a:ext cx="2057400" cy="1165860"/>
          </a:xfrm>
          <a:prstGeom prst="rect">
            <a:avLst/>
          </a:prstGeom>
          <a:solidFill>
            <a:srgbClr val="1A1A35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188970" y="3291840"/>
            <a:ext cx="18516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☁️  </a:t>
            </a:r>
            <a:r>
              <a:rPr lang="en-US" sz="750" b="1" spc="1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(origin/main)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23260" y="3531870"/>
            <a:ext cx="137160" cy="13716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3429000" y="3511296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a1f3e8b feat: new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23260" y="3792474"/>
            <a:ext cx="137160" cy="13716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3429000" y="3771900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c7d22a1 fix: bug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23260" y="4053078"/>
            <a:ext cx="137160" cy="137160"/>
          </a:xfrm>
          <a:prstGeom prst="ellipse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429000" y="4032504"/>
            <a:ext cx="16459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9e4b0c2 add: tests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08910" y="2434590"/>
            <a:ext cx="342900" cy="1371600"/>
          </a:xfrm>
          <a:prstGeom prst="line">
            <a:avLst/>
          </a:prstGeom>
          <a:noFill/>
          <a:ln w="50800">
            <a:solidFill>
              <a:srgbClr val="F97316"/>
            </a:solidFill>
            <a:prstDash val="solid"/>
            <a:tailEnd type="triangle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2297430" y="2606040"/>
            <a:ext cx="1303020" cy="308610"/>
          </a:xfrm>
          <a:prstGeom prst="roundRect">
            <a:avLst>
              <a:gd name="adj" fmla="val 48889"/>
            </a:avLst>
          </a:prstGeom>
          <a:solidFill>
            <a:srgbClr val="0D0D1F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2297430" y="2606040"/>
            <a:ext cx="130302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286250"/>
            <a:ext cx="47320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= </a:t>
            </a:r>
            <a:r>
              <a:rPr lang="en-US" sz="8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 your commits to the remote.  </a:t>
            </a:r>
            <a:r>
              <a:rPr lang="en-US" sz="825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Teammates see them after they pull.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5623560" y="1337310"/>
            <a:ext cx="3175254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5623560" y="1337310"/>
            <a:ext cx="54864" cy="325755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5795010" y="1474470"/>
            <a:ext cx="290093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 PUSH COMMANDS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5795010" y="1817370"/>
            <a:ext cx="2832354" cy="493776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5897880" y="1844802"/>
            <a:ext cx="269519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88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5897880" y="2077974"/>
            <a:ext cx="26951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current branch to its remote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5795010" y="2352294"/>
            <a:ext cx="2832354" cy="493776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5897880" y="2379726"/>
            <a:ext cx="269519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88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5897880" y="2612898"/>
            <a:ext cx="26951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 — push main to origin</a:t>
            </a:r>
            <a:endParaRPr lang="en-US" sz="675" dirty="0"/>
          </a:p>
        </p:txBody>
      </p:sp>
      <p:sp>
        <p:nvSpPr>
          <p:cNvPr id="41" name="Shape 39"/>
          <p:cNvSpPr/>
          <p:nvPr/>
        </p:nvSpPr>
        <p:spPr>
          <a:xfrm>
            <a:off x="5795010" y="2887218"/>
            <a:ext cx="2832354" cy="493776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5897880" y="2914650"/>
            <a:ext cx="269519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88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feature</a:t>
            </a:r>
            <a:endParaRPr lang="en-US" sz="788" dirty="0"/>
          </a:p>
        </p:txBody>
      </p:sp>
      <p:sp>
        <p:nvSpPr>
          <p:cNvPr id="43" name="Text 41"/>
          <p:cNvSpPr/>
          <p:nvPr/>
        </p:nvSpPr>
        <p:spPr>
          <a:xfrm>
            <a:off x="5897880" y="3147822"/>
            <a:ext cx="26951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push of a new branch (sets upstream)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5795010" y="3422142"/>
            <a:ext cx="2832354" cy="493776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5" name="Text 43"/>
          <p:cNvSpPr/>
          <p:nvPr/>
        </p:nvSpPr>
        <p:spPr>
          <a:xfrm>
            <a:off x="5897880" y="3449574"/>
            <a:ext cx="269519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88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--force</a:t>
            </a:r>
            <a:endParaRPr lang="en-US" sz="788" dirty="0"/>
          </a:p>
        </p:txBody>
      </p:sp>
      <p:sp>
        <p:nvSpPr>
          <p:cNvPr id="46" name="Text 44"/>
          <p:cNvSpPr/>
          <p:nvPr/>
        </p:nvSpPr>
        <p:spPr>
          <a:xfrm>
            <a:off x="5897880" y="3682746"/>
            <a:ext cx="26951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⚠️ Overwrite remote — dangerous!</a:t>
            </a:r>
            <a:endParaRPr lang="en-US" sz="675" dirty="0"/>
          </a:p>
        </p:txBody>
      </p:sp>
      <p:sp>
        <p:nvSpPr>
          <p:cNvPr id="47" name="Shape 45"/>
          <p:cNvSpPr/>
          <p:nvPr/>
        </p:nvSpPr>
        <p:spPr>
          <a:xfrm>
            <a:off x="5795010" y="3957066"/>
            <a:ext cx="2832354" cy="493776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5897880" y="3984498"/>
            <a:ext cx="269519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788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--tags</a:t>
            </a:r>
            <a:endParaRPr lang="en-US" sz="788" dirty="0"/>
          </a:p>
        </p:txBody>
      </p:sp>
      <p:sp>
        <p:nvSpPr>
          <p:cNvPr id="49" name="Text 47"/>
          <p:cNvSpPr/>
          <p:nvPr/>
        </p:nvSpPr>
        <p:spPr>
          <a:xfrm>
            <a:off x="5897880" y="4217670"/>
            <a:ext cx="269519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Also push your tags</a:t>
            </a:r>
            <a:endParaRPr lang="en-US" sz="675" dirty="0"/>
          </a:p>
        </p:txBody>
      </p:sp>
      <p:sp>
        <p:nvSpPr>
          <p:cNvPr id="50" name="Shape 48"/>
          <p:cNvSpPr/>
          <p:nvPr/>
        </p:nvSpPr>
        <p:spPr>
          <a:xfrm>
            <a:off x="342900" y="4697730"/>
            <a:ext cx="8455914" cy="240030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342900" y="469773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 </a:t>
            </a:r>
            <a:r>
              <a:rPr lang="en-US" sz="750" dirty="0">
                <a:solidFill>
                  <a:srgbClr val="3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</a:t>
            </a:r>
            <a:r>
              <a:rPr lang="en-US" sz="825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 locally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825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it works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825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</a:t>
            </a:r>
            <a:r>
              <a:rPr lang="en-US" sz="8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</a:t>
            </a:r>
            <a:r>
              <a:rPr lang="en-US" sz="825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on GitHub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STAY IN SYNC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4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&amp; git fetch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Someone else pushed? You need their changes. Here's how to get them.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4183380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325755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548640" y="147447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🔍  </a:t>
            </a:r>
            <a:r>
              <a:rPr lang="en-US" sz="15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1817370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 without changing your files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548640" y="2125980"/>
            <a:ext cx="3771900" cy="891540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651510" y="2194560"/>
            <a:ext cx="36347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happens: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51510" y="2366010"/>
            <a:ext cx="363474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88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</a:t>
            </a: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Downloads new commits from remote</a:t>
            </a:r>
            <a:endParaRPr lang="en-US" sz="788" dirty="0"/>
          </a:p>
          <a:p>
            <a:r>
              <a:rPr lang="en-US" sz="788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</a:t>
            </a: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Updates origin/main (the remote tracker)</a:t>
            </a:r>
            <a:endParaRPr lang="en-US" sz="788" dirty="0"/>
          </a:p>
          <a:p>
            <a:r>
              <a:rPr lang="en-US" sz="788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 </a:t>
            </a: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Does NOT touch your working files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548640" y="3120390"/>
            <a:ext cx="3771900" cy="30861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630936" y="3120390"/>
            <a:ext cx="360730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origin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548640" y="3531870"/>
            <a:ext cx="3771900" cy="891540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51510" y="3600450"/>
            <a:ext cx="36347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when: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51510" y="3771900"/>
            <a:ext cx="363474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88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want to see what changed before</a:t>
            </a:r>
            <a:endParaRPr lang="en-US" sz="788" dirty="0"/>
          </a:p>
          <a:p>
            <a:r>
              <a:rPr lang="en-US" sz="788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merging it into your work.</a:t>
            </a:r>
            <a:endParaRPr lang="en-US" sz="788" dirty="0"/>
          </a:p>
          <a:p>
            <a:endParaRPr lang="en-US" sz="788" dirty="0"/>
          </a:p>
          <a:p>
            <a:r>
              <a:rPr lang="en-US" sz="788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 — inspect first, merge later.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4615434" y="1337310"/>
            <a:ext cx="4183380" cy="325755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615434" y="1337310"/>
            <a:ext cx="54864" cy="325755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821174" y="1474470"/>
            <a:ext cx="3840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▼  </a:t>
            </a:r>
            <a:r>
              <a:rPr lang="en-US" sz="15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1174" y="1817370"/>
            <a:ext cx="3840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 + merge, in one go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4821174" y="2125980"/>
            <a:ext cx="3771900" cy="891540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4924044" y="2194560"/>
            <a:ext cx="36347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happens: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924044" y="2366010"/>
            <a:ext cx="363474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88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</a:t>
            </a: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Fetches remote changes</a:t>
            </a:r>
            <a:endParaRPr lang="en-US" sz="788" dirty="0"/>
          </a:p>
          <a:p>
            <a:r>
              <a:rPr lang="en-US" sz="788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</a:t>
            </a: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Merges them into your branch</a:t>
            </a:r>
            <a:endParaRPr lang="en-US" sz="788" dirty="0"/>
          </a:p>
          <a:p>
            <a:r>
              <a:rPr lang="en-US" sz="788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</a:t>
            </a:r>
            <a:r>
              <a:rPr lang="en-US" sz="788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create merge conflicts!</a:t>
            </a:r>
            <a:endParaRPr lang="en-US" sz="788" dirty="0"/>
          </a:p>
        </p:txBody>
      </p:sp>
      <p:sp>
        <p:nvSpPr>
          <p:cNvPr id="28" name="Shape 26"/>
          <p:cNvSpPr/>
          <p:nvPr/>
        </p:nvSpPr>
        <p:spPr>
          <a:xfrm>
            <a:off x="4821174" y="3120390"/>
            <a:ext cx="3771900" cy="30861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4903470" y="3120390"/>
            <a:ext cx="360730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4821174" y="3531870"/>
            <a:ext cx="3771900" cy="891540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4924044" y="3600450"/>
            <a:ext cx="36347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spc="1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when: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24044" y="3771900"/>
            <a:ext cx="363474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88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You're ready to integrate teammates'</a:t>
            </a:r>
            <a:endParaRPr lang="en-US" sz="788" dirty="0"/>
          </a:p>
          <a:p>
            <a:r>
              <a:rPr lang="en-US" sz="788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into yours right now.</a:t>
            </a:r>
            <a:endParaRPr lang="en-US" sz="788" dirty="0"/>
          </a:p>
          <a:p>
            <a:endParaRPr lang="en-US" sz="788" dirty="0"/>
          </a:p>
          <a:p>
            <a:r>
              <a:rPr lang="en-US" sz="788" i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daily default — before you push.</a:t>
            </a:r>
            <a:endParaRPr lang="en-US" sz="788" dirty="0"/>
          </a:p>
        </p:txBody>
      </p:sp>
      <p:sp>
        <p:nvSpPr>
          <p:cNvPr id="33" name="Shape 31"/>
          <p:cNvSpPr/>
          <p:nvPr/>
        </p:nvSpPr>
        <p:spPr>
          <a:xfrm>
            <a:off x="342900" y="4697730"/>
            <a:ext cx="8455914" cy="240030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342900" y="469773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spc="2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FORMULA  </a:t>
            </a:r>
            <a:r>
              <a:rPr lang="en-US" sz="750" dirty="0">
                <a:solidFill>
                  <a:srgbClr val="3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</a:t>
            </a: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</a:t>
            </a:r>
            <a:r>
              <a:rPr lang="en-US" sz="9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</a:t>
            </a: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origin/main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TEAM WORKFLOW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4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Collaboration Flow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real teams ship code on GitHub — from fork to merged pull request.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298323" y="1440180"/>
            <a:ext cx="1632204" cy="1714500"/>
          </a:xfrm>
          <a:prstGeom prst="rect">
            <a:avLst/>
          </a:prstGeom>
          <a:solidFill>
            <a:srgbClr val="13132A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908685" y="1234440"/>
            <a:ext cx="411480" cy="411480"/>
          </a:xfrm>
          <a:prstGeom prst="ellipse">
            <a:avLst/>
          </a:prstGeom>
          <a:solidFill>
            <a:srgbClr val="F97316"/>
          </a:solidFill>
          <a:ln w="38100">
            <a:solidFill>
              <a:srgbClr val="0D0D1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908685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8323" y="1748790"/>
            <a:ext cx="16322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/>
              <a:t>🍴</a:t>
            </a:r>
          </a:p>
        </p:txBody>
      </p:sp>
      <p:sp>
        <p:nvSpPr>
          <p:cNvPr id="13" name="Text 11"/>
          <p:cNvSpPr/>
          <p:nvPr/>
        </p:nvSpPr>
        <p:spPr>
          <a:xfrm>
            <a:off x="298323" y="2228850"/>
            <a:ext cx="1632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spc="15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1193" y="2571750"/>
            <a:ext cx="142646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your own copy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a repo on GitHub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26539" y="1440180"/>
            <a:ext cx="1632204" cy="1714500"/>
          </a:xfrm>
          <a:prstGeom prst="rect">
            <a:avLst/>
          </a:prstGeom>
          <a:solidFill>
            <a:srgbClr val="13132A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2636901" y="1234440"/>
            <a:ext cx="411480" cy="411480"/>
          </a:xfrm>
          <a:prstGeom prst="ellipse">
            <a:avLst/>
          </a:prstGeom>
          <a:solidFill>
            <a:srgbClr val="FBBF24"/>
          </a:solidFill>
          <a:ln w="38100">
            <a:solidFill>
              <a:srgbClr val="0D0D1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2636901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26539" y="1748790"/>
            <a:ext cx="16322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/>
              <a:t>⬇️</a:t>
            </a:r>
          </a:p>
        </p:txBody>
      </p:sp>
      <p:sp>
        <p:nvSpPr>
          <p:cNvPr id="19" name="Text 17"/>
          <p:cNvSpPr/>
          <p:nvPr/>
        </p:nvSpPr>
        <p:spPr>
          <a:xfrm>
            <a:off x="2026539" y="2228850"/>
            <a:ext cx="1632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spc="15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29409" y="2571750"/>
            <a:ext cx="142646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your fork down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your laptop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754755" y="1440180"/>
            <a:ext cx="1632204" cy="1714500"/>
          </a:xfrm>
          <a:prstGeom prst="rect">
            <a:avLst/>
          </a:prstGeom>
          <a:solidFill>
            <a:srgbClr val="13132A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365117" y="1234440"/>
            <a:ext cx="411480" cy="411480"/>
          </a:xfrm>
          <a:prstGeom prst="ellipse">
            <a:avLst/>
          </a:prstGeom>
          <a:solidFill>
            <a:srgbClr val="22C55E"/>
          </a:solidFill>
          <a:ln w="38100">
            <a:solidFill>
              <a:srgbClr val="0D0D1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4365117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54755" y="1748790"/>
            <a:ext cx="16322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/>
              <a:t>🌿</a:t>
            </a:r>
          </a:p>
        </p:txBody>
      </p:sp>
      <p:sp>
        <p:nvSpPr>
          <p:cNvPr id="25" name="Text 23"/>
          <p:cNvSpPr/>
          <p:nvPr/>
        </p:nvSpPr>
        <p:spPr>
          <a:xfrm>
            <a:off x="3754755" y="2228850"/>
            <a:ext cx="1632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spc="150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BRANCH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57625" y="2571750"/>
            <a:ext cx="142646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feature branch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your change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482971" y="1440180"/>
            <a:ext cx="1632204" cy="1714500"/>
          </a:xfrm>
          <a:prstGeom prst="rect">
            <a:avLst/>
          </a:prstGeom>
          <a:solidFill>
            <a:srgbClr val="13132A"/>
          </a:solidFill>
          <a:ln w="2540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6093333" y="1234440"/>
            <a:ext cx="411480" cy="411480"/>
          </a:xfrm>
          <a:prstGeom prst="ellipse">
            <a:avLst/>
          </a:prstGeom>
          <a:solidFill>
            <a:srgbClr val="00E5CC"/>
          </a:solidFill>
          <a:ln w="38100">
            <a:solidFill>
              <a:srgbClr val="0D0D1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6093333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482971" y="1748790"/>
            <a:ext cx="16322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/>
              <a:t>💾</a:t>
            </a:r>
          </a:p>
        </p:txBody>
      </p:sp>
      <p:sp>
        <p:nvSpPr>
          <p:cNvPr id="31" name="Text 29"/>
          <p:cNvSpPr/>
          <p:nvPr/>
        </p:nvSpPr>
        <p:spPr>
          <a:xfrm>
            <a:off x="5482971" y="2228850"/>
            <a:ext cx="1632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spc="150" dirty="0">
                <a:solidFill>
                  <a:srgbClr val="00E5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 + PUSH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85841" y="2571750"/>
            <a:ext cx="142646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&amp; send changes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to your fork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211187" y="1440180"/>
            <a:ext cx="1632204" cy="1714500"/>
          </a:xfrm>
          <a:prstGeom prst="rect">
            <a:avLst/>
          </a:prstGeom>
          <a:solidFill>
            <a:srgbClr val="13132A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7821549" y="1234440"/>
            <a:ext cx="411480" cy="411480"/>
          </a:xfrm>
          <a:prstGeom prst="ellipse">
            <a:avLst/>
          </a:prstGeom>
          <a:solidFill>
            <a:srgbClr val="A78BFA"/>
          </a:solidFill>
          <a:ln w="38100">
            <a:solidFill>
              <a:srgbClr val="0D0D1F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7821549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0D0D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211187" y="1748790"/>
            <a:ext cx="16322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dirty="0"/>
              <a:t>🔀</a:t>
            </a:r>
          </a:p>
        </p:txBody>
      </p:sp>
      <p:sp>
        <p:nvSpPr>
          <p:cNvPr id="37" name="Text 35"/>
          <p:cNvSpPr/>
          <p:nvPr/>
        </p:nvSpPr>
        <p:spPr>
          <a:xfrm>
            <a:off x="7211187" y="2228850"/>
            <a:ext cx="16322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spc="150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 REQUEST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14057" y="2571750"/>
            <a:ext cx="142646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to merge your</a:t>
            </a:r>
            <a:endParaRPr lang="en-US" sz="750" dirty="0"/>
          </a:p>
          <a:p>
            <a:pPr algn="ctr"/>
            <a:r>
              <a:rPr lang="en-US" sz="7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changes into main repo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944243" y="2125980"/>
            <a:ext cx="68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672459" y="2125980"/>
            <a:ext cx="68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400675" y="2125980"/>
            <a:ext cx="68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128891" y="2125980"/>
            <a:ext cx="685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342900" y="3531870"/>
            <a:ext cx="8455914" cy="288036"/>
          </a:xfrm>
          <a:prstGeom prst="rect">
            <a:avLst/>
          </a:prstGeom>
          <a:solidFill>
            <a:srgbClr val="1A1A35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Shape 42"/>
          <p:cNvSpPr/>
          <p:nvPr/>
        </p:nvSpPr>
        <p:spPr>
          <a:xfrm>
            <a:off x="445770" y="36210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5" name="Shape 43"/>
          <p:cNvSpPr/>
          <p:nvPr/>
        </p:nvSpPr>
        <p:spPr>
          <a:xfrm>
            <a:off x="596646" y="36210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6" name="Shape 44"/>
          <p:cNvSpPr/>
          <p:nvPr/>
        </p:nvSpPr>
        <p:spPr>
          <a:xfrm>
            <a:off x="747522" y="36210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7" name="Shape 45"/>
          <p:cNvSpPr/>
          <p:nvPr/>
        </p:nvSpPr>
        <p:spPr>
          <a:xfrm>
            <a:off x="960120" y="3586734"/>
            <a:ext cx="7701534" cy="178308"/>
          </a:xfrm>
          <a:prstGeom prst="roundRect">
            <a:avLst>
              <a:gd name="adj" fmla="val 38462"/>
            </a:avLst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1062990" y="3586734"/>
            <a:ext cx="7598664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75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🔒  </a:t>
            </a: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github.com/team/project/pull/42</a:t>
            </a:r>
            <a:endParaRPr lang="en-US" sz="675" dirty="0"/>
          </a:p>
        </p:txBody>
      </p:sp>
      <p:sp>
        <p:nvSpPr>
          <p:cNvPr id="49" name="Shape 47"/>
          <p:cNvSpPr/>
          <p:nvPr/>
        </p:nvSpPr>
        <p:spPr>
          <a:xfrm>
            <a:off x="342900" y="3819906"/>
            <a:ext cx="8455914" cy="843534"/>
          </a:xfrm>
          <a:prstGeom prst="rect">
            <a:avLst/>
          </a:prstGeom>
          <a:solidFill>
            <a:srgbClr val="13132A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514350" y="3909060"/>
            <a:ext cx="514350" cy="20574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514350" y="3909060"/>
            <a:ext cx="5143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75" b="1" dirty="0">
                <a:solidFill>
                  <a:srgbClr val="0D0D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Open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1097280" y="387477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login feature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#42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14350" y="4183380"/>
            <a:ext cx="5486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👤 ahmed  </a:t>
            </a: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wants to merge </a:t>
            </a:r>
            <a:r>
              <a:rPr lang="en-US" sz="7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commits </a:t>
            </a: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 </a:t>
            </a:r>
            <a:r>
              <a:rPr lang="en-US" sz="7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</a:t>
            </a: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7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feature/login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14350" y="4389120"/>
            <a:ext cx="48006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</a:t>
            </a:r>
            <a:r>
              <a:rPr lang="en-US" sz="7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checks passed  </a:t>
            </a: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 </a:t>
            </a: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2 reviews approved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58634" y="4183380"/>
            <a:ext cx="1371600" cy="288036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6" name="Text 54"/>
          <p:cNvSpPr/>
          <p:nvPr/>
        </p:nvSpPr>
        <p:spPr>
          <a:xfrm>
            <a:off x="7358634" y="4183380"/>
            <a:ext cx="137160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Merge pull request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342900" y="4766310"/>
            <a:ext cx="845591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⭐  </a:t>
            </a: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Open-source works this way: </a:t>
            </a:r>
            <a:r>
              <a:rPr lang="en-US" sz="7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 → branch → PR → review → merge.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BEYOND THE BASICS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4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 More Than Git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that turn a code host into a whole developer platform.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147447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80060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🐛</a:t>
            </a:r>
          </a:p>
        </p:txBody>
      </p:sp>
      <p:sp>
        <p:nvSpPr>
          <p:cNvPr id="12" name="Text 10"/>
          <p:cNvSpPr/>
          <p:nvPr/>
        </p:nvSpPr>
        <p:spPr>
          <a:xfrm>
            <a:off x="891540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0060" y="1851660"/>
            <a:ext cx="25168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bugs, features, and questions.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480060" y="2400300"/>
            <a:ext cx="2516886" cy="30861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548640" y="2400300"/>
            <a:ext cx="24483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#42 — Login button crashes on iOS</a:t>
            </a:r>
            <a:endParaRPr lang="en-US" sz="713" dirty="0"/>
          </a:p>
        </p:txBody>
      </p:sp>
      <p:sp>
        <p:nvSpPr>
          <p:cNvPr id="16" name="Shape 14"/>
          <p:cNvSpPr/>
          <p:nvPr/>
        </p:nvSpPr>
        <p:spPr>
          <a:xfrm>
            <a:off x="3271266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3271266" y="1337310"/>
            <a:ext cx="54864" cy="147447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3408426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🔀</a:t>
            </a:r>
          </a:p>
        </p:txBody>
      </p:sp>
      <p:sp>
        <p:nvSpPr>
          <p:cNvPr id="19" name="Text 17"/>
          <p:cNvSpPr/>
          <p:nvPr/>
        </p:nvSpPr>
        <p:spPr>
          <a:xfrm>
            <a:off x="3819906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REQUESTS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08426" y="1851660"/>
            <a:ext cx="25168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discuss code before merging.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3408426" y="2400300"/>
            <a:ext cx="2516886" cy="30861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3477006" y="2400300"/>
            <a:ext cx="24483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2 reviews approved · ready to merge</a:t>
            </a:r>
            <a:endParaRPr lang="en-US" sz="713" dirty="0"/>
          </a:p>
        </p:txBody>
      </p:sp>
      <p:sp>
        <p:nvSpPr>
          <p:cNvPr id="23" name="Shape 21"/>
          <p:cNvSpPr/>
          <p:nvPr/>
        </p:nvSpPr>
        <p:spPr>
          <a:xfrm>
            <a:off x="6199632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6199632" y="1337310"/>
            <a:ext cx="54864" cy="1474470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6336792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🚀</a:t>
            </a:r>
          </a:p>
        </p:txBody>
      </p:sp>
      <p:sp>
        <p:nvSpPr>
          <p:cNvPr id="26" name="Text 24"/>
          <p:cNvSpPr/>
          <p:nvPr/>
        </p:nvSpPr>
        <p:spPr>
          <a:xfrm>
            <a:off x="6748272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36792" y="1851660"/>
            <a:ext cx="25168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static website hosting.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6336792" y="2400300"/>
            <a:ext cx="2516886" cy="30861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6405372" y="2400300"/>
            <a:ext cx="24483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ahmed.github.io/my-site</a:t>
            </a:r>
            <a:endParaRPr lang="en-US" sz="713" dirty="0"/>
          </a:p>
        </p:txBody>
      </p:sp>
      <p:sp>
        <p:nvSpPr>
          <p:cNvPr id="30" name="Shape 28"/>
          <p:cNvSpPr/>
          <p:nvPr/>
        </p:nvSpPr>
        <p:spPr>
          <a:xfrm>
            <a:off x="342900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342900" y="2948940"/>
            <a:ext cx="54864" cy="147447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480060" y="305181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⚙️</a:t>
            </a:r>
          </a:p>
        </p:txBody>
      </p:sp>
      <p:sp>
        <p:nvSpPr>
          <p:cNvPr id="33" name="Text 31"/>
          <p:cNvSpPr/>
          <p:nvPr/>
        </p:nvSpPr>
        <p:spPr>
          <a:xfrm>
            <a:off x="891540" y="305181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" y="3463290"/>
            <a:ext cx="25168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— run tests and deploy on push.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480060" y="4011930"/>
            <a:ext cx="2516886" cy="30861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548640" y="4011930"/>
            <a:ext cx="24483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build.yml · triggered on push</a:t>
            </a:r>
            <a:endParaRPr lang="en-US" sz="713" dirty="0"/>
          </a:p>
        </p:txBody>
      </p:sp>
      <p:sp>
        <p:nvSpPr>
          <p:cNvPr id="37" name="Shape 35"/>
          <p:cNvSpPr/>
          <p:nvPr/>
        </p:nvSpPr>
        <p:spPr>
          <a:xfrm>
            <a:off x="3271266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3271266" y="2948940"/>
            <a:ext cx="54864" cy="147447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3408426" y="305181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⭐</a:t>
            </a:r>
          </a:p>
        </p:txBody>
      </p:sp>
      <p:sp>
        <p:nvSpPr>
          <p:cNvPr id="40" name="Text 38"/>
          <p:cNvSpPr/>
          <p:nvPr/>
        </p:nvSpPr>
        <p:spPr>
          <a:xfrm>
            <a:off x="3819906" y="305181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08426" y="3463290"/>
            <a:ext cx="25168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repos you find useful.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3408426" y="4011930"/>
            <a:ext cx="2516886" cy="30861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3" name="Text 41"/>
          <p:cNvSpPr/>
          <p:nvPr/>
        </p:nvSpPr>
        <p:spPr>
          <a:xfrm>
            <a:off x="3477006" y="4011930"/>
            <a:ext cx="24483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 2.4k stars · saved by the community</a:t>
            </a:r>
            <a:endParaRPr lang="en-US" sz="713" dirty="0"/>
          </a:p>
        </p:txBody>
      </p:sp>
      <p:sp>
        <p:nvSpPr>
          <p:cNvPr id="44" name="Shape 42"/>
          <p:cNvSpPr/>
          <p:nvPr/>
        </p:nvSpPr>
        <p:spPr>
          <a:xfrm>
            <a:off x="6199632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5" name="Shape 43"/>
          <p:cNvSpPr/>
          <p:nvPr/>
        </p:nvSpPr>
        <p:spPr>
          <a:xfrm>
            <a:off x="6199632" y="2948940"/>
            <a:ext cx="54864" cy="147447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6336792" y="305181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👤</a:t>
            </a:r>
          </a:p>
        </p:txBody>
      </p:sp>
      <p:sp>
        <p:nvSpPr>
          <p:cNvPr id="47" name="Text 45"/>
          <p:cNvSpPr/>
          <p:nvPr/>
        </p:nvSpPr>
        <p:spPr>
          <a:xfrm>
            <a:off x="6748272" y="305181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336792" y="3463290"/>
            <a:ext cx="25168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75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developer portfolio.</a:t>
            </a:r>
            <a:endParaRPr lang="en-US" sz="975" dirty="0"/>
          </a:p>
        </p:txBody>
      </p:sp>
      <p:sp>
        <p:nvSpPr>
          <p:cNvPr id="49" name="Shape 47"/>
          <p:cNvSpPr/>
          <p:nvPr/>
        </p:nvSpPr>
        <p:spPr>
          <a:xfrm>
            <a:off x="6336792" y="4011930"/>
            <a:ext cx="2516886" cy="308610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6405372" y="4011930"/>
            <a:ext cx="244830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182 contributions this year</a:t>
            </a:r>
            <a:endParaRPr lang="en-US" sz="713" dirty="0"/>
          </a:p>
        </p:txBody>
      </p:sp>
      <p:sp>
        <p:nvSpPr>
          <p:cNvPr id="51" name="Shape 49"/>
          <p:cNvSpPr/>
          <p:nvPr/>
        </p:nvSpPr>
        <p:spPr>
          <a:xfrm>
            <a:off x="342900" y="4594860"/>
            <a:ext cx="8455914" cy="377190"/>
          </a:xfrm>
          <a:prstGeom prst="rect">
            <a:avLst/>
          </a:prstGeom>
          <a:solidFill>
            <a:srgbClr val="13132A"/>
          </a:solidFill>
          <a:ln w="190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342900" y="4594860"/>
            <a:ext cx="8455914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 TIP  </a:t>
            </a:r>
            <a:r>
              <a:rPr lang="en-US" sz="750" dirty="0">
                <a:solidFill>
                  <a:srgbClr val="3A3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</a:t>
            </a: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strong GitHub profile = your live resume.  </a:t>
            </a:r>
            <a:r>
              <a:rPr lang="en-US" sz="90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something every week.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7190" y="288036"/>
            <a:ext cx="82296" cy="82296"/>
          </a:xfrm>
          <a:prstGeom prst="rect">
            <a:avLst/>
          </a:prstGeom>
          <a:solidFill>
            <a:srgbClr val="00E5CC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Text 1"/>
          <p:cNvSpPr/>
          <p:nvPr/>
        </p:nvSpPr>
        <p:spPr>
          <a:xfrm>
            <a:off x="534924" y="198882"/>
            <a:ext cx="48006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spc="225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SUMMARY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4800600" y="198882"/>
            <a:ext cx="39776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750" spc="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Bootcamp  ·  مسار البرمجة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42900" y="5026914"/>
            <a:ext cx="3429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 1  ·  SESSION 4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829300" y="5026914"/>
            <a:ext cx="29695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600" spc="225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342900" y="514350"/>
            <a:ext cx="845591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Cheat Sheet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42900" y="960120"/>
            <a:ext cx="8455914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command from today — screenshot this slide.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342900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342900" y="1337310"/>
            <a:ext cx="54864" cy="147447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480060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🌐</a:t>
            </a:r>
          </a:p>
        </p:txBody>
      </p:sp>
      <p:sp>
        <p:nvSpPr>
          <p:cNvPr id="12" name="Text 10"/>
          <p:cNvSpPr/>
          <p:nvPr/>
        </p:nvSpPr>
        <p:spPr>
          <a:xfrm>
            <a:off x="891540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060" y="183108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562356" y="183108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480060" y="213283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562356" y="213283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&lt;url&gt;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480060" y="243459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562356" y="243459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remove &lt;n&gt;</a:t>
            </a:r>
            <a:endParaRPr lang="en-US" sz="825" dirty="0"/>
          </a:p>
        </p:txBody>
      </p:sp>
      <p:sp>
        <p:nvSpPr>
          <p:cNvPr id="19" name="Shape 17"/>
          <p:cNvSpPr/>
          <p:nvPr/>
        </p:nvSpPr>
        <p:spPr>
          <a:xfrm>
            <a:off x="3271266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3271266" y="1337310"/>
            <a:ext cx="54864" cy="147447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408426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⬇️</a:t>
            </a:r>
          </a:p>
        </p:txBody>
      </p:sp>
      <p:sp>
        <p:nvSpPr>
          <p:cNvPr id="22" name="Text 20"/>
          <p:cNvSpPr/>
          <p:nvPr/>
        </p:nvSpPr>
        <p:spPr>
          <a:xfrm>
            <a:off x="3819906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CLONE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08426" y="183108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3490722" y="183108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</a:t>
            </a:r>
            <a:endParaRPr lang="en-US" sz="825" dirty="0"/>
          </a:p>
        </p:txBody>
      </p:sp>
      <p:sp>
        <p:nvSpPr>
          <p:cNvPr id="25" name="Shape 23"/>
          <p:cNvSpPr/>
          <p:nvPr/>
        </p:nvSpPr>
        <p:spPr>
          <a:xfrm>
            <a:off x="3408426" y="213283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3490722" y="213283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&lt;url&gt; &lt;folder&gt;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3408426" y="243459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3490722" y="243459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--depth 1 &lt;url&gt;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6199632" y="133731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6199632" y="1337310"/>
            <a:ext cx="54864" cy="147447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336792" y="144018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⬆️</a:t>
            </a:r>
          </a:p>
        </p:txBody>
      </p:sp>
      <p:sp>
        <p:nvSpPr>
          <p:cNvPr id="32" name="Text 30"/>
          <p:cNvSpPr/>
          <p:nvPr/>
        </p:nvSpPr>
        <p:spPr>
          <a:xfrm>
            <a:off x="6748272" y="144018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36792" y="183108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6419088" y="183108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336792" y="213283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6419088" y="213283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&lt;branch&gt;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6336792" y="243459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6419088" y="243459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--delete &lt;b&gt;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342900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342900" y="2948940"/>
            <a:ext cx="54864" cy="1474470"/>
          </a:xfrm>
          <a:prstGeom prst="rect">
            <a:avLst/>
          </a:prstGeom>
          <a:solidFill>
            <a:srgbClr val="60A5FA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480060" y="305181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🔍</a:t>
            </a:r>
          </a:p>
        </p:txBody>
      </p:sp>
      <p:sp>
        <p:nvSpPr>
          <p:cNvPr id="42" name="Text 40"/>
          <p:cNvSpPr/>
          <p:nvPr/>
        </p:nvSpPr>
        <p:spPr>
          <a:xfrm>
            <a:off x="891540" y="305181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0060" y="344271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562356" y="344271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480060" y="374446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562356" y="374446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origin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480060" y="404622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562356" y="404622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--all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3271266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Shape 48"/>
          <p:cNvSpPr/>
          <p:nvPr/>
        </p:nvSpPr>
        <p:spPr>
          <a:xfrm>
            <a:off x="3271266" y="2948940"/>
            <a:ext cx="54864" cy="147447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1" name="Text 49"/>
          <p:cNvSpPr/>
          <p:nvPr/>
        </p:nvSpPr>
        <p:spPr>
          <a:xfrm>
            <a:off x="3408426" y="305181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🔄</a:t>
            </a:r>
          </a:p>
        </p:txBody>
      </p:sp>
      <p:sp>
        <p:nvSpPr>
          <p:cNvPr id="52" name="Text 50"/>
          <p:cNvSpPr/>
          <p:nvPr/>
        </p:nvSpPr>
        <p:spPr>
          <a:xfrm>
            <a:off x="3819906" y="305181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408426" y="344271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3490722" y="344271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</a:t>
            </a:r>
            <a:endParaRPr lang="en-US" sz="825" dirty="0"/>
          </a:p>
        </p:txBody>
      </p:sp>
      <p:sp>
        <p:nvSpPr>
          <p:cNvPr id="55" name="Shape 53"/>
          <p:cNvSpPr/>
          <p:nvPr/>
        </p:nvSpPr>
        <p:spPr>
          <a:xfrm>
            <a:off x="3408426" y="374446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6" name="Text 54"/>
          <p:cNvSpPr/>
          <p:nvPr/>
        </p:nvSpPr>
        <p:spPr>
          <a:xfrm>
            <a:off x="3490722" y="374446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origin main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3408426" y="404622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3490722" y="404622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pull --rebase</a:t>
            </a:r>
            <a:endParaRPr lang="en-US" sz="825" dirty="0"/>
          </a:p>
        </p:txBody>
      </p:sp>
      <p:sp>
        <p:nvSpPr>
          <p:cNvPr id="59" name="Shape 57"/>
          <p:cNvSpPr/>
          <p:nvPr/>
        </p:nvSpPr>
        <p:spPr>
          <a:xfrm>
            <a:off x="6199632" y="2948940"/>
            <a:ext cx="2791206" cy="1474470"/>
          </a:xfrm>
          <a:prstGeom prst="rect">
            <a:avLst/>
          </a:prstGeom>
          <a:solidFill>
            <a:srgbClr val="13132A"/>
          </a:solidFill>
          <a:ln w="12700">
            <a:solidFill>
              <a:srgbClr val="2A2A4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0" name="Shape 58"/>
          <p:cNvSpPr/>
          <p:nvPr/>
        </p:nvSpPr>
        <p:spPr>
          <a:xfrm>
            <a:off x="6199632" y="2948940"/>
            <a:ext cx="54864" cy="147447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1" name="Text 59"/>
          <p:cNvSpPr/>
          <p:nvPr/>
        </p:nvSpPr>
        <p:spPr>
          <a:xfrm>
            <a:off x="6336792" y="305181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dirty="0"/>
              <a:t>👥</a:t>
            </a:r>
          </a:p>
        </p:txBody>
      </p:sp>
      <p:sp>
        <p:nvSpPr>
          <p:cNvPr id="62" name="Text 60"/>
          <p:cNvSpPr/>
          <p:nvPr/>
        </p:nvSpPr>
        <p:spPr>
          <a:xfrm>
            <a:off x="6748272" y="3051810"/>
            <a:ext cx="210540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spc="2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COLLABORATE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6336792" y="3442716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4" name="Text 62"/>
          <p:cNvSpPr/>
          <p:nvPr/>
        </p:nvSpPr>
        <p:spPr>
          <a:xfrm>
            <a:off x="6419088" y="3442716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&lt;fork-url&gt;</a:t>
            </a:r>
            <a:endParaRPr lang="en-US" sz="825" dirty="0"/>
          </a:p>
        </p:txBody>
      </p:sp>
      <p:sp>
        <p:nvSpPr>
          <p:cNvPr id="65" name="Shape 63"/>
          <p:cNvSpPr/>
          <p:nvPr/>
        </p:nvSpPr>
        <p:spPr>
          <a:xfrm>
            <a:off x="6336792" y="3744468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6" name="Text 64"/>
          <p:cNvSpPr/>
          <p:nvPr/>
        </p:nvSpPr>
        <p:spPr>
          <a:xfrm>
            <a:off x="6419088" y="3744468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feature</a:t>
            </a:r>
            <a:endParaRPr lang="en-US" sz="825" dirty="0"/>
          </a:p>
        </p:txBody>
      </p:sp>
      <p:sp>
        <p:nvSpPr>
          <p:cNvPr id="67" name="Shape 65"/>
          <p:cNvSpPr/>
          <p:nvPr/>
        </p:nvSpPr>
        <p:spPr>
          <a:xfrm>
            <a:off x="6336792" y="4046220"/>
            <a:ext cx="2516886" cy="260604"/>
          </a:xfrm>
          <a:prstGeom prst="rect">
            <a:avLst/>
          </a:prstGeom>
          <a:solidFill>
            <a:srgbClr val="0F0F22"/>
          </a:solidFill>
          <a:ln w="12700">
            <a:solidFill>
              <a:srgbClr val="3A3A5A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68" name="Text 66"/>
          <p:cNvSpPr/>
          <p:nvPr/>
        </p:nvSpPr>
        <p:spPr>
          <a:xfrm>
            <a:off x="6419088" y="4046220"/>
            <a:ext cx="2352294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00A8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825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(then open PR on GitHub)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342900" y="4560570"/>
            <a:ext cx="8455914" cy="411480"/>
          </a:xfrm>
          <a:prstGeom prst="rect">
            <a:avLst/>
          </a:prstGeom>
          <a:solidFill>
            <a:srgbClr val="13132A"/>
          </a:solidFill>
          <a:ln w="19050">
            <a:solidFill>
              <a:srgbClr val="00E5C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0" name="Text 68"/>
          <p:cNvSpPr/>
          <p:nvPr/>
        </p:nvSpPr>
        <p:spPr>
          <a:xfrm>
            <a:off x="342900" y="4560570"/>
            <a:ext cx="8455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</a:t>
            </a:r>
            <a:r>
              <a:rPr lang="en-US" sz="10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 code lives in the cloud now.  Push often."</a:t>
            </a:r>
            <a:r>
              <a:rPr lang="en-US" sz="1050" b="1" dirty="0">
                <a:solidFill>
                  <a:srgbClr val="00E5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▊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31132</TotalTime>
  <Words>1796</Words>
  <Application>Microsoft Office PowerPoint</Application>
  <PresentationFormat>On-screen Show (16:9)</PresentationFormat>
  <Paragraphs>372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Tajawal</vt:lpstr>
      <vt:lpstr>Calibri</vt:lpstr>
      <vt:lpstr>IBM Plex Sans Arabic</vt:lpstr>
      <vt:lpstr>Georgia</vt:lpstr>
      <vt:lpstr>IBM Plex Sans Arabic Medium</vt:lpstr>
      <vt:lpstr>Consolas</vt:lpstr>
      <vt:lpstr>Arial</vt:lpstr>
      <vt:lpstr>Arial Black</vt:lpstr>
      <vt:lpstr>IBM Plex Sans Arabic SemiBold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257</cp:revision>
  <dcterms:modified xsi:type="dcterms:W3CDTF">2026-04-17T17:18:56Z</dcterms:modified>
</cp:coreProperties>
</file>