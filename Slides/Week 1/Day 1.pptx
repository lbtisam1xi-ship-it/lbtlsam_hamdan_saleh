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4"/>
  </p:notesMasterIdLst>
  <p:sldIdLst>
    <p:sldId id="256" r:id="rId2"/>
    <p:sldId id="540" r:id="rId3"/>
    <p:sldId id="494" r:id="rId4"/>
    <p:sldId id="541" r:id="rId5"/>
    <p:sldId id="542" r:id="rId6"/>
    <p:sldId id="258" r:id="rId7"/>
    <p:sldId id="496" r:id="rId8"/>
    <p:sldId id="499" r:id="rId9"/>
    <p:sldId id="501" r:id="rId10"/>
    <p:sldId id="495" r:id="rId11"/>
    <p:sldId id="498" r:id="rId12"/>
    <p:sldId id="502" r:id="rId13"/>
    <p:sldId id="503" r:id="rId14"/>
    <p:sldId id="504" r:id="rId15"/>
    <p:sldId id="508" r:id="rId16"/>
    <p:sldId id="507" r:id="rId17"/>
    <p:sldId id="506" r:id="rId18"/>
    <p:sldId id="509" r:id="rId19"/>
    <p:sldId id="519" r:id="rId20"/>
    <p:sldId id="257" r:id="rId21"/>
    <p:sldId id="520" r:id="rId22"/>
    <p:sldId id="259" r:id="rId23"/>
    <p:sldId id="521" r:id="rId24"/>
    <p:sldId id="522" r:id="rId25"/>
    <p:sldId id="523" r:id="rId26"/>
    <p:sldId id="524" r:id="rId27"/>
    <p:sldId id="264" r:id="rId28"/>
    <p:sldId id="525" r:id="rId29"/>
    <p:sldId id="526" r:id="rId30"/>
    <p:sldId id="527" r:id="rId31"/>
    <p:sldId id="528" r:id="rId32"/>
    <p:sldId id="529" r:id="rId33"/>
    <p:sldId id="530" r:id="rId34"/>
    <p:sldId id="531" r:id="rId35"/>
    <p:sldId id="532" r:id="rId36"/>
    <p:sldId id="533" r:id="rId37"/>
    <p:sldId id="534" r:id="rId38"/>
    <p:sldId id="535" r:id="rId39"/>
    <p:sldId id="536" r:id="rId40"/>
    <p:sldId id="537" r:id="rId41"/>
    <p:sldId id="538" r:id="rId42"/>
    <p:sldId id="281" r:id="rId43"/>
  </p:sldIdLst>
  <p:sldSz cx="9144000" cy="5143500" type="screen16x9"/>
  <p:notesSz cx="6858000" cy="9144000"/>
  <p:embeddedFontLst>
    <p:embeddedFont>
      <p:font typeface="Consolas" panose="020B0609020204030204" pitchFamily="49" charset="0"/>
      <p:regular r:id="rId45"/>
      <p:bold r:id="rId46"/>
      <p:italic r:id="rId47"/>
      <p:boldItalic r:id="rId48"/>
    </p:embeddedFont>
    <p:embeddedFont>
      <p:font typeface="IBM Plex Sans Arabic" panose="020B0604020202020204" charset="-78"/>
      <p:regular r:id="rId49"/>
      <p:bold r:id="rId50"/>
    </p:embeddedFont>
    <p:embeddedFont>
      <p:font typeface="IBM Plex Sans Arabic Medium" panose="020B0604020202020204" charset="-78"/>
      <p:regular r:id="rId51"/>
      <p:bold r:id="rId52"/>
    </p:embeddedFont>
    <p:embeddedFont>
      <p:font typeface="IBM Plex Sans Arabic SemiBold" panose="020B0604020202020204" charset="-78"/>
      <p:regular r:id="rId53"/>
      <p:bold r:id="rId54"/>
    </p:embeddedFont>
    <p:embeddedFont>
      <p:font typeface="Tajawal" panose="020B0604020202020204" charset="-78"/>
      <p:regular r:id="rId55"/>
      <p:bold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22E0367-EB9C-4807-88CA-1A682D9BA7E9}">
  <a:tblStyle styleId="{922E0367-EB9C-4807-88CA-1A682D9BA7E9}"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393" y="45"/>
      </p:cViewPr>
      <p:guideLst>
        <p:guide orient="horz" pos="524"/>
        <p:guide orient="horz" pos="2560"/>
        <p:guide pos="2880"/>
        <p:guide orient="horz" pos="759"/>
        <p:guide orient="horz" pos="2428"/>
        <p:guide pos="5325"/>
        <p:guide orient="horz" pos="9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font" Target="fonts/font1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56"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font" Target="fonts/font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5.fntdata"/><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font" Target="fonts/font8.fntdata"/><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9BEF7739-3B58-0698-8500-54313AFE8EE0}"/>
            </a:ext>
          </a:extLst>
        </p:cNvPr>
        <p:cNvGrpSpPr/>
        <p:nvPr/>
      </p:nvGrpSpPr>
      <p:grpSpPr>
        <a:xfrm>
          <a:off x="0" y="0"/>
          <a:ext cx="0" cy="0"/>
          <a:chOff x="0" y="0"/>
          <a:chExt cx="0" cy="0"/>
        </a:xfrm>
      </p:grpSpPr>
      <p:sp>
        <p:nvSpPr>
          <p:cNvPr id="74" name="Google Shape;74;g1a09276e835_1_0:notes">
            <a:extLst>
              <a:ext uri="{FF2B5EF4-FFF2-40B4-BE49-F238E27FC236}">
                <a16:creationId xmlns:a16="http://schemas.microsoft.com/office/drawing/2014/main" id="{066C0625-B7E3-1A08-B251-423441242A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a:extLst>
              <a:ext uri="{FF2B5EF4-FFF2-40B4-BE49-F238E27FC236}">
                <a16:creationId xmlns:a16="http://schemas.microsoft.com/office/drawing/2014/main" id="{8ECC39F5-2112-D17E-5A7B-10666A6B5D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19095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1a09276e835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687A3F02-9B1B-C8F5-3588-5089D7488B6B}"/>
            </a:ext>
          </a:extLst>
        </p:cNvPr>
        <p:cNvGrpSpPr/>
        <p:nvPr/>
      </p:nvGrpSpPr>
      <p:grpSpPr>
        <a:xfrm>
          <a:off x="0" y="0"/>
          <a:ext cx="0" cy="0"/>
          <a:chOff x="0" y="0"/>
          <a:chExt cx="0" cy="0"/>
        </a:xfrm>
      </p:grpSpPr>
      <p:sp>
        <p:nvSpPr>
          <p:cNvPr id="74" name="Google Shape;74;g1a09276e835_1_0:notes">
            <a:extLst>
              <a:ext uri="{FF2B5EF4-FFF2-40B4-BE49-F238E27FC236}">
                <a16:creationId xmlns:a16="http://schemas.microsoft.com/office/drawing/2014/main" id="{9424B8A8-9CEA-C2C0-7A1E-B4DE158373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a:extLst>
              <a:ext uri="{FF2B5EF4-FFF2-40B4-BE49-F238E27FC236}">
                <a16:creationId xmlns:a16="http://schemas.microsoft.com/office/drawing/2014/main" id="{8F9B8E38-28C9-A588-5B2E-1322862D50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56386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2D16531C-CC83-063E-B0DF-6DC94D560B54}"/>
            </a:ext>
          </a:extLst>
        </p:cNvPr>
        <p:cNvGrpSpPr/>
        <p:nvPr/>
      </p:nvGrpSpPr>
      <p:grpSpPr>
        <a:xfrm>
          <a:off x="0" y="0"/>
          <a:ext cx="0" cy="0"/>
          <a:chOff x="0" y="0"/>
          <a:chExt cx="0" cy="0"/>
        </a:xfrm>
      </p:grpSpPr>
      <p:sp>
        <p:nvSpPr>
          <p:cNvPr id="74" name="Google Shape;74;g1a09276e835_1_0:notes">
            <a:extLst>
              <a:ext uri="{FF2B5EF4-FFF2-40B4-BE49-F238E27FC236}">
                <a16:creationId xmlns:a16="http://schemas.microsoft.com/office/drawing/2014/main" id="{B39D11FB-D2FB-B62A-9BA0-4A78CECDF8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a:extLst>
              <a:ext uri="{FF2B5EF4-FFF2-40B4-BE49-F238E27FC236}">
                <a16:creationId xmlns:a16="http://schemas.microsoft.com/office/drawing/2014/main" id="{FDB3AF6C-B0DD-8445-CD9B-AE57A28C2C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114769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BC55DCE8-E87B-B7B1-B03E-942009CF4E0F}"/>
            </a:ext>
          </a:extLst>
        </p:cNvPr>
        <p:cNvGrpSpPr/>
        <p:nvPr/>
      </p:nvGrpSpPr>
      <p:grpSpPr>
        <a:xfrm>
          <a:off x="0" y="0"/>
          <a:ext cx="0" cy="0"/>
          <a:chOff x="0" y="0"/>
          <a:chExt cx="0" cy="0"/>
        </a:xfrm>
      </p:grpSpPr>
      <p:sp>
        <p:nvSpPr>
          <p:cNvPr id="74" name="Google Shape;74;g1a09276e835_1_0:notes">
            <a:extLst>
              <a:ext uri="{FF2B5EF4-FFF2-40B4-BE49-F238E27FC236}">
                <a16:creationId xmlns:a16="http://schemas.microsoft.com/office/drawing/2014/main" id="{01FFA6CD-7A06-3109-75E7-DD337A0EC1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a:extLst>
              <a:ext uri="{FF2B5EF4-FFF2-40B4-BE49-F238E27FC236}">
                <a16:creationId xmlns:a16="http://schemas.microsoft.com/office/drawing/2014/main" id="{8C43E1D4-18FE-795A-F8BD-53BB347A19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18756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A1AC85DD-2BA1-2094-1B39-6264B2CB1E1A}"/>
            </a:ext>
          </a:extLst>
        </p:cNvPr>
        <p:cNvGrpSpPr/>
        <p:nvPr/>
      </p:nvGrpSpPr>
      <p:grpSpPr>
        <a:xfrm>
          <a:off x="0" y="0"/>
          <a:ext cx="0" cy="0"/>
          <a:chOff x="0" y="0"/>
          <a:chExt cx="0" cy="0"/>
        </a:xfrm>
      </p:grpSpPr>
      <p:sp>
        <p:nvSpPr>
          <p:cNvPr id="74" name="Google Shape;74;g1a09276e835_1_0:notes">
            <a:extLst>
              <a:ext uri="{FF2B5EF4-FFF2-40B4-BE49-F238E27FC236}">
                <a16:creationId xmlns:a16="http://schemas.microsoft.com/office/drawing/2014/main" id="{F72E97FD-52AB-234A-92A8-09EC8FB8CB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a:extLst>
              <a:ext uri="{FF2B5EF4-FFF2-40B4-BE49-F238E27FC236}">
                <a16:creationId xmlns:a16="http://schemas.microsoft.com/office/drawing/2014/main" id="{937D7DE5-3FE7-E461-3020-200157BAC8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399702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AEFB1FF9-842C-1418-F7D6-63E1052F2EB0}"/>
            </a:ext>
          </a:extLst>
        </p:cNvPr>
        <p:cNvGrpSpPr/>
        <p:nvPr/>
      </p:nvGrpSpPr>
      <p:grpSpPr>
        <a:xfrm>
          <a:off x="0" y="0"/>
          <a:ext cx="0" cy="0"/>
          <a:chOff x="0" y="0"/>
          <a:chExt cx="0" cy="0"/>
        </a:xfrm>
      </p:grpSpPr>
      <p:sp>
        <p:nvSpPr>
          <p:cNvPr id="74" name="Google Shape;74;g1a09276e835_1_0:notes">
            <a:extLst>
              <a:ext uri="{FF2B5EF4-FFF2-40B4-BE49-F238E27FC236}">
                <a16:creationId xmlns:a16="http://schemas.microsoft.com/office/drawing/2014/main" id="{C4979175-21E9-50E5-C63C-BB82A0A137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a:extLst>
              <a:ext uri="{FF2B5EF4-FFF2-40B4-BE49-F238E27FC236}">
                <a16:creationId xmlns:a16="http://schemas.microsoft.com/office/drawing/2014/main" id="{0CDDAF70-8FE7-180A-DCB6-0505707982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335958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5C67915C-273D-DB22-68F9-4062B5581949}"/>
            </a:ext>
          </a:extLst>
        </p:cNvPr>
        <p:cNvGrpSpPr/>
        <p:nvPr/>
      </p:nvGrpSpPr>
      <p:grpSpPr>
        <a:xfrm>
          <a:off x="0" y="0"/>
          <a:ext cx="0" cy="0"/>
          <a:chOff x="0" y="0"/>
          <a:chExt cx="0" cy="0"/>
        </a:xfrm>
      </p:grpSpPr>
      <p:sp>
        <p:nvSpPr>
          <p:cNvPr id="74" name="Google Shape;74;g1a09276e835_1_0:notes">
            <a:extLst>
              <a:ext uri="{FF2B5EF4-FFF2-40B4-BE49-F238E27FC236}">
                <a16:creationId xmlns:a16="http://schemas.microsoft.com/office/drawing/2014/main" id="{706FDF88-2753-8D55-AD1A-6D580D9CEA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a:extLst>
              <a:ext uri="{FF2B5EF4-FFF2-40B4-BE49-F238E27FC236}">
                <a16:creationId xmlns:a16="http://schemas.microsoft.com/office/drawing/2014/main" id="{B56EB0F5-1310-85DC-E000-8F4BA8E56A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026398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C7CDBAF4-D700-1BFC-5A36-A86477FC224A}"/>
            </a:ext>
          </a:extLst>
        </p:cNvPr>
        <p:cNvGrpSpPr/>
        <p:nvPr/>
      </p:nvGrpSpPr>
      <p:grpSpPr>
        <a:xfrm>
          <a:off x="0" y="0"/>
          <a:ext cx="0" cy="0"/>
          <a:chOff x="0" y="0"/>
          <a:chExt cx="0" cy="0"/>
        </a:xfrm>
      </p:grpSpPr>
      <p:sp>
        <p:nvSpPr>
          <p:cNvPr id="74" name="Google Shape;74;g1a09276e835_1_0:notes">
            <a:extLst>
              <a:ext uri="{FF2B5EF4-FFF2-40B4-BE49-F238E27FC236}">
                <a16:creationId xmlns:a16="http://schemas.microsoft.com/office/drawing/2014/main" id="{9846709C-0B5E-2915-0437-81EE8C75E7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a:extLst>
              <a:ext uri="{FF2B5EF4-FFF2-40B4-BE49-F238E27FC236}">
                <a16:creationId xmlns:a16="http://schemas.microsoft.com/office/drawing/2014/main" id="{E9EB7A51-20B9-4279-BAC2-8271267523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426026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2244AA32-968C-8885-1A49-67BCD6FEDE25}"/>
            </a:ext>
          </a:extLst>
        </p:cNvPr>
        <p:cNvGrpSpPr/>
        <p:nvPr/>
      </p:nvGrpSpPr>
      <p:grpSpPr>
        <a:xfrm>
          <a:off x="0" y="0"/>
          <a:ext cx="0" cy="0"/>
          <a:chOff x="0" y="0"/>
          <a:chExt cx="0" cy="0"/>
        </a:xfrm>
      </p:grpSpPr>
      <p:sp>
        <p:nvSpPr>
          <p:cNvPr id="74" name="Google Shape;74;g1a09276e835_1_0:notes">
            <a:extLst>
              <a:ext uri="{FF2B5EF4-FFF2-40B4-BE49-F238E27FC236}">
                <a16:creationId xmlns:a16="http://schemas.microsoft.com/office/drawing/2014/main" id="{C4EB2D68-C63D-78AE-CA43-4A99439440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a:extLst>
              <a:ext uri="{FF2B5EF4-FFF2-40B4-BE49-F238E27FC236}">
                <a16:creationId xmlns:a16="http://schemas.microsoft.com/office/drawing/2014/main" id="{0562D959-1F19-498D-F8B6-38764829D5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192518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65ACD813-A344-EA14-2585-22D87E60A06E}"/>
            </a:ext>
          </a:extLst>
        </p:cNvPr>
        <p:cNvGrpSpPr/>
        <p:nvPr/>
      </p:nvGrpSpPr>
      <p:grpSpPr>
        <a:xfrm>
          <a:off x="0" y="0"/>
          <a:ext cx="0" cy="0"/>
          <a:chOff x="0" y="0"/>
          <a:chExt cx="0" cy="0"/>
        </a:xfrm>
      </p:grpSpPr>
      <p:sp>
        <p:nvSpPr>
          <p:cNvPr id="74" name="Google Shape;74;g1a09276e835_1_0:notes">
            <a:extLst>
              <a:ext uri="{FF2B5EF4-FFF2-40B4-BE49-F238E27FC236}">
                <a16:creationId xmlns:a16="http://schemas.microsoft.com/office/drawing/2014/main" id="{9AE6DE2A-13CA-F834-C6C6-D9FFB6543A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a:extLst>
              <a:ext uri="{FF2B5EF4-FFF2-40B4-BE49-F238E27FC236}">
                <a16:creationId xmlns:a16="http://schemas.microsoft.com/office/drawing/2014/main" id="{56AAAFB3-7192-6462-847D-721D6FC67F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579881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925BACED-B5C1-CDEE-2E8C-E0F417F549C9}"/>
            </a:ext>
          </a:extLst>
        </p:cNvPr>
        <p:cNvGrpSpPr/>
        <p:nvPr/>
      </p:nvGrpSpPr>
      <p:grpSpPr>
        <a:xfrm>
          <a:off x="0" y="0"/>
          <a:ext cx="0" cy="0"/>
          <a:chOff x="0" y="0"/>
          <a:chExt cx="0" cy="0"/>
        </a:xfrm>
      </p:grpSpPr>
      <p:sp>
        <p:nvSpPr>
          <p:cNvPr id="74" name="Google Shape;74;g1a09276e835_1_0:notes">
            <a:extLst>
              <a:ext uri="{FF2B5EF4-FFF2-40B4-BE49-F238E27FC236}">
                <a16:creationId xmlns:a16="http://schemas.microsoft.com/office/drawing/2014/main" id="{43A588E2-8ADD-4F69-D8A4-6133F85AEF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a:extLst>
              <a:ext uri="{FF2B5EF4-FFF2-40B4-BE49-F238E27FC236}">
                <a16:creationId xmlns:a16="http://schemas.microsoft.com/office/drawing/2014/main" id="{FCE1BCFD-8EFB-E318-7866-521F39C5379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113056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B476E6CC-6CFC-3A7E-289F-7FBE2293BCAE}"/>
            </a:ext>
          </a:extLst>
        </p:cNvPr>
        <p:cNvGrpSpPr/>
        <p:nvPr/>
      </p:nvGrpSpPr>
      <p:grpSpPr>
        <a:xfrm>
          <a:off x="0" y="0"/>
          <a:ext cx="0" cy="0"/>
          <a:chOff x="0" y="0"/>
          <a:chExt cx="0" cy="0"/>
        </a:xfrm>
      </p:grpSpPr>
      <p:sp>
        <p:nvSpPr>
          <p:cNvPr id="74" name="Google Shape;74;g1a09276e835_1_0:notes">
            <a:extLst>
              <a:ext uri="{FF2B5EF4-FFF2-40B4-BE49-F238E27FC236}">
                <a16:creationId xmlns:a16="http://schemas.microsoft.com/office/drawing/2014/main" id="{75B04EE8-595D-5081-31F0-C3F3383FEA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a:extLst>
              <a:ext uri="{FF2B5EF4-FFF2-40B4-BE49-F238E27FC236}">
                <a16:creationId xmlns:a16="http://schemas.microsoft.com/office/drawing/2014/main" id="{C1D935F5-4451-AEB0-5D0A-A695B4957F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126773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01729062-C001-1BC3-21F3-013B25C79AB2}"/>
            </a:ext>
          </a:extLst>
        </p:cNvPr>
        <p:cNvGrpSpPr/>
        <p:nvPr/>
      </p:nvGrpSpPr>
      <p:grpSpPr>
        <a:xfrm>
          <a:off x="0" y="0"/>
          <a:ext cx="0" cy="0"/>
          <a:chOff x="0" y="0"/>
          <a:chExt cx="0" cy="0"/>
        </a:xfrm>
      </p:grpSpPr>
      <p:sp>
        <p:nvSpPr>
          <p:cNvPr id="74" name="Google Shape;74;g1a09276e835_1_0:notes">
            <a:extLst>
              <a:ext uri="{FF2B5EF4-FFF2-40B4-BE49-F238E27FC236}">
                <a16:creationId xmlns:a16="http://schemas.microsoft.com/office/drawing/2014/main" id="{A4925C8B-74A4-6D0E-A1F6-3ED5AFE791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09276e835_1_0:notes">
            <a:extLst>
              <a:ext uri="{FF2B5EF4-FFF2-40B4-BE49-F238E27FC236}">
                <a16:creationId xmlns:a16="http://schemas.microsoft.com/office/drawing/2014/main" id="{40070772-E495-65C8-BB68-C028467C22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976726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1a09276e835_1_9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7" name="Google Shape;577;g1a09276e835_1_9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4300"/>
              <a:buFont typeface="Tajawal"/>
              <a:buNone/>
              <a:defRPr sz="4300" b="1">
                <a:latin typeface="Tajawal"/>
                <a:ea typeface="Tajawal"/>
                <a:cs typeface="Tajawal"/>
                <a:sym typeface="Tajawal"/>
              </a:defRPr>
            </a:lvl1pPr>
            <a:lvl2pPr lvl="1" algn="ctr">
              <a:spcBef>
                <a:spcPts val="0"/>
              </a:spcBef>
              <a:spcAft>
                <a:spcPts val="0"/>
              </a:spcAft>
              <a:buSzPts val="4900"/>
              <a:buFont typeface="Tajawal"/>
              <a:buNone/>
              <a:defRPr sz="4900">
                <a:latin typeface="Tajawal"/>
                <a:ea typeface="Tajawal"/>
                <a:cs typeface="Tajawal"/>
                <a:sym typeface="Tajawal"/>
              </a:defRPr>
            </a:lvl2pPr>
            <a:lvl3pPr lvl="2" algn="ctr">
              <a:spcBef>
                <a:spcPts val="0"/>
              </a:spcBef>
              <a:spcAft>
                <a:spcPts val="0"/>
              </a:spcAft>
              <a:buSzPts val="4900"/>
              <a:buFont typeface="Tajawal"/>
              <a:buNone/>
              <a:defRPr sz="4900">
                <a:latin typeface="Tajawal"/>
                <a:ea typeface="Tajawal"/>
                <a:cs typeface="Tajawal"/>
                <a:sym typeface="Tajawal"/>
              </a:defRPr>
            </a:lvl3pPr>
            <a:lvl4pPr lvl="3" algn="ctr">
              <a:spcBef>
                <a:spcPts val="0"/>
              </a:spcBef>
              <a:spcAft>
                <a:spcPts val="0"/>
              </a:spcAft>
              <a:buSzPts val="4900"/>
              <a:buFont typeface="Tajawal"/>
              <a:buNone/>
              <a:defRPr sz="4900">
                <a:latin typeface="Tajawal"/>
                <a:ea typeface="Tajawal"/>
                <a:cs typeface="Tajawal"/>
                <a:sym typeface="Tajawal"/>
              </a:defRPr>
            </a:lvl4pPr>
            <a:lvl5pPr lvl="4" algn="ctr">
              <a:spcBef>
                <a:spcPts val="0"/>
              </a:spcBef>
              <a:spcAft>
                <a:spcPts val="0"/>
              </a:spcAft>
              <a:buSzPts val="4900"/>
              <a:buFont typeface="Tajawal"/>
              <a:buNone/>
              <a:defRPr sz="4900">
                <a:latin typeface="Tajawal"/>
                <a:ea typeface="Tajawal"/>
                <a:cs typeface="Tajawal"/>
                <a:sym typeface="Tajawal"/>
              </a:defRPr>
            </a:lvl5pPr>
            <a:lvl6pPr lvl="5" algn="ctr">
              <a:spcBef>
                <a:spcPts val="0"/>
              </a:spcBef>
              <a:spcAft>
                <a:spcPts val="0"/>
              </a:spcAft>
              <a:buSzPts val="4900"/>
              <a:buFont typeface="Tajawal"/>
              <a:buNone/>
              <a:defRPr sz="4900">
                <a:latin typeface="Tajawal"/>
                <a:ea typeface="Tajawal"/>
                <a:cs typeface="Tajawal"/>
                <a:sym typeface="Tajawal"/>
              </a:defRPr>
            </a:lvl6pPr>
            <a:lvl7pPr lvl="6" algn="ctr">
              <a:spcBef>
                <a:spcPts val="0"/>
              </a:spcBef>
              <a:spcAft>
                <a:spcPts val="0"/>
              </a:spcAft>
              <a:buSzPts val="4900"/>
              <a:buFont typeface="Tajawal"/>
              <a:buNone/>
              <a:defRPr sz="4900">
                <a:latin typeface="Tajawal"/>
                <a:ea typeface="Tajawal"/>
                <a:cs typeface="Tajawal"/>
                <a:sym typeface="Tajawal"/>
              </a:defRPr>
            </a:lvl7pPr>
            <a:lvl8pPr lvl="7" algn="ctr">
              <a:spcBef>
                <a:spcPts val="0"/>
              </a:spcBef>
              <a:spcAft>
                <a:spcPts val="0"/>
              </a:spcAft>
              <a:buSzPts val="4900"/>
              <a:buFont typeface="Tajawal"/>
              <a:buNone/>
              <a:defRPr sz="4900">
                <a:latin typeface="Tajawal"/>
                <a:ea typeface="Tajawal"/>
                <a:cs typeface="Tajawal"/>
                <a:sym typeface="Tajawal"/>
              </a:defRPr>
            </a:lvl8pPr>
            <a:lvl9pPr lvl="8" algn="ctr">
              <a:spcBef>
                <a:spcPts val="0"/>
              </a:spcBef>
              <a:spcAft>
                <a:spcPts val="0"/>
              </a:spcAft>
              <a:buSzPts val="4900"/>
              <a:buFont typeface="Tajawal"/>
              <a:buNone/>
              <a:defRPr sz="4900">
                <a:latin typeface="Tajawal"/>
                <a:ea typeface="Tajawal"/>
                <a:cs typeface="Tajawal"/>
                <a:sym typeface="Tajawal"/>
              </a:defRPr>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500"/>
              <a:buFont typeface="Tajawal"/>
              <a:buNone/>
              <a:defRPr sz="2500">
                <a:latin typeface="Tajawal"/>
                <a:ea typeface="Tajawal"/>
                <a:cs typeface="Tajawal"/>
                <a:sym typeface="Tajawal"/>
              </a:defRPr>
            </a:lvl1pPr>
            <a:lvl2pPr lvl="1" algn="ctr">
              <a:lnSpc>
                <a:spcPct val="100000"/>
              </a:lnSpc>
              <a:spcBef>
                <a:spcPts val="0"/>
              </a:spcBef>
              <a:spcAft>
                <a:spcPts val="0"/>
              </a:spcAft>
              <a:buSzPts val="2500"/>
              <a:buFont typeface="Tajawal"/>
              <a:buNone/>
              <a:defRPr sz="2500">
                <a:latin typeface="Tajawal"/>
                <a:ea typeface="Tajawal"/>
                <a:cs typeface="Tajawal"/>
                <a:sym typeface="Tajawal"/>
              </a:defRPr>
            </a:lvl2pPr>
            <a:lvl3pPr lvl="2" algn="ctr">
              <a:lnSpc>
                <a:spcPct val="100000"/>
              </a:lnSpc>
              <a:spcBef>
                <a:spcPts val="0"/>
              </a:spcBef>
              <a:spcAft>
                <a:spcPts val="0"/>
              </a:spcAft>
              <a:buSzPts val="2500"/>
              <a:buFont typeface="Tajawal"/>
              <a:buNone/>
              <a:defRPr sz="2500">
                <a:latin typeface="Tajawal"/>
                <a:ea typeface="Tajawal"/>
                <a:cs typeface="Tajawal"/>
                <a:sym typeface="Tajawal"/>
              </a:defRPr>
            </a:lvl3pPr>
            <a:lvl4pPr lvl="3" algn="ctr">
              <a:lnSpc>
                <a:spcPct val="100000"/>
              </a:lnSpc>
              <a:spcBef>
                <a:spcPts val="0"/>
              </a:spcBef>
              <a:spcAft>
                <a:spcPts val="0"/>
              </a:spcAft>
              <a:buSzPts val="2500"/>
              <a:buFont typeface="Tajawal"/>
              <a:buNone/>
              <a:defRPr sz="2500">
                <a:latin typeface="Tajawal"/>
                <a:ea typeface="Tajawal"/>
                <a:cs typeface="Tajawal"/>
                <a:sym typeface="Tajawal"/>
              </a:defRPr>
            </a:lvl4pPr>
            <a:lvl5pPr lvl="4" algn="ctr">
              <a:lnSpc>
                <a:spcPct val="100000"/>
              </a:lnSpc>
              <a:spcBef>
                <a:spcPts val="0"/>
              </a:spcBef>
              <a:spcAft>
                <a:spcPts val="0"/>
              </a:spcAft>
              <a:buSzPts val="2500"/>
              <a:buFont typeface="Tajawal"/>
              <a:buNone/>
              <a:defRPr sz="2500">
                <a:latin typeface="Tajawal"/>
                <a:ea typeface="Tajawal"/>
                <a:cs typeface="Tajawal"/>
                <a:sym typeface="Tajawal"/>
              </a:defRPr>
            </a:lvl5pPr>
            <a:lvl6pPr lvl="5" algn="ctr">
              <a:lnSpc>
                <a:spcPct val="100000"/>
              </a:lnSpc>
              <a:spcBef>
                <a:spcPts val="0"/>
              </a:spcBef>
              <a:spcAft>
                <a:spcPts val="0"/>
              </a:spcAft>
              <a:buSzPts val="2500"/>
              <a:buFont typeface="Tajawal"/>
              <a:buNone/>
              <a:defRPr sz="2500">
                <a:latin typeface="Tajawal"/>
                <a:ea typeface="Tajawal"/>
                <a:cs typeface="Tajawal"/>
                <a:sym typeface="Tajawal"/>
              </a:defRPr>
            </a:lvl6pPr>
            <a:lvl7pPr lvl="6" algn="ctr">
              <a:lnSpc>
                <a:spcPct val="100000"/>
              </a:lnSpc>
              <a:spcBef>
                <a:spcPts val="0"/>
              </a:spcBef>
              <a:spcAft>
                <a:spcPts val="0"/>
              </a:spcAft>
              <a:buSzPts val="2500"/>
              <a:buFont typeface="Tajawal"/>
              <a:buNone/>
              <a:defRPr sz="2500">
                <a:latin typeface="Tajawal"/>
                <a:ea typeface="Tajawal"/>
                <a:cs typeface="Tajawal"/>
                <a:sym typeface="Tajawal"/>
              </a:defRPr>
            </a:lvl7pPr>
            <a:lvl8pPr lvl="7" algn="ctr">
              <a:lnSpc>
                <a:spcPct val="100000"/>
              </a:lnSpc>
              <a:spcBef>
                <a:spcPts val="0"/>
              </a:spcBef>
              <a:spcAft>
                <a:spcPts val="0"/>
              </a:spcAft>
              <a:buSzPts val="2500"/>
              <a:buFont typeface="Tajawal"/>
              <a:buNone/>
              <a:defRPr sz="2500">
                <a:latin typeface="Tajawal"/>
                <a:ea typeface="Tajawal"/>
                <a:cs typeface="Tajawal"/>
                <a:sym typeface="Tajawal"/>
              </a:defRPr>
            </a:lvl8pPr>
            <a:lvl9pPr lvl="8" algn="ctr">
              <a:lnSpc>
                <a:spcPct val="100000"/>
              </a:lnSpc>
              <a:spcBef>
                <a:spcPts val="0"/>
              </a:spcBef>
              <a:spcAft>
                <a:spcPts val="0"/>
              </a:spcAft>
              <a:buSzPts val="2500"/>
              <a:buFont typeface="Tajawal"/>
              <a:buNone/>
              <a:defRPr sz="2500">
                <a:latin typeface="Tajawal"/>
                <a:ea typeface="Tajawal"/>
                <a:cs typeface="Tajawal"/>
                <a:sym typeface="Tajawal"/>
              </a:defRPr>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rtl="1">
              <a:spcBef>
                <a:spcPts val="0"/>
              </a:spcBef>
              <a:spcAft>
                <a:spcPts val="0"/>
              </a:spcAft>
              <a:buSzPts val="3600"/>
              <a:buFont typeface="Tajawal"/>
              <a:buNone/>
              <a:defRPr sz="3600">
                <a:latin typeface="Tajawal"/>
                <a:ea typeface="Tajawal"/>
                <a:cs typeface="Tajawal"/>
                <a:sym typeface="Tajawal"/>
              </a:defRPr>
            </a:lvl1pPr>
            <a:lvl2pPr lvl="1" algn="ctr">
              <a:spcBef>
                <a:spcPts val="0"/>
              </a:spcBef>
              <a:spcAft>
                <a:spcPts val="0"/>
              </a:spcAft>
              <a:buSzPts val="3600"/>
              <a:buFont typeface="Tajawal"/>
              <a:buNone/>
              <a:defRPr sz="3600">
                <a:latin typeface="Tajawal"/>
                <a:ea typeface="Tajawal"/>
                <a:cs typeface="Tajawal"/>
                <a:sym typeface="Tajawal"/>
              </a:defRPr>
            </a:lvl2pPr>
            <a:lvl3pPr lvl="2" algn="ctr">
              <a:spcBef>
                <a:spcPts val="0"/>
              </a:spcBef>
              <a:spcAft>
                <a:spcPts val="0"/>
              </a:spcAft>
              <a:buSzPts val="3600"/>
              <a:buFont typeface="Tajawal"/>
              <a:buNone/>
              <a:defRPr sz="3600">
                <a:latin typeface="Tajawal"/>
                <a:ea typeface="Tajawal"/>
                <a:cs typeface="Tajawal"/>
                <a:sym typeface="Tajawal"/>
              </a:defRPr>
            </a:lvl3pPr>
            <a:lvl4pPr lvl="3" algn="ctr">
              <a:spcBef>
                <a:spcPts val="0"/>
              </a:spcBef>
              <a:spcAft>
                <a:spcPts val="0"/>
              </a:spcAft>
              <a:buSzPts val="3600"/>
              <a:buFont typeface="Tajawal"/>
              <a:buNone/>
              <a:defRPr sz="3600">
                <a:latin typeface="Tajawal"/>
                <a:ea typeface="Tajawal"/>
                <a:cs typeface="Tajawal"/>
                <a:sym typeface="Tajawal"/>
              </a:defRPr>
            </a:lvl4pPr>
            <a:lvl5pPr lvl="4" algn="ctr">
              <a:spcBef>
                <a:spcPts val="0"/>
              </a:spcBef>
              <a:spcAft>
                <a:spcPts val="0"/>
              </a:spcAft>
              <a:buSzPts val="3600"/>
              <a:buFont typeface="Tajawal"/>
              <a:buNone/>
              <a:defRPr sz="3600">
                <a:latin typeface="Tajawal"/>
                <a:ea typeface="Tajawal"/>
                <a:cs typeface="Tajawal"/>
                <a:sym typeface="Tajawal"/>
              </a:defRPr>
            </a:lvl5pPr>
            <a:lvl6pPr lvl="5" algn="ctr">
              <a:spcBef>
                <a:spcPts val="0"/>
              </a:spcBef>
              <a:spcAft>
                <a:spcPts val="0"/>
              </a:spcAft>
              <a:buSzPts val="3600"/>
              <a:buFont typeface="Tajawal"/>
              <a:buNone/>
              <a:defRPr sz="3600">
                <a:latin typeface="Tajawal"/>
                <a:ea typeface="Tajawal"/>
                <a:cs typeface="Tajawal"/>
                <a:sym typeface="Tajawal"/>
              </a:defRPr>
            </a:lvl6pPr>
            <a:lvl7pPr lvl="6" algn="ctr">
              <a:spcBef>
                <a:spcPts val="0"/>
              </a:spcBef>
              <a:spcAft>
                <a:spcPts val="0"/>
              </a:spcAft>
              <a:buSzPts val="3600"/>
              <a:buFont typeface="Tajawal"/>
              <a:buNone/>
              <a:defRPr sz="3600">
                <a:latin typeface="Tajawal"/>
                <a:ea typeface="Tajawal"/>
                <a:cs typeface="Tajawal"/>
                <a:sym typeface="Tajawal"/>
              </a:defRPr>
            </a:lvl7pPr>
            <a:lvl8pPr lvl="7" algn="ctr">
              <a:spcBef>
                <a:spcPts val="0"/>
              </a:spcBef>
              <a:spcAft>
                <a:spcPts val="0"/>
              </a:spcAft>
              <a:buSzPts val="3600"/>
              <a:buFont typeface="Tajawal"/>
              <a:buNone/>
              <a:defRPr sz="3600">
                <a:latin typeface="Tajawal"/>
                <a:ea typeface="Tajawal"/>
                <a:cs typeface="Tajawal"/>
                <a:sym typeface="Tajawal"/>
              </a:defRPr>
            </a:lvl8pPr>
            <a:lvl9pPr lvl="8" algn="ctr">
              <a:spcBef>
                <a:spcPts val="0"/>
              </a:spcBef>
              <a:spcAft>
                <a:spcPts val="0"/>
              </a:spcAft>
              <a:buSzPts val="3600"/>
              <a:buFont typeface="Tajawal"/>
              <a:buNone/>
              <a:defRPr sz="3600">
                <a:latin typeface="Tajawal"/>
                <a:ea typeface="Tajawal"/>
                <a:cs typeface="Tajawal"/>
                <a:sym typeface="Tajawal"/>
              </a:defRPr>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2" name="Google Shape;22;p5"/>
          <p:cNvSpPr txBox="1">
            <a:spLocks noGrp="1"/>
          </p:cNvSpPr>
          <p:nvPr>
            <p:ph type="title"/>
          </p:nvPr>
        </p:nvSpPr>
        <p:spPr>
          <a:xfrm>
            <a:off x="2079450" y="714175"/>
            <a:ext cx="6707400" cy="777300"/>
          </a:xfrm>
          <a:prstGeom prst="rect">
            <a:avLst/>
          </a:prstGeom>
        </p:spPr>
        <p:txBody>
          <a:bodyPr spcFirstLastPara="1" wrap="square" lIns="91425" tIns="91425" rIns="91425" bIns="91425" anchor="t" anchorCtr="0">
            <a:normAutofit/>
          </a:bodyPr>
          <a:lstStyle>
            <a:lvl1pPr lvl="0" rtl="1">
              <a:spcBef>
                <a:spcPts val="0"/>
              </a:spcBef>
              <a:spcAft>
                <a:spcPts val="0"/>
              </a:spcAft>
              <a:buClr>
                <a:srgbClr val="543198"/>
              </a:buClr>
              <a:buSzPts val="2500"/>
              <a:buNone/>
              <a:defRPr b="1">
                <a:solidFill>
                  <a:srgbClr val="543198"/>
                </a:solidFill>
              </a:defRPr>
            </a:lvl1pPr>
            <a:lvl2pPr lvl="1" rtl="0">
              <a:spcBef>
                <a:spcPts val="0"/>
              </a:spcBef>
              <a:spcAft>
                <a:spcPts val="0"/>
              </a:spcAft>
              <a:buClr>
                <a:srgbClr val="543198"/>
              </a:buClr>
              <a:buSzPts val="2800"/>
              <a:buNone/>
              <a:defRPr b="1">
                <a:solidFill>
                  <a:srgbClr val="543198"/>
                </a:solidFill>
              </a:defRPr>
            </a:lvl2pPr>
            <a:lvl3pPr lvl="2" rtl="0">
              <a:spcBef>
                <a:spcPts val="0"/>
              </a:spcBef>
              <a:spcAft>
                <a:spcPts val="0"/>
              </a:spcAft>
              <a:buClr>
                <a:srgbClr val="543198"/>
              </a:buClr>
              <a:buSzPts val="2800"/>
              <a:buNone/>
              <a:defRPr b="1">
                <a:solidFill>
                  <a:srgbClr val="543198"/>
                </a:solidFill>
              </a:defRPr>
            </a:lvl3pPr>
            <a:lvl4pPr lvl="3" rtl="0">
              <a:spcBef>
                <a:spcPts val="0"/>
              </a:spcBef>
              <a:spcAft>
                <a:spcPts val="0"/>
              </a:spcAft>
              <a:buClr>
                <a:srgbClr val="543198"/>
              </a:buClr>
              <a:buSzPts val="2800"/>
              <a:buNone/>
              <a:defRPr b="1">
                <a:solidFill>
                  <a:srgbClr val="543198"/>
                </a:solidFill>
              </a:defRPr>
            </a:lvl4pPr>
            <a:lvl5pPr lvl="4" rtl="0">
              <a:spcBef>
                <a:spcPts val="0"/>
              </a:spcBef>
              <a:spcAft>
                <a:spcPts val="0"/>
              </a:spcAft>
              <a:buClr>
                <a:srgbClr val="543198"/>
              </a:buClr>
              <a:buSzPts val="2800"/>
              <a:buNone/>
              <a:defRPr b="1">
                <a:solidFill>
                  <a:srgbClr val="543198"/>
                </a:solidFill>
              </a:defRPr>
            </a:lvl5pPr>
            <a:lvl6pPr lvl="5" rtl="0">
              <a:spcBef>
                <a:spcPts val="0"/>
              </a:spcBef>
              <a:spcAft>
                <a:spcPts val="0"/>
              </a:spcAft>
              <a:buClr>
                <a:srgbClr val="543198"/>
              </a:buClr>
              <a:buSzPts val="2800"/>
              <a:buNone/>
              <a:defRPr b="1">
                <a:solidFill>
                  <a:srgbClr val="543198"/>
                </a:solidFill>
              </a:defRPr>
            </a:lvl6pPr>
            <a:lvl7pPr lvl="6" rtl="0">
              <a:spcBef>
                <a:spcPts val="0"/>
              </a:spcBef>
              <a:spcAft>
                <a:spcPts val="0"/>
              </a:spcAft>
              <a:buClr>
                <a:srgbClr val="543198"/>
              </a:buClr>
              <a:buSzPts val="2800"/>
              <a:buNone/>
              <a:defRPr b="1">
                <a:solidFill>
                  <a:srgbClr val="543198"/>
                </a:solidFill>
              </a:defRPr>
            </a:lvl7pPr>
            <a:lvl8pPr lvl="7" rtl="0">
              <a:spcBef>
                <a:spcPts val="0"/>
              </a:spcBef>
              <a:spcAft>
                <a:spcPts val="0"/>
              </a:spcAft>
              <a:buClr>
                <a:srgbClr val="543198"/>
              </a:buClr>
              <a:buSzPts val="2800"/>
              <a:buNone/>
              <a:defRPr b="1">
                <a:solidFill>
                  <a:srgbClr val="543198"/>
                </a:solidFill>
              </a:defRPr>
            </a:lvl8pPr>
            <a:lvl9pPr lvl="8" rtl="0">
              <a:spcBef>
                <a:spcPts val="0"/>
              </a:spcBef>
              <a:spcAft>
                <a:spcPts val="0"/>
              </a:spcAft>
              <a:buClr>
                <a:srgbClr val="543198"/>
              </a:buClr>
              <a:buSzPts val="2800"/>
              <a:buNone/>
              <a:defRPr b="1">
                <a:solidFill>
                  <a:srgbClr val="543198"/>
                </a:solidFill>
              </a:defRPr>
            </a:lvl9pPr>
          </a:lstStyle>
          <a:p>
            <a:endParaRPr/>
          </a:p>
        </p:txBody>
      </p:sp>
      <p:sp>
        <p:nvSpPr>
          <p:cNvPr id="23" name="Google Shape;23;p5"/>
          <p:cNvSpPr txBox="1">
            <a:spLocks noGrp="1"/>
          </p:cNvSpPr>
          <p:nvPr>
            <p:ph type="body" idx="1"/>
          </p:nvPr>
        </p:nvSpPr>
        <p:spPr>
          <a:xfrm>
            <a:off x="2758650" y="1526325"/>
            <a:ext cx="6028200" cy="1757400"/>
          </a:xfrm>
          <a:prstGeom prst="rect">
            <a:avLst/>
          </a:prstGeom>
        </p:spPr>
        <p:txBody>
          <a:bodyPr spcFirstLastPara="1" wrap="square" lIns="91425" tIns="91425" rIns="91425" bIns="91425" anchor="t" anchorCtr="0">
            <a:normAutofit/>
          </a:bodyPr>
          <a:lstStyle>
            <a:lvl1pPr marL="457200" lvl="0" indent="-342900" rtl="1">
              <a:spcBef>
                <a:spcPts val="0"/>
              </a:spcBef>
              <a:spcAft>
                <a:spcPts val="0"/>
              </a:spcAft>
              <a:buClr>
                <a:srgbClr val="424242"/>
              </a:buClr>
              <a:buSzPts val="1800"/>
              <a:buChar char="●"/>
              <a:defRPr>
                <a:solidFill>
                  <a:srgbClr val="424242"/>
                </a:solidFill>
              </a:defRPr>
            </a:lvl1pPr>
            <a:lvl2pPr marL="914400" lvl="1" indent="-317500" rtl="1">
              <a:spcBef>
                <a:spcPts val="0"/>
              </a:spcBef>
              <a:spcAft>
                <a:spcPts val="0"/>
              </a:spcAft>
              <a:buClr>
                <a:srgbClr val="424242"/>
              </a:buClr>
              <a:buSzPts val="1400"/>
              <a:buChar char="○"/>
              <a:defRPr>
                <a:solidFill>
                  <a:srgbClr val="424242"/>
                </a:solidFill>
              </a:defRPr>
            </a:lvl2pPr>
            <a:lvl3pPr marL="1371600" lvl="2" indent="-317500" rtl="1">
              <a:spcBef>
                <a:spcPts val="0"/>
              </a:spcBef>
              <a:spcAft>
                <a:spcPts val="0"/>
              </a:spcAft>
              <a:buClr>
                <a:srgbClr val="424242"/>
              </a:buClr>
              <a:buSzPts val="1400"/>
              <a:buChar char="■"/>
              <a:defRPr>
                <a:solidFill>
                  <a:srgbClr val="424242"/>
                </a:solidFill>
              </a:defRPr>
            </a:lvl3pPr>
            <a:lvl4pPr marL="1828800" lvl="3" indent="-317500" rtl="1">
              <a:spcBef>
                <a:spcPts val="0"/>
              </a:spcBef>
              <a:spcAft>
                <a:spcPts val="0"/>
              </a:spcAft>
              <a:buClr>
                <a:srgbClr val="424242"/>
              </a:buClr>
              <a:buSzPts val="1400"/>
              <a:buChar char="●"/>
              <a:defRPr>
                <a:solidFill>
                  <a:srgbClr val="424242"/>
                </a:solidFill>
              </a:defRPr>
            </a:lvl4pPr>
            <a:lvl5pPr marL="2286000" lvl="4" indent="-317500" rtl="1">
              <a:spcBef>
                <a:spcPts val="0"/>
              </a:spcBef>
              <a:spcAft>
                <a:spcPts val="0"/>
              </a:spcAft>
              <a:buClr>
                <a:srgbClr val="424242"/>
              </a:buClr>
              <a:buSzPts val="1400"/>
              <a:buChar char="○"/>
              <a:defRPr>
                <a:solidFill>
                  <a:srgbClr val="424242"/>
                </a:solidFill>
              </a:defRPr>
            </a:lvl5pPr>
            <a:lvl6pPr marL="2743200" lvl="5" indent="-317500" rtl="1">
              <a:spcBef>
                <a:spcPts val="0"/>
              </a:spcBef>
              <a:spcAft>
                <a:spcPts val="0"/>
              </a:spcAft>
              <a:buClr>
                <a:srgbClr val="424242"/>
              </a:buClr>
              <a:buSzPts val="1400"/>
              <a:buChar char="■"/>
              <a:defRPr>
                <a:solidFill>
                  <a:srgbClr val="424242"/>
                </a:solidFill>
              </a:defRPr>
            </a:lvl6pPr>
            <a:lvl7pPr marL="3200400" lvl="6" indent="-317500" rtl="1">
              <a:spcBef>
                <a:spcPts val="0"/>
              </a:spcBef>
              <a:spcAft>
                <a:spcPts val="0"/>
              </a:spcAft>
              <a:buClr>
                <a:srgbClr val="424242"/>
              </a:buClr>
              <a:buSzPts val="1400"/>
              <a:buChar char="●"/>
              <a:defRPr>
                <a:solidFill>
                  <a:srgbClr val="424242"/>
                </a:solidFill>
              </a:defRPr>
            </a:lvl7pPr>
            <a:lvl8pPr marL="3657600" lvl="7" indent="-317500" rtl="1">
              <a:spcBef>
                <a:spcPts val="0"/>
              </a:spcBef>
              <a:spcAft>
                <a:spcPts val="0"/>
              </a:spcAft>
              <a:buClr>
                <a:srgbClr val="424242"/>
              </a:buClr>
              <a:buSzPts val="1400"/>
              <a:buChar char="○"/>
              <a:defRPr>
                <a:solidFill>
                  <a:srgbClr val="424242"/>
                </a:solidFill>
              </a:defRPr>
            </a:lvl8pPr>
            <a:lvl9pPr marL="4114800" lvl="8" indent="-317500" rtl="1">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
        <p:cNvGrpSpPr/>
        <p:nvPr/>
      </p:nvGrpSpPr>
      <p:grpSpPr>
        <a:xfrm>
          <a:off x="0" y="0"/>
          <a:ext cx="0" cy="0"/>
          <a:chOff x="0" y="0"/>
          <a:chExt cx="0" cy="0"/>
        </a:xfrm>
      </p:grpSpPr>
      <p:sp>
        <p:nvSpPr>
          <p:cNvPr id="25" name="Google Shape;25;p6"/>
          <p:cNvSpPr txBox="1">
            <a:spLocks noGrp="1"/>
          </p:cNvSpPr>
          <p:nvPr>
            <p:ph type="title"/>
          </p:nvPr>
        </p:nvSpPr>
        <p:spPr>
          <a:xfrm>
            <a:off x="311700" y="282450"/>
            <a:ext cx="8520600" cy="572700"/>
          </a:xfrm>
          <a:prstGeom prst="rect">
            <a:avLst/>
          </a:prstGeom>
        </p:spPr>
        <p:txBody>
          <a:bodyPr spcFirstLastPara="1" wrap="square" lIns="91425" tIns="91425" rIns="91425" bIns="91425" anchor="t" anchorCtr="0">
            <a:normAutofit/>
          </a:bodyPr>
          <a:lstStyle>
            <a:lvl1pPr lvl="0" rtl="1">
              <a:spcBef>
                <a:spcPts val="0"/>
              </a:spcBef>
              <a:spcAft>
                <a:spcPts val="0"/>
              </a:spcAft>
              <a:buSzPts val="25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6" name="Google Shape;26;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27" name="Google Shape;27;p6"/>
          <p:cNvPicPr preferRelativeResize="0"/>
          <p:nvPr/>
        </p:nvPicPr>
        <p:blipFill>
          <a:blip r:embed="rId2">
            <a:alphaModFix/>
          </a:blip>
          <a:stretch>
            <a:fillRect/>
          </a:stretch>
        </p:blipFill>
        <p:spPr>
          <a:xfrm>
            <a:off x="7959271" y="4703039"/>
            <a:ext cx="946580" cy="213982"/>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rtl="1">
              <a:spcBef>
                <a:spcPts val="0"/>
              </a:spcBef>
              <a:spcAft>
                <a:spcPts val="0"/>
              </a:spcAft>
              <a:buSzPts val="4200"/>
              <a:buNone/>
              <a:defRPr sz="4200"/>
            </a:lvl1pPr>
            <a:lvl2pPr lvl="1" algn="ctr" rtl="1">
              <a:spcBef>
                <a:spcPts val="0"/>
              </a:spcBef>
              <a:spcAft>
                <a:spcPts val="0"/>
              </a:spcAft>
              <a:buSzPts val="4200"/>
              <a:buNone/>
              <a:defRPr sz="4200"/>
            </a:lvl2pPr>
            <a:lvl3pPr lvl="2" algn="ctr" rtl="1">
              <a:spcBef>
                <a:spcPts val="0"/>
              </a:spcBef>
              <a:spcAft>
                <a:spcPts val="0"/>
              </a:spcAft>
              <a:buSzPts val="4200"/>
              <a:buNone/>
              <a:defRPr sz="4200"/>
            </a:lvl3pPr>
            <a:lvl4pPr lvl="3" algn="ctr" rtl="1">
              <a:spcBef>
                <a:spcPts val="0"/>
              </a:spcBef>
              <a:spcAft>
                <a:spcPts val="0"/>
              </a:spcAft>
              <a:buSzPts val="4200"/>
              <a:buNone/>
              <a:defRPr sz="4200"/>
            </a:lvl4pPr>
            <a:lvl5pPr lvl="4" algn="ctr" rtl="1">
              <a:spcBef>
                <a:spcPts val="0"/>
              </a:spcBef>
              <a:spcAft>
                <a:spcPts val="0"/>
              </a:spcAft>
              <a:buSzPts val="4200"/>
              <a:buNone/>
              <a:defRPr sz="4200"/>
            </a:lvl5pPr>
            <a:lvl6pPr lvl="5" algn="ctr" rtl="1">
              <a:spcBef>
                <a:spcPts val="0"/>
              </a:spcBef>
              <a:spcAft>
                <a:spcPts val="0"/>
              </a:spcAft>
              <a:buSzPts val="4200"/>
              <a:buNone/>
              <a:defRPr sz="4200"/>
            </a:lvl6pPr>
            <a:lvl7pPr lvl="6" algn="ctr" rtl="1">
              <a:spcBef>
                <a:spcPts val="0"/>
              </a:spcBef>
              <a:spcAft>
                <a:spcPts val="0"/>
              </a:spcAft>
              <a:buSzPts val="4200"/>
              <a:buNone/>
              <a:defRPr sz="4200"/>
            </a:lvl7pPr>
            <a:lvl8pPr lvl="7" algn="ctr" rtl="1">
              <a:spcBef>
                <a:spcPts val="0"/>
              </a:spcBef>
              <a:spcAft>
                <a:spcPts val="0"/>
              </a:spcAft>
              <a:buSzPts val="4200"/>
              <a:buNone/>
              <a:defRPr sz="4200"/>
            </a:lvl8pPr>
            <a:lvl9pPr lvl="8" algn="ctr" rtl="1">
              <a:spcBef>
                <a:spcPts val="0"/>
              </a:spcBef>
              <a:spcAft>
                <a:spcPts val="0"/>
              </a:spcAft>
              <a:buSzPts val="4200"/>
              <a:buNone/>
              <a:defRPr sz="4200"/>
            </a:lvl9pPr>
          </a:lstStyle>
          <a:p>
            <a:endParaRPr/>
          </a:p>
        </p:txBody>
      </p:sp>
      <p:sp>
        <p:nvSpPr>
          <p:cNvPr id="37" name="Google Shape;37;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rtl="1">
              <a:lnSpc>
                <a:spcPct val="100000"/>
              </a:lnSpc>
              <a:spcBef>
                <a:spcPts val="0"/>
              </a:spcBef>
              <a:spcAft>
                <a:spcPts val="0"/>
              </a:spcAft>
              <a:buSzPts val="2100"/>
              <a:buNone/>
              <a:defRPr sz="2100"/>
            </a:lvl1pPr>
            <a:lvl2pPr lvl="1" algn="ctr" rtl="1">
              <a:lnSpc>
                <a:spcPct val="100000"/>
              </a:lnSpc>
              <a:spcBef>
                <a:spcPts val="0"/>
              </a:spcBef>
              <a:spcAft>
                <a:spcPts val="0"/>
              </a:spcAft>
              <a:buSzPts val="2100"/>
              <a:buNone/>
              <a:defRPr sz="2100"/>
            </a:lvl2pPr>
            <a:lvl3pPr lvl="2" algn="ctr" rtl="1">
              <a:lnSpc>
                <a:spcPct val="100000"/>
              </a:lnSpc>
              <a:spcBef>
                <a:spcPts val="0"/>
              </a:spcBef>
              <a:spcAft>
                <a:spcPts val="0"/>
              </a:spcAft>
              <a:buSzPts val="2100"/>
              <a:buNone/>
              <a:defRPr sz="2100"/>
            </a:lvl3pPr>
            <a:lvl4pPr lvl="3" algn="ctr" rtl="1">
              <a:lnSpc>
                <a:spcPct val="100000"/>
              </a:lnSpc>
              <a:spcBef>
                <a:spcPts val="0"/>
              </a:spcBef>
              <a:spcAft>
                <a:spcPts val="0"/>
              </a:spcAft>
              <a:buSzPts val="2100"/>
              <a:buNone/>
              <a:defRPr sz="2100"/>
            </a:lvl4pPr>
            <a:lvl5pPr lvl="4" algn="ctr" rtl="1">
              <a:lnSpc>
                <a:spcPct val="100000"/>
              </a:lnSpc>
              <a:spcBef>
                <a:spcPts val="0"/>
              </a:spcBef>
              <a:spcAft>
                <a:spcPts val="0"/>
              </a:spcAft>
              <a:buSzPts val="2100"/>
              <a:buNone/>
              <a:defRPr sz="2100"/>
            </a:lvl5pPr>
            <a:lvl6pPr lvl="5" algn="ctr" rtl="1">
              <a:lnSpc>
                <a:spcPct val="100000"/>
              </a:lnSpc>
              <a:spcBef>
                <a:spcPts val="0"/>
              </a:spcBef>
              <a:spcAft>
                <a:spcPts val="0"/>
              </a:spcAft>
              <a:buSzPts val="2100"/>
              <a:buNone/>
              <a:defRPr sz="2100"/>
            </a:lvl6pPr>
            <a:lvl7pPr lvl="6" algn="ctr" rtl="1">
              <a:lnSpc>
                <a:spcPct val="100000"/>
              </a:lnSpc>
              <a:spcBef>
                <a:spcPts val="0"/>
              </a:spcBef>
              <a:spcAft>
                <a:spcPts val="0"/>
              </a:spcAft>
              <a:buSzPts val="2100"/>
              <a:buNone/>
              <a:defRPr sz="2100"/>
            </a:lvl7pPr>
            <a:lvl8pPr lvl="7" algn="ctr" rtl="1">
              <a:lnSpc>
                <a:spcPct val="100000"/>
              </a:lnSpc>
              <a:spcBef>
                <a:spcPts val="0"/>
              </a:spcBef>
              <a:spcAft>
                <a:spcPts val="0"/>
              </a:spcAft>
              <a:buSzPts val="2100"/>
              <a:buNone/>
              <a:defRPr sz="2100"/>
            </a:lvl8pPr>
            <a:lvl9pPr lvl="8" algn="ctr" rtl="1">
              <a:lnSpc>
                <a:spcPct val="100000"/>
              </a:lnSpc>
              <a:spcBef>
                <a:spcPts val="0"/>
              </a:spcBef>
              <a:spcAft>
                <a:spcPts val="0"/>
              </a:spcAft>
              <a:buSzPts val="2100"/>
              <a:buNone/>
              <a:defRPr sz="2100"/>
            </a:lvl9pPr>
          </a:lstStyle>
          <a:p>
            <a:endParaRPr/>
          </a:p>
        </p:txBody>
      </p:sp>
      <p:sp>
        <p:nvSpPr>
          <p:cNvPr id="38" name="Google Shape;38;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9" name="Google Shape;3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41"/>
        <p:cNvGrpSpPr/>
        <p:nvPr/>
      </p:nvGrpSpPr>
      <p:grpSpPr>
        <a:xfrm>
          <a:off x="0" y="0"/>
          <a:ext cx="0" cy="0"/>
          <a:chOff x="0" y="0"/>
          <a:chExt cx="0" cy="0"/>
        </a:xfrm>
      </p:grpSpPr>
      <p:sp>
        <p:nvSpPr>
          <p:cNvPr id="42" name="Google Shape;42;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rtl="1">
              <a:spcBef>
                <a:spcPts val="0"/>
              </a:spcBef>
              <a:spcAft>
                <a:spcPts val="0"/>
              </a:spcAft>
              <a:buSzPts val="12000"/>
              <a:buNone/>
              <a:defRPr sz="12000"/>
            </a:lvl1pPr>
            <a:lvl2pPr lvl="1" algn="ctr" rtl="1">
              <a:spcBef>
                <a:spcPts val="0"/>
              </a:spcBef>
              <a:spcAft>
                <a:spcPts val="0"/>
              </a:spcAft>
              <a:buSzPts val="12000"/>
              <a:buNone/>
              <a:defRPr sz="12000"/>
            </a:lvl2pPr>
            <a:lvl3pPr lvl="2" algn="ctr" rtl="1">
              <a:spcBef>
                <a:spcPts val="0"/>
              </a:spcBef>
              <a:spcAft>
                <a:spcPts val="0"/>
              </a:spcAft>
              <a:buSzPts val="12000"/>
              <a:buNone/>
              <a:defRPr sz="12000"/>
            </a:lvl3pPr>
            <a:lvl4pPr lvl="3" algn="ctr" rtl="1">
              <a:spcBef>
                <a:spcPts val="0"/>
              </a:spcBef>
              <a:spcAft>
                <a:spcPts val="0"/>
              </a:spcAft>
              <a:buSzPts val="12000"/>
              <a:buNone/>
              <a:defRPr sz="12000"/>
            </a:lvl4pPr>
            <a:lvl5pPr lvl="4" algn="ctr" rtl="1">
              <a:spcBef>
                <a:spcPts val="0"/>
              </a:spcBef>
              <a:spcAft>
                <a:spcPts val="0"/>
              </a:spcAft>
              <a:buSzPts val="12000"/>
              <a:buNone/>
              <a:defRPr sz="12000"/>
            </a:lvl5pPr>
            <a:lvl6pPr lvl="5" algn="ctr" rtl="1">
              <a:spcBef>
                <a:spcPts val="0"/>
              </a:spcBef>
              <a:spcAft>
                <a:spcPts val="0"/>
              </a:spcAft>
              <a:buSzPts val="12000"/>
              <a:buNone/>
              <a:defRPr sz="12000"/>
            </a:lvl6pPr>
            <a:lvl7pPr lvl="6" algn="ctr" rtl="1">
              <a:spcBef>
                <a:spcPts val="0"/>
              </a:spcBef>
              <a:spcAft>
                <a:spcPts val="0"/>
              </a:spcAft>
              <a:buSzPts val="12000"/>
              <a:buNone/>
              <a:defRPr sz="12000"/>
            </a:lvl7pPr>
            <a:lvl8pPr lvl="7" algn="ctr" rtl="1">
              <a:spcBef>
                <a:spcPts val="0"/>
              </a:spcBef>
              <a:spcAft>
                <a:spcPts val="0"/>
              </a:spcAft>
              <a:buSzPts val="12000"/>
              <a:buNone/>
              <a:defRPr sz="12000"/>
            </a:lvl8pPr>
            <a:lvl9pPr lvl="8" algn="ctr" rtl="1">
              <a:spcBef>
                <a:spcPts val="0"/>
              </a:spcBef>
              <a:spcAft>
                <a:spcPts val="0"/>
              </a:spcAft>
              <a:buSzPts val="12000"/>
              <a:buNone/>
              <a:defRPr sz="12000"/>
            </a:lvl9pPr>
          </a:lstStyle>
          <a:p>
            <a:r>
              <a:t>xx%</a:t>
            </a:r>
          </a:p>
        </p:txBody>
      </p:sp>
      <p:pic>
        <p:nvPicPr>
          <p:cNvPr id="43" name="Google Shape;43;p11" title="twq white-20.png"/>
          <p:cNvPicPr preferRelativeResize="0"/>
          <p:nvPr/>
        </p:nvPicPr>
        <p:blipFill>
          <a:blip r:embed="rId3">
            <a:alphaModFix/>
          </a:blip>
          <a:stretch>
            <a:fillRect/>
          </a:stretch>
        </p:blipFill>
        <p:spPr>
          <a:xfrm>
            <a:off x="7443975" y="84975"/>
            <a:ext cx="1388326" cy="599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44"/>
        <p:cNvGrpSpPr/>
        <p:nvPr/>
      </p:nvGrpSpPr>
      <p:grpSpPr>
        <a:xfrm>
          <a:off x="0" y="0"/>
          <a:ext cx="0" cy="0"/>
          <a:chOff x="0" y="0"/>
          <a:chExt cx="0" cy="0"/>
        </a:xfrm>
      </p:grpSpPr>
      <p:sp>
        <p:nvSpPr>
          <p:cNvPr id="45" name="Google Shape;45;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5784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0">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lvl="0" rtl="1">
              <a:spcBef>
                <a:spcPts val="0"/>
              </a:spcBef>
              <a:spcAft>
                <a:spcPts val="0"/>
              </a:spcAft>
              <a:buClr>
                <a:srgbClr val="4F29B7"/>
              </a:buClr>
              <a:buSzPts val="2500"/>
              <a:buFont typeface="IBM Plex Sans Arabic Medium"/>
              <a:buNone/>
              <a:defRPr sz="2500">
                <a:solidFill>
                  <a:srgbClr val="4F29B7"/>
                </a:solidFill>
                <a:latin typeface="IBM Plex Sans Arabic Medium"/>
                <a:ea typeface="IBM Plex Sans Arabic Medium"/>
                <a:cs typeface="IBM Plex Sans Arabic Medium"/>
                <a:sym typeface="IBM Plex Sans Arabic Medium"/>
              </a:defRPr>
            </a:lvl1pPr>
            <a:lvl2pPr lvl="1"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2pPr>
            <a:lvl3pPr lvl="2"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3pPr>
            <a:lvl4pPr lvl="3"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4pPr>
            <a:lvl5pPr lvl="4"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5pPr>
            <a:lvl6pPr lvl="5"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6pPr>
            <a:lvl7pPr lvl="6"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7pPr>
            <a:lvl8pPr lvl="7"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8pPr>
            <a:lvl9pPr lvl="8" rtl="1">
              <a:spcBef>
                <a:spcPts val="0"/>
              </a:spcBef>
              <a:spcAft>
                <a:spcPts val="0"/>
              </a:spcAft>
              <a:buClr>
                <a:schemeClr val="dk1"/>
              </a:buClr>
              <a:buSzPts val="2800"/>
              <a:buFont typeface="IBM Plex Sans Medium"/>
              <a:buNone/>
              <a:defRPr sz="2800">
                <a:solidFill>
                  <a:schemeClr val="dk1"/>
                </a:solidFill>
                <a:latin typeface="IBM Plex Sans Medium"/>
                <a:ea typeface="IBM Plex Sans Medium"/>
                <a:cs typeface="IBM Plex Sans Medium"/>
                <a:sym typeface="IBM Plex Sans Medium"/>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rtl="1">
              <a:lnSpc>
                <a:spcPct val="115000"/>
              </a:lnSpc>
              <a:spcBef>
                <a:spcPts val="0"/>
              </a:spcBef>
              <a:spcAft>
                <a:spcPts val="0"/>
              </a:spcAft>
              <a:buClr>
                <a:srgbClr val="252526"/>
              </a:buClr>
              <a:buSzPts val="1800"/>
              <a:buFont typeface="IBM Plex Sans Arabic"/>
              <a:buChar char="●"/>
              <a:defRPr sz="1800">
                <a:solidFill>
                  <a:srgbClr val="252526"/>
                </a:solidFill>
                <a:latin typeface="IBM Plex Sans Arabic"/>
                <a:ea typeface="IBM Plex Sans Arabic"/>
                <a:cs typeface="IBM Plex Sans Arabic"/>
                <a:sym typeface="IBM Plex Sans Arabic"/>
              </a:defRPr>
            </a:lvl1pPr>
            <a:lvl2pPr marL="914400" lvl="1"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2pPr>
            <a:lvl3pPr marL="1371600" lvl="2"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3pPr>
            <a:lvl4pPr marL="1828800" lvl="3"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4pPr>
            <a:lvl5pPr marL="2286000" lvl="4"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5pPr>
            <a:lvl6pPr marL="2743200" lvl="5"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6pPr>
            <a:lvl7pPr marL="3200400" lvl="6"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7pPr>
            <a:lvl8pPr marL="3657600" lvl="7"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8pPr>
            <a:lvl9pPr marL="4114800" lvl="8" indent="-317500" rtl="1">
              <a:lnSpc>
                <a:spcPct val="115000"/>
              </a:lnSpc>
              <a:spcBef>
                <a:spcPts val="0"/>
              </a:spcBef>
              <a:spcAft>
                <a:spcPts val="0"/>
              </a:spcAft>
              <a:buClr>
                <a:srgbClr val="252526"/>
              </a:buClr>
              <a:buSzPts val="1400"/>
              <a:buFont typeface="IBM Plex Sans Arabic"/>
              <a:buChar char="■"/>
              <a:defRPr>
                <a:solidFill>
                  <a:srgbClr val="252526"/>
                </a:solidFill>
                <a:latin typeface="IBM Plex Sans Arabic"/>
                <a:ea typeface="IBM Plex Sans Arabic"/>
                <a:cs typeface="IBM Plex Sans Arabic"/>
                <a:sym typeface="IBM Plex Sans Arabic"/>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dk2"/>
                </a:solidFill>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5" r:id="rId5"/>
    <p:sldLayoutId id="2147483657" r:id="rId6"/>
    <p:sldLayoutId id="2147483658" r:id="rId7"/>
    <p:sldLayoutId id="2147483660"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13"/>
          <p:cNvSpPr txBox="1">
            <a:spLocks noGrp="1"/>
          </p:cNvSpPr>
          <p:nvPr>
            <p:ph type="title"/>
          </p:nvPr>
        </p:nvSpPr>
        <p:spPr>
          <a:xfrm>
            <a:off x="5435226" y="867625"/>
            <a:ext cx="2974200" cy="2262000"/>
          </a:xfrm>
          <a:prstGeom prst="rect">
            <a:avLst/>
          </a:prstGeom>
        </p:spPr>
        <p:txBody>
          <a:bodyPr spcFirstLastPara="1" wrap="square" lIns="91425" tIns="91425" rIns="91425" bIns="91425" anchor="b" anchorCtr="0">
            <a:normAutofit/>
          </a:bodyPr>
          <a:lstStyle/>
          <a:p>
            <a:pPr marL="0" lvl="0" indent="0" algn="r" rtl="0">
              <a:spcBef>
                <a:spcPts val="0"/>
              </a:spcBef>
              <a:spcAft>
                <a:spcPts val="0"/>
              </a:spcAft>
              <a:buNone/>
            </a:pPr>
            <a:r>
              <a:rPr lang="en" sz="4800" dirty="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dirty="0">
              <a:solidFill>
                <a:srgbClr val="58E3D8"/>
              </a:solidFill>
              <a:latin typeface="IBM Plex Sans Arabic SemiBold"/>
              <a:ea typeface="IBM Plex Sans Arabic SemiBold"/>
              <a:cs typeface="IBM Plex Sans Arabic SemiBold"/>
              <a:sym typeface="IBM Plex Sans Arabic SemiBold"/>
            </a:endParaRPr>
          </a:p>
        </p:txBody>
      </p:sp>
      <p:sp>
        <p:nvSpPr>
          <p:cNvPr id="51" name="Google Shape;51;p13"/>
          <p:cNvSpPr txBox="1">
            <a:spLocks noGrp="1"/>
          </p:cNvSpPr>
          <p:nvPr>
            <p:ph type="body" idx="4294967295"/>
          </p:nvPr>
        </p:nvSpPr>
        <p:spPr>
          <a:xfrm>
            <a:off x="3902100" y="3253272"/>
            <a:ext cx="4447500" cy="403200"/>
          </a:xfrm>
          <a:prstGeom prst="rect">
            <a:avLst/>
          </a:prstGeom>
        </p:spPr>
        <p:txBody>
          <a:bodyPr spcFirstLastPara="1" wrap="square" lIns="91425" tIns="91425" rIns="91425" bIns="91425" anchor="t" anchorCtr="0">
            <a:noAutofit/>
          </a:bodyPr>
          <a:lstStyle/>
          <a:p>
            <a:pPr marL="114300" indent="0" algn="r">
              <a:buNone/>
            </a:pPr>
            <a:r>
              <a:rPr lang="ar-SA" sz="2000" b="1" dirty="0">
                <a:solidFill>
                  <a:schemeClr val="bg1"/>
                </a:solidFill>
              </a:rPr>
              <a:t>المعسكر التأسيسي - مسار البرمجة</a:t>
            </a:r>
          </a:p>
          <a:p>
            <a:pPr marL="114300" indent="0">
              <a:buNone/>
            </a:pPr>
            <a:br>
              <a:rPr lang="ar-SA" sz="2000" dirty="0"/>
            </a:br>
            <a:endParaRPr lang="ar-SA" sz="20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68CE146-B27A-8DBF-51B7-2C3A7D96DC6F}"/>
              </a:ext>
            </a:extLst>
          </p:cNvPr>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a:extLst>
              <a:ext uri="{FF2B5EF4-FFF2-40B4-BE49-F238E27FC236}">
                <a16:creationId xmlns:a16="http://schemas.microsoft.com/office/drawing/2014/main" id="{EEACFFC1-8D3E-B9DB-31B3-6713AE210AA3}"/>
              </a:ext>
            </a:extLst>
          </p:cNvPr>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a:extLst>
              <a:ext uri="{FF2B5EF4-FFF2-40B4-BE49-F238E27FC236}">
                <a16:creationId xmlns:a16="http://schemas.microsoft.com/office/drawing/2014/main" id="{63554990-9C3C-5B2E-A4FE-D87E04675B34}"/>
              </a:ext>
            </a:extLst>
          </p:cNvPr>
          <p:cNvSpPr/>
          <p:nvPr/>
        </p:nvSpPr>
        <p:spPr>
          <a:xfrm>
            <a:off x="329184" y="91440"/>
            <a:ext cx="4572000" cy="274320"/>
          </a:xfrm>
          <a:prstGeom prst="rect">
            <a:avLst/>
          </a:prstGeom>
          <a:noFill/>
          <a:ln/>
        </p:spPr>
        <p:txBody>
          <a:bodyPr wrap="square" lIns="0" tIns="0" rIns="0" bIns="0" rtlCol="0" anchor="ctr"/>
          <a:lstStyle/>
          <a:p>
            <a:pPr marL="0" indent="0">
              <a:buNone/>
            </a:pPr>
            <a:r>
              <a:rPr lang="en-US" sz="1400" b="1" dirty="0">
                <a:solidFill>
                  <a:srgbClr val="F0F6FC"/>
                </a:solidFill>
                <a:latin typeface="Calibri" pitchFamily="34" charset="0"/>
                <a:ea typeface="Calibri" pitchFamily="34" charset="-122"/>
                <a:cs typeface="Calibri" pitchFamily="34" charset="-120"/>
              </a:rPr>
              <a:t>Pre-Bootcamp Survey</a:t>
            </a:r>
            <a:endParaRPr lang="en-US" sz="1400" dirty="0"/>
          </a:p>
        </p:txBody>
      </p:sp>
      <p:sp>
        <p:nvSpPr>
          <p:cNvPr id="5" name="Text 3">
            <a:extLst>
              <a:ext uri="{FF2B5EF4-FFF2-40B4-BE49-F238E27FC236}">
                <a16:creationId xmlns:a16="http://schemas.microsoft.com/office/drawing/2014/main" id="{28FC3B56-7D32-BD26-F70C-4C3847013DDA}"/>
              </a:ext>
            </a:extLst>
          </p:cNvPr>
          <p:cNvSpPr/>
          <p:nvPr/>
        </p:nvSpPr>
        <p:spPr>
          <a:xfrm>
            <a:off x="329184" y="91440"/>
            <a:ext cx="8485632" cy="274320"/>
          </a:xfrm>
          <a:prstGeom prst="rect">
            <a:avLst/>
          </a:prstGeom>
          <a:noFill/>
          <a:ln/>
        </p:spPr>
        <p:txBody>
          <a:bodyPr wrap="square" lIns="0" tIns="0" rIns="0" bIns="0" rtlCol="0" anchor="ctr"/>
          <a:lstStyle/>
          <a:p>
            <a:pPr marL="0" indent="0" algn="r">
              <a:buNone/>
            </a:pPr>
            <a:r>
              <a:rPr lang="en-US" sz="950" dirty="0">
                <a:solidFill>
                  <a:srgbClr val="8B949E"/>
                </a:solidFill>
                <a:latin typeface="Calibri" pitchFamily="34" charset="0"/>
                <a:ea typeface="Calibri" pitchFamily="34" charset="-122"/>
                <a:cs typeface="Calibri" pitchFamily="34" charset="-120"/>
              </a:rPr>
              <a:t>Foundation Bootcamp  ·  Programming Fundamentals</a:t>
            </a:r>
            <a:endParaRPr lang="en-US" sz="950" dirty="0"/>
          </a:p>
        </p:txBody>
      </p:sp>
      <p:sp>
        <p:nvSpPr>
          <p:cNvPr id="6" name="Shape 4">
            <a:extLst>
              <a:ext uri="{FF2B5EF4-FFF2-40B4-BE49-F238E27FC236}">
                <a16:creationId xmlns:a16="http://schemas.microsoft.com/office/drawing/2014/main" id="{BB2721FB-A34C-DC10-EDB5-C81D0E2FCC0F}"/>
              </a:ext>
            </a:extLst>
          </p:cNvPr>
          <p:cNvSpPr/>
          <p:nvPr/>
        </p:nvSpPr>
        <p:spPr>
          <a:xfrm>
            <a:off x="329184" y="402336"/>
            <a:ext cx="8485632" cy="0"/>
          </a:xfrm>
          <a:prstGeom prst="line">
            <a:avLst/>
          </a:prstGeom>
          <a:noFill/>
          <a:ln w="8890">
            <a:solidFill>
              <a:srgbClr val="3D444D"/>
            </a:solidFill>
            <a:prstDash val="solid"/>
          </a:ln>
        </p:spPr>
        <p:txBody>
          <a:bodyPr/>
          <a:lstStyle/>
          <a:p>
            <a:endParaRPr lang="en-US"/>
          </a:p>
        </p:txBody>
      </p:sp>
      <p:sp>
        <p:nvSpPr>
          <p:cNvPr id="7" name="Shape 5">
            <a:extLst>
              <a:ext uri="{FF2B5EF4-FFF2-40B4-BE49-F238E27FC236}">
                <a16:creationId xmlns:a16="http://schemas.microsoft.com/office/drawing/2014/main" id="{83671982-C6B2-8841-A595-418C5EB3FAB1}"/>
              </a:ext>
            </a:extLst>
          </p:cNvPr>
          <p:cNvSpPr/>
          <p:nvPr/>
        </p:nvSpPr>
        <p:spPr>
          <a:xfrm>
            <a:off x="329184" y="475488"/>
            <a:ext cx="4114800" cy="2121408"/>
          </a:xfrm>
          <a:prstGeom prst="rect">
            <a:avLst/>
          </a:prstGeom>
          <a:solidFill>
            <a:srgbClr val="161B26"/>
          </a:solidFill>
          <a:ln w="19050">
            <a:solidFill>
              <a:srgbClr val="3FD9C4"/>
            </a:solidFill>
            <a:prstDash val="solid"/>
          </a:ln>
          <a:effectLst>
            <a:outerShdw blurRad="101600" dist="25400" dir="8100000" algn="bl" rotWithShape="0">
              <a:srgbClr val="000000">
                <a:alpha val="30000"/>
              </a:srgbClr>
            </a:outerShdw>
          </a:effectLst>
        </p:spPr>
        <p:txBody>
          <a:bodyPr/>
          <a:lstStyle/>
          <a:p>
            <a:endParaRPr lang="en-US"/>
          </a:p>
        </p:txBody>
      </p:sp>
      <p:sp>
        <p:nvSpPr>
          <p:cNvPr id="8" name="Shape 6">
            <a:extLst>
              <a:ext uri="{FF2B5EF4-FFF2-40B4-BE49-F238E27FC236}">
                <a16:creationId xmlns:a16="http://schemas.microsoft.com/office/drawing/2014/main" id="{39723E47-05C8-B247-60D0-93DB8BA662ED}"/>
              </a:ext>
            </a:extLst>
          </p:cNvPr>
          <p:cNvSpPr/>
          <p:nvPr/>
        </p:nvSpPr>
        <p:spPr>
          <a:xfrm>
            <a:off x="329184" y="475488"/>
            <a:ext cx="64008" cy="2121408"/>
          </a:xfrm>
          <a:prstGeom prst="rect">
            <a:avLst/>
          </a:prstGeom>
          <a:solidFill>
            <a:srgbClr val="3FD9C4"/>
          </a:solidFill>
          <a:ln w="12700">
            <a:solidFill>
              <a:srgbClr val="3FD9C4"/>
            </a:solidFill>
            <a:prstDash val="solid"/>
          </a:ln>
        </p:spPr>
        <p:txBody>
          <a:bodyPr/>
          <a:lstStyle/>
          <a:p>
            <a:endParaRPr lang="en-US"/>
          </a:p>
        </p:txBody>
      </p:sp>
      <p:sp>
        <p:nvSpPr>
          <p:cNvPr id="9" name="Shape 7">
            <a:extLst>
              <a:ext uri="{FF2B5EF4-FFF2-40B4-BE49-F238E27FC236}">
                <a16:creationId xmlns:a16="http://schemas.microsoft.com/office/drawing/2014/main" id="{ED692A44-907D-8958-3692-4858FB34E1CD}"/>
              </a:ext>
            </a:extLst>
          </p:cNvPr>
          <p:cNvSpPr/>
          <p:nvPr/>
        </p:nvSpPr>
        <p:spPr>
          <a:xfrm>
            <a:off x="457200" y="566928"/>
            <a:ext cx="256032" cy="256032"/>
          </a:xfrm>
          <a:prstGeom prst="ellipse">
            <a:avLst/>
          </a:prstGeom>
          <a:solidFill>
            <a:srgbClr val="3FD9C4">
              <a:alpha val="82000"/>
            </a:srgbClr>
          </a:solidFill>
          <a:ln w="19050">
            <a:solidFill>
              <a:srgbClr val="3FD9C4"/>
            </a:solidFill>
            <a:prstDash val="solid"/>
          </a:ln>
        </p:spPr>
        <p:txBody>
          <a:bodyPr/>
          <a:lstStyle/>
          <a:p>
            <a:endParaRPr lang="en-US"/>
          </a:p>
        </p:txBody>
      </p:sp>
      <p:sp>
        <p:nvSpPr>
          <p:cNvPr id="10" name="Text 8">
            <a:extLst>
              <a:ext uri="{FF2B5EF4-FFF2-40B4-BE49-F238E27FC236}">
                <a16:creationId xmlns:a16="http://schemas.microsoft.com/office/drawing/2014/main" id="{16DB6FD5-3C1C-4FF8-BB52-18EB5BBBE143}"/>
              </a:ext>
            </a:extLst>
          </p:cNvPr>
          <p:cNvSpPr/>
          <p:nvPr/>
        </p:nvSpPr>
        <p:spPr>
          <a:xfrm>
            <a:off x="457200" y="566928"/>
            <a:ext cx="256032" cy="256032"/>
          </a:xfrm>
          <a:prstGeom prst="rect">
            <a:avLst/>
          </a:prstGeom>
          <a:noFill/>
          <a:ln/>
        </p:spPr>
        <p:txBody>
          <a:bodyPr wrap="square" lIns="0" tIns="0" rIns="0" bIns="0" rtlCol="0" anchor="ctr"/>
          <a:lstStyle/>
          <a:p>
            <a:pPr marL="0" indent="0" algn="ctr">
              <a:buNone/>
            </a:pPr>
            <a:r>
              <a:rPr lang="en-US" sz="1100" b="1" dirty="0">
                <a:solidFill>
                  <a:srgbClr val="3FD9C4"/>
                </a:solidFill>
                <a:latin typeface="Calibri" pitchFamily="34" charset="0"/>
                <a:ea typeface="Calibri" pitchFamily="34" charset="-122"/>
                <a:cs typeface="Calibri" pitchFamily="34" charset="-120"/>
              </a:rPr>
              <a:t>1</a:t>
            </a:r>
            <a:endParaRPr lang="en-US" sz="1100" dirty="0"/>
          </a:p>
        </p:txBody>
      </p:sp>
      <p:sp>
        <p:nvSpPr>
          <p:cNvPr id="11" name="Text 9">
            <a:extLst>
              <a:ext uri="{FF2B5EF4-FFF2-40B4-BE49-F238E27FC236}">
                <a16:creationId xmlns:a16="http://schemas.microsoft.com/office/drawing/2014/main" id="{29C6F19C-2BA7-A8B5-3401-166EF67FD06D}"/>
              </a:ext>
            </a:extLst>
          </p:cNvPr>
          <p:cNvSpPr/>
          <p:nvPr/>
        </p:nvSpPr>
        <p:spPr>
          <a:xfrm>
            <a:off x="786384" y="539496"/>
            <a:ext cx="329184" cy="329184"/>
          </a:xfrm>
          <a:prstGeom prst="rect">
            <a:avLst/>
          </a:prstGeom>
          <a:noFill/>
          <a:ln/>
        </p:spPr>
        <p:txBody>
          <a:bodyPr wrap="square" lIns="0" tIns="0" rIns="0" bIns="0" rtlCol="0" anchor="ctr"/>
          <a:lstStyle/>
          <a:p>
            <a:pPr marL="0" indent="0" algn="ctr">
              <a:buNone/>
            </a:pPr>
            <a:r>
              <a:rPr lang="en-US" sz="1700" dirty="0">
                <a:solidFill>
                  <a:srgbClr val="000000"/>
                </a:solidFill>
              </a:rPr>
              <a:t>👤</a:t>
            </a:r>
            <a:endParaRPr lang="en-US" sz="1700" dirty="0"/>
          </a:p>
        </p:txBody>
      </p:sp>
      <p:sp>
        <p:nvSpPr>
          <p:cNvPr id="12" name="Text 10">
            <a:extLst>
              <a:ext uri="{FF2B5EF4-FFF2-40B4-BE49-F238E27FC236}">
                <a16:creationId xmlns:a16="http://schemas.microsoft.com/office/drawing/2014/main" id="{97F6A02F-DE77-2236-19B6-0343F872C524}"/>
              </a:ext>
            </a:extLst>
          </p:cNvPr>
          <p:cNvSpPr/>
          <p:nvPr/>
        </p:nvSpPr>
        <p:spPr>
          <a:xfrm>
            <a:off x="1170432" y="539496"/>
            <a:ext cx="3200400" cy="347472"/>
          </a:xfrm>
          <a:prstGeom prst="rect">
            <a:avLst/>
          </a:prstGeom>
          <a:noFill/>
          <a:ln/>
        </p:spPr>
        <p:txBody>
          <a:bodyPr wrap="square" lIns="0" tIns="0" rIns="0" bIns="0" rtlCol="0" anchor="ctr"/>
          <a:lstStyle/>
          <a:p>
            <a:pPr marL="0" indent="0">
              <a:buNone/>
            </a:pPr>
            <a:r>
              <a:rPr lang="en-US" sz="1150" b="1" dirty="0">
                <a:solidFill>
                  <a:srgbClr val="F0F6FC"/>
                </a:solidFill>
                <a:latin typeface="Calibri" pitchFamily="34" charset="0"/>
                <a:ea typeface="Calibri" pitchFamily="34" charset="-122"/>
                <a:cs typeface="Calibri" pitchFamily="34" charset="-120"/>
              </a:rPr>
              <a:t>What is your name and field of study or work?</a:t>
            </a:r>
            <a:endParaRPr lang="en-US" sz="1150" dirty="0"/>
          </a:p>
        </p:txBody>
      </p:sp>
      <p:sp>
        <p:nvSpPr>
          <p:cNvPr id="13" name="Shape 11">
            <a:extLst>
              <a:ext uri="{FF2B5EF4-FFF2-40B4-BE49-F238E27FC236}">
                <a16:creationId xmlns:a16="http://schemas.microsoft.com/office/drawing/2014/main" id="{1211C346-C5AA-48A1-3F66-2ADA287AC90F}"/>
              </a:ext>
            </a:extLst>
          </p:cNvPr>
          <p:cNvSpPr/>
          <p:nvPr/>
        </p:nvSpPr>
        <p:spPr>
          <a:xfrm>
            <a:off x="457200" y="932688"/>
            <a:ext cx="3913632" cy="0"/>
          </a:xfrm>
          <a:prstGeom prst="line">
            <a:avLst/>
          </a:prstGeom>
          <a:noFill/>
          <a:ln w="8890">
            <a:solidFill>
              <a:srgbClr val="3D444D"/>
            </a:solidFill>
            <a:prstDash val="solid"/>
          </a:ln>
        </p:spPr>
        <p:txBody>
          <a:bodyPr/>
          <a:lstStyle/>
          <a:p>
            <a:endParaRPr lang="en-US"/>
          </a:p>
        </p:txBody>
      </p:sp>
      <p:sp>
        <p:nvSpPr>
          <p:cNvPr id="14" name="Shape 12">
            <a:extLst>
              <a:ext uri="{FF2B5EF4-FFF2-40B4-BE49-F238E27FC236}">
                <a16:creationId xmlns:a16="http://schemas.microsoft.com/office/drawing/2014/main" id="{37C923B2-892F-C74E-03DD-F6B0B8DFFCC2}"/>
              </a:ext>
            </a:extLst>
          </p:cNvPr>
          <p:cNvSpPr/>
          <p:nvPr/>
        </p:nvSpPr>
        <p:spPr>
          <a:xfrm>
            <a:off x="457200" y="1005840"/>
            <a:ext cx="3858768" cy="310896"/>
          </a:xfrm>
          <a:prstGeom prst="rect">
            <a:avLst/>
          </a:prstGeom>
          <a:solidFill>
            <a:srgbClr val="3FD9C4">
              <a:alpha val="18000"/>
            </a:srgbClr>
          </a:solidFill>
          <a:ln w="15240">
            <a:solidFill>
              <a:srgbClr val="3FD9C4"/>
            </a:solidFill>
            <a:prstDash val="solid"/>
          </a:ln>
        </p:spPr>
        <p:txBody>
          <a:bodyPr/>
          <a:lstStyle/>
          <a:p>
            <a:endParaRPr lang="en-US"/>
          </a:p>
        </p:txBody>
      </p:sp>
      <p:sp>
        <p:nvSpPr>
          <p:cNvPr id="15" name="Text 13">
            <a:extLst>
              <a:ext uri="{FF2B5EF4-FFF2-40B4-BE49-F238E27FC236}">
                <a16:creationId xmlns:a16="http://schemas.microsoft.com/office/drawing/2014/main" id="{D26D868D-DB0F-F1C0-DB39-133F70A884B4}"/>
              </a:ext>
            </a:extLst>
          </p:cNvPr>
          <p:cNvSpPr/>
          <p:nvPr/>
        </p:nvSpPr>
        <p:spPr>
          <a:xfrm>
            <a:off x="457200" y="1005840"/>
            <a:ext cx="3858768" cy="310896"/>
          </a:xfrm>
          <a:prstGeom prst="rect">
            <a:avLst/>
          </a:prstGeom>
          <a:noFill/>
          <a:ln/>
        </p:spPr>
        <p:txBody>
          <a:bodyPr wrap="square" lIns="0" tIns="0" rIns="0" bIns="0" rtlCol="0" anchor="ctr"/>
          <a:lstStyle/>
          <a:p>
            <a:pPr marL="0" indent="0" algn="ctr">
              <a:buNone/>
            </a:pPr>
            <a:r>
              <a:rPr lang="en-US" sz="1100" b="1" dirty="0">
                <a:solidFill>
                  <a:srgbClr val="3FD9C4"/>
                </a:solidFill>
                <a:latin typeface="Calibri" pitchFamily="34" charset="0"/>
                <a:ea typeface="Calibri" pitchFamily="34" charset="-122"/>
                <a:cs typeface="Calibri" pitchFamily="34" charset="-120"/>
              </a:rPr>
              <a:t>🎓  University / College Student</a:t>
            </a:r>
            <a:endParaRPr lang="en-US" sz="1100" dirty="0"/>
          </a:p>
        </p:txBody>
      </p:sp>
      <p:sp>
        <p:nvSpPr>
          <p:cNvPr id="16" name="Shape 14">
            <a:extLst>
              <a:ext uri="{FF2B5EF4-FFF2-40B4-BE49-F238E27FC236}">
                <a16:creationId xmlns:a16="http://schemas.microsoft.com/office/drawing/2014/main" id="{C5FE13DD-05FC-338B-C025-DE68990A277B}"/>
              </a:ext>
            </a:extLst>
          </p:cNvPr>
          <p:cNvSpPr/>
          <p:nvPr/>
        </p:nvSpPr>
        <p:spPr>
          <a:xfrm>
            <a:off x="457200" y="1389888"/>
            <a:ext cx="3858768" cy="310896"/>
          </a:xfrm>
          <a:prstGeom prst="rect">
            <a:avLst/>
          </a:prstGeom>
          <a:solidFill>
            <a:srgbClr val="58A6FF">
              <a:alpha val="18000"/>
            </a:srgbClr>
          </a:solidFill>
          <a:ln w="15240">
            <a:solidFill>
              <a:srgbClr val="58A6FF"/>
            </a:solidFill>
            <a:prstDash val="solid"/>
          </a:ln>
        </p:spPr>
        <p:txBody>
          <a:bodyPr/>
          <a:lstStyle/>
          <a:p>
            <a:endParaRPr lang="en-US"/>
          </a:p>
        </p:txBody>
      </p:sp>
      <p:sp>
        <p:nvSpPr>
          <p:cNvPr id="17" name="Text 15">
            <a:extLst>
              <a:ext uri="{FF2B5EF4-FFF2-40B4-BE49-F238E27FC236}">
                <a16:creationId xmlns:a16="http://schemas.microsoft.com/office/drawing/2014/main" id="{BB3FF8A1-9862-5F81-DE43-E976791D1B49}"/>
              </a:ext>
            </a:extLst>
          </p:cNvPr>
          <p:cNvSpPr/>
          <p:nvPr/>
        </p:nvSpPr>
        <p:spPr>
          <a:xfrm>
            <a:off x="457200" y="1389888"/>
            <a:ext cx="3858768" cy="310896"/>
          </a:xfrm>
          <a:prstGeom prst="rect">
            <a:avLst/>
          </a:prstGeom>
          <a:noFill/>
          <a:ln/>
        </p:spPr>
        <p:txBody>
          <a:bodyPr wrap="square" lIns="0" tIns="0" rIns="0" bIns="0" rtlCol="0" anchor="ctr"/>
          <a:lstStyle/>
          <a:p>
            <a:pPr marL="0" indent="0" algn="ctr">
              <a:buNone/>
            </a:pPr>
            <a:r>
              <a:rPr lang="en-US" sz="1100" b="1" dirty="0">
                <a:solidFill>
                  <a:srgbClr val="58A6FF"/>
                </a:solidFill>
                <a:latin typeface="Calibri" pitchFamily="34" charset="0"/>
                <a:ea typeface="Calibri" pitchFamily="34" charset="-122"/>
                <a:cs typeface="Calibri" pitchFamily="34" charset="-120"/>
              </a:rPr>
              <a:t>💼  Working Professional</a:t>
            </a:r>
            <a:endParaRPr lang="en-US" sz="1100" dirty="0"/>
          </a:p>
        </p:txBody>
      </p:sp>
      <p:sp>
        <p:nvSpPr>
          <p:cNvPr id="18" name="Shape 16">
            <a:extLst>
              <a:ext uri="{FF2B5EF4-FFF2-40B4-BE49-F238E27FC236}">
                <a16:creationId xmlns:a16="http://schemas.microsoft.com/office/drawing/2014/main" id="{6A51A58F-568B-155E-47EA-3F7548681B26}"/>
              </a:ext>
            </a:extLst>
          </p:cNvPr>
          <p:cNvSpPr/>
          <p:nvPr/>
        </p:nvSpPr>
        <p:spPr>
          <a:xfrm>
            <a:off x="457200" y="1773936"/>
            <a:ext cx="3858768" cy="310896"/>
          </a:xfrm>
          <a:prstGeom prst="rect">
            <a:avLst/>
          </a:prstGeom>
          <a:solidFill>
            <a:srgbClr val="FFA657">
              <a:alpha val="18000"/>
            </a:srgbClr>
          </a:solidFill>
          <a:ln w="15240">
            <a:solidFill>
              <a:srgbClr val="FFA657"/>
            </a:solidFill>
            <a:prstDash val="solid"/>
          </a:ln>
        </p:spPr>
        <p:txBody>
          <a:bodyPr/>
          <a:lstStyle/>
          <a:p>
            <a:endParaRPr lang="en-US"/>
          </a:p>
        </p:txBody>
      </p:sp>
      <p:sp>
        <p:nvSpPr>
          <p:cNvPr id="19" name="Text 17">
            <a:extLst>
              <a:ext uri="{FF2B5EF4-FFF2-40B4-BE49-F238E27FC236}">
                <a16:creationId xmlns:a16="http://schemas.microsoft.com/office/drawing/2014/main" id="{F6B4BF55-C2E7-AC07-CC28-5FAF0E415A12}"/>
              </a:ext>
            </a:extLst>
          </p:cNvPr>
          <p:cNvSpPr/>
          <p:nvPr/>
        </p:nvSpPr>
        <p:spPr>
          <a:xfrm>
            <a:off x="457200" y="1773936"/>
            <a:ext cx="3858768" cy="310896"/>
          </a:xfrm>
          <a:prstGeom prst="rect">
            <a:avLst/>
          </a:prstGeom>
          <a:noFill/>
          <a:ln/>
        </p:spPr>
        <p:txBody>
          <a:bodyPr wrap="square" lIns="0" tIns="0" rIns="0" bIns="0" rtlCol="0" anchor="ctr"/>
          <a:lstStyle/>
          <a:p>
            <a:pPr marL="0" indent="0" algn="ctr">
              <a:buNone/>
            </a:pPr>
            <a:r>
              <a:rPr lang="en-US" sz="1100" b="1" dirty="0">
                <a:solidFill>
                  <a:srgbClr val="FFA657"/>
                </a:solidFill>
                <a:latin typeface="Calibri" pitchFamily="34" charset="0"/>
                <a:ea typeface="Calibri" pitchFamily="34" charset="-122"/>
                <a:cs typeface="Calibri" pitchFamily="34" charset="-120"/>
              </a:rPr>
              <a:t>🔄  Career Switcher</a:t>
            </a:r>
            <a:endParaRPr lang="en-US" sz="1100" dirty="0"/>
          </a:p>
        </p:txBody>
      </p:sp>
      <p:sp>
        <p:nvSpPr>
          <p:cNvPr id="20" name="Shape 18">
            <a:extLst>
              <a:ext uri="{FF2B5EF4-FFF2-40B4-BE49-F238E27FC236}">
                <a16:creationId xmlns:a16="http://schemas.microsoft.com/office/drawing/2014/main" id="{B4B55752-6A4D-54F1-6317-E98E42485DF4}"/>
              </a:ext>
            </a:extLst>
          </p:cNvPr>
          <p:cNvSpPr/>
          <p:nvPr/>
        </p:nvSpPr>
        <p:spPr>
          <a:xfrm>
            <a:off x="457200" y="2157984"/>
            <a:ext cx="3858768" cy="310896"/>
          </a:xfrm>
          <a:prstGeom prst="rect">
            <a:avLst/>
          </a:prstGeom>
          <a:solidFill>
            <a:srgbClr val="BC8CFF">
              <a:alpha val="18000"/>
            </a:srgbClr>
          </a:solidFill>
          <a:ln w="15240">
            <a:solidFill>
              <a:srgbClr val="BC8CFF"/>
            </a:solidFill>
            <a:prstDash val="solid"/>
          </a:ln>
        </p:spPr>
        <p:txBody>
          <a:bodyPr/>
          <a:lstStyle/>
          <a:p>
            <a:endParaRPr lang="en-US"/>
          </a:p>
        </p:txBody>
      </p:sp>
      <p:sp>
        <p:nvSpPr>
          <p:cNvPr id="21" name="Text 19">
            <a:extLst>
              <a:ext uri="{FF2B5EF4-FFF2-40B4-BE49-F238E27FC236}">
                <a16:creationId xmlns:a16="http://schemas.microsoft.com/office/drawing/2014/main" id="{BE82E9CB-E87A-0D39-3C62-0F520B66AA1F}"/>
              </a:ext>
            </a:extLst>
          </p:cNvPr>
          <p:cNvSpPr/>
          <p:nvPr/>
        </p:nvSpPr>
        <p:spPr>
          <a:xfrm>
            <a:off x="457200" y="2157984"/>
            <a:ext cx="3858768" cy="310896"/>
          </a:xfrm>
          <a:prstGeom prst="rect">
            <a:avLst/>
          </a:prstGeom>
          <a:noFill/>
          <a:ln/>
        </p:spPr>
        <p:txBody>
          <a:bodyPr wrap="square" lIns="0" tIns="0" rIns="0" bIns="0" rtlCol="0" anchor="ctr"/>
          <a:lstStyle/>
          <a:p>
            <a:pPr marL="0" indent="0" algn="ctr">
              <a:buNone/>
            </a:pPr>
            <a:r>
              <a:rPr lang="en-US" sz="1100" b="1" dirty="0">
                <a:solidFill>
                  <a:srgbClr val="BC8CFF"/>
                </a:solidFill>
                <a:latin typeface="Calibri" pitchFamily="34" charset="0"/>
                <a:ea typeface="Calibri" pitchFamily="34" charset="-122"/>
                <a:cs typeface="Calibri" pitchFamily="34" charset="-120"/>
              </a:rPr>
              <a:t>🏠  Self-learning at Home</a:t>
            </a:r>
            <a:endParaRPr lang="en-US" sz="1100" dirty="0"/>
          </a:p>
        </p:txBody>
      </p:sp>
      <p:sp>
        <p:nvSpPr>
          <p:cNvPr id="22" name="Shape 20">
            <a:extLst>
              <a:ext uri="{FF2B5EF4-FFF2-40B4-BE49-F238E27FC236}">
                <a16:creationId xmlns:a16="http://schemas.microsoft.com/office/drawing/2014/main" id="{1EC202D1-A3E2-557F-E823-6488C29B75CF}"/>
              </a:ext>
            </a:extLst>
          </p:cNvPr>
          <p:cNvSpPr/>
          <p:nvPr/>
        </p:nvSpPr>
        <p:spPr>
          <a:xfrm>
            <a:off x="4700016" y="475488"/>
            <a:ext cx="4114800" cy="2121408"/>
          </a:xfrm>
          <a:prstGeom prst="rect">
            <a:avLst/>
          </a:prstGeom>
          <a:solidFill>
            <a:srgbClr val="161B26"/>
          </a:solidFill>
          <a:ln w="19050">
            <a:solidFill>
              <a:srgbClr val="58A6FF"/>
            </a:solidFill>
            <a:prstDash val="solid"/>
          </a:ln>
          <a:effectLst>
            <a:outerShdw blurRad="101600" dist="25400" dir="8100000" algn="bl" rotWithShape="0">
              <a:srgbClr val="000000">
                <a:alpha val="30000"/>
              </a:srgbClr>
            </a:outerShdw>
          </a:effectLst>
        </p:spPr>
        <p:txBody>
          <a:bodyPr/>
          <a:lstStyle/>
          <a:p>
            <a:endParaRPr lang="en-US"/>
          </a:p>
        </p:txBody>
      </p:sp>
      <p:sp>
        <p:nvSpPr>
          <p:cNvPr id="23" name="Shape 21">
            <a:extLst>
              <a:ext uri="{FF2B5EF4-FFF2-40B4-BE49-F238E27FC236}">
                <a16:creationId xmlns:a16="http://schemas.microsoft.com/office/drawing/2014/main" id="{9164BFCB-539C-1092-A204-A73ADB72FC27}"/>
              </a:ext>
            </a:extLst>
          </p:cNvPr>
          <p:cNvSpPr/>
          <p:nvPr/>
        </p:nvSpPr>
        <p:spPr>
          <a:xfrm>
            <a:off x="4700016" y="475488"/>
            <a:ext cx="64008" cy="2121408"/>
          </a:xfrm>
          <a:prstGeom prst="rect">
            <a:avLst/>
          </a:prstGeom>
          <a:solidFill>
            <a:srgbClr val="58A6FF"/>
          </a:solidFill>
          <a:ln w="12700">
            <a:solidFill>
              <a:srgbClr val="58A6FF"/>
            </a:solidFill>
            <a:prstDash val="solid"/>
          </a:ln>
        </p:spPr>
        <p:txBody>
          <a:bodyPr/>
          <a:lstStyle/>
          <a:p>
            <a:endParaRPr lang="en-US"/>
          </a:p>
        </p:txBody>
      </p:sp>
      <p:sp>
        <p:nvSpPr>
          <p:cNvPr id="24" name="Shape 22">
            <a:extLst>
              <a:ext uri="{FF2B5EF4-FFF2-40B4-BE49-F238E27FC236}">
                <a16:creationId xmlns:a16="http://schemas.microsoft.com/office/drawing/2014/main" id="{070C0077-C2D6-CE92-2D29-97C45D3F92B6}"/>
              </a:ext>
            </a:extLst>
          </p:cNvPr>
          <p:cNvSpPr/>
          <p:nvPr/>
        </p:nvSpPr>
        <p:spPr>
          <a:xfrm>
            <a:off x="4828032" y="566928"/>
            <a:ext cx="256032" cy="256032"/>
          </a:xfrm>
          <a:prstGeom prst="ellipse">
            <a:avLst/>
          </a:prstGeom>
          <a:solidFill>
            <a:srgbClr val="58A6FF">
              <a:alpha val="82000"/>
            </a:srgbClr>
          </a:solidFill>
          <a:ln w="19050">
            <a:solidFill>
              <a:srgbClr val="58A6FF"/>
            </a:solidFill>
            <a:prstDash val="solid"/>
          </a:ln>
        </p:spPr>
        <p:txBody>
          <a:bodyPr/>
          <a:lstStyle/>
          <a:p>
            <a:endParaRPr lang="en-US"/>
          </a:p>
        </p:txBody>
      </p:sp>
      <p:sp>
        <p:nvSpPr>
          <p:cNvPr id="25" name="Text 23">
            <a:extLst>
              <a:ext uri="{FF2B5EF4-FFF2-40B4-BE49-F238E27FC236}">
                <a16:creationId xmlns:a16="http://schemas.microsoft.com/office/drawing/2014/main" id="{E2A0EE30-1960-BC06-E636-39679B6E55B5}"/>
              </a:ext>
            </a:extLst>
          </p:cNvPr>
          <p:cNvSpPr/>
          <p:nvPr/>
        </p:nvSpPr>
        <p:spPr>
          <a:xfrm>
            <a:off x="4828032" y="566928"/>
            <a:ext cx="256032" cy="256032"/>
          </a:xfrm>
          <a:prstGeom prst="rect">
            <a:avLst/>
          </a:prstGeom>
          <a:noFill/>
          <a:ln/>
        </p:spPr>
        <p:txBody>
          <a:bodyPr wrap="square" lIns="0" tIns="0" rIns="0" bIns="0" rtlCol="0" anchor="ctr"/>
          <a:lstStyle/>
          <a:p>
            <a:pPr marL="0" indent="0" algn="ctr">
              <a:buNone/>
            </a:pPr>
            <a:r>
              <a:rPr lang="en-US" sz="1100" b="1" dirty="0">
                <a:solidFill>
                  <a:srgbClr val="58A6FF"/>
                </a:solidFill>
                <a:latin typeface="Calibri" pitchFamily="34" charset="0"/>
                <a:ea typeface="Calibri" pitchFamily="34" charset="-122"/>
                <a:cs typeface="Calibri" pitchFamily="34" charset="-120"/>
              </a:rPr>
              <a:t>2</a:t>
            </a:r>
            <a:endParaRPr lang="en-US" sz="1100" dirty="0"/>
          </a:p>
        </p:txBody>
      </p:sp>
      <p:sp>
        <p:nvSpPr>
          <p:cNvPr id="26" name="Text 24">
            <a:extLst>
              <a:ext uri="{FF2B5EF4-FFF2-40B4-BE49-F238E27FC236}">
                <a16:creationId xmlns:a16="http://schemas.microsoft.com/office/drawing/2014/main" id="{890E0414-245D-F8E8-F0E9-E33736802737}"/>
              </a:ext>
            </a:extLst>
          </p:cNvPr>
          <p:cNvSpPr/>
          <p:nvPr/>
        </p:nvSpPr>
        <p:spPr>
          <a:xfrm>
            <a:off x="5157216" y="539496"/>
            <a:ext cx="329184" cy="329184"/>
          </a:xfrm>
          <a:prstGeom prst="rect">
            <a:avLst/>
          </a:prstGeom>
          <a:noFill/>
          <a:ln/>
        </p:spPr>
        <p:txBody>
          <a:bodyPr wrap="square" lIns="0" tIns="0" rIns="0" bIns="0" rtlCol="0" anchor="ctr"/>
          <a:lstStyle/>
          <a:p>
            <a:pPr marL="0" indent="0" algn="ctr">
              <a:buNone/>
            </a:pPr>
            <a:r>
              <a:rPr lang="en-US" sz="1700" dirty="0">
                <a:solidFill>
                  <a:srgbClr val="000000"/>
                </a:solidFill>
              </a:rPr>
              <a:t>💻</a:t>
            </a:r>
            <a:endParaRPr lang="en-US" sz="1700" dirty="0"/>
          </a:p>
        </p:txBody>
      </p:sp>
      <p:sp>
        <p:nvSpPr>
          <p:cNvPr id="27" name="Text 25">
            <a:extLst>
              <a:ext uri="{FF2B5EF4-FFF2-40B4-BE49-F238E27FC236}">
                <a16:creationId xmlns:a16="http://schemas.microsoft.com/office/drawing/2014/main" id="{63F0CDEB-773A-1B4F-5A66-57252F0223F6}"/>
              </a:ext>
            </a:extLst>
          </p:cNvPr>
          <p:cNvSpPr/>
          <p:nvPr/>
        </p:nvSpPr>
        <p:spPr>
          <a:xfrm>
            <a:off x="5541264" y="539496"/>
            <a:ext cx="3200400" cy="347472"/>
          </a:xfrm>
          <a:prstGeom prst="rect">
            <a:avLst/>
          </a:prstGeom>
          <a:noFill/>
          <a:ln/>
        </p:spPr>
        <p:txBody>
          <a:bodyPr wrap="square" lIns="0" tIns="0" rIns="0" bIns="0" rtlCol="0" anchor="ctr"/>
          <a:lstStyle/>
          <a:p>
            <a:pPr marL="0" indent="0">
              <a:buNone/>
            </a:pPr>
            <a:r>
              <a:rPr lang="en-US" sz="1150" b="1" dirty="0">
                <a:solidFill>
                  <a:srgbClr val="F0F6FC"/>
                </a:solidFill>
                <a:latin typeface="Calibri" pitchFamily="34" charset="0"/>
                <a:ea typeface="Calibri" pitchFamily="34" charset="-122"/>
                <a:cs typeface="Calibri" pitchFamily="34" charset="-120"/>
              </a:rPr>
              <a:t>Have you learned any programming language before?  If yes, which ones?</a:t>
            </a:r>
            <a:endParaRPr lang="en-US" sz="1150" dirty="0"/>
          </a:p>
        </p:txBody>
      </p:sp>
      <p:sp>
        <p:nvSpPr>
          <p:cNvPr id="28" name="Shape 26">
            <a:extLst>
              <a:ext uri="{FF2B5EF4-FFF2-40B4-BE49-F238E27FC236}">
                <a16:creationId xmlns:a16="http://schemas.microsoft.com/office/drawing/2014/main" id="{39006363-E070-1C76-F8C0-E4013E32B063}"/>
              </a:ext>
            </a:extLst>
          </p:cNvPr>
          <p:cNvSpPr/>
          <p:nvPr/>
        </p:nvSpPr>
        <p:spPr>
          <a:xfrm>
            <a:off x="4828032" y="932688"/>
            <a:ext cx="3913632" cy="0"/>
          </a:xfrm>
          <a:prstGeom prst="line">
            <a:avLst/>
          </a:prstGeom>
          <a:noFill/>
          <a:ln w="8890">
            <a:solidFill>
              <a:srgbClr val="3D444D"/>
            </a:solidFill>
            <a:prstDash val="solid"/>
          </a:ln>
        </p:spPr>
        <p:txBody>
          <a:bodyPr/>
          <a:lstStyle/>
          <a:p>
            <a:endParaRPr lang="en-US"/>
          </a:p>
        </p:txBody>
      </p:sp>
      <p:sp>
        <p:nvSpPr>
          <p:cNvPr id="29" name="Shape 27">
            <a:extLst>
              <a:ext uri="{FF2B5EF4-FFF2-40B4-BE49-F238E27FC236}">
                <a16:creationId xmlns:a16="http://schemas.microsoft.com/office/drawing/2014/main" id="{C27F2101-DA3A-8C97-3CA7-515E1245F8D0}"/>
              </a:ext>
            </a:extLst>
          </p:cNvPr>
          <p:cNvSpPr/>
          <p:nvPr/>
        </p:nvSpPr>
        <p:spPr>
          <a:xfrm>
            <a:off x="4828032" y="1005840"/>
            <a:ext cx="1892808" cy="310896"/>
          </a:xfrm>
          <a:prstGeom prst="rect">
            <a:avLst/>
          </a:prstGeom>
          <a:solidFill>
            <a:srgbClr val="58A6FF">
              <a:alpha val="18000"/>
            </a:srgbClr>
          </a:solidFill>
          <a:ln w="15240">
            <a:solidFill>
              <a:srgbClr val="58A6FF"/>
            </a:solidFill>
            <a:prstDash val="solid"/>
          </a:ln>
        </p:spPr>
        <p:txBody>
          <a:bodyPr/>
          <a:lstStyle/>
          <a:p>
            <a:endParaRPr lang="en-US"/>
          </a:p>
        </p:txBody>
      </p:sp>
      <p:sp>
        <p:nvSpPr>
          <p:cNvPr id="30" name="Text 28">
            <a:extLst>
              <a:ext uri="{FF2B5EF4-FFF2-40B4-BE49-F238E27FC236}">
                <a16:creationId xmlns:a16="http://schemas.microsoft.com/office/drawing/2014/main" id="{773A399A-793A-93FA-6FFE-6DEDEFA67662}"/>
              </a:ext>
            </a:extLst>
          </p:cNvPr>
          <p:cNvSpPr/>
          <p:nvPr/>
        </p:nvSpPr>
        <p:spPr>
          <a:xfrm>
            <a:off x="4828032" y="1005840"/>
            <a:ext cx="1892808" cy="310896"/>
          </a:xfrm>
          <a:prstGeom prst="rect">
            <a:avLst/>
          </a:prstGeom>
          <a:noFill/>
          <a:ln/>
        </p:spPr>
        <p:txBody>
          <a:bodyPr wrap="square" lIns="0" tIns="0" rIns="0" bIns="0" rtlCol="0" anchor="ctr"/>
          <a:lstStyle/>
          <a:p>
            <a:pPr marL="0" indent="0" algn="ctr">
              <a:buNone/>
            </a:pPr>
            <a:r>
              <a:rPr lang="en-US" sz="950" b="1" dirty="0">
                <a:solidFill>
                  <a:srgbClr val="58A6FF"/>
                </a:solidFill>
                <a:latin typeface="Calibri" pitchFamily="34" charset="0"/>
                <a:ea typeface="Calibri" pitchFamily="34" charset="-122"/>
                <a:cs typeface="Calibri" pitchFamily="34" charset="-120"/>
              </a:rPr>
              <a:t>🐍  Python</a:t>
            </a:r>
            <a:endParaRPr lang="en-US" sz="950" dirty="0"/>
          </a:p>
        </p:txBody>
      </p:sp>
      <p:sp>
        <p:nvSpPr>
          <p:cNvPr id="31" name="Shape 29">
            <a:extLst>
              <a:ext uri="{FF2B5EF4-FFF2-40B4-BE49-F238E27FC236}">
                <a16:creationId xmlns:a16="http://schemas.microsoft.com/office/drawing/2014/main" id="{AF1BF572-253B-5F2F-F2F4-A365253A9EF7}"/>
              </a:ext>
            </a:extLst>
          </p:cNvPr>
          <p:cNvSpPr/>
          <p:nvPr/>
        </p:nvSpPr>
        <p:spPr>
          <a:xfrm>
            <a:off x="6793992" y="1005840"/>
            <a:ext cx="1892808" cy="310896"/>
          </a:xfrm>
          <a:prstGeom prst="rect">
            <a:avLst/>
          </a:prstGeom>
          <a:solidFill>
            <a:srgbClr val="E3B341">
              <a:alpha val="18000"/>
            </a:srgbClr>
          </a:solidFill>
          <a:ln w="15240">
            <a:solidFill>
              <a:srgbClr val="E3B341"/>
            </a:solidFill>
            <a:prstDash val="solid"/>
          </a:ln>
        </p:spPr>
        <p:txBody>
          <a:bodyPr/>
          <a:lstStyle/>
          <a:p>
            <a:endParaRPr lang="en-US"/>
          </a:p>
        </p:txBody>
      </p:sp>
      <p:sp>
        <p:nvSpPr>
          <p:cNvPr id="32" name="Text 30">
            <a:extLst>
              <a:ext uri="{FF2B5EF4-FFF2-40B4-BE49-F238E27FC236}">
                <a16:creationId xmlns:a16="http://schemas.microsoft.com/office/drawing/2014/main" id="{D9929379-6534-EFE9-4628-E6B7F0A4CD41}"/>
              </a:ext>
            </a:extLst>
          </p:cNvPr>
          <p:cNvSpPr/>
          <p:nvPr/>
        </p:nvSpPr>
        <p:spPr>
          <a:xfrm>
            <a:off x="6793992" y="1005840"/>
            <a:ext cx="1892808" cy="310896"/>
          </a:xfrm>
          <a:prstGeom prst="rect">
            <a:avLst/>
          </a:prstGeom>
          <a:noFill/>
          <a:ln/>
        </p:spPr>
        <p:txBody>
          <a:bodyPr wrap="square" lIns="0" tIns="0" rIns="0" bIns="0" rtlCol="0" anchor="ctr"/>
          <a:lstStyle/>
          <a:p>
            <a:pPr marL="0" indent="0" algn="ctr">
              <a:buNone/>
            </a:pPr>
            <a:r>
              <a:rPr lang="en-US" sz="950" b="1" dirty="0">
                <a:solidFill>
                  <a:srgbClr val="E3B341"/>
                </a:solidFill>
                <a:latin typeface="Calibri" pitchFamily="34" charset="0"/>
                <a:ea typeface="Calibri" pitchFamily="34" charset="-122"/>
                <a:cs typeface="Calibri" pitchFamily="34" charset="-120"/>
              </a:rPr>
              <a:t>🌐  JavaScript</a:t>
            </a:r>
            <a:endParaRPr lang="en-US" sz="950" dirty="0"/>
          </a:p>
        </p:txBody>
      </p:sp>
      <p:sp>
        <p:nvSpPr>
          <p:cNvPr id="33" name="Shape 31">
            <a:extLst>
              <a:ext uri="{FF2B5EF4-FFF2-40B4-BE49-F238E27FC236}">
                <a16:creationId xmlns:a16="http://schemas.microsoft.com/office/drawing/2014/main" id="{A322F896-B6F6-A455-8573-17F68CC01F02}"/>
              </a:ext>
            </a:extLst>
          </p:cNvPr>
          <p:cNvSpPr/>
          <p:nvPr/>
        </p:nvSpPr>
        <p:spPr>
          <a:xfrm>
            <a:off x="4828032" y="1389888"/>
            <a:ext cx="1892808" cy="310896"/>
          </a:xfrm>
          <a:prstGeom prst="rect">
            <a:avLst/>
          </a:prstGeom>
          <a:solidFill>
            <a:srgbClr val="FFA657">
              <a:alpha val="18000"/>
            </a:srgbClr>
          </a:solidFill>
          <a:ln w="15240">
            <a:solidFill>
              <a:srgbClr val="FFA657"/>
            </a:solidFill>
            <a:prstDash val="solid"/>
          </a:ln>
        </p:spPr>
        <p:txBody>
          <a:bodyPr/>
          <a:lstStyle/>
          <a:p>
            <a:endParaRPr lang="en-US"/>
          </a:p>
        </p:txBody>
      </p:sp>
      <p:sp>
        <p:nvSpPr>
          <p:cNvPr id="34" name="Text 32">
            <a:extLst>
              <a:ext uri="{FF2B5EF4-FFF2-40B4-BE49-F238E27FC236}">
                <a16:creationId xmlns:a16="http://schemas.microsoft.com/office/drawing/2014/main" id="{83AC4653-EF03-69E1-54F1-AC482FADA8A5}"/>
              </a:ext>
            </a:extLst>
          </p:cNvPr>
          <p:cNvSpPr/>
          <p:nvPr/>
        </p:nvSpPr>
        <p:spPr>
          <a:xfrm>
            <a:off x="4828032" y="1389888"/>
            <a:ext cx="1892808" cy="310896"/>
          </a:xfrm>
          <a:prstGeom prst="rect">
            <a:avLst/>
          </a:prstGeom>
          <a:noFill/>
          <a:ln/>
        </p:spPr>
        <p:txBody>
          <a:bodyPr wrap="square" lIns="0" tIns="0" rIns="0" bIns="0" rtlCol="0" anchor="ctr"/>
          <a:lstStyle/>
          <a:p>
            <a:pPr marL="0" indent="0" algn="ctr">
              <a:buNone/>
            </a:pPr>
            <a:r>
              <a:rPr lang="en-US" sz="950" b="1" dirty="0">
                <a:solidFill>
                  <a:srgbClr val="FFA657"/>
                </a:solidFill>
                <a:latin typeface="Calibri" pitchFamily="34" charset="0"/>
                <a:ea typeface="Calibri" pitchFamily="34" charset="-122"/>
                <a:cs typeface="Calibri" pitchFamily="34" charset="-120"/>
              </a:rPr>
              <a:t>☕  Java</a:t>
            </a:r>
            <a:endParaRPr lang="en-US" sz="950" dirty="0"/>
          </a:p>
        </p:txBody>
      </p:sp>
      <p:sp>
        <p:nvSpPr>
          <p:cNvPr id="35" name="Shape 33">
            <a:extLst>
              <a:ext uri="{FF2B5EF4-FFF2-40B4-BE49-F238E27FC236}">
                <a16:creationId xmlns:a16="http://schemas.microsoft.com/office/drawing/2014/main" id="{233744EA-B853-8661-64D2-857A77ADBC16}"/>
              </a:ext>
            </a:extLst>
          </p:cNvPr>
          <p:cNvSpPr/>
          <p:nvPr/>
        </p:nvSpPr>
        <p:spPr>
          <a:xfrm>
            <a:off x="6793992" y="1389888"/>
            <a:ext cx="1892808" cy="310896"/>
          </a:xfrm>
          <a:prstGeom prst="rect">
            <a:avLst/>
          </a:prstGeom>
          <a:solidFill>
            <a:srgbClr val="BC8CFF">
              <a:alpha val="18000"/>
            </a:srgbClr>
          </a:solidFill>
          <a:ln w="15240">
            <a:solidFill>
              <a:srgbClr val="BC8CFF"/>
            </a:solidFill>
            <a:prstDash val="solid"/>
          </a:ln>
        </p:spPr>
        <p:txBody>
          <a:bodyPr/>
          <a:lstStyle/>
          <a:p>
            <a:endParaRPr lang="en-US"/>
          </a:p>
        </p:txBody>
      </p:sp>
      <p:sp>
        <p:nvSpPr>
          <p:cNvPr id="36" name="Text 34">
            <a:extLst>
              <a:ext uri="{FF2B5EF4-FFF2-40B4-BE49-F238E27FC236}">
                <a16:creationId xmlns:a16="http://schemas.microsoft.com/office/drawing/2014/main" id="{C1E405DE-7FFC-AA2F-207B-FAA7403799F3}"/>
              </a:ext>
            </a:extLst>
          </p:cNvPr>
          <p:cNvSpPr/>
          <p:nvPr/>
        </p:nvSpPr>
        <p:spPr>
          <a:xfrm>
            <a:off x="6793992" y="1389888"/>
            <a:ext cx="1892808" cy="310896"/>
          </a:xfrm>
          <a:prstGeom prst="rect">
            <a:avLst/>
          </a:prstGeom>
          <a:noFill/>
          <a:ln/>
        </p:spPr>
        <p:txBody>
          <a:bodyPr wrap="square" lIns="0" tIns="0" rIns="0" bIns="0" rtlCol="0" anchor="ctr"/>
          <a:lstStyle/>
          <a:p>
            <a:pPr marL="0" indent="0" algn="ctr">
              <a:buNone/>
            </a:pPr>
            <a:r>
              <a:rPr lang="en-US" sz="950" b="1" dirty="0">
                <a:solidFill>
                  <a:srgbClr val="BC8CFF"/>
                </a:solidFill>
                <a:latin typeface="Calibri" pitchFamily="34" charset="0"/>
                <a:ea typeface="Calibri" pitchFamily="34" charset="-122"/>
                <a:cs typeface="Calibri" pitchFamily="34" charset="-120"/>
              </a:rPr>
              <a:t>⚙️  C / C++</a:t>
            </a:r>
            <a:endParaRPr lang="en-US" sz="950" dirty="0"/>
          </a:p>
        </p:txBody>
      </p:sp>
      <p:sp>
        <p:nvSpPr>
          <p:cNvPr id="37" name="Shape 35">
            <a:extLst>
              <a:ext uri="{FF2B5EF4-FFF2-40B4-BE49-F238E27FC236}">
                <a16:creationId xmlns:a16="http://schemas.microsoft.com/office/drawing/2014/main" id="{3AC9C22C-D927-9987-AC7F-87F6C74E6FA2}"/>
              </a:ext>
            </a:extLst>
          </p:cNvPr>
          <p:cNvSpPr/>
          <p:nvPr/>
        </p:nvSpPr>
        <p:spPr>
          <a:xfrm>
            <a:off x="4828032" y="1773936"/>
            <a:ext cx="1892808" cy="310896"/>
          </a:xfrm>
          <a:prstGeom prst="rect">
            <a:avLst/>
          </a:prstGeom>
          <a:solidFill>
            <a:srgbClr val="3FD9C4">
              <a:alpha val="18000"/>
            </a:srgbClr>
          </a:solidFill>
          <a:ln w="15240">
            <a:solidFill>
              <a:srgbClr val="3FD9C4"/>
            </a:solidFill>
            <a:prstDash val="solid"/>
          </a:ln>
        </p:spPr>
        <p:txBody>
          <a:bodyPr/>
          <a:lstStyle/>
          <a:p>
            <a:endParaRPr lang="en-US"/>
          </a:p>
        </p:txBody>
      </p:sp>
      <p:sp>
        <p:nvSpPr>
          <p:cNvPr id="38" name="Text 36">
            <a:extLst>
              <a:ext uri="{FF2B5EF4-FFF2-40B4-BE49-F238E27FC236}">
                <a16:creationId xmlns:a16="http://schemas.microsoft.com/office/drawing/2014/main" id="{2064EBD5-4E36-470F-CDEA-731433C6E0F1}"/>
              </a:ext>
            </a:extLst>
          </p:cNvPr>
          <p:cNvSpPr/>
          <p:nvPr/>
        </p:nvSpPr>
        <p:spPr>
          <a:xfrm>
            <a:off x="4828032" y="1773936"/>
            <a:ext cx="1892808" cy="310896"/>
          </a:xfrm>
          <a:prstGeom prst="rect">
            <a:avLst/>
          </a:prstGeom>
          <a:noFill/>
          <a:ln/>
        </p:spPr>
        <p:txBody>
          <a:bodyPr wrap="square" lIns="0" tIns="0" rIns="0" bIns="0" rtlCol="0" anchor="ctr"/>
          <a:lstStyle/>
          <a:p>
            <a:pPr marL="0" indent="0" algn="ctr">
              <a:buNone/>
            </a:pPr>
            <a:r>
              <a:rPr lang="en-US" sz="950" b="1" dirty="0">
                <a:solidFill>
                  <a:srgbClr val="3FD9C4"/>
                </a:solidFill>
                <a:latin typeface="Calibri" pitchFamily="34" charset="0"/>
                <a:ea typeface="Calibri" pitchFamily="34" charset="-122"/>
                <a:cs typeface="Calibri" pitchFamily="34" charset="-120"/>
              </a:rPr>
              <a:t>🎨  HTML / CSS</a:t>
            </a:r>
            <a:endParaRPr lang="en-US" sz="950" dirty="0"/>
          </a:p>
        </p:txBody>
      </p:sp>
      <p:sp>
        <p:nvSpPr>
          <p:cNvPr id="39" name="Shape 37">
            <a:extLst>
              <a:ext uri="{FF2B5EF4-FFF2-40B4-BE49-F238E27FC236}">
                <a16:creationId xmlns:a16="http://schemas.microsoft.com/office/drawing/2014/main" id="{47A40749-D264-8251-AD39-C6A1230CAE60}"/>
              </a:ext>
            </a:extLst>
          </p:cNvPr>
          <p:cNvSpPr/>
          <p:nvPr/>
        </p:nvSpPr>
        <p:spPr>
          <a:xfrm>
            <a:off x="6793992" y="1773936"/>
            <a:ext cx="1892808" cy="310896"/>
          </a:xfrm>
          <a:prstGeom prst="rect">
            <a:avLst/>
          </a:prstGeom>
          <a:solidFill>
            <a:srgbClr val="3FB950">
              <a:alpha val="18000"/>
            </a:srgbClr>
          </a:solidFill>
          <a:ln w="15240">
            <a:solidFill>
              <a:srgbClr val="3FB950"/>
            </a:solidFill>
            <a:prstDash val="solid"/>
          </a:ln>
        </p:spPr>
        <p:txBody>
          <a:bodyPr/>
          <a:lstStyle/>
          <a:p>
            <a:endParaRPr lang="en-US"/>
          </a:p>
        </p:txBody>
      </p:sp>
      <p:sp>
        <p:nvSpPr>
          <p:cNvPr id="40" name="Text 38">
            <a:extLst>
              <a:ext uri="{FF2B5EF4-FFF2-40B4-BE49-F238E27FC236}">
                <a16:creationId xmlns:a16="http://schemas.microsoft.com/office/drawing/2014/main" id="{13D9EE45-3E31-EC61-6F3F-14BABE30658C}"/>
              </a:ext>
            </a:extLst>
          </p:cNvPr>
          <p:cNvSpPr/>
          <p:nvPr/>
        </p:nvSpPr>
        <p:spPr>
          <a:xfrm>
            <a:off x="6793992" y="1773936"/>
            <a:ext cx="1892808" cy="310896"/>
          </a:xfrm>
          <a:prstGeom prst="rect">
            <a:avLst/>
          </a:prstGeom>
          <a:noFill/>
          <a:ln/>
        </p:spPr>
        <p:txBody>
          <a:bodyPr wrap="square" lIns="0" tIns="0" rIns="0" bIns="0" rtlCol="0" anchor="ctr"/>
          <a:lstStyle/>
          <a:p>
            <a:pPr marL="0" indent="0" algn="ctr">
              <a:buNone/>
            </a:pPr>
            <a:r>
              <a:rPr lang="en-US" sz="950" b="1" dirty="0">
                <a:solidFill>
                  <a:srgbClr val="3FB950"/>
                </a:solidFill>
                <a:latin typeface="Calibri" pitchFamily="34" charset="0"/>
                <a:ea typeface="Calibri" pitchFamily="34" charset="-122"/>
                <a:cs typeface="Calibri" pitchFamily="34" charset="-120"/>
              </a:rPr>
              <a:t>🗄️  SQL</a:t>
            </a:r>
            <a:endParaRPr lang="en-US" sz="950" dirty="0"/>
          </a:p>
        </p:txBody>
      </p:sp>
      <p:sp>
        <p:nvSpPr>
          <p:cNvPr id="41" name="Shape 39">
            <a:extLst>
              <a:ext uri="{FF2B5EF4-FFF2-40B4-BE49-F238E27FC236}">
                <a16:creationId xmlns:a16="http://schemas.microsoft.com/office/drawing/2014/main" id="{7335A90C-4158-7F81-85DB-E376C2D763EB}"/>
              </a:ext>
            </a:extLst>
          </p:cNvPr>
          <p:cNvSpPr/>
          <p:nvPr/>
        </p:nvSpPr>
        <p:spPr>
          <a:xfrm>
            <a:off x="4828032" y="2157984"/>
            <a:ext cx="1892808" cy="310896"/>
          </a:xfrm>
          <a:prstGeom prst="rect">
            <a:avLst/>
          </a:prstGeom>
          <a:solidFill>
            <a:srgbClr val="F778BA">
              <a:alpha val="18000"/>
            </a:srgbClr>
          </a:solidFill>
          <a:ln w="15240">
            <a:solidFill>
              <a:srgbClr val="F778BA"/>
            </a:solidFill>
            <a:prstDash val="solid"/>
          </a:ln>
        </p:spPr>
        <p:txBody>
          <a:bodyPr/>
          <a:lstStyle/>
          <a:p>
            <a:endParaRPr lang="en-US"/>
          </a:p>
        </p:txBody>
      </p:sp>
      <p:sp>
        <p:nvSpPr>
          <p:cNvPr id="42" name="Text 40">
            <a:extLst>
              <a:ext uri="{FF2B5EF4-FFF2-40B4-BE49-F238E27FC236}">
                <a16:creationId xmlns:a16="http://schemas.microsoft.com/office/drawing/2014/main" id="{5A4A03D2-74A0-0CD7-9B9B-75E74549624A}"/>
              </a:ext>
            </a:extLst>
          </p:cNvPr>
          <p:cNvSpPr/>
          <p:nvPr/>
        </p:nvSpPr>
        <p:spPr>
          <a:xfrm>
            <a:off x="4828032" y="2157984"/>
            <a:ext cx="1892808" cy="310896"/>
          </a:xfrm>
          <a:prstGeom prst="rect">
            <a:avLst/>
          </a:prstGeom>
          <a:noFill/>
          <a:ln/>
        </p:spPr>
        <p:txBody>
          <a:bodyPr wrap="square" lIns="0" tIns="0" rIns="0" bIns="0" rtlCol="0" anchor="ctr"/>
          <a:lstStyle/>
          <a:p>
            <a:pPr marL="0" indent="0" algn="ctr">
              <a:buNone/>
            </a:pPr>
            <a:r>
              <a:rPr lang="en-US" sz="950" b="1" dirty="0">
                <a:solidFill>
                  <a:srgbClr val="F778BA"/>
                </a:solidFill>
                <a:latin typeface="Calibri" pitchFamily="34" charset="0"/>
                <a:ea typeface="Calibri" pitchFamily="34" charset="-122"/>
                <a:cs typeface="Calibri" pitchFamily="34" charset="-120"/>
              </a:rPr>
              <a:t>✨  Other</a:t>
            </a:r>
            <a:endParaRPr lang="en-US" sz="950" dirty="0"/>
          </a:p>
        </p:txBody>
      </p:sp>
      <p:sp>
        <p:nvSpPr>
          <p:cNvPr id="43" name="Shape 41">
            <a:extLst>
              <a:ext uri="{FF2B5EF4-FFF2-40B4-BE49-F238E27FC236}">
                <a16:creationId xmlns:a16="http://schemas.microsoft.com/office/drawing/2014/main" id="{A1BB6865-47CA-372E-8634-4F8EA0C7F1DD}"/>
              </a:ext>
            </a:extLst>
          </p:cNvPr>
          <p:cNvSpPr/>
          <p:nvPr/>
        </p:nvSpPr>
        <p:spPr>
          <a:xfrm>
            <a:off x="6793992" y="2157984"/>
            <a:ext cx="1892808" cy="310896"/>
          </a:xfrm>
          <a:prstGeom prst="rect">
            <a:avLst/>
          </a:prstGeom>
          <a:solidFill>
            <a:srgbClr val="F85149">
              <a:alpha val="18000"/>
            </a:srgbClr>
          </a:solidFill>
          <a:ln w="15240">
            <a:solidFill>
              <a:srgbClr val="F85149"/>
            </a:solidFill>
            <a:prstDash val="solid"/>
          </a:ln>
        </p:spPr>
        <p:txBody>
          <a:bodyPr/>
          <a:lstStyle/>
          <a:p>
            <a:endParaRPr lang="en-US"/>
          </a:p>
        </p:txBody>
      </p:sp>
      <p:sp>
        <p:nvSpPr>
          <p:cNvPr id="44" name="Text 42">
            <a:extLst>
              <a:ext uri="{FF2B5EF4-FFF2-40B4-BE49-F238E27FC236}">
                <a16:creationId xmlns:a16="http://schemas.microsoft.com/office/drawing/2014/main" id="{BF386379-6979-6E3C-7922-E6355BC1BD65}"/>
              </a:ext>
            </a:extLst>
          </p:cNvPr>
          <p:cNvSpPr/>
          <p:nvPr/>
        </p:nvSpPr>
        <p:spPr>
          <a:xfrm>
            <a:off x="6793992" y="2157984"/>
            <a:ext cx="1892808" cy="310896"/>
          </a:xfrm>
          <a:prstGeom prst="rect">
            <a:avLst/>
          </a:prstGeom>
          <a:noFill/>
          <a:ln/>
        </p:spPr>
        <p:txBody>
          <a:bodyPr wrap="square" lIns="0" tIns="0" rIns="0" bIns="0" rtlCol="0" anchor="ctr"/>
          <a:lstStyle/>
          <a:p>
            <a:pPr marL="0" indent="0" algn="ctr">
              <a:buNone/>
            </a:pPr>
            <a:r>
              <a:rPr lang="en-US" sz="950" b="1" dirty="0">
                <a:solidFill>
                  <a:srgbClr val="F85149"/>
                </a:solidFill>
                <a:latin typeface="Calibri" pitchFamily="34" charset="0"/>
                <a:ea typeface="Calibri" pitchFamily="34" charset="-122"/>
                <a:cs typeface="Calibri" pitchFamily="34" charset="-120"/>
              </a:rPr>
              <a:t>❌  None yet</a:t>
            </a:r>
            <a:endParaRPr lang="en-US" sz="950" dirty="0"/>
          </a:p>
        </p:txBody>
      </p:sp>
      <p:sp>
        <p:nvSpPr>
          <p:cNvPr id="45" name="Shape 43">
            <a:extLst>
              <a:ext uri="{FF2B5EF4-FFF2-40B4-BE49-F238E27FC236}">
                <a16:creationId xmlns:a16="http://schemas.microsoft.com/office/drawing/2014/main" id="{D269ABA6-10A8-1D77-3827-747E7C5F2731}"/>
              </a:ext>
            </a:extLst>
          </p:cNvPr>
          <p:cNvSpPr/>
          <p:nvPr/>
        </p:nvSpPr>
        <p:spPr>
          <a:xfrm>
            <a:off x="329184" y="2670048"/>
            <a:ext cx="4114800" cy="2121408"/>
          </a:xfrm>
          <a:prstGeom prst="rect">
            <a:avLst/>
          </a:prstGeom>
          <a:solidFill>
            <a:srgbClr val="161B26"/>
          </a:solidFill>
          <a:ln w="19050">
            <a:solidFill>
              <a:srgbClr val="FFA657"/>
            </a:solidFill>
            <a:prstDash val="solid"/>
          </a:ln>
          <a:effectLst>
            <a:outerShdw blurRad="101600" dist="25400" dir="8100000" algn="bl" rotWithShape="0">
              <a:srgbClr val="000000">
                <a:alpha val="30000"/>
              </a:srgbClr>
            </a:outerShdw>
          </a:effectLst>
        </p:spPr>
        <p:txBody>
          <a:bodyPr/>
          <a:lstStyle/>
          <a:p>
            <a:endParaRPr lang="en-US"/>
          </a:p>
        </p:txBody>
      </p:sp>
      <p:sp>
        <p:nvSpPr>
          <p:cNvPr id="46" name="Shape 44">
            <a:extLst>
              <a:ext uri="{FF2B5EF4-FFF2-40B4-BE49-F238E27FC236}">
                <a16:creationId xmlns:a16="http://schemas.microsoft.com/office/drawing/2014/main" id="{4A76F498-FAFE-0384-E1DC-C9369A98F698}"/>
              </a:ext>
            </a:extLst>
          </p:cNvPr>
          <p:cNvSpPr/>
          <p:nvPr/>
        </p:nvSpPr>
        <p:spPr>
          <a:xfrm>
            <a:off x="329184" y="2670048"/>
            <a:ext cx="64008" cy="2121408"/>
          </a:xfrm>
          <a:prstGeom prst="rect">
            <a:avLst/>
          </a:prstGeom>
          <a:solidFill>
            <a:srgbClr val="FFA657"/>
          </a:solidFill>
          <a:ln w="12700">
            <a:solidFill>
              <a:srgbClr val="FFA657"/>
            </a:solidFill>
            <a:prstDash val="solid"/>
          </a:ln>
        </p:spPr>
        <p:txBody>
          <a:bodyPr/>
          <a:lstStyle/>
          <a:p>
            <a:endParaRPr lang="en-US"/>
          </a:p>
        </p:txBody>
      </p:sp>
      <p:sp>
        <p:nvSpPr>
          <p:cNvPr id="47" name="Shape 45">
            <a:extLst>
              <a:ext uri="{FF2B5EF4-FFF2-40B4-BE49-F238E27FC236}">
                <a16:creationId xmlns:a16="http://schemas.microsoft.com/office/drawing/2014/main" id="{A8A3F475-1B8B-5C5D-21B3-936B81E16BAA}"/>
              </a:ext>
            </a:extLst>
          </p:cNvPr>
          <p:cNvSpPr/>
          <p:nvPr/>
        </p:nvSpPr>
        <p:spPr>
          <a:xfrm>
            <a:off x="457200" y="2761488"/>
            <a:ext cx="256032" cy="256032"/>
          </a:xfrm>
          <a:prstGeom prst="ellipse">
            <a:avLst/>
          </a:prstGeom>
          <a:solidFill>
            <a:srgbClr val="FFA657">
              <a:alpha val="82000"/>
            </a:srgbClr>
          </a:solidFill>
          <a:ln w="19050">
            <a:solidFill>
              <a:srgbClr val="FFA657"/>
            </a:solidFill>
            <a:prstDash val="solid"/>
          </a:ln>
        </p:spPr>
        <p:txBody>
          <a:bodyPr/>
          <a:lstStyle/>
          <a:p>
            <a:endParaRPr lang="en-US"/>
          </a:p>
        </p:txBody>
      </p:sp>
      <p:sp>
        <p:nvSpPr>
          <p:cNvPr id="48" name="Text 46">
            <a:extLst>
              <a:ext uri="{FF2B5EF4-FFF2-40B4-BE49-F238E27FC236}">
                <a16:creationId xmlns:a16="http://schemas.microsoft.com/office/drawing/2014/main" id="{2DDF21E7-4ACE-D175-F391-B6FE388E2C24}"/>
              </a:ext>
            </a:extLst>
          </p:cNvPr>
          <p:cNvSpPr/>
          <p:nvPr/>
        </p:nvSpPr>
        <p:spPr>
          <a:xfrm>
            <a:off x="457200" y="2761488"/>
            <a:ext cx="256032" cy="256032"/>
          </a:xfrm>
          <a:prstGeom prst="rect">
            <a:avLst/>
          </a:prstGeom>
          <a:noFill/>
          <a:ln/>
        </p:spPr>
        <p:txBody>
          <a:bodyPr wrap="square" lIns="0" tIns="0" rIns="0" bIns="0" rtlCol="0" anchor="ctr"/>
          <a:lstStyle/>
          <a:p>
            <a:pPr marL="0" indent="0" algn="ctr">
              <a:buNone/>
            </a:pPr>
            <a:r>
              <a:rPr lang="en-US" sz="1100" b="1" dirty="0">
                <a:solidFill>
                  <a:srgbClr val="FFA657"/>
                </a:solidFill>
                <a:latin typeface="Calibri" pitchFamily="34" charset="0"/>
                <a:ea typeface="Calibri" pitchFamily="34" charset="-122"/>
                <a:cs typeface="Calibri" pitchFamily="34" charset="-120"/>
              </a:rPr>
              <a:t>3</a:t>
            </a:r>
            <a:endParaRPr lang="en-US" sz="1100" dirty="0"/>
          </a:p>
        </p:txBody>
      </p:sp>
      <p:sp>
        <p:nvSpPr>
          <p:cNvPr id="49" name="Text 47">
            <a:extLst>
              <a:ext uri="{FF2B5EF4-FFF2-40B4-BE49-F238E27FC236}">
                <a16:creationId xmlns:a16="http://schemas.microsoft.com/office/drawing/2014/main" id="{5B223F78-F6F6-C230-55CD-85B63AE0329F}"/>
              </a:ext>
            </a:extLst>
          </p:cNvPr>
          <p:cNvSpPr/>
          <p:nvPr/>
        </p:nvSpPr>
        <p:spPr>
          <a:xfrm>
            <a:off x="786384" y="2734056"/>
            <a:ext cx="329184" cy="329184"/>
          </a:xfrm>
          <a:prstGeom prst="rect">
            <a:avLst/>
          </a:prstGeom>
          <a:noFill/>
          <a:ln/>
        </p:spPr>
        <p:txBody>
          <a:bodyPr wrap="square" lIns="0" tIns="0" rIns="0" bIns="0" rtlCol="0" anchor="ctr"/>
          <a:lstStyle/>
          <a:p>
            <a:pPr marL="0" indent="0" algn="ctr">
              <a:buNone/>
            </a:pPr>
            <a:r>
              <a:rPr lang="en-US" sz="1700" dirty="0">
                <a:solidFill>
                  <a:srgbClr val="000000"/>
                </a:solidFill>
              </a:rPr>
              <a:t>🔀</a:t>
            </a:r>
            <a:endParaRPr lang="en-US" sz="1700" dirty="0"/>
          </a:p>
        </p:txBody>
      </p:sp>
      <p:sp>
        <p:nvSpPr>
          <p:cNvPr id="50" name="Text 48">
            <a:extLst>
              <a:ext uri="{FF2B5EF4-FFF2-40B4-BE49-F238E27FC236}">
                <a16:creationId xmlns:a16="http://schemas.microsoft.com/office/drawing/2014/main" id="{E86299CF-6708-F966-9692-8AF81C41EAAE}"/>
              </a:ext>
            </a:extLst>
          </p:cNvPr>
          <p:cNvSpPr/>
          <p:nvPr/>
        </p:nvSpPr>
        <p:spPr>
          <a:xfrm>
            <a:off x="1170432" y="2734056"/>
            <a:ext cx="3200400" cy="347472"/>
          </a:xfrm>
          <a:prstGeom prst="rect">
            <a:avLst/>
          </a:prstGeom>
          <a:noFill/>
          <a:ln/>
        </p:spPr>
        <p:txBody>
          <a:bodyPr wrap="square" lIns="0" tIns="0" rIns="0" bIns="0" rtlCol="0" anchor="ctr"/>
          <a:lstStyle/>
          <a:p>
            <a:pPr marL="0" indent="0">
              <a:buNone/>
            </a:pPr>
            <a:r>
              <a:rPr lang="en-US" sz="1150" b="1" dirty="0">
                <a:solidFill>
                  <a:srgbClr val="F0F6FC"/>
                </a:solidFill>
                <a:latin typeface="Calibri" pitchFamily="34" charset="0"/>
                <a:ea typeface="Calibri" pitchFamily="34" charset="-122"/>
                <a:cs typeface="Calibri" pitchFamily="34" charset="-120"/>
              </a:rPr>
              <a:t>Have you used Git or GitHub before?</a:t>
            </a:r>
            <a:endParaRPr lang="en-US" sz="1150" dirty="0"/>
          </a:p>
        </p:txBody>
      </p:sp>
      <p:sp>
        <p:nvSpPr>
          <p:cNvPr id="51" name="Shape 49">
            <a:extLst>
              <a:ext uri="{FF2B5EF4-FFF2-40B4-BE49-F238E27FC236}">
                <a16:creationId xmlns:a16="http://schemas.microsoft.com/office/drawing/2014/main" id="{F5150444-D46F-40CC-9266-6E72F949D4B7}"/>
              </a:ext>
            </a:extLst>
          </p:cNvPr>
          <p:cNvSpPr/>
          <p:nvPr/>
        </p:nvSpPr>
        <p:spPr>
          <a:xfrm>
            <a:off x="457200" y="3127248"/>
            <a:ext cx="3913632" cy="0"/>
          </a:xfrm>
          <a:prstGeom prst="line">
            <a:avLst/>
          </a:prstGeom>
          <a:noFill/>
          <a:ln w="8890">
            <a:solidFill>
              <a:srgbClr val="3D444D"/>
            </a:solidFill>
            <a:prstDash val="solid"/>
          </a:ln>
        </p:spPr>
        <p:txBody>
          <a:bodyPr/>
          <a:lstStyle/>
          <a:p>
            <a:endParaRPr lang="en-US"/>
          </a:p>
        </p:txBody>
      </p:sp>
      <p:sp>
        <p:nvSpPr>
          <p:cNvPr id="52" name="Shape 50">
            <a:extLst>
              <a:ext uri="{FF2B5EF4-FFF2-40B4-BE49-F238E27FC236}">
                <a16:creationId xmlns:a16="http://schemas.microsoft.com/office/drawing/2014/main" id="{7AE43633-CF5A-93A3-7330-E81B20F7AB25}"/>
              </a:ext>
            </a:extLst>
          </p:cNvPr>
          <p:cNvSpPr/>
          <p:nvPr/>
        </p:nvSpPr>
        <p:spPr>
          <a:xfrm>
            <a:off x="457200" y="3200400"/>
            <a:ext cx="3858768" cy="310896"/>
          </a:xfrm>
          <a:prstGeom prst="rect">
            <a:avLst/>
          </a:prstGeom>
          <a:solidFill>
            <a:srgbClr val="F85149">
              <a:alpha val="18000"/>
            </a:srgbClr>
          </a:solidFill>
          <a:ln w="15240">
            <a:solidFill>
              <a:srgbClr val="F85149"/>
            </a:solidFill>
            <a:prstDash val="solid"/>
          </a:ln>
        </p:spPr>
        <p:txBody>
          <a:bodyPr/>
          <a:lstStyle/>
          <a:p>
            <a:endParaRPr lang="en-US"/>
          </a:p>
        </p:txBody>
      </p:sp>
      <p:sp>
        <p:nvSpPr>
          <p:cNvPr id="53" name="Text 51">
            <a:extLst>
              <a:ext uri="{FF2B5EF4-FFF2-40B4-BE49-F238E27FC236}">
                <a16:creationId xmlns:a16="http://schemas.microsoft.com/office/drawing/2014/main" id="{85CCD42A-3348-04AF-6AE1-DE9F98AB43C8}"/>
              </a:ext>
            </a:extLst>
          </p:cNvPr>
          <p:cNvSpPr/>
          <p:nvPr/>
        </p:nvSpPr>
        <p:spPr>
          <a:xfrm>
            <a:off x="457200" y="3200400"/>
            <a:ext cx="3858768" cy="310896"/>
          </a:xfrm>
          <a:prstGeom prst="rect">
            <a:avLst/>
          </a:prstGeom>
          <a:noFill/>
          <a:ln/>
        </p:spPr>
        <p:txBody>
          <a:bodyPr wrap="square" lIns="0" tIns="0" rIns="0" bIns="0" rtlCol="0" anchor="ctr"/>
          <a:lstStyle/>
          <a:p>
            <a:pPr marL="0" indent="0" algn="ctr">
              <a:buNone/>
            </a:pPr>
            <a:r>
              <a:rPr lang="en-US" sz="1100" b="1" dirty="0">
                <a:solidFill>
                  <a:srgbClr val="F85149"/>
                </a:solidFill>
                <a:latin typeface="Calibri" pitchFamily="34" charset="0"/>
                <a:ea typeface="Calibri" pitchFamily="34" charset="-122"/>
                <a:cs typeface="Calibri" pitchFamily="34" charset="-120"/>
              </a:rPr>
              <a:t>❌  Never heard of it</a:t>
            </a:r>
            <a:endParaRPr lang="en-US" sz="1100" dirty="0"/>
          </a:p>
        </p:txBody>
      </p:sp>
      <p:sp>
        <p:nvSpPr>
          <p:cNvPr id="54" name="Shape 52">
            <a:extLst>
              <a:ext uri="{FF2B5EF4-FFF2-40B4-BE49-F238E27FC236}">
                <a16:creationId xmlns:a16="http://schemas.microsoft.com/office/drawing/2014/main" id="{C92C9B9E-06B3-13C2-2B6C-3E5CF0773C7A}"/>
              </a:ext>
            </a:extLst>
          </p:cNvPr>
          <p:cNvSpPr/>
          <p:nvPr/>
        </p:nvSpPr>
        <p:spPr>
          <a:xfrm>
            <a:off x="457200" y="3584448"/>
            <a:ext cx="3858768" cy="310896"/>
          </a:xfrm>
          <a:prstGeom prst="rect">
            <a:avLst/>
          </a:prstGeom>
          <a:solidFill>
            <a:srgbClr val="E3B341">
              <a:alpha val="18000"/>
            </a:srgbClr>
          </a:solidFill>
          <a:ln w="15240">
            <a:solidFill>
              <a:srgbClr val="E3B341"/>
            </a:solidFill>
            <a:prstDash val="solid"/>
          </a:ln>
        </p:spPr>
        <p:txBody>
          <a:bodyPr/>
          <a:lstStyle/>
          <a:p>
            <a:endParaRPr lang="en-US"/>
          </a:p>
        </p:txBody>
      </p:sp>
      <p:sp>
        <p:nvSpPr>
          <p:cNvPr id="55" name="Text 53">
            <a:extLst>
              <a:ext uri="{FF2B5EF4-FFF2-40B4-BE49-F238E27FC236}">
                <a16:creationId xmlns:a16="http://schemas.microsoft.com/office/drawing/2014/main" id="{F351DB78-84DD-2E37-BC86-311C6EF325BF}"/>
              </a:ext>
            </a:extLst>
          </p:cNvPr>
          <p:cNvSpPr/>
          <p:nvPr/>
        </p:nvSpPr>
        <p:spPr>
          <a:xfrm>
            <a:off x="457200" y="3584448"/>
            <a:ext cx="3858768" cy="310896"/>
          </a:xfrm>
          <a:prstGeom prst="rect">
            <a:avLst/>
          </a:prstGeom>
          <a:noFill/>
          <a:ln/>
        </p:spPr>
        <p:txBody>
          <a:bodyPr wrap="square" lIns="0" tIns="0" rIns="0" bIns="0" rtlCol="0" anchor="ctr"/>
          <a:lstStyle/>
          <a:p>
            <a:pPr marL="0" indent="0" algn="ctr">
              <a:buNone/>
            </a:pPr>
            <a:r>
              <a:rPr lang="en-US" sz="1100" b="1" dirty="0">
                <a:solidFill>
                  <a:srgbClr val="E3B341"/>
                </a:solidFill>
                <a:latin typeface="Calibri" pitchFamily="34" charset="0"/>
                <a:ea typeface="Calibri" pitchFamily="34" charset="-122"/>
                <a:cs typeface="Calibri" pitchFamily="34" charset="-120"/>
              </a:rPr>
              <a:t>👂  Heard of it, never used</a:t>
            </a:r>
            <a:endParaRPr lang="en-US" sz="1100" dirty="0"/>
          </a:p>
        </p:txBody>
      </p:sp>
      <p:sp>
        <p:nvSpPr>
          <p:cNvPr id="56" name="Shape 54">
            <a:extLst>
              <a:ext uri="{FF2B5EF4-FFF2-40B4-BE49-F238E27FC236}">
                <a16:creationId xmlns:a16="http://schemas.microsoft.com/office/drawing/2014/main" id="{BE6188AC-49F7-B9BB-6905-D2E53404B9C8}"/>
              </a:ext>
            </a:extLst>
          </p:cNvPr>
          <p:cNvSpPr/>
          <p:nvPr/>
        </p:nvSpPr>
        <p:spPr>
          <a:xfrm>
            <a:off x="457200" y="3968496"/>
            <a:ext cx="3858768" cy="310896"/>
          </a:xfrm>
          <a:prstGeom prst="rect">
            <a:avLst/>
          </a:prstGeom>
          <a:solidFill>
            <a:srgbClr val="58A6FF">
              <a:alpha val="18000"/>
            </a:srgbClr>
          </a:solidFill>
          <a:ln w="15240">
            <a:solidFill>
              <a:srgbClr val="58A6FF"/>
            </a:solidFill>
            <a:prstDash val="solid"/>
          </a:ln>
        </p:spPr>
        <p:txBody>
          <a:bodyPr/>
          <a:lstStyle/>
          <a:p>
            <a:endParaRPr lang="en-US"/>
          </a:p>
        </p:txBody>
      </p:sp>
      <p:sp>
        <p:nvSpPr>
          <p:cNvPr id="57" name="Text 55">
            <a:extLst>
              <a:ext uri="{FF2B5EF4-FFF2-40B4-BE49-F238E27FC236}">
                <a16:creationId xmlns:a16="http://schemas.microsoft.com/office/drawing/2014/main" id="{FD3F5164-3094-C051-98ED-2A8540C40CD2}"/>
              </a:ext>
            </a:extLst>
          </p:cNvPr>
          <p:cNvSpPr/>
          <p:nvPr/>
        </p:nvSpPr>
        <p:spPr>
          <a:xfrm>
            <a:off x="457200" y="3968496"/>
            <a:ext cx="3858768" cy="310896"/>
          </a:xfrm>
          <a:prstGeom prst="rect">
            <a:avLst/>
          </a:prstGeom>
          <a:noFill/>
          <a:ln/>
        </p:spPr>
        <p:txBody>
          <a:bodyPr wrap="square" lIns="0" tIns="0" rIns="0" bIns="0" rtlCol="0" anchor="ctr"/>
          <a:lstStyle/>
          <a:p>
            <a:pPr marL="0" indent="0" algn="ctr">
              <a:buNone/>
            </a:pPr>
            <a:r>
              <a:rPr lang="en-US" sz="1100" b="1" dirty="0">
                <a:solidFill>
                  <a:srgbClr val="58A6FF"/>
                </a:solidFill>
                <a:latin typeface="Calibri" pitchFamily="34" charset="0"/>
                <a:ea typeface="Calibri" pitchFamily="34" charset="-122"/>
                <a:cs typeface="Calibri" pitchFamily="34" charset="-120"/>
              </a:rPr>
              <a:t>🐙  Used it a few times</a:t>
            </a:r>
            <a:endParaRPr lang="en-US" sz="1100" dirty="0"/>
          </a:p>
        </p:txBody>
      </p:sp>
      <p:sp>
        <p:nvSpPr>
          <p:cNvPr id="58" name="Shape 56">
            <a:extLst>
              <a:ext uri="{FF2B5EF4-FFF2-40B4-BE49-F238E27FC236}">
                <a16:creationId xmlns:a16="http://schemas.microsoft.com/office/drawing/2014/main" id="{1A3C1C2C-9346-781B-8492-C502D322EB8B}"/>
              </a:ext>
            </a:extLst>
          </p:cNvPr>
          <p:cNvSpPr/>
          <p:nvPr/>
        </p:nvSpPr>
        <p:spPr>
          <a:xfrm>
            <a:off x="457200" y="4352544"/>
            <a:ext cx="3858768" cy="310896"/>
          </a:xfrm>
          <a:prstGeom prst="rect">
            <a:avLst/>
          </a:prstGeom>
          <a:solidFill>
            <a:srgbClr val="3FB950">
              <a:alpha val="18000"/>
            </a:srgbClr>
          </a:solidFill>
          <a:ln w="15240">
            <a:solidFill>
              <a:srgbClr val="3FB950"/>
            </a:solidFill>
            <a:prstDash val="solid"/>
          </a:ln>
        </p:spPr>
        <p:txBody>
          <a:bodyPr/>
          <a:lstStyle/>
          <a:p>
            <a:endParaRPr lang="en-US"/>
          </a:p>
        </p:txBody>
      </p:sp>
      <p:sp>
        <p:nvSpPr>
          <p:cNvPr id="59" name="Text 57">
            <a:extLst>
              <a:ext uri="{FF2B5EF4-FFF2-40B4-BE49-F238E27FC236}">
                <a16:creationId xmlns:a16="http://schemas.microsoft.com/office/drawing/2014/main" id="{C6B2B73A-A851-23D5-7534-1DA98586C56E}"/>
              </a:ext>
            </a:extLst>
          </p:cNvPr>
          <p:cNvSpPr/>
          <p:nvPr/>
        </p:nvSpPr>
        <p:spPr>
          <a:xfrm>
            <a:off x="457200" y="4352544"/>
            <a:ext cx="3858768" cy="310896"/>
          </a:xfrm>
          <a:prstGeom prst="rect">
            <a:avLst/>
          </a:prstGeom>
          <a:noFill/>
          <a:ln/>
        </p:spPr>
        <p:txBody>
          <a:bodyPr wrap="square" lIns="0" tIns="0" rIns="0" bIns="0" rtlCol="0" anchor="ctr"/>
          <a:lstStyle/>
          <a:p>
            <a:pPr marL="0" indent="0" algn="ctr">
              <a:buNone/>
            </a:pPr>
            <a:r>
              <a:rPr lang="en-US" sz="1100" b="1" dirty="0">
                <a:solidFill>
                  <a:srgbClr val="3FB950"/>
                </a:solidFill>
                <a:latin typeface="Calibri" pitchFamily="34" charset="0"/>
                <a:ea typeface="Calibri" pitchFamily="34" charset="-122"/>
                <a:cs typeface="Calibri" pitchFamily="34" charset="-120"/>
              </a:rPr>
              <a:t>✅  Use it regularly</a:t>
            </a:r>
            <a:endParaRPr lang="en-US" sz="1100" dirty="0"/>
          </a:p>
        </p:txBody>
      </p:sp>
      <p:sp>
        <p:nvSpPr>
          <p:cNvPr id="60" name="Shape 58">
            <a:extLst>
              <a:ext uri="{FF2B5EF4-FFF2-40B4-BE49-F238E27FC236}">
                <a16:creationId xmlns:a16="http://schemas.microsoft.com/office/drawing/2014/main" id="{3D4D018F-5E1D-5403-CB78-E28789D29EE6}"/>
              </a:ext>
            </a:extLst>
          </p:cNvPr>
          <p:cNvSpPr/>
          <p:nvPr/>
        </p:nvSpPr>
        <p:spPr>
          <a:xfrm>
            <a:off x="4700016" y="2670048"/>
            <a:ext cx="4114800" cy="2121408"/>
          </a:xfrm>
          <a:prstGeom prst="rect">
            <a:avLst/>
          </a:prstGeom>
          <a:solidFill>
            <a:srgbClr val="161B26"/>
          </a:solidFill>
          <a:ln w="19050">
            <a:solidFill>
              <a:srgbClr val="BC8CFF"/>
            </a:solidFill>
            <a:prstDash val="solid"/>
          </a:ln>
          <a:effectLst>
            <a:outerShdw blurRad="101600" dist="25400" dir="8100000" algn="bl" rotWithShape="0">
              <a:srgbClr val="000000">
                <a:alpha val="30000"/>
              </a:srgbClr>
            </a:outerShdw>
          </a:effectLst>
        </p:spPr>
        <p:txBody>
          <a:bodyPr/>
          <a:lstStyle/>
          <a:p>
            <a:endParaRPr lang="en-US"/>
          </a:p>
        </p:txBody>
      </p:sp>
      <p:sp>
        <p:nvSpPr>
          <p:cNvPr id="61" name="Shape 59">
            <a:extLst>
              <a:ext uri="{FF2B5EF4-FFF2-40B4-BE49-F238E27FC236}">
                <a16:creationId xmlns:a16="http://schemas.microsoft.com/office/drawing/2014/main" id="{E8BA1095-B86C-0E96-9961-DCAC0B05C8CA}"/>
              </a:ext>
            </a:extLst>
          </p:cNvPr>
          <p:cNvSpPr/>
          <p:nvPr/>
        </p:nvSpPr>
        <p:spPr>
          <a:xfrm>
            <a:off x="4700016" y="2670048"/>
            <a:ext cx="64008" cy="2121408"/>
          </a:xfrm>
          <a:prstGeom prst="rect">
            <a:avLst/>
          </a:prstGeom>
          <a:solidFill>
            <a:srgbClr val="BC8CFF"/>
          </a:solidFill>
          <a:ln w="12700">
            <a:solidFill>
              <a:srgbClr val="BC8CFF"/>
            </a:solidFill>
            <a:prstDash val="solid"/>
          </a:ln>
        </p:spPr>
        <p:txBody>
          <a:bodyPr/>
          <a:lstStyle/>
          <a:p>
            <a:endParaRPr lang="en-US"/>
          </a:p>
        </p:txBody>
      </p:sp>
      <p:sp>
        <p:nvSpPr>
          <p:cNvPr id="62" name="Shape 60">
            <a:extLst>
              <a:ext uri="{FF2B5EF4-FFF2-40B4-BE49-F238E27FC236}">
                <a16:creationId xmlns:a16="http://schemas.microsoft.com/office/drawing/2014/main" id="{DBD41D60-3D69-BFB2-1878-59A00A5CCBFC}"/>
              </a:ext>
            </a:extLst>
          </p:cNvPr>
          <p:cNvSpPr/>
          <p:nvPr/>
        </p:nvSpPr>
        <p:spPr>
          <a:xfrm>
            <a:off x="4828032" y="2761488"/>
            <a:ext cx="256032" cy="256032"/>
          </a:xfrm>
          <a:prstGeom prst="ellipse">
            <a:avLst/>
          </a:prstGeom>
          <a:solidFill>
            <a:srgbClr val="BC8CFF">
              <a:alpha val="82000"/>
            </a:srgbClr>
          </a:solidFill>
          <a:ln w="19050">
            <a:solidFill>
              <a:srgbClr val="BC8CFF"/>
            </a:solidFill>
            <a:prstDash val="solid"/>
          </a:ln>
        </p:spPr>
        <p:txBody>
          <a:bodyPr/>
          <a:lstStyle/>
          <a:p>
            <a:endParaRPr lang="en-US"/>
          </a:p>
        </p:txBody>
      </p:sp>
      <p:sp>
        <p:nvSpPr>
          <p:cNvPr id="63" name="Text 61">
            <a:extLst>
              <a:ext uri="{FF2B5EF4-FFF2-40B4-BE49-F238E27FC236}">
                <a16:creationId xmlns:a16="http://schemas.microsoft.com/office/drawing/2014/main" id="{8DD8C45E-2382-230E-8DBC-FB43F3AE01E2}"/>
              </a:ext>
            </a:extLst>
          </p:cNvPr>
          <p:cNvSpPr/>
          <p:nvPr/>
        </p:nvSpPr>
        <p:spPr>
          <a:xfrm>
            <a:off x="4828032" y="2761488"/>
            <a:ext cx="256032" cy="256032"/>
          </a:xfrm>
          <a:prstGeom prst="rect">
            <a:avLst/>
          </a:prstGeom>
          <a:noFill/>
          <a:ln/>
        </p:spPr>
        <p:txBody>
          <a:bodyPr wrap="square" lIns="0" tIns="0" rIns="0" bIns="0" rtlCol="0" anchor="ctr"/>
          <a:lstStyle/>
          <a:p>
            <a:pPr marL="0" indent="0" algn="ctr">
              <a:buNone/>
            </a:pPr>
            <a:r>
              <a:rPr lang="en-US" sz="1100" b="1" dirty="0">
                <a:solidFill>
                  <a:srgbClr val="BC8CFF"/>
                </a:solidFill>
                <a:latin typeface="Calibri" pitchFamily="34" charset="0"/>
                <a:ea typeface="Calibri" pitchFamily="34" charset="-122"/>
                <a:cs typeface="Calibri" pitchFamily="34" charset="-120"/>
              </a:rPr>
              <a:t>4</a:t>
            </a:r>
            <a:endParaRPr lang="en-US" sz="1100" dirty="0"/>
          </a:p>
        </p:txBody>
      </p:sp>
      <p:sp>
        <p:nvSpPr>
          <p:cNvPr id="64" name="Text 62">
            <a:extLst>
              <a:ext uri="{FF2B5EF4-FFF2-40B4-BE49-F238E27FC236}">
                <a16:creationId xmlns:a16="http://schemas.microsoft.com/office/drawing/2014/main" id="{09C657BC-73D2-A880-B1C0-D64007B8A954}"/>
              </a:ext>
            </a:extLst>
          </p:cNvPr>
          <p:cNvSpPr/>
          <p:nvPr/>
        </p:nvSpPr>
        <p:spPr>
          <a:xfrm>
            <a:off x="5157216" y="2734056"/>
            <a:ext cx="329184" cy="329184"/>
          </a:xfrm>
          <a:prstGeom prst="rect">
            <a:avLst/>
          </a:prstGeom>
          <a:noFill/>
          <a:ln/>
        </p:spPr>
        <p:txBody>
          <a:bodyPr wrap="square" lIns="0" tIns="0" rIns="0" bIns="0" rtlCol="0" anchor="ctr"/>
          <a:lstStyle/>
          <a:p>
            <a:pPr marL="0" indent="0" algn="ctr">
              <a:buNone/>
            </a:pPr>
            <a:r>
              <a:rPr lang="en-US" sz="1700" dirty="0">
                <a:solidFill>
                  <a:srgbClr val="000000"/>
                </a:solidFill>
              </a:rPr>
              <a:t>🛠️</a:t>
            </a:r>
            <a:endParaRPr lang="en-US" sz="1700" dirty="0"/>
          </a:p>
        </p:txBody>
      </p:sp>
      <p:sp>
        <p:nvSpPr>
          <p:cNvPr id="65" name="Text 63">
            <a:extLst>
              <a:ext uri="{FF2B5EF4-FFF2-40B4-BE49-F238E27FC236}">
                <a16:creationId xmlns:a16="http://schemas.microsoft.com/office/drawing/2014/main" id="{D2B6A19A-FC6B-D58D-89A1-A0172F5099E2}"/>
              </a:ext>
            </a:extLst>
          </p:cNvPr>
          <p:cNvSpPr/>
          <p:nvPr/>
        </p:nvSpPr>
        <p:spPr>
          <a:xfrm>
            <a:off x="5541264" y="2734056"/>
            <a:ext cx="3200400" cy="347472"/>
          </a:xfrm>
          <a:prstGeom prst="rect">
            <a:avLst/>
          </a:prstGeom>
          <a:noFill/>
          <a:ln/>
        </p:spPr>
        <p:txBody>
          <a:bodyPr wrap="square" lIns="0" tIns="0" rIns="0" bIns="0" rtlCol="0" anchor="ctr"/>
          <a:lstStyle/>
          <a:p>
            <a:pPr marL="0" indent="0">
              <a:buNone/>
            </a:pPr>
            <a:r>
              <a:rPr lang="en-US" sz="1150" b="1" dirty="0">
                <a:solidFill>
                  <a:srgbClr val="F0F6FC"/>
                </a:solidFill>
                <a:latin typeface="Calibri" pitchFamily="34" charset="0"/>
                <a:ea typeface="Calibri" pitchFamily="34" charset="-122"/>
                <a:cs typeface="Calibri" pitchFamily="34" charset="-120"/>
              </a:rPr>
              <a:t>Have you used any IDE or code editor before?  If yes, which one?</a:t>
            </a:r>
            <a:endParaRPr lang="en-US" sz="1150" dirty="0"/>
          </a:p>
        </p:txBody>
      </p:sp>
      <p:sp>
        <p:nvSpPr>
          <p:cNvPr id="66" name="Shape 64">
            <a:extLst>
              <a:ext uri="{FF2B5EF4-FFF2-40B4-BE49-F238E27FC236}">
                <a16:creationId xmlns:a16="http://schemas.microsoft.com/office/drawing/2014/main" id="{74E39D11-6B9B-181E-E35A-14DAEA5D4F8D}"/>
              </a:ext>
            </a:extLst>
          </p:cNvPr>
          <p:cNvSpPr/>
          <p:nvPr/>
        </p:nvSpPr>
        <p:spPr>
          <a:xfrm>
            <a:off x="4828032" y="3127248"/>
            <a:ext cx="3913632" cy="0"/>
          </a:xfrm>
          <a:prstGeom prst="line">
            <a:avLst/>
          </a:prstGeom>
          <a:noFill/>
          <a:ln w="8890">
            <a:solidFill>
              <a:srgbClr val="3D444D"/>
            </a:solidFill>
            <a:prstDash val="solid"/>
          </a:ln>
        </p:spPr>
        <p:txBody>
          <a:bodyPr/>
          <a:lstStyle/>
          <a:p>
            <a:endParaRPr lang="en-US"/>
          </a:p>
        </p:txBody>
      </p:sp>
      <p:sp>
        <p:nvSpPr>
          <p:cNvPr id="67" name="Shape 65">
            <a:extLst>
              <a:ext uri="{FF2B5EF4-FFF2-40B4-BE49-F238E27FC236}">
                <a16:creationId xmlns:a16="http://schemas.microsoft.com/office/drawing/2014/main" id="{3D2AB6FD-8E4F-4BE4-19FC-B2CCC804CAF3}"/>
              </a:ext>
            </a:extLst>
          </p:cNvPr>
          <p:cNvSpPr/>
          <p:nvPr/>
        </p:nvSpPr>
        <p:spPr>
          <a:xfrm>
            <a:off x="4828032" y="3200400"/>
            <a:ext cx="1892808" cy="310896"/>
          </a:xfrm>
          <a:prstGeom prst="rect">
            <a:avLst/>
          </a:prstGeom>
          <a:solidFill>
            <a:srgbClr val="58A6FF">
              <a:alpha val="18000"/>
            </a:srgbClr>
          </a:solidFill>
          <a:ln w="15240">
            <a:solidFill>
              <a:srgbClr val="58A6FF"/>
            </a:solidFill>
            <a:prstDash val="solid"/>
          </a:ln>
        </p:spPr>
        <p:txBody>
          <a:bodyPr/>
          <a:lstStyle/>
          <a:p>
            <a:endParaRPr lang="en-US"/>
          </a:p>
        </p:txBody>
      </p:sp>
      <p:sp>
        <p:nvSpPr>
          <p:cNvPr id="68" name="Text 66">
            <a:extLst>
              <a:ext uri="{FF2B5EF4-FFF2-40B4-BE49-F238E27FC236}">
                <a16:creationId xmlns:a16="http://schemas.microsoft.com/office/drawing/2014/main" id="{A1E84364-7FBD-D563-68A5-F905B0489432}"/>
              </a:ext>
            </a:extLst>
          </p:cNvPr>
          <p:cNvSpPr/>
          <p:nvPr/>
        </p:nvSpPr>
        <p:spPr>
          <a:xfrm>
            <a:off x="4828032" y="3200400"/>
            <a:ext cx="1892808" cy="310896"/>
          </a:xfrm>
          <a:prstGeom prst="rect">
            <a:avLst/>
          </a:prstGeom>
          <a:noFill/>
          <a:ln/>
        </p:spPr>
        <p:txBody>
          <a:bodyPr wrap="square" lIns="0" tIns="0" rIns="0" bIns="0" rtlCol="0" anchor="ctr"/>
          <a:lstStyle/>
          <a:p>
            <a:pPr marL="0" indent="0" algn="ctr">
              <a:buNone/>
            </a:pPr>
            <a:r>
              <a:rPr lang="en-US" sz="950" b="1" dirty="0">
                <a:solidFill>
                  <a:srgbClr val="58A6FF"/>
                </a:solidFill>
                <a:latin typeface="Calibri" pitchFamily="34" charset="0"/>
                <a:ea typeface="Calibri" pitchFamily="34" charset="-122"/>
                <a:cs typeface="Calibri" pitchFamily="34" charset="-120"/>
              </a:rPr>
              <a:t>💙  VS Code</a:t>
            </a:r>
            <a:endParaRPr lang="en-US" sz="950" dirty="0"/>
          </a:p>
        </p:txBody>
      </p:sp>
      <p:sp>
        <p:nvSpPr>
          <p:cNvPr id="69" name="Shape 67">
            <a:extLst>
              <a:ext uri="{FF2B5EF4-FFF2-40B4-BE49-F238E27FC236}">
                <a16:creationId xmlns:a16="http://schemas.microsoft.com/office/drawing/2014/main" id="{788C7D62-7293-18E5-A306-71F281F929C5}"/>
              </a:ext>
            </a:extLst>
          </p:cNvPr>
          <p:cNvSpPr/>
          <p:nvPr/>
        </p:nvSpPr>
        <p:spPr>
          <a:xfrm>
            <a:off x="6793992" y="3200400"/>
            <a:ext cx="1892808" cy="310896"/>
          </a:xfrm>
          <a:prstGeom prst="rect">
            <a:avLst/>
          </a:prstGeom>
          <a:solidFill>
            <a:srgbClr val="3FB950">
              <a:alpha val="18000"/>
            </a:srgbClr>
          </a:solidFill>
          <a:ln w="15240">
            <a:solidFill>
              <a:srgbClr val="3FB950"/>
            </a:solidFill>
            <a:prstDash val="solid"/>
          </a:ln>
        </p:spPr>
        <p:txBody>
          <a:bodyPr/>
          <a:lstStyle/>
          <a:p>
            <a:endParaRPr lang="en-US"/>
          </a:p>
        </p:txBody>
      </p:sp>
      <p:sp>
        <p:nvSpPr>
          <p:cNvPr id="70" name="Text 68">
            <a:extLst>
              <a:ext uri="{FF2B5EF4-FFF2-40B4-BE49-F238E27FC236}">
                <a16:creationId xmlns:a16="http://schemas.microsoft.com/office/drawing/2014/main" id="{39D2C8A9-552B-58BE-4C60-11871B7E1217}"/>
              </a:ext>
            </a:extLst>
          </p:cNvPr>
          <p:cNvSpPr/>
          <p:nvPr/>
        </p:nvSpPr>
        <p:spPr>
          <a:xfrm>
            <a:off x="6793992" y="3200400"/>
            <a:ext cx="1892808" cy="310896"/>
          </a:xfrm>
          <a:prstGeom prst="rect">
            <a:avLst/>
          </a:prstGeom>
          <a:noFill/>
          <a:ln/>
        </p:spPr>
        <p:txBody>
          <a:bodyPr wrap="square" lIns="0" tIns="0" rIns="0" bIns="0" rtlCol="0" anchor="ctr"/>
          <a:lstStyle/>
          <a:p>
            <a:pPr marL="0" indent="0" algn="ctr">
              <a:buNone/>
            </a:pPr>
            <a:r>
              <a:rPr lang="en-US" sz="950" b="1" dirty="0">
                <a:solidFill>
                  <a:srgbClr val="3FB950"/>
                </a:solidFill>
                <a:latin typeface="Calibri" pitchFamily="34" charset="0"/>
                <a:ea typeface="Calibri" pitchFamily="34" charset="-122"/>
                <a:cs typeface="Calibri" pitchFamily="34" charset="-120"/>
              </a:rPr>
              <a:t>🐍  PyCharm</a:t>
            </a:r>
            <a:endParaRPr lang="en-US" sz="950" dirty="0"/>
          </a:p>
        </p:txBody>
      </p:sp>
      <p:sp>
        <p:nvSpPr>
          <p:cNvPr id="71" name="Shape 69">
            <a:extLst>
              <a:ext uri="{FF2B5EF4-FFF2-40B4-BE49-F238E27FC236}">
                <a16:creationId xmlns:a16="http://schemas.microsoft.com/office/drawing/2014/main" id="{F0600D10-6FE6-80C6-4E39-B497FF68F792}"/>
              </a:ext>
            </a:extLst>
          </p:cNvPr>
          <p:cNvSpPr/>
          <p:nvPr/>
        </p:nvSpPr>
        <p:spPr>
          <a:xfrm>
            <a:off x="4828032" y="3584448"/>
            <a:ext cx="1892808" cy="310896"/>
          </a:xfrm>
          <a:prstGeom prst="rect">
            <a:avLst/>
          </a:prstGeom>
          <a:solidFill>
            <a:srgbClr val="FFA657">
              <a:alpha val="18000"/>
            </a:srgbClr>
          </a:solidFill>
          <a:ln w="15240">
            <a:solidFill>
              <a:srgbClr val="FFA657"/>
            </a:solidFill>
            <a:prstDash val="solid"/>
          </a:ln>
        </p:spPr>
        <p:txBody>
          <a:bodyPr/>
          <a:lstStyle/>
          <a:p>
            <a:endParaRPr lang="en-US"/>
          </a:p>
        </p:txBody>
      </p:sp>
      <p:sp>
        <p:nvSpPr>
          <p:cNvPr id="72" name="Text 70">
            <a:extLst>
              <a:ext uri="{FF2B5EF4-FFF2-40B4-BE49-F238E27FC236}">
                <a16:creationId xmlns:a16="http://schemas.microsoft.com/office/drawing/2014/main" id="{7A3C878A-B47C-0364-7CBC-4983F532CA6E}"/>
              </a:ext>
            </a:extLst>
          </p:cNvPr>
          <p:cNvSpPr/>
          <p:nvPr/>
        </p:nvSpPr>
        <p:spPr>
          <a:xfrm>
            <a:off x="4828032" y="3584448"/>
            <a:ext cx="1892808" cy="310896"/>
          </a:xfrm>
          <a:prstGeom prst="rect">
            <a:avLst/>
          </a:prstGeom>
          <a:noFill/>
          <a:ln/>
        </p:spPr>
        <p:txBody>
          <a:bodyPr wrap="square" lIns="0" tIns="0" rIns="0" bIns="0" rtlCol="0" anchor="ctr"/>
          <a:lstStyle/>
          <a:p>
            <a:pPr marL="0" indent="0" algn="ctr">
              <a:buNone/>
            </a:pPr>
            <a:r>
              <a:rPr lang="en-US" sz="950" b="1" dirty="0">
                <a:solidFill>
                  <a:srgbClr val="FFA657"/>
                </a:solidFill>
                <a:latin typeface="Calibri" pitchFamily="34" charset="0"/>
                <a:ea typeface="Calibri" pitchFamily="34" charset="-122"/>
                <a:cs typeface="Calibri" pitchFamily="34" charset="-120"/>
              </a:rPr>
              <a:t>🟠  Sublime Text</a:t>
            </a:r>
            <a:endParaRPr lang="en-US" sz="950" dirty="0"/>
          </a:p>
        </p:txBody>
      </p:sp>
      <p:sp>
        <p:nvSpPr>
          <p:cNvPr id="73" name="Shape 71">
            <a:extLst>
              <a:ext uri="{FF2B5EF4-FFF2-40B4-BE49-F238E27FC236}">
                <a16:creationId xmlns:a16="http://schemas.microsoft.com/office/drawing/2014/main" id="{6EB221C4-1F94-3ADB-080B-3DC76F77C05D}"/>
              </a:ext>
            </a:extLst>
          </p:cNvPr>
          <p:cNvSpPr/>
          <p:nvPr/>
        </p:nvSpPr>
        <p:spPr>
          <a:xfrm>
            <a:off x="6793992" y="3584448"/>
            <a:ext cx="1892808" cy="310896"/>
          </a:xfrm>
          <a:prstGeom prst="rect">
            <a:avLst/>
          </a:prstGeom>
          <a:solidFill>
            <a:srgbClr val="3FD9C4">
              <a:alpha val="18000"/>
            </a:srgbClr>
          </a:solidFill>
          <a:ln w="15240">
            <a:solidFill>
              <a:srgbClr val="3FD9C4"/>
            </a:solidFill>
            <a:prstDash val="solid"/>
          </a:ln>
        </p:spPr>
        <p:txBody>
          <a:bodyPr/>
          <a:lstStyle/>
          <a:p>
            <a:endParaRPr lang="en-US"/>
          </a:p>
        </p:txBody>
      </p:sp>
      <p:sp>
        <p:nvSpPr>
          <p:cNvPr id="74" name="Text 72">
            <a:extLst>
              <a:ext uri="{FF2B5EF4-FFF2-40B4-BE49-F238E27FC236}">
                <a16:creationId xmlns:a16="http://schemas.microsoft.com/office/drawing/2014/main" id="{2D3B6A86-B5BC-1F52-650B-576C3E392978}"/>
              </a:ext>
            </a:extLst>
          </p:cNvPr>
          <p:cNvSpPr/>
          <p:nvPr/>
        </p:nvSpPr>
        <p:spPr>
          <a:xfrm>
            <a:off x="6793992" y="3584448"/>
            <a:ext cx="1892808" cy="310896"/>
          </a:xfrm>
          <a:prstGeom prst="rect">
            <a:avLst/>
          </a:prstGeom>
          <a:noFill/>
          <a:ln/>
        </p:spPr>
        <p:txBody>
          <a:bodyPr wrap="square" lIns="0" tIns="0" rIns="0" bIns="0" rtlCol="0" anchor="ctr"/>
          <a:lstStyle/>
          <a:p>
            <a:pPr marL="0" indent="0" algn="ctr">
              <a:buNone/>
            </a:pPr>
            <a:r>
              <a:rPr lang="en-US" sz="950" b="1" dirty="0">
                <a:solidFill>
                  <a:srgbClr val="3FD9C4"/>
                </a:solidFill>
                <a:latin typeface="Calibri" pitchFamily="34" charset="0"/>
                <a:ea typeface="Calibri" pitchFamily="34" charset="-122"/>
                <a:cs typeface="Calibri" pitchFamily="34" charset="-120"/>
              </a:rPr>
              <a:t>📝  Notepad++</a:t>
            </a:r>
            <a:endParaRPr lang="en-US" sz="950" dirty="0"/>
          </a:p>
        </p:txBody>
      </p:sp>
      <p:sp>
        <p:nvSpPr>
          <p:cNvPr id="75" name="Shape 73">
            <a:extLst>
              <a:ext uri="{FF2B5EF4-FFF2-40B4-BE49-F238E27FC236}">
                <a16:creationId xmlns:a16="http://schemas.microsoft.com/office/drawing/2014/main" id="{C9F35FE5-8A5E-89FF-CC37-5FF465EE4587}"/>
              </a:ext>
            </a:extLst>
          </p:cNvPr>
          <p:cNvSpPr/>
          <p:nvPr/>
        </p:nvSpPr>
        <p:spPr>
          <a:xfrm>
            <a:off x="4828032" y="3968496"/>
            <a:ext cx="1892808" cy="310896"/>
          </a:xfrm>
          <a:prstGeom prst="rect">
            <a:avLst/>
          </a:prstGeom>
          <a:solidFill>
            <a:srgbClr val="E3B341">
              <a:alpha val="18000"/>
            </a:srgbClr>
          </a:solidFill>
          <a:ln w="15240">
            <a:solidFill>
              <a:srgbClr val="E3B341"/>
            </a:solidFill>
            <a:prstDash val="solid"/>
          </a:ln>
        </p:spPr>
        <p:txBody>
          <a:bodyPr/>
          <a:lstStyle/>
          <a:p>
            <a:endParaRPr lang="en-US"/>
          </a:p>
        </p:txBody>
      </p:sp>
      <p:sp>
        <p:nvSpPr>
          <p:cNvPr id="76" name="Text 74">
            <a:extLst>
              <a:ext uri="{FF2B5EF4-FFF2-40B4-BE49-F238E27FC236}">
                <a16:creationId xmlns:a16="http://schemas.microsoft.com/office/drawing/2014/main" id="{ECD6D221-912E-233D-616A-13CB94CD12B4}"/>
              </a:ext>
            </a:extLst>
          </p:cNvPr>
          <p:cNvSpPr/>
          <p:nvPr/>
        </p:nvSpPr>
        <p:spPr>
          <a:xfrm>
            <a:off x="4828032" y="3968496"/>
            <a:ext cx="1892808" cy="310896"/>
          </a:xfrm>
          <a:prstGeom prst="rect">
            <a:avLst/>
          </a:prstGeom>
          <a:noFill/>
          <a:ln/>
        </p:spPr>
        <p:txBody>
          <a:bodyPr wrap="square" lIns="0" tIns="0" rIns="0" bIns="0" rtlCol="0" anchor="ctr"/>
          <a:lstStyle/>
          <a:p>
            <a:pPr marL="0" indent="0" algn="ctr">
              <a:buNone/>
            </a:pPr>
            <a:r>
              <a:rPr lang="en-US" sz="950" b="1" dirty="0">
                <a:solidFill>
                  <a:srgbClr val="E3B341"/>
                </a:solidFill>
                <a:latin typeface="Calibri" pitchFamily="34" charset="0"/>
                <a:ea typeface="Calibri" pitchFamily="34" charset="-122"/>
                <a:cs typeface="Calibri" pitchFamily="34" charset="-120"/>
              </a:rPr>
              <a:t>⌨️  Vim / Nano</a:t>
            </a:r>
            <a:endParaRPr lang="en-US" sz="950" dirty="0"/>
          </a:p>
        </p:txBody>
      </p:sp>
      <p:sp>
        <p:nvSpPr>
          <p:cNvPr id="77" name="Shape 75">
            <a:extLst>
              <a:ext uri="{FF2B5EF4-FFF2-40B4-BE49-F238E27FC236}">
                <a16:creationId xmlns:a16="http://schemas.microsoft.com/office/drawing/2014/main" id="{521C2CAC-664B-1AB3-BDF1-BB1384A13F01}"/>
              </a:ext>
            </a:extLst>
          </p:cNvPr>
          <p:cNvSpPr/>
          <p:nvPr/>
        </p:nvSpPr>
        <p:spPr>
          <a:xfrm>
            <a:off x="6793992" y="3968496"/>
            <a:ext cx="1892808" cy="310896"/>
          </a:xfrm>
          <a:prstGeom prst="rect">
            <a:avLst/>
          </a:prstGeom>
          <a:solidFill>
            <a:srgbClr val="F778BA">
              <a:alpha val="18000"/>
            </a:srgbClr>
          </a:solidFill>
          <a:ln w="15240">
            <a:solidFill>
              <a:srgbClr val="F778BA"/>
            </a:solidFill>
            <a:prstDash val="solid"/>
          </a:ln>
        </p:spPr>
        <p:txBody>
          <a:bodyPr/>
          <a:lstStyle/>
          <a:p>
            <a:endParaRPr lang="en-US"/>
          </a:p>
        </p:txBody>
      </p:sp>
      <p:sp>
        <p:nvSpPr>
          <p:cNvPr id="78" name="Text 76">
            <a:extLst>
              <a:ext uri="{FF2B5EF4-FFF2-40B4-BE49-F238E27FC236}">
                <a16:creationId xmlns:a16="http://schemas.microsoft.com/office/drawing/2014/main" id="{EBBAC1EC-A908-3857-83CB-F7AA45D8A778}"/>
              </a:ext>
            </a:extLst>
          </p:cNvPr>
          <p:cNvSpPr/>
          <p:nvPr/>
        </p:nvSpPr>
        <p:spPr>
          <a:xfrm>
            <a:off x="6793992" y="3968496"/>
            <a:ext cx="1892808" cy="310896"/>
          </a:xfrm>
          <a:prstGeom prst="rect">
            <a:avLst/>
          </a:prstGeom>
          <a:noFill/>
          <a:ln/>
        </p:spPr>
        <p:txBody>
          <a:bodyPr wrap="square" lIns="0" tIns="0" rIns="0" bIns="0" rtlCol="0" anchor="ctr"/>
          <a:lstStyle/>
          <a:p>
            <a:pPr marL="0" indent="0" algn="ctr">
              <a:buNone/>
            </a:pPr>
            <a:r>
              <a:rPr lang="en-US" sz="950" b="1" dirty="0">
                <a:solidFill>
                  <a:srgbClr val="F778BA"/>
                </a:solidFill>
                <a:latin typeface="Calibri" pitchFamily="34" charset="0"/>
                <a:ea typeface="Calibri" pitchFamily="34" charset="-122"/>
                <a:cs typeface="Calibri" pitchFamily="34" charset="-120"/>
              </a:rPr>
              <a:t>⚛️  Atom</a:t>
            </a:r>
            <a:endParaRPr lang="en-US" sz="950" dirty="0"/>
          </a:p>
        </p:txBody>
      </p:sp>
      <p:sp>
        <p:nvSpPr>
          <p:cNvPr id="79" name="Shape 77">
            <a:extLst>
              <a:ext uri="{FF2B5EF4-FFF2-40B4-BE49-F238E27FC236}">
                <a16:creationId xmlns:a16="http://schemas.microsoft.com/office/drawing/2014/main" id="{B144331B-C51E-9F35-FDAD-24B486C67E59}"/>
              </a:ext>
            </a:extLst>
          </p:cNvPr>
          <p:cNvSpPr/>
          <p:nvPr/>
        </p:nvSpPr>
        <p:spPr>
          <a:xfrm>
            <a:off x="4828032" y="4352544"/>
            <a:ext cx="1892808" cy="310896"/>
          </a:xfrm>
          <a:prstGeom prst="rect">
            <a:avLst/>
          </a:prstGeom>
          <a:solidFill>
            <a:srgbClr val="BC8CFF">
              <a:alpha val="18000"/>
            </a:srgbClr>
          </a:solidFill>
          <a:ln w="15240">
            <a:solidFill>
              <a:srgbClr val="BC8CFF"/>
            </a:solidFill>
            <a:prstDash val="solid"/>
          </a:ln>
        </p:spPr>
        <p:txBody>
          <a:bodyPr/>
          <a:lstStyle/>
          <a:p>
            <a:endParaRPr lang="en-US"/>
          </a:p>
        </p:txBody>
      </p:sp>
      <p:sp>
        <p:nvSpPr>
          <p:cNvPr id="80" name="Text 78">
            <a:extLst>
              <a:ext uri="{FF2B5EF4-FFF2-40B4-BE49-F238E27FC236}">
                <a16:creationId xmlns:a16="http://schemas.microsoft.com/office/drawing/2014/main" id="{E080141C-DEC8-4575-F7D9-205244D6F9ED}"/>
              </a:ext>
            </a:extLst>
          </p:cNvPr>
          <p:cNvSpPr/>
          <p:nvPr/>
        </p:nvSpPr>
        <p:spPr>
          <a:xfrm>
            <a:off x="4828032" y="4352544"/>
            <a:ext cx="1892808" cy="310896"/>
          </a:xfrm>
          <a:prstGeom prst="rect">
            <a:avLst/>
          </a:prstGeom>
          <a:noFill/>
          <a:ln/>
        </p:spPr>
        <p:txBody>
          <a:bodyPr wrap="square" lIns="0" tIns="0" rIns="0" bIns="0" rtlCol="0" anchor="ctr"/>
          <a:lstStyle/>
          <a:p>
            <a:pPr marL="0" indent="0" algn="ctr">
              <a:buNone/>
            </a:pPr>
            <a:r>
              <a:rPr lang="en-US" sz="950" b="1" dirty="0">
                <a:solidFill>
                  <a:srgbClr val="BC8CFF"/>
                </a:solidFill>
                <a:latin typeface="Calibri" pitchFamily="34" charset="0"/>
                <a:ea typeface="Calibri" pitchFamily="34" charset="-122"/>
                <a:cs typeface="Calibri" pitchFamily="34" charset="-120"/>
              </a:rPr>
              <a:t>✨  Other</a:t>
            </a:r>
            <a:endParaRPr lang="en-US" sz="950" dirty="0"/>
          </a:p>
        </p:txBody>
      </p:sp>
      <p:sp>
        <p:nvSpPr>
          <p:cNvPr id="81" name="Shape 79">
            <a:extLst>
              <a:ext uri="{FF2B5EF4-FFF2-40B4-BE49-F238E27FC236}">
                <a16:creationId xmlns:a16="http://schemas.microsoft.com/office/drawing/2014/main" id="{50EDAEBB-994A-8D2B-5066-D509FD0872E8}"/>
              </a:ext>
            </a:extLst>
          </p:cNvPr>
          <p:cNvSpPr/>
          <p:nvPr/>
        </p:nvSpPr>
        <p:spPr>
          <a:xfrm>
            <a:off x="6793992" y="4352544"/>
            <a:ext cx="1892808" cy="310896"/>
          </a:xfrm>
          <a:prstGeom prst="rect">
            <a:avLst/>
          </a:prstGeom>
          <a:solidFill>
            <a:srgbClr val="F85149">
              <a:alpha val="18000"/>
            </a:srgbClr>
          </a:solidFill>
          <a:ln w="15240">
            <a:solidFill>
              <a:srgbClr val="F85149"/>
            </a:solidFill>
            <a:prstDash val="solid"/>
          </a:ln>
        </p:spPr>
        <p:txBody>
          <a:bodyPr/>
          <a:lstStyle/>
          <a:p>
            <a:endParaRPr lang="en-US"/>
          </a:p>
        </p:txBody>
      </p:sp>
      <p:sp>
        <p:nvSpPr>
          <p:cNvPr id="82" name="Text 80">
            <a:extLst>
              <a:ext uri="{FF2B5EF4-FFF2-40B4-BE49-F238E27FC236}">
                <a16:creationId xmlns:a16="http://schemas.microsoft.com/office/drawing/2014/main" id="{6180AA24-6E64-09F9-1248-1B076E348161}"/>
              </a:ext>
            </a:extLst>
          </p:cNvPr>
          <p:cNvSpPr/>
          <p:nvPr/>
        </p:nvSpPr>
        <p:spPr>
          <a:xfrm>
            <a:off x="6793992" y="4352544"/>
            <a:ext cx="1892808" cy="310896"/>
          </a:xfrm>
          <a:prstGeom prst="rect">
            <a:avLst/>
          </a:prstGeom>
          <a:noFill/>
          <a:ln/>
        </p:spPr>
        <p:txBody>
          <a:bodyPr wrap="square" lIns="0" tIns="0" rIns="0" bIns="0" rtlCol="0" anchor="ctr"/>
          <a:lstStyle/>
          <a:p>
            <a:pPr marL="0" indent="0" algn="ctr">
              <a:buNone/>
            </a:pPr>
            <a:r>
              <a:rPr lang="en-US" sz="950" b="1" dirty="0">
                <a:solidFill>
                  <a:srgbClr val="F85149"/>
                </a:solidFill>
                <a:latin typeface="Calibri" pitchFamily="34" charset="0"/>
                <a:ea typeface="Calibri" pitchFamily="34" charset="-122"/>
                <a:cs typeface="Calibri" pitchFamily="34" charset="-120"/>
              </a:rPr>
              <a:t>❌  None yet</a:t>
            </a:r>
            <a:endParaRPr lang="en-US" sz="950" dirty="0"/>
          </a:p>
        </p:txBody>
      </p:sp>
      <p:sp>
        <p:nvSpPr>
          <p:cNvPr id="83" name="Shape 81">
            <a:extLst>
              <a:ext uri="{FF2B5EF4-FFF2-40B4-BE49-F238E27FC236}">
                <a16:creationId xmlns:a16="http://schemas.microsoft.com/office/drawing/2014/main" id="{756D1384-4488-DC8F-5A5F-A11ABF726580}"/>
              </a:ext>
            </a:extLst>
          </p:cNvPr>
          <p:cNvSpPr/>
          <p:nvPr/>
        </p:nvSpPr>
        <p:spPr>
          <a:xfrm>
            <a:off x="329184" y="4818888"/>
            <a:ext cx="8485632" cy="256032"/>
          </a:xfrm>
          <a:prstGeom prst="rect">
            <a:avLst/>
          </a:prstGeom>
          <a:solidFill>
            <a:srgbClr val="1C2333"/>
          </a:solidFill>
          <a:ln w="10160">
            <a:solidFill>
              <a:srgbClr val="3D444D"/>
            </a:solidFill>
            <a:prstDash val="solid"/>
          </a:ln>
        </p:spPr>
        <p:txBody>
          <a:bodyPr/>
          <a:lstStyle/>
          <a:p>
            <a:endParaRPr lang="en-US"/>
          </a:p>
        </p:txBody>
      </p:sp>
      <p:sp>
        <p:nvSpPr>
          <p:cNvPr id="84" name="Text 82">
            <a:extLst>
              <a:ext uri="{FF2B5EF4-FFF2-40B4-BE49-F238E27FC236}">
                <a16:creationId xmlns:a16="http://schemas.microsoft.com/office/drawing/2014/main" id="{4AB00D21-3E48-9519-20E9-56E9A242801D}"/>
              </a:ext>
            </a:extLst>
          </p:cNvPr>
          <p:cNvSpPr/>
          <p:nvPr/>
        </p:nvSpPr>
        <p:spPr>
          <a:xfrm>
            <a:off x="457200" y="4837176"/>
            <a:ext cx="8321040" cy="201168"/>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  No right or wrong answers — </a:t>
            </a:r>
            <a:r>
              <a:rPr lang="en-US" sz="950" b="1" dirty="0">
                <a:solidFill>
                  <a:srgbClr val="F0F6FC"/>
                </a:solidFill>
                <a:latin typeface="Calibri" pitchFamily="34" charset="0"/>
                <a:ea typeface="Calibri" pitchFamily="34" charset="-122"/>
                <a:cs typeface="Calibri" pitchFamily="34" charset="-120"/>
              </a:rPr>
              <a:t>helps us tailor the course for you.  </a:t>
            </a:r>
            <a:r>
              <a:rPr lang="en-US" sz="950" dirty="0">
                <a:solidFill>
                  <a:srgbClr val="8B949E"/>
                </a:solidFill>
                <a:latin typeface="Calibri" pitchFamily="34" charset="0"/>
                <a:ea typeface="Calibri" pitchFamily="34" charset="-122"/>
                <a:cs typeface="Calibri" pitchFamily="34" charset="-120"/>
              </a:rPr>
              <a:t>We will use  </a:t>
            </a:r>
            <a:r>
              <a:rPr lang="en-US" sz="950" b="1" dirty="0">
                <a:solidFill>
                  <a:srgbClr val="58A6FF"/>
                </a:solidFill>
                <a:latin typeface="Calibri" pitchFamily="34" charset="0"/>
                <a:ea typeface="Calibri" pitchFamily="34" charset="-122"/>
                <a:cs typeface="Calibri" pitchFamily="34" charset="-120"/>
              </a:rPr>
              <a:t>VS Code</a:t>
            </a:r>
            <a:r>
              <a:rPr lang="en-US" sz="950" dirty="0">
                <a:solidFill>
                  <a:srgbClr val="8B949E"/>
                </a:solidFill>
                <a:latin typeface="Calibri" pitchFamily="34" charset="0"/>
                <a:ea typeface="Calibri" pitchFamily="34" charset="-122"/>
                <a:cs typeface="Calibri" pitchFamily="34" charset="-120"/>
              </a:rPr>
              <a:t>  — installed together on Day 1.</a:t>
            </a:r>
            <a:endParaRPr lang="en-US" sz="950" dirty="0"/>
          </a:p>
        </p:txBody>
      </p:sp>
    </p:spTree>
    <p:extLst>
      <p:ext uri="{BB962C8B-B14F-4D97-AF65-F5344CB8AC3E}">
        <p14:creationId xmlns:p14="http://schemas.microsoft.com/office/powerpoint/2010/main" val="4121360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a:extLst>
            <a:ext uri="{FF2B5EF4-FFF2-40B4-BE49-F238E27FC236}">
              <a16:creationId xmlns:a16="http://schemas.microsoft.com/office/drawing/2014/main" id="{ACECC687-26B4-238F-975E-34FA8EA1866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077C540-41A2-EC6B-41AB-3E3EE39B87F3}"/>
              </a:ext>
            </a:extLst>
          </p:cNvPr>
          <p:cNvSpPr/>
          <p:nvPr/>
        </p:nvSpPr>
        <p:spPr>
          <a:xfrm>
            <a:off x="0" y="0"/>
            <a:ext cx="9144000" cy="64008"/>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EA5CDE6B-EA50-4615-AFB4-62F963D33FA6}"/>
              </a:ext>
            </a:extLst>
          </p:cNvPr>
          <p:cNvSpPr/>
          <p:nvPr/>
        </p:nvSpPr>
        <p:spPr>
          <a:xfrm>
            <a:off x="0" y="5079492"/>
            <a:ext cx="9144000" cy="64008"/>
          </a:xfrm>
          <a:prstGeom prst="rect">
            <a:avLst/>
          </a:prstGeom>
          <a:solidFill>
            <a:srgbClr val="4F29B7"/>
          </a:solidFill>
          <a:ln w="12700">
            <a:solidFill>
              <a:srgbClr val="4F29B7"/>
            </a:solidFill>
            <a:prstDash val="solid"/>
          </a:ln>
        </p:spPr>
        <p:txBody>
          <a:bodyPr/>
          <a:lstStyle/>
          <a:p>
            <a:endParaRPr lang="en-US"/>
          </a:p>
        </p:txBody>
      </p:sp>
      <p:sp>
        <p:nvSpPr>
          <p:cNvPr id="4" name="Shape 2">
            <a:extLst>
              <a:ext uri="{FF2B5EF4-FFF2-40B4-BE49-F238E27FC236}">
                <a16:creationId xmlns:a16="http://schemas.microsoft.com/office/drawing/2014/main" id="{CA3E67F8-B679-F635-C3D1-A83053B4059D}"/>
              </a:ext>
            </a:extLst>
          </p:cNvPr>
          <p:cNvSpPr/>
          <p:nvPr/>
        </p:nvSpPr>
        <p:spPr>
          <a:xfrm>
            <a:off x="0" y="64008"/>
            <a:ext cx="2377440" cy="5015484"/>
          </a:xfrm>
          <a:prstGeom prst="rect">
            <a:avLst/>
          </a:prstGeom>
          <a:solidFill>
            <a:srgbClr val="1A1040"/>
          </a:solidFill>
          <a:ln w="12700">
            <a:solidFill>
              <a:srgbClr val="1A1040"/>
            </a:solidFill>
            <a:prstDash val="solid"/>
          </a:ln>
        </p:spPr>
        <p:txBody>
          <a:bodyPr/>
          <a:lstStyle/>
          <a:p>
            <a:endParaRPr lang="en-US"/>
          </a:p>
        </p:txBody>
      </p:sp>
      <p:sp>
        <p:nvSpPr>
          <p:cNvPr id="6" name="Text 3">
            <a:extLst>
              <a:ext uri="{FF2B5EF4-FFF2-40B4-BE49-F238E27FC236}">
                <a16:creationId xmlns:a16="http://schemas.microsoft.com/office/drawing/2014/main" id="{F59228D3-5CE2-E2FF-21AC-25F2E3B1D9B0}"/>
              </a:ext>
            </a:extLst>
          </p:cNvPr>
          <p:cNvSpPr/>
          <p:nvPr/>
        </p:nvSpPr>
        <p:spPr>
          <a:xfrm>
            <a:off x="0" y="1371600"/>
            <a:ext cx="2377440" cy="502920"/>
          </a:xfrm>
          <a:prstGeom prst="rect">
            <a:avLst/>
          </a:prstGeom>
          <a:noFill/>
          <a:ln/>
        </p:spPr>
        <p:txBody>
          <a:bodyPr wrap="square" rtlCol="0" anchor="ctr"/>
          <a:lstStyle/>
          <a:p>
            <a:pPr marL="0" indent="0" algn="ctr">
              <a:buNone/>
            </a:pPr>
            <a:r>
              <a:rPr lang="en-US" sz="2800" b="1" dirty="0">
                <a:solidFill>
                  <a:srgbClr val="57E3D8"/>
                </a:solidFill>
                <a:latin typeface="Calibri" pitchFamily="34" charset="0"/>
                <a:ea typeface="Calibri" pitchFamily="34" charset="-122"/>
                <a:cs typeface="Calibri" pitchFamily="34" charset="-120"/>
              </a:rPr>
              <a:t>Table</a:t>
            </a:r>
            <a:endParaRPr lang="en-US" sz="2800" dirty="0"/>
          </a:p>
        </p:txBody>
      </p:sp>
      <p:sp>
        <p:nvSpPr>
          <p:cNvPr id="7" name="Text 4">
            <a:extLst>
              <a:ext uri="{FF2B5EF4-FFF2-40B4-BE49-F238E27FC236}">
                <a16:creationId xmlns:a16="http://schemas.microsoft.com/office/drawing/2014/main" id="{4BF4A755-D94E-06DA-0BD7-070DC7E579F1}"/>
              </a:ext>
            </a:extLst>
          </p:cNvPr>
          <p:cNvSpPr/>
          <p:nvPr/>
        </p:nvSpPr>
        <p:spPr>
          <a:xfrm>
            <a:off x="0" y="1828800"/>
            <a:ext cx="2377440" cy="347472"/>
          </a:xfrm>
          <a:prstGeom prst="rect">
            <a:avLst/>
          </a:prstGeom>
          <a:noFill/>
          <a:ln/>
        </p:spPr>
        <p:txBody>
          <a:bodyPr wrap="square" rtlCol="0" anchor="ctr"/>
          <a:lstStyle/>
          <a:p>
            <a:pPr marL="0" indent="0" algn="ctr">
              <a:buNone/>
            </a:pPr>
            <a:r>
              <a:rPr lang="en-US" sz="2000" i="1" dirty="0">
                <a:solidFill>
                  <a:srgbClr val="EDEDED"/>
                </a:solidFill>
                <a:latin typeface="Calibri" pitchFamily="34" charset="0"/>
                <a:ea typeface="Calibri" pitchFamily="34" charset="-122"/>
                <a:cs typeface="Calibri" pitchFamily="34" charset="-120"/>
              </a:rPr>
              <a:t>of</a:t>
            </a:r>
            <a:endParaRPr lang="en-US" sz="2000" dirty="0"/>
          </a:p>
        </p:txBody>
      </p:sp>
      <p:sp>
        <p:nvSpPr>
          <p:cNvPr id="8" name="Text 5">
            <a:extLst>
              <a:ext uri="{FF2B5EF4-FFF2-40B4-BE49-F238E27FC236}">
                <a16:creationId xmlns:a16="http://schemas.microsoft.com/office/drawing/2014/main" id="{8CB6DCFF-DBFC-51AD-B324-C0605FA6CBBF}"/>
              </a:ext>
            </a:extLst>
          </p:cNvPr>
          <p:cNvSpPr/>
          <p:nvPr/>
        </p:nvSpPr>
        <p:spPr>
          <a:xfrm>
            <a:off x="0" y="2176272"/>
            <a:ext cx="2377440" cy="502920"/>
          </a:xfrm>
          <a:prstGeom prst="rect">
            <a:avLst/>
          </a:prstGeom>
          <a:noFill/>
          <a:ln/>
        </p:spPr>
        <p:txBody>
          <a:bodyPr wrap="square" rtlCol="0" anchor="ctr"/>
          <a:lstStyle/>
          <a:p>
            <a:pPr marL="0" indent="0" algn="ctr">
              <a:buNone/>
            </a:pPr>
            <a:r>
              <a:rPr lang="en-US" sz="2800" b="1" dirty="0">
                <a:solidFill>
                  <a:srgbClr val="57E3D8"/>
                </a:solidFill>
                <a:latin typeface="Calibri" pitchFamily="34" charset="0"/>
                <a:ea typeface="Calibri" pitchFamily="34" charset="-122"/>
                <a:cs typeface="Calibri" pitchFamily="34" charset="-120"/>
              </a:rPr>
              <a:t>Contents</a:t>
            </a:r>
            <a:endParaRPr lang="en-US" sz="2800" dirty="0"/>
          </a:p>
        </p:txBody>
      </p:sp>
      <p:sp>
        <p:nvSpPr>
          <p:cNvPr id="9" name="Shape 6">
            <a:extLst>
              <a:ext uri="{FF2B5EF4-FFF2-40B4-BE49-F238E27FC236}">
                <a16:creationId xmlns:a16="http://schemas.microsoft.com/office/drawing/2014/main" id="{D4FC6275-94A7-FD4A-E0F0-D56A3D6AA3AB}"/>
              </a:ext>
            </a:extLst>
          </p:cNvPr>
          <p:cNvSpPr/>
          <p:nvPr/>
        </p:nvSpPr>
        <p:spPr>
          <a:xfrm>
            <a:off x="2377440" y="64008"/>
            <a:ext cx="0" cy="5015484"/>
          </a:xfrm>
          <a:prstGeom prst="line">
            <a:avLst/>
          </a:prstGeom>
          <a:noFill/>
          <a:ln w="19050">
            <a:solidFill>
              <a:srgbClr val="4F29B7"/>
            </a:solidFill>
            <a:prstDash val="solid"/>
          </a:ln>
        </p:spPr>
        <p:txBody>
          <a:bodyPr/>
          <a:lstStyle/>
          <a:p>
            <a:endParaRPr lang="en-US"/>
          </a:p>
        </p:txBody>
      </p:sp>
      <p:sp>
        <p:nvSpPr>
          <p:cNvPr id="10" name="Shape 7">
            <a:extLst>
              <a:ext uri="{FF2B5EF4-FFF2-40B4-BE49-F238E27FC236}">
                <a16:creationId xmlns:a16="http://schemas.microsoft.com/office/drawing/2014/main" id="{CFED53D2-F2F7-626B-24B4-1BBC5AC42F15}"/>
              </a:ext>
            </a:extLst>
          </p:cNvPr>
          <p:cNvSpPr/>
          <p:nvPr/>
        </p:nvSpPr>
        <p:spPr>
          <a:xfrm>
            <a:off x="502920" y="4434840"/>
            <a:ext cx="146304" cy="146304"/>
          </a:xfrm>
          <a:prstGeom prst="ellipse">
            <a:avLst/>
          </a:prstGeom>
          <a:solidFill>
            <a:srgbClr val="57E3D8"/>
          </a:solidFill>
          <a:ln w="12700">
            <a:solidFill>
              <a:srgbClr val="57E3D8"/>
            </a:solidFill>
            <a:prstDash val="solid"/>
          </a:ln>
        </p:spPr>
        <p:txBody>
          <a:bodyPr/>
          <a:lstStyle/>
          <a:p>
            <a:endParaRPr lang="en-US"/>
          </a:p>
        </p:txBody>
      </p:sp>
      <p:sp>
        <p:nvSpPr>
          <p:cNvPr id="11" name="Shape 8">
            <a:extLst>
              <a:ext uri="{FF2B5EF4-FFF2-40B4-BE49-F238E27FC236}">
                <a16:creationId xmlns:a16="http://schemas.microsoft.com/office/drawing/2014/main" id="{94ABDD9D-BB85-00C0-0BC1-572A11D21DD8}"/>
              </a:ext>
            </a:extLst>
          </p:cNvPr>
          <p:cNvSpPr/>
          <p:nvPr/>
        </p:nvSpPr>
        <p:spPr>
          <a:xfrm>
            <a:off x="886968" y="4434840"/>
            <a:ext cx="146304" cy="146304"/>
          </a:xfrm>
          <a:prstGeom prst="ellipse">
            <a:avLst/>
          </a:prstGeom>
          <a:solidFill>
            <a:srgbClr val="4F29B7"/>
          </a:solidFill>
          <a:ln w="12700">
            <a:solidFill>
              <a:srgbClr val="4F29B7"/>
            </a:solidFill>
            <a:prstDash val="solid"/>
          </a:ln>
        </p:spPr>
        <p:txBody>
          <a:bodyPr/>
          <a:lstStyle/>
          <a:p>
            <a:endParaRPr lang="en-US"/>
          </a:p>
        </p:txBody>
      </p:sp>
      <p:sp>
        <p:nvSpPr>
          <p:cNvPr id="12" name="Shape 9">
            <a:extLst>
              <a:ext uri="{FF2B5EF4-FFF2-40B4-BE49-F238E27FC236}">
                <a16:creationId xmlns:a16="http://schemas.microsoft.com/office/drawing/2014/main" id="{E71D9539-1785-A1FC-7F3D-BE2BA7C87E2F}"/>
              </a:ext>
            </a:extLst>
          </p:cNvPr>
          <p:cNvSpPr/>
          <p:nvPr/>
        </p:nvSpPr>
        <p:spPr>
          <a:xfrm>
            <a:off x="1271016" y="4434840"/>
            <a:ext cx="146304" cy="146304"/>
          </a:xfrm>
          <a:prstGeom prst="ellipse">
            <a:avLst/>
          </a:prstGeom>
          <a:solidFill>
            <a:srgbClr val="F4A664"/>
          </a:solidFill>
          <a:ln w="12700">
            <a:solidFill>
              <a:srgbClr val="F4A664"/>
            </a:solidFill>
            <a:prstDash val="solid"/>
          </a:ln>
        </p:spPr>
        <p:txBody>
          <a:bodyPr/>
          <a:lstStyle/>
          <a:p>
            <a:endParaRPr lang="en-US"/>
          </a:p>
        </p:txBody>
      </p:sp>
      <p:sp>
        <p:nvSpPr>
          <p:cNvPr id="13" name="Shape 10">
            <a:extLst>
              <a:ext uri="{FF2B5EF4-FFF2-40B4-BE49-F238E27FC236}">
                <a16:creationId xmlns:a16="http://schemas.microsoft.com/office/drawing/2014/main" id="{4AF4DCB8-7830-9C15-A07D-024C13F97389}"/>
              </a:ext>
            </a:extLst>
          </p:cNvPr>
          <p:cNvSpPr/>
          <p:nvPr/>
        </p:nvSpPr>
        <p:spPr>
          <a:xfrm>
            <a:off x="1655064" y="4434840"/>
            <a:ext cx="146304" cy="146304"/>
          </a:xfrm>
          <a:prstGeom prst="ellipse">
            <a:avLst/>
          </a:prstGeom>
          <a:solidFill>
            <a:srgbClr val="4D96FF"/>
          </a:solidFill>
          <a:ln w="12700">
            <a:solidFill>
              <a:srgbClr val="4D96FF"/>
            </a:solidFill>
            <a:prstDash val="solid"/>
          </a:ln>
        </p:spPr>
        <p:txBody>
          <a:bodyPr/>
          <a:lstStyle/>
          <a:p>
            <a:endParaRPr lang="en-US"/>
          </a:p>
        </p:txBody>
      </p:sp>
      <p:sp>
        <p:nvSpPr>
          <p:cNvPr id="14" name="Shape 11">
            <a:extLst>
              <a:ext uri="{FF2B5EF4-FFF2-40B4-BE49-F238E27FC236}">
                <a16:creationId xmlns:a16="http://schemas.microsoft.com/office/drawing/2014/main" id="{3F9B8F6F-AE57-950C-C1FD-67DB11F405DA}"/>
              </a:ext>
            </a:extLst>
          </p:cNvPr>
          <p:cNvSpPr/>
          <p:nvPr/>
        </p:nvSpPr>
        <p:spPr>
          <a:xfrm>
            <a:off x="2523744" y="109728"/>
            <a:ext cx="3108960" cy="932688"/>
          </a:xfrm>
          <a:prstGeom prst="roundRect">
            <a:avLst>
              <a:gd name="adj" fmla="val 8824"/>
            </a:avLst>
          </a:prstGeom>
          <a:solidFill>
            <a:srgbClr val="1E1E38"/>
          </a:solidFill>
          <a:ln w="6350">
            <a:solidFill>
              <a:srgbClr val="2A2A50"/>
            </a:solidFill>
            <a:prstDash val="solid"/>
          </a:ln>
        </p:spPr>
        <p:txBody>
          <a:bodyPr/>
          <a:lstStyle/>
          <a:p>
            <a:endParaRPr lang="en-US"/>
          </a:p>
        </p:txBody>
      </p:sp>
      <p:sp>
        <p:nvSpPr>
          <p:cNvPr id="15" name="Shape 12">
            <a:extLst>
              <a:ext uri="{FF2B5EF4-FFF2-40B4-BE49-F238E27FC236}">
                <a16:creationId xmlns:a16="http://schemas.microsoft.com/office/drawing/2014/main" id="{6DC33E20-6895-F69B-1CDA-147F9D38777A}"/>
              </a:ext>
            </a:extLst>
          </p:cNvPr>
          <p:cNvSpPr/>
          <p:nvPr/>
        </p:nvSpPr>
        <p:spPr>
          <a:xfrm>
            <a:off x="2523744" y="109728"/>
            <a:ext cx="64008" cy="932688"/>
          </a:xfrm>
          <a:prstGeom prst="rect">
            <a:avLst/>
          </a:prstGeom>
          <a:solidFill>
            <a:srgbClr val="57E3D8"/>
          </a:solidFill>
          <a:ln w="12700">
            <a:solidFill>
              <a:srgbClr val="57E3D8"/>
            </a:solidFill>
            <a:prstDash val="solid"/>
          </a:ln>
        </p:spPr>
        <p:txBody>
          <a:bodyPr/>
          <a:lstStyle/>
          <a:p>
            <a:endParaRPr lang="en-US"/>
          </a:p>
        </p:txBody>
      </p:sp>
      <p:sp>
        <p:nvSpPr>
          <p:cNvPr id="16" name="Shape 13">
            <a:extLst>
              <a:ext uri="{FF2B5EF4-FFF2-40B4-BE49-F238E27FC236}">
                <a16:creationId xmlns:a16="http://schemas.microsoft.com/office/drawing/2014/main" id="{F480D8CB-3B95-0FCB-B090-EF9F31B73B69}"/>
              </a:ext>
            </a:extLst>
          </p:cNvPr>
          <p:cNvSpPr/>
          <p:nvPr/>
        </p:nvSpPr>
        <p:spPr>
          <a:xfrm>
            <a:off x="2660904" y="201168"/>
            <a:ext cx="658368" cy="201168"/>
          </a:xfrm>
          <a:prstGeom prst="roundRect">
            <a:avLst>
              <a:gd name="adj" fmla="val 27273"/>
            </a:avLst>
          </a:prstGeom>
          <a:solidFill>
            <a:srgbClr val="57E3D8"/>
          </a:solidFill>
          <a:ln w="12700">
            <a:solidFill>
              <a:srgbClr val="57E3D8"/>
            </a:solidFill>
            <a:prstDash val="solid"/>
          </a:ln>
        </p:spPr>
        <p:txBody>
          <a:bodyPr/>
          <a:lstStyle/>
          <a:p>
            <a:endParaRPr lang="en-US"/>
          </a:p>
        </p:txBody>
      </p:sp>
      <p:sp>
        <p:nvSpPr>
          <p:cNvPr id="17" name="Text 14">
            <a:extLst>
              <a:ext uri="{FF2B5EF4-FFF2-40B4-BE49-F238E27FC236}">
                <a16:creationId xmlns:a16="http://schemas.microsoft.com/office/drawing/2014/main" id="{177B282C-074F-98BC-5AA6-013AFD739FC8}"/>
              </a:ext>
            </a:extLst>
          </p:cNvPr>
          <p:cNvSpPr/>
          <p:nvPr/>
        </p:nvSpPr>
        <p:spPr>
          <a:xfrm>
            <a:off x="2660904" y="201168"/>
            <a:ext cx="658368" cy="201168"/>
          </a:xfrm>
          <a:prstGeom prst="rect">
            <a:avLst/>
          </a:prstGeom>
          <a:noFill/>
          <a:ln/>
        </p:spPr>
        <p:txBody>
          <a:bodyPr wrap="square" lIns="0" tIns="0" rIns="0" bIns="0" rtlCol="0" anchor="ctr"/>
          <a:lstStyle/>
          <a:p>
            <a:pPr marL="0" indent="0" algn="ctr">
              <a:buNone/>
            </a:pPr>
            <a:r>
              <a:rPr lang="en-US" sz="700" b="1" dirty="0">
                <a:solidFill>
                  <a:srgbClr val="262626"/>
                </a:solidFill>
                <a:latin typeface="Calibri" pitchFamily="34" charset="0"/>
                <a:ea typeface="Calibri" pitchFamily="34" charset="-122"/>
                <a:cs typeface="Calibri" pitchFamily="34" charset="-120"/>
              </a:rPr>
              <a:t>Week 1</a:t>
            </a:r>
            <a:endParaRPr lang="en-US" sz="700" dirty="0"/>
          </a:p>
        </p:txBody>
      </p:sp>
      <p:sp>
        <p:nvSpPr>
          <p:cNvPr id="18" name="Text 15">
            <a:extLst>
              <a:ext uri="{FF2B5EF4-FFF2-40B4-BE49-F238E27FC236}">
                <a16:creationId xmlns:a16="http://schemas.microsoft.com/office/drawing/2014/main" id="{93C001CC-D532-4FEC-B671-C24AE9B0683B}"/>
              </a:ext>
            </a:extLst>
          </p:cNvPr>
          <p:cNvSpPr/>
          <p:nvPr/>
        </p:nvSpPr>
        <p:spPr>
          <a:xfrm>
            <a:off x="5065776" y="164592"/>
            <a:ext cx="502920" cy="329184"/>
          </a:xfrm>
          <a:prstGeom prst="rect">
            <a:avLst/>
          </a:prstGeom>
          <a:noFill/>
          <a:ln/>
        </p:spPr>
        <p:txBody>
          <a:bodyPr wrap="square" lIns="0" tIns="0" rIns="0" bIns="0" rtlCol="0" anchor="ctr"/>
          <a:lstStyle/>
          <a:p>
            <a:pPr marL="0" indent="0" algn="r">
              <a:buNone/>
            </a:pPr>
            <a:r>
              <a:rPr lang="en-US" sz="2200" b="1" dirty="0">
                <a:solidFill>
                  <a:srgbClr val="333355"/>
                </a:solidFill>
                <a:latin typeface="Calibri" pitchFamily="34" charset="0"/>
                <a:ea typeface="Calibri" pitchFamily="34" charset="-122"/>
                <a:cs typeface="Calibri" pitchFamily="34" charset="-120"/>
              </a:rPr>
              <a:t>01</a:t>
            </a:r>
            <a:endParaRPr lang="en-US" sz="2200" dirty="0"/>
          </a:p>
        </p:txBody>
      </p:sp>
      <p:sp>
        <p:nvSpPr>
          <p:cNvPr id="19" name="Text 16">
            <a:extLst>
              <a:ext uri="{FF2B5EF4-FFF2-40B4-BE49-F238E27FC236}">
                <a16:creationId xmlns:a16="http://schemas.microsoft.com/office/drawing/2014/main" id="{003D201F-6FF2-6F51-BD9D-320F09ED4B01}"/>
              </a:ext>
            </a:extLst>
          </p:cNvPr>
          <p:cNvSpPr/>
          <p:nvPr/>
        </p:nvSpPr>
        <p:spPr>
          <a:xfrm>
            <a:off x="2660904" y="429768"/>
            <a:ext cx="2880360" cy="310896"/>
          </a:xfrm>
          <a:prstGeom prst="rect">
            <a:avLst/>
          </a:prstGeom>
          <a:noFill/>
          <a:ln/>
        </p:spPr>
        <p:txBody>
          <a:bodyPr wrap="square" lIns="0" tIns="0" rIns="0" bIns="0" rtlCol="0" anchor="ctr"/>
          <a:lstStyle/>
          <a:p>
            <a:pPr marL="0" indent="0">
              <a:buNone/>
            </a:pPr>
            <a:r>
              <a:rPr lang="en-US" sz="1300" b="1" dirty="0">
                <a:solidFill>
                  <a:srgbClr val="EDEDED"/>
                </a:solidFill>
                <a:latin typeface="Calibri" pitchFamily="34" charset="0"/>
                <a:ea typeface="Calibri" pitchFamily="34" charset="-122"/>
                <a:cs typeface="Calibri" pitchFamily="34" charset="-120"/>
              </a:rPr>
              <a:t>Developer Tools &amp; Environment</a:t>
            </a:r>
            <a:endParaRPr lang="en-US" sz="1300" dirty="0"/>
          </a:p>
        </p:txBody>
      </p:sp>
      <p:sp>
        <p:nvSpPr>
          <p:cNvPr id="20" name="Shape 17">
            <a:extLst>
              <a:ext uri="{FF2B5EF4-FFF2-40B4-BE49-F238E27FC236}">
                <a16:creationId xmlns:a16="http://schemas.microsoft.com/office/drawing/2014/main" id="{9A355371-EEFE-C827-0AC6-CBDFC0D6AB5A}"/>
              </a:ext>
            </a:extLst>
          </p:cNvPr>
          <p:cNvSpPr/>
          <p:nvPr/>
        </p:nvSpPr>
        <p:spPr>
          <a:xfrm>
            <a:off x="4041648" y="1024128"/>
            <a:ext cx="73152" cy="73152"/>
          </a:xfrm>
          <a:prstGeom prst="ellipse">
            <a:avLst/>
          </a:prstGeom>
          <a:solidFill>
            <a:srgbClr val="57E3D8"/>
          </a:solidFill>
          <a:ln w="12700">
            <a:solidFill>
              <a:srgbClr val="57E3D8"/>
            </a:solidFill>
            <a:prstDash val="solid"/>
          </a:ln>
        </p:spPr>
        <p:txBody>
          <a:bodyPr/>
          <a:lstStyle/>
          <a:p>
            <a:endParaRPr lang="en-US"/>
          </a:p>
        </p:txBody>
      </p:sp>
      <p:sp>
        <p:nvSpPr>
          <p:cNvPr id="21" name="Shape 18">
            <a:extLst>
              <a:ext uri="{FF2B5EF4-FFF2-40B4-BE49-F238E27FC236}">
                <a16:creationId xmlns:a16="http://schemas.microsoft.com/office/drawing/2014/main" id="{EFFA7770-3BE2-0C4C-4432-EEE8183511C0}"/>
              </a:ext>
            </a:extLst>
          </p:cNvPr>
          <p:cNvSpPr/>
          <p:nvPr/>
        </p:nvSpPr>
        <p:spPr>
          <a:xfrm>
            <a:off x="2523744" y="1152144"/>
            <a:ext cx="3108960" cy="932688"/>
          </a:xfrm>
          <a:prstGeom prst="roundRect">
            <a:avLst>
              <a:gd name="adj" fmla="val 8824"/>
            </a:avLst>
          </a:prstGeom>
          <a:solidFill>
            <a:srgbClr val="1E1E38"/>
          </a:solidFill>
          <a:ln w="6350">
            <a:solidFill>
              <a:srgbClr val="2A2A50"/>
            </a:solidFill>
            <a:prstDash val="solid"/>
          </a:ln>
        </p:spPr>
        <p:txBody>
          <a:bodyPr/>
          <a:lstStyle/>
          <a:p>
            <a:endParaRPr lang="en-US"/>
          </a:p>
        </p:txBody>
      </p:sp>
      <p:sp>
        <p:nvSpPr>
          <p:cNvPr id="22" name="Shape 19">
            <a:extLst>
              <a:ext uri="{FF2B5EF4-FFF2-40B4-BE49-F238E27FC236}">
                <a16:creationId xmlns:a16="http://schemas.microsoft.com/office/drawing/2014/main" id="{4C23CB6B-1103-10C1-5186-F2FFB14F9A20}"/>
              </a:ext>
            </a:extLst>
          </p:cNvPr>
          <p:cNvSpPr/>
          <p:nvPr/>
        </p:nvSpPr>
        <p:spPr>
          <a:xfrm>
            <a:off x="2523744" y="1152144"/>
            <a:ext cx="64008" cy="932688"/>
          </a:xfrm>
          <a:prstGeom prst="rect">
            <a:avLst/>
          </a:prstGeom>
          <a:solidFill>
            <a:srgbClr val="A380FF"/>
          </a:solidFill>
          <a:ln w="12700">
            <a:solidFill>
              <a:srgbClr val="A380FF"/>
            </a:solidFill>
            <a:prstDash val="solid"/>
          </a:ln>
        </p:spPr>
        <p:txBody>
          <a:bodyPr/>
          <a:lstStyle/>
          <a:p>
            <a:endParaRPr lang="en-US"/>
          </a:p>
        </p:txBody>
      </p:sp>
      <p:sp>
        <p:nvSpPr>
          <p:cNvPr id="23" name="Shape 20">
            <a:extLst>
              <a:ext uri="{FF2B5EF4-FFF2-40B4-BE49-F238E27FC236}">
                <a16:creationId xmlns:a16="http://schemas.microsoft.com/office/drawing/2014/main" id="{F0DF6A72-FECB-48D0-1588-6860623AAD37}"/>
              </a:ext>
            </a:extLst>
          </p:cNvPr>
          <p:cNvSpPr/>
          <p:nvPr/>
        </p:nvSpPr>
        <p:spPr>
          <a:xfrm>
            <a:off x="2660904" y="1243584"/>
            <a:ext cx="658368" cy="201168"/>
          </a:xfrm>
          <a:prstGeom prst="roundRect">
            <a:avLst>
              <a:gd name="adj" fmla="val 27273"/>
            </a:avLst>
          </a:prstGeom>
          <a:solidFill>
            <a:srgbClr val="A380FF"/>
          </a:solidFill>
          <a:ln w="12700">
            <a:solidFill>
              <a:srgbClr val="A380FF"/>
            </a:solidFill>
            <a:prstDash val="solid"/>
          </a:ln>
        </p:spPr>
        <p:txBody>
          <a:bodyPr/>
          <a:lstStyle/>
          <a:p>
            <a:endParaRPr lang="en-US"/>
          </a:p>
        </p:txBody>
      </p:sp>
      <p:sp>
        <p:nvSpPr>
          <p:cNvPr id="24" name="Text 21">
            <a:extLst>
              <a:ext uri="{FF2B5EF4-FFF2-40B4-BE49-F238E27FC236}">
                <a16:creationId xmlns:a16="http://schemas.microsoft.com/office/drawing/2014/main" id="{88A28B3E-917E-85DD-4106-C5ACCA32E8D9}"/>
              </a:ext>
            </a:extLst>
          </p:cNvPr>
          <p:cNvSpPr/>
          <p:nvPr/>
        </p:nvSpPr>
        <p:spPr>
          <a:xfrm>
            <a:off x="2660904" y="1243584"/>
            <a:ext cx="658368" cy="201168"/>
          </a:xfrm>
          <a:prstGeom prst="rect">
            <a:avLst/>
          </a:prstGeom>
          <a:noFill/>
          <a:ln/>
        </p:spPr>
        <p:txBody>
          <a:bodyPr wrap="square" lIns="0" tIns="0" rIns="0" bIns="0" rtlCol="0" anchor="ctr"/>
          <a:lstStyle/>
          <a:p>
            <a:pPr marL="0" indent="0" algn="ctr">
              <a:buNone/>
            </a:pPr>
            <a:r>
              <a:rPr lang="en-US" sz="700" b="1" dirty="0">
                <a:solidFill>
                  <a:srgbClr val="262626"/>
                </a:solidFill>
                <a:latin typeface="Calibri" pitchFamily="34" charset="0"/>
                <a:ea typeface="Calibri" pitchFamily="34" charset="-122"/>
                <a:cs typeface="Calibri" pitchFamily="34" charset="-120"/>
              </a:rPr>
              <a:t>Week 2</a:t>
            </a:r>
            <a:endParaRPr lang="en-US" sz="700" dirty="0"/>
          </a:p>
        </p:txBody>
      </p:sp>
      <p:sp>
        <p:nvSpPr>
          <p:cNvPr id="25" name="Text 22">
            <a:extLst>
              <a:ext uri="{FF2B5EF4-FFF2-40B4-BE49-F238E27FC236}">
                <a16:creationId xmlns:a16="http://schemas.microsoft.com/office/drawing/2014/main" id="{CF07658E-0900-811C-1B89-607D556B122B}"/>
              </a:ext>
            </a:extLst>
          </p:cNvPr>
          <p:cNvSpPr/>
          <p:nvPr/>
        </p:nvSpPr>
        <p:spPr>
          <a:xfrm>
            <a:off x="5065776" y="1207008"/>
            <a:ext cx="502920" cy="329184"/>
          </a:xfrm>
          <a:prstGeom prst="rect">
            <a:avLst/>
          </a:prstGeom>
          <a:noFill/>
          <a:ln/>
        </p:spPr>
        <p:txBody>
          <a:bodyPr wrap="square" lIns="0" tIns="0" rIns="0" bIns="0" rtlCol="0" anchor="ctr"/>
          <a:lstStyle/>
          <a:p>
            <a:pPr marL="0" indent="0" algn="r">
              <a:buNone/>
            </a:pPr>
            <a:r>
              <a:rPr lang="en-US" sz="2200" b="1" dirty="0">
                <a:solidFill>
                  <a:srgbClr val="333355"/>
                </a:solidFill>
                <a:latin typeface="Calibri" pitchFamily="34" charset="0"/>
                <a:ea typeface="Calibri" pitchFamily="34" charset="-122"/>
                <a:cs typeface="Calibri" pitchFamily="34" charset="-120"/>
              </a:rPr>
              <a:t>02</a:t>
            </a:r>
            <a:endParaRPr lang="en-US" sz="2200" dirty="0"/>
          </a:p>
        </p:txBody>
      </p:sp>
      <p:sp>
        <p:nvSpPr>
          <p:cNvPr id="26" name="Text 23">
            <a:extLst>
              <a:ext uri="{FF2B5EF4-FFF2-40B4-BE49-F238E27FC236}">
                <a16:creationId xmlns:a16="http://schemas.microsoft.com/office/drawing/2014/main" id="{D295AF72-F713-9E07-4820-778438D5E891}"/>
              </a:ext>
            </a:extLst>
          </p:cNvPr>
          <p:cNvSpPr/>
          <p:nvPr/>
        </p:nvSpPr>
        <p:spPr>
          <a:xfrm>
            <a:off x="2660904" y="1472184"/>
            <a:ext cx="2880360" cy="310896"/>
          </a:xfrm>
          <a:prstGeom prst="rect">
            <a:avLst/>
          </a:prstGeom>
          <a:noFill/>
          <a:ln/>
        </p:spPr>
        <p:txBody>
          <a:bodyPr wrap="square" lIns="0" tIns="0" rIns="0" bIns="0" rtlCol="0" anchor="ctr"/>
          <a:lstStyle/>
          <a:p>
            <a:pPr marL="0" indent="0">
              <a:buNone/>
            </a:pPr>
            <a:r>
              <a:rPr lang="en-US" sz="1300" b="1" dirty="0">
                <a:solidFill>
                  <a:srgbClr val="EDEDED"/>
                </a:solidFill>
                <a:latin typeface="Calibri" pitchFamily="34" charset="0"/>
                <a:ea typeface="Calibri" pitchFamily="34" charset="-122"/>
                <a:cs typeface="Calibri" pitchFamily="34" charset="-120"/>
              </a:rPr>
              <a:t>Computational Thinking</a:t>
            </a:r>
            <a:endParaRPr lang="en-US" sz="1300" dirty="0"/>
          </a:p>
        </p:txBody>
      </p:sp>
      <p:sp>
        <p:nvSpPr>
          <p:cNvPr id="27" name="Shape 24">
            <a:extLst>
              <a:ext uri="{FF2B5EF4-FFF2-40B4-BE49-F238E27FC236}">
                <a16:creationId xmlns:a16="http://schemas.microsoft.com/office/drawing/2014/main" id="{DD90C763-9799-7959-F353-F1DB121C909A}"/>
              </a:ext>
            </a:extLst>
          </p:cNvPr>
          <p:cNvSpPr/>
          <p:nvPr/>
        </p:nvSpPr>
        <p:spPr>
          <a:xfrm>
            <a:off x="4041648" y="2066544"/>
            <a:ext cx="73152" cy="73152"/>
          </a:xfrm>
          <a:prstGeom prst="ellipse">
            <a:avLst/>
          </a:prstGeom>
          <a:solidFill>
            <a:srgbClr val="A380FF"/>
          </a:solidFill>
          <a:ln w="12700">
            <a:solidFill>
              <a:srgbClr val="A380FF"/>
            </a:solidFill>
            <a:prstDash val="solid"/>
          </a:ln>
        </p:spPr>
        <p:txBody>
          <a:bodyPr/>
          <a:lstStyle/>
          <a:p>
            <a:endParaRPr lang="en-US"/>
          </a:p>
        </p:txBody>
      </p:sp>
      <p:sp>
        <p:nvSpPr>
          <p:cNvPr id="28" name="Shape 25">
            <a:extLst>
              <a:ext uri="{FF2B5EF4-FFF2-40B4-BE49-F238E27FC236}">
                <a16:creationId xmlns:a16="http://schemas.microsoft.com/office/drawing/2014/main" id="{6030B6C7-1FD8-9760-6BDE-B5AFECB50681}"/>
              </a:ext>
            </a:extLst>
          </p:cNvPr>
          <p:cNvSpPr/>
          <p:nvPr/>
        </p:nvSpPr>
        <p:spPr>
          <a:xfrm>
            <a:off x="2523744" y="2194560"/>
            <a:ext cx="3108960" cy="932688"/>
          </a:xfrm>
          <a:prstGeom prst="roundRect">
            <a:avLst>
              <a:gd name="adj" fmla="val 8824"/>
            </a:avLst>
          </a:prstGeom>
          <a:solidFill>
            <a:srgbClr val="1E1E38"/>
          </a:solidFill>
          <a:ln w="6350">
            <a:solidFill>
              <a:srgbClr val="2A2A50"/>
            </a:solidFill>
            <a:prstDash val="solid"/>
          </a:ln>
        </p:spPr>
        <p:txBody>
          <a:bodyPr/>
          <a:lstStyle/>
          <a:p>
            <a:endParaRPr lang="en-US"/>
          </a:p>
        </p:txBody>
      </p:sp>
      <p:sp>
        <p:nvSpPr>
          <p:cNvPr id="29" name="Shape 26">
            <a:extLst>
              <a:ext uri="{FF2B5EF4-FFF2-40B4-BE49-F238E27FC236}">
                <a16:creationId xmlns:a16="http://schemas.microsoft.com/office/drawing/2014/main" id="{7A2E7721-82FA-A5EC-66F0-3EAE7AFBD2D4}"/>
              </a:ext>
            </a:extLst>
          </p:cNvPr>
          <p:cNvSpPr/>
          <p:nvPr/>
        </p:nvSpPr>
        <p:spPr>
          <a:xfrm>
            <a:off x="2523744" y="2194560"/>
            <a:ext cx="64008" cy="932688"/>
          </a:xfrm>
          <a:prstGeom prst="rect">
            <a:avLst/>
          </a:prstGeom>
          <a:solidFill>
            <a:srgbClr val="F4A664"/>
          </a:solidFill>
          <a:ln w="12700">
            <a:solidFill>
              <a:srgbClr val="F4A664"/>
            </a:solidFill>
            <a:prstDash val="solid"/>
          </a:ln>
        </p:spPr>
        <p:txBody>
          <a:bodyPr/>
          <a:lstStyle/>
          <a:p>
            <a:endParaRPr lang="en-US"/>
          </a:p>
        </p:txBody>
      </p:sp>
      <p:sp>
        <p:nvSpPr>
          <p:cNvPr id="30" name="Shape 27">
            <a:extLst>
              <a:ext uri="{FF2B5EF4-FFF2-40B4-BE49-F238E27FC236}">
                <a16:creationId xmlns:a16="http://schemas.microsoft.com/office/drawing/2014/main" id="{37CF01AC-96BE-20CB-4A7F-3035603F4DE7}"/>
              </a:ext>
            </a:extLst>
          </p:cNvPr>
          <p:cNvSpPr/>
          <p:nvPr/>
        </p:nvSpPr>
        <p:spPr>
          <a:xfrm>
            <a:off x="2660904" y="2286000"/>
            <a:ext cx="658368" cy="201168"/>
          </a:xfrm>
          <a:prstGeom prst="roundRect">
            <a:avLst>
              <a:gd name="adj" fmla="val 27273"/>
            </a:avLst>
          </a:prstGeom>
          <a:solidFill>
            <a:srgbClr val="F4A664"/>
          </a:solidFill>
          <a:ln w="12700">
            <a:solidFill>
              <a:srgbClr val="F4A664"/>
            </a:solidFill>
            <a:prstDash val="solid"/>
          </a:ln>
        </p:spPr>
        <p:txBody>
          <a:bodyPr/>
          <a:lstStyle/>
          <a:p>
            <a:endParaRPr lang="en-US"/>
          </a:p>
        </p:txBody>
      </p:sp>
      <p:sp>
        <p:nvSpPr>
          <p:cNvPr id="31" name="Text 28">
            <a:extLst>
              <a:ext uri="{FF2B5EF4-FFF2-40B4-BE49-F238E27FC236}">
                <a16:creationId xmlns:a16="http://schemas.microsoft.com/office/drawing/2014/main" id="{2014B75F-C2D5-7568-EC53-E7564335A855}"/>
              </a:ext>
            </a:extLst>
          </p:cNvPr>
          <p:cNvSpPr/>
          <p:nvPr/>
        </p:nvSpPr>
        <p:spPr>
          <a:xfrm>
            <a:off x="2660904" y="2286000"/>
            <a:ext cx="658368" cy="201168"/>
          </a:xfrm>
          <a:prstGeom prst="rect">
            <a:avLst/>
          </a:prstGeom>
          <a:noFill/>
          <a:ln/>
        </p:spPr>
        <p:txBody>
          <a:bodyPr wrap="square" lIns="0" tIns="0" rIns="0" bIns="0" rtlCol="0" anchor="ctr"/>
          <a:lstStyle/>
          <a:p>
            <a:pPr marL="0" indent="0" algn="ctr">
              <a:buNone/>
            </a:pPr>
            <a:r>
              <a:rPr lang="en-US" sz="700" b="1" dirty="0">
                <a:solidFill>
                  <a:srgbClr val="262626"/>
                </a:solidFill>
                <a:latin typeface="Calibri" pitchFamily="34" charset="0"/>
                <a:ea typeface="Calibri" pitchFamily="34" charset="-122"/>
                <a:cs typeface="Calibri" pitchFamily="34" charset="-120"/>
              </a:rPr>
              <a:t>Week 3</a:t>
            </a:r>
            <a:endParaRPr lang="en-US" sz="700" dirty="0"/>
          </a:p>
        </p:txBody>
      </p:sp>
      <p:sp>
        <p:nvSpPr>
          <p:cNvPr id="32" name="Text 29">
            <a:extLst>
              <a:ext uri="{FF2B5EF4-FFF2-40B4-BE49-F238E27FC236}">
                <a16:creationId xmlns:a16="http://schemas.microsoft.com/office/drawing/2014/main" id="{12EE8D3B-0C25-99A5-B03D-E2670FC554DD}"/>
              </a:ext>
            </a:extLst>
          </p:cNvPr>
          <p:cNvSpPr/>
          <p:nvPr/>
        </p:nvSpPr>
        <p:spPr>
          <a:xfrm>
            <a:off x="5065776" y="2249424"/>
            <a:ext cx="502920" cy="329184"/>
          </a:xfrm>
          <a:prstGeom prst="rect">
            <a:avLst/>
          </a:prstGeom>
          <a:noFill/>
          <a:ln/>
        </p:spPr>
        <p:txBody>
          <a:bodyPr wrap="square" lIns="0" tIns="0" rIns="0" bIns="0" rtlCol="0" anchor="ctr"/>
          <a:lstStyle/>
          <a:p>
            <a:pPr marL="0" indent="0" algn="r">
              <a:buNone/>
            </a:pPr>
            <a:r>
              <a:rPr lang="en-US" sz="2200" b="1" dirty="0">
                <a:solidFill>
                  <a:srgbClr val="333355"/>
                </a:solidFill>
                <a:latin typeface="Calibri" pitchFamily="34" charset="0"/>
                <a:ea typeface="Calibri" pitchFamily="34" charset="-122"/>
                <a:cs typeface="Calibri" pitchFamily="34" charset="-120"/>
              </a:rPr>
              <a:t>03</a:t>
            </a:r>
            <a:endParaRPr lang="en-US" sz="2200" dirty="0"/>
          </a:p>
        </p:txBody>
      </p:sp>
      <p:sp>
        <p:nvSpPr>
          <p:cNvPr id="33" name="Text 30">
            <a:extLst>
              <a:ext uri="{FF2B5EF4-FFF2-40B4-BE49-F238E27FC236}">
                <a16:creationId xmlns:a16="http://schemas.microsoft.com/office/drawing/2014/main" id="{C2308FE2-0D3F-0EC5-C87D-998259233708}"/>
              </a:ext>
            </a:extLst>
          </p:cNvPr>
          <p:cNvSpPr/>
          <p:nvPr/>
        </p:nvSpPr>
        <p:spPr>
          <a:xfrm>
            <a:off x="2660904" y="2514600"/>
            <a:ext cx="2880360" cy="310896"/>
          </a:xfrm>
          <a:prstGeom prst="rect">
            <a:avLst/>
          </a:prstGeom>
          <a:noFill/>
          <a:ln/>
        </p:spPr>
        <p:txBody>
          <a:bodyPr wrap="square" lIns="0" tIns="0" rIns="0" bIns="0" rtlCol="0" anchor="ctr"/>
          <a:lstStyle/>
          <a:p>
            <a:pPr marL="0" indent="0">
              <a:buNone/>
            </a:pPr>
            <a:r>
              <a:rPr lang="en-US" sz="1300" b="1" dirty="0">
                <a:solidFill>
                  <a:srgbClr val="EDEDED"/>
                </a:solidFill>
                <a:latin typeface="Calibri" pitchFamily="34" charset="0"/>
                <a:ea typeface="Calibri" pitchFamily="34" charset="-122"/>
                <a:cs typeface="Calibri" pitchFamily="34" charset="-120"/>
              </a:rPr>
              <a:t>Algorithms</a:t>
            </a:r>
            <a:endParaRPr lang="en-US" sz="1300" dirty="0"/>
          </a:p>
        </p:txBody>
      </p:sp>
      <p:sp>
        <p:nvSpPr>
          <p:cNvPr id="34" name="Shape 31">
            <a:extLst>
              <a:ext uri="{FF2B5EF4-FFF2-40B4-BE49-F238E27FC236}">
                <a16:creationId xmlns:a16="http://schemas.microsoft.com/office/drawing/2014/main" id="{F4FEBAB2-9110-289B-0AFD-5B6DD5725C5A}"/>
              </a:ext>
            </a:extLst>
          </p:cNvPr>
          <p:cNvSpPr/>
          <p:nvPr/>
        </p:nvSpPr>
        <p:spPr>
          <a:xfrm>
            <a:off x="4041648" y="3108960"/>
            <a:ext cx="73152" cy="73152"/>
          </a:xfrm>
          <a:prstGeom prst="ellipse">
            <a:avLst/>
          </a:prstGeom>
          <a:solidFill>
            <a:srgbClr val="F4A664"/>
          </a:solidFill>
          <a:ln w="12700">
            <a:solidFill>
              <a:srgbClr val="F4A664"/>
            </a:solidFill>
            <a:prstDash val="solid"/>
          </a:ln>
        </p:spPr>
        <p:txBody>
          <a:bodyPr/>
          <a:lstStyle/>
          <a:p>
            <a:endParaRPr lang="en-US"/>
          </a:p>
        </p:txBody>
      </p:sp>
      <p:sp>
        <p:nvSpPr>
          <p:cNvPr id="35" name="Shape 32">
            <a:extLst>
              <a:ext uri="{FF2B5EF4-FFF2-40B4-BE49-F238E27FC236}">
                <a16:creationId xmlns:a16="http://schemas.microsoft.com/office/drawing/2014/main" id="{2E87D811-6457-D683-2AB6-F727181ABA8E}"/>
              </a:ext>
            </a:extLst>
          </p:cNvPr>
          <p:cNvSpPr/>
          <p:nvPr/>
        </p:nvSpPr>
        <p:spPr>
          <a:xfrm>
            <a:off x="2523744" y="3236976"/>
            <a:ext cx="3108960" cy="932688"/>
          </a:xfrm>
          <a:prstGeom prst="roundRect">
            <a:avLst>
              <a:gd name="adj" fmla="val 8824"/>
            </a:avLst>
          </a:prstGeom>
          <a:solidFill>
            <a:srgbClr val="1E1E38"/>
          </a:solidFill>
          <a:ln w="6350">
            <a:solidFill>
              <a:srgbClr val="2A2A50"/>
            </a:solidFill>
            <a:prstDash val="solid"/>
          </a:ln>
        </p:spPr>
        <p:txBody>
          <a:bodyPr/>
          <a:lstStyle/>
          <a:p>
            <a:endParaRPr lang="en-US"/>
          </a:p>
        </p:txBody>
      </p:sp>
      <p:sp>
        <p:nvSpPr>
          <p:cNvPr id="36" name="Shape 33">
            <a:extLst>
              <a:ext uri="{FF2B5EF4-FFF2-40B4-BE49-F238E27FC236}">
                <a16:creationId xmlns:a16="http://schemas.microsoft.com/office/drawing/2014/main" id="{2F4898B1-14D5-0485-26C4-06B62CA7DD29}"/>
              </a:ext>
            </a:extLst>
          </p:cNvPr>
          <p:cNvSpPr/>
          <p:nvPr/>
        </p:nvSpPr>
        <p:spPr>
          <a:xfrm>
            <a:off x="2523744" y="3236976"/>
            <a:ext cx="64008" cy="932688"/>
          </a:xfrm>
          <a:prstGeom prst="rect">
            <a:avLst/>
          </a:prstGeom>
          <a:solidFill>
            <a:srgbClr val="FFDB5E"/>
          </a:solidFill>
          <a:ln w="12700">
            <a:solidFill>
              <a:srgbClr val="FFDB5E"/>
            </a:solidFill>
            <a:prstDash val="solid"/>
          </a:ln>
        </p:spPr>
        <p:txBody>
          <a:bodyPr/>
          <a:lstStyle/>
          <a:p>
            <a:endParaRPr lang="en-US"/>
          </a:p>
        </p:txBody>
      </p:sp>
      <p:sp>
        <p:nvSpPr>
          <p:cNvPr id="37" name="Shape 34">
            <a:extLst>
              <a:ext uri="{FF2B5EF4-FFF2-40B4-BE49-F238E27FC236}">
                <a16:creationId xmlns:a16="http://schemas.microsoft.com/office/drawing/2014/main" id="{381E075D-6023-6943-52CA-B3100EE0716C}"/>
              </a:ext>
            </a:extLst>
          </p:cNvPr>
          <p:cNvSpPr/>
          <p:nvPr/>
        </p:nvSpPr>
        <p:spPr>
          <a:xfrm>
            <a:off x="2660904" y="3328416"/>
            <a:ext cx="658368" cy="201168"/>
          </a:xfrm>
          <a:prstGeom prst="roundRect">
            <a:avLst>
              <a:gd name="adj" fmla="val 27273"/>
            </a:avLst>
          </a:prstGeom>
          <a:solidFill>
            <a:srgbClr val="FFDB5E"/>
          </a:solidFill>
          <a:ln w="12700">
            <a:solidFill>
              <a:srgbClr val="FFDB5E"/>
            </a:solidFill>
            <a:prstDash val="solid"/>
          </a:ln>
        </p:spPr>
        <p:txBody>
          <a:bodyPr/>
          <a:lstStyle/>
          <a:p>
            <a:endParaRPr lang="en-US"/>
          </a:p>
        </p:txBody>
      </p:sp>
      <p:sp>
        <p:nvSpPr>
          <p:cNvPr id="38" name="Text 35">
            <a:extLst>
              <a:ext uri="{FF2B5EF4-FFF2-40B4-BE49-F238E27FC236}">
                <a16:creationId xmlns:a16="http://schemas.microsoft.com/office/drawing/2014/main" id="{42E17CE4-F0D7-9C38-0185-133A81EABE1B}"/>
              </a:ext>
            </a:extLst>
          </p:cNvPr>
          <p:cNvSpPr/>
          <p:nvPr/>
        </p:nvSpPr>
        <p:spPr>
          <a:xfrm>
            <a:off x="2660904" y="3328416"/>
            <a:ext cx="658368" cy="201168"/>
          </a:xfrm>
          <a:prstGeom prst="rect">
            <a:avLst/>
          </a:prstGeom>
          <a:noFill/>
          <a:ln/>
        </p:spPr>
        <p:txBody>
          <a:bodyPr wrap="square" lIns="0" tIns="0" rIns="0" bIns="0" rtlCol="0" anchor="ctr"/>
          <a:lstStyle/>
          <a:p>
            <a:pPr marL="0" indent="0" algn="ctr">
              <a:buNone/>
            </a:pPr>
            <a:r>
              <a:rPr lang="en-US" sz="700" b="1" dirty="0">
                <a:solidFill>
                  <a:srgbClr val="262626"/>
                </a:solidFill>
                <a:latin typeface="Calibri" pitchFamily="34" charset="0"/>
                <a:ea typeface="Calibri" pitchFamily="34" charset="-122"/>
                <a:cs typeface="Calibri" pitchFamily="34" charset="-120"/>
              </a:rPr>
              <a:t>Week 4</a:t>
            </a:r>
            <a:endParaRPr lang="en-US" sz="700" dirty="0"/>
          </a:p>
        </p:txBody>
      </p:sp>
      <p:sp>
        <p:nvSpPr>
          <p:cNvPr id="39" name="Text 36">
            <a:extLst>
              <a:ext uri="{FF2B5EF4-FFF2-40B4-BE49-F238E27FC236}">
                <a16:creationId xmlns:a16="http://schemas.microsoft.com/office/drawing/2014/main" id="{80B0318B-BD2A-2734-0952-9A340C7527E1}"/>
              </a:ext>
            </a:extLst>
          </p:cNvPr>
          <p:cNvSpPr/>
          <p:nvPr/>
        </p:nvSpPr>
        <p:spPr>
          <a:xfrm>
            <a:off x="5065776" y="3291840"/>
            <a:ext cx="502920" cy="329184"/>
          </a:xfrm>
          <a:prstGeom prst="rect">
            <a:avLst/>
          </a:prstGeom>
          <a:noFill/>
          <a:ln/>
        </p:spPr>
        <p:txBody>
          <a:bodyPr wrap="square" lIns="0" tIns="0" rIns="0" bIns="0" rtlCol="0" anchor="ctr"/>
          <a:lstStyle/>
          <a:p>
            <a:pPr marL="0" indent="0" algn="r">
              <a:buNone/>
            </a:pPr>
            <a:r>
              <a:rPr lang="en-US" sz="2200" b="1" dirty="0">
                <a:solidFill>
                  <a:srgbClr val="333355"/>
                </a:solidFill>
                <a:latin typeface="Calibri" pitchFamily="34" charset="0"/>
                <a:ea typeface="Calibri" pitchFamily="34" charset="-122"/>
                <a:cs typeface="Calibri" pitchFamily="34" charset="-120"/>
              </a:rPr>
              <a:t>04</a:t>
            </a:r>
            <a:endParaRPr lang="en-US" sz="2200" dirty="0"/>
          </a:p>
        </p:txBody>
      </p:sp>
      <p:sp>
        <p:nvSpPr>
          <p:cNvPr id="40" name="Text 37">
            <a:extLst>
              <a:ext uri="{FF2B5EF4-FFF2-40B4-BE49-F238E27FC236}">
                <a16:creationId xmlns:a16="http://schemas.microsoft.com/office/drawing/2014/main" id="{5394BFE2-4D68-CB64-7A01-5CE139AD5608}"/>
              </a:ext>
            </a:extLst>
          </p:cNvPr>
          <p:cNvSpPr/>
          <p:nvPr/>
        </p:nvSpPr>
        <p:spPr>
          <a:xfrm>
            <a:off x="2660904" y="3557016"/>
            <a:ext cx="2880360" cy="310896"/>
          </a:xfrm>
          <a:prstGeom prst="rect">
            <a:avLst/>
          </a:prstGeom>
          <a:noFill/>
          <a:ln/>
        </p:spPr>
        <p:txBody>
          <a:bodyPr wrap="square" lIns="0" tIns="0" rIns="0" bIns="0" rtlCol="0" anchor="ctr"/>
          <a:lstStyle/>
          <a:p>
            <a:pPr marL="0" indent="0">
              <a:buNone/>
            </a:pPr>
            <a:r>
              <a:rPr lang="en-US" sz="1300" b="1" dirty="0">
                <a:solidFill>
                  <a:srgbClr val="EDEDED"/>
                </a:solidFill>
                <a:latin typeface="Calibri" pitchFamily="34" charset="0"/>
                <a:ea typeface="Calibri" pitchFamily="34" charset="-122"/>
                <a:cs typeface="Calibri" pitchFamily="34" charset="-120"/>
              </a:rPr>
              <a:t>Data Structures</a:t>
            </a:r>
            <a:endParaRPr lang="en-US" sz="1300" dirty="0"/>
          </a:p>
        </p:txBody>
      </p:sp>
      <p:sp>
        <p:nvSpPr>
          <p:cNvPr id="41" name="Shape 38">
            <a:extLst>
              <a:ext uri="{FF2B5EF4-FFF2-40B4-BE49-F238E27FC236}">
                <a16:creationId xmlns:a16="http://schemas.microsoft.com/office/drawing/2014/main" id="{84E6E92F-254F-6526-A5C2-C73CACFB7EEE}"/>
              </a:ext>
            </a:extLst>
          </p:cNvPr>
          <p:cNvSpPr/>
          <p:nvPr/>
        </p:nvSpPr>
        <p:spPr>
          <a:xfrm>
            <a:off x="4041648" y="4151376"/>
            <a:ext cx="73152" cy="73152"/>
          </a:xfrm>
          <a:prstGeom prst="ellipse">
            <a:avLst/>
          </a:prstGeom>
          <a:solidFill>
            <a:srgbClr val="FFDB5E"/>
          </a:solidFill>
          <a:ln w="12700">
            <a:solidFill>
              <a:srgbClr val="FFDB5E"/>
            </a:solidFill>
            <a:prstDash val="solid"/>
          </a:ln>
        </p:spPr>
        <p:txBody>
          <a:bodyPr/>
          <a:lstStyle/>
          <a:p>
            <a:endParaRPr lang="en-US"/>
          </a:p>
        </p:txBody>
      </p:sp>
      <p:sp>
        <p:nvSpPr>
          <p:cNvPr id="42" name="Shape 39">
            <a:extLst>
              <a:ext uri="{FF2B5EF4-FFF2-40B4-BE49-F238E27FC236}">
                <a16:creationId xmlns:a16="http://schemas.microsoft.com/office/drawing/2014/main" id="{D5135C8B-E1AC-EC89-1C48-6FB02D9D6BA6}"/>
              </a:ext>
            </a:extLst>
          </p:cNvPr>
          <p:cNvSpPr/>
          <p:nvPr/>
        </p:nvSpPr>
        <p:spPr>
          <a:xfrm>
            <a:off x="5870448" y="109728"/>
            <a:ext cx="3108960" cy="932688"/>
          </a:xfrm>
          <a:prstGeom prst="roundRect">
            <a:avLst>
              <a:gd name="adj" fmla="val 8824"/>
            </a:avLst>
          </a:prstGeom>
          <a:solidFill>
            <a:srgbClr val="1E1E38"/>
          </a:solidFill>
          <a:ln w="6350">
            <a:solidFill>
              <a:srgbClr val="2A2A50"/>
            </a:solidFill>
            <a:prstDash val="solid"/>
          </a:ln>
        </p:spPr>
        <p:txBody>
          <a:bodyPr/>
          <a:lstStyle/>
          <a:p>
            <a:endParaRPr lang="en-US"/>
          </a:p>
        </p:txBody>
      </p:sp>
      <p:sp>
        <p:nvSpPr>
          <p:cNvPr id="43" name="Shape 40">
            <a:extLst>
              <a:ext uri="{FF2B5EF4-FFF2-40B4-BE49-F238E27FC236}">
                <a16:creationId xmlns:a16="http://schemas.microsoft.com/office/drawing/2014/main" id="{B5E0FC04-788B-7507-654E-03541B6A1ABA}"/>
              </a:ext>
            </a:extLst>
          </p:cNvPr>
          <p:cNvSpPr/>
          <p:nvPr/>
        </p:nvSpPr>
        <p:spPr>
          <a:xfrm>
            <a:off x="5870448" y="109728"/>
            <a:ext cx="64008" cy="932688"/>
          </a:xfrm>
          <a:prstGeom prst="rect">
            <a:avLst/>
          </a:prstGeom>
          <a:solidFill>
            <a:srgbClr val="4D96FF"/>
          </a:solidFill>
          <a:ln w="12700">
            <a:solidFill>
              <a:srgbClr val="4D96FF"/>
            </a:solidFill>
            <a:prstDash val="solid"/>
          </a:ln>
        </p:spPr>
        <p:txBody>
          <a:bodyPr/>
          <a:lstStyle/>
          <a:p>
            <a:endParaRPr lang="en-US"/>
          </a:p>
        </p:txBody>
      </p:sp>
      <p:sp>
        <p:nvSpPr>
          <p:cNvPr id="44" name="Shape 41">
            <a:extLst>
              <a:ext uri="{FF2B5EF4-FFF2-40B4-BE49-F238E27FC236}">
                <a16:creationId xmlns:a16="http://schemas.microsoft.com/office/drawing/2014/main" id="{6D0AE701-19D3-8A0A-3E05-3D324FC5002F}"/>
              </a:ext>
            </a:extLst>
          </p:cNvPr>
          <p:cNvSpPr/>
          <p:nvPr/>
        </p:nvSpPr>
        <p:spPr>
          <a:xfrm>
            <a:off x="6007608" y="201168"/>
            <a:ext cx="658368" cy="201168"/>
          </a:xfrm>
          <a:prstGeom prst="roundRect">
            <a:avLst>
              <a:gd name="adj" fmla="val 27273"/>
            </a:avLst>
          </a:prstGeom>
          <a:solidFill>
            <a:srgbClr val="4D96FF"/>
          </a:solidFill>
          <a:ln w="12700">
            <a:solidFill>
              <a:srgbClr val="4D96FF"/>
            </a:solidFill>
            <a:prstDash val="solid"/>
          </a:ln>
        </p:spPr>
        <p:txBody>
          <a:bodyPr/>
          <a:lstStyle/>
          <a:p>
            <a:endParaRPr lang="en-US"/>
          </a:p>
        </p:txBody>
      </p:sp>
      <p:sp>
        <p:nvSpPr>
          <p:cNvPr id="45" name="Text 42">
            <a:extLst>
              <a:ext uri="{FF2B5EF4-FFF2-40B4-BE49-F238E27FC236}">
                <a16:creationId xmlns:a16="http://schemas.microsoft.com/office/drawing/2014/main" id="{2A1DDF9A-FD8C-B3F2-DCCB-6A38C91C93AD}"/>
              </a:ext>
            </a:extLst>
          </p:cNvPr>
          <p:cNvSpPr/>
          <p:nvPr/>
        </p:nvSpPr>
        <p:spPr>
          <a:xfrm>
            <a:off x="6007608" y="201168"/>
            <a:ext cx="658368" cy="201168"/>
          </a:xfrm>
          <a:prstGeom prst="rect">
            <a:avLst/>
          </a:prstGeom>
          <a:noFill/>
          <a:ln/>
        </p:spPr>
        <p:txBody>
          <a:bodyPr wrap="square" lIns="0" tIns="0" rIns="0" bIns="0" rtlCol="0" anchor="ctr"/>
          <a:lstStyle/>
          <a:p>
            <a:pPr marL="0" indent="0" algn="ctr">
              <a:buNone/>
            </a:pPr>
            <a:r>
              <a:rPr lang="en-US" sz="700" b="1" dirty="0">
                <a:solidFill>
                  <a:srgbClr val="262626"/>
                </a:solidFill>
                <a:latin typeface="Calibri" pitchFamily="34" charset="0"/>
                <a:ea typeface="Calibri" pitchFamily="34" charset="-122"/>
                <a:cs typeface="Calibri" pitchFamily="34" charset="-120"/>
              </a:rPr>
              <a:t>Week 5</a:t>
            </a:r>
            <a:endParaRPr lang="en-US" sz="700" dirty="0"/>
          </a:p>
        </p:txBody>
      </p:sp>
      <p:sp>
        <p:nvSpPr>
          <p:cNvPr id="46" name="Text 43">
            <a:extLst>
              <a:ext uri="{FF2B5EF4-FFF2-40B4-BE49-F238E27FC236}">
                <a16:creationId xmlns:a16="http://schemas.microsoft.com/office/drawing/2014/main" id="{C813C120-7D47-23AB-68F1-B0F6AD8885CB}"/>
              </a:ext>
            </a:extLst>
          </p:cNvPr>
          <p:cNvSpPr/>
          <p:nvPr/>
        </p:nvSpPr>
        <p:spPr>
          <a:xfrm>
            <a:off x="8412480" y="164592"/>
            <a:ext cx="502920" cy="329184"/>
          </a:xfrm>
          <a:prstGeom prst="rect">
            <a:avLst/>
          </a:prstGeom>
          <a:noFill/>
          <a:ln/>
        </p:spPr>
        <p:txBody>
          <a:bodyPr wrap="square" lIns="0" tIns="0" rIns="0" bIns="0" rtlCol="0" anchor="ctr"/>
          <a:lstStyle/>
          <a:p>
            <a:pPr marL="0" indent="0" algn="r">
              <a:buNone/>
            </a:pPr>
            <a:r>
              <a:rPr lang="en-US" sz="2200" b="1" dirty="0">
                <a:solidFill>
                  <a:srgbClr val="333355"/>
                </a:solidFill>
                <a:latin typeface="Calibri" pitchFamily="34" charset="0"/>
                <a:ea typeface="Calibri" pitchFamily="34" charset="-122"/>
                <a:cs typeface="Calibri" pitchFamily="34" charset="-120"/>
              </a:rPr>
              <a:t>05</a:t>
            </a:r>
            <a:endParaRPr lang="en-US" sz="2200" dirty="0"/>
          </a:p>
        </p:txBody>
      </p:sp>
      <p:sp>
        <p:nvSpPr>
          <p:cNvPr id="47" name="Text 44">
            <a:extLst>
              <a:ext uri="{FF2B5EF4-FFF2-40B4-BE49-F238E27FC236}">
                <a16:creationId xmlns:a16="http://schemas.microsoft.com/office/drawing/2014/main" id="{950A156F-8220-D927-014B-24BA945B5845}"/>
              </a:ext>
            </a:extLst>
          </p:cNvPr>
          <p:cNvSpPr/>
          <p:nvPr/>
        </p:nvSpPr>
        <p:spPr>
          <a:xfrm>
            <a:off x="6007608" y="429768"/>
            <a:ext cx="2880360" cy="310896"/>
          </a:xfrm>
          <a:prstGeom prst="rect">
            <a:avLst/>
          </a:prstGeom>
          <a:noFill/>
          <a:ln/>
        </p:spPr>
        <p:txBody>
          <a:bodyPr wrap="square" lIns="0" tIns="0" rIns="0" bIns="0" rtlCol="0" anchor="ctr"/>
          <a:lstStyle/>
          <a:p>
            <a:pPr marL="0" indent="0">
              <a:buNone/>
            </a:pPr>
            <a:r>
              <a:rPr lang="en-US" sz="1300" b="1" dirty="0">
                <a:solidFill>
                  <a:srgbClr val="EDEDED"/>
                </a:solidFill>
                <a:latin typeface="Calibri" pitchFamily="34" charset="0"/>
                <a:ea typeface="Calibri" pitchFamily="34" charset="-122"/>
                <a:cs typeface="Calibri" pitchFamily="34" charset="-120"/>
              </a:rPr>
              <a:t>Programming Fundamentals</a:t>
            </a:r>
            <a:endParaRPr lang="en-US" sz="1300" dirty="0"/>
          </a:p>
        </p:txBody>
      </p:sp>
      <p:sp>
        <p:nvSpPr>
          <p:cNvPr id="48" name="Shape 45">
            <a:extLst>
              <a:ext uri="{FF2B5EF4-FFF2-40B4-BE49-F238E27FC236}">
                <a16:creationId xmlns:a16="http://schemas.microsoft.com/office/drawing/2014/main" id="{3A00A2B8-6B50-0B4A-7B0C-09F00243D320}"/>
              </a:ext>
            </a:extLst>
          </p:cNvPr>
          <p:cNvSpPr/>
          <p:nvPr/>
        </p:nvSpPr>
        <p:spPr>
          <a:xfrm>
            <a:off x="7388352" y="1024128"/>
            <a:ext cx="73152" cy="73152"/>
          </a:xfrm>
          <a:prstGeom prst="ellipse">
            <a:avLst/>
          </a:prstGeom>
          <a:solidFill>
            <a:srgbClr val="4D96FF"/>
          </a:solidFill>
          <a:ln w="12700">
            <a:solidFill>
              <a:srgbClr val="4D96FF"/>
            </a:solidFill>
            <a:prstDash val="solid"/>
          </a:ln>
        </p:spPr>
        <p:txBody>
          <a:bodyPr/>
          <a:lstStyle/>
          <a:p>
            <a:endParaRPr lang="en-US"/>
          </a:p>
        </p:txBody>
      </p:sp>
      <p:sp>
        <p:nvSpPr>
          <p:cNvPr id="49" name="Shape 46">
            <a:extLst>
              <a:ext uri="{FF2B5EF4-FFF2-40B4-BE49-F238E27FC236}">
                <a16:creationId xmlns:a16="http://schemas.microsoft.com/office/drawing/2014/main" id="{741A9EFE-25A2-5CB8-3591-50BE92D67202}"/>
              </a:ext>
            </a:extLst>
          </p:cNvPr>
          <p:cNvSpPr/>
          <p:nvPr/>
        </p:nvSpPr>
        <p:spPr>
          <a:xfrm>
            <a:off x="5870448" y="1152144"/>
            <a:ext cx="3108960" cy="932688"/>
          </a:xfrm>
          <a:prstGeom prst="roundRect">
            <a:avLst>
              <a:gd name="adj" fmla="val 8824"/>
            </a:avLst>
          </a:prstGeom>
          <a:solidFill>
            <a:srgbClr val="1E1E38"/>
          </a:solidFill>
          <a:ln w="6350">
            <a:solidFill>
              <a:srgbClr val="2A2A50"/>
            </a:solidFill>
            <a:prstDash val="solid"/>
          </a:ln>
        </p:spPr>
        <p:txBody>
          <a:bodyPr/>
          <a:lstStyle/>
          <a:p>
            <a:endParaRPr lang="en-US"/>
          </a:p>
        </p:txBody>
      </p:sp>
      <p:sp>
        <p:nvSpPr>
          <p:cNvPr id="50" name="Shape 47">
            <a:extLst>
              <a:ext uri="{FF2B5EF4-FFF2-40B4-BE49-F238E27FC236}">
                <a16:creationId xmlns:a16="http://schemas.microsoft.com/office/drawing/2014/main" id="{79232C57-1261-0853-1E3B-11274B394D63}"/>
              </a:ext>
            </a:extLst>
          </p:cNvPr>
          <p:cNvSpPr/>
          <p:nvPr/>
        </p:nvSpPr>
        <p:spPr>
          <a:xfrm>
            <a:off x="5870448" y="1152144"/>
            <a:ext cx="64008" cy="932688"/>
          </a:xfrm>
          <a:prstGeom prst="rect">
            <a:avLst/>
          </a:prstGeom>
          <a:solidFill>
            <a:srgbClr val="80D883"/>
          </a:solidFill>
          <a:ln w="12700">
            <a:solidFill>
              <a:srgbClr val="80D883"/>
            </a:solidFill>
            <a:prstDash val="solid"/>
          </a:ln>
        </p:spPr>
        <p:txBody>
          <a:bodyPr/>
          <a:lstStyle/>
          <a:p>
            <a:endParaRPr lang="en-US"/>
          </a:p>
        </p:txBody>
      </p:sp>
      <p:sp>
        <p:nvSpPr>
          <p:cNvPr id="51" name="Shape 48">
            <a:extLst>
              <a:ext uri="{FF2B5EF4-FFF2-40B4-BE49-F238E27FC236}">
                <a16:creationId xmlns:a16="http://schemas.microsoft.com/office/drawing/2014/main" id="{7F8A07C6-87C2-4220-70B0-E03E24F42263}"/>
              </a:ext>
            </a:extLst>
          </p:cNvPr>
          <p:cNvSpPr/>
          <p:nvPr/>
        </p:nvSpPr>
        <p:spPr>
          <a:xfrm>
            <a:off x="6007608" y="1243584"/>
            <a:ext cx="658368" cy="201168"/>
          </a:xfrm>
          <a:prstGeom prst="roundRect">
            <a:avLst>
              <a:gd name="adj" fmla="val 27273"/>
            </a:avLst>
          </a:prstGeom>
          <a:solidFill>
            <a:srgbClr val="80D883"/>
          </a:solidFill>
          <a:ln w="12700">
            <a:solidFill>
              <a:srgbClr val="80D883"/>
            </a:solidFill>
            <a:prstDash val="solid"/>
          </a:ln>
        </p:spPr>
        <p:txBody>
          <a:bodyPr/>
          <a:lstStyle/>
          <a:p>
            <a:endParaRPr lang="en-US"/>
          </a:p>
        </p:txBody>
      </p:sp>
      <p:sp>
        <p:nvSpPr>
          <p:cNvPr id="52" name="Text 49">
            <a:extLst>
              <a:ext uri="{FF2B5EF4-FFF2-40B4-BE49-F238E27FC236}">
                <a16:creationId xmlns:a16="http://schemas.microsoft.com/office/drawing/2014/main" id="{6B28D4FE-60A3-C12B-C8FF-FAA3F7BD8129}"/>
              </a:ext>
            </a:extLst>
          </p:cNvPr>
          <p:cNvSpPr/>
          <p:nvPr/>
        </p:nvSpPr>
        <p:spPr>
          <a:xfrm>
            <a:off x="6007608" y="1243584"/>
            <a:ext cx="658368" cy="201168"/>
          </a:xfrm>
          <a:prstGeom prst="rect">
            <a:avLst/>
          </a:prstGeom>
          <a:noFill/>
          <a:ln/>
        </p:spPr>
        <p:txBody>
          <a:bodyPr wrap="square" lIns="0" tIns="0" rIns="0" bIns="0" rtlCol="0" anchor="ctr"/>
          <a:lstStyle/>
          <a:p>
            <a:pPr marL="0" indent="0" algn="ctr">
              <a:buNone/>
            </a:pPr>
            <a:r>
              <a:rPr lang="en-US" sz="700" b="1" dirty="0">
                <a:solidFill>
                  <a:srgbClr val="262626"/>
                </a:solidFill>
                <a:latin typeface="Calibri" pitchFamily="34" charset="0"/>
                <a:ea typeface="Calibri" pitchFamily="34" charset="-122"/>
                <a:cs typeface="Calibri" pitchFamily="34" charset="-120"/>
              </a:rPr>
              <a:t>Week 6</a:t>
            </a:r>
            <a:endParaRPr lang="en-US" sz="700" dirty="0"/>
          </a:p>
        </p:txBody>
      </p:sp>
      <p:sp>
        <p:nvSpPr>
          <p:cNvPr id="53" name="Text 50">
            <a:extLst>
              <a:ext uri="{FF2B5EF4-FFF2-40B4-BE49-F238E27FC236}">
                <a16:creationId xmlns:a16="http://schemas.microsoft.com/office/drawing/2014/main" id="{D12B3628-B15E-0C0D-FFA7-57DA8C3D22C4}"/>
              </a:ext>
            </a:extLst>
          </p:cNvPr>
          <p:cNvSpPr/>
          <p:nvPr/>
        </p:nvSpPr>
        <p:spPr>
          <a:xfrm>
            <a:off x="8412480" y="1207008"/>
            <a:ext cx="502920" cy="329184"/>
          </a:xfrm>
          <a:prstGeom prst="rect">
            <a:avLst/>
          </a:prstGeom>
          <a:noFill/>
          <a:ln/>
        </p:spPr>
        <p:txBody>
          <a:bodyPr wrap="square" lIns="0" tIns="0" rIns="0" bIns="0" rtlCol="0" anchor="ctr"/>
          <a:lstStyle/>
          <a:p>
            <a:pPr marL="0" indent="0" algn="r">
              <a:buNone/>
            </a:pPr>
            <a:r>
              <a:rPr lang="en-US" sz="2200" b="1" dirty="0">
                <a:solidFill>
                  <a:srgbClr val="333355"/>
                </a:solidFill>
                <a:latin typeface="Calibri" pitchFamily="34" charset="0"/>
                <a:ea typeface="Calibri" pitchFamily="34" charset="-122"/>
                <a:cs typeface="Calibri" pitchFamily="34" charset="-120"/>
              </a:rPr>
              <a:t>06</a:t>
            </a:r>
            <a:endParaRPr lang="en-US" sz="2200" dirty="0"/>
          </a:p>
        </p:txBody>
      </p:sp>
      <p:sp>
        <p:nvSpPr>
          <p:cNvPr id="54" name="Text 51">
            <a:extLst>
              <a:ext uri="{FF2B5EF4-FFF2-40B4-BE49-F238E27FC236}">
                <a16:creationId xmlns:a16="http://schemas.microsoft.com/office/drawing/2014/main" id="{8A4FBBA5-AB17-65B9-852F-397C5F339B36}"/>
              </a:ext>
            </a:extLst>
          </p:cNvPr>
          <p:cNvSpPr/>
          <p:nvPr/>
        </p:nvSpPr>
        <p:spPr>
          <a:xfrm>
            <a:off x="6007608" y="1472184"/>
            <a:ext cx="2880360" cy="310896"/>
          </a:xfrm>
          <a:prstGeom prst="rect">
            <a:avLst/>
          </a:prstGeom>
          <a:noFill/>
          <a:ln/>
        </p:spPr>
        <p:txBody>
          <a:bodyPr wrap="square" lIns="0" tIns="0" rIns="0" bIns="0" rtlCol="0" anchor="ctr"/>
          <a:lstStyle/>
          <a:p>
            <a:pPr marL="0" indent="0">
              <a:buNone/>
            </a:pPr>
            <a:r>
              <a:rPr lang="en-US" sz="1300" b="1" dirty="0">
                <a:solidFill>
                  <a:srgbClr val="EDEDED"/>
                </a:solidFill>
                <a:latin typeface="Calibri" pitchFamily="34" charset="0"/>
                <a:ea typeface="Calibri" pitchFamily="34" charset="-122"/>
                <a:cs typeface="Calibri" pitchFamily="34" charset="-120"/>
              </a:rPr>
              <a:t>Building Programs</a:t>
            </a:r>
            <a:endParaRPr lang="en-US" sz="1300" dirty="0"/>
          </a:p>
        </p:txBody>
      </p:sp>
      <p:sp>
        <p:nvSpPr>
          <p:cNvPr id="55" name="Shape 52">
            <a:extLst>
              <a:ext uri="{FF2B5EF4-FFF2-40B4-BE49-F238E27FC236}">
                <a16:creationId xmlns:a16="http://schemas.microsoft.com/office/drawing/2014/main" id="{A321B95C-2C52-E4F4-D5F2-09D18A64A826}"/>
              </a:ext>
            </a:extLst>
          </p:cNvPr>
          <p:cNvSpPr/>
          <p:nvPr/>
        </p:nvSpPr>
        <p:spPr>
          <a:xfrm>
            <a:off x="7388352" y="2066544"/>
            <a:ext cx="73152" cy="73152"/>
          </a:xfrm>
          <a:prstGeom prst="ellipse">
            <a:avLst/>
          </a:prstGeom>
          <a:solidFill>
            <a:srgbClr val="80D883"/>
          </a:solidFill>
          <a:ln w="12700">
            <a:solidFill>
              <a:srgbClr val="80D883"/>
            </a:solidFill>
            <a:prstDash val="solid"/>
          </a:ln>
        </p:spPr>
        <p:txBody>
          <a:bodyPr/>
          <a:lstStyle/>
          <a:p>
            <a:endParaRPr lang="en-US"/>
          </a:p>
        </p:txBody>
      </p:sp>
      <p:sp>
        <p:nvSpPr>
          <p:cNvPr id="56" name="Shape 53">
            <a:extLst>
              <a:ext uri="{FF2B5EF4-FFF2-40B4-BE49-F238E27FC236}">
                <a16:creationId xmlns:a16="http://schemas.microsoft.com/office/drawing/2014/main" id="{673246EE-4CB4-6475-683D-AC48E7541BCB}"/>
              </a:ext>
            </a:extLst>
          </p:cNvPr>
          <p:cNvSpPr/>
          <p:nvPr/>
        </p:nvSpPr>
        <p:spPr>
          <a:xfrm>
            <a:off x="5870448" y="2194560"/>
            <a:ext cx="3108960" cy="932688"/>
          </a:xfrm>
          <a:prstGeom prst="roundRect">
            <a:avLst>
              <a:gd name="adj" fmla="val 8824"/>
            </a:avLst>
          </a:prstGeom>
          <a:solidFill>
            <a:srgbClr val="1E1E38"/>
          </a:solidFill>
          <a:ln w="6350">
            <a:solidFill>
              <a:srgbClr val="2A2A50"/>
            </a:solidFill>
            <a:prstDash val="solid"/>
          </a:ln>
        </p:spPr>
        <p:txBody>
          <a:bodyPr/>
          <a:lstStyle/>
          <a:p>
            <a:endParaRPr lang="en-US"/>
          </a:p>
        </p:txBody>
      </p:sp>
      <p:sp>
        <p:nvSpPr>
          <p:cNvPr id="57" name="Shape 54">
            <a:extLst>
              <a:ext uri="{FF2B5EF4-FFF2-40B4-BE49-F238E27FC236}">
                <a16:creationId xmlns:a16="http://schemas.microsoft.com/office/drawing/2014/main" id="{6AAF312E-5F1E-5AE4-17B3-A58F81B92523}"/>
              </a:ext>
            </a:extLst>
          </p:cNvPr>
          <p:cNvSpPr/>
          <p:nvPr/>
        </p:nvSpPr>
        <p:spPr>
          <a:xfrm>
            <a:off x="5870448" y="2194560"/>
            <a:ext cx="64008" cy="932688"/>
          </a:xfrm>
          <a:prstGeom prst="rect">
            <a:avLst/>
          </a:prstGeom>
          <a:solidFill>
            <a:srgbClr val="FF8181"/>
          </a:solidFill>
          <a:ln w="12700">
            <a:solidFill>
              <a:srgbClr val="FF8181"/>
            </a:solidFill>
            <a:prstDash val="solid"/>
          </a:ln>
        </p:spPr>
        <p:txBody>
          <a:bodyPr/>
          <a:lstStyle/>
          <a:p>
            <a:endParaRPr lang="en-US"/>
          </a:p>
        </p:txBody>
      </p:sp>
      <p:sp>
        <p:nvSpPr>
          <p:cNvPr id="58" name="Shape 55">
            <a:extLst>
              <a:ext uri="{FF2B5EF4-FFF2-40B4-BE49-F238E27FC236}">
                <a16:creationId xmlns:a16="http://schemas.microsoft.com/office/drawing/2014/main" id="{4BD75424-E19A-3092-8B0D-4FF2113A069C}"/>
              </a:ext>
            </a:extLst>
          </p:cNvPr>
          <p:cNvSpPr/>
          <p:nvPr/>
        </p:nvSpPr>
        <p:spPr>
          <a:xfrm>
            <a:off x="6007608" y="2286000"/>
            <a:ext cx="658368" cy="201168"/>
          </a:xfrm>
          <a:prstGeom prst="roundRect">
            <a:avLst>
              <a:gd name="adj" fmla="val 27273"/>
            </a:avLst>
          </a:prstGeom>
          <a:solidFill>
            <a:srgbClr val="FF8181"/>
          </a:solidFill>
          <a:ln w="12700">
            <a:solidFill>
              <a:srgbClr val="FF8181"/>
            </a:solidFill>
            <a:prstDash val="solid"/>
          </a:ln>
        </p:spPr>
        <p:txBody>
          <a:bodyPr/>
          <a:lstStyle/>
          <a:p>
            <a:endParaRPr lang="en-US"/>
          </a:p>
        </p:txBody>
      </p:sp>
      <p:sp>
        <p:nvSpPr>
          <p:cNvPr id="59" name="Text 56">
            <a:extLst>
              <a:ext uri="{FF2B5EF4-FFF2-40B4-BE49-F238E27FC236}">
                <a16:creationId xmlns:a16="http://schemas.microsoft.com/office/drawing/2014/main" id="{7D50DEF8-03A1-D5EB-3D2E-56CF7E2EBA8A}"/>
              </a:ext>
            </a:extLst>
          </p:cNvPr>
          <p:cNvSpPr/>
          <p:nvPr/>
        </p:nvSpPr>
        <p:spPr>
          <a:xfrm>
            <a:off x="6007608" y="2286000"/>
            <a:ext cx="658368" cy="201168"/>
          </a:xfrm>
          <a:prstGeom prst="rect">
            <a:avLst/>
          </a:prstGeom>
          <a:noFill/>
          <a:ln/>
        </p:spPr>
        <p:txBody>
          <a:bodyPr wrap="square" lIns="0" tIns="0" rIns="0" bIns="0" rtlCol="0" anchor="ctr"/>
          <a:lstStyle/>
          <a:p>
            <a:pPr marL="0" indent="0" algn="ctr">
              <a:buNone/>
            </a:pPr>
            <a:r>
              <a:rPr lang="en-US" sz="700" b="1" dirty="0">
                <a:solidFill>
                  <a:srgbClr val="262626"/>
                </a:solidFill>
                <a:latin typeface="Calibri" pitchFamily="34" charset="0"/>
                <a:ea typeface="Calibri" pitchFamily="34" charset="-122"/>
                <a:cs typeface="Calibri" pitchFamily="34" charset="-120"/>
              </a:rPr>
              <a:t>Week 7</a:t>
            </a:r>
            <a:endParaRPr lang="en-US" sz="700" dirty="0"/>
          </a:p>
        </p:txBody>
      </p:sp>
      <p:sp>
        <p:nvSpPr>
          <p:cNvPr id="60" name="Text 57">
            <a:extLst>
              <a:ext uri="{FF2B5EF4-FFF2-40B4-BE49-F238E27FC236}">
                <a16:creationId xmlns:a16="http://schemas.microsoft.com/office/drawing/2014/main" id="{88207E3B-4C0C-F119-4FA4-E9FB5B38D592}"/>
              </a:ext>
            </a:extLst>
          </p:cNvPr>
          <p:cNvSpPr/>
          <p:nvPr/>
        </p:nvSpPr>
        <p:spPr>
          <a:xfrm>
            <a:off x="8412480" y="2249424"/>
            <a:ext cx="502920" cy="329184"/>
          </a:xfrm>
          <a:prstGeom prst="rect">
            <a:avLst/>
          </a:prstGeom>
          <a:noFill/>
          <a:ln/>
        </p:spPr>
        <p:txBody>
          <a:bodyPr wrap="square" lIns="0" tIns="0" rIns="0" bIns="0" rtlCol="0" anchor="ctr"/>
          <a:lstStyle/>
          <a:p>
            <a:pPr marL="0" indent="0" algn="r">
              <a:buNone/>
            </a:pPr>
            <a:r>
              <a:rPr lang="en-US" sz="2200" b="1" dirty="0">
                <a:solidFill>
                  <a:srgbClr val="333355"/>
                </a:solidFill>
                <a:latin typeface="Calibri" pitchFamily="34" charset="0"/>
                <a:ea typeface="Calibri" pitchFamily="34" charset="-122"/>
                <a:cs typeface="Calibri" pitchFamily="34" charset="-120"/>
              </a:rPr>
              <a:t>07</a:t>
            </a:r>
            <a:endParaRPr lang="en-US" sz="2200" dirty="0"/>
          </a:p>
        </p:txBody>
      </p:sp>
      <p:sp>
        <p:nvSpPr>
          <p:cNvPr id="61" name="Text 58">
            <a:extLst>
              <a:ext uri="{FF2B5EF4-FFF2-40B4-BE49-F238E27FC236}">
                <a16:creationId xmlns:a16="http://schemas.microsoft.com/office/drawing/2014/main" id="{53BF15DC-F112-F094-4298-9AE6BCFE38B2}"/>
              </a:ext>
            </a:extLst>
          </p:cNvPr>
          <p:cNvSpPr/>
          <p:nvPr/>
        </p:nvSpPr>
        <p:spPr>
          <a:xfrm>
            <a:off x="6007608" y="2514600"/>
            <a:ext cx="2880360" cy="310896"/>
          </a:xfrm>
          <a:prstGeom prst="rect">
            <a:avLst/>
          </a:prstGeom>
          <a:noFill/>
          <a:ln/>
        </p:spPr>
        <p:txBody>
          <a:bodyPr wrap="square" lIns="0" tIns="0" rIns="0" bIns="0" rtlCol="0" anchor="ctr"/>
          <a:lstStyle/>
          <a:p>
            <a:pPr marL="0" indent="0">
              <a:buNone/>
            </a:pPr>
            <a:r>
              <a:rPr lang="en-US" sz="1300" b="1" dirty="0">
                <a:solidFill>
                  <a:srgbClr val="EDEDED"/>
                </a:solidFill>
                <a:latin typeface="Calibri" pitchFamily="34" charset="0"/>
                <a:ea typeface="Calibri" pitchFamily="34" charset="-122"/>
                <a:cs typeface="Calibri" pitchFamily="34" charset="-120"/>
              </a:rPr>
              <a:t>Object-Oriented Programming</a:t>
            </a:r>
            <a:endParaRPr lang="en-US" sz="1300" dirty="0"/>
          </a:p>
        </p:txBody>
      </p:sp>
      <p:sp>
        <p:nvSpPr>
          <p:cNvPr id="62" name="Shape 59">
            <a:extLst>
              <a:ext uri="{FF2B5EF4-FFF2-40B4-BE49-F238E27FC236}">
                <a16:creationId xmlns:a16="http://schemas.microsoft.com/office/drawing/2014/main" id="{D464F956-5A52-F776-4C3D-1B4005EF29BD}"/>
              </a:ext>
            </a:extLst>
          </p:cNvPr>
          <p:cNvSpPr/>
          <p:nvPr/>
        </p:nvSpPr>
        <p:spPr>
          <a:xfrm>
            <a:off x="7388352" y="3108960"/>
            <a:ext cx="73152" cy="73152"/>
          </a:xfrm>
          <a:prstGeom prst="ellipse">
            <a:avLst/>
          </a:prstGeom>
          <a:solidFill>
            <a:srgbClr val="FF8181"/>
          </a:solidFill>
          <a:ln w="12700">
            <a:solidFill>
              <a:srgbClr val="FF8181"/>
            </a:solidFill>
            <a:prstDash val="solid"/>
          </a:ln>
        </p:spPr>
        <p:txBody>
          <a:bodyPr/>
          <a:lstStyle/>
          <a:p>
            <a:endParaRPr lang="en-US"/>
          </a:p>
        </p:txBody>
      </p:sp>
      <p:sp>
        <p:nvSpPr>
          <p:cNvPr id="63" name="Shape 60">
            <a:extLst>
              <a:ext uri="{FF2B5EF4-FFF2-40B4-BE49-F238E27FC236}">
                <a16:creationId xmlns:a16="http://schemas.microsoft.com/office/drawing/2014/main" id="{D9EC0061-A63C-3BF7-9FDC-ED0E88C63781}"/>
              </a:ext>
            </a:extLst>
          </p:cNvPr>
          <p:cNvSpPr/>
          <p:nvPr/>
        </p:nvSpPr>
        <p:spPr>
          <a:xfrm>
            <a:off x="5870448" y="3236976"/>
            <a:ext cx="3108960" cy="932688"/>
          </a:xfrm>
          <a:prstGeom prst="roundRect">
            <a:avLst>
              <a:gd name="adj" fmla="val 8824"/>
            </a:avLst>
          </a:prstGeom>
          <a:solidFill>
            <a:srgbClr val="1E1E38"/>
          </a:solidFill>
          <a:ln w="6350">
            <a:solidFill>
              <a:srgbClr val="2A2A50"/>
            </a:solidFill>
            <a:prstDash val="solid"/>
          </a:ln>
        </p:spPr>
        <p:txBody>
          <a:bodyPr/>
          <a:lstStyle/>
          <a:p>
            <a:endParaRPr lang="en-US"/>
          </a:p>
        </p:txBody>
      </p:sp>
      <p:sp>
        <p:nvSpPr>
          <p:cNvPr id="64" name="Shape 61">
            <a:extLst>
              <a:ext uri="{FF2B5EF4-FFF2-40B4-BE49-F238E27FC236}">
                <a16:creationId xmlns:a16="http://schemas.microsoft.com/office/drawing/2014/main" id="{5A083FC1-8B78-D082-DF90-8D98EEA39B6D}"/>
              </a:ext>
            </a:extLst>
          </p:cNvPr>
          <p:cNvSpPr/>
          <p:nvPr/>
        </p:nvSpPr>
        <p:spPr>
          <a:xfrm>
            <a:off x="5870448" y="3236976"/>
            <a:ext cx="64008" cy="932688"/>
          </a:xfrm>
          <a:prstGeom prst="rect">
            <a:avLst/>
          </a:prstGeom>
          <a:solidFill>
            <a:srgbClr val="4F29B7"/>
          </a:solidFill>
          <a:ln w="12700">
            <a:solidFill>
              <a:srgbClr val="4F29B7"/>
            </a:solidFill>
            <a:prstDash val="solid"/>
          </a:ln>
        </p:spPr>
        <p:txBody>
          <a:bodyPr/>
          <a:lstStyle/>
          <a:p>
            <a:endParaRPr lang="en-US"/>
          </a:p>
        </p:txBody>
      </p:sp>
      <p:sp>
        <p:nvSpPr>
          <p:cNvPr id="65" name="Shape 62">
            <a:extLst>
              <a:ext uri="{FF2B5EF4-FFF2-40B4-BE49-F238E27FC236}">
                <a16:creationId xmlns:a16="http://schemas.microsoft.com/office/drawing/2014/main" id="{3C546117-4882-1A88-D727-C7141741E259}"/>
              </a:ext>
            </a:extLst>
          </p:cNvPr>
          <p:cNvSpPr/>
          <p:nvPr/>
        </p:nvSpPr>
        <p:spPr>
          <a:xfrm>
            <a:off x="6007608" y="3328416"/>
            <a:ext cx="658368" cy="201168"/>
          </a:xfrm>
          <a:prstGeom prst="roundRect">
            <a:avLst>
              <a:gd name="adj" fmla="val 27273"/>
            </a:avLst>
          </a:prstGeom>
          <a:solidFill>
            <a:srgbClr val="4F29B7"/>
          </a:solidFill>
          <a:ln w="12700">
            <a:solidFill>
              <a:srgbClr val="4F29B7"/>
            </a:solidFill>
            <a:prstDash val="solid"/>
          </a:ln>
        </p:spPr>
        <p:txBody>
          <a:bodyPr/>
          <a:lstStyle/>
          <a:p>
            <a:endParaRPr lang="en-US"/>
          </a:p>
        </p:txBody>
      </p:sp>
      <p:sp>
        <p:nvSpPr>
          <p:cNvPr id="66" name="Text 63">
            <a:extLst>
              <a:ext uri="{FF2B5EF4-FFF2-40B4-BE49-F238E27FC236}">
                <a16:creationId xmlns:a16="http://schemas.microsoft.com/office/drawing/2014/main" id="{648E3919-8E2C-0562-A8ED-89A58BD68E6D}"/>
              </a:ext>
            </a:extLst>
          </p:cNvPr>
          <p:cNvSpPr/>
          <p:nvPr/>
        </p:nvSpPr>
        <p:spPr>
          <a:xfrm>
            <a:off x="6007608" y="3328416"/>
            <a:ext cx="658368" cy="201168"/>
          </a:xfrm>
          <a:prstGeom prst="rect">
            <a:avLst/>
          </a:prstGeom>
          <a:noFill/>
          <a:ln/>
        </p:spPr>
        <p:txBody>
          <a:bodyPr wrap="square" lIns="0" tIns="0" rIns="0" bIns="0" rtlCol="0" anchor="ctr"/>
          <a:lstStyle/>
          <a:p>
            <a:pPr marL="0" indent="0" algn="ctr">
              <a:buNone/>
            </a:pPr>
            <a:r>
              <a:rPr lang="en-US" sz="700" b="1" dirty="0">
                <a:solidFill>
                  <a:schemeClr val="bg1"/>
                </a:solidFill>
                <a:latin typeface="Calibri" pitchFamily="34" charset="0"/>
                <a:ea typeface="Calibri" pitchFamily="34" charset="-122"/>
                <a:cs typeface="Calibri" pitchFamily="34" charset="-120"/>
              </a:rPr>
              <a:t>Week 8</a:t>
            </a:r>
            <a:endParaRPr lang="en-US" sz="700" dirty="0">
              <a:solidFill>
                <a:schemeClr val="bg1"/>
              </a:solidFill>
            </a:endParaRPr>
          </a:p>
        </p:txBody>
      </p:sp>
      <p:sp>
        <p:nvSpPr>
          <p:cNvPr id="67" name="Text 64">
            <a:extLst>
              <a:ext uri="{FF2B5EF4-FFF2-40B4-BE49-F238E27FC236}">
                <a16:creationId xmlns:a16="http://schemas.microsoft.com/office/drawing/2014/main" id="{E2F9EA6D-FB95-2BB4-52DD-6C7237579AFB}"/>
              </a:ext>
            </a:extLst>
          </p:cNvPr>
          <p:cNvSpPr/>
          <p:nvPr/>
        </p:nvSpPr>
        <p:spPr>
          <a:xfrm>
            <a:off x="8412480" y="3291840"/>
            <a:ext cx="502920" cy="329184"/>
          </a:xfrm>
          <a:prstGeom prst="rect">
            <a:avLst/>
          </a:prstGeom>
          <a:noFill/>
          <a:ln/>
        </p:spPr>
        <p:txBody>
          <a:bodyPr wrap="square" lIns="0" tIns="0" rIns="0" bIns="0" rtlCol="0" anchor="ctr"/>
          <a:lstStyle/>
          <a:p>
            <a:pPr marL="0" indent="0" algn="r">
              <a:buNone/>
            </a:pPr>
            <a:r>
              <a:rPr lang="en-US" sz="2200" b="1" dirty="0">
                <a:solidFill>
                  <a:srgbClr val="333355"/>
                </a:solidFill>
                <a:latin typeface="Calibri" pitchFamily="34" charset="0"/>
                <a:ea typeface="Calibri" pitchFamily="34" charset="-122"/>
                <a:cs typeface="Calibri" pitchFamily="34" charset="-120"/>
              </a:rPr>
              <a:t>08</a:t>
            </a:r>
            <a:endParaRPr lang="en-US" sz="2200" dirty="0"/>
          </a:p>
        </p:txBody>
      </p:sp>
      <p:sp>
        <p:nvSpPr>
          <p:cNvPr id="68" name="Text 65">
            <a:extLst>
              <a:ext uri="{FF2B5EF4-FFF2-40B4-BE49-F238E27FC236}">
                <a16:creationId xmlns:a16="http://schemas.microsoft.com/office/drawing/2014/main" id="{1C22DD0B-1A0C-BC49-8552-C5899E8F2506}"/>
              </a:ext>
            </a:extLst>
          </p:cNvPr>
          <p:cNvSpPr/>
          <p:nvPr/>
        </p:nvSpPr>
        <p:spPr>
          <a:xfrm>
            <a:off x="6007608" y="3557016"/>
            <a:ext cx="2880360" cy="310896"/>
          </a:xfrm>
          <a:prstGeom prst="rect">
            <a:avLst/>
          </a:prstGeom>
          <a:noFill/>
          <a:ln/>
        </p:spPr>
        <p:txBody>
          <a:bodyPr wrap="square" lIns="0" tIns="0" rIns="0" bIns="0" rtlCol="0" anchor="ctr"/>
          <a:lstStyle/>
          <a:p>
            <a:pPr marL="0" indent="0">
              <a:buNone/>
            </a:pPr>
            <a:r>
              <a:rPr lang="en-US" sz="1300" b="1" dirty="0">
                <a:solidFill>
                  <a:srgbClr val="EDEDED"/>
                </a:solidFill>
                <a:latin typeface="Calibri" pitchFamily="34" charset="0"/>
                <a:ea typeface="Calibri" pitchFamily="34" charset="-122"/>
                <a:cs typeface="Calibri" pitchFamily="34" charset="-120"/>
              </a:rPr>
              <a:t>Integration &amp; Final Project</a:t>
            </a:r>
            <a:endParaRPr lang="en-US" sz="1300" dirty="0"/>
          </a:p>
        </p:txBody>
      </p:sp>
      <p:sp>
        <p:nvSpPr>
          <p:cNvPr id="69" name="Shape 66">
            <a:extLst>
              <a:ext uri="{FF2B5EF4-FFF2-40B4-BE49-F238E27FC236}">
                <a16:creationId xmlns:a16="http://schemas.microsoft.com/office/drawing/2014/main" id="{5A13D78A-5207-213B-9F5B-37E76076F38B}"/>
              </a:ext>
            </a:extLst>
          </p:cNvPr>
          <p:cNvSpPr/>
          <p:nvPr/>
        </p:nvSpPr>
        <p:spPr>
          <a:xfrm>
            <a:off x="7388352" y="4151376"/>
            <a:ext cx="73152" cy="73152"/>
          </a:xfrm>
          <a:prstGeom prst="ellipse">
            <a:avLst/>
          </a:prstGeom>
          <a:solidFill>
            <a:srgbClr val="4F29B7"/>
          </a:solidFill>
          <a:ln w="12700">
            <a:solidFill>
              <a:srgbClr val="4F29B7"/>
            </a:solidFill>
            <a:prstDash val="solid"/>
          </a:ln>
        </p:spPr>
        <p:txBody>
          <a:bodyPr/>
          <a:lstStyle/>
          <a:p>
            <a:endParaRPr lang="en-US"/>
          </a:p>
        </p:txBody>
      </p:sp>
      <p:sp>
        <p:nvSpPr>
          <p:cNvPr id="70" name="Shape 67">
            <a:extLst>
              <a:ext uri="{FF2B5EF4-FFF2-40B4-BE49-F238E27FC236}">
                <a16:creationId xmlns:a16="http://schemas.microsoft.com/office/drawing/2014/main" id="{8C24E9C7-844A-D5C2-2FCF-AEA93B283191}"/>
              </a:ext>
            </a:extLst>
          </p:cNvPr>
          <p:cNvSpPr/>
          <p:nvPr/>
        </p:nvSpPr>
        <p:spPr>
          <a:xfrm>
            <a:off x="5705856" y="109728"/>
            <a:ext cx="0" cy="4169664"/>
          </a:xfrm>
          <a:prstGeom prst="line">
            <a:avLst/>
          </a:prstGeom>
          <a:noFill/>
          <a:ln w="6350">
            <a:solidFill>
              <a:srgbClr val="333355"/>
            </a:solidFill>
            <a:prstDash val="dash"/>
          </a:ln>
        </p:spPr>
        <p:txBody>
          <a:bodyPr/>
          <a:lstStyle/>
          <a:p>
            <a:endParaRPr lang="en-US"/>
          </a:p>
        </p:txBody>
      </p:sp>
    </p:spTree>
    <p:extLst>
      <p:ext uri="{BB962C8B-B14F-4D97-AF65-F5344CB8AC3E}">
        <p14:creationId xmlns:p14="http://schemas.microsoft.com/office/powerpoint/2010/main" val="38173610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67E406D-77C5-64FC-1384-3ED885662E43}"/>
              </a:ext>
            </a:extLst>
          </p:cNvPr>
          <p:cNvSpPr/>
          <p:nvPr/>
        </p:nvSpPr>
        <p:spPr>
          <a:xfrm>
            <a:off x="0" y="0"/>
            <a:ext cx="9144000" cy="64008"/>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A58AB1B6-4F13-B6F1-65C4-FDEAF2A7575E}"/>
              </a:ext>
            </a:extLst>
          </p:cNvPr>
          <p:cNvSpPr/>
          <p:nvPr/>
        </p:nvSpPr>
        <p:spPr>
          <a:xfrm>
            <a:off x="0" y="5079492"/>
            <a:ext cx="9144000" cy="64008"/>
          </a:xfrm>
          <a:prstGeom prst="rect">
            <a:avLst/>
          </a:prstGeom>
          <a:solidFill>
            <a:srgbClr val="4F29B7"/>
          </a:solidFill>
          <a:ln w="12700">
            <a:solidFill>
              <a:srgbClr val="4F29B7"/>
            </a:solidFill>
            <a:prstDash val="solid"/>
          </a:ln>
        </p:spPr>
        <p:txBody>
          <a:bodyPr/>
          <a:lstStyle/>
          <a:p>
            <a:endParaRPr lang="en-US"/>
          </a:p>
        </p:txBody>
      </p:sp>
      <p:sp>
        <p:nvSpPr>
          <p:cNvPr id="4" name="Shape 2">
            <a:extLst>
              <a:ext uri="{FF2B5EF4-FFF2-40B4-BE49-F238E27FC236}">
                <a16:creationId xmlns:a16="http://schemas.microsoft.com/office/drawing/2014/main" id="{FF820E8F-A391-AC62-D54D-317374F62C88}"/>
              </a:ext>
            </a:extLst>
          </p:cNvPr>
          <p:cNvSpPr/>
          <p:nvPr/>
        </p:nvSpPr>
        <p:spPr>
          <a:xfrm>
            <a:off x="0" y="64008"/>
            <a:ext cx="2560320" cy="5015484"/>
          </a:xfrm>
          <a:prstGeom prst="rect">
            <a:avLst/>
          </a:prstGeom>
          <a:solidFill>
            <a:srgbClr val="0A2020"/>
          </a:solidFill>
          <a:ln w="12700">
            <a:solidFill>
              <a:srgbClr val="0A2020"/>
            </a:solidFill>
            <a:prstDash val="solid"/>
          </a:ln>
        </p:spPr>
        <p:txBody>
          <a:bodyPr/>
          <a:lstStyle/>
          <a:p>
            <a:endParaRPr lang="en-US"/>
          </a:p>
        </p:txBody>
      </p:sp>
      <p:sp>
        <p:nvSpPr>
          <p:cNvPr id="5" name="Shape 3">
            <a:extLst>
              <a:ext uri="{FF2B5EF4-FFF2-40B4-BE49-F238E27FC236}">
                <a16:creationId xmlns:a16="http://schemas.microsoft.com/office/drawing/2014/main" id="{244B5C98-FBD3-E2CD-5772-833C4D8DBE51}"/>
              </a:ext>
            </a:extLst>
          </p:cNvPr>
          <p:cNvSpPr/>
          <p:nvPr/>
        </p:nvSpPr>
        <p:spPr>
          <a:xfrm>
            <a:off x="2560320" y="64008"/>
            <a:ext cx="0" cy="5015484"/>
          </a:xfrm>
          <a:prstGeom prst="line">
            <a:avLst/>
          </a:prstGeom>
          <a:noFill/>
          <a:ln w="25400">
            <a:solidFill>
              <a:srgbClr val="57E3D8"/>
            </a:solidFill>
            <a:prstDash val="solid"/>
          </a:ln>
        </p:spPr>
        <p:txBody>
          <a:bodyPr/>
          <a:lstStyle/>
          <a:p>
            <a:endParaRPr lang="en-US"/>
          </a:p>
        </p:txBody>
      </p:sp>
      <p:sp>
        <p:nvSpPr>
          <p:cNvPr id="6" name="Text 4">
            <a:extLst>
              <a:ext uri="{FF2B5EF4-FFF2-40B4-BE49-F238E27FC236}">
                <a16:creationId xmlns:a16="http://schemas.microsoft.com/office/drawing/2014/main" id="{70A0054A-5F93-C0F8-68C3-1CAD4846EE0E}"/>
              </a:ext>
            </a:extLst>
          </p:cNvPr>
          <p:cNvSpPr/>
          <p:nvPr/>
        </p:nvSpPr>
        <p:spPr>
          <a:xfrm>
            <a:off x="0" y="320040"/>
            <a:ext cx="2560320" cy="1463040"/>
          </a:xfrm>
          <a:prstGeom prst="rect">
            <a:avLst/>
          </a:prstGeom>
          <a:noFill/>
          <a:ln/>
        </p:spPr>
        <p:txBody>
          <a:bodyPr wrap="square" lIns="0" tIns="0" rIns="0" bIns="0" rtlCol="0" anchor="ctr"/>
          <a:lstStyle/>
          <a:p>
            <a:pPr marL="0" indent="0" algn="ctr">
              <a:buNone/>
            </a:pPr>
            <a:r>
              <a:rPr lang="en-US" sz="8000" b="1" dirty="0">
                <a:solidFill>
                  <a:schemeClr val="bg1"/>
                </a:solidFill>
                <a:latin typeface="Calibri" pitchFamily="34" charset="0"/>
                <a:ea typeface="Calibri" pitchFamily="34" charset="-122"/>
                <a:cs typeface="Calibri" pitchFamily="34" charset="-120"/>
              </a:rPr>
              <a:t>01</a:t>
            </a:r>
            <a:endParaRPr lang="en-US" sz="8000" dirty="0">
              <a:solidFill>
                <a:schemeClr val="bg1"/>
              </a:solidFill>
            </a:endParaRPr>
          </a:p>
        </p:txBody>
      </p:sp>
      <p:sp>
        <p:nvSpPr>
          <p:cNvPr id="7" name="Shape 5">
            <a:extLst>
              <a:ext uri="{FF2B5EF4-FFF2-40B4-BE49-F238E27FC236}">
                <a16:creationId xmlns:a16="http://schemas.microsoft.com/office/drawing/2014/main" id="{2D400CA1-A6FF-D2ED-B42E-71359923989F}"/>
              </a:ext>
            </a:extLst>
          </p:cNvPr>
          <p:cNvSpPr/>
          <p:nvPr/>
        </p:nvSpPr>
        <p:spPr>
          <a:xfrm>
            <a:off x="228600" y="384048"/>
            <a:ext cx="822960" cy="256032"/>
          </a:xfrm>
          <a:prstGeom prst="roundRect">
            <a:avLst>
              <a:gd name="adj" fmla="val 42857"/>
            </a:avLst>
          </a:prstGeom>
          <a:solidFill>
            <a:srgbClr val="57E3D8"/>
          </a:solidFill>
          <a:ln w="12700">
            <a:solidFill>
              <a:srgbClr val="57E3D8"/>
            </a:solidFill>
            <a:prstDash val="solid"/>
          </a:ln>
        </p:spPr>
        <p:txBody>
          <a:bodyPr/>
          <a:lstStyle/>
          <a:p>
            <a:endParaRPr lang="en-US"/>
          </a:p>
        </p:txBody>
      </p:sp>
      <p:sp>
        <p:nvSpPr>
          <p:cNvPr id="8" name="Text 6">
            <a:extLst>
              <a:ext uri="{FF2B5EF4-FFF2-40B4-BE49-F238E27FC236}">
                <a16:creationId xmlns:a16="http://schemas.microsoft.com/office/drawing/2014/main" id="{F273ADA2-B102-4B1E-6AF9-898A94FBDFA6}"/>
              </a:ext>
            </a:extLst>
          </p:cNvPr>
          <p:cNvSpPr/>
          <p:nvPr/>
        </p:nvSpPr>
        <p:spPr>
          <a:xfrm>
            <a:off x="228600" y="384048"/>
            <a:ext cx="822960" cy="256032"/>
          </a:xfrm>
          <a:prstGeom prst="rect">
            <a:avLst/>
          </a:prstGeom>
          <a:noFill/>
          <a:ln/>
        </p:spPr>
        <p:txBody>
          <a:bodyPr wrap="square" lIns="0" tIns="0" rIns="0" bIns="0" rtlCol="0" anchor="ctr"/>
          <a:lstStyle/>
          <a:p>
            <a:pPr marL="0" indent="0" algn="ctr">
              <a:buNone/>
            </a:pPr>
            <a:r>
              <a:rPr lang="en-US" sz="1100" b="1" dirty="0">
                <a:solidFill>
                  <a:srgbClr val="0A2020"/>
                </a:solidFill>
                <a:latin typeface="Calibri" pitchFamily="34" charset="0"/>
                <a:ea typeface="Calibri" pitchFamily="34" charset="-122"/>
                <a:cs typeface="Calibri" pitchFamily="34" charset="-120"/>
              </a:rPr>
              <a:t>Week 1</a:t>
            </a:r>
            <a:endParaRPr lang="en-US" sz="1100" dirty="0"/>
          </a:p>
        </p:txBody>
      </p:sp>
      <p:sp>
        <p:nvSpPr>
          <p:cNvPr id="9" name="Text 7">
            <a:extLst>
              <a:ext uri="{FF2B5EF4-FFF2-40B4-BE49-F238E27FC236}">
                <a16:creationId xmlns:a16="http://schemas.microsoft.com/office/drawing/2014/main" id="{C09B99FC-C479-8C2D-E6D2-881A32388889}"/>
              </a:ext>
            </a:extLst>
          </p:cNvPr>
          <p:cNvSpPr/>
          <p:nvPr/>
        </p:nvSpPr>
        <p:spPr>
          <a:xfrm>
            <a:off x="137160" y="1417320"/>
            <a:ext cx="2286000" cy="8686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Developer Tools &amp;</a:t>
            </a:r>
            <a:endParaRPr lang="en-US" sz="2200" dirty="0"/>
          </a:p>
          <a:p>
            <a:pPr marL="0" indent="0" algn="ctr">
              <a:buNone/>
            </a:pPr>
            <a:r>
              <a:rPr lang="en-US" sz="2200" b="1" dirty="0">
                <a:solidFill>
                  <a:srgbClr val="FFFFFF"/>
                </a:solidFill>
                <a:latin typeface="Calibri" pitchFamily="34" charset="0"/>
                <a:ea typeface="Calibri" pitchFamily="34" charset="-122"/>
                <a:cs typeface="Calibri" pitchFamily="34" charset="-120"/>
              </a:rPr>
              <a:t>Environment</a:t>
            </a:r>
            <a:endParaRPr lang="en-US" sz="2200" dirty="0"/>
          </a:p>
        </p:txBody>
      </p:sp>
      <p:sp>
        <p:nvSpPr>
          <p:cNvPr id="10" name="Shape 8">
            <a:extLst>
              <a:ext uri="{FF2B5EF4-FFF2-40B4-BE49-F238E27FC236}">
                <a16:creationId xmlns:a16="http://schemas.microsoft.com/office/drawing/2014/main" id="{38A5CAEB-8102-DF38-E1B7-6B194D394D41}"/>
              </a:ext>
            </a:extLst>
          </p:cNvPr>
          <p:cNvSpPr/>
          <p:nvPr/>
        </p:nvSpPr>
        <p:spPr>
          <a:xfrm>
            <a:off x="320040" y="4069080"/>
            <a:ext cx="1920240" cy="0"/>
          </a:xfrm>
          <a:prstGeom prst="line">
            <a:avLst/>
          </a:prstGeom>
          <a:noFill/>
          <a:ln w="9525">
            <a:solidFill>
              <a:srgbClr val="333355"/>
            </a:solidFill>
            <a:prstDash val="solid"/>
          </a:ln>
        </p:spPr>
        <p:txBody>
          <a:bodyPr/>
          <a:lstStyle/>
          <a:p>
            <a:endParaRPr lang="en-US"/>
          </a:p>
        </p:txBody>
      </p:sp>
      <p:sp>
        <p:nvSpPr>
          <p:cNvPr id="11" name="Text 9">
            <a:extLst>
              <a:ext uri="{FF2B5EF4-FFF2-40B4-BE49-F238E27FC236}">
                <a16:creationId xmlns:a16="http://schemas.microsoft.com/office/drawing/2014/main" id="{92B591E3-3AA6-686E-4CAC-AF218B233E00}"/>
              </a:ext>
            </a:extLst>
          </p:cNvPr>
          <p:cNvSpPr/>
          <p:nvPr/>
        </p:nvSpPr>
        <p:spPr>
          <a:xfrm>
            <a:off x="137160" y="4160520"/>
            <a:ext cx="2286000" cy="228600"/>
          </a:xfrm>
          <a:prstGeom prst="rect">
            <a:avLst/>
          </a:prstGeom>
          <a:noFill/>
          <a:ln/>
        </p:spPr>
        <p:txBody>
          <a:bodyPr wrap="square" lIns="0" tIns="0" rIns="0" bIns="0" rtlCol="0" anchor="ctr"/>
          <a:lstStyle/>
          <a:p>
            <a:pPr marL="0" indent="0" algn="ctr">
              <a:buNone/>
            </a:pPr>
            <a:r>
              <a:rPr lang="en-US" sz="1000" dirty="0">
                <a:solidFill>
                  <a:srgbClr val="9AA4B2"/>
                </a:solidFill>
                <a:latin typeface="Calibri" pitchFamily="34" charset="0"/>
                <a:ea typeface="Calibri" pitchFamily="34" charset="-122"/>
                <a:cs typeface="Calibri" pitchFamily="34" charset="-120"/>
              </a:rPr>
              <a:t>Foundation Bootcamp</a:t>
            </a:r>
            <a:endParaRPr lang="en-US" sz="1000" dirty="0"/>
          </a:p>
        </p:txBody>
      </p:sp>
      <p:sp>
        <p:nvSpPr>
          <p:cNvPr id="12" name="Text 10">
            <a:extLst>
              <a:ext uri="{FF2B5EF4-FFF2-40B4-BE49-F238E27FC236}">
                <a16:creationId xmlns:a16="http://schemas.microsoft.com/office/drawing/2014/main" id="{5599767D-CE61-3911-E941-102809D30A60}"/>
              </a:ext>
            </a:extLst>
          </p:cNvPr>
          <p:cNvSpPr/>
          <p:nvPr/>
        </p:nvSpPr>
        <p:spPr>
          <a:xfrm>
            <a:off x="137160" y="4407408"/>
            <a:ext cx="2286000" cy="228600"/>
          </a:xfrm>
          <a:prstGeom prst="rect">
            <a:avLst/>
          </a:prstGeom>
          <a:noFill/>
          <a:ln/>
        </p:spPr>
        <p:txBody>
          <a:bodyPr wrap="square" lIns="0" tIns="0" rIns="0" bIns="0" rtlCol="0" anchor="ctr"/>
          <a:lstStyle/>
          <a:p>
            <a:pPr marL="0" indent="0" algn="ctr">
              <a:buNone/>
            </a:pPr>
            <a:r>
              <a:rPr lang="en-US" sz="1000" dirty="0">
                <a:solidFill>
                  <a:srgbClr val="9AA4B2"/>
                </a:solidFill>
                <a:latin typeface="Calibri" pitchFamily="34" charset="0"/>
                <a:ea typeface="Calibri" pitchFamily="34" charset="-122"/>
                <a:cs typeface="Calibri" pitchFamily="34" charset="-120"/>
              </a:rPr>
              <a:t>مسار البرمجة</a:t>
            </a:r>
            <a:endParaRPr lang="en-US" sz="1000" dirty="0"/>
          </a:p>
        </p:txBody>
      </p:sp>
      <p:sp>
        <p:nvSpPr>
          <p:cNvPr id="13" name="Shape 11">
            <a:extLst>
              <a:ext uri="{FF2B5EF4-FFF2-40B4-BE49-F238E27FC236}">
                <a16:creationId xmlns:a16="http://schemas.microsoft.com/office/drawing/2014/main" id="{55F4100E-9CB8-5B37-C0F2-CBEC90D9766C}"/>
              </a:ext>
            </a:extLst>
          </p:cNvPr>
          <p:cNvSpPr/>
          <p:nvPr/>
        </p:nvSpPr>
        <p:spPr>
          <a:xfrm>
            <a:off x="2834640" y="637794"/>
            <a:ext cx="6035040" cy="685800"/>
          </a:xfrm>
          <a:prstGeom prst="roundRect">
            <a:avLst>
              <a:gd name="adj" fmla="val 10667"/>
            </a:avLst>
          </a:prstGeom>
          <a:solidFill>
            <a:srgbClr val="16243A"/>
          </a:solidFill>
          <a:ln w="22225">
            <a:solidFill>
              <a:srgbClr val="57E3D8"/>
            </a:solidFill>
            <a:prstDash val="solid"/>
          </a:ln>
        </p:spPr>
        <p:txBody>
          <a:bodyPr/>
          <a:lstStyle/>
          <a:p>
            <a:endParaRPr lang="en-US"/>
          </a:p>
        </p:txBody>
      </p:sp>
      <p:sp>
        <p:nvSpPr>
          <p:cNvPr id="14" name="Shape 12">
            <a:extLst>
              <a:ext uri="{FF2B5EF4-FFF2-40B4-BE49-F238E27FC236}">
                <a16:creationId xmlns:a16="http://schemas.microsoft.com/office/drawing/2014/main" id="{5C0B6CAB-0687-131B-B1A3-5DC2E6225321}"/>
              </a:ext>
            </a:extLst>
          </p:cNvPr>
          <p:cNvSpPr/>
          <p:nvPr/>
        </p:nvSpPr>
        <p:spPr>
          <a:xfrm>
            <a:off x="3035808" y="788670"/>
            <a:ext cx="384048" cy="384048"/>
          </a:xfrm>
          <a:prstGeom prst="ellipse">
            <a:avLst/>
          </a:prstGeom>
          <a:solidFill>
            <a:srgbClr val="57E3D8"/>
          </a:solidFill>
          <a:ln w="12700">
            <a:solidFill>
              <a:srgbClr val="57E3D8"/>
            </a:solidFill>
            <a:prstDash val="solid"/>
          </a:ln>
        </p:spPr>
        <p:txBody>
          <a:bodyPr/>
          <a:lstStyle/>
          <a:p>
            <a:endParaRPr lang="en-US"/>
          </a:p>
        </p:txBody>
      </p:sp>
      <p:sp>
        <p:nvSpPr>
          <p:cNvPr id="15" name="Text 13">
            <a:extLst>
              <a:ext uri="{FF2B5EF4-FFF2-40B4-BE49-F238E27FC236}">
                <a16:creationId xmlns:a16="http://schemas.microsoft.com/office/drawing/2014/main" id="{AC7BC44D-1FC9-9F64-5CC7-E434D27250A8}"/>
              </a:ext>
            </a:extLst>
          </p:cNvPr>
          <p:cNvSpPr/>
          <p:nvPr/>
        </p:nvSpPr>
        <p:spPr>
          <a:xfrm>
            <a:off x="3035808" y="788670"/>
            <a:ext cx="384048" cy="384048"/>
          </a:xfrm>
          <a:prstGeom prst="rect">
            <a:avLst/>
          </a:prstGeom>
          <a:noFill/>
          <a:ln/>
        </p:spPr>
        <p:txBody>
          <a:bodyPr wrap="square" lIns="0" tIns="0" rIns="0" bIns="0"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1</a:t>
            </a:r>
            <a:endParaRPr lang="en-US" sz="1200" dirty="0"/>
          </a:p>
        </p:txBody>
      </p:sp>
      <p:sp>
        <p:nvSpPr>
          <p:cNvPr id="16" name="Text 14">
            <a:extLst>
              <a:ext uri="{FF2B5EF4-FFF2-40B4-BE49-F238E27FC236}">
                <a16:creationId xmlns:a16="http://schemas.microsoft.com/office/drawing/2014/main" id="{C3F1AAB6-AEF6-43A8-6A84-7CBE0EB54EF6}"/>
              </a:ext>
            </a:extLst>
          </p:cNvPr>
          <p:cNvSpPr/>
          <p:nvPr/>
        </p:nvSpPr>
        <p:spPr>
          <a:xfrm>
            <a:off x="3584448" y="729234"/>
            <a:ext cx="731520" cy="228600"/>
          </a:xfrm>
          <a:prstGeom prst="rect">
            <a:avLst/>
          </a:prstGeom>
          <a:noFill/>
          <a:ln/>
        </p:spPr>
        <p:txBody>
          <a:bodyPr wrap="square" lIns="0" tIns="0" rIns="0" bIns="0" rtlCol="0" anchor="ctr"/>
          <a:lstStyle/>
          <a:p>
            <a:pPr marL="0" indent="0" algn="l">
              <a:buNone/>
            </a:pPr>
            <a:r>
              <a:rPr lang="en-US" sz="950" b="1" dirty="0">
                <a:solidFill>
                  <a:srgbClr val="57E3D8"/>
                </a:solidFill>
                <a:latin typeface="Calibri" pitchFamily="34" charset="0"/>
                <a:ea typeface="Calibri" pitchFamily="34" charset="-122"/>
                <a:cs typeface="Calibri" pitchFamily="34" charset="-120"/>
              </a:rPr>
              <a:t>Day 1</a:t>
            </a:r>
            <a:endParaRPr lang="en-US" sz="950" dirty="0"/>
          </a:p>
        </p:txBody>
      </p:sp>
      <p:sp>
        <p:nvSpPr>
          <p:cNvPr id="17" name="Shape 15">
            <a:extLst>
              <a:ext uri="{FF2B5EF4-FFF2-40B4-BE49-F238E27FC236}">
                <a16:creationId xmlns:a16="http://schemas.microsoft.com/office/drawing/2014/main" id="{648B9736-5271-3F10-9283-6A47244C9274}"/>
              </a:ext>
            </a:extLst>
          </p:cNvPr>
          <p:cNvSpPr/>
          <p:nvPr/>
        </p:nvSpPr>
        <p:spPr>
          <a:xfrm>
            <a:off x="4361688" y="784098"/>
            <a:ext cx="0" cy="393192"/>
          </a:xfrm>
          <a:prstGeom prst="line">
            <a:avLst/>
          </a:prstGeom>
          <a:noFill/>
          <a:ln w="9525">
            <a:solidFill>
              <a:srgbClr val="333355"/>
            </a:solidFill>
            <a:prstDash val="solid"/>
          </a:ln>
        </p:spPr>
        <p:txBody>
          <a:bodyPr/>
          <a:lstStyle/>
          <a:p>
            <a:endParaRPr lang="en-US"/>
          </a:p>
        </p:txBody>
      </p:sp>
      <p:sp>
        <p:nvSpPr>
          <p:cNvPr id="18" name="Text 16">
            <a:extLst>
              <a:ext uri="{FF2B5EF4-FFF2-40B4-BE49-F238E27FC236}">
                <a16:creationId xmlns:a16="http://schemas.microsoft.com/office/drawing/2014/main" id="{07A12A8A-1C6B-110F-8997-E7E5477EA5F8}"/>
              </a:ext>
            </a:extLst>
          </p:cNvPr>
          <p:cNvSpPr/>
          <p:nvPr/>
        </p:nvSpPr>
        <p:spPr>
          <a:xfrm>
            <a:off x="4453128" y="637794"/>
            <a:ext cx="4343400" cy="685800"/>
          </a:xfrm>
          <a:prstGeom prst="rect">
            <a:avLst/>
          </a:prstGeom>
          <a:noFill/>
          <a:ln/>
        </p:spPr>
        <p:txBody>
          <a:bodyPr wrap="square" lIns="0" tIns="0" rIns="0" bIns="0" rtlCol="0" anchor="ctr"/>
          <a:lstStyle/>
          <a:p>
            <a:pPr marL="0" indent="0" algn="l">
              <a:buNone/>
            </a:pPr>
            <a:r>
              <a:rPr lang="en-US" sz="1200" dirty="0">
                <a:solidFill>
                  <a:srgbClr val="EDEDED"/>
                </a:solidFill>
                <a:latin typeface="Calibri" pitchFamily="34" charset="0"/>
                <a:ea typeface="Calibri" pitchFamily="34" charset="-122"/>
                <a:cs typeface="Calibri" pitchFamily="34" charset="-120"/>
              </a:rPr>
              <a:t>Operating systems, files, extensions, file paths</a:t>
            </a:r>
            <a:endParaRPr lang="en-US" sz="1200" dirty="0"/>
          </a:p>
        </p:txBody>
      </p:sp>
      <p:sp>
        <p:nvSpPr>
          <p:cNvPr id="19" name="Shape 17">
            <a:extLst>
              <a:ext uri="{FF2B5EF4-FFF2-40B4-BE49-F238E27FC236}">
                <a16:creationId xmlns:a16="http://schemas.microsoft.com/office/drawing/2014/main" id="{63889319-52E7-F6EA-214C-6FB5D81E6B30}"/>
              </a:ext>
            </a:extLst>
          </p:cNvPr>
          <p:cNvSpPr/>
          <p:nvPr/>
        </p:nvSpPr>
        <p:spPr>
          <a:xfrm>
            <a:off x="2834640" y="1433322"/>
            <a:ext cx="6035040" cy="685800"/>
          </a:xfrm>
          <a:prstGeom prst="roundRect">
            <a:avLst>
              <a:gd name="adj" fmla="val 10667"/>
            </a:avLst>
          </a:prstGeom>
          <a:solidFill>
            <a:srgbClr val="1A1A2E"/>
          </a:solidFill>
          <a:ln w="9525">
            <a:solidFill>
              <a:srgbClr val="2A2A48"/>
            </a:solidFill>
            <a:prstDash val="solid"/>
          </a:ln>
        </p:spPr>
        <p:txBody>
          <a:bodyPr/>
          <a:lstStyle/>
          <a:p>
            <a:endParaRPr lang="en-US"/>
          </a:p>
        </p:txBody>
      </p:sp>
      <p:sp>
        <p:nvSpPr>
          <p:cNvPr id="20" name="Shape 18">
            <a:extLst>
              <a:ext uri="{FF2B5EF4-FFF2-40B4-BE49-F238E27FC236}">
                <a16:creationId xmlns:a16="http://schemas.microsoft.com/office/drawing/2014/main" id="{06C2D083-16B0-081D-EC91-9BC5FB3A7C31}"/>
              </a:ext>
            </a:extLst>
          </p:cNvPr>
          <p:cNvSpPr/>
          <p:nvPr/>
        </p:nvSpPr>
        <p:spPr>
          <a:xfrm>
            <a:off x="3035808" y="1584198"/>
            <a:ext cx="384048" cy="384048"/>
          </a:xfrm>
          <a:prstGeom prst="ellipse">
            <a:avLst/>
          </a:prstGeom>
          <a:solidFill>
            <a:srgbClr val="57E3D8"/>
          </a:solidFill>
          <a:ln w="12700">
            <a:solidFill>
              <a:srgbClr val="57E3D8"/>
            </a:solidFill>
            <a:prstDash val="solid"/>
          </a:ln>
        </p:spPr>
        <p:txBody>
          <a:bodyPr/>
          <a:lstStyle/>
          <a:p>
            <a:endParaRPr lang="en-US"/>
          </a:p>
        </p:txBody>
      </p:sp>
      <p:sp>
        <p:nvSpPr>
          <p:cNvPr id="21" name="Text 19">
            <a:extLst>
              <a:ext uri="{FF2B5EF4-FFF2-40B4-BE49-F238E27FC236}">
                <a16:creationId xmlns:a16="http://schemas.microsoft.com/office/drawing/2014/main" id="{BAFCCA92-7DB9-D2AC-FF94-D4A25331D56E}"/>
              </a:ext>
            </a:extLst>
          </p:cNvPr>
          <p:cNvSpPr/>
          <p:nvPr/>
        </p:nvSpPr>
        <p:spPr>
          <a:xfrm>
            <a:off x="3035808" y="1584198"/>
            <a:ext cx="384048" cy="384048"/>
          </a:xfrm>
          <a:prstGeom prst="rect">
            <a:avLst/>
          </a:prstGeom>
          <a:noFill/>
          <a:ln/>
        </p:spPr>
        <p:txBody>
          <a:bodyPr wrap="square" lIns="0" tIns="0" rIns="0" bIns="0"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2</a:t>
            </a:r>
            <a:endParaRPr lang="en-US" sz="1200" dirty="0"/>
          </a:p>
        </p:txBody>
      </p:sp>
      <p:sp>
        <p:nvSpPr>
          <p:cNvPr id="22" name="Text 20">
            <a:extLst>
              <a:ext uri="{FF2B5EF4-FFF2-40B4-BE49-F238E27FC236}">
                <a16:creationId xmlns:a16="http://schemas.microsoft.com/office/drawing/2014/main" id="{0C22C430-4049-84D0-C905-1AECAADE9A85}"/>
              </a:ext>
            </a:extLst>
          </p:cNvPr>
          <p:cNvSpPr/>
          <p:nvPr/>
        </p:nvSpPr>
        <p:spPr>
          <a:xfrm>
            <a:off x="3584448" y="1524762"/>
            <a:ext cx="731520" cy="228600"/>
          </a:xfrm>
          <a:prstGeom prst="rect">
            <a:avLst/>
          </a:prstGeom>
          <a:noFill/>
          <a:ln/>
        </p:spPr>
        <p:txBody>
          <a:bodyPr wrap="square" lIns="0" tIns="0" rIns="0" bIns="0" rtlCol="0" anchor="ctr"/>
          <a:lstStyle/>
          <a:p>
            <a:pPr marL="0" indent="0" algn="l">
              <a:buNone/>
            </a:pPr>
            <a:r>
              <a:rPr lang="en-US" sz="950" b="1" dirty="0">
                <a:solidFill>
                  <a:srgbClr val="57E3D8"/>
                </a:solidFill>
                <a:latin typeface="Calibri" pitchFamily="34" charset="0"/>
                <a:ea typeface="Calibri" pitchFamily="34" charset="-122"/>
                <a:cs typeface="Calibri" pitchFamily="34" charset="-120"/>
              </a:rPr>
              <a:t>Day 2</a:t>
            </a:r>
            <a:endParaRPr lang="en-US" sz="950" dirty="0"/>
          </a:p>
        </p:txBody>
      </p:sp>
      <p:sp>
        <p:nvSpPr>
          <p:cNvPr id="23" name="Shape 21">
            <a:extLst>
              <a:ext uri="{FF2B5EF4-FFF2-40B4-BE49-F238E27FC236}">
                <a16:creationId xmlns:a16="http://schemas.microsoft.com/office/drawing/2014/main" id="{82A72DA3-1CC8-C226-C2AB-67A0BD33B796}"/>
              </a:ext>
            </a:extLst>
          </p:cNvPr>
          <p:cNvSpPr/>
          <p:nvPr/>
        </p:nvSpPr>
        <p:spPr>
          <a:xfrm>
            <a:off x="4361688" y="1579626"/>
            <a:ext cx="0" cy="393192"/>
          </a:xfrm>
          <a:prstGeom prst="line">
            <a:avLst/>
          </a:prstGeom>
          <a:noFill/>
          <a:ln w="9525">
            <a:solidFill>
              <a:srgbClr val="333355"/>
            </a:solidFill>
            <a:prstDash val="solid"/>
          </a:ln>
        </p:spPr>
        <p:txBody>
          <a:bodyPr/>
          <a:lstStyle/>
          <a:p>
            <a:endParaRPr lang="en-US"/>
          </a:p>
        </p:txBody>
      </p:sp>
      <p:sp>
        <p:nvSpPr>
          <p:cNvPr id="24" name="Text 22">
            <a:extLst>
              <a:ext uri="{FF2B5EF4-FFF2-40B4-BE49-F238E27FC236}">
                <a16:creationId xmlns:a16="http://schemas.microsoft.com/office/drawing/2014/main" id="{F2904907-D386-E744-B0D6-2A064A9BA7D6}"/>
              </a:ext>
            </a:extLst>
          </p:cNvPr>
          <p:cNvSpPr/>
          <p:nvPr/>
        </p:nvSpPr>
        <p:spPr>
          <a:xfrm>
            <a:off x="4453128" y="1433322"/>
            <a:ext cx="4343400" cy="685800"/>
          </a:xfrm>
          <a:prstGeom prst="rect">
            <a:avLst/>
          </a:prstGeom>
          <a:noFill/>
          <a:ln/>
        </p:spPr>
        <p:txBody>
          <a:bodyPr wrap="square" lIns="0" tIns="0" rIns="0" bIns="0" rtlCol="0" anchor="ctr"/>
          <a:lstStyle/>
          <a:p>
            <a:pPr marL="0" indent="0" algn="l">
              <a:buNone/>
            </a:pPr>
            <a:r>
              <a:rPr lang="en-US" sz="1200" dirty="0">
                <a:solidFill>
                  <a:srgbClr val="EDEDED"/>
                </a:solidFill>
                <a:latin typeface="Calibri" pitchFamily="34" charset="0"/>
                <a:ea typeface="Calibri" pitchFamily="34" charset="-122"/>
                <a:cs typeface="Calibri" pitchFamily="34" charset="-120"/>
              </a:rPr>
              <a:t>Command Line Interface (cd, ls, mkdir, touch, rm)</a:t>
            </a:r>
            <a:endParaRPr lang="en-US" sz="1200" dirty="0"/>
          </a:p>
        </p:txBody>
      </p:sp>
      <p:sp>
        <p:nvSpPr>
          <p:cNvPr id="25" name="Shape 23">
            <a:extLst>
              <a:ext uri="{FF2B5EF4-FFF2-40B4-BE49-F238E27FC236}">
                <a16:creationId xmlns:a16="http://schemas.microsoft.com/office/drawing/2014/main" id="{8D5DB58C-C19C-BF82-38F2-3520D1D40072}"/>
              </a:ext>
            </a:extLst>
          </p:cNvPr>
          <p:cNvSpPr/>
          <p:nvPr/>
        </p:nvSpPr>
        <p:spPr>
          <a:xfrm>
            <a:off x="2834640" y="2228850"/>
            <a:ext cx="6035040" cy="685800"/>
          </a:xfrm>
          <a:prstGeom prst="roundRect">
            <a:avLst>
              <a:gd name="adj" fmla="val 10667"/>
            </a:avLst>
          </a:prstGeom>
          <a:solidFill>
            <a:srgbClr val="1A1A2E"/>
          </a:solidFill>
          <a:ln w="9525">
            <a:solidFill>
              <a:srgbClr val="2A2A48"/>
            </a:solidFill>
            <a:prstDash val="solid"/>
          </a:ln>
        </p:spPr>
        <p:txBody>
          <a:bodyPr/>
          <a:lstStyle/>
          <a:p>
            <a:endParaRPr lang="en-US"/>
          </a:p>
        </p:txBody>
      </p:sp>
      <p:sp>
        <p:nvSpPr>
          <p:cNvPr id="26" name="Shape 24">
            <a:extLst>
              <a:ext uri="{FF2B5EF4-FFF2-40B4-BE49-F238E27FC236}">
                <a16:creationId xmlns:a16="http://schemas.microsoft.com/office/drawing/2014/main" id="{70736680-2F47-383C-0F62-87CCA75E254E}"/>
              </a:ext>
            </a:extLst>
          </p:cNvPr>
          <p:cNvSpPr/>
          <p:nvPr/>
        </p:nvSpPr>
        <p:spPr>
          <a:xfrm>
            <a:off x="3035808" y="2379726"/>
            <a:ext cx="384048" cy="384048"/>
          </a:xfrm>
          <a:prstGeom prst="ellipse">
            <a:avLst/>
          </a:prstGeom>
          <a:solidFill>
            <a:srgbClr val="57E3D8"/>
          </a:solidFill>
          <a:ln w="12700">
            <a:solidFill>
              <a:srgbClr val="57E3D8"/>
            </a:solidFill>
            <a:prstDash val="solid"/>
          </a:ln>
        </p:spPr>
        <p:txBody>
          <a:bodyPr/>
          <a:lstStyle/>
          <a:p>
            <a:endParaRPr lang="en-US"/>
          </a:p>
        </p:txBody>
      </p:sp>
      <p:sp>
        <p:nvSpPr>
          <p:cNvPr id="27" name="Text 25">
            <a:extLst>
              <a:ext uri="{FF2B5EF4-FFF2-40B4-BE49-F238E27FC236}">
                <a16:creationId xmlns:a16="http://schemas.microsoft.com/office/drawing/2014/main" id="{314C9277-EC05-FC71-5EA2-F4407D0C92BB}"/>
              </a:ext>
            </a:extLst>
          </p:cNvPr>
          <p:cNvSpPr/>
          <p:nvPr/>
        </p:nvSpPr>
        <p:spPr>
          <a:xfrm>
            <a:off x="3035808" y="2379726"/>
            <a:ext cx="384048" cy="384048"/>
          </a:xfrm>
          <a:prstGeom prst="rect">
            <a:avLst/>
          </a:prstGeom>
          <a:noFill/>
          <a:ln/>
        </p:spPr>
        <p:txBody>
          <a:bodyPr wrap="square" lIns="0" tIns="0" rIns="0" bIns="0"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3</a:t>
            </a:r>
            <a:endParaRPr lang="en-US" sz="1200" dirty="0"/>
          </a:p>
        </p:txBody>
      </p:sp>
      <p:sp>
        <p:nvSpPr>
          <p:cNvPr id="28" name="Text 26">
            <a:extLst>
              <a:ext uri="{FF2B5EF4-FFF2-40B4-BE49-F238E27FC236}">
                <a16:creationId xmlns:a16="http://schemas.microsoft.com/office/drawing/2014/main" id="{30DC768E-4FAE-A61B-FCEC-97E680516D22}"/>
              </a:ext>
            </a:extLst>
          </p:cNvPr>
          <p:cNvSpPr/>
          <p:nvPr/>
        </p:nvSpPr>
        <p:spPr>
          <a:xfrm>
            <a:off x="3584448" y="2320290"/>
            <a:ext cx="731520" cy="228600"/>
          </a:xfrm>
          <a:prstGeom prst="rect">
            <a:avLst/>
          </a:prstGeom>
          <a:noFill/>
          <a:ln/>
        </p:spPr>
        <p:txBody>
          <a:bodyPr wrap="square" lIns="0" tIns="0" rIns="0" bIns="0" rtlCol="0" anchor="ctr"/>
          <a:lstStyle/>
          <a:p>
            <a:pPr marL="0" indent="0" algn="l">
              <a:buNone/>
            </a:pPr>
            <a:r>
              <a:rPr lang="en-US" sz="950" b="1" dirty="0">
                <a:solidFill>
                  <a:srgbClr val="57E3D8"/>
                </a:solidFill>
                <a:latin typeface="Calibri" pitchFamily="34" charset="0"/>
                <a:ea typeface="Calibri" pitchFamily="34" charset="-122"/>
                <a:cs typeface="Calibri" pitchFamily="34" charset="-120"/>
              </a:rPr>
              <a:t>Day 3</a:t>
            </a:r>
            <a:endParaRPr lang="en-US" sz="950" dirty="0"/>
          </a:p>
        </p:txBody>
      </p:sp>
      <p:sp>
        <p:nvSpPr>
          <p:cNvPr id="29" name="Shape 27">
            <a:extLst>
              <a:ext uri="{FF2B5EF4-FFF2-40B4-BE49-F238E27FC236}">
                <a16:creationId xmlns:a16="http://schemas.microsoft.com/office/drawing/2014/main" id="{889D4878-03AA-AC42-C788-065DCECAD681}"/>
              </a:ext>
            </a:extLst>
          </p:cNvPr>
          <p:cNvSpPr/>
          <p:nvPr/>
        </p:nvSpPr>
        <p:spPr>
          <a:xfrm>
            <a:off x="4361688" y="2375154"/>
            <a:ext cx="0" cy="393192"/>
          </a:xfrm>
          <a:prstGeom prst="line">
            <a:avLst/>
          </a:prstGeom>
          <a:noFill/>
          <a:ln w="9525">
            <a:solidFill>
              <a:srgbClr val="333355"/>
            </a:solidFill>
            <a:prstDash val="solid"/>
          </a:ln>
        </p:spPr>
        <p:txBody>
          <a:bodyPr/>
          <a:lstStyle/>
          <a:p>
            <a:endParaRPr lang="en-US"/>
          </a:p>
        </p:txBody>
      </p:sp>
      <p:sp>
        <p:nvSpPr>
          <p:cNvPr id="30" name="Text 28">
            <a:extLst>
              <a:ext uri="{FF2B5EF4-FFF2-40B4-BE49-F238E27FC236}">
                <a16:creationId xmlns:a16="http://schemas.microsoft.com/office/drawing/2014/main" id="{431CF177-A807-CE31-1BB2-ECA9F30B5B25}"/>
              </a:ext>
            </a:extLst>
          </p:cNvPr>
          <p:cNvSpPr/>
          <p:nvPr/>
        </p:nvSpPr>
        <p:spPr>
          <a:xfrm>
            <a:off x="4453128" y="2228850"/>
            <a:ext cx="4343400" cy="685800"/>
          </a:xfrm>
          <a:prstGeom prst="rect">
            <a:avLst/>
          </a:prstGeom>
          <a:noFill/>
          <a:ln/>
        </p:spPr>
        <p:txBody>
          <a:bodyPr wrap="square" lIns="0" tIns="0" rIns="0" bIns="0" rtlCol="0" anchor="ctr"/>
          <a:lstStyle/>
          <a:p>
            <a:pPr marL="0" indent="0" algn="l">
              <a:buNone/>
            </a:pPr>
            <a:r>
              <a:rPr lang="en-US" sz="1200" dirty="0">
                <a:solidFill>
                  <a:srgbClr val="EDEDED"/>
                </a:solidFill>
                <a:latin typeface="Calibri" pitchFamily="34" charset="0"/>
                <a:ea typeface="Calibri" pitchFamily="34" charset="-122"/>
                <a:cs typeface="Calibri" pitchFamily="34" charset="-120"/>
              </a:rPr>
              <a:t>Git fundamentals: repository, staging, commit, history</a:t>
            </a:r>
            <a:endParaRPr lang="en-US" sz="1200" dirty="0"/>
          </a:p>
        </p:txBody>
      </p:sp>
      <p:sp>
        <p:nvSpPr>
          <p:cNvPr id="31" name="Shape 29">
            <a:extLst>
              <a:ext uri="{FF2B5EF4-FFF2-40B4-BE49-F238E27FC236}">
                <a16:creationId xmlns:a16="http://schemas.microsoft.com/office/drawing/2014/main" id="{71BB9B55-CFA0-B2B9-D0D5-F9F84E14A700}"/>
              </a:ext>
            </a:extLst>
          </p:cNvPr>
          <p:cNvSpPr/>
          <p:nvPr/>
        </p:nvSpPr>
        <p:spPr>
          <a:xfrm>
            <a:off x="2834640" y="3024378"/>
            <a:ext cx="6035040" cy="685800"/>
          </a:xfrm>
          <a:prstGeom prst="roundRect">
            <a:avLst>
              <a:gd name="adj" fmla="val 10667"/>
            </a:avLst>
          </a:prstGeom>
          <a:solidFill>
            <a:srgbClr val="1A1A2E"/>
          </a:solidFill>
          <a:ln w="9525">
            <a:solidFill>
              <a:srgbClr val="2A2A48"/>
            </a:solidFill>
            <a:prstDash val="solid"/>
          </a:ln>
        </p:spPr>
        <p:txBody>
          <a:bodyPr/>
          <a:lstStyle/>
          <a:p>
            <a:endParaRPr lang="en-US"/>
          </a:p>
        </p:txBody>
      </p:sp>
      <p:sp>
        <p:nvSpPr>
          <p:cNvPr id="32" name="Shape 30">
            <a:extLst>
              <a:ext uri="{FF2B5EF4-FFF2-40B4-BE49-F238E27FC236}">
                <a16:creationId xmlns:a16="http://schemas.microsoft.com/office/drawing/2014/main" id="{591074AD-EEAF-CC1A-C64F-70E9EAAE6F93}"/>
              </a:ext>
            </a:extLst>
          </p:cNvPr>
          <p:cNvSpPr/>
          <p:nvPr/>
        </p:nvSpPr>
        <p:spPr>
          <a:xfrm>
            <a:off x="3035808" y="3175254"/>
            <a:ext cx="384048" cy="384048"/>
          </a:xfrm>
          <a:prstGeom prst="ellipse">
            <a:avLst/>
          </a:prstGeom>
          <a:solidFill>
            <a:srgbClr val="57E3D8"/>
          </a:solidFill>
          <a:ln w="12700">
            <a:solidFill>
              <a:srgbClr val="57E3D8"/>
            </a:solidFill>
            <a:prstDash val="solid"/>
          </a:ln>
        </p:spPr>
        <p:txBody>
          <a:bodyPr/>
          <a:lstStyle/>
          <a:p>
            <a:endParaRPr lang="en-US"/>
          </a:p>
        </p:txBody>
      </p:sp>
      <p:sp>
        <p:nvSpPr>
          <p:cNvPr id="33" name="Text 31">
            <a:extLst>
              <a:ext uri="{FF2B5EF4-FFF2-40B4-BE49-F238E27FC236}">
                <a16:creationId xmlns:a16="http://schemas.microsoft.com/office/drawing/2014/main" id="{72C1DB4C-7A30-FDE6-FBB2-5ED7FA0966C0}"/>
              </a:ext>
            </a:extLst>
          </p:cNvPr>
          <p:cNvSpPr/>
          <p:nvPr/>
        </p:nvSpPr>
        <p:spPr>
          <a:xfrm>
            <a:off x="3035808" y="3175254"/>
            <a:ext cx="384048" cy="384048"/>
          </a:xfrm>
          <a:prstGeom prst="rect">
            <a:avLst/>
          </a:prstGeom>
          <a:noFill/>
          <a:ln/>
        </p:spPr>
        <p:txBody>
          <a:bodyPr wrap="square" lIns="0" tIns="0" rIns="0" bIns="0"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4</a:t>
            </a:r>
            <a:endParaRPr lang="en-US" sz="1200" dirty="0"/>
          </a:p>
        </p:txBody>
      </p:sp>
      <p:sp>
        <p:nvSpPr>
          <p:cNvPr id="34" name="Text 32">
            <a:extLst>
              <a:ext uri="{FF2B5EF4-FFF2-40B4-BE49-F238E27FC236}">
                <a16:creationId xmlns:a16="http://schemas.microsoft.com/office/drawing/2014/main" id="{20D7429D-968C-6CC1-CB67-49328C66BFFF}"/>
              </a:ext>
            </a:extLst>
          </p:cNvPr>
          <p:cNvSpPr/>
          <p:nvPr/>
        </p:nvSpPr>
        <p:spPr>
          <a:xfrm>
            <a:off x="3584448" y="3115818"/>
            <a:ext cx="731520" cy="228600"/>
          </a:xfrm>
          <a:prstGeom prst="rect">
            <a:avLst/>
          </a:prstGeom>
          <a:noFill/>
          <a:ln/>
        </p:spPr>
        <p:txBody>
          <a:bodyPr wrap="square" lIns="0" tIns="0" rIns="0" bIns="0" rtlCol="0" anchor="ctr"/>
          <a:lstStyle/>
          <a:p>
            <a:pPr marL="0" indent="0" algn="l">
              <a:buNone/>
            </a:pPr>
            <a:r>
              <a:rPr lang="en-US" sz="950" b="1" dirty="0">
                <a:solidFill>
                  <a:srgbClr val="57E3D8"/>
                </a:solidFill>
                <a:latin typeface="Calibri" pitchFamily="34" charset="0"/>
                <a:ea typeface="Calibri" pitchFamily="34" charset="-122"/>
                <a:cs typeface="Calibri" pitchFamily="34" charset="-120"/>
              </a:rPr>
              <a:t>Day 4</a:t>
            </a:r>
            <a:endParaRPr lang="en-US" sz="950" dirty="0"/>
          </a:p>
        </p:txBody>
      </p:sp>
      <p:sp>
        <p:nvSpPr>
          <p:cNvPr id="35" name="Shape 33">
            <a:extLst>
              <a:ext uri="{FF2B5EF4-FFF2-40B4-BE49-F238E27FC236}">
                <a16:creationId xmlns:a16="http://schemas.microsoft.com/office/drawing/2014/main" id="{C00E2499-AF17-8119-3E32-ED104BE2C408}"/>
              </a:ext>
            </a:extLst>
          </p:cNvPr>
          <p:cNvSpPr/>
          <p:nvPr/>
        </p:nvSpPr>
        <p:spPr>
          <a:xfrm>
            <a:off x="4361688" y="3170682"/>
            <a:ext cx="0" cy="393192"/>
          </a:xfrm>
          <a:prstGeom prst="line">
            <a:avLst/>
          </a:prstGeom>
          <a:noFill/>
          <a:ln w="9525">
            <a:solidFill>
              <a:srgbClr val="333355"/>
            </a:solidFill>
            <a:prstDash val="solid"/>
          </a:ln>
        </p:spPr>
        <p:txBody>
          <a:bodyPr/>
          <a:lstStyle/>
          <a:p>
            <a:endParaRPr lang="en-US"/>
          </a:p>
        </p:txBody>
      </p:sp>
      <p:sp>
        <p:nvSpPr>
          <p:cNvPr id="36" name="Text 34">
            <a:extLst>
              <a:ext uri="{FF2B5EF4-FFF2-40B4-BE49-F238E27FC236}">
                <a16:creationId xmlns:a16="http://schemas.microsoft.com/office/drawing/2014/main" id="{5CBCAC83-FE09-B41B-A792-27B20AAC85CA}"/>
              </a:ext>
            </a:extLst>
          </p:cNvPr>
          <p:cNvSpPr/>
          <p:nvPr/>
        </p:nvSpPr>
        <p:spPr>
          <a:xfrm>
            <a:off x="4453128" y="3024378"/>
            <a:ext cx="4343400" cy="685800"/>
          </a:xfrm>
          <a:prstGeom prst="rect">
            <a:avLst/>
          </a:prstGeom>
          <a:noFill/>
          <a:ln/>
        </p:spPr>
        <p:txBody>
          <a:bodyPr wrap="square" lIns="0" tIns="0" rIns="0" bIns="0" rtlCol="0" anchor="ctr"/>
          <a:lstStyle/>
          <a:p>
            <a:pPr marL="0" indent="0" algn="l">
              <a:buNone/>
            </a:pPr>
            <a:r>
              <a:rPr lang="en-US" sz="1200" dirty="0">
                <a:solidFill>
                  <a:srgbClr val="EDEDED"/>
                </a:solidFill>
                <a:latin typeface="Calibri" pitchFamily="34" charset="0"/>
                <a:ea typeface="Calibri" pitchFamily="34" charset="-122"/>
                <a:cs typeface="Calibri" pitchFamily="34" charset="-120"/>
              </a:rPr>
              <a:t>GitHub: clone, push, pull, remote repositories</a:t>
            </a:r>
            <a:endParaRPr lang="en-US" sz="1200" dirty="0"/>
          </a:p>
        </p:txBody>
      </p:sp>
      <p:sp>
        <p:nvSpPr>
          <p:cNvPr id="37" name="Shape 35">
            <a:extLst>
              <a:ext uri="{FF2B5EF4-FFF2-40B4-BE49-F238E27FC236}">
                <a16:creationId xmlns:a16="http://schemas.microsoft.com/office/drawing/2014/main" id="{56457514-840D-17B8-1CA3-22F36C9B7732}"/>
              </a:ext>
            </a:extLst>
          </p:cNvPr>
          <p:cNvSpPr/>
          <p:nvPr/>
        </p:nvSpPr>
        <p:spPr>
          <a:xfrm>
            <a:off x="2834640" y="3819906"/>
            <a:ext cx="6035040" cy="685800"/>
          </a:xfrm>
          <a:prstGeom prst="roundRect">
            <a:avLst>
              <a:gd name="adj" fmla="val 10667"/>
            </a:avLst>
          </a:prstGeom>
          <a:solidFill>
            <a:srgbClr val="1A1A2E"/>
          </a:solidFill>
          <a:ln w="9525">
            <a:solidFill>
              <a:srgbClr val="2A2A48"/>
            </a:solidFill>
            <a:prstDash val="solid"/>
          </a:ln>
        </p:spPr>
        <p:txBody>
          <a:bodyPr/>
          <a:lstStyle/>
          <a:p>
            <a:endParaRPr lang="en-US"/>
          </a:p>
        </p:txBody>
      </p:sp>
      <p:sp>
        <p:nvSpPr>
          <p:cNvPr id="38" name="Shape 36">
            <a:extLst>
              <a:ext uri="{FF2B5EF4-FFF2-40B4-BE49-F238E27FC236}">
                <a16:creationId xmlns:a16="http://schemas.microsoft.com/office/drawing/2014/main" id="{9DF37A64-ED3D-4331-0DFF-1C08C1392C97}"/>
              </a:ext>
            </a:extLst>
          </p:cNvPr>
          <p:cNvSpPr/>
          <p:nvPr/>
        </p:nvSpPr>
        <p:spPr>
          <a:xfrm>
            <a:off x="3035808" y="3970782"/>
            <a:ext cx="384048" cy="384048"/>
          </a:xfrm>
          <a:prstGeom prst="ellipse">
            <a:avLst/>
          </a:prstGeom>
          <a:solidFill>
            <a:srgbClr val="57E3D8"/>
          </a:solidFill>
          <a:ln w="12700">
            <a:solidFill>
              <a:srgbClr val="57E3D8"/>
            </a:solidFill>
            <a:prstDash val="solid"/>
          </a:ln>
        </p:spPr>
        <p:txBody>
          <a:bodyPr/>
          <a:lstStyle/>
          <a:p>
            <a:endParaRPr lang="en-US"/>
          </a:p>
        </p:txBody>
      </p:sp>
      <p:sp>
        <p:nvSpPr>
          <p:cNvPr id="39" name="Text 37">
            <a:extLst>
              <a:ext uri="{FF2B5EF4-FFF2-40B4-BE49-F238E27FC236}">
                <a16:creationId xmlns:a16="http://schemas.microsoft.com/office/drawing/2014/main" id="{4E4D50F2-2BDB-5D2A-D738-38A75BE73FEC}"/>
              </a:ext>
            </a:extLst>
          </p:cNvPr>
          <p:cNvSpPr/>
          <p:nvPr/>
        </p:nvSpPr>
        <p:spPr>
          <a:xfrm>
            <a:off x="3035808" y="3970782"/>
            <a:ext cx="384048" cy="384048"/>
          </a:xfrm>
          <a:prstGeom prst="rect">
            <a:avLst/>
          </a:prstGeom>
          <a:noFill/>
          <a:ln/>
        </p:spPr>
        <p:txBody>
          <a:bodyPr wrap="square" lIns="0" tIns="0" rIns="0" bIns="0" rtlCol="0" anchor="ctr"/>
          <a:lstStyle/>
          <a:p>
            <a:pPr marL="0" indent="0" algn="ctr">
              <a:buNone/>
            </a:pPr>
            <a:r>
              <a:rPr lang="en-US" sz="1200" b="1" dirty="0">
                <a:solidFill>
                  <a:srgbClr val="262626"/>
                </a:solidFill>
                <a:latin typeface="Calibri" pitchFamily="34" charset="0"/>
                <a:ea typeface="Calibri" pitchFamily="34" charset="-122"/>
                <a:cs typeface="Calibri" pitchFamily="34" charset="-120"/>
              </a:rPr>
              <a:t>5</a:t>
            </a:r>
            <a:endParaRPr lang="en-US" sz="1200" dirty="0"/>
          </a:p>
        </p:txBody>
      </p:sp>
      <p:sp>
        <p:nvSpPr>
          <p:cNvPr id="40" name="Text 38">
            <a:extLst>
              <a:ext uri="{FF2B5EF4-FFF2-40B4-BE49-F238E27FC236}">
                <a16:creationId xmlns:a16="http://schemas.microsoft.com/office/drawing/2014/main" id="{AD1F2660-4698-BAA4-6ECB-D1AD7F28A049}"/>
              </a:ext>
            </a:extLst>
          </p:cNvPr>
          <p:cNvSpPr/>
          <p:nvPr/>
        </p:nvSpPr>
        <p:spPr>
          <a:xfrm>
            <a:off x="3584448" y="3911346"/>
            <a:ext cx="731520" cy="228600"/>
          </a:xfrm>
          <a:prstGeom prst="rect">
            <a:avLst/>
          </a:prstGeom>
          <a:noFill/>
          <a:ln/>
        </p:spPr>
        <p:txBody>
          <a:bodyPr wrap="square" lIns="0" tIns="0" rIns="0" bIns="0" rtlCol="0" anchor="ctr"/>
          <a:lstStyle/>
          <a:p>
            <a:pPr marL="0" indent="0" algn="l">
              <a:buNone/>
            </a:pPr>
            <a:r>
              <a:rPr lang="en-US" sz="950" b="1" dirty="0">
                <a:solidFill>
                  <a:srgbClr val="57E3D8"/>
                </a:solidFill>
                <a:latin typeface="Calibri" pitchFamily="34" charset="0"/>
                <a:ea typeface="Calibri" pitchFamily="34" charset="-122"/>
                <a:cs typeface="Calibri" pitchFamily="34" charset="-120"/>
              </a:rPr>
              <a:t>Day 5</a:t>
            </a:r>
            <a:endParaRPr lang="en-US" sz="950" dirty="0"/>
          </a:p>
        </p:txBody>
      </p:sp>
      <p:sp>
        <p:nvSpPr>
          <p:cNvPr id="41" name="Shape 39">
            <a:extLst>
              <a:ext uri="{FF2B5EF4-FFF2-40B4-BE49-F238E27FC236}">
                <a16:creationId xmlns:a16="http://schemas.microsoft.com/office/drawing/2014/main" id="{D73F017A-5189-2942-0DBD-BF028C8152BF}"/>
              </a:ext>
            </a:extLst>
          </p:cNvPr>
          <p:cNvSpPr/>
          <p:nvPr/>
        </p:nvSpPr>
        <p:spPr>
          <a:xfrm>
            <a:off x="4361688" y="3966210"/>
            <a:ext cx="0" cy="393192"/>
          </a:xfrm>
          <a:prstGeom prst="line">
            <a:avLst/>
          </a:prstGeom>
          <a:noFill/>
          <a:ln w="9525">
            <a:solidFill>
              <a:srgbClr val="333355"/>
            </a:solidFill>
            <a:prstDash val="solid"/>
          </a:ln>
        </p:spPr>
        <p:txBody>
          <a:bodyPr/>
          <a:lstStyle/>
          <a:p>
            <a:endParaRPr lang="en-US"/>
          </a:p>
        </p:txBody>
      </p:sp>
      <p:sp>
        <p:nvSpPr>
          <p:cNvPr id="42" name="Text 40">
            <a:extLst>
              <a:ext uri="{FF2B5EF4-FFF2-40B4-BE49-F238E27FC236}">
                <a16:creationId xmlns:a16="http://schemas.microsoft.com/office/drawing/2014/main" id="{6D890D9C-81A6-2603-64EC-51DA4BF1757F}"/>
              </a:ext>
            </a:extLst>
          </p:cNvPr>
          <p:cNvSpPr/>
          <p:nvPr/>
        </p:nvSpPr>
        <p:spPr>
          <a:xfrm>
            <a:off x="4453128" y="3819906"/>
            <a:ext cx="4343400" cy="685800"/>
          </a:xfrm>
          <a:prstGeom prst="rect">
            <a:avLst/>
          </a:prstGeom>
          <a:noFill/>
          <a:ln/>
        </p:spPr>
        <p:txBody>
          <a:bodyPr wrap="square" lIns="0" tIns="0" rIns="0" bIns="0" rtlCol="0" anchor="ctr"/>
          <a:lstStyle/>
          <a:p>
            <a:pPr marL="0" indent="0" algn="l">
              <a:buNone/>
            </a:pPr>
            <a:r>
              <a:rPr lang="en-US" sz="1200" dirty="0">
                <a:solidFill>
                  <a:srgbClr val="EDEDED"/>
                </a:solidFill>
                <a:latin typeface="Calibri" pitchFamily="34" charset="0"/>
                <a:ea typeface="Calibri" pitchFamily="34" charset="-122"/>
                <a:cs typeface="Calibri" pitchFamily="34" charset="-120"/>
              </a:rPr>
              <a:t>IDE usage and debugging concepts</a:t>
            </a:r>
            <a:endParaRPr lang="en-US" sz="1200" dirty="0"/>
          </a:p>
        </p:txBody>
      </p:sp>
    </p:spTree>
    <p:extLst>
      <p:ext uri="{BB962C8B-B14F-4D97-AF65-F5344CB8AC3E}">
        <p14:creationId xmlns:p14="http://schemas.microsoft.com/office/powerpoint/2010/main" val="40896345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313FDBC-5DDD-9D99-0C14-ACF6DD9AF588}"/>
              </a:ext>
            </a:extLst>
          </p:cNvPr>
          <p:cNvSpPr/>
          <p:nvPr/>
        </p:nvSpPr>
        <p:spPr>
          <a:xfrm>
            <a:off x="0" y="0"/>
            <a:ext cx="9144000" cy="64008"/>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42E06120-A5BA-0588-9AFC-314C5FEDBA69}"/>
              </a:ext>
            </a:extLst>
          </p:cNvPr>
          <p:cNvSpPr/>
          <p:nvPr/>
        </p:nvSpPr>
        <p:spPr>
          <a:xfrm>
            <a:off x="0" y="5079492"/>
            <a:ext cx="9144000" cy="64008"/>
          </a:xfrm>
          <a:prstGeom prst="rect">
            <a:avLst/>
          </a:prstGeom>
          <a:solidFill>
            <a:srgbClr val="4F29B7"/>
          </a:solidFill>
          <a:ln w="12700">
            <a:solidFill>
              <a:srgbClr val="4F29B7"/>
            </a:solidFill>
            <a:prstDash val="solid"/>
          </a:ln>
        </p:spPr>
        <p:txBody>
          <a:bodyPr/>
          <a:lstStyle/>
          <a:p>
            <a:endParaRPr lang="en-US"/>
          </a:p>
        </p:txBody>
      </p:sp>
      <p:sp>
        <p:nvSpPr>
          <p:cNvPr id="4" name="Shape 2">
            <a:extLst>
              <a:ext uri="{FF2B5EF4-FFF2-40B4-BE49-F238E27FC236}">
                <a16:creationId xmlns:a16="http://schemas.microsoft.com/office/drawing/2014/main" id="{31E6587E-9A93-DCDC-751E-D59249E30628}"/>
              </a:ext>
            </a:extLst>
          </p:cNvPr>
          <p:cNvSpPr/>
          <p:nvPr/>
        </p:nvSpPr>
        <p:spPr>
          <a:xfrm>
            <a:off x="365760" y="274320"/>
            <a:ext cx="1371600" cy="868680"/>
          </a:xfrm>
          <a:prstGeom prst="rect">
            <a:avLst/>
          </a:prstGeom>
          <a:solidFill>
            <a:srgbClr val="57E3D8"/>
          </a:solidFill>
          <a:ln w="12700">
            <a:solidFill>
              <a:srgbClr val="57E3D8"/>
            </a:solidFill>
            <a:prstDash val="solid"/>
          </a:ln>
        </p:spPr>
        <p:txBody>
          <a:bodyPr/>
          <a:lstStyle/>
          <a:p>
            <a:endParaRPr lang="en-US"/>
          </a:p>
        </p:txBody>
      </p:sp>
      <p:sp>
        <p:nvSpPr>
          <p:cNvPr id="5" name="Text 3">
            <a:extLst>
              <a:ext uri="{FF2B5EF4-FFF2-40B4-BE49-F238E27FC236}">
                <a16:creationId xmlns:a16="http://schemas.microsoft.com/office/drawing/2014/main" id="{C67D5CF5-DB10-704C-D443-9DD16F3972AE}"/>
              </a:ext>
            </a:extLst>
          </p:cNvPr>
          <p:cNvSpPr/>
          <p:nvPr/>
        </p:nvSpPr>
        <p:spPr>
          <a:xfrm>
            <a:off x="365760" y="274320"/>
            <a:ext cx="1371600" cy="868680"/>
          </a:xfrm>
          <a:prstGeom prst="rect">
            <a:avLst/>
          </a:prstGeom>
          <a:noFill/>
          <a:ln/>
        </p:spPr>
        <p:txBody>
          <a:bodyPr wrap="square" lIns="0" tIns="0" rIns="0" bIns="0" rtlCol="0" anchor="ctr"/>
          <a:lstStyle/>
          <a:p>
            <a:pPr marL="0" indent="0" algn="ctr">
              <a:buNone/>
            </a:pPr>
            <a:r>
              <a:rPr lang="en-US" sz="1200" b="1" dirty="0">
                <a:solidFill>
                  <a:srgbClr val="0A2020"/>
                </a:solidFill>
                <a:latin typeface="Calibri" pitchFamily="34" charset="0"/>
                <a:ea typeface="Calibri" pitchFamily="34" charset="-122"/>
                <a:cs typeface="Calibri" pitchFamily="34" charset="-120"/>
              </a:rPr>
              <a:t>DAY</a:t>
            </a:r>
            <a:endParaRPr lang="en-US" sz="1200" dirty="0"/>
          </a:p>
          <a:p>
            <a:pPr marL="0" indent="0" algn="ctr">
              <a:buNone/>
            </a:pPr>
            <a:r>
              <a:rPr lang="en-US" sz="3200" b="1" dirty="0">
                <a:solidFill>
                  <a:srgbClr val="0A2020"/>
                </a:solidFill>
                <a:latin typeface="Calibri" pitchFamily="34" charset="0"/>
                <a:ea typeface="Calibri" pitchFamily="34" charset="-122"/>
                <a:cs typeface="Calibri" pitchFamily="34" charset="-120"/>
              </a:rPr>
              <a:t>1</a:t>
            </a:r>
            <a:endParaRPr lang="en-US" sz="1200" dirty="0"/>
          </a:p>
        </p:txBody>
      </p:sp>
      <p:sp>
        <p:nvSpPr>
          <p:cNvPr id="6" name="Text 4">
            <a:extLst>
              <a:ext uri="{FF2B5EF4-FFF2-40B4-BE49-F238E27FC236}">
                <a16:creationId xmlns:a16="http://schemas.microsoft.com/office/drawing/2014/main" id="{2618CB18-7DD1-DE12-784E-1AD843D14FD8}"/>
              </a:ext>
            </a:extLst>
          </p:cNvPr>
          <p:cNvSpPr/>
          <p:nvPr/>
        </p:nvSpPr>
        <p:spPr>
          <a:xfrm>
            <a:off x="4846320" y="292608"/>
            <a:ext cx="4023360" cy="256032"/>
          </a:xfrm>
          <a:prstGeom prst="rect">
            <a:avLst/>
          </a:prstGeom>
          <a:noFill/>
          <a:ln/>
        </p:spPr>
        <p:txBody>
          <a:bodyPr wrap="square" lIns="0" tIns="0" rIns="0" bIns="0" rtlCol="0" anchor="ctr"/>
          <a:lstStyle/>
          <a:p>
            <a:pPr marL="0" indent="0" algn="r">
              <a:buNone/>
            </a:pPr>
            <a:r>
              <a:rPr lang="en-US" sz="1000" dirty="0">
                <a:solidFill>
                  <a:srgbClr val="9AA4B2"/>
                </a:solidFill>
                <a:latin typeface="Calibri" pitchFamily="34" charset="0"/>
                <a:ea typeface="Calibri" pitchFamily="34" charset="-122"/>
                <a:cs typeface="Calibri" pitchFamily="34" charset="-120"/>
              </a:rPr>
              <a:t>Foundation Bootcamp  ·  Programming Fundamentals</a:t>
            </a:r>
            <a:endParaRPr lang="en-US" sz="1000" dirty="0"/>
          </a:p>
        </p:txBody>
      </p:sp>
      <p:sp>
        <p:nvSpPr>
          <p:cNvPr id="7" name="Text 5">
            <a:extLst>
              <a:ext uri="{FF2B5EF4-FFF2-40B4-BE49-F238E27FC236}">
                <a16:creationId xmlns:a16="http://schemas.microsoft.com/office/drawing/2014/main" id="{AB2A5451-C4E1-38AA-05F1-72B37457912F}"/>
              </a:ext>
            </a:extLst>
          </p:cNvPr>
          <p:cNvSpPr/>
          <p:nvPr/>
        </p:nvSpPr>
        <p:spPr>
          <a:xfrm>
            <a:off x="4846320" y="566928"/>
            <a:ext cx="4023360" cy="256032"/>
          </a:xfrm>
          <a:prstGeom prst="rect">
            <a:avLst/>
          </a:prstGeom>
          <a:noFill/>
          <a:ln/>
        </p:spPr>
        <p:txBody>
          <a:bodyPr wrap="square" lIns="0" tIns="0" rIns="0" bIns="0" rtlCol="0" anchor="ctr"/>
          <a:lstStyle/>
          <a:p>
            <a:pPr marL="0" indent="0" algn="r">
              <a:buNone/>
            </a:pPr>
            <a:r>
              <a:rPr lang="en-US" sz="1000" b="1" dirty="0">
                <a:solidFill>
                  <a:srgbClr val="57E3D8"/>
                </a:solidFill>
                <a:latin typeface="Calibri" pitchFamily="34" charset="0"/>
                <a:ea typeface="Calibri" pitchFamily="34" charset="-122"/>
                <a:cs typeface="Calibri" pitchFamily="34" charset="-120"/>
              </a:rPr>
              <a:t>Week 1  ·  Session 1</a:t>
            </a:r>
            <a:endParaRPr lang="en-US" sz="1000" dirty="0"/>
          </a:p>
        </p:txBody>
      </p:sp>
      <p:sp>
        <p:nvSpPr>
          <p:cNvPr id="8" name="Shape 6">
            <a:extLst>
              <a:ext uri="{FF2B5EF4-FFF2-40B4-BE49-F238E27FC236}">
                <a16:creationId xmlns:a16="http://schemas.microsoft.com/office/drawing/2014/main" id="{FAD083D8-2D1F-92BE-05A6-90E9ABE83F24}"/>
              </a:ext>
            </a:extLst>
          </p:cNvPr>
          <p:cNvSpPr/>
          <p:nvPr/>
        </p:nvSpPr>
        <p:spPr>
          <a:xfrm>
            <a:off x="365760" y="1298448"/>
            <a:ext cx="8412480" cy="1463040"/>
          </a:xfrm>
          <a:prstGeom prst="rect">
            <a:avLst/>
          </a:prstGeom>
          <a:solidFill>
            <a:srgbClr val="1A1A2E"/>
          </a:solidFill>
          <a:ln w="19050">
            <a:solidFill>
              <a:srgbClr val="57E3D8"/>
            </a:solidFill>
            <a:prstDash val="solid"/>
          </a:ln>
        </p:spPr>
        <p:txBody>
          <a:bodyPr/>
          <a:lstStyle/>
          <a:p>
            <a:endParaRPr lang="en-US"/>
          </a:p>
        </p:txBody>
      </p:sp>
      <p:sp>
        <p:nvSpPr>
          <p:cNvPr id="9" name="Shape 7">
            <a:extLst>
              <a:ext uri="{FF2B5EF4-FFF2-40B4-BE49-F238E27FC236}">
                <a16:creationId xmlns:a16="http://schemas.microsoft.com/office/drawing/2014/main" id="{0D5704D3-3BF1-E3E5-328C-6FEE31360790}"/>
              </a:ext>
            </a:extLst>
          </p:cNvPr>
          <p:cNvSpPr/>
          <p:nvPr/>
        </p:nvSpPr>
        <p:spPr>
          <a:xfrm>
            <a:off x="365760" y="1298448"/>
            <a:ext cx="109728" cy="1463040"/>
          </a:xfrm>
          <a:prstGeom prst="rect">
            <a:avLst/>
          </a:prstGeom>
          <a:solidFill>
            <a:srgbClr val="57E3D8"/>
          </a:solidFill>
          <a:ln w="12700">
            <a:solidFill>
              <a:srgbClr val="57E3D8"/>
            </a:solidFill>
            <a:prstDash val="solid"/>
          </a:ln>
        </p:spPr>
        <p:txBody>
          <a:bodyPr/>
          <a:lstStyle/>
          <a:p>
            <a:endParaRPr lang="en-US"/>
          </a:p>
        </p:txBody>
      </p:sp>
      <p:sp>
        <p:nvSpPr>
          <p:cNvPr id="10" name="Text 8">
            <a:extLst>
              <a:ext uri="{FF2B5EF4-FFF2-40B4-BE49-F238E27FC236}">
                <a16:creationId xmlns:a16="http://schemas.microsoft.com/office/drawing/2014/main" id="{D3858319-3A4E-91B1-C2EA-3847BFD5134B}"/>
              </a:ext>
            </a:extLst>
          </p:cNvPr>
          <p:cNvSpPr/>
          <p:nvPr/>
        </p:nvSpPr>
        <p:spPr>
          <a:xfrm>
            <a:off x="685800" y="1417320"/>
            <a:ext cx="3657600" cy="274320"/>
          </a:xfrm>
          <a:prstGeom prst="rect">
            <a:avLst/>
          </a:prstGeom>
          <a:noFill/>
          <a:ln/>
        </p:spPr>
        <p:txBody>
          <a:bodyPr wrap="square" lIns="0" tIns="0" rIns="0" bIns="0" rtlCol="0" anchor="ctr"/>
          <a:lstStyle/>
          <a:p>
            <a:pPr marL="0" indent="0" algn="l">
              <a:buNone/>
            </a:pPr>
            <a:r>
              <a:rPr lang="en-US" sz="1300" i="1" dirty="0">
                <a:solidFill>
                  <a:srgbClr val="9AA4B2"/>
                </a:solidFill>
                <a:latin typeface="Calibri" pitchFamily="34" charset="0"/>
                <a:ea typeface="Calibri" pitchFamily="34" charset="-122"/>
                <a:cs typeface="Calibri" pitchFamily="34" charset="-120"/>
              </a:rPr>
              <a:t>Today's Topics</a:t>
            </a:r>
            <a:endParaRPr lang="en-US" sz="1300" dirty="0"/>
          </a:p>
        </p:txBody>
      </p:sp>
      <p:sp>
        <p:nvSpPr>
          <p:cNvPr id="11" name="Text 9">
            <a:extLst>
              <a:ext uri="{FF2B5EF4-FFF2-40B4-BE49-F238E27FC236}">
                <a16:creationId xmlns:a16="http://schemas.microsoft.com/office/drawing/2014/main" id="{F7576970-1165-68A7-9A7D-AF857B550642}"/>
              </a:ext>
            </a:extLst>
          </p:cNvPr>
          <p:cNvSpPr/>
          <p:nvPr/>
        </p:nvSpPr>
        <p:spPr>
          <a:xfrm>
            <a:off x="685800" y="1737360"/>
            <a:ext cx="7955280"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libri" pitchFamily="34" charset="0"/>
                <a:ea typeface="Calibri" pitchFamily="34" charset="-122"/>
                <a:cs typeface="Calibri" pitchFamily="34" charset="-120"/>
              </a:rPr>
              <a:t>Computer Fundamentals</a:t>
            </a:r>
            <a:endParaRPr lang="en-US" sz="4000" dirty="0"/>
          </a:p>
        </p:txBody>
      </p:sp>
      <p:sp>
        <p:nvSpPr>
          <p:cNvPr id="12" name="Shape 10">
            <a:extLst>
              <a:ext uri="{FF2B5EF4-FFF2-40B4-BE49-F238E27FC236}">
                <a16:creationId xmlns:a16="http://schemas.microsoft.com/office/drawing/2014/main" id="{8F5FA2A2-3F2F-83FD-13B0-8F916BDF8B68}"/>
              </a:ext>
            </a:extLst>
          </p:cNvPr>
          <p:cNvSpPr/>
          <p:nvPr/>
        </p:nvSpPr>
        <p:spPr>
          <a:xfrm>
            <a:off x="448056" y="2971800"/>
            <a:ext cx="1965960" cy="256032"/>
          </a:xfrm>
          <a:prstGeom prst="rect">
            <a:avLst/>
          </a:prstGeom>
          <a:solidFill>
            <a:srgbClr val="57E3D8"/>
          </a:solidFill>
          <a:ln w="12700">
            <a:solidFill>
              <a:srgbClr val="57E3D8"/>
            </a:solidFill>
            <a:prstDash val="solid"/>
          </a:ln>
        </p:spPr>
        <p:txBody>
          <a:bodyPr/>
          <a:lstStyle/>
          <a:p>
            <a:endParaRPr lang="en-US"/>
          </a:p>
        </p:txBody>
      </p:sp>
      <p:sp>
        <p:nvSpPr>
          <p:cNvPr id="13" name="Text 11">
            <a:extLst>
              <a:ext uri="{FF2B5EF4-FFF2-40B4-BE49-F238E27FC236}">
                <a16:creationId xmlns:a16="http://schemas.microsoft.com/office/drawing/2014/main" id="{44B0681B-DD72-BBAA-CF9F-BAB2A3B94A02}"/>
              </a:ext>
            </a:extLst>
          </p:cNvPr>
          <p:cNvSpPr/>
          <p:nvPr/>
        </p:nvSpPr>
        <p:spPr>
          <a:xfrm>
            <a:off x="557784" y="2990088"/>
            <a:ext cx="457200" cy="219456"/>
          </a:xfrm>
          <a:prstGeom prst="rect">
            <a:avLst/>
          </a:prstGeom>
          <a:noFill/>
          <a:ln/>
        </p:spPr>
        <p:txBody>
          <a:bodyPr wrap="square" lIns="0" tIns="0" rIns="0" bIns="0" rtlCol="0" anchor="ctr"/>
          <a:lstStyle/>
          <a:p>
            <a:pPr marL="0" indent="0" algn="l">
              <a:buNone/>
            </a:pPr>
            <a:r>
              <a:rPr lang="en-US" sz="1000" b="1" dirty="0">
                <a:solidFill>
                  <a:srgbClr val="0A2020"/>
                </a:solidFill>
                <a:latin typeface="Calibri" pitchFamily="34" charset="0"/>
                <a:ea typeface="Calibri" pitchFamily="34" charset="-122"/>
                <a:cs typeface="Calibri" pitchFamily="34" charset="-120"/>
              </a:rPr>
              <a:t>01</a:t>
            </a:r>
            <a:endParaRPr lang="en-US" sz="1000" dirty="0"/>
          </a:p>
        </p:txBody>
      </p:sp>
      <p:sp>
        <p:nvSpPr>
          <p:cNvPr id="14" name="Shape 12">
            <a:extLst>
              <a:ext uri="{FF2B5EF4-FFF2-40B4-BE49-F238E27FC236}">
                <a16:creationId xmlns:a16="http://schemas.microsoft.com/office/drawing/2014/main" id="{863F2B03-F032-249B-78BC-7A866DB649EF}"/>
              </a:ext>
            </a:extLst>
          </p:cNvPr>
          <p:cNvSpPr/>
          <p:nvPr/>
        </p:nvSpPr>
        <p:spPr>
          <a:xfrm>
            <a:off x="448056" y="3227832"/>
            <a:ext cx="1965960" cy="1435608"/>
          </a:xfrm>
          <a:prstGeom prst="rect">
            <a:avLst/>
          </a:prstGeom>
          <a:solidFill>
            <a:srgbClr val="1A1A2E"/>
          </a:solidFill>
          <a:ln w="9525">
            <a:solidFill>
              <a:srgbClr val="2A2A48"/>
            </a:solidFill>
            <a:prstDash val="solid"/>
          </a:ln>
        </p:spPr>
        <p:txBody>
          <a:bodyPr/>
          <a:lstStyle/>
          <a:p>
            <a:endParaRPr lang="en-US"/>
          </a:p>
        </p:txBody>
      </p:sp>
      <p:sp>
        <p:nvSpPr>
          <p:cNvPr id="15" name="Shape 13">
            <a:extLst>
              <a:ext uri="{FF2B5EF4-FFF2-40B4-BE49-F238E27FC236}">
                <a16:creationId xmlns:a16="http://schemas.microsoft.com/office/drawing/2014/main" id="{BEB099FC-10EB-F5A1-0946-B88DCE86BBD5}"/>
              </a:ext>
            </a:extLst>
          </p:cNvPr>
          <p:cNvSpPr/>
          <p:nvPr/>
        </p:nvSpPr>
        <p:spPr>
          <a:xfrm>
            <a:off x="1147572" y="3383280"/>
            <a:ext cx="566928" cy="566928"/>
          </a:xfrm>
          <a:prstGeom prst="ellipse">
            <a:avLst/>
          </a:prstGeom>
          <a:solidFill>
            <a:srgbClr val="1A1A2E"/>
          </a:solidFill>
          <a:ln w="19050">
            <a:solidFill>
              <a:srgbClr val="57E3D8"/>
            </a:solidFill>
            <a:prstDash val="solid"/>
          </a:ln>
        </p:spPr>
        <p:txBody>
          <a:bodyPr/>
          <a:lstStyle/>
          <a:p>
            <a:endParaRPr lang="en-US"/>
          </a:p>
        </p:txBody>
      </p:sp>
      <p:pic>
        <p:nvPicPr>
          <p:cNvPr id="16" name="Image 0" descr="preencoded.png">
            <a:extLst>
              <a:ext uri="{FF2B5EF4-FFF2-40B4-BE49-F238E27FC236}">
                <a16:creationId xmlns:a16="http://schemas.microsoft.com/office/drawing/2014/main" id="{2BB8682D-961A-DD53-45ED-B5032D0B87E6}"/>
              </a:ext>
            </a:extLst>
          </p:cNvPr>
          <p:cNvPicPr>
            <a:picLocks noChangeAspect="1"/>
          </p:cNvPicPr>
          <p:nvPr/>
        </p:nvPicPr>
        <p:blipFill>
          <a:blip r:embed="rId2"/>
          <a:stretch>
            <a:fillRect/>
          </a:stretch>
        </p:blipFill>
        <p:spPr>
          <a:xfrm>
            <a:off x="1284732" y="3520440"/>
            <a:ext cx="292608" cy="292608"/>
          </a:xfrm>
          <a:prstGeom prst="rect">
            <a:avLst/>
          </a:prstGeom>
        </p:spPr>
      </p:pic>
      <p:sp>
        <p:nvSpPr>
          <p:cNvPr id="17" name="Text 14">
            <a:extLst>
              <a:ext uri="{FF2B5EF4-FFF2-40B4-BE49-F238E27FC236}">
                <a16:creationId xmlns:a16="http://schemas.microsoft.com/office/drawing/2014/main" id="{A012E61B-F8AB-45CD-A4DE-3F1327EF0708}"/>
              </a:ext>
            </a:extLst>
          </p:cNvPr>
          <p:cNvSpPr/>
          <p:nvPr/>
        </p:nvSpPr>
        <p:spPr>
          <a:xfrm>
            <a:off x="539496" y="3995928"/>
            <a:ext cx="1783080" cy="256032"/>
          </a:xfrm>
          <a:prstGeom prst="rect">
            <a:avLst/>
          </a:prstGeom>
          <a:noFill/>
          <a:ln/>
        </p:spPr>
        <p:txBody>
          <a:bodyPr wrap="square" lIns="0" tIns="0" rIns="0" bIns="0" rtlCol="0" anchor="ctr"/>
          <a:lstStyle/>
          <a:p>
            <a:pPr marL="0" indent="0" algn="l">
              <a:buNone/>
            </a:pPr>
            <a:r>
              <a:rPr lang="en-US" sz="1250" b="1" dirty="0">
                <a:solidFill>
                  <a:srgbClr val="57E3D8"/>
                </a:solidFill>
                <a:latin typeface="Calibri" pitchFamily="34" charset="0"/>
                <a:ea typeface="Calibri" pitchFamily="34" charset="-122"/>
                <a:cs typeface="Calibri" pitchFamily="34" charset="-120"/>
              </a:rPr>
              <a:t>Operating Systems</a:t>
            </a:r>
            <a:endParaRPr lang="en-US" sz="1250" dirty="0"/>
          </a:p>
        </p:txBody>
      </p:sp>
      <p:sp>
        <p:nvSpPr>
          <p:cNvPr id="18" name="Text 15">
            <a:extLst>
              <a:ext uri="{FF2B5EF4-FFF2-40B4-BE49-F238E27FC236}">
                <a16:creationId xmlns:a16="http://schemas.microsoft.com/office/drawing/2014/main" id="{0E81D8A6-1D5A-C81F-0678-FB64F8ADF628}"/>
              </a:ext>
            </a:extLst>
          </p:cNvPr>
          <p:cNvSpPr/>
          <p:nvPr/>
        </p:nvSpPr>
        <p:spPr>
          <a:xfrm>
            <a:off x="539496" y="4251960"/>
            <a:ext cx="1783080" cy="384048"/>
          </a:xfrm>
          <a:prstGeom prst="rect">
            <a:avLst/>
          </a:prstGeom>
          <a:noFill/>
          <a:ln/>
        </p:spPr>
        <p:txBody>
          <a:bodyPr wrap="square" lIns="0" tIns="0" rIns="0" bIns="0" rtlCol="0" anchor="t"/>
          <a:lstStyle/>
          <a:p>
            <a:pPr marL="0" indent="0" algn="l">
              <a:buNone/>
            </a:pPr>
            <a:r>
              <a:rPr lang="en-US" sz="900" dirty="0">
                <a:solidFill>
                  <a:srgbClr val="EDEDED"/>
                </a:solidFill>
                <a:latin typeface="Calibri" pitchFamily="34" charset="0"/>
                <a:ea typeface="Calibri" pitchFamily="34" charset="-122"/>
                <a:cs typeface="Calibri" pitchFamily="34" charset="-120"/>
              </a:rPr>
              <a:t>What is an OS, how it manages hardware, software and users</a:t>
            </a:r>
            <a:endParaRPr lang="en-US" sz="900" dirty="0"/>
          </a:p>
        </p:txBody>
      </p:sp>
      <p:sp>
        <p:nvSpPr>
          <p:cNvPr id="19" name="Shape 16">
            <a:extLst>
              <a:ext uri="{FF2B5EF4-FFF2-40B4-BE49-F238E27FC236}">
                <a16:creationId xmlns:a16="http://schemas.microsoft.com/office/drawing/2014/main" id="{509FF1E3-7F95-BF77-7884-C3713707FFEB}"/>
              </a:ext>
            </a:extLst>
          </p:cNvPr>
          <p:cNvSpPr/>
          <p:nvPr/>
        </p:nvSpPr>
        <p:spPr>
          <a:xfrm>
            <a:off x="2542032" y="2971800"/>
            <a:ext cx="1965960" cy="256032"/>
          </a:xfrm>
          <a:prstGeom prst="rect">
            <a:avLst/>
          </a:prstGeom>
          <a:solidFill>
            <a:srgbClr val="4A8AF4"/>
          </a:solidFill>
          <a:ln w="12700">
            <a:solidFill>
              <a:srgbClr val="4A8AF4"/>
            </a:solidFill>
            <a:prstDash val="solid"/>
          </a:ln>
        </p:spPr>
        <p:txBody>
          <a:bodyPr/>
          <a:lstStyle/>
          <a:p>
            <a:endParaRPr lang="en-US"/>
          </a:p>
        </p:txBody>
      </p:sp>
      <p:sp>
        <p:nvSpPr>
          <p:cNvPr id="20" name="Text 17">
            <a:extLst>
              <a:ext uri="{FF2B5EF4-FFF2-40B4-BE49-F238E27FC236}">
                <a16:creationId xmlns:a16="http://schemas.microsoft.com/office/drawing/2014/main" id="{D783B96E-964E-98F7-1DBA-93833A52BCDA}"/>
              </a:ext>
            </a:extLst>
          </p:cNvPr>
          <p:cNvSpPr/>
          <p:nvPr/>
        </p:nvSpPr>
        <p:spPr>
          <a:xfrm>
            <a:off x="2651760" y="2990088"/>
            <a:ext cx="457200" cy="219456"/>
          </a:xfrm>
          <a:prstGeom prst="rect">
            <a:avLst/>
          </a:prstGeom>
          <a:noFill/>
          <a:ln/>
        </p:spPr>
        <p:txBody>
          <a:bodyPr wrap="square" lIns="0" tIns="0" rIns="0" bIns="0" rtlCol="0" anchor="ctr"/>
          <a:lstStyle/>
          <a:p>
            <a:pPr marL="0" indent="0" algn="l">
              <a:buNone/>
            </a:pPr>
            <a:r>
              <a:rPr lang="en-US" sz="1000" b="1" dirty="0">
                <a:solidFill>
                  <a:srgbClr val="0A2020"/>
                </a:solidFill>
                <a:latin typeface="Calibri" pitchFamily="34" charset="0"/>
                <a:ea typeface="Calibri" pitchFamily="34" charset="-122"/>
                <a:cs typeface="Calibri" pitchFamily="34" charset="-120"/>
              </a:rPr>
              <a:t>02</a:t>
            </a:r>
            <a:endParaRPr lang="en-US" sz="1000" dirty="0"/>
          </a:p>
        </p:txBody>
      </p:sp>
      <p:sp>
        <p:nvSpPr>
          <p:cNvPr id="21" name="Shape 18">
            <a:extLst>
              <a:ext uri="{FF2B5EF4-FFF2-40B4-BE49-F238E27FC236}">
                <a16:creationId xmlns:a16="http://schemas.microsoft.com/office/drawing/2014/main" id="{6FFD5674-F734-94AD-0AC9-E1FA43B9DB81}"/>
              </a:ext>
            </a:extLst>
          </p:cNvPr>
          <p:cNvSpPr/>
          <p:nvPr/>
        </p:nvSpPr>
        <p:spPr>
          <a:xfrm>
            <a:off x="2542032" y="3227832"/>
            <a:ext cx="1965960" cy="1435608"/>
          </a:xfrm>
          <a:prstGeom prst="rect">
            <a:avLst/>
          </a:prstGeom>
          <a:solidFill>
            <a:srgbClr val="1A1A2E"/>
          </a:solidFill>
          <a:ln w="9525">
            <a:solidFill>
              <a:srgbClr val="2A2A48"/>
            </a:solidFill>
            <a:prstDash val="solid"/>
          </a:ln>
        </p:spPr>
        <p:txBody>
          <a:bodyPr/>
          <a:lstStyle/>
          <a:p>
            <a:endParaRPr lang="en-US"/>
          </a:p>
        </p:txBody>
      </p:sp>
      <p:sp>
        <p:nvSpPr>
          <p:cNvPr id="22" name="Shape 19">
            <a:extLst>
              <a:ext uri="{FF2B5EF4-FFF2-40B4-BE49-F238E27FC236}">
                <a16:creationId xmlns:a16="http://schemas.microsoft.com/office/drawing/2014/main" id="{9D2A8F47-C25F-DCA5-15B0-45A6A6E685C0}"/>
              </a:ext>
            </a:extLst>
          </p:cNvPr>
          <p:cNvSpPr/>
          <p:nvPr/>
        </p:nvSpPr>
        <p:spPr>
          <a:xfrm>
            <a:off x="3241548" y="3383280"/>
            <a:ext cx="566928" cy="566928"/>
          </a:xfrm>
          <a:prstGeom prst="ellipse">
            <a:avLst/>
          </a:prstGeom>
          <a:solidFill>
            <a:srgbClr val="1A1A2E"/>
          </a:solidFill>
          <a:ln w="19050">
            <a:solidFill>
              <a:srgbClr val="4A8AF4"/>
            </a:solidFill>
            <a:prstDash val="solid"/>
          </a:ln>
        </p:spPr>
        <p:txBody>
          <a:bodyPr/>
          <a:lstStyle/>
          <a:p>
            <a:endParaRPr lang="en-US"/>
          </a:p>
        </p:txBody>
      </p:sp>
      <p:pic>
        <p:nvPicPr>
          <p:cNvPr id="23" name="Image 1" descr="preencoded.png">
            <a:extLst>
              <a:ext uri="{FF2B5EF4-FFF2-40B4-BE49-F238E27FC236}">
                <a16:creationId xmlns:a16="http://schemas.microsoft.com/office/drawing/2014/main" id="{412C1324-714A-69F6-27F7-4F9223D687B9}"/>
              </a:ext>
            </a:extLst>
          </p:cNvPr>
          <p:cNvPicPr>
            <a:picLocks noChangeAspect="1"/>
          </p:cNvPicPr>
          <p:nvPr/>
        </p:nvPicPr>
        <p:blipFill>
          <a:blip r:embed="rId3"/>
          <a:stretch>
            <a:fillRect/>
          </a:stretch>
        </p:blipFill>
        <p:spPr>
          <a:xfrm>
            <a:off x="3378708" y="3520440"/>
            <a:ext cx="292608" cy="292608"/>
          </a:xfrm>
          <a:prstGeom prst="rect">
            <a:avLst/>
          </a:prstGeom>
        </p:spPr>
      </p:pic>
      <p:sp>
        <p:nvSpPr>
          <p:cNvPr id="24" name="Text 20">
            <a:extLst>
              <a:ext uri="{FF2B5EF4-FFF2-40B4-BE49-F238E27FC236}">
                <a16:creationId xmlns:a16="http://schemas.microsoft.com/office/drawing/2014/main" id="{1AE054CC-788A-0238-EC96-FA57C021FC40}"/>
              </a:ext>
            </a:extLst>
          </p:cNvPr>
          <p:cNvSpPr/>
          <p:nvPr/>
        </p:nvSpPr>
        <p:spPr>
          <a:xfrm>
            <a:off x="2633472" y="3995928"/>
            <a:ext cx="1783080" cy="256032"/>
          </a:xfrm>
          <a:prstGeom prst="rect">
            <a:avLst/>
          </a:prstGeom>
          <a:noFill/>
          <a:ln/>
        </p:spPr>
        <p:txBody>
          <a:bodyPr wrap="square" lIns="0" tIns="0" rIns="0" bIns="0" rtlCol="0" anchor="ctr"/>
          <a:lstStyle/>
          <a:p>
            <a:pPr marL="0" indent="0" algn="l">
              <a:buNone/>
            </a:pPr>
            <a:r>
              <a:rPr lang="en-US" sz="1250" b="1" dirty="0">
                <a:solidFill>
                  <a:srgbClr val="4A8AF4"/>
                </a:solidFill>
                <a:latin typeface="Calibri" pitchFamily="34" charset="0"/>
                <a:ea typeface="Calibri" pitchFamily="34" charset="-122"/>
                <a:cs typeface="Calibri" pitchFamily="34" charset="-120"/>
              </a:rPr>
              <a:t>Files</a:t>
            </a:r>
            <a:endParaRPr lang="en-US" sz="1250" dirty="0"/>
          </a:p>
        </p:txBody>
      </p:sp>
      <p:sp>
        <p:nvSpPr>
          <p:cNvPr id="25" name="Text 21">
            <a:extLst>
              <a:ext uri="{FF2B5EF4-FFF2-40B4-BE49-F238E27FC236}">
                <a16:creationId xmlns:a16="http://schemas.microsoft.com/office/drawing/2014/main" id="{C7AFB4C8-A5F1-8E8E-6768-231160D342BA}"/>
              </a:ext>
            </a:extLst>
          </p:cNvPr>
          <p:cNvSpPr/>
          <p:nvPr/>
        </p:nvSpPr>
        <p:spPr>
          <a:xfrm>
            <a:off x="2633472" y="4251960"/>
            <a:ext cx="1783080" cy="384048"/>
          </a:xfrm>
          <a:prstGeom prst="rect">
            <a:avLst/>
          </a:prstGeom>
          <a:noFill/>
          <a:ln/>
        </p:spPr>
        <p:txBody>
          <a:bodyPr wrap="square" lIns="0" tIns="0" rIns="0" bIns="0" rtlCol="0" anchor="t"/>
          <a:lstStyle/>
          <a:p>
            <a:pPr marL="0" indent="0" algn="l">
              <a:buNone/>
            </a:pPr>
            <a:r>
              <a:rPr lang="en-US" sz="900" dirty="0">
                <a:solidFill>
                  <a:srgbClr val="EDEDED"/>
                </a:solidFill>
                <a:latin typeface="Calibri" pitchFamily="34" charset="0"/>
                <a:ea typeface="Calibri" pitchFamily="34" charset="-122"/>
                <a:cs typeface="Calibri" pitchFamily="34" charset="-120"/>
              </a:rPr>
              <a:t>How files are stored, retrieved, edited and deleted on disk</a:t>
            </a:r>
            <a:endParaRPr lang="en-US" sz="900" dirty="0"/>
          </a:p>
        </p:txBody>
      </p:sp>
      <p:sp>
        <p:nvSpPr>
          <p:cNvPr id="26" name="Shape 22">
            <a:extLst>
              <a:ext uri="{FF2B5EF4-FFF2-40B4-BE49-F238E27FC236}">
                <a16:creationId xmlns:a16="http://schemas.microsoft.com/office/drawing/2014/main" id="{9D78CCF1-008A-5CE5-AC2B-DCEF547897A9}"/>
              </a:ext>
            </a:extLst>
          </p:cNvPr>
          <p:cNvSpPr/>
          <p:nvPr/>
        </p:nvSpPr>
        <p:spPr>
          <a:xfrm>
            <a:off x="4636008" y="2971800"/>
            <a:ext cx="1965960" cy="256032"/>
          </a:xfrm>
          <a:prstGeom prst="rect">
            <a:avLst/>
          </a:prstGeom>
          <a:solidFill>
            <a:srgbClr val="E08845"/>
          </a:solidFill>
          <a:ln w="12700">
            <a:solidFill>
              <a:srgbClr val="E08845"/>
            </a:solidFill>
            <a:prstDash val="solid"/>
          </a:ln>
        </p:spPr>
        <p:txBody>
          <a:bodyPr/>
          <a:lstStyle/>
          <a:p>
            <a:endParaRPr lang="en-US"/>
          </a:p>
        </p:txBody>
      </p:sp>
      <p:sp>
        <p:nvSpPr>
          <p:cNvPr id="27" name="Text 23">
            <a:extLst>
              <a:ext uri="{FF2B5EF4-FFF2-40B4-BE49-F238E27FC236}">
                <a16:creationId xmlns:a16="http://schemas.microsoft.com/office/drawing/2014/main" id="{EB9130E3-8857-DC7C-907D-FE7C1B53B464}"/>
              </a:ext>
            </a:extLst>
          </p:cNvPr>
          <p:cNvSpPr/>
          <p:nvPr/>
        </p:nvSpPr>
        <p:spPr>
          <a:xfrm>
            <a:off x="4745736" y="2990088"/>
            <a:ext cx="457200" cy="219456"/>
          </a:xfrm>
          <a:prstGeom prst="rect">
            <a:avLst/>
          </a:prstGeom>
          <a:noFill/>
          <a:ln/>
        </p:spPr>
        <p:txBody>
          <a:bodyPr wrap="square" lIns="0" tIns="0" rIns="0" bIns="0" rtlCol="0" anchor="ctr"/>
          <a:lstStyle/>
          <a:p>
            <a:pPr marL="0" indent="0" algn="l">
              <a:buNone/>
            </a:pPr>
            <a:r>
              <a:rPr lang="en-US" sz="1000" b="1" dirty="0">
                <a:solidFill>
                  <a:srgbClr val="0A2020"/>
                </a:solidFill>
                <a:latin typeface="Calibri" pitchFamily="34" charset="0"/>
                <a:ea typeface="Calibri" pitchFamily="34" charset="-122"/>
                <a:cs typeface="Calibri" pitchFamily="34" charset="-120"/>
              </a:rPr>
              <a:t>03</a:t>
            </a:r>
            <a:endParaRPr lang="en-US" sz="1000" dirty="0"/>
          </a:p>
        </p:txBody>
      </p:sp>
      <p:sp>
        <p:nvSpPr>
          <p:cNvPr id="28" name="Shape 24">
            <a:extLst>
              <a:ext uri="{FF2B5EF4-FFF2-40B4-BE49-F238E27FC236}">
                <a16:creationId xmlns:a16="http://schemas.microsoft.com/office/drawing/2014/main" id="{015392AA-FAA7-FAF0-16B9-DB2D2E80ABE9}"/>
              </a:ext>
            </a:extLst>
          </p:cNvPr>
          <p:cNvSpPr/>
          <p:nvPr/>
        </p:nvSpPr>
        <p:spPr>
          <a:xfrm>
            <a:off x="4636008" y="3227832"/>
            <a:ext cx="1965960" cy="1435608"/>
          </a:xfrm>
          <a:prstGeom prst="rect">
            <a:avLst/>
          </a:prstGeom>
          <a:solidFill>
            <a:srgbClr val="1A1A2E"/>
          </a:solidFill>
          <a:ln w="9525">
            <a:solidFill>
              <a:srgbClr val="2A2A48"/>
            </a:solidFill>
            <a:prstDash val="solid"/>
          </a:ln>
        </p:spPr>
        <p:txBody>
          <a:bodyPr/>
          <a:lstStyle/>
          <a:p>
            <a:endParaRPr lang="en-US"/>
          </a:p>
        </p:txBody>
      </p:sp>
      <p:sp>
        <p:nvSpPr>
          <p:cNvPr id="29" name="Shape 25">
            <a:extLst>
              <a:ext uri="{FF2B5EF4-FFF2-40B4-BE49-F238E27FC236}">
                <a16:creationId xmlns:a16="http://schemas.microsoft.com/office/drawing/2014/main" id="{35E4AB96-40B3-FFCD-7B2C-BEC27DB50F93}"/>
              </a:ext>
            </a:extLst>
          </p:cNvPr>
          <p:cNvSpPr/>
          <p:nvPr/>
        </p:nvSpPr>
        <p:spPr>
          <a:xfrm>
            <a:off x="5335524" y="3383280"/>
            <a:ext cx="566928" cy="566928"/>
          </a:xfrm>
          <a:prstGeom prst="ellipse">
            <a:avLst/>
          </a:prstGeom>
          <a:solidFill>
            <a:srgbClr val="1A1A2E"/>
          </a:solidFill>
          <a:ln w="19050">
            <a:solidFill>
              <a:srgbClr val="E08845"/>
            </a:solidFill>
            <a:prstDash val="solid"/>
          </a:ln>
        </p:spPr>
        <p:txBody>
          <a:bodyPr/>
          <a:lstStyle/>
          <a:p>
            <a:endParaRPr lang="en-US"/>
          </a:p>
        </p:txBody>
      </p:sp>
      <p:pic>
        <p:nvPicPr>
          <p:cNvPr id="30" name="Image 2" descr="preencoded.png">
            <a:extLst>
              <a:ext uri="{FF2B5EF4-FFF2-40B4-BE49-F238E27FC236}">
                <a16:creationId xmlns:a16="http://schemas.microsoft.com/office/drawing/2014/main" id="{B4F08430-4DE3-A123-6DE3-E6E4102C890A}"/>
              </a:ext>
            </a:extLst>
          </p:cNvPr>
          <p:cNvPicPr>
            <a:picLocks noChangeAspect="1"/>
          </p:cNvPicPr>
          <p:nvPr/>
        </p:nvPicPr>
        <p:blipFill>
          <a:blip r:embed="rId4"/>
          <a:stretch>
            <a:fillRect/>
          </a:stretch>
        </p:blipFill>
        <p:spPr>
          <a:xfrm>
            <a:off x="5472684" y="3520440"/>
            <a:ext cx="292608" cy="292608"/>
          </a:xfrm>
          <a:prstGeom prst="rect">
            <a:avLst/>
          </a:prstGeom>
        </p:spPr>
      </p:pic>
      <p:sp>
        <p:nvSpPr>
          <p:cNvPr id="31" name="Text 26">
            <a:extLst>
              <a:ext uri="{FF2B5EF4-FFF2-40B4-BE49-F238E27FC236}">
                <a16:creationId xmlns:a16="http://schemas.microsoft.com/office/drawing/2014/main" id="{C70E47AA-2F2E-EEB7-BD8B-85FCC7D175B6}"/>
              </a:ext>
            </a:extLst>
          </p:cNvPr>
          <p:cNvSpPr/>
          <p:nvPr/>
        </p:nvSpPr>
        <p:spPr>
          <a:xfrm>
            <a:off x="4727448" y="3995928"/>
            <a:ext cx="1783080" cy="256032"/>
          </a:xfrm>
          <a:prstGeom prst="rect">
            <a:avLst/>
          </a:prstGeom>
          <a:noFill/>
          <a:ln/>
        </p:spPr>
        <p:txBody>
          <a:bodyPr wrap="square" lIns="0" tIns="0" rIns="0" bIns="0" rtlCol="0" anchor="ctr"/>
          <a:lstStyle/>
          <a:p>
            <a:pPr marL="0" indent="0" algn="l">
              <a:buNone/>
            </a:pPr>
            <a:r>
              <a:rPr lang="en-US" sz="1250" b="1" dirty="0">
                <a:solidFill>
                  <a:srgbClr val="E08845"/>
                </a:solidFill>
                <a:latin typeface="Calibri" pitchFamily="34" charset="0"/>
                <a:ea typeface="Calibri" pitchFamily="34" charset="-122"/>
                <a:cs typeface="Calibri" pitchFamily="34" charset="-120"/>
              </a:rPr>
              <a:t>Extensions</a:t>
            </a:r>
            <a:endParaRPr lang="en-US" sz="1250" dirty="0"/>
          </a:p>
        </p:txBody>
      </p:sp>
      <p:sp>
        <p:nvSpPr>
          <p:cNvPr id="32" name="Text 27">
            <a:extLst>
              <a:ext uri="{FF2B5EF4-FFF2-40B4-BE49-F238E27FC236}">
                <a16:creationId xmlns:a16="http://schemas.microsoft.com/office/drawing/2014/main" id="{8ECCBAFC-4FF7-E939-9F85-F5EFDC3F0AFF}"/>
              </a:ext>
            </a:extLst>
          </p:cNvPr>
          <p:cNvSpPr/>
          <p:nvPr/>
        </p:nvSpPr>
        <p:spPr>
          <a:xfrm>
            <a:off x="4727448" y="4251960"/>
            <a:ext cx="1783080" cy="384048"/>
          </a:xfrm>
          <a:prstGeom prst="rect">
            <a:avLst/>
          </a:prstGeom>
          <a:noFill/>
          <a:ln/>
        </p:spPr>
        <p:txBody>
          <a:bodyPr wrap="square" lIns="0" tIns="0" rIns="0" bIns="0" rtlCol="0" anchor="t"/>
          <a:lstStyle/>
          <a:p>
            <a:pPr marL="0" indent="0" algn="l">
              <a:buNone/>
            </a:pPr>
            <a:r>
              <a:rPr lang="en-US" sz="900" dirty="0">
                <a:solidFill>
                  <a:srgbClr val="EDEDED"/>
                </a:solidFill>
                <a:latin typeface="Calibri" pitchFamily="34" charset="0"/>
                <a:ea typeface="Calibri" pitchFamily="34" charset="-122"/>
                <a:cs typeface="Calibri" pitchFamily="34" charset="-120"/>
              </a:rPr>
              <a:t>What file extensions mean and how the OS uses them</a:t>
            </a:r>
            <a:endParaRPr lang="en-US" sz="900" dirty="0"/>
          </a:p>
        </p:txBody>
      </p:sp>
      <p:sp>
        <p:nvSpPr>
          <p:cNvPr id="33" name="Shape 28">
            <a:extLst>
              <a:ext uri="{FF2B5EF4-FFF2-40B4-BE49-F238E27FC236}">
                <a16:creationId xmlns:a16="http://schemas.microsoft.com/office/drawing/2014/main" id="{7610D32B-5A46-C321-DF99-3AA4DD031AF2}"/>
              </a:ext>
            </a:extLst>
          </p:cNvPr>
          <p:cNvSpPr/>
          <p:nvPr/>
        </p:nvSpPr>
        <p:spPr>
          <a:xfrm>
            <a:off x="6729984" y="2971800"/>
            <a:ext cx="1965960" cy="256032"/>
          </a:xfrm>
          <a:prstGeom prst="rect">
            <a:avLst/>
          </a:prstGeom>
          <a:solidFill>
            <a:srgbClr val="9B7EDA"/>
          </a:solidFill>
          <a:ln w="12700">
            <a:solidFill>
              <a:srgbClr val="9B7EDA"/>
            </a:solidFill>
            <a:prstDash val="solid"/>
          </a:ln>
        </p:spPr>
        <p:txBody>
          <a:bodyPr/>
          <a:lstStyle/>
          <a:p>
            <a:endParaRPr lang="en-US"/>
          </a:p>
        </p:txBody>
      </p:sp>
      <p:sp>
        <p:nvSpPr>
          <p:cNvPr id="34" name="Text 29">
            <a:extLst>
              <a:ext uri="{FF2B5EF4-FFF2-40B4-BE49-F238E27FC236}">
                <a16:creationId xmlns:a16="http://schemas.microsoft.com/office/drawing/2014/main" id="{B950023F-CCE1-382C-FDCF-D5C19DE609C4}"/>
              </a:ext>
            </a:extLst>
          </p:cNvPr>
          <p:cNvSpPr/>
          <p:nvPr/>
        </p:nvSpPr>
        <p:spPr>
          <a:xfrm>
            <a:off x="6839712" y="2990088"/>
            <a:ext cx="457200" cy="219456"/>
          </a:xfrm>
          <a:prstGeom prst="rect">
            <a:avLst/>
          </a:prstGeom>
          <a:noFill/>
          <a:ln/>
        </p:spPr>
        <p:txBody>
          <a:bodyPr wrap="square" lIns="0" tIns="0" rIns="0" bIns="0" rtlCol="0" anchor="ctr"/>
          <a:lstStyle/>
          <a:p>
            <a:pPr marL="0" indent="0" algn="l">
              <a:buNone/>
            </a:pPr>
            <a:r>
              <a:rPr lang="en-US" sz="1000" b="1" dirty="0">
                <a:solidFill>
                  <a:srgbClr val="0A2020"/>
                </a:solidFill>
                <a:latin typeface="Calibri" pitchFamily="34" charset="0"/>
                <a:ea typeface="Calibri" pitchFamily="34" charset="-122"/>
                <a:cs typeface="Calibri" pitchFamily="34" charset="-120"/>
              </a:rPr>
              <a:t>04</a:t>
            </a:r>
            <a:endParaRPr lang="en-US" sz="1000" dirty="0"/>
          </a:p>
        </p:txBody>
      </p:sp>
      <p:sp>
        <p:nvSpPr>
          <p:cNvPr id="35" name="Shape 30">
            <a:extLst>
              <a:ext uri="{FF2B5EF4-FFF2-40B4-BE49-F238E27FC236}">
                <a16:creationId xmlns:a16="http://schemas.microsoft.com/office/drawing/2014/main" id="{3BDC98BD-C247-517E-A975-095E85D2D3D7}"/>
              </a:ext>
            </a:extLst>
          </p:cNvPr>
          <p:cNvSpPr/>
          <p:nvPr/>
        </p:nvSpPr>
        <p:spPr>
          <a:xfrm>
            <a:off x="6729984" y="3227832"/>
            <a:ext cx="1965960" cy="1435608"/>
          </a:xfrm>
          <a:prstGeom prst="rect">
            <a:avLst/>
          </a:prstGeom>
          <a:solidFill>
            <a:srgbClr val="1A1A2E"/>
          </a:solidFill>
          <a:ln w="9525">
            <a:solidFill>
              <a:srgbClr val="2A2A48"/>
            </a:solidFill>
            <a:prstDash val="solid"/>
          </a:ln>
        </p:spPr>
        <p:txBody>
          <a:bodyPr/>
          <a:lstStyle/>
          <a:p>
            <a:endParaRPr lang="en-US"/>
          </a:p>
        </p:txBody>
      </p:sp>
      <p:sp>
        <p:nvSpPr>
          <p:cNvPr id="36" name="Shape 31">
            <a:extLst>
              <a:ext uri="{FF2B5EF4-FFF2-40B4-BE49-F238E27FC236}">
                <a16:creationId xmlns:a16="http://schemas.microsoft.com/office/drawing/2014/main" id="{C4514252-80E3-795E-49A1-898709149828}"/>
              </a:ext>
            </a:extLst>
          </p:cNvPr>
          <p:cNvSpPr/>
          <p:nvPr/>
        </p:nvSpPr>
        <p:spPr>
          <a:xfrm>
            <a:off x="7429500" y="3383280"/>
            <a:ext cx="566928" cy="566928"/>
          </a:xfrm>
          <a:prstGeom prst="ellipse">
            <a:avLst/>
          </a:prstGeom>
          <a:solidFill>
            <a:srgbClr val="1A1A2E"/>
          </a:solidFill>
          <a:ln w="19050">
            <a:solidFill>
              <a:srgbClr val="9B7EDA"/>
            </a:solidFill>
            <a:prstDash val="solid"/>
          </a:ln>
        </p:spPr>
        <p:txBody>
          <a:bodyPr/>
          <a:lstStyle/>
          <a:p>
            <a:endParaRPr lang="en-US"/>
          </a:p>
        </p:txBody>
      </p:sp>
      <p:pic>
        <p:nvPicPr>
          <p:cNvPr id="37" name="Image 3" descr="preencoded.png">
            <a:extLst>
              <a:ext uri="{FF2B5EF4-FFF2-40B4-BE49-F238E27FC236}">
                <a16:creationId xmlns:a16="http://schemas.microsoft.com/office/drawing/2014/main" id="{347FB59D-AC00-AA50-8B4C-5C338DD2508F}"/>
              </a:ext>
            </a:extLst>
          </p:cNvPr>
          <p:cNvPicPr>
            <a:picLocks noChangeAspect="1"/>
          </p:cNvPicPr>
          <p:nvPr/>
        </p:nvPicPr>
        <p:blipFill>
          <a:blip r:embed="rId5"/>
          <a:stretch>
            <a:fillRect/>
          </a:stretch>
        </p:blipFill>
        <p:spPr>
          <a:xfrm>
            <a:off x="7566660" y="3520440"/>
            <a:ext cx="292608" cy="292608"/>
          </a:xfrm>
          <a:prstGeom prst="rect">
            <a:avLst/>
          </a:prstGeom>
        </p:spPr>
      </p:pic>
      <p:sp>
        <p:nvSpPr>
          <p:cNvPr id="38" name="Text 32">
            <a:extLst>
              <a:ext uri="{FF2B5EF4-FFF2-40B4-BE49-F238E27FC236}">
                <a16:creationId xmlns:a16="http://schemas.microsoft.com/office/drawing/2014/main" id="{871EB010-BBA8-F194-F2DE-05B41DDB8680}"/>
              </a:ext>
            </a:extLst>
          </p:cNvPr>
          <p:cNvSpPr/>
          <p:nvPr/>
        </p:nvSpPr>
        <p:spPr>
          <a:xfrm>
            <a:off x="6821424" y="3995928"/>
            <a:ext cx="1783080" cy="256032"/>
          </a:xfrm>
          <a:prstGeom prst="rect">
            <a:avLst/>
          </a:prstGeom>
          <a:noFill/>
          <a:ln/>
        </p:spPr>
        <p:txBody>
          <a:bodyPr wrap="square" lIns="0" tIns="0" rIns="0" bIns="0" rtlCol="0" anchor="ctr"/>
          <a:lstStyle/>
          <a:p>
            <a:pPr marL="0" indent="0" algn="l">
              <a:buNone/>
            </a:pPr>
            <a:r>
              <a:rPr lang="en-US" sz="1250" b="1" dirty="0">
                <a:solidFill>
                  <a:srgbClr val="9B7EDA"/>
                </a:solidFill>
                <a:latin typeface="Calibri" pitchFamily="34" charset="0"/>
                <a:ea typeface="Calibri" pitchFamily="34" charset="-122"/>
                <a:cs typeface="Calibri" pitchFamily="34" charset="-120"/>
              </a:rPr>
              <a:t>File Paths</a:t>
            </a:r>
            <a:endParaRPr lang="en-US" sz="1250" dirty="0"/>
          </a:p>
        </p:txBody>
      </p:sp>
      <p:sp>
        <p:nvSpPr>
          <p:cNvPr id="39" name="Text 33">
            <a:extLst>
              <a:ext uri="{FF2B5EF4-FFF2-40B4-BE49-F238E27FC236}">
                <a16:creationId xmlns:a16="http://schemas.microsoft.com/office/drawing/2014/main" id="{B1957D08-2E17-FA5D-3577-06DB3E45697E}"/>
              </a:ext>
            </a:extLst>
          </p:cNvPr>
          <p:cNvSpPr/>
          <p:nvPr/>
        </p:nvSpPr>
        <p:spPr>
          <a:xfrm>
            <a:off x="6821424" y="4251960"/>
            <a:ext cx="1783080" cy="384048"/>
          </a:xfrm>
          <a:prstGeom prst="rect">
            <a:avLst/>
          </a:prstGeom>
          <a:noFill/>
          <a:ln/>
        </p:spPr>
        <p:txBody>
          <a:bodyPr wrap="square" lIns="0" tIns="0" rIns="0" bIns="0" rtlCol="0" anchor="t"/>
          <a:lstStyle/>
          <a:p>
            <a:pPr marL="0" indent="0" algn="l">
              <a:buNone/>
            </a:pPr>
            <a:r>
              <a:rPr lang="en-US" sz="900" dirty="0">
                <a:solidFill>
                  <a:srgbClr val="EDEDED"/>
                </a:solidFill>
                <a:latin typeface="Calibri" pitchFamily="34" charset="0"/>
                <a:ea typeface="Calibri" pitchFamily="34" charset="-122"/>
                <a:cs typeface="Calibri" pitchFamily="34" charset="-120"/>
              </a:rPr>
              <a:t>Absolute vs relative paths, Windows and Linux syntax</a:t>
            </a:r>
            <a:endParaRPr lang="en-US" sz="900" dirty="0"/>
          </a:p>
        </p:txBody>
      </p:sp>
      <p:sp>
        <p:nvSpPr>
          <p:cNvPr id="40" name="Text 34">
            <a:extLst>
              <a:ext uri="{FF2B5EF4-FFF2-40B4-BE49-F238E27FC236}">
                <a16:creationId xmlns:a16="http://schemas.microsoft.com/office/drawing/2014/main" id="{A0849E45-C363-F4CE-04BD-BDB92DA86730}"/>
              </a:ext>
            </a:extLst>
          </p:cNvPr>
          <p:cNvSpPr/>
          <p:nvPr/>
        </p:nvSpPr>
        <p:spPr>
          <a:xfrm>
            <a:off x="0" y="4777740"/>
            <a:ext cx="9144000" cy="274320"/>
          </a:xfrm>
          <a:prstGeom prst="rect">
            <a:avLst/>
          </a:prstGeom>
          <a:noFill/>
          <a:ln/>
        </p:spPr>
        <p:txBody>
          <a:bodyPr wrap="square" lIns="0" tIns="0" rIns="0" bIns="0" rtlCol="0" anchor="ctr"/>
          <a:lstStyle/>
          <a:p>
            <a:pPr marL="0" indent="0" algn="ctr">
              <a:buNone/>
            </a:pPr>
            <a:r>
              <a:rPr lang="en-US" sz="1100" i="1" dirty="0">
                <a:solidFill>
                  <a:srgbClr val="9AA4B2"/>
                </a:solidFill>
                <a:latin typeface="Calibri" pitchFamily="34" charset="0"/>
                <a:ea typeface="Calibri" pitchFamily="34" charset="-122"/>
                <a:cs typeface="Calibri" pitchFamily="34" charset="-120"/>
              </a:rPr>
              <a:t>Let's get started 🚀</a:t>
            </a:r>
            <a:endParaRPr lang="en-US" sz="1100" dirty="0"/>
          </a:p>
        </p:txBody>
      </p:sp>
    </p:spTree>
    <p:extLst>
      <p:ext uri="{BB962C8B-B14F-4D97-AF65-F5344CB8AC3E}">
        <p14:creationId xmlns:p14="http://schemas.microsoft.com/office/powerpoint/2010/main" val="1441658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p:cNvGrpSpPr/>
        <p:nvPr/>
      </p:nvGrpSpPr>
      <p:grpSpPr>
        <a:xfrm>
          <a:off x="0" y="0"/>
          <a:ext cx="0" cy="0"/>
          <a:chOff x="0" y="0"/>
          <a:chExt cx="0" cy="0"/>
        </a:xfrm>
      </p:grpSpPr>
      <p:sp>
        <p:nvSpPr>
          <p:cNvPr id="48" name="Shape 0">
            <a:extLst>
              <a:ext uri="{FF2B5EF4-FFF2-40B4-BE49-F238E27FC236}">
                <a16:creationId xmlns:a16="http://schemas.microsoft.com/office/drawing/2014/main" id="{1B6EA25D-920F-01B3-FB70-D7432FF6B1A1}"/>
              </a:ext>
            </a:extLst>
          </p:cNvPr>
          <p:cNvSpPr/>
          <p:nvPr/>
        </p:nvSpPr>
        <p:spPr>
          <a:xfrm>
            <a:off x="0" y="0"/>
            <a:ext cx="9144000" cy="73152"/>
          </a:xfrm>
          <a:prstGeom prst="rect">
            <a:avLst/>
          </a:prstGeom>
          <a:solidFill>
            <a:srgbClr val="57E3D8"/>
          </a:solidFill>
          <a:ln w="12700">
            <a:solidFill>
              <a:srgbClr val="57E3D8"/>
            </a:solidFill>
            <a:prstDash val="solid"/>
          </a:ln>
        </p:spPr>
        <p:txBody>
          <a:bodyPr/>
          <a:lstStyle/>
          <a:p>
            <a:endParaRPr lang="en-US"/>
          </a:p>
        </p:txBody>
      </p:sp>
      <p:sp>
        <p:nvSpPr>
          <p:cNvPr id="49" name="Shape 1">
            <a:extLst>
              <a:ext uri="{FF2B5EF4-FFF2-40B4-BE49-F238E27FC236}">
                <a16:creationId xmlns:a16="http://schemas.microsoft.com/office/drawing/2014/main" id="{AEA1A76F-C3F1-CC2E-D0A4-B9D7109230A5}"/>
              </a:ext>
            </a:extLst>
          </p:cNvPr>
          <p:cNvSpPr/>
          <p:nvPr/>
        </p:nvSpPr>
        <p:spPr>
          <a:xfrm>
            <a:off x="0" y="5070348"/>
            <a:ext cx="9144000" cy="73152"/>
          </a:xfrm>
          <a:prstGeom prst="rect">
            <a:avLst/>
          </a:prstGeom>
          <a:solidFill>
            <a:srgbClr val="4F29B7"/>
          </a:solidFill>
          <a:ln w="12700">
            <a:solidFill>
              <a:srgbClr val="4F29B7"/>
            </a:solidFill>
            <a:prstDash val="solid"/>
          </a:ln>
        </p:spPr>
        <p:txBody>
          <a:bodyPr/>
          <a:lstStyle/>
          <a:p>
            <a:endParaRPr lang="en-US"/>
          </a:p>
        </p:txBody>
      </p:sp>
      <p:sp>
        <p:nvSpPr>
          <p:cNvPr id="50" name="Shape 2">
            <a:extLst>
              <a:ext uri="{FF2B5EF4-FFF2-40B4-BE49-F238E27FC236}">
                <a16:creationId xmlns:a16="http://schemas.microsoft.com/office/drawing/2014/main" id="{FC4C1BC1-0746-CC9A-B8CF-995FD26AE8B3}"/>
              </a:ext>
            </a:extLst>
          </p:cNvPr>
          <p:cNvSpPr/>
          <p:nvPr/>
        </p:nvSpPr>
        <p:spPr>
          <a:xfrm>
            <a:off x="0" y="73152"/>
            <a:ext cx="9144000" cy="658368"/>
          </a:xfrm>
          <a:prstGeom prst="rect">
            <a:avLst/>
          </a:prstGeom>
          <a:solidFill>
            <a:srgbClr val="262626"/>
          </a:solidFill>
          <a:ln w="12700">
            <a:solidFill>
              <a:srgbClr val="262626"/>
            </a:solidFill>
            <a:prstDash val="solid"/>
          </a:ln>
        </p:spPr>
        <p:txBody>
          <a:bodyPr/>
          <a:lstStyle/>
          <a:p>
            <a:endParaRPr lang="en-US"/>
          </a:p>
        </p:txBody>
      </p:sp>
      <p:sp>
        <p:nvSpPr>
          <p:cNvPr id="51" name="Text 3">
            <a:extLst>
              <a:ext uri="{FF2B5EF4-FFF2-40B4-BE49-F238E27FC236}">
                <a16:creationId xmlns:a16="http://schemas.microsoft.com/office/drawing/2014/main" id="{821F3991-3C81-09DF-1A56-9976147ADD80}"/>
              </a:ext>
            </a:extLst>
          </p:cNvPr>
          <p:cNvSpPr/>
          <p:nvPr/>
        </p:nvSpPr>
        <p:spPr>
          <a:xfrm>
            <a:off x="365760" y="73152"/>
            <a:ext cx="8412480" cy="658368"/>
          </a:xfrm>
          <a:prstGeom prst="rect">
            <a:avLst/>
          </a:prstGeom>
          <a:noFill/>
          <a:ln/>
        </p:spPr>
        <p:txBody>
          <a:bodyPr wrap="square" lIns="0" tIns="0" rIns="0" bIns="0" rtlCol="0" anchor="ctr"/>
          <a:lstStyle/>
          <a:p>
            <a:pPr marL="0" indent="0">
              <a:buNone/>
            </a:pPr>
            <a:r>
              <a:rPr lang="en-US" sz="2000" b="1" dirty="0">
                <a:solidFill>
                  <a:srgbClr val="57E3D8"/>
                </a:solidFill>
                <a:latin typeface="Calibri" pitchFamily="34" charset="0"/>
                <a:ea typeface="Calibri" pitchFamily="34" charset="-122"/>
                <a:cs typeface="Calibri" pitchFamily="34" charset="-120"/>
              </a:rPr>
              <a:t>What is a computer?</a:t>
            </a:r>
            <a:endParaRPr lang="en-US" sz="2000" dirty="0"/>
          </a:p>
        </p:txBody>
      </p:sp>
      <p:sp>
        <p:nvSpPr>
          <p:cNvPr id="52" name="Shape 4">
            <a:extLst>
              <a:ext uri="{FF2B5EF4-FFF2-40B4-BE49-F238E27FC236}">
                <a16:creationId xmlns:a16="http://schemas.microsoft.com/office/drawing/2014/main" id="{FC21FB84-F6AB-7665-1308-5BF721CA043C}"/>
              </a:ext>
            </a:extLst>
          </p:cNvPr>
          <p:cNvSpPr/>
          <p:nvPr/>
        </p:nvSpPr>
        <p:spPr>
          <a:xfrm>
            <a:off x="274320" y="841248"/>
            <a:ext cx="8595360" cy="4133088"/>
          </a:xfrm>
          <a:prstGeom prst="roundRect">
            <a:avLst>
              <a:gd name="adj" fmla="val 2655"/>
            </a:avLst>
          </a:prstGeom>
          <a:solidFill>
            <a:srgbClr val="1A1040"/>
          </a:solidFill>
          <a:ln w="6350">
            <a:solidFill>
              <a:srgbClr val="333366"/>
            </a:solidFill>
            <a:prstDash val="solid"/>
          </a:ln>
        </p:spPr>
        <p:txBody>
          <a:bodyPr/>
          <a:lstStyle/>
          <a:p>
            <a:endParaRPr lang="en-US"/>
          </a:p>
        </p:txBody>
      </p:sp>
      <p:sp>
        <p:nvSpPr>
          <p:cNvPr id="53" name="Text 5">
            <a:extLst>
              <a:ext uri="{FF2B5EF4-FFF2-40B4-BE49-F238E27FC236}">
                <a16:creationId xmlns:a16="http://schemas.microsoft.com/office/drawing/2014/main" id="{5505480E-9E51-0769-FE17-12FDA406D690}"/>
              </a:ext>
            </a:extLst>
          </p:cNvPr>
          <p:cNvSpPr/>
          <p:nvPr/>
        </p:nvSpPr>
        <p:spPr>
          <a:xfrm>
            <a:off x="502920" y="914400"/>
            <a:ext cx="8138160" cy="3977640"/>
          </a:xfrm>
          <a:prstGeom prst="rect">
            <a:avLst/>
          </a:prstGeom>
          <a:noFill/>
          <a:ln/>
        </p:spPr>
        <p:txBody>
          <a:bodyPr wrap="square" rtlCol="0" anchor="t"/>
          <a:lstStyle/>
          <a:p>
            <a:pPr marL="0" indent="0">
              <a:lnSpc>
                <a:spcPct val="140000"/>
              </a:lnSpc>
              <a:buNone/>
            </a:pPr>
            <a:r>
              <a:rPr lang="en-US" sz="1200" dirty="0">
                <a:solidFill>
                  <a:srgbClr val="EDEDED"/>
                </a:solidFill>
                <a:latin typeface="Calibri" pitchFamily="34" charset="0"/>
                <a:ea typeface="Calibri" pitchFamily="34" charset="-122"/>
                <a:cs typeface="Calibri" pitchFamily="34" charset="-120"/>
              </a:rPr>
              <a:t>A computer is an electronic device that manipulates information, or data. It has the ability to store, retrieve, and process data.</a:t>
            </a:r>
            <a:endParaRPr lang="en-US" sz="1200" dirty="0"/>
          </a:p>
          <a:p>
            <a:pPr marL="0" indent="0">
              <a:lnSpc>
                <a:spcPct val="140000"/>
              </a:lnSpc>
              <a:buNone/>
            </a:pPr>
            <a:r>
              <a:rPr lang="en-US" sz="600" dirty="0">
                <a:solidFill>
                  <a:srgbClr val="EDEDED"/>
                </a:solidFill>
                <a:latin typeface="Calibri" pitchFamily="34" charset="0"/>
                <a:ea typeface="Calibri" pitchFamily="34" charset="-122"/>
                <a:cs typeface="Calibri" pitchFamily="34" charset="-120"/>
              </a:rPr>
              <a:t> </a:t>
            </a:r>
            <a:endParaRPr lang="en-US" sz="1200" dirty="0"/>
          </a:p>
          <a:p>
            <a:pPr marL="0" indent="0">
              <a:lnSpc>
                <a:spcPct val="140000"/>
              </a:lnSpc>
              <a:buNone/>
            </a:pPr>
            <a:r>
              <a:rPr lang="en-US" sz="1200" dirty="0">
                <a:solidFill>
                  <a:srgbClr val="EDEDED"/>
                </a:solidFill>
                <a:latin typeface="Calibri" pitchFamily="34" charset="0"/>
                <a:ea typeface="Calibri" pitchFamily="34" charset="-122"/>
                <a:cs typeface="Calibri" pitchFamily="34" charset="-120"/>
              </a:rPr>
              <a:t>You can use a computer to type documents, send email, play games, and browse the Web. You can also use it to edit or create spreadsheets, presentations, and even videos.</a:t>
            </a:r>
            <a:endParaRPr lang="en-US" sz="1200" dirty="0"/>
          </a:p>
          <a:p>
            <a:pPr marL="0" indent="0">
              <a:lnSpc>
                <a:spcPct val="140000"/>
              </a:lnSpc>
              <a:buNone/>
            </a:pPr>
            <a:r>
              <a:rPr lang="en-US" sz="600" dirty="0">
                <a:solidFill>
                  <a:srgbClr val="EDEDED"/>
                </a:solidFill>
                <a:latin typeface="Calibri" pitchFamily="34" charset="0"/>
                <a:ea typeface="Calibri" pitchFamily="34" charset="-122"/>
                <a:cs typeface="Calibri" pitchFamily="34" charset="-120"/>
              </a:rPr>
              <a:t> </a:t>
            </a:r>
            <a:endParaRPr lang="en-US" sz="1200" dirty="0"/>
          </a:p>
          <a:p>
            <a:pPr marL="0" indent="0">
              <a:lnSpc>
                <a:spcPct val="140000"/>
              </a:lnSpc>
              <a:buNone/>
            </a:pPr>
            <a:r>
              <a:rPr lang="en-US" sz="1200" b="1" dirty="0">
                <a:solidFill>
                  <a:srgbClr val="57E3D8"/>
                </a:solidFill>
                <a:latin typeface="Calibri" pitchFamily="34" charset="0"/>
                <a:ea typeface="Calibri" pitchFamily="34" charset="-122"/>
                <a:cs typeface="Calibri" pitchFamily="34" charset="-120"/>
              </a:rPr>
              <a:t>Hardware  </a:t>
            </a:r>
            <a:r>
              <a:rPr lang="en-US" sz="1200" dirty="0">
                <a:solidFill>
                  <a:srgbClr val="EDEDED"/>
                </a:solidFill>
                <a:latin typeface="Calibri" pitchFamily="34" charset="0"/>
                <a:ea typeface="Calibri" pitchFamily="34" charset="-122"/>
                <a:cs typeface="Calibri" pitchFamily="34" charset="-120"/>
              </a:rPr>
              <a:t>is any part of your computer that has a physical structure, such as the keyboard or mouse. It also includes all of the computer's internal parts.</a:t>
            </a:r>
            <a:endParaRPr lang="en-US" sz="1200" dirty="0"/>
          </a:p>
          <a:p>
            <a:pPr marL="0" indent="0">
              <a:lnSpc>
                <a:spcPct val="140000"/>
              </a:lnSpc>
              <a:buNone/>
            </a:pPr>
            <a:r>
              <a:rPr lang="en-US" sz="600" dirty="0">
                <a:solidFill>
                  <a:srgbClr val="EDEDED"/>
                </a:solidFill>
                <a:latin typeface="Calibri" pitchFamily="34" charset="0"/>
                <a:ea typeface="Calibri" pitchFamily="34" charset="-122"/>
                <a:cs typeface="Calibri" pitchFamily="34" charset="-120"/>
              </a:rPr>
              <a:t> </a:t>
            </a:r>
            <a:endParaRPr lang="en-US" sz="1200" dirty="0"/>
          </a:p>
          <a:p>
            <a:pPr marL="0" indent="0">
              <a:lnSpc>
                <a:spcPct val="140000"/>
              </a:lnSpc>
              <a:buNone/>
            </a:pPr>
            <a:r>
              <a:rPr lang="en-US" sz="1200" b="1" dirty="0">
                <a:solidFill>
                  <a:srgbClr val="57E3D8"/>
                </a:solidFill>
                <a:latin typeface="Calibri" pitchFamily="34" charset="0"/>
                <a:ea typeface="Calibri" pitchFamily="34" charset="-122"/>
                <a:cs typeface="Calibri" pitchFamily="34" charset="-120"/>
              </a:rPr>
              <a:t>Software  </a:t>
            </a:r>
            <a:r>
              <a:rPr lang="en-US" sz="1200" dirty="0">
                <a:solidFill>
                  <a:srgbClr val="EDEDED"/>
                </a:solidFill>
                <a:latin typeface="Calibri" pitchFamily="34" charset="0"/>
                <a:ea typeface="Calibri" pitchFamily="34" charset="-122"/>
                <a:cs typeface="Calibri" pitchFamily="34" charset="-120"/>
              </a:rPr>
              <a:t>is any set of instructions that tells the hardware what to do and how to do it. Examples of software include web browsers, games, and word processors.</a:t>
            </a:r>
            <a:endParaRPr lang="en-US" sz="1200" dirty="0"/>
          </a:p>
          <a:p>
            <a:pPr marL="0" indent="0">
              <a:lnSpc>
                <a:spcPct val="140000"/>
              </a:lnSpc>
              <a:buNone/>
            </a:pPr>
            <a:r>
              <a:rPr lang="en-US" sz="600" dirty="0">
                <a:solidFill>
                  <a:srgbClr val="EDEDED"/>
                </a:solidFill>
                <a:latin typeface="Calibri" pitchFamily="34" charset="0"/>
                <a:ea typeface="Calibri" pitchFamily="34" charset="-122"/>
                <a:cs typeface="Calibri" pitchFamily="34" charset="-120"/>
              </a:rPr>
              <a:t> </a:t>
            </a:r>
            <a:endParaRPr lang="en-US" sz="1200" dirty="0"/>
          </a:p>
          <a:p>
            <a:pPr marL="0" indent="0">
              <a:lnSpc>
                <a:spcPct val="140000"/>
              </a:lnSpc>
              <a:buNone/>
            </a:pPr>
            <a:r>
              <a:rPr lang="en-US" sz="1200" dirty="0">
                <a:solidFill>
                  <a:srgbClr val="EDEDED"/>
                </a:solidFill>
                <a:latin typeface="Calibri" pitchFamily="34" charset="0"/>
                <a:ea typeface="Calibri" pitchFamily="34" charset="-122"/>
                <a:cs typeface="Calibri" pitchFamily="34" charset="-120"/>
              </a:rPr>
              <a:t>When most people hear the word computer, they think of a personal computer such as a desktop or laptop. However, computers come in many shapes and sizes, and they perform many different functions in our daily lives. When you withdraw cash from an ATM, scan groceries at the store, or use a calculator, you're using a type of computer.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a:extLst>
            <a:ext uri="{FF2B5EF4-FFF2-40B4-BE49-F238E27FC236}">
              <a16:creationId xmlns:a16="http://schemas.microsoft.com/office/drawing/2014/main" id="{F4FC72DD-BD49-94FC-8F11-0A7CB8A5474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EBB4D9F-59D5-B0DA-9C0F-F1BC849C05B3}"/>
              </a:ext>
            </a:extLst>
          </p:cNvPr>
          <p:cNvSpPr/>
          <p:nvPr/>
        </p:nvSpPr>
        <p:spPr>
          <a:xfrm>
            <a:off x="0" y="0"/>
            <a:ext cx="9144000" cy="73152"/>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F27982AA-9003-06AB-2973-03D9768B9C01}"/>
              </a:ext>
            </a:extLst>
          </p:cNvPr>
          <p:cNvSpPr/>
          <p:nvPr/>
        </p:nvSpPr>
        <p:spPr>
          <a:xfrm>
            <a:off x="0" y="5070348"/>
            <a:ext cx="9144000" cy="73152"/>
          </a:xfrm>
          <a:prstGeom prst="rect">
            <a:avLst/>
          </a:prstGeom>
          <a:solidFill>
            <a:srgbClr val="4F29B7"/>
          </a:solidFill>
          <a:ln w="12700">
            <a:solidFill>
              <a:srgbClr val="4F29B7"/>
            </a:solidFill>
            <a:prstDash val="solid"/>
          </a:ln>
        </p:spPr>
        <p:txBody>
          <a:bodyPr/>
          <a:lstStyle/>
          <a:p>
            <a:endParaRPr lang="en-US"/>
          </a:p>
        </p:txBody>
      </p:sp>
      <p:sp>
        <p:nvSpPr>
          <p:cNvPr id="4" name="Shape 2">
            <a:extLst>
              <a:ext uri="{FF2B5EF4-FFF2-40B4-BE49-F238E27FC236}">
                <a16:creationId xmlns:a16="http://schemas.microsoft.com/office/drawing/2014/main" id="{069407A4-CA38-8C3D-EF3A-AC048CB84F3E}"/>
              </a:ext>
            </a:extLst>
          </p:cNvPr>
          <p:cNvSpPr/>
          <p:nvPr/>
        </p:nvSpPr>
        <p:spPr>
          <a:xfrm>
            <a:off x="0" y="73152"/>
            <a:ext cx="9144000" cy="658368"/>
          </a:xfrm>
          <a:prstGeom prst="rect">
            <a:avLst/>
          </a:prstGeom>
          <a:solidFill>
            <a:srgbClr val="262626"/>
          </a:solidFill>
          <a:ln w="12700">
            <a:solidFill>
              <a:srgbClr val="262626"/>
            </a:solidFill>
            <a:prstDash val="solid"/>
          </a:ln>
        </p:spPr>
        <p:txBody>
          <a:bodyPr/>
          <a:lstStyle/>
          <a:p>
            <a:endParaRPr lang="en-US"/>
          </a:p>
        </p:txBody>
      </p:sp>
      <p:sp>
        <p:nvSpPr>
          <p:cNvPr id="5" name="Text 3">
            <a:extLst>
              <a:ext uri="{FF2B5EF4-FFF2-40B4-BE49-F238E27FC236}">
                <a16:creationId xmlns:a16="http://schemas.microsoft.com/office/drawing/2014/main" id="{7C58B61B-F9BA-4C8A-F2ED-921ADEB8705C}"/>
              </a:ext>
            </a:extLst>
          </p:cNvPr>
          <p:cNvSpPr/>
          <p:nvPr/>
        </p:nvSpPr>
        <p:spPr>
          <a:xfrm>
            <a:off x="365760" y="73152"/>
            <a:ext cx="8412480" cy="658368"/>
          </a:xfrm>
          <a:prstGeom prst="rect">
            <a:avLst/>
          </a:prstGeom>
          <a:noFill/>
          <a:ln/>
        </p:spPr>
        <p:txBody>
          <a:bodyPr wrap="square" lIns="0" tIns="0" rIns="0" bIns="0" rtlCol="0" anchor="ctr"/>
          <a:lstStyle/>
          <a:p>
            <a:pPr marL="0" indent="0">
              <a:buNone/>
            </a:pPr>
            <a:r>
              <a:rPr lang="en-US" sz="2000" b="1" dirty="0">
                <a:solidFill>
                  <a:srgbClr val="57E3D8"/>
                </a:solidFill>
                <a:latin typeface="Calibri" pitchFamily="34" charset="0"/>
                <a:ea typeface="Calibri" pitchFamily="34" charset="-122"/>
                <a:cs typeface="Calibri" pitchFamily="34" charset="-120"/>
              </a:rPr>
              <a:t>Types of computers</a:t>
            </a:r>
            <a:endParaRPr lang="en-US" sz="2000" dirty="0"/>
          </a:p>
        </p:txBody>
      </p:sp>
      <p:sp>
        <p:nvSpPr>
          <p:cNvPr id="6" name="Shape 4">
            <a:extLst>
              <a:ext uri="{FF2B5EF4-FFF2-40B4-BE49-F238E27FC236}">
                <a16:creationId xmlns:a16="http://schemas.microsoft.com/office/drawing/2014/main" id="{989788D5-8495-FB7A-8A79-AD3F52FE9FD4}"/>
              </a:ext>
            </a:extLst>
          </p:cNvPr>
          <p:cNvSpPr/>
          <p:nvPr/>
        </p:nvSpPr>
        <p:spPr>
          <a:xfrm>
            <a:off x="274320" y="841248"/>
            <a:ext cx="8595360" cy="4133088"/>
          </a:xfrm>
          <a:prstGeom prst="roundRect">
            <a:avLst>
              <a:gd name="adj" fmla="val 2655"/>
            </a:avLst>
          </a:prstGeom>
          <a:solidFill>
            <a:srgbClr val="1A1040"/>
          </a:solidFill>
          <a:ln w="6350">
            <a:solidFill>
              <a:srgbClr val="333366"/>
            </a:solidFill>
            <a:prstDash val="solid"/>
          </a:ln>
        </p:spPr>
        <p:txBody>
          <a:bodyPr/>
          <a:lstStyle/>
          <a:p>
            <a:endParaRPr lang="en-US"/>
          </a:p>
        </p:txBody>
      </p:sp>
      <p:sp>
        <p:nvSpPr>
          <p:cNvPr id="7" name="Text 5">
            <a:extLst>
              <a:ext uri="{FF2B5EF4-FFF2-40B4-BE49-F238E27FC236}">
                <a16:creationId xmlns:a16="http://schemas.microsoft.com/office/drawing/2014/main" id="{12C89580-920F-A06E-4FD4-4F052D79F190}"/>
              </a:ext>
            </a:extLst>
          </p:cNvPr>
          <p:cNvSpPr/>
          <p:nvPr/>
        </p:nvSpPr>
        <p:spPr>
          <a:xfrm>
            <a:off x="502920" y="914400"/>
            <a:ext cx="8138160" cy="3977640"/>
          </a:xfrm>
          <a:prstGeom prst="rect">
            <a:avLst/>
          </a:prstGeom>
          <a:noFill/>
          <a:ln/>
        </p:spPr>
        <p:txBody>
          <a:bodyPr wrap="square" rtlCol="0" anchor="t"/>
          <a:lstStyle/>
          <a:p>
            <a:pPr marL="0" indent="0">
              <a:lnSpc>
                <a:spcPct val="140000"/>
              </a:lnSpc>
              <a:buNone/>
            </a:pPr>
            <a:r>
              <a:rPr lang="en-US" sz="1200" b="1" dirty="0">
                <a:solidFill>
                  <a:srgbClr val="57E3D8"/>
                </a:solidFill>
                <a:latin typeface="Calibri" pitchFamily="34" charset="0"/>
                <a:ea typeface="Calibri" pitchFamily="34" charset="-122"/>
                <a:cs typeface="Calibri" pitchFamily="34" charset="-120"/>
              </a:rPr>
              <a:t>Desktop computers  </a:t>
            </a:r>
            <a:r>
              <a:rPr lang="en-US" sz="1200" dirty="0">
                <a:solidFill>
                  <a:srgbClr val="EDEDED"/>
                </a:solidFill>
                <a:latin typeface="Calibri" pitchFamily="34" charset="0"/>
                <a:ea typeface="Calibri" pitchFamily="34" charset="-122"/>
                <a:cs typeface="Calibri" pitchFamily="34" charset="-120"/>
              </a:rPr>
              <a:t>are designed to be placed on a desk, typically made up of a computer case, monitor, keyboard, and mouse.</a:t>
            </a:r>
            <a:endParaRPr lang="en-US" sz="1200" dirty="0"/>
          </a:p>
          <a:p>
            <a:pPr marL="0" indent="0">
              <a:lnSpc>
                <a:spcPct val="140000"/>
              </a:lnSpc>
              <a:buNone/>
            </a:pPr>
            <a:r>
              <a:rPr lang="en-US" sz="500" dirty="0">
                <a:solidFill>
                  <a:srgbClr val="EDEDED"/>
                </a:solidFill>
                <a:latin typeface="Calibri" pitchFamily="34" charset="0"/>
                <a:ea typeface="Calibri" pitchFamily="34" charset="-122"/>
                <a:cs typeface="Calibri" pitchFamily="34" charset="-120"/>
              </a:rPr>
              <a:t> </a:t>
            </a:r>
            <a:endParaRPr lang="en-US" sz="1200" dirty="0"/>
          </a:p>
          <a:p>
            <a:pPr marL="0" indent="0">
              <a:lnSpc>
                <a:spcPct val="140000"/>
              </a:lnSpc>
              <a:buNone/>
            </a:pPr>
            <a:r>
              <a:rPr lang="en-US" sz="1200" b="1" dirty="0">
                <a:solidFill>
                  <a:srgbClr val="A380FF"/>
                </a:solidFill>
                <a:latin typeface="Calibri" pitchFamily="34" charset="0"/>
                <a:ea typeface="Calibri" pitchFamily="34" charset="-122"/>
                <a:cs typeface="Calibri" pitchFamily="34" charset="-120"/>
              </a:rPr>
              <a:t>Laptop computers  </a:t>
            </a:r>
            <a:r>
              <a:rPr lang="en-US" sz="1200" dirty="0">
                <a:solidFill>
                  <a:srgbClr val="EDEDED"/>
                </a:solidFill>
                <a:latin typeface="Calibri" pitchFamily="34" charset="0"/>
                <a:ea typeface="Calibri" pitchFamily="34" charset="-122"/>
                <a:cs typeface="Calibri" pitchFamily="34" charset="-120"/>
              </a:rPr>
              <a:t>are battery-powered computers that are more portable than desktops, allowing you to use them almost anywhere.</a:t>
            </a:r>
            <a:endParaRPr lang="en-US" sz="1200" dirty="0"/>
          </a:p>
          <a:p>
            <a:pPr marL="0" indent="0">
              <a:lnSpc>
                <a:spcPct val="140000"/>
              </a:lnSpc>
              <a:buNone/>
            </a:pPr>
            <a:r>
              <a:rPr lang="en-US" sz="500" dirty="0">
                <a:solidFill>
                  <a:srgbClr val="EDEDED"/>
                </a:solidFill>
                <a:latin typeface="Calibri" pitchFamily="34" charset="0"/>
                <a:ea typeface="Calibri" pitchFamily="34" charset="-122"/>
                <a:cs typeface="Calibri" pitchFamily="34" charset="-120"/>
              </a:rPr>
              <a:t> </a:t>
            </a:r>
            <a:endParaRPr lang="en-US" sz="1200" dirty="0"/>
          </a:p>
          <a:p>
            <a:pPr marL="0" indent="0">
              <a:lnSpc>
                <a:spcPct val="140000"/>
              </a:lnSpc>
              <a:buNone/>
            </a:pPr>
            <a:r>
              <a:rPr lang="en-US" sz="1200" b="1" dirty="0">
                <a:solidFill>
                  <a:srgbClr val="57E3D8"/>
                </a:solidFill>
                <a:latin typeface="Calibri" pitchFamily="34" charset="0"/>
                <a:ea typeface="Calibri" pitchFamily="34" charset="-122"/>
                <a:cs typeface="Calibri" pitchFamily="34" charset="-120"/>
              </a:rPr>
              <a:t>Tablet computers  </a:t>
            </a:r>
            <a:r>
              <a:rPr lang="en-US" sz="1200" dirty="0">
                <a:solidFill>
                  <a:srgbClr val="EDEDED"/>
                </a:solidFill>
                <a:latin typeface="Calibri" pitchFamily="34" charset="0"/>
                <a:ea typeface="Calibri" pitchFamily="34" charset="-122"/>
                <a:cs typeface="Calibri" pitchFamily="34" charset="-120"/>
              </a:rPr>
              <a:t>are handheld computers that are even more portable than laptops. Instead of a keyboard and mouse, tablets use a touch-sensitive screen for typing and navigation. The iPad is an example of a tablet.</a:t>
            </a:r>
            <a:endParaRPr lang="en-US" sz="1200" dirty="0"/>
          </a:p>
          <a:p>
            <a:pPr marL="0" indent="0">
              <a:lnSpc>
                <a:spcPct val="140000"/>
              </a:lnSpc>
              <a:buNone/>
            </a:pPr>
            <a:r>
              <a:rPr lang="en-US" sz="500" dirty="0">
                <a:solidFill>
                  <a:srgbClr val="EDEDED"/>
                </a:solidFill>
                <a:latin typeface="Calibri" pitchFamily="34" charset="0"/>
                <a:ea typeface="Calibri" pitchFamily="34" charset="-122"/>
                <a:cs typeface="Calibri" pitchFamily="34" charset="-120"/>
              </a:rPr>
              <a:t> </a:t>
            </a:r>
            <a:endParaRPr lang="en-US" sz="1200" dirty="0"/>
          </a:p>
          <a:p>
            <a:pPr marL="0" indent="0">
              <a:lnSpc>
                <a:spcPct val="140000"/>
              </a:lnSpc>
              <a:buNone/>
            </a:pPr>
            <a:r>
              <a:rPr lang="en-US" sz="1200" b="1" dirty="0">
                <a:solidFill>
                  <a:srgbClr val="F4A664"/>
                </a:solidFill>
                <a:latin typeface="Calibri" pitchFamily="34" charset="0"/>
                <a:ea typeface="Calibri" pitchFamily="34" charset="-122"/>
                <a:cs typeface="Calibri" pitchFamily="34" charset="-120"/>
              </a:rPr>
              <a:t>Servers  </a:t>
            </a:r>
            <a:r>
              <a:rPr lang="en-US" sz="1200" dirty="0">
                <a:solidFill>
                  <a:srgbClr val="EDEDED"/>
                </a:solidFill>
                <a:latin typeface="Calibri" pitchFamily="34" charset="0"/>
                <a:ea typeface="Calibri" pitchFamily="34" charset="-122"/>
                <a:cs typeface="Calibri" pitchFamily="34" charset="-120"/>
              </a:rPr>
              <a:t>are computers that serve up information to other computers on a network. Many businesses have file servers that employees can access to share and store files.</a:t>
            </a:r>
            <a:endParaRPr lang="en-US" sz="1200" dirty="0"/>
          </a:p>
          <a:p>
            <a:pPr marL="0" indent="0">
              <a:lnSpc>
                <a:spcPct val="140000"/>
              </a:lnSpc>
              <a:buNone/>
            </a:pPr>
            <a:r>
              <a:rPr lang="en-US" sz="500" dirty="0">
                <a:solidFill>
                  <a:srgbClr val="EDEDED"/>
                </a:solidFill>
                <a:latin typeface="Calibri" pitchFamily="34" charset="0"/>
                <a:ea typeface="Calibri" pitchFamily="34" charset="-122"/>
                <a:cs typeface="Calibri" pitchFamily="34" charset="-120"/>
              </a:rPr>
              <a:t> </a:t>
            </a:r>
            <a:endParaRPr lang="en-US" sz="1200" dirty="0"/>
          </a:p>
          <a:p>
            <a:pPr marL="0" indent="0">
              <a:lnSpc>
                <a:spcPct val="140000"/>
              </a:lnSpc>
              <a:buNone/>
            </a:pPr>
            <a:r>
              <a:rPr lang="en-US" sz="1200" b="1" dirty="0">
                <a:solidFill>
                  <a:srgbClr val="FFDB5E"/>
                </a:solidFill>
                <a:latin typeface="Calibri" pitchFamily="34" charset="0"/>
                <a:ea typeface="Calibri" pitchFamily="34" charset="-122"/>
                <a:cs typeface="Calibri" pitchFamily="34" charset="-120"/>
              </a:rPr>
              <a:t>Other types  </a:t>
            </a:r>
            <a:r>
              <a:rPr lang="en-US" sz="1200" dirty="0">
                <a:solidFill>
                  <a:srgbClr val="EDEDED"/>
                </a:solidFill>
                <a:latin typeface="Calibri" pitchFamily="34" charset="0"/>
                <a:ea typeface="Calibri" pitchFamily="34" charset="-122"/>
                <a:cs typeface="Calibri" pitchFamily="34" charset="-120"/>
              </a:rPr>
              <a:t>include smartphones, wearables (fitness trackers, smartwatches), game consoles, and smart TVs — all specialized computers.</a:t>
            </a:r>
            <a:endParaRPr lang="en-US" sz="1200" dirty="0"/>
          </a:p>
          <a:p>
            <a:pPr marL="0" indent="0">
              <a:lnSpc>
                <a:spcPct val="140000"/>
              </a:lnSpc>
              <a:buNone/>
            </a:pPr>
            <a:r>
              <a:rPr lang="en-US" sz="500" dirty="0">
                <a:solidFill>
                  <a:srgbClr val="EDEDED"/>
                </a:solidFill>
                <a:latin typeface="Calibri" pitchFamily="34" charset="0"/>
                <a:ea typeface="Calibri" pitchFamily="34" charset="-122"/>
                <a:cs typeface="Calibri" pitchFamily="34" charset="-120"/>
              </a:rPr>
              <a:t> </a:t>
            </a:r>
            <a:endParaRPr lang="en-US" sz="1200" dirty="0"/>
          </a:p>
          <a:p>
            <a:pPr marL="0" indent="0">
              <a:lnSpc>
                <a:spcPct val="140000"/>
              </a:lnSpc>
              <a:buNone/>
            </a:pPr>
            <a:r>
              <a:rPr lang="en-US" sz="1200" b="1" dirty="0">
                <a:solidFill>
                  <a:srgbClr val="A380FF"/>
                </a:solidFill>
                <a:latin typeface="Calibri" pitchFamily="34" charset="0"/>
                <a:ea typeface="Calibri" pitchFamily="34" charset="-122"/>
                <a:cs typeface="Calibri" pitchFamily="34" charset="-120"/>
              </a:rPr>
              <a:t>PCs  </a:t>
            </a:r>
            <a:r>
              <a:rPr lang="en-US" sz="1200" dirty="0">
                <a:solidFill>
                  <a:srgbClr val="EDEDED"/>
                </a:solidFill>
                <a:latin typeface="Calibri" pitchFamily="34" charset="0"/>
                <a:ea typeface="Calibri" pitchFamily="34" charset="-122"/>
                <a:cs typeface="Calibri" pitchFamily="34" charset="-120"/>
              </a:rPr>
              <a:t>run Microsoft Windows and are made by many manufacturers. </a:t>
            </a:r>
            <a:r>
              <a:rPr lang="en-US" sz="1200" b="1" dirty="0">
                <a:solidFill>
                  <a:srgbClr val="57E3D8"/>
                </a:solidFill>
                <a:latin typeface="Calibri" pitchFamily="34" charset="0"/>
                <a:ea typeface="Calibri" pitchFamily="34" charset="-122"/>
                <a:cs typeface="Calibri" pitchFamily="34" charset="-120"/>
              </a:rPr>
              <a:t>Macs  </a:t>
            </a:r>
            <a:r>
              <a:rPr lang="en-US" sz="1200" dirty="0">
                <a:solidFill>
                  <a:srgbClr val="EDEDED"/>
                </a:solidFill>
                <a:latin typeface="Calibri" pitchFamily="34" charset="0"/>
                <a:ea typeface="Calibri" pitchFamily="34" charset="-122"/>
                <a:cs typeface="Calibri" pitchFamily="34" charset="-120"/>
              </a:rPr>
              <a:t>are made exclusively by Apple and run macOS. The first Mac (1984) was the first widely sold personal computer with a graphical user interface (GUI).</a:t>
            </a:r>
            <a:endParaRPr lang="en-US" sz="1200" dirty="0"/>
          </a:p>
        </p:txBody>
      </p:sp>
    </p:spTree>
    <p:extLst>
      <p:ext uri="{BB962C8B-B14F-4D97-AF65-F5344CB8AC3E}">
        <p14:creationId xmlns:p14="http://schemas.microsoft.com/office/powerpoint/2010/main" val="4019860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a:extLst>
            <a:ext uri="{FF2B5EF4-FFF2-40B4-BE49-F238E27FC236}">
              <a16:creationId xmlns:a16="http://schemas.microsoft.com/office/drawing/2014/main" id="{D5F5925C-FE0E-A81B-E90F-53391537137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CBA1641-5B96-3A81-A1E4-B0D006BD4BFD}"/>
              </a:ext>
            </a:extLst>
          </p:cNvPr>
          <p:cNvSpPr/>
          <p:nvPr/>
        </p:nvSpPr>
        <p:spPr>
          <a:xfrm>
            <a:off x="0" y="0"/>
            <a:ext cx="9144000" cy="73152"/>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18E6B854-85F3-1DB7-DB73-70DA72E4A3D3}"/>
              </a:ext>
            </a:extLst>
          </p:cNvPr>
          <p:cNvSpPr/>
          <p:nvPr/>
        </p:nvSpPr>
        <p:spPr>
          <a:xfrm>
            <a:off x="0" y="5070348"/>
            <a:ext cx="9144000" cy="73152"/>
          </a:xfrm>
          <a:prstGeom prst="rect">
            <a:avLst/>
          </a:prstGeom>
          <a:solidFill>
            <a:srgbClr val="4F29B7"/>
          </a:solidFill>
          <a:ln w="12700">
            <a:solidFill>
              <a:srgbClr val="4F29B7"/>
            </a:solidFill>
            <a:prstDash val="solid"/>
          </a:ln>
        </p:spPr>
        <p:txBody>
          <a:bodyPr/>
          <a:lstStyle/>
          <a:p>
            <a:endParaRPr lang="en-US"/>
          </a:p>
        </p:txBody>
      </p:sp>
      <p:sp>
        <p:nvSpPr>
          <p:cNvPr id="4" name="Shape 2">
            <a:extLst>
              <a:ext uri="{FF2B5EF4-FFF2-40B4-BE49-F238E27FC236}">
                <a16:creationId xmlns:a16="http://schemas.microsoft.com/office/drawing/2014/main" id="{3EEB9D00-6566-1EE9-F6D4-BD3434806287}"/>
              </a:ext>
            </a:extLst>
          </p:cNvPr>
          <p:cNvSpPr/>
          <p:nvPr/>
        </p:nvSpPr>
        <p:spPr>
          <a:xfrm>
            <a:off x="0" y="73152"/>
            <a:ext cx="9144000" cy="658368"/>
          </a:xfrm>
          <a:prstGeom prst="rect">
            <a:avLst/>
          </a:prstGeom>
          <a:solidFill>
            <a:srgbClr val="262626"/>
          </a:solidFill>
          <a:ln w="12700">
            <a:solidFill>
              <a:srgbClr val="262626"/>
            </a:solidFill>
            <a:prstDash val="solid"/>
          </a:ln>
        </p:spPr>
        <p:txBody>
          <a:bodyPr/>
          <a:lstStyle/>
          <a:p>
            <a:endParaRPr lang="en-US"/>
          </a:p>
        </p:txBody>
      </p:sp>
      <p:sp>
        <p:nvSpPr>
          <p:cNvPr id="5" name="Text 3">
            <a:extLst>
              <a:ext uri="{FF2B5EF4-FFF2-40B4-BE49-F238E27FC236}">
                <a16:creationId xmlns:a16="http://schemas.microsoft.com/office/drawing/2014/main" id="{AFD89196-8D7C-8DCE-5A5F-511CB5540F4F}"/>
              </a:ext>
            </a:extLst>
          </p:cNvPr>
          <p:cNvSpPr/>
          <p:nvPr/>
        </p:nvSpPr>
        <p:spPr>
          <a:xfrm>
            <a:off x="365760" y="73152"/>
            <a:ext cx="8412480" cy="658368"/>
          </a:xfrm>
          <a:prstGeom prst="rect">
            <a:avLst/>
          </a:prstGeom>
          <a:noFill/>
          <a:ln/>
        </p:spPr>
        <p:txBody>
          <a:bodyPr wrap="square" lIns="0" tIns="0" rIns="0" bIns="0" rtlCol="0" anchor="ctr"/>
          <a:lstStyle/>
          <a:p>
            <a:pPr marL="0" indent="0">
              <a:buNone/>
            </a:pPr>
            <a:r>
              <a:rPr lang="en-US" sz="2000" b="1" dirty="0">
                <a:solidFill>
                  <a:srgbClr val="57E3D8"/>
                </a:solidFill>
                <a:latin typeface="Calibri" pitchFamily="34" charset="0"/>
                <a:ea typeface="Calibri" pitchFamily="34" charset="-122"/>
                <a:cs typeface="Calibri" pitchFamily="34" charset="-120"/>
              </a:rPr>
              <a:t>Basic parts of a computer</a:t>
            </a:r>
            <a:endParaRPr lang="en-US" sz="2000" dirty="0"/>
          </a:p>
        </p:txBody>
      </p:sp>
      <p:sp>
        <p:nvSpPr>
          <p:cNvPr id="6" name="Shape 4">
            <a:extLst>
              <a:ext uri="{FF2B5EF4-FFF2-40B4-BE49-F238E27FC236}">
                <a16:creationId xmlns:a16="http://schemas.microsoft.com/office/drawing/2014/main" id="{1E5FDB00-9C0A-2F9C-01C0-4EB0E37E83C9}"/>
              </a:ext>
            </a:extLst>
          </p:cNvPr>
          <p:cNvSpPr/>
          <p:nvPr/>
        </p:nvSpPr>
        <p:spPr>
          <a:xfrm>
            <a:off x="274320" y="841248"/>
            <a:ext cx="8595360" cy="4133088"/>
          </a:xfrm>
          <a:prstGeom prst="roundRect">
            <a:avLst>
              <a:gd name="adj" fmla="val 2655"/>
            </a:avLst>
          </a:prstGeom>
          <a:solidFill>
            <a:srgbClr val="1A1040"/>
          </a:solidFill>
          <a:ln w="6350">
            <a:solidFill>
              <a:srgbClr val="333366"/>
            </a:solidFill>
            <a:prstDash val="solid"/>
          </a:ln>
        </p:spPr>
        <p:txBody>
          <a:bodyPr/>
          <a:lstStyle/>
          <a:p>
            <a:endParaRPr lang="en-US"/>
          </a:p>
        </p:txBody>
      </p:sp>
      <p:sp>
        <p:nvSpPr>
          <p:cNvPr id="7" name="Text 5">
            <a:extLst>
              <a:ext uri="{FF2B5EF4-FFF2-40B4-BE49-F238E27FC236}">
                <a16:creationId xmlns:a16="http://schemas.microsoft.com/office/drawing/2014/main" id="{91FC079A-A262-AD62-A46B-94E2B8FE4802}"/>
              </a:ext>
            </a:extLst>
          </p:cNvPr>
          <p:cNvSpPr/>
          <p:nvPr/>
        </p:nvSpPr>
        <p:spPr>
          <a:xfrm>
            <a:off x="502920" y="914400"/>
            <a:ext cx="8138160" cy="3977640"/>
          </a:xfrm>
          <a:prstGeom prst="rect">
            <a:avLst/>
          </a:prstGeom>
          <a:noFill/>
          <a:ln/>
        </p:spPr>
        <p:txBody>
          <a:bodyPr wrap="square" rtlCol="0" anchor="t"/>
          <a:lstStyle/>
          <a:p>
            <a:pPr marL="0" indent="0">
              <a:lnSpc>
                <a:spcPct val="140000"/>
              </a:lnSpc>
              <a:buNone/>
            </a:pPr>
            <a:r>
              <a:rPr lang="en-US" sz="1200" dirty="0">
                <a:solidFill>
                  <a:srgbClr val="EDEDED"/>
                </a:solidFill>
                <a:latin typeface="Calibri" pitchFamily="34" charset="0"/>
                <a:ea typeface="Calibri" pitchFamily="34" charset="-122"/>
                <a:cs typeface="Calibri" pitchFamily="34" charset="-120"/>
              </a:rPr>
              <a:t>The basic parts of a desktop computer are the computer case, monitor, keyboard, mouse, and power cord. Each part plays an important role whenever you use a computer.</a:t>
            </a:r>
            <a:endParaRPr lang="en-US" sz="1200" dirty="0"/>
          </a:p>
          <a:p>
            <a:pPr marL="0" indent="0">
              <a:lnSpc>
                <a:spcPct val="140000"/>
              </a:lnSpc>
              <a:buNone/>
            </a:pPr>
            <a:r>
              <a:rPr lang="en-US" sz="500" dirty="0">
                <a:solidFill>
                  <a:srgbClr val="EDEDED"/>
                </a:solidFill>
                <a:latin typeface="Calibri" pitchFamily="34" charset="0"/>
                <a:ea typeface="Calibri" pitchFamily="34" charset="-122"/>
                <a:cs typeface="Calibri" pitchFamily="34" charset="-120"/>
              </a:rPr>
              <a:t> </a:t>
            </a:r>
            <a:endParaRPr lang="en-US" sz="1200" dirty="0"/>
          </a:p>
          <a:p>
            <a:pPr marL="0" indent="0">
              <a:lnSpc>
                <a:spcPct val="140000"/>
              </a:lnSpc>
              <a:buNone/>
            </a:pPr>
            <a:r>
              <a:rPr lang="en-US" sz="1200" b="1" dirty="0">
                <a:solidFill>
                  <a:srgbClr val="A380FF"/>
                </a:solidFill>
                <a:latin typeface="Calibri" pitchFamily="34" charset="0"/>
                <a:ea typeface="Calibri" pitchFamily="34" charset="-122"/>
                <a:cs typeface="Calibri" pitchFamily="34" charset="-120"/>
              </a:rPr>
              <a:t>Computer case  </a:t>
            </a:r>
            <a:r>
              <a:rPr lang="en-US" sz="1200" dirty="0">
                <a:solidFill>
                  <a:srgbClr val="EDEDED"/>
                </a:solidFill>
                <a:latin typeface="Calibri" pitchFamily="34" charset="0"/>
                <a:ea typeface="Calibri" pitchFamily="34" charset="-122"/>
                <a:cs typeface="Calibri" pitchFamily="34" charset="-120"/>
              </a:rPr>
              <a:t>is the metal and plastic box that contains the main components, including the motherboard, CPU, and power supply. The front usually has an On/Off button and optical drive.</a:t>
            </a:r>
            <a:endParaRPr lang="en-US" sz="1200" dirty="0"/>
          </a:p>
          <a:p>
            <a:pPr marL="0" indent="0">
              <a:lnSpc>
                <a:spcPct val="140000"/>
              </a:lnSpc>
              <a:buNone/>
            </a:pPr>
            <a:r>
              <a:rPr lang="en-US" sz="500" dirty="0">
                <a:solidFill>
                  <a:srgbClr val="EDEDED"/>
                </a:solidFill>
                <a:latin typeface="Calibri" pitchFamily="34" charset="0"/>
                <a:ea typeface="Calibri" pitchFamily="34" charset="-122"/>
                <a:cs typeface="Calibri" pitchFamily="34" charset="-120"/>
              </a:rPr>
              <a:t> </a:t>
            </a:r>
            <a:endParaRPr lang="en-US" sz="1200" dirty="0"/>
          </a:p>
          <a:p>
            <a:pPr marL="0" indent="0">
              <a:lnSpc>
                <a:spcPct val="140000"/>
              </a:lnSpc>
              <a:buNone/>
            </a:pPr>
            <a:r>
              <a:rPr lang="en-US" sz="1200" b="1" dirty="0">
                <a:solidFill>
                  <a:srgbClr val="57E3D8"/>
                </a:solidFill>
                <a:latin typeface="Calibri" pitchFamily="34" charset="0"/>
                <a:ea typeface="Calibri" pitchFamily="34" charset="-122"/>
                <a:cs typeface="Calibri" pitchFamily="34" charset="-120"/>
              </a:rPr>
              <a:t>Monitor  </a:t>
            </a:r>
            <a:r>
              <a:rPr lang="en-US" sz="1200" dirty="0">
                <a:solidFill>
                  <a:srgbClr val="EDEDED"/>
                </a:solidFill>
                <a:latin typeface="Calibri" pitchFamily="34" charset="0"/>
                <a:ea typeface="Calibri" pitchFamily="34" charset="-122"/>
                <a:cs typeface="Calibri" pitchFamily="34" charset="-120"/>
              </a:rPr>
              <a:t>works with the video card to display images and text. Newer monitors use LCD or LED displays. Some monitors also have built-in speakers.</a:t>
            </a:r>
            <a:endParaRPr lang="en-US" sz="1200" dirty="0"/>
          </a:p>
          <a:p>
            <a:pPr marL="0" indent="0">
              <a:lnSpc>
                <a:spcPct val="140000"/>
              </a:lnSpc>
              <a:buNone/>
            </a:pPr>
            <a:r>
              <a:rPr lang="en-US" sz="500" dirty="0">
                <a:solidFill>
                  <a:srgbClr val="EDEDED"/>
                </a:solidFill>
                <a:latin typeface="Calibri" pitchFamily="34" charset="0"/>
                <a:ea typeface="Calibri" pitchFamily="34" charset="-122"/>
                <a:cs typeface="Calibri" pitchFamily="34" charset="-120"/>
              </a:rPr>
              <a:t> </a:t>
            </a:r>
            <a:endParaRPr lang="en-US" sz="1200" dirty="0"/>
          </a:p>
          <a:p>
            <a:pPr marL="0" indent="0">
              <a:lnSpc>
                <a:spcPct val="140000"/>
              </a:lnSpc>
              <a:buNone/>
            </a:pPr>
            <a:r>
              <a:rPr lang="en-US" sz="1200" b="1" dirty="0">
                <a:solidFill>
                  <a:srgbClr val="FFDB5E"/>
                </a:solidFill>
                <a:latin typeface="Calibri" pitchFamily="34" charset="0"/>
                <a:ea typeface="Calibri" pitchFamily="34" charset="-122"/>
                <a:cs typeface="Calibri" pitchFamily="34" charset="-120"/>
              </a:rPr>
              <a:t>Keyboard  </a:t>
            </a:r>
            <a:r>
              <a:rPr lang="en-US" sz="1200" dirty="0">
                <a:solidFill>
                  <a:srgbClr val="EDEDED"/>
                </a:solidFill>
                <a:latin typeface="Calibri" pitchFamily="34" charset="0"/>
                <a:ea typeface="Calibri" pitchFamily="34" charset="-122"/>
                <a:cs typeface="Calibri" pitchFamily="34" charset="-120"/>
              </a:rPr>
              <a:t>is one of the main ways to communicate with a computer. Most keyboards are very similar and allow you to accomplish the same basic tasks.</a:t>
            </a:r>
            <a:endParaRPr lang="en-US" sz="1200" dirty="0"/>
          </a:p>
          <a:p>
            <a:pPr marL="0" indent="0">
              <a:lnSpc>
                <a:spcPct val="140000"/>
              </a:lnSpc>
              <a:buNone/>
            </a:pPr>
            <a:r>
              <a:rPr lang="en-US" sz="500" dirty="0">
                <a:solidFill>
                  <a:srgbClr val="EDEDED"/>
                </a:solidFill>
                <a:latin typeface="Calibri" pitchFamily="34" charset="0"/>
                <a:ea typeface="Calibri" pitchFamily="34" charset="-122"/>
                <a:cs typeface="Calibri" pitchFamily="34" charset="-120"/>
              </a:rPr>
              <a:t> </a:t>
            </a:r>
            <a:endParaRPr lang="en-US" sz="1200" dirty="0"/>
          </a:p>
          <a:p>
            <a:pPr marL="0" indent="0">
              <a:lnSpc>
                <a:spcPct val="140000"/>
              </a:lnSpc>
              <a:buNone/>
            </a:pPr>
            <a:r>
              <a:rPr lang="en-US" sz="1200" b="1" dirty="0">
                <a:solidFill>
                  <a:srgbClr val="FF8181"/>
                </a:solidFill>
                <a:latin typeface="Calibri" pitchFamily="34" charset="0"/>
                <a:ea typeface="Calibri" pitchFamily="34" charset="-122"/>
                <a:cs typeface="Calibri" pitchFamily="34" charset="-120"/>
              </a:rPr>
              <a:t>Mouse  </a:t>
            </a:r>
            <a:r>
              <a:rPr lang="en-US" sz="1200" dirty="0">
                <a:solidFill>
                  <a:srgbClr val="EDEDED"/>
                </a:solidFill>
                <a:latin typeface="Calibri" pitchFamily="34" charset="0"/>
                <a:ea typeface="Calibri" pitchFamily="34" charset="-122"/>
                <a:cs typeface="Calibri" pitchFamily="34" charset="-120"/>
              </a:rPr>
              <a:t>is another important tool for communicating with computers. There are two main types: optical (uses an electronic eye) and mechanical (uses a rolling ball). Alternatives include trackballs and touchpads.</a:t>
            </a:r>
            <a:endParaRPr lang="en-US" sz="1200" dirty="0"/>
          </a:p>
        </p:txBody>
      </p:sp>
    </p:spTree>
    <p:extLst>
      <p:ext uri="{BB962C8B-B14F-4D97-AF65-F5344CB8AC3E}">
        <p14:creationId xmlns:p14="http://schemas.microsoft.com/office/powerpoint/2010/main" val="3783220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a:extLst>
            <a:ext uri="{FF2B5EF4-FFF2-40B4-BE49-F238E27FC236}">
              <a16:creationId xmlns:a16="http://schemas.microsoft.com/office/drawing/2014/main" id="{85047ABE-55EF-1AF3-A37A-EB8D145A7F6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19B4D9D-B13E-96D0-2690-09A71640DF77}"/>
              </a:ext>
            </a:extLst>
          </p:cNvPr>
          <p:cNvSpPr/>
          <p:nvPr/>
        </p:nvSpPr>
        <p:spPr>
          <a:xfrm>
            <a:off x="0" y="0"/>
            <a:ext cx="9144000" cy="73152"/>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EDDF2B17-E81C-A334-FBFA-F2832783F44F}"/>
              </a:ext>
            </a:extLst>
          </p:cNvPr>
          <p:cNvSpPr/>
          <p:nvPr/>
        </p:nvSpPr>
        <p:spPr>
          <a:xfrm>
            <a:off x="0" y="73152"/>
            <a:ext cx="9144000" cy="658368"/>
          </a:xfrm>
          <a:prstGeom prst="rect">
            <a:avLst/>
          </a:prstGeom>
          <a:solidFill>
            <a:srgbClr val="262626"/>
          </a:solidFill>
          <a:ln w="12700">
            <a:solidFill>
              <a:srgbClr val="262626"/>
            </a:solidFill>
            <a:prstDash val="solid"/>
          </a:ln>
        </p:spPr>
        <p:txBody>
          <a:bodyPr/>
          <a:lstStyle/>
          <a:p>
            <a:endParaRPr lang="en-US"/>
          </a:p>
        </p:txBody>
      </p:sp>
      <p:sp>
        <p:nvSpPr>
          <p:cNvPr id="4" name="Text 2">
            <a:extLst>
              <a:ext uri="{FF2B5EF4-FFF2-40B4-BE49-F238E27FC236}">
                <a16:creationId xmlns:a16="http://schemas.microsoft.com/office/drawing/2014/main" id="{2A217043-FBCD-A181-A018-F965ACFCA664}"/>
              </a:ext>
            </a:extLst>
          </p:cNvPr>
          <p:cNvSpPr/>
          <p:nvPr/>
        </p:nvSpPr>
        <p:spPr>
          <a:xfrm>
            <a:off x="365760" y="73152"/>
            <a:ext cx="8412480" cy="411480"/>
          </a:xfrm>
          <a:prstGeom prst="rect">
            <a:avLst/>
          </a:prstGeom>
          <a:noFill/>
          <a:ln/>
        </p:spPr>
        <p:txBody>
          <a:bodyPr wrap="square" lIns="0" tIns="0" rIns="0" bIns="0" rtlCol="0" anchor="ctr"/>
          <a:lstStyle/>
          <a:p>
            <a:pPr marL="0" indent="0">
              <a:buNone/>
            </a:pPr>
            <a:r>
              <a:rPr lang="en-US" sz="2200" b="1" dirty="0">
                <a:solidFill>
                  <a:srgbClr val="57E3D8"/>
                </a:solidFill>
                <a:latin typeface="Calibri" pitchFamily="34" charset="0"/>
                <a:ea typeface="Calibri" pitchFamily="34" charset="-122"/>
                <a:cs typeface="Calibri" pitchFamily="34" charset="-120"/>
              </a:rPr>
              <a:t>Types of computers</a:t>
            </a:r>
            <a:endParaRPr lang="en-US" sz="2200" dirty="0"/>
          </a:p>
        </p:txBody>
      </p:sp>
      <p:sp>
        <p:nvSpPr>
          <p:cNvPr id="5" name="Text 3">
            <a:extLst>
              <a:ext uri="{FF2B5EF4-FFF2-40B4-BE49-F238E27FC236}">
                <a16:creationId xmlns:a16="http://schemas.microsoft.com/office/drawing/2014/main" id="{25AD5DE0-A2AB-3A54-5C4D-DDF797B6D0D3}"/>
              </a:ext>
            </a:extLst>
          </p:cNvPr>
          <p:cNvSpPr/>
          <p:nvPr/>
        </p:nvSpPr>
        <p:spPr>
          <a:xfrm>
            <a:off x="365760" y="484632"/>
            <a:ext cx="8412480" cy="246888"/>
          </a:xfrm>
          <a:prstGeom prst="rect">
            <a:avLst/>
          </a:prstGeom>
          <a:noFill/>
          <a:ln/>
        </p:spPr>
        <p:txBody>
          <a:bodyPr wrap="square" lIns="0" tIns="0" rIns="0" bIns="0" rtlCol="0" anchor="t"/>
          <a:lstStyle/>
          <a:p>
            <a:pPr marL="0" indent="0">
              <a:buNone/>
            </a:pPr>
            <a:r>
              <a:rPr lang="en-US" sz="1100" i="1" dirty="0">
                <a:solidFill>
                  <a:srgbClr val="EDEDED"/>
                </a:solidFill>
                <a:latin typeface="Calibri" pitchFamily="34" charset="0"/>
                <a:ea typeface="Calibri" pitchFamily="34" charset="-122"/>
                <a:cs typeface="Calibri" pitchFamily="34" charset="-120"/>
              </a:rPr>
              <a:t>Computers come in many shapes and sizes</a:t>
            </a:r>
            <a:endParaRPr lang="en-US" sz="1100" dirty="0"/>
          </a:p>
        </p:txBody>
      </p:sp>
      <p:sp>
        <p:nvSpPr>
          <p:cNvPr id="6" name="Shape 4">
            <a:extLst>
              <a:ext uri="{FF2B5EF4-FFF2-40B4-BE49-F238E27FC236}">
                <a16:creationId xmlns:a16="http://schemas.microsoft.com/office/drawing/2014/main" id="{62E880A8-AC80-A32D-647A-1481F22ED048}"/>
              </a:ext>
            </a:extLst>
          </p:cNvPr>
          <p:cNvSpPr/>
          <p:nvPr/>
        </p:nvSpPr>
        <p:spPr>
          <a:xfrm>
            <a:off x="0" y="5070348"/>
            <a:ext cx="9144000" cy="73152"/>
          </a:xfrm>
          <a:prstGeom prst="rect">
            <a:avLst/>
          </a:prstGeom>
          <a:solidFill>
            <a:srgbClr val="4F29B7"/>
          </a:solidFill>
          <a:ln w="12700">
            <a:solidFill>
              <a:srgbClr val="4F29B7"/>
            </a:solidFill>
            <a:prstDash val="solid"/>
          </a:ln>
        </p:spPr>
        <p:txBody>
          <a:bodyPr/>
          <a:lstStyle/>
          <a:p>
            <a:endParaRPr lang="en-US"/>
          </a:p>
        </p:txBody>
      </p:sp>
      <p:sp>
        <p:nvSpPr>
          <p:cNvPr id="7" name="Shape 5">
            <a:extLst>
              <a:ext uri="{FF2B5EF4-FFF2-40B4-BE49-F238E27FC236}">
                <a16:creationId xmlns:a16="http://schemas.microsoft.com/office/drawing/2014/main" id="{3F5FE565-1735-F4EE-2909-4D6284DC0ECB}"/>
              </a:ext>
            </a:extLst>
          </p:cNvPr>
          <p:cNvSpPr/>
          <p:nvPr/>
        </p:nvSpPr>
        <p:spPr>
          <a:xfrm>
            <a:off x="2176272" y="2578608"/>
            <a:ext cx="1481328" cy="0"/>
          </a:xfrm>
          <a:prstGeom prst="line">
            <a:avLst/>
          </a:prstGeom>
          <a:noFill/>
          <a:ln w="15240">
            <a:solidFill>
              <a:srgbClr val="6644AA"/>
            </a:solidFill>
            <a:prstDash val="solid"/>
          </a:ln>
        </p:spPr>
        <p:txBody>
          <a:bodyPr/>
          <a:lstStyle/>
          <a:p>
            <a:endParaRPr lang="en-US"/>
          </a:p>
        </p:txBody>
      </p:sp>
      <p:sp>
        <p:nvSpPr>
          <p:cNvPr id="8" name="Shape 6">
            <a:extLst>
              <a:ext uri="{FF2B5EF4-FFF2-40B4-BE49-F238E27FC236}">
                <a16:creationId xmlns:a16="http://schemas.microsoft.com/office/drawing/2014/main" id="{81818A8B-3FFA-55D2-1D0F-A0E9B853C723}"/>
              </a:ext>
            </a:extLst>
          </p:cNvPr>
          <p:cNvSpPr/>
          <p:nvPr/>
        </p:nvSpPr>
        <p:spPr>
          <a:xfrm>
            <a:off x="5486400" y="2578608"/>
            <a:ext cx="1481328" cy="0"/>
          </a:xfrm>
          <a:prstGeom prst="line">
            <a:avLst/>
          </a:prstGeom>
          <a:noFill/>
          <a:ln w="15240">
            <a:solidFill>
              <a:srgbClr val="338844"/>
            </a:solidFill>
            <a:prstDash val="solid"/>
          </a:ln>
        </p:spPr>
        <p:txBody>
          <a:bodyPr/>
          <a:lstStyle/>
          <a:p>
            <a:endParaRPr lang="en-US"/>
          </a:p>
        </p:txBody>
      </p:sp>
      <p:sp>
        <p:nvSpPr>
          <p:cNvPr id="9" name="Shape 7">
            <a:extLst>
              <a:ext uri="{FF2B5EF4-FFF2-40B4-BE49-F238E27FC236}">
                <a16:creationId xmlns:a16="http://schemas.microsoft.com/office/drawing/2014/main" id="{36D4CC5E-7311-5333-90AC-7976CF95448C}"/>
              </a:ext>
            </a:extLst>
          </p:cNvPr>
          <p:cNvSpPr/>
          <p:nvPr/>
        </p:nvSpPr>
        <p:spPr>
          <a:xfrm>
            <a:off x="4572000" y="2011680"/>
            <a:ext cx="0" cy="0"/>
          </a:xfrm>
          <a:prstGeom prst="line">
            <a:avLst/>
          </a:prstGeom>
          <a:noFill/>
          <a:ln w="15240">
            <a:solidFill>
              <a:srgbClr val="8844CC"/>
            </a:solidFill>
            <a:prstDash val="solid"/>
          </a:ln>
        </p:spPr>
        <p:txBody>
          <a:bodyPr/>
          <a:lstStyle/>
          <a:p>
            <a:endParaRPr lang="en-US"/>
          </a:p>
        </p:txBody>
      </p:sp>
      <p:sp>
        <p:nvSpPr>
          <p:cNvPr id="10" name="Shape 8">
            <a:extLst>
              <a:ext uri="{FF2B5EF4-FFF2-40B4-BE49-F238E27FC236}">
                <a16:creationId xmlns:a16="http://schemas.microsoft.com/office/drawing/2014/main" id="{DBED8183-5BA1-5E3A-7B7A-D82F1B319675}"/>
              </a:ext>
            </a:extLst>
          </p:cNvPr>
          <p:cNvSpPr/>
          <p:nvPr/>
        </p:nvSpPr>
        <p:spPr>
          <a:xfrm>
            <a:off x="4572000" y="2926080"/>
            <a:ext cx="0" cy="621792"/>
          </a:xfrm>
          <a:prstGeom prst="line">
            <a:avLst/>
          </a:prstGeom>
          <a:noFill/>
          <a:ln w="15240">
            <a:solidFill>
              <a:srgbClr val="CC5500"/>
            </a:solidFill>
            <a:prstDash val="solid"/>
          </a:ln>
        </p:spPr>
        <p:txBody>
          <a:bodyPr/>
          <a:lstStyle/>
          <a:p>
            <a:endParaRPr lang="en-US"/>
          </a:p>
        </p:txBody>
      </p:sp>
      <p:sp>
        <p:nvSpPr>
          <p:cNvPr id="11" name="Shape 9">
            <a:extLst>
              <a:ext uri="{FF2B5EF4-FFF2-40B4-BE49-F238E27FC236}">
                <a16:creationId xmlns:a16="http://schemas.microsoft.com/office/drawing/2014/main" id="{86686F4A-D705-6B37-4EEC-75611178CD5F}"/>
              </a:ext>
            </a:extLst>
          </p:cNvPr>
          <p:cNvSpPr/>
          <p:nvPr/>
        </p:nvSpPr>
        <p:spPr>
          <a:xfrm>
            <a:off x="3602736" y="2176272"/>
            <a:ext cx="1938528" cy="804672"/>
          </a:xfrm>
          <a:prstGeom prst="ellipse">
            <a:avLst/>
          </a:prstGeom>
          <a:solidFill>
            <a:srgbClr val="57E3D8"/>
          </a:solidFill>
          <a:ln w="12700">
            <a:solidFill>
              <a:srgbClr val="57E3D8"/>
            </a:solidFill>
            <a:prstDash val="solid"/>
          </a:ln>
        </p:spPr>
        <p:txBody>
          <a:bodyPr/>
          <a:lstStyle/>
          <a:p>
            <a:endParaRPr lang="en-US"/>
          </a:p>
        </p:txBody>
      </p:sp>
      <p:sp>
        <p:nvSpPr>
          <p:cNvPr id="12" name="Shape 10">
            <a:extLst>
              <a:ext uri="{FF2B5EF4-FFF2-40B4-BE49-F238E27FC236}">
                <a16:creationId xmlns:a16="http://schemas.microsoft.com/office/drawing/2014/main" id="{8E1001F2-BD49-E401-B093-F2676B9AA3A1}"/>
              </a:ext>
            </a:extLst>
          </p:cNvPr>
          <p:cNvSpPr/>
          <p:nvPr/>
        </p:nvSpPr>
        <p:spPr>
          <a:xfrm>
            <a:off x="3657600" y="2231136"/>
            <a:ext cx="1828800" cy="694944"/>
          </a:xfrm>
          <a:prstGeom prst="ellipse">
            <a:avLst/>
          </a:prstGeom>
          <a:solidFill>
            <a:srgbClr val="1E0F40"/>
          </a:solidFill>
          <a:ln w="19050">
            <a:solidFill>
              <a:srgbClr val="57E3D8"/>
            </a:solidFill>
            <a:prstDash val="solid"/>
          </a:ln>
        </p:spPr>
        <p:txBody>
          <a:bodyPr/>
          <a:lstStyle/>
          <a:p>
            <a:endParaRPr lang="en-US"/>
          </a:p>
        </p:txBody>
      </p:sp>
      <p:sp>
        <p:nvSpPr>
          <p:cNvPr id="13" name="Text 11">
            <a:extLst>
              <a:ext uri="{FF2B5EF4-FFF2-40B4-BE49-F238E27FC236}">
                <a16:creationId xmlns:a16="http://schemas.microsoft.com/office/drawing/2014/main" id="{DEF2A7B1-A64C-3608-C3E3-9945F2E50CDE}"/>
              </a:ext>
            </a:extLst>
          </p:cNvPr>
          <p:cNvSpPr/>
          <p:nvPr/>
        </p:nvSpPr>
        <p:spPr>
          <a:xfrm>
            <a:off x="3657600" y="2267712"/>
            <a:ext cx="1828800" cy="361371"/>
          </a:xfrm>
          <a:prstGeom prst="rect">
            <a:avLst/>
          </a:prstGeom>
          <a:noFill/>
          <a:ln/>
        </p:spPr>
        <p:txBody>
          <a:bodyPr wrap="square" lIns="0" tIns="0" rIns="0" bIns="0" rtlCol="0" anchor="b"/>
          <a:lstStyle/>
          <a:p>
            <a:pPr marL="0" indent="0" algn="ctr">
              <a:buNone/>
            </a:pPr>
            <a:r>
              <a:rPr lang="en-US" sz="1400" b="1" dirty="0">
                <a:solidFill>
                  <a:srgbClr val="FFFFFF"/>
                </a:solidFill>
                <a:latin typeface="Calibri" pitchFamily="34" charset="0"/>
                <a:ea typeface="Calibri" pitchFamily="34" charset="-122"/>
                <a:cs typeface="Calibri" pitchFamily="34" charset="-120"/>
              </a:rPr>
              <a:t>Computer</a:t>
            </a:r>
            <a:endParaRPr lang="en-US" sz="1400" dirty="0"/>
          </a:p>
        </p:txBody>
      </p:sp>
      <p:sp>
        <p:nvSpPr>
          <p:cNvPr id="14" name="Text 12">
            <a:extLst>
              <a:ext uri="{FF2B5EF4-FFF2-40B4-BE49-F238E27FC236}">
                <a16:creationId xmlns:a16="http://schemas.microsoft.com/office/drawing/2014/main" id="{2A0272FB-B5F1-1E9A-2D28-58733A5C4A30}"/>
              </a:ext>
            </a:extLst>
          </p:cNvPr>
          <p:cNvSpPr/>
          <p:nvPr/>
        </p:nvSpPr>
        <p:spPr>
          <a:xfrm>
            <a:off x="3657600" y="2592507"/>
            <a:ext cx="1828800" cy="319674"/>
          </a:xfrm>
          <a:prstGeom prst="rect">
            <a:avLst/>
          </a:prstGeom>
          <a:noFill/>
          <a:ln/>
        </p:spPr>
        <p:txBody>
          <a:bodyPr wrap="square" lIns="0" tIns="0" rIns="0" bIns="0" rtlCol="0" anchor="t"/>
          <a:lstStyle/>
          <a:p>
            <a:pPr marL="0" indent="0" algn="ctr">
              <a:buNone/>
            </a:pPr>
            <a:r>
              <a:rPr lang="en-US" sz="900" dirty="0">
                <a:solidFill>
                  <a:srgbClr val="57E3D8"/>
                </a:solidFill>
                <a:latin typeface="Calibri" pitchFamily="34" charset="0"/>
                <a:ea typeface="Calibri" pitchFamily="34" charset="-122"/>
                <a:cs typeface="Calibri" pitchFamily="34" charset="-120"/>
              </a:rPr>
              <a:t>hw + sw</a:t>
            </a:r>
            <a:endParaRPr lang="en-US" sz="900" dirty="0"/>
          </a:p>
        </p:txBody>
      </p:sp>
      <p:sp>
        <p:nvSpPr>
          <p:cNvPr id="15" name="Shape 13">
            <a:extLst>
              <a:ext uri="{FF2B5EF4-FFF2-40B4-BE49-F238E27FC236}">
                <a16:creationId xmlns:a16="http://schemas.microsoft.com/office/drawing/2014/main" id="{B336B5B2-1391-E873-BFC5-144835E7C64B}"/>
              </a:ext>
            </a:extLst>
          </p:cNvPr>
          <p:cNvSpPr/>
          <p:nvPr/>
        </p:nvSpPr>
        <p:spPr>
          <a:xfrm>
            <a:off x="256032" y="868680"/>
            <a:ext cx="1920240" cy="256032"/>
          </a:xfrm>
          <a:prstGeom prst="roundRect">
            <a:avLst>
              <a:gd name="adj" fmla="val 21429"/>
            </a:avLst>
          </a:prstGeom>
          <a:solidFill>
            <a:srgbClr val="2D1A5E"/>
          </a:solidFill>
          <a:ln w="6350">
            <a:solidFill>
              <a:srgbClr val="A380FF"/>
            </a:solidFill>
            <a:prstDash val="solid"/>
          </a:ln>
        </p:spPr>
        <p:txBody>
          <a:bodyPr/>
          <a:lstStyle/>
          <a:p>
            <a:endParaRPr lang="en-US"/>
          </a:p>
        </p:txBody>
      </p:sp>
      <p:sp>
        <p:nvSpPr>
          <p:cNvPr id="16" name="Text 14">
            <a:extLst>
              <a:ext uri="{FF2B5EF4-FFF2-40B4-BE49-F238E27FC236}">
                <a16:creationId xmlns:a16="http://schemas.microsoft.com/office/drawing/2014/main" id="{6CB07C7C-1E2A-4663-CE81-F2435C2A930A}"/>
              </a:ext>
            </a:extLst>
          </p:cNvPr>
          <p:cNvSpPr/>
          <p:nvPr/>
        </p:nvSpPr>
        <p:spPr>
          <a:xfrm>
            <a:off x="256032" y="868680"/>
            <a:ext cx="1920240" cy="256032"/>
          </a:xfrm>
          <a:prstGeom prst="rect">
            <a:avLst/>
          </a:prstGeom>
          <a:noFill/>
          <a:ln/>
        </p:spPr>
        <p:txBody>
          <a:bodyPr wrap="square" lIns="0" tIns="0" rIns="0" bIns="0" rtlCol="0" anchor="ctr"/>
          <a:lstStyle/>
          <a:p>
            <a:pPr marL="0" indent="0" algn="ctr">
              <a:buNone/>
            </a:pPr>
            <a:r>
              <a:rPr lang="en-US" sz="800" b="1" dirty="0">
                <a:solidFill>
                  <a:srgbClr val="A380FF"/>
                </a:solidFill>
                <a:latin typeface="Calibri" pitchFamily="34" charset="0"/>
                <a:ea typeface="Calibri" pitchFamily="34" charset="-122"/>
                <a:cs typeface="Calibri" pitchFamily="34" charset="-120"/>
              </a:rPr>
              <a:t>Personal computers</a:t>
            </a:r>
            <a:endParaRPr lang="en-US" sz="800" dirty="0"/>
          </a:p>
        </p:txBody>
      </p:sp>
      <p:sp>
        <p:nvSpPr>
          <p:cNvPr id="17" name="Shape 15">
            <a:extLst>
              <a:ext uri="{FF2B5EF4-FFF2-40B4-BE49-F238E27FC236}">
                <a16:creationId xmlns:a16="http://schemas.microsoft.com/office/drawing/2014/main" id="{5BFD06FF-5DD7-DF25-5B10-402072E06140}"/>
              </a:ext>
            </a:extLst>
          </p:cNvPr>
          <p:cNvSpPr/>
          <p:nvPr/>
        </p:nvSpPr>
        <p:spPr>
          <a:xfrm>
            <a:off x="256032" y="1188720"/>
            <a:ext cx="1920240" cy="566928"/>
          </a:xfrm>
          <a:prstGeom prst="roundRect">
            <a:avLst>
              <a:gd name="adj" fmla="val 16129"/>
            </a:avLst>
          </a:prstGeom>
          <a:solidFill>
            <a:srgbClr val="2D1A5E"/>
          </a:solidFill>
          <a:ln w="12700">
            <a:solidFill>
              <a:srgbClr val="2D1A5E"/>
            </a:solidFill>
            <a:prstDash val="solid"/>
          </a:ln>
        </p:spPr>
        <p:txBody>
          <a:bodyPr/>
          <a:lstStyle/>
          <a:p>
            <a:endParaRPr lang="en-US"/>
          </a:p>
        </p:txBody>
      </p:sp>
      <p:sp>
        <p:nvSpPr>
          <p:cNvPr id="18" name="Text 16">
            <a:extLst>
              <a:ext uri="{FF2B5EF4-FFF2-40B4-BE49-F238E27FC236}">
                <a16:creationId xmlns:a16="http://schemas.microsoft.com/office/drawing/2014/main" id="{1E9EB798-F8FE-AF72-4DDD-13EFC425D13A}"/>
              </a:ext>
            </a:extLst>
          </p:cNvPr>
          <p:cNvSpPr/>
          <p:nvPr/>
        </p:nvSpPr>
        <p:spPr>
          <a:xfrm>
            <a:off x="256032" y="1225296"/>
            <a:ext cx="1920240" cy="306141"/>
          </a:xfrm>
          <a:prstGeom prst="rect">
            <a:avLst/>
          </a:prstGeom>
          <a:noFill/>
          <a:ln/>
        </p:spPr>
        <p:txBody>
          <a:bodyPr wrap="square" lIns="0" tIns="0" rIns="0" bIns="0" rtlCol="0" anchor="b"/>
          <a:lstStyle/>
          <a:p>
            <a:pPr marL="0" indent="0" algn="ctr">
              <a:buNone/>
            </a:pPr>
            <a:r>
              <a:rPr lang="en-US" sz="1100" b="1" dirty="0">
                <a:solidFill>
                  <a:srgbClr val="EDEDED"/>
                </a:solidFill>
                <a:latin typeface="Calibri" pitchFamily="34" charset="0"/>
                <a:ea typeface="Calibri" pitchFamily="34" charset="-122"/>
                <a:cs typeface="Calibri" pitchFamily="34" charset="-120"/>
              </a:rPr>
              <a:t>Desktop</a:t>
            </a:r>
            <a:endParaRPr lang="en-US" sz="1100" dirty="0"/>
          </a:p>
        </p:txBody>
      </p:sp>
      <p:sp>
        <p:nvSpPr>
          <p:cNvPr id="19" name="Text 17">
            <a:extLst>
              <a:ext uri="{FF2B5EF4-FFF2-40B4-BE49-F238E27FC236}">
                <a16:creationId xmlns:a16="http://schemas.microsoft.com/office/drawing/2014/main" id="{BE616607-D21F-8DB5-4313-A23490DC857D}"/>
              </a:ext>
            </a:extLst>
          </p:cNvPr>
          <p:cNvSpPr/>
          <p:nvPr/>
        </p:nvSpPr>
        <p:spPr>
          <a:xfrm>
            <a:off x="256032" y="1494861"/>
            <a:ext cx="1920240" cy="249448"/>
          </a:xfrm>
          <a:prstGeom prst="rect">
            <a:avLst/>
          </a:prstGeom>
          <a:noFill/>
          <a:ln/>
        </p:spPr>
        <p:txBody>
          <a:bodyPr wrap="square" lIns="0" tIns="0" rIns="0" bIns="0" rtlCol="0" anchor="t"/>
          <a:lstStyle/>
          <a:p>
            <a:pPr marL="0" indent="0" algn="ctr">
              <a:buNone/>
            </a:pPr>
            <a:r>
              <a:rPr lang="en-US" sz="800" dirty="0">
                <a:solidFill>
                  <a:srgbClr val="A380FF"/>
                </a:solidFill>
                <a:latin typeface="Calibri" pitchFamily="34" charset="0"/>
                <a:ea typeface="Calibri" pitchFamily="34" charset="-122"/>
                <a:cs typeface="Calibri" pitchFamily="34" charset="-120"/>
              </a:rPr>
              <a:t>Tower or all-in-one</a:t>
            </a:r>
            <a:endParaRPr lang="en-US" sz="800" dirty="0"/>
          </a:p>
        </p:txBody>
      </p:sp>
      <p:sp>
        <p:nvSpPr>
          <p:cNvPr id="20" name="Shape 18">
            <a:extLst>
              <a:ext uri="{FF2B5EF4-FFF2-40B4-BE49-F238E27FC236}">
                <a16:creationId xmlns:a16="http://schemas.microsoft.com/office/drawing/2014/main" id="{25CD120B-5F3F-45DD-4187-6C684C56A509}"/>
              </a:ext>
            </a:extLst>
          </p:cNvPr>
          <p:cNvSpPr/>
          <p:nvPr/>
        </p:nvSpPr>
        <p:spPr>
          <a:xfrm>
            <a:off x="256032" y="1901952"/>
            <a:ext cx="1920240" cy="566928"/>
          </a:xfrm>
          <a:prstGeom prst="roundRect">
            <a:avLst>
              <a:gd name="adj" fmla="val 16129"/>
            </a:avLst>
          </a:prstGeom>
          <a:solidFill>
            <a:srgbClr val="2D1A5E"/>
          </a:solidFill>
          <a:ln w="12700">
            <a:solidFill>
              <a:srgbClr val="2D1A5E"/>
            </a:solidFill>
            <a:prstDash val="solid"/>
          </a:ln>
        </p:spPr>
        <p:txBody>
          <a:bodyPr/>
          <a:lstStyle/>
          <a:p>
            <a:endParaRPr lang="en-US"/>
          </a:p>
        </p:txBody>
      </p:sp>
      <p:sp>
        <p:nvSpPr>
          <p:cNvPr id="21" name="Text 19">
            <a:extLst>
              <a:ext uri="{FF2B5EF4-FFF2-40B4-BE49-F238E27FC236}">
                <a16:creationId xmlns:a16="http://schemas.microsoft.com/office/drawing/2014/main" id="{F02A7001-71ED-F819-4D76-0264200899F2}"/>
              </a:ext>
            </a:extLst>
          </p:cNvPr>
          <p:cNvSpPr/>
          <p:nvPr/>
        </p:nvSpPr>
        <p:spPr>
          <a:xfrm>
            <a:off x="256032" y="1938528"/>
            <a:ext cx="1920240" cy="306141"/>
          </a:xfrm>
          <a:prstGeom prst="rect">
            <a:avLst/>
          </a:prstGeom>
          <a:noFill/>
          <a:ln/>
        </p:spPr>
        <p:txBody>
          <a:bodyPr wrap="square" lIns="0" tIns="0" rIns="0" bIns="0" rtlCol="0" anchor="b"/>
          <a:lstStyle/>
          <a:p>
            <a:pPr marL="0" indent="0" algn="ctr">
              <a:buNone/>
            </a:pPr>
            <a:r>
              <a:rPr lang="en-US" sz="1100" b="1" dirty="0">
                <a:solidFill>
                  <a:srgbClr val="EDEDED"/>
                </a:solidFill>
                <a:latin typeface="Calibri" pitchFamily="34" charset="0"/>
                <a:ea typeface="Calibri" pitchFamily="34" charset="-122"/>
                <a:cs typeface="Calibri" pitchFamily="34" charset="-120"/>
              </a:rPr>
              <a:t>Laptop</a:t>
            </a:r>
            <a:endParaRPr lang="en-US" sz="1100" dirty="0"/>
          </a:p>
        </p:txBody>
      </p:sp>
      <p:sp>
        <p:nvSpPr>
          <p:cNvPr id="22" name="Text 20">
            <a:extLst>
              <a:ext uri="{FF2B5EF4-FFF2-40B4-BE49-F238E27FC236}">
                <a16:creationId xmlns:a16="http://schemas.microsoft.com/office/drawing/2014/main" id="{2EA9DCD1-CCCD-D446-90C0-52BF4A26507F}"/>
              </a:ext>
            </a:extLst>
          </p:cNvPr>
          <p:cNvSpPr/>
          <p:nvPr/>
        </p:nvSpPr>
        <p:spPr>
          <a:xfrm>
            <a:off x="256032" y="2208093"/>
            <a:ext cx="1920240" cy="249448"/>
          </a:xfrm>
          <a:prstGeom prst="rect">
            <a:avLst/>
          </a:prstGeom>
          <a:noFill/>
          <a:ln/>
        </p:spPr>
        <p:txBody>
          <a:bodyPr wrap="square" lIns="0" tIns="0" rIns="0" bIns="0" rtlCol="0" anchor="t"/>
          <a:lstStyle/>
          <a:p>
            <a:pPr marL="0" indent="0" algn="ctr">
              <a:buNone/>
            </a:pPr>
            <a:r>
              <a:rPr lang="en-US" sz="800" dirty="0">
                <a:solidFill>
                  <a:srgbClr val="A380FF"/>
                </a:solidFill>
                <a:latin typeface="Calibri" pitchFamily="34" charset="0"/>
                <a:ea typeface="Calibri" pitchFamily="34" charset="-122"/>
                <a:cs typeface="Calibri" pitchFamily="34" charset="-120"/>
              </a:rPr>
              <a:t>Battery-powered</a:t>
            </a:r>
            <a:endParaRPr lang="en-US" sz="800" dirty="0"/>
          </a:p>
        </p:txBody>
      </p:sp>
      <p:sp>
        <p:nvSpPr>
          <p:cNvPr id="23" name="Shape 21">
            <a:extLst>
              <a:ext uri="{FF2B5EF4-FFF2-40B4-BE49-F238E27FC236}">
                <a16:creationId xmlns:a16="http://schemas.microsoft.com/office/drawing/2014/main" id="{E48E0BE1-0A25-9B26-7147-E3A3D50BD143}"/>
              </a:ext>
            </a:extLst>
          </p:cNvPr>
          <p:cNvSpPr/>
          <p:nvPr/>
        </p:nvSpPr>
        <p:spPr>
          <a:xfrm>
            <a:off x="256032" y="2615184"/>
            <a:ext cx="1920240" cy="566928"/>
          </a:xfrm>
          <a:prstGeom prst="roundRect">
            <a:avLst>
              <a:gd name="adj" fmla="val 16129"/>
            </a:avLst>
          </a:prstGeom>
          <a:solidFill>
            <a:srgbClr val="0D2E2E"/>
          </a:solidFill>
          <a:ln w="12700">
            <a:solidFill>
              <a:srgbClr val="0D2E2E"/>
            </a:solidFill>
            <a:prstDash val="solid"/>
          </a:ln>
        </p:spPr>
        <p:txBody>
          <a:bodyPr/>
          <a:lstStyle/>
          <a:p>
            <a:endParaRPr lang="en-US"/>
          </a:p>
        </p:txBody>
      </p:sp>
      <p:sp>
        <p:nvSpPr>
          <p:cNvPr id="24" name="Text 22">
            <a:extLst>
              <a:ext uri="{FF2B5EF4-FFF2-40B4-BE49-F238E27FC236}">
                <a16:creationId xmlns:a16="http://schemas.microsoft.com/office/drawing/2014/main" id="{ADBACE64-81FA-573D-71F1-DA0091C9A814}"/>
              </a:ext>
            </a:extLst>
          </p:cNvPr>
          <p:cNvSpPr/>
          <p:nvPr/>
        </p:nvSpPr>
        <p:spPr>
          <a:xfrm>
            <a:off x="256032" y="2651760"/>
            <a:ext cx="1920240" cy="306141"/>
          </a:xfrm>
          <a:prstGeom prst="rect">
            <a:avLst/>
          </a:prstGeom>
          <a:noFill/>
          <a:ln/>
        </p:spPr>
        <p:txBody>
          <a:bodyPr wrap="square" lIns="0" tIns="0" rIns="0" bIns="0" rtlCol="0" anchor="b"/>
          <a:lstStyle/>
          <a:p>
            <a:pPr marL="0" indent="0" algn="ctr">
              <a:buNone/>
            </a:pPr>
            <a:r>
              <a:rPr lang="en-US" sz="1100" b="1" dirty="0">
                <a:solidFill>
                  <a:srgbClr val="57E3D8"/>
                </a:solidFill>
                <a:latin typeface="Calibri" pitchFamily="34" charset="0"/>
                <a:ea typeface="Calibri" pitchFamily="34" charset="-122"/>
                <a:cs typeface="Calibri" pitchFamily="34" charset="-120"/>
              </a:rPr>
              <a:t>Tablet</a:t>
            </a:r>
            <a:endParaRPr lang="en-US" sz="1100" dirty="0"/>
          </a:p>
        </p:txBody>
      </p:sp>
      <p:sp>
        <p:nvSpPr>
          <p:cNvPr id="25" name="Text 23">
            <a:extLst>
              <a:ext uri="{FF2B5EF4-FFF2-40B4-BE49-F238E27FC236}">
                <a16:creationId xmlns:a16="http://schemas.microsoft.com/office/drawing/2014/main" id="{EE50A920-3D2F-2F19-1DB7-49053B8BD7C5}"/>
              </a:ext>
            </a:extLst>
          </p:cNvPr>
          <p:cNvSpPr/>
          <p:nvPr/>
        </p:nvSpPr>
        <p:spPr>
          <a:xfrm>
            <a:off x="256032" y="2921325"/>
            <a:ext cx="1920240" cy="249448"/>
          </a:xfrm>
          <a:prstGeom prst="rect">
            <a:avLst/>
          </a:prstGeom>
          <a:noFill/>
          <a:ln/>
        </p:spPr>
        <p:txBody>
          <a:bodyPr wrap="square" lIns="0" tIns="0" rIns="0" bIns="0" rtlCol="0" anchor="t"/>
          <a:lstStyle/>
          <a:p>
            <a:pPr marL="0" indent="0" algn="ctr">
              <a:buNone/>
            </a:pPr>
            <a:r>
              <a:rPr lang="en-US" sz="800" dirty="0">
                <a:solidFill>
                  <a:srgbClr val="0F6E56"/>
                </a:solidFill>
                <a:latin typeface="Calibri" pitchFamily="34" charset="0"/>
                <a:ea typeface="Calibri" pitchFamily="34" charset="-122"/>
                <a:cs typeface="Calibri" pitchFamily="34" charset="-120"/>
              </a:rPr>
              <a:t>Touch screen</a:t>
            </a:r>
            <a:endParaRPr lang="en-US" sz="800" dirty="0"/>
          </a:p>
        </p:txBody>
      </p:sp>
      <p:sp>
        <p:nvSpPr>
          <p:cNvPr id="26" name="Shape 24">
            <a:extLst>
              <a:ext uri="{FF2B5EF4-FFF2-40B4-BE49-F238E27FC236}">
                <a16:creationId xmlns:a16="http://schemas.microsoft.com/office/drawing/2014/main" id="{FF0CB18B-29FD-763E-F16D-2EDD5BF85D32}"/>
              </a:ext>
            </a:extLst>
          </p:cNvPr>
          <p:cNvSpPr/>
          <p:nvPr/>
        </p:nvSpPr>
        <p:spPr>
          <a:xfrm>
            <a:off x="6967728" y="868680"/>
            <a:ext cx="1920240" cy="256032"/>
          </a:xfrm>
          <a:prstGeom prst="roundRect">
            <a:avLst>
              <a:gd name="adj" fmla="val 21429"/>
            </a:avLst>
          </a:prstGeom>
          <a:solidFill>
            <a:srgbClr val="1A2A00"/>
          </a:solidFill>
          <a:ln w="6350">
            <a:solidFill>
              <a:srgbClr val="80D883"/>
            </a:solidFill>
            <a:prstDash val="solid"/>
          </a:ln>
        </p:spPr>
        <p:txBody>
          <a:bodyPr/>
          <a:lstStyle/>
          <a:p>
            <a:endParaRPr lang="en-US"/>
          </a:p>
        </p:txBody>
      </p:sp>
      <p:sp>
        <p:nvSpPr>
          <p:cNvPr id="27" name="Text 25">
            <a:extLst>
              <a:ext uri="{FF2B5EF4-FFF2-40B4-BE49-F238E27FC236}">
                <a16:creationId xmlns:a16="http://schemas.microsoft.com/office/drawing/2014/main" id="{879E660B-0D1C-6D93-C2B3-435192B9917E}"/>
              </a:ext>
            </a:extLst>
          </p:cNvPr>
          <p:cNvSpPr/>
          <p:nvPr/>
        </p:nvSpPr>
        <p:spPr>
          <a:xfrm>
            <a:off x="6967728" y="868680"/>
            <a:ext cx="1920240" cy="256032"/>
          </a:xfrm>
          <a:prstGeom prst="rect">
            <a:avLst/>
          </a:prstGeom>
          <a:noFill/>
          <a:ln/>
        </p:spPr>
        <p:txBody>
          <a:bodyPr wrap="square" lIns="0" tIns="0" rIns="0" bIns="0" rtlCol="0" anchor="ctr"/>
          <a:lstStyle/>
          <a:p>
            <a:pPr marL="0" indent="0" algn="ctr">
              <a:buNone/>
            </a:pPr>
            <a:r>
              <a:rPr lang="en-US" sz="800" b="1" dirty="0">
                <a:solidFill>
                  <a:srgbClr val="80D883"/>
                </a:solidFill>
                <a:latin typeface="Calibri" pitchFamily="34" charset="0"/>
                <a:ea typeface="Calibri" pitchFamily="34" charset="-122"/>
                <a:cs typeface="Calibri" pitchFamily="34" charset="-120"/>
              </a:rPr>
              <a:t>Specialized</a:t>
            </a:r>
            <a:endParaRPr lang="en-US" sz="800" dirty="0"/>
          </a:p>
        </p:txBody>
      </p:sp>
      <p:sp>
        <p:nvSpPr>
          <p:cNvPr id="28" name="Shape 26">
            <a:extLst>
              <a:ext uri="{FF2B5EF4-FFF2-40B4-BE49-F238E27FC236}">
                <a16:creationId xmlns:a16="http://schemas.microsoft.com/office/drawing/2014/main" id="{83CFD63C-7A62-5333-88FD-DD3B66DD5CF6}"/>
              </a:ext>
            </a:extLst>
          </p:cNvPr>
          <p:cNvSpPr/>
          <p:nvPr/>
        </p:nvSpPr>
        <p:spPr>
          <a:xfrm>
            <a:off x="6967728" y="1188720"/>
            <a:ext cx="1920240" cy="566928"/>
          </a:xfrm>
          <a:prstGeom prst="roundRect">
            <a:avLst>
              <a:gd name="adj" fmla="val 16129"/>
            </a:avLst>
          </a:prstGeom>
          <a:solidFill>
            <a:srgbClr val="1A2A00"/>
          </a:solidFill>
          <a:ln w="12700">
            <a:solidFill>
              <a:srgbClr val="1A2A00"/>
            </a:solidFill>
            <a:prstDash val="solid"/>
          </a:ln>
        </p:spPr>
        <p:txBody>
          <a:bodyPr/>
          <a:lstStyle/>
          <a:p>
            <a:endParaRPr lang="en-US"/>
          </a:p>
        </p:txBody>
      </p:sp>
      <p:sp>
        <p:nvSpPr>
          <p:cNvPr id="29" name="Text 27">
            <a:extLst>
              <a:ext uri="{FF2B5EF4-FFF2-40B4-BE49-F238E27FC236}">
                <a16:creationId xmlns:a16="http://schemas.microsoft.com/office/drawing/2014/main" id="{9B1FBBD5-F31D-754F-AA3D-00C5073B9FBB}"/>
              </a:ext>
            </a:extLst>
          </p:cNvPr>
          <p:cNvSpPr/>
          <p:nvPr/>
        </p:nvSpPr>
        <p:spPr>
          <a:xfrm>
            <a:off x="6967728" y="1225296"/>
            <a:ext cx="1920240" cy="306141"/>
          </a:xfrm>
          <a:prstGeom prst="rect">
            <a:avLst/>
          </a:prstGeom>
          <a:noFill/>
          <a:ln/>
        </p:spPr>
        <p:txBody>
          <a:bodyPr wrap="square" lIns="0" tIns="0" rIns="0" bIns="0" rtlCol="0" anchor="b"/>
          <a:lstStyle/>
          <a:p>
            <a:pPr marL="0" indent="0" algn="ctr">
              <a:buNone/>
            </a:pPr>
            <a:r>
              <a:rPr lang="en-US" sz="1100" b="1" dirty="0">
                <a:solidFill>
                  <a:srgbClr val="80D883"/>
                </a:solidFill>
                <a:latin typeface="Calibri" pitchFamily="34" charset="0"/>
                <a:ea typeface="Calibri" pitchFamily="34" charset="-122"/>
                <a:cs typeface="Calibri" pitchFamily="34" charset="-120"/>
              </a:rPr>
              <a:t>Server</a:t>
            </a:r>
            <a:endParaRPr lang="en-US" sz="1100" dirty="0"/>
          </a:p>
        </p:txBody>
      </p:sp>
      <p:sp>
        <p:nvSpPr>
          <p:cNvPr id="30" name="Text 28">
            <a:extLst>
              <a:ext uri="{FF2B5EF4-FFF2-40B4-BE49-F238E27FC236}">
                <a16:creationId xmlns:a16="http://schemas.microsoft.com/office/drawing/2014/main" id="{597BCCCE-AF60-63C5-86B6-283D8040558D}"/>
              </a:ext>
            </a:extLst>
          </p:cNvPr>
          <p:cNvSpPr/>
          <p:nvPr/>
        </p:nvSpPr>
        <p:spPr>
          <a:xfrm>
            <a:off x="6967728" y="1494861"/>
            <a:ext cx="1920240" cy="249448"/>
          </a:xfrm>
          <a:prstGeom prst="rect">
            <a:avLst/>
          </a:prstGeom>
          <a:noFill/>
          <a:ln/>
        </p:spPr>
        <p:txBody>
          <a:bodyPr wrap="square" lIns="0" tIns="0" rIns="0" bIns="0" rtlCol="0" anchor="t"/>
          <a:lstStyle/>
          <a:p>
            <a:pPr marL="0" indent="0" algn="ctr">
              <a:buNone/>
            </a:pPr>
            <a:r>
              <a:rPr lang="en-US" sz="800" dirty="0">
                <a:solidFill>
                  <a:srgbClr val="336633"/>
                </a:solidFill>
                <a:latin typeface="Calibri" pitchFamily="34" charset="0"/>
                <a:ea typeface="Calibri" pitchFamily="34" charset="-122"/>
                <a:cs typeface="Calibri" pitchFamily="34" charset="-120"/>
              </a:rPr>
              <a:t>Serves network data</a:t>
            </a:r>
            <a:endParaRPr lang="en-US" sz="800" dirty="0"/>
          </a:p>
        </p:txBody>
      </p:sp>
      <p:sp>
        <p:nvSpPr>
          <p:cNvPr id="31" name="Shape 29">
            <a:extLst>
              <a:ext uri="{FF2B5EF4-FFF2-40B4-BE49-F238E27FC236}">
                <a16:creationId xmlns:a16="http://schemas.microsoft.com/office/drawing/2014/main" id="{5A16E8C8-9781-5C64-7E86-26266702B08D}"/>
              </a:ext>
            </a:extLst>
          </p:cNvPr>
          <p:cNvSpPr/>
          <p:nvPr/>
        </p:nvSpPr>
        <p:spPr>
          <a:xfrm>
            <a:off x="6967728" y="1901952"/>
            <a:ext cx="1920240" cy="566928"/>
          </a:xfrm>
          <a:prstGeom prst="roundRect">
            <a:avLst>
              <a:gd name="adj" fmla="val 16129"/>
            </a:avLst>
          </a:prstGeom>
          <a:solidFill>
            <a:srgbClr val="0A1E3A"/>
          </a:solidFill>
          <a:ln w="12700">
            <a:solidFill>
              <a:srgbClr val="0A1E3A"/>
            </a:solidFill>
            <a:prstDash val="solid"/>
          </a:ln>
        </p:spPr>
        <p:txBody>
          <a:bodyPr/>
          <a:lstStyle/>
          <a:p>
            <a:endParaRPr lang="en-US"/>
          </a:p>
        </p:txBody>
      </p:sp>
      <p:sp>
        <p:nvSpPr>
          <p:cNvPr id="32" name="Text 30">
            <a:extLst>
              <a:ext uri="{FF2B5EF4-FFF2-40B4-BE49-F238E27FC236}">
                <a16:creationId xmlns:a16="http://schemas.microsoft.com/office/drawing/2014/main" id="{30675D53-FCA0-6663-4A4B-E21AEB7A63AE}"/>
              </a:ext>
            </a:extLst>
          </p:cNvPr>
          <p:cNvSpPr/>
          <p:nvPr/>
        </p:nvSpPr>
        <p:spPr>
          <a:xfrm>
            <a:off x="6967728" y="1938528"/>
            <a:ext cx="1920240" cy="306141"/>
          </a:xfrm>
          <a:prstGeom prst="rect">
            <a:avLst/>
          </a:prstGeom>
          <a:noFill/>
          <a:ln/>
        </p:spPr>
        <p:txBody>
          <a:bodyPr wrap="square" lIns="0" tIns="0" rIns="0" bIns="0" rtlCol="0" anchor="b"/>
          <a:lstStyle/>
          <a:p>
            <a:pPr marL="0" indent="0" algn="ctr">
              <a:buNone/>
            </a:pPr>
            <a:r>
              <a:rPr lang="en-US" sz="1100" b="1" dirty="0">
                <a:solidFill>
                  <a:srgbClr val="4D96FF"/>
                </a:solidFill>
                <a:latin typeface="Calibri" pitchFamily="34" charset="0"/>
                <a:ea typeface="Calibri" pitchFamily="34" charset="-122"/>
                <a:cs typeface="Calibri" pitchFamily="34" charset="-120"/>
              </a:rPr>
              <a:t>Game console</a:t>
            </a:r>
            <a:endParaRPr lang="en-US" sz="1100" dirty="0"/>
          </a:p>
        </p:txBody>
      </p:sp>
      <p:sp>
        <p:nvSpPr>
          <p:cNvPr id="33" name="Text 31">
            <a:extLst>
              <a:ext uri="{FF2B5EF4-FFF2-40B4-BE49-F238E27FC236}">
                <a16:creationId xmlns:a16="http://schemas.microsoft.com/office/drawing/2014/main" id="{07681222-EA45-4026-8B33-34802728659E}"/>
              </a:ext>
            </a:extLst>
          </p:cNvPr>
          <p:cNvSpPr/>
          <p:nvPr/>
        </p:nvSpPr>
        <p:spPr>
          <a:xfrm>
            <a:off x="6967728" y="2208093"/>
            <a:ext cx="1920240" cy="249448"/>
          </a:xfrm>
          <a:prstGeom prst="rect">
            <a:avLst/>
          </a:prstGeom>
          <a:noFill/>
          <a:ln/>
        </p:spPr>
        <p:txBody>
          <a:bodyPr wrap="square" lIns="0" tIns="0" rIns="0" bIns="0" rtlCol="0" anchor="t"/>
          <a:lstStyle/>
          <a:p>
            <a:pPr marL="0" indent="0" algn="ctr">
              <a:buNone/>
            </a:pPr>
            <a:r>
              <a:rPr lang="en-US" sz="800" dirty="0">
                <a:solidFill>
                  <a:srgbClr val="336699"/>
                </a:solidFill>
                <a:latin typeface="Calibri" pitchFamily="34" charset="0"/>
                <a:ea typeface="Calibri" pitchFamily="34" charset="-122"/>
                <a:cs typeface="Calibri" pitchFamily="34" charset="-120"/>
              </a:rPr>
              <a:t>Specialized for gaming</a:t>
            </a:r>
            <a:endParaRPr lang="en-US" sz="800" dirty="0"/>
          </a:p>
        </p:txBody>
      </p:sp>
      <p:sp>
        <p:nvSpPr>
          <p:cNvPr id="34" name="Shape 32">
            <a:extLst>
              <a:ext uri="{FF2B5EF4-FFF2-40B4-BE49-F238E27FC236}">
                <a16:creationId xmlns:a16="http://schemas.microsoft.com/office/drawing/2014/main" id="{6EC39F85-C77A-4407-7C0E-BA63AD583A92}"/>
              </a:ext>
            </a:extLst>
          </p:cNvPr>
          <p:cNvSpPr/>
          <p:nvPr/>
        </p:nvSpPr>
        <p:spPr>
          <a:xfrm>
            <a:off x="6967728" y="2615184"/>
            <a:ext cx="1920240" cy="566928"/>
          </a:xfrm>
          <a:prstGeom prst="roundRect">
            <a:avLst>
              <a:gd name="adj" fmla="val 16129"/>
            </a:avLst>
          </a:prstGeom>
          <a:solidFill>
            <a:srgbClr val="1A2A00"/>
          </a:solidFill>
          <a:ln w="12700">
            <a:solidFill>
              <a:srgbClr val="1A2A00"/>
            </a:solidFill>
            <a:prstDash val="solid"/>
          </a:ln>
        </p:spPr>
        <p:txBody>
          <a:bodyPr/>
          <a:lstStyle/>
          <a:p>
            <a:endParaRPr lang="en-US"/>
          </a:p>
        </p:txBody>
      </p:sp>
      <p:sp>
        <p:nvSpPr>
          <p:cNvPr id="35" name="Text 33">
            <a:extLst>
              <a:ext uri="{FF2B5EF4-FFF2-40B4-BE49-F238E27FC236}">
                <a16:creationId xmlns:a16="http://schemas.microsoft.com/office/drawing/2014/main" id="{8F225A50-6D93-00A5-0C19-F2F2071E81BD}"/>
              </a:ext>
            </a:extLst>
          </p:cNvPr>
          <p:cNvSpPr/>
          <p:nvPr/>
        </p:nvSpPr>
        <p:spPr>
          <a:xfrm>
            <a:off x="6967728" y="2651760"/>
            <a:ext cx="1920240" cy="306141"/>
          </a:xfrm>
          <a:prstGeom prst="rect">
            <a:avLst/>
          </a:prstGeom>
          <a:noFill/>
          <a:ln/>
        </p:spPr>
        <p:txBody>
          <a:bodyPr wrap="square" lIns="0" tIns="0" rIns="0" bIns="0" rtlCol="0" anchor="b"/>
          <a:lstStyle/>
          <a:p>
            <a:pPr marL="0" indent="0" algn="ctr">
              <a:buNone/>
            </a:pPr>
            <a:r>
              <a:rPr lang="en-US" sz="1100" b="1" dirty="0">
                <a:solidFill>
                  <a:srgbClr val="80D883"/>
                </a:solidFill>
                <a:latin typeface="Calibri" pitchFamily="34" charset="0"/>
                <a:ea typeface="Calibri" pitchFamily="34" charset="-122"/>
                <a:cs typeface="Calibri" pitchFamily="34" charset="-120"/>
              </a:rPr>
              <a:t>Smart TV</a:t>
            </a:r>
            <a:endParaRPr lang="en-US" sz="1100" dirty="0"/>
          </a:p>
        </p:txBody>
      </p:sp>
      <p:sp>
        <p:nvSpPr>
          <p:cNvPr id="36" name="Text 34">
            <a:extLst>
              <a:ext uri="{FF2B5EF4-FFF2-40B4-BE49-F238E27FC236}">
                <a16:creationId xmlns:a16="http://schemas.microsoft.com/office/drawing/2014/main" id="{BDFC8782-A216-637C-BA9E-71A24E5457E5}"/>
              </a:ext>
            </a:extLst>
          </p:cNvPr>
          <p:cNvSpPr/>
          <p:nvPr/>
        </p:nvSpPr>
        <p:spPr>
          <a:xfrm>
            <a:off x="6967728" y="2921325"/>
            <a:ext cx="1920240" cy="249448"/>
          </a:xfrm>
          <a:prstGeom prst="rect">
            <a:avLst/>
          </a:prstGeom>
          <a:noFill/>
          <a:ln/>
        </p:spPr>
        <p:txBody>
          <a:bodyPr wrap="square" lIns="0" tIns="0" rIns="0" bIns="0" rtlCol="0" anchor="t"/>
          <a:lstStyle/>
          <a:p>
            <a:pPr marL="0" indent="0" algn="ctr">
              <a:buNone/>
            </a:pPr>
            <a:r>
              <a:rPr lang="en-US" sz="800" dirty="0">
                <a:solidFill>
                  <a:srgbClr val="336633"/>
                </a:solidFill>
                <a:latin typeface="Calibri" pitchFamily="34" charset="0"/>
                <a:ea typeface="Calibri" pitchFamily="34" charset="-122"/>
                <a:cs typeface="Calibri" pitchFamily="34" charset="-120"/>
              </a:rPr>
              <a:t>Streams online content</a:t>
            </a:r>
            <a:endParaRPr lang="en-US" sz="800" dirty="0"/>
          </a:p>
        </p:txBody>
      </p:sp>
      <p:sp>
        <p:nvSpPr>
          <p:cNvPr id="37" name="Shape 35">
            <a:extLst>
              <a:ext uri="{FF2B5EF4-FFF2-40B4-BE49-F238E27FC236}">
                <a16:creationId xmlns:a16="http://schemas.microsoft.com/office/drawing/2014/main" id="{DEDFB1AC-659A-15B1-AD10-59456DB69BB2}"/>
              </a:ext>
            </a:extLst>
          </p:cNvPr>
          <p:cNvSpPr/>
          <p:nvPr/>
        </p:nvSpPr>
        <p:spPr>
          <a:xfrm>
            <a:off x="3108960" y="3547872"/>
            <a:ext cx="2926080" cy="256032"/>
          </a:xfrm>
          <a:prstGeom prst="roundRect">
            <a:avLst>
              <a:gd name="adj" fmla="val 21429"/>
            </a:avLst>
          </a:prstGeom>
          <a:solidFill>
            <a:srgbClr val="2A0A0A"/>
          </a:solidFill>
          <a:ln w="6350">
            <a:solidFill>
              <a:srgbClr val="F4A664"/>
            </a:solidFill>
            <a:prstDash val="solid"/>
          </a:ln>
        </p:spPr>
        <p:txBody>
          <a:bodyPr/>
          <a:lstStyle/>
          <a:p>
            <a:endParaRPr lang="en-US"/>
          </a:p>
        </p:txBody>
      </p:sp>
      <p:sp>
        <p:nvSpPr>
          <p:cNvPr id="38" name="Text 36">
            <a:extLst>
              <a:ext uri="{FF2B5EF4-FFF2-40B4-BE49-F238E27FC236}">
                <a16:creationId xmlns:a16="http://schemas.microsoft.com/office/drawing/2014/main" id="{16EEBF85-E0E6-A366-E604-B4647512770C}"/>
              </a:ext>
            </a:extLst>
          </p:cNvPr>
          <p:cNvSpPr/>
          <p:nvPr/>
        </p:nvSpPr>
        <p:spPr>
          <a:xfrm>
            <a:off x="3108960" y="3547872"/>
            <a:ext cx="2926080" cy="256032"/>
          </a:xfrm>
          <a:prstGeom prst="rect">
            <a:avLst/>
          </a:prstGeom>
          <a:noFill/>
          <a:ln/>
        </p:spPr>
        <p:txBody>
          <a:bodyPr wrap="square" lIns="0" tIns="0" rIns="0" bIns="0" rtlCol="0" anchor="ctr"/>
          <a:lstStyle/>
          <a:p>
            <a:pPr marL="0" indent="0" algn="ctr">
              <a:buNone/>
            </a:pPr>
            <a:r>
              <a:rPr lang="en-US" sz="800" b="1" dirty="0">
                <a:solidFill>
                  <a:srgbClr val="F4A664"/>
                </a:solidFill>
                <a:latin typeface="Calibri" pitchFamily="34" charset="0"/>
                <a:ea typeface="Calibri" pitchFamily="34" charset="-122"/>
                <a:cs typeface="Calibri" pitchFamily="34" charset="-120"/>
              </a:rPr>
              <a:t>Mobile &amp; wearable</a:t>
            </a:r>
            <a:endParaRPr lang="en-US" sz="800" dirty="0"/>
          </a:p>
        </p:txBody>
      </p:sp>
      <p:sp>
        <p:nvSpPr>
          <p:cNvPr id="39" name="Shape 37">
            <a:extLst>
              <a:ext uri="{FF2B5EF4-FFF2-40B4-BE49-F238E27FC236}">
                <a16:creationId xmlns:a16="http://schemas.microsoft.com/office/drawing/2014/main" id="{1FC1CCFF-07C6-CB2D-514B-28910BBE0619}"/>
              </a:ext>
            </a:extLst>
          </p:cNvPr>
          <p:cNvSpPr/>
          <p:nvPr/>
        </p:nvSpPr>
        <p:spPr>
          <a:xfrm>
            <a:off x="3108960" y="3858768"/>
            <a:ext cx="1325880" cy="566928"/>
          </a:xfrm>
          <a:prstGeom prst="roundRect">
            <a:avLst>
              <a:gd name="adj" fmla="val 16129"/>
            </a:avLst>
          </a:prstGeom>
          <a:solidFill>
            <a:srgbClr val="2E0A0A"/>
          </a:solidFill>
          <a:ln w="12700">
            <a:solidFill>
              <a:srgbClr val="2E0A0A"/>
            </a:solidFill>
            <a:prstDash val="solid"/>
          </a:ln>
        </p:spPr>
        <p:txBody>
          <a:bodyPr/>
          <a:lstStyle/>
          <a:p>
            <a:endParaRPr lang="en-US"/>
          </a:p>
        </p:txBody>
      </p:sp>
      <p:sp>
        <p:nvSpPr>
          <p:cNvPr id="40" name="Text 38">
            <a:extLst>
              <a:ext uri="{FF2B5EF4-FFF2-40B4-BE49-F238E27FC236}">
                <a16:creationId xmlns:a16="http://schemas.microsoft.com/office/drawing/2014/main" id="{E324EB57-D14A-C85D-E97A-08105E740165}"/>
              </a:ext>
            </a:extLst>
          </p:cNvPr>
          <p:cNvSpPr/>
          <p:nvPr/>
        </p:nvSpPr>
        <p:spPr>
          <a:xfrm>
            <a:off x="3108960" y="3895344"/>
            <a:ext cx="1325880" cy="306141"/>
          </a:xfrm>
          <a:prstGeom prst="rect">
            <a:avLst/>
          </a:prstGeom>
          <a:noFill/>
          <a:ln/>
        </p:spPr>
        <p:txBody>
          <a:bodyPr wrap="square" lIns="0" tIns="0" rIns="0" bIns="0" rtlCol="0" anchor="b"/>
          <a:lstStyle/>
          <a:p>
            <a:pPr marL="0" indent="0" algn="ctr">
              <a:buNone/>
            </a:pPr>
            <a:r>
              <a:rPr lang="en-US" sz="1100" b="1" dirty="0">
                <a:solidFill>
                  <a:srgbClr val="FF8181"/>
                </a:solidFill>
                <a:latin typeface="Calibri" pitchFamily="34" charset="0"/>
                <a:ea typeface="Calibri" pitchFamily="34" charset="-122"/>
                <a:cs typeface="Calibri" pitchFamily="34" charset="-120"/>
              </a:rPr>
              <a:t>Smartphone</a:t>
            </a:r>
            <a:endParaRPr lang="en-US" sz="1100" dirty="0"/>
          </a:p>
        </p:txBody>
      </p:sp>
      <p:sp>
        <p:nvSpPr>
          <p:cNvPr id="41" name="Text 39">
            <a:extLst>
              <a:ext uri="{FF2B5EF4-FFF2-40B4-BE49-F238E27FC236}">
                <a16:creationId xmlns:a16="http://schemas.microsoft.com/office/drawing/2014/main" id="{3D6F7918-43E1-7331-EBAE-F2A69FF61B01}"/>
              </a:ext>
            </a:extLst>
          </p:cNvPr>
          <p:cNvSpPr/>
          <p:nvPr/>
        </p:nvSpPr>
        <p:spPr>
          <a:xfrm>
            <a:off x="3108960" y="4164909"/>
            <a:ext cx="1325880" cy="249448"/>
          </a:xfrm>
          <a:prstGeom prst="rect">
            <a:avLst/>
          </a:prstGeom>
          <a:noFill/>
          <a:ln/>
        </p:spPr>
        <p:txBody>
          <a:bodyPr wrap="square" lIns="0" tIns="0" rIns="0" bIns="0" rtlCol="0" anchor="t"/>
          <a:lstStyle/>
          <a:p>
            <a:pPr marL="0" indent="0" algn="ctr">
              <a:buNone/>
            </a:pPr>
            <a:r>
              <a:rPr lang="en-US" sz="800" dirty="0">
                <a:solidFill>
                  <a:srgbClr val="660000"/>
                </a:solidFill>
                <a:latin typeface="Calibri" pitchFamily="34" charset="0"/>
                <a:ea typeface="Calibri" pitchFamily="34" charset="-122"/>
                <a:cs typeface="Calibri" pitchFamily="34" charset="-120"/>
              </a:rPr>
              <a:t>Pocket-size</a:t>
            </a:r>
            <a:endParaRPr lang="en-US" sz="800" dirty="0"/>
          </a:p>
        </p:txBody>
      </p:sp>
      <p:sp>
        <p:nvSpPr>
          <p:cNvPr id="42" name="Shape 40">
            <a:extLst>
              <a:ext uri="{FF2B5EF4-FFF2-40B4-BE49-F238E27FC236}">
                <a16:creationId xmlns:a16="http://schemas.microsoft.com/office/drawing/2014/main" id="{E913DD85-EBD6-323A-7B69-53506A4E42F6}"/>
              </a:ext>
            </a:extLst>
          </p:cNvPr>
          <p:cNvSpPr/>
          <p:nvPr/>
        </p:nvSpPr>
        <p:spPr>
          <a:xfrm>
            <a:off x="4709160" y="3858768"/>
            <a:ext cx="1325880" cy="566928"/>
          </a:xfrm>
          <a:prstGeom prst="roundRect">
            <a:avLst>
              <a:gd name="adj" fmla="val 16129"/>
            </a:avLst>
          </a:prstGeom>
          <a:solidFill>
            <a:srgbClr val="2A1E00"/>
          </a:solidFill>
          <a:ln w="12700">
            <a:solidFill>
              <a:srgbClr val="2A1E00"/>
            </a:solidFill>
            <a:prstDash val="solid"/>
          </a:ln>
        </p:spPr>
        <p:txBody>
          <a:bodyPr/>
          <a:lstStyle/>
          <a:p>
            <a:endParaRPr lang="en-US"/>
          </a:p>
        </p:txBody>
      </p:sp>
      <p:sp>
        <p:nvSpPr>
          <p:cNvPr id="43" name="Text 41">
            <a:extLst>
              <a:ext uri="{FF2B5EF4-FFF2-40B4-BE49-F238E27FC236}">
                <a16:creationId xmlns:a16="http://schemas.microsoft.com/office/drawing/2014/main" id="{0FC0FE8A-35CB-FF54-8C11-98AE2E97E586}"/>
              </a:ext>
            </a:extLst>
          </p:cNvPr>
          <p:cNvSpPr/>
          <p:nvPr/>
        </p:nvSpPr>
        <p:spPr>
          <a:xfrm>
            <a:off x="4709160" y="3895344"/>
            <a:ext cx="1325880" cy="306141"/>
          </a:xfrm>
          <a:prstGeom prst="rect">
            <a:avLst/>
          </a:prstGeom>
          <a:noFill/>
          <a:ln/>
        </p:spPr>
        <p:txBody>
          <a:bodyPr wrap="square" lIns="0" tIns="0" rIns="0" bIns="0" rtlCol="0" anchor="b"/>
          <a:lstStyle/>
          <a:p>
            <a:pPr marL="0" indent="0" algn="ctr">
              <a:buNone/>
            </a:pPr>
            <a:r>
              <a:rPr lang="en-US" sz="1100" b="1" dirty="0">
                <a:solidFill>
                  <a:srgbClr val="FFDB5E"/>
                </a:solidFill>
                <a:latin typeface="Calibri" pitchFamily="34" charset="0"/>
                <a:ea typeface="Calibri" pitchFamily="34" charset="-122"/>
                <a:cs typeface="Calibri" pitchFamily="34" charset="-120"/>
              </a:rPr>
              <a:t>Wearable</a:t>
            </a:r>
            <a:endParaRPr lang="en-US" sz="1100" dirty="0"/>
          </a:p>
        </p:txBody>
      </p:sp>
      <p:sp>
        <p:nvSpPr>
          <p:cNvPr id="44" name="Text 42">
            <a:extLst>
              <a:ext uri="{FF2B5EF4-FFF2-40B4-BE49-F238E27FC236}">
                <a16:creationId xmlns:a16="http://schemas.microsoft.com/office/drawing/2014/main" id="{3A80BD3F-47AF-B83A-2F99-D652962EC3BD}"/>
              </a:ext>
            </a:extLst>
          </p:cNvPr>
          <p:cNvSpPr/>
          <p:nvPr/>
        </p:nvSpPr>
        <p:spPr>
          <a:xfrm>
            <a:off x="4709160" y="4164909"/>
            <a:ext cx="1325880" cy="249448"/>
          </a:xfrm>
          <a:prstGeom prst="rect">
            <a:avLst/>
          </a:prstGeom>
          <a:noFill/>
          <a:ln/>
        </p:spPr>
        <p:txBody>
          <a:bodyPr wrap="square" lIns="0" tIns="0" rIns="0" bIns="0" rtlCol="0" anchor="t"/>
          <a:lstStyle/>
          <a:p>
            <a:pPr marL="0" indent="0" algn="ctr">
              <a:buNone/>
            </a:pPr>
            <a:r>
              <a:rPr lang="en-US" sz="800" dirty="0">
                <a:solidFill>
                  <a:srgbClr val="665500"/>
                </a:solidFill>
                <a:latin typeface="Calibri" pitchFamily="34" charset="0"/>
                <a:ea typeface="Calibri" pitchFamily="34" charset="-122"/>
                <a:cs typeface="Calibri" pitchFamily="34" charset="-120"/>
              </a:rPr>
              <a:t>Watch, tracker</a:t>
            </a:r>
            <a:endParaRPr lang="en-US" sz="800" dirty="0"/>
          </a:p>
        </p:txBody>
      </p:sp>
      <p:sp>
        <p:nvSpPr>
          <p:cNvPr id="45" name="Shape 43">
            <a:extLst>
              <a:ext uri="{FF2B5EF4-FFF2-40B4-BE49-F238E27FC236}">
                <a16:creationId xmlns:a16="http://schemas.microsoft.com/office/drawing/2014/main" id="{57D9FA24-3858-DBB3-A226-1CAE2CC1A255}"/>
              </a:ext>
            </a:extLst>
          </p:cNvPr>
          <p:cNvSpPr/>
          <p:nvPr/>
        </p:nvSpPr>
        <p:spPr>
          <a:xfrm>
            <a:off x="3108960" y="868680"/>
            <a:ext cx="2926080" cy="256032"/>
          </a:xfrm>
          <a:prstGeom prst="roundRect">
            <a:avLst>
              <a:gd name="adj" fmla="val 21429"/>
            </a:avLst>
          </a:prstGeom>
          <a:solidFill>
            <a:srgbClr val="1A1040"/>
          </a:solidFill>
          <a:ln w="6350">
            <a:solidFill>
              <a:srgbClr val="4F29B7"/>
            </a:solidFill>
            <a:prstDash val="solid"/>
          </a:ln>
        </p:spPr>
        <p:txBody>
          <a:bodyPr/>
          <a:lstStyle/>
          <a:p>
            <a:endParaRPr lang="en-US">
              <a:solidFill>
                <a:schemeClr val="bg1"/>
              </a:solidFill>
            </a:endParaRPr>
          </a:p>
        </p:txBody>
      </p:sp>
      <p:sp>
        <p:nvSpPr>
          <p:cNvPr id="46" name="Text 44">
            <a:extLst>
              <a:ext uri="{FF2B5EF4-FFF2-40B4-BE49-F238E27FC236}">
                <a16:creationId xmlns:a16="http://schemas.microsoft.com/office/drawing/2014/main" id="{9F6097A3-2AE0-56FC-3A98-53BF0CEB3F7F}"/>
              </a:ext>
            </a:extLst>
          </p:cNvPr>
          <p:cNvSpPr/>
          <p:nvPr/>
        </p:nvSpPr>
        <p:spPr>
          <a:xfrm>
            <a:off x="3108960" y="868680"/>
            <a:ext cx="2926080" cy="256032"/>
          </a:xfrm>
          <a:prstGeom prst="rect">
            <a:avLst/>
          </a:prstGeom>
          <a:noFill/>
          <a:ln/>
        </p:spPr>
        <p:txBody>
          <a:bodyPr wrap="square" lIns="0" tIns="0" rIns="0" bIns="0" rtlCol="0" anchor="ctr"/>
          <a:lstStyle/>
          <a:p>
            <a:pPr marL="0" indent="0" algn="ctr">
              <a:buNone/>
            </a:pPr>
            <a:r>
              <a:rPr lang="en-US" sz="800" b="1" dirty="0">
                <a:solidFill>
                  <a:schemeClr val="bg1"/>
                </a:solidFill>
                <a:latin typeface="Calibri" pitchFamily="34" charset="0"/>
                <a:ea typeface="Calibri" pitchFamily="34" charset="-122"/>
                <a:cs typeface="Calibri" pitchFamily="34" charset="-120"/>
              </a:rPr>
              <a:t>Styles of PC</a:t>
            </a:r>
            <a:endParaRPr lang="en-US" sz="800" dirty="0">
              <a:solidFill>
                <a:schemeClr val="bg1"/>
              </a:solidFill>
            </a:endParaRPr>
          </a:p>
        </p:txBody>
      </p:sp>
      <p:sp>
        <p:nvSpPr>
          <p:cNvPr id="47" name="Shape 45">
            <a:extLst>
              <a:ext uri="{FF2B5EF4-FFF2-40B4-BE49-F238E27FC236}">
                <a16:creationId xmlns:a16="http://schemas.microsoft.com/office/drawing/2014/main" id="{7F703633-9C5B-7ECE-A640-4A3A4F199254}"/>
              </a:ext>
            </a:extLst>
          </p:cNvPr>
          <p:cNvSpPr/>
          <p:nvPr/>
        </p:nvSpPr>
        <p:spPr>
          <a:xfrm>
            <a:off x="3108960" y="1188720"/>
            <a:ext cx="1325880" cy="566928"/>
          </a:xfrm>
          <a:prstGeom prst="roundRect">
            <a:avLst>
              <a:gd name="adj" fmla="val 16129"/>
            </a:avLst>
          </a:prstGeom>
          <a:solidFill>
            <a:srgbClr val="1E0F40"/>
          </a:solidFill>
          <a:ln w="12700">
            <a:solidFill>
              <a:srgbClr val="1E0F40"/>
            </a:solidFill>
            <a:prstDash val="solid"/>
          </a:ln>
        </p:spPr>
        <p:txBody>
          <a:bodyPr/>
          <a:lstStyle/>
          <a:p>
            <a:endParaRPr lang="en-US"/>
          </a:p>
        </p:txBody>
      </p:sp>
      <p:sp>
        <p:nvSpPr>
          <p:cNvPr id="48" name="Text 46">
            <a:extLst>
              <a:ext uri="{FF2B5EF4-FFF2-40B4-BE49-F238E27FC236}">
                <a16:creationId xmlns:a16="http://schemas.microsoft.com/office/drawing/2014/main" id="{E0C38515-D3B7-090A-F158-800F01C65B85}"/>
              </a:ext>
            </a:extLst>
          </p:cNvPr>
          <p:cNvSpPr/>
          <p:nvPr/>
        </p:nvSpPr>
        <p:spPr>
          <a:xfrm>
            <a:off x="3108960" y="1225296"/>
            <a:ext cx="1325880" cy="306141"/>
          </a:xfrm>
          <a:prstGeom prst="rect">
            <a:avLst/>
          </a:prstGeom>
          <a:noFill/>
          <a:ln/>
        </p:spPr>
        <p:txBody>
          <a:bodyPr wrap="square" lIns="0" tIns="0" rIns="0" bIns="0" rtlCol="0" anchor="b"/>
          <a:lstStyle/>
          <a:p>
            <a:pPr marL="0" indent="0" algn="ctr">
              <a:buNone/>
            </a:pPr>
            <a:r>
              <a:rPr lang="en-US" sz="1100" b="1" dirty="0">
                <a:solidFill>
                  <a:srgbClr val="EDEDED"/>
                </a:solidFill>
                <a:latin typeface="Calibri" pitchFamily="34" charset="0"/>
                <a:ea typeface="Calibri" pitchFamily="34" charset="-122"/>
                <a:cs typeface="Calibri" pitchFamily="34" charset="-120"/>
              </a:rPr>
              <a:t>PC</a:t>
            </a:r>
            <a:endParaRPr lang="en-US" sz="1100" dirty="0"/>
          </a:p>
        </p:txBody>
      </p:sp>
      <p:sp>
        <p:nvSpPr>
          <p:cNvPr id="49" name="Text 47">
            <a:extLst>
              <a:ext uri="{FF2B5EF4-FFF2-40B4-BE49-F238E27FC236}">
                <a16:creationId xmlns:a16="http://schemas.microsoft.com/office/drawing/2014/main" id="{6C6AF1F9-A283-69CD-272F-86ACA2C76AD5}"/>
              </a:ext>
            </a:extLst>
          </p:cNvPr>
          <p:cNvSpPr/>
          <p:nvPr/>
        </p:nvSpPr>
        <p:spPr>
          <a:xfrm>
            <a:off x="3108960" y="1494861"/>
            <a:ext cx="1325880" cy="249448"/>
          </a:xfrm>
          <a:prstGeom prst="rect">
            <a:avLst/>
          </a:prstGeom>
          <a:noFill/>
          <a:ln/>
        </p:spPr>
        <p:txBody>
          <a:bodyPr wrap="square" lIns="0" tIns="0" rIns="0" bIns="0" rtlCol="0" anchor="t"/>
          <a:lstStyle/>
          <a:p>
            <a:pPr marL="0" indent="0" algn="ctr">
              <a:buNone/>
            </a:pPr>
            <a:r>
              <a:rPr lang="en-US" sz="800" dirty="0">
                <a:solidFill>
                  <a:srgbClr val="A380FF"/>
                </a:solidFill>
                <a:latin typeface="Calibri" pitchFamily="34" charset="0"/>
                <a:ea typeface="Calibri" pitchFamily="34" charset="-122"/>
                <a:cs typeface="Calibri" pitchFamily="34" charset="-120"/>
              </a:rPr>
              <a:t>Runs Windows</a:t>
            </a:r>
            <a:endParaRPr lang="en-US" sz="800" dirty="0"/>
          </a:p>
        </p:txBody>
      </p:sp>
      <p:sp>
        <p:nvSpPr>
          <p:cNvPr id="50" name="Shape 48">
            <a:extLst>
              <a:ext uri="{FF2B5EF4-FFF2-40B4-BE49-F238E27FC236}">
                <a16:creationId xmlns:a16="http://schemas.microsoft.com/office/drawing/2014/main" id="{1DBE3B29-753D-4E55-BA98-F0BA6F655208}"/>
              </a:ext>
            </a:extLst>
          </p:cNvPr>
          <p:cNvSpPr/>
          <p:nvPr/>
        </p:nvSpPr>
        <p:spPr>
          <a:xfrm>
            <a:off x="4709160" y="1188720"/>
            <a:ext cx="1325880" cy="566928"/>
          </a:xfrm>
          <a:prstGeom prst="roundRect">
            <a:avLst>
              <a:gd name="adj" fmla="val 16129"/>
            </a:avLst>
          </a:prstGeom>
          <a:solidFill>
            <a:srgbClr val="0A2020"/>
          </a:solidFill>
          <a:ln w="12700">
            <a:solidFill>
              <a:srgbClr val="0A2020"/>
            </a:solidFill>
            <a:prstDash val="solid"/>
          </a:ln>
        </p:spPr>
        <p:txBody>
          <a:bodyPr/>
          <a:lstStyle/>
          <a:p>
            <a:endParaRPr lang="en-US"/>
          </a:p>
        </p:txBody>
      </p:sp>
      <p:sp>
        <p:nvSpPr>
          <p:cNvPr id="51" name="Text 49">
            <a:extLst>
              <a:ext uri="{FF2B5EF4-FFF2-40B4-BE49-F238E27FC236}">
                <a16:creationId xmlns:a16="http://schemas.microsoft.com/office/drawing/2014/main" id="{4D749A40-DCDB-AB8B-C6D5-60BF58854C4C}"/>
              </a:ext>
            </a:extLst>
          </p:cNvPr>
          <p:cNvSpPr/>
          <p:nvPr/>
        </p:nvSpPr>
        <p:spPr>
          <a:xfrm>
            <a:off x="4709160" y="1225296"/>
            <a:ext cx="1325880" cy="306141"/>
          </a:xfrm>
          <a:prstGeom prst="rect">
            <a:avLst/>
          </a:prstGeom>
          <a:noFill/>
          <a:ln/>
        </p:spPr>
        <p:txBody>
          <a:bodyPr wrap="square" lIns="0" tIns="0" rIns="0" bIns="0" rtlCol="0" anchor="b"/>
          <a:lstStyle/>
          <a:p>
            <a:pPr marL="0" indent="0" algn="ctr">
              <a:buNone/>
            </a:pPr>
            <a:r>
              <a:rPr lang="en-US" sz="1100" b="1" dirty="0">
                <a:solidFill>
                  <a:srgbClr val="57E3D8"/>
                </a:solidFill>
                <a:latin typeface="Calibri" pitchFamily="34" charset="0"/>
                <a:ea typeface="Calibri" pitchFamily="34" charset="-122"/>
                <a:cs typeface="Calibri" pitchFamily="34" charset="-120"/>
              </a:rPr>
              <a:t>Mac</a:t>
            </a:r>
            <a:endParaRPr lang="en-US" sz="1100" dirty="0"/>
          </a:p>
        </p:txBody>
      </p:sp>
      <p:sp>
        <p:nvSpPr>
          <p:cNvPr id="52" name="Text 50">
            <a:extLst>
              <a:ext uri="{FF2B5EF4-FFF2-40B4-BE49-F238E27FC236}">
                <a16:creationId xmlns:a16="http://schemas.microsoft.com/office/drawing/2014/main" id="{176E6703-47B9-139F-3900-CB5908DA2C68}"/>
              </a:ext>
            </a:extLst>
          </p:cNvPr>
          <p:cNvSpPr/>
          <p:nvPr/>
        </p:nvSpPr>
        <p:spPr>
          <a:xfrm>
            <a:off x="4709160" y="1494861"/>
            <a:ext cx="1325880" cy="249448"/>
          </a:xfrm>
          <a:prstGeom prst="rect">
            <a:avLst/>
          </a:prstGeom>
          <a:noFill/>
          <a:ln/>
        </p:spPr>
        <p:txBody>
          <a:bodyPr wrap="square" lIns="0" tIns="0" rIns="0" bIns="0" rtlCol="0" anchor="t"/>
          <a:lstStyle/>
          <a:p>
            <a:pPr marL="0" indent="0" algn="ctr">
              <a:buNone/>
            </a:pPr>
            <a:r>
              <a:rPr lang="en-US" sz="800" dirty="0">
                <a:solidFill>
                  <a:srgbClr val="0F6E56"/>
                </a:solidFill>
                <a:latin typeface="Calibri" pitchFamily="34" charset="0"/>
                <a:ea typeface="Calibri" pitchFamily="34" charset="-122"/>
                <a:cs typeface="Calibri" pitchFamily="34" charset="-120"/>
              </a:rPr>
              <a:t>Runs macOS</a:t>
            </a:r>
            <a:endParaRPr lang="en-US" sz="800" dirty="0"/>
          </a:p>
        </p:txBody>
      </p:sp>
    </p:spTree>
    <p:extLst>
      <p:ext uri="{BB962C8B-B14F-4D97-AF65-F5344CB8AC3E}">
        <p14:creationId xmlns:p14="http://schemas.microsoft.com/office/powerpoint/2010/main" val="10381942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a:extLst>
            <a:ext uri="{FF2B5EF4-FFF2-40B4-BE49-F238E27FC236}">
              <a16:creationId xmlns:a16="http://schemas.microsoft.com/office/drawing/2014/main" id="{59FFA78A-A446-F09A-3810-9AA69AECBD4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ABE2BF1-C3BA-E0C1-15B2-DADEF05B69B9}"/>
              </a:ext>
            </a:extLst>
          </p:cNvPr>
          <p:cNvSpPr/>
          <p:nvPr/>
        </p:nvSpPr>
        <p:spPr>
          <a:xfrm>
            <a:off x="0" y="0"/>
            <a:ext cx="9144000" cy="73152"/>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0C84A7AA-68DF-8A43-964C-E8784941CE61}"/>
              </a:ext>
            </a:extLst>
          </p:cNvPr>
          <p:cNvSpPr/>
          <p:nvPr/>
        </p:nvSpPr>
        <p:spPr>
          <a:xfrm>
            <a:off x="0" y="73152"/>
            <a:ext cx="9144000" cy="658368"/>
          </a:xfrm>
          <a:prstGeom prst="rect">
            <a:avLst/>
          </a:prstGeom>
          <a:solidFill>
            <a:srgbClr val="262626"/>
          </a:solidFill>
          <a:ln w="12700">
            <a:solidFill>
              <a:srgbClr val="262626"/>
            </a:solidFill>
            <a:prstDash val="solid"/>
          </a:ln>
        </p:spPr>
        <p:txBody>
          <a:bodyPr/>
          <a:lstStyle/>
          <a:p>
            <a:endParaRPr lang="en-US"/>
          </a:p>
        </p:txBody>
      </p:sp>
      <p:sp>
        <p:nvSpPr>
          <p:cNvPr id="4" name="Text 2">
            <a:extLst>
              <a:ext uri="{FF2B5EF4-FFF2-40B4-BE49-F238E27FC236}">
                <a16:creationId xmlns:a16="http://schemas.microsoft.com/office/drawing/2014/main" id="{AB853415-8EB0-FE87-2D93-368F2E92C269}"/>
              </a:ext>
            </a:extLst>
          </p:cNvPr>
          <p:cNvSpPr/>
          <p:nvPr/>
        </p:nvSpPr>
        <p:spPr>
          <a:xfrm>
            <a:off x="365760" y="73152"/>
            <a:ext cx="8412480" cy="411480"/>
          </a:xfrm>
          <a:prstGeom prst="rect">
            <a:avLst/>
          </a:prstGeom>
          <a:noFill/>
          <a:ln/>
        </p:spPr>
        <p:txBody>
          <a:bodyPr wrap="square" lIns="0" tIns="0" rIns="0" bIns="0" rtlCol="0" anchor="ctr"/>
          <a:lstStyle/>
          <a:p>
            <a:pPr marL="0" indent="0">
              <a:buNone/>
            </a:pPr>
            <a:r>
              <a:rPr lang="en-US" sz="2200" b="1" dirty="0">
                <a:solidFill>
                  <a:srgbClr val="57E3D8"/>
                </a:solidFill>
                <a:latin typeface="Calibri" pitchFamily="34" charset="0"/>
                <a:ea typeface="Calibri" pitchFamily="34" charset="-122"/>
                <a:cs typeface="Calibri" pitchFamily="34" charset="-120"/>
              </a:rPr>
              <a:t>Hardware vs. software</a:t>
            </a:r>
            <a:endParaRPr lang="en-US" sz="2200" dirty="0"/>
          </a:p>
        </p:txBody>
      </p:sp>
      <p:sp>
        <p:nvSpPr>
          <p:cNvPr id="5" name="Text 3">
            <a:extLst>
              <a:ext uri="{FF2B5EF4-FFF2-40B4-BE49-F238E27FC236}">
                <a16:creationId xmlns:a16="http://schemas.microsoft.com/office/drawing/2014/main" id="{DAC68967-B720-9218-5380-CC94F219D5F8}"/>
              </a:ext>
            </a:extLst>
          </p:cNvPr>
          <p:cNvSpPr/>
          <p:nvPr/>
        </p:nvSpPr>
        <p:spPr>
          <a:xfrm>
            <a:off x="365760" y="484632"/>
            <a:ext cx="8412480" cy="246888"/>
          </a:xfrm>
          <a:prstGeom prst="rect">
            <a:avLst/>
          </a:prstGeom>
          <a:noFill/>
          <a:ln/>
        </p:spPr>
        <p:txBody>
          <a:bodyPr wrap="square" lIns="0" tIns="0" rIns="0" bIns="0" rtlCol="0" anchor="t"/>
          <a:lstStyle/>
          <a:p>
            <a:pPr marL="0" indent="0">
              <a:buNone/>
            </a:pPr>
            <a:r>
              <a:rPr lang="en-US" sz="1100" i="1" dirty="0">
                <a:solidFill>
                  <a:srgbClr val="EDEDED"/>
                </a:solidFill>
                <a:latin typeface="Calibri" pitchFamily="34" charset="0"/>
                <a:ea typeface="Calibri" pitchFamily="34" charset="-122"/>
                <a:cs typeface="Calibri" pitchFamily="34" charset="-120"/>
              </a:rPr>
              <a:t>Every computer needs both to function</a:t>
            </a:r>
            <a:endParaRPr lang="en-US" sz="1100" dirty="0"/>
          </a:p>
        </p:txBody>
      </p:sp>
      <p:sp>
        <p:nvSpPr>
          <p:cNvPr id="6" name="Shape 4">
            <a:extLst>
              <a:ext uri="{FF2B5EF4-FFF2-40B4-BE49-F238E27FC236}">
                <a16:creationId xmlns:a16="http://schemas.microsoft.com/office/drawing/2014/main" id="{700AECE9-D6B2-33A7-D828-8F2FF4740CB6}"/>
              </a:ext>
            </a:extLst>
          </p:cNvPr>
          <p:cNvSpPr/>
          <p:nvPr/>
        </p:nvSpPr>
        <p:spPr>
          <a:xfrm>
            <a:off x="0" y="5070348"/>
            <a:ext cx="9144000" cy="73152"/>
          </a:xfrm>
          <a:prstGeom prst="rect">
            <a:avLst/>
          </a:prstGeom>
          <a:solidFill>
            <a:srgbClr val="4F29B7"/>
          </a:solidFill>
          <a:ln w="12700">
            <a:solidFill>
              <a:srgbClr val="4F29B7"/>
            </a:solidFill>
            <a:prstDash val="solid"/>
          </a:ln>
        </p:spPr>
        <p:txBody>
          <a:bodyPr/>
          <a:lstStyle/>
          <a:p>
            <a:endParaRPr lang="en-US"/>
          </a:p>
        </p:txBody>
      </p:sp>
      <p:sp>
        <p:nvSpPr>
          <p:cNvPr id="7" name="Shape 5">
            <a:extLst>
              <a:ext uri="{FF2B5EF4-FFF2-40B4-BE49-F238E27FC236}">
                <a16:creationId xmlns:a16="http://schemas.microsoft.com/office/drawing/2014/main" id="{029600D5-96F9-1003-2A1C-8D10C81EFC5A}"/>
              </a:ext>
            </a:extLst>
          </p:cNvPr>
          <p:cNvSpPr/>
          <p:nvPr/>
        </p:nvSpPr>
        <p:spPr>
          <a:xfrm>
            <a:off x="274320" y="822960"/>
            <a:ext cx="3749040" cy="4114800"/>
          </a:xfrm>
          <a:prstGeom prst="roundRect">
            <a:avLst>
              <a:gd name="adj" fmla="val 2927"/>
            </a:avLst>
          </a:prstGeom>
          <a:solidFill>
            <a:srgbClr val="1E0F40"/>
          </a:solidFill>
          <a:ln w="12700">
            <a:solidFill>
              <a:srgbClr val="4F29B7"/>
            </a:solidFill>
            <a:prstDash val="solid"/>
          </a:ln>
        </p:spPr>
        <p:txBody>
          <a:bodyPr/>
          <a:lstStyle/>
          <a:p>
            <a:endParaRPr lang="en-US"/>
          </a:p>
        </p:txBody>
      </p:sp>
      <p:sp>
        <p:nvSpPr>
          <p:cNvPr id="8" name="Text 6">
            <a:extLst>
              <a:ext uri="{FF2B5EF4-FFF2-40B4-BE49-F238E27FC236}">
                <a16:creationId xmlns:a16="http://schemas.microsoft.com/office/drawing/2014/main" id="{D248BFB5-B1FD-44A2-8D0D-EF3B34824C07}"/>
              </a:ext>
            </a:extLst>
          </p:cNvPr>
          <p:cNvSpPr/>
          <p:nvPr/>
        </p:nvSpPr>
        <p:spPr>
          <a:xfrm>
            <a:off x="274320" y="822960"/>
            <a:ext cx="3749040" cy="457200"/>
          </a:xfrm>
          <a:prstGeom prst="rect">
            <a:avLst/>
          </a:prstGeom>
          <a:noFill/>
          <a:ln/>
        </p:spPr>
        <p:txBody>
          <a:bodyPr wrap="square" rtlCol="0" anchor="ctr"/>
          <a:lstStyle/>
          <a:p>
            <a:pPr marL="0" indent="0" algn="ctr">
              <a:buNone/>
            </a:pPr>
            <a:r>
              <a:rPr lang="en-US" sz="1600" b="1" dirty="0">
                <a:solidFill>
                  <a:srgbClr val="57E3D8"/>
                </a:solidFill>
                <a:latin typeface="Calibri" pitchFamily="34" charset="0"/>
                <a:ea typeface="Calibri" pitchFamily="34" charset="-122"/>
                <a:cs typeface="Calibri" pitchFamily="34" charset="-120"/>
              </a:rPr>
              <a:t>Hardware</a:t>
            </a:r>
            <a:endParaRPr lang="en-US" sz="1600" dirty="0"/>
          </a:p>
        </p:txBody>
      </p:sp>
      <p:sp>
        <p:nvSpPr>
          <p:cNvPr id="9" name="Text 7">
            <a:extLst>
              <a:ext uri="{FF2B5EF4-FFF2-40B4-BE49-F238E27FC236}">
                <a16:creationId xmlns:a16="http://schemas.microsoft.com/office/drawing/2014/main" id="{609A81B1-2201-582C-EED6-FE31FA434A6E}"/>
              </a:ext>
            </a:extLst>
          </p:cNvPr>
          <p:cNvSpPr/>
          <p:nvPr/>
        </p:nvSpPr>
        <p:spPr>
          <a:xfrm>
            <a:off x="274320" y="1188720"/>
            <a:ext cx="3749040"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Physical components</a:t>
            </a:r>
            <a:endParaRPr lang="en-US" sz="1000" dirty="0"/>
          </a:p>
        </p:txBody>
      </p:sp>
      <p:sp>
        <p:nvSpPr>
          <p:cNvPr id="10" name="Shape 8">
            <a:extLst>
              <a:ext uri="{FF2B5EF4-FFF2-40B4-BE49-F238E27FC236}">
                <a16:creationId xmlns:a16="http://schemas.microsoft.com/office/drawing/2014/main" id="{642CC095-F335-7572-9DD2-7ECE2DC9F746}"/>
              </a:ext>
            </a:extLst>
          </p:cNvPr>
          <p:cNvSpPr/>
          <p:nvPr/>
        </p:nvSpPr>
        <p:spPr>
          <a:xfrm>
            <a:off x="457200" y="1554480"/>
            <a:ext cx="3383280" cy="457200"/>
          </a:xfrm>
          <a:prstGeom prst="roundRect">
            <a:avLst>
              <a:gd name="adj" fmla="val 16000"/>
            </a:avLst>
          </a:prstGeom>
          <a:solidFill>
            <a:srgbClr val="2D1A5E"/>
          </a:solidFill>
          <a:ln w="12700">
            <a:solidFill>
              <a:srgbClr val="2D1A5E"/>
            </a:solidFill>
            <a:prstDash val="solid"/>
          </a:ln>
        </p:spPr>
        <p:txBody>
          <a:bodyPr/>
          <a:lstStyle/>
          <a:p>
            <a:endParaRPr lang="en-US"/>
          </a:p>
        </p:txBody>
      </p:sp>
      <p:sp>
        <p:nvSpPr>
          <p:cNvPr id="11" name="Text 9">
            <a:extLst>
              <a:ext uri="{FF2B5EF4-FFF2-40B4-BE49-F238E27FC236}">
                <a16:creationId xmlns:a16="http://schemas.microsoft.com/office/drawing/2014/main" id="{8D590988-9B63-E659-C4FB-4AF4A7C95FD0}"/>
              </a:ext>
            </a:extLst>
          </p:cNvPr>
          <p:cNvSpPr/>
          <p:nvPr/>
        </p:nvSpPr>
        <p:spPr>
          <a:xfrm>
            <a:off x="457200" y="1591056"/>
            <a:ext cx="3383280" cy="237744"/>
          </a:xfrm>
          <a:prstGeom prst="rect">
            <a:avLst/>
          </a:prstGeom>
          <a:noFill/>
          <a:ln/>
        </p:spPr>
        <p:txBody>
          <a:bodyPr wrap="square" lIns="0" tIns="0" rIns="0" bIns="0" rtlCol="0" anchor="b"/>
          <a:lstStyle/>
          <a:p>
            <a:pPr marL="0" indent="0" algn="ctr">
              <a:buNone/>
            </a:pPr>
            <a:r>
              <a:rPr lang="en-US" sz="1200" b="1" dirty="0">
                <a:solidFill>
                  <a:srgbClr val="EDEDED"/>
                </a:solidFill>
                <a:latin typeface="Calibri" pitchFamily="34" charset="0"/>
                <a:ea typeface="Calibri" pitchFamily="34" charset="-122"/>
                <a:cs typeface="Calibri" pitchFamily="34" charset="-120"/>
              </a:rPr>
              <a:t>CPU</a:t>
            </a:r>
            <a:endParaRPr lang="en-US" sz="1200" dirty="0"/>
          </a:p>
        </p:txBody>
      </p:sp>
      <p:sp>
        <p:nvSpPr>
          <p:cNvPr id="12" name="Text 10">
            <a:extLst>
              <a:ext uri="{FF2B5EF4-FFF2-40B4-BE49-F238E27FC236}">
                <a16:creationId xmlns:a16="http://schemas.microsoft.com/office/drawing/2014/main" id="{40596622-5DF8-9EA6-2BEE-3ABA60F92E23}"/>
              </a:ext>
            </a:extLst>
          </p:cNvPr>
          <p:cNvSpPr/>
          <p:nvPr/>
        </p:nvSpPr>
        <p:spPr>
          <a:xfrm>
            <a:off x="457200" y="1792224"/>
            <a:ext cx="3383280" cy="210312"/>
          </a:xfrm>
          <a:prstGeom prst="rect">
            <a:avLst/>
          </a:prstGeom>
          <a:noFill/>
          <a:ln/>
        </p:spPr>
        <p:txBody>
          <a:bodyPr wrap="square" lIns="0" tIns="0" rIns="0" bIns="0" rtlCol="0" anchor="t"/>
          <a:lstStyle/>
          <a:p>
            <a:pPr marL="0" indent="0" algn="ctr">
              <a:buNone/>
            </a:pPr>
            <a:r>
              <a:rPr lang="en-US" sz="900" dirty="0">
                <a:solidFill>
                  <a:srgbClr val="A380FF"/>
                </a:solidFill>
                <a:latin typeface="Calibri" pitchFamily="34" charset="0"/>
                <a:ea typeface="Calibri" pitchFamily="34" charset="-122"/>
                <a:cs typeface="Calibri" pitchFamily="34" charset="-120"/>
              </a:rPr>
              <a:t>Processes instructions</a:t>
            </a:r>
            <a:endParaRPr lang="en-US" sz="900" dirty="0"/>
          </a:p>
        </p:txBody>
      </p:sp>
      <p:sp>
        <p:nvSpPr>
          <p:cNvPr id="13" name="Shape 11">
            <a:extLst>
              <a:ext uri="{FF2B5EF4-FFF2-40B4-BE49-F238E27FC236}">
                <a16:creationId xmlns:a16="http://schemas.microsoft.com/office/drawing/2014/main" id="{C00EA4E8-D385-8CFC-AA46-95D5A56CAA34}"/>
              </a:ext>
            </a:extLst>
          </p:cNvPr>
          <p:cNvSpPr/>
          <p:nvPr/>
        </p:nvSpPr>
        <p:spPr>
          <a:xfrm>
            <a:off x="457200" y="2084832"/>
            <a:ext cx="3383280" cy="457200"/>
          </a:xfrm>
          <a:prstGeom prst="roundRect">
            <a:avLst>
              <a:gd name="adj" fmla="val 16000"/>
            </a:avLst>
          </a:prstGeom>
          <a:solidFill>
            <a:srgbClr val="2D1A5E"/>
          </a:solidFill>
          <a:ln w="12700">
            <a:solidFill>
              <a:srgbClr val="2D1A5E"/>
            </a:solidFill>
            <a:prstDash val="solid"/>
          </a:ln>
        </p:spPr>
        <p:txBody>
          <a:bodyPr/>
          <a:lstStyle/>
          <a:p>
            <a:endParaRPr lang="en-US"/>
          </a:p>
        </p:txBody>
      </p:sp>
      <p:sp>
        <p:nvSpPr>
          <p:cNvPr id="14" name="Text 12">
            <a:extLst>
              <a:ext uri="{FF2B5EF4-FFF2-40B4-BE49-F238E27FC236}">
                <a16:creationId xmlns:a16="http://schemas.microsoft.com/office/drawing/2014/main" id="{7BAC9786-548A-60C3-73FB-6AC011196B62}"/>
              </a:ext>
            </a:extLst>
          </p:cNvPr>
          <p:cNvSpPr/>
          <p:nvPr/>
        </p:nvSpPr>
        <p:spPr>
          <a:xfrm>
            <a:off x="457200" y="2121408"/>
            <a:ext cx="3383280" cy="237744"/>
          </a:xfrm>
          <a:prstGeom prst="rect">
            <a:avLst/>
          </a:prstGeom>
          <a:noFill/>
          <a:ln/>
        </p:spPr>
        <p:txBody>
          <a:bodyPr wrap="square" lIns="0" tIns="0" rIns="0" bIns="0" rtlCol="0" anchor="b"/>
          <a:lstStyle/>
          <a:p>
            <a:pPr marL="0" indent="0" algn="ctr">
              <a:buNone/>
            </a:pPr>
            <a:r>
              <a:rPr lang="en-US" sz="1200" b="1" dirty="0">
                <a:solidFill>
                  <a:srgbClr val="EDEDED"/>
                </a:solidFill>
                <a:latin typeface="Calibri" pitchFamily="34" charset="0"/>
                <a:ea typeface="Calibri" pitchFamily="34" charset="-122"/>
                <a:cs typeface="Calibri" pitchFamily="34" charset="-120"/>
              </a:rPr>
              <a:t>RAM</a:t>
            </a:r>
            <a:endParaRPr lang="en-US" sz="1200" dirty="0"/>
          </a:p>
        </p:txBody>
      </p:sp>
      <p:sp>
        <p:nvSpPr>
          <p:cNvPr id="15" name="Text 13">
            <a:extLst>
              <a:ext uri="{FF2B5EF4-FFF2-40B4-BE49-F238E27FC236}">
                <a16:creationId xmlns:a16="http://schemas.microsoft.com/office/drawing/2014/main" id="{43E2C481-9C33-10FF-0C29-671DBAEFDCBF}"/>
              </a:ext>
            </a:extLst>
          </p:cNvPr>
          <p:cNvSpPr/>
          <p:nvPr/>
        </p:nvSpPr>
        <p:spPr>
          <a:xfrm>
            <a:off x="457200" y="2322576"/>
            <a:ext cx="3383280" cy="210312"/>
          </a:xfrm>
          <a:prstGeom prst="rect">
            <a:avLst/>
          </a:prstGeom>
          <a:noFill/>
          <a:ln/>
        </p:spPr>
        <p:txBody>
          <a:bodyPr wrap="square" lIns="0" tIns="0" rIns="0" bIns="0" rtlCol="0" anchor="t"/>
          <a:lstStyle/>
          <a:p>
            <a:pPr marL="0" indent="0" algn="ctr">
              <a:buNone/>
            </a:pPr>
            <a:r>
              <a:rPr lang="en-US" sz="900" dirty="0">
                <a:solidFill>
                  <a:srgbClr val="A380FF"/>
                </a:solidFill>
                <a:latin typeface="Calibri" pitchFamily="34" charset="0"/>
                <a:ea typeface="Calibri" pitchFamily="34" charset="-122"/>
                <a:cs typeface="Calibri" pitchFamily="34" charset="-120"/>
              </a:rPr>
              <a:t>Temporary memory</a:t>
            </a:r>
            <a:endParaRPr lang="en-US" sz="900" dirty="0"/>
          </a:p>
        </p:txBody>
      </p:sp>
      <p:sp>
        <p:nvSpPr>
          <p:cNvPr id="16" name="Shape 14">
            <a:extLst>
              <a:ext uri="{FF2B5EF4-FFF2-40B4-BE49-F238E27FC236}">
                <a16:creationId xmlns:a16="http://schemas.microsoft.com/office/drawing/2014/main" id="{DB193143-D063-0528-3398-EE5C0FB2992D}"/>
              </a:ext>
            </a:extLst>
          </p:cNvPr>
          <p:cNvSpPr/>
          <p:nvPr/>
        </p:nvSpPr>
        <p:spPr>
          <a:xfrm>
            <a:off x="457200" y="2615184"/>
            <a:ext cx="3383280" cy="457200"/>
          </a:xfrm>
          <a:prstGeom prst="roundRect">
            <a:avLst>
              <a:gd name="adj" fmla="val 16000"/>
            </a:avLst>
          </a:prstGeom>
          <a:solidFill>
            <a:srgbClr val="2D1A5E"/>
          </a:solidFill>
          <a:ln w="12700">
            <a:solidFill>
              <a:srgbClr val="2D1A5E"/>
            </a:solidFill>
            <a:prstDash val="solid"/>
          </a:ln>
        </p:spPr>
        <p:txBody>
          <a:bodyPr/>
          <a:lstStyle/>
          <a:p>
            <a:endParaRPr lang="en-US"/>
          </a:p>
        </p:txBody>
      </p:sp>
      <p:sp>
        <p:nvSpPr>
          <p:cNvPr id="17" name="Text 15">
            <a:extLst>
              <a:ext uri="{FF2B5EF4-FFF2-40B4-BE49-F238E27FC236}">
                <a16:creationId xmlns:a16="http://schemas.microsoft.com/office/drawing/2014/main" id="{FE4722F3-2680-0F18-4748-46A856154961}"/>
              </a:ext>
            </a:extLst>
          </p:cNvPr>
          <p:cNvSpPr/>
          <p:nvPr/>
        </p:nvSpPr>
        <p:spPr>
          <a:xfrm>
            <a:off x="457200" y="2651760"/>
            <a:ext cx="3383280" cy="237744"/>
          </a:xfrm>
          <a:prstGeom prst="rect">
            <a:avLst/>
          </a:prstGeom>
          <a:noFill/>
          <a:ln/>
        </p:spPr>
        <p:txBody>
          <a:bodyPr wrap="square" lIns="0" tIns="0" rIns="0" bIns="0" rtlCol="0" anchor="b"/>
          <a:lstStyle/>
          <a:p>
            <a:pPr marL="0" indent="0" algn="ctr">
              <a:buNone/>
            </a:pPr>
            <a:r>
              <a:rPr lang="en-US" sz="1200" b="1" dirty="0">
                <a:solidFill>
                  <a:srgbClr val="EDEDED"/>
                </a:solidFill>
                <a:latin typeface="Calibri" pitchFamily="34" charset="0"/>
                <a:ea typeface="Calibri" pitchFamily="34" charset="-122"/>
                <a:cs typeface="Calibri" pitchFamily="34" charset="-120"/>
              </a:rPr>
              <a:t>Hard drive</a:t>
            </a:r>
            <a:endParaRPr lang="en-US" sz="1200" dirty="0"/>
          </a:p>
        </p:txBody>
      </p:sp>
      <p:sp>
        <p:nvSpPr>
          <p:cNvPr id="18" name="Text 16">
            <a:extLst>
              <a:ext uri="{FF2B5EF4-FFF2-40B4-BE49-F238E27FC236}">
                <a16:creationId xmlns:a16="http://schemas.microsoft.com/office/drawing/2014/main" id="{FC478683-F62D-8B34-6700-A5216C40C6BE}"/>
              </a:ext>
            </a:extLst>
          </p:cNvPr>
          <p:cNvSpPr/>
          <p:nvPr/>
        </p:nvSpPr>
        <p:spPr>
          <a:xfrm>
            <a:off x="457200" y="2852928"/>
            <a:ext cx="3383280" cy="210312"/>
          </a:xfrm>
          <a:prstGeom prst="rect">
            <a:avLst/>
          </a:prstGeom>
          <a:noFill/>
          <a:ln/>
        </p:spPr>
        <p:txBody>
          <a:bodyPr wrap="square" lIns="0" tIns="0" rIns="0" bIns="0" rtlCol="0" anchor="t"/>
          <a:lstStyle/>
          <a:p>
            <a:pPr marL="0" indent="0" algn="ctr">
              <a:buNone/>
            </a:pPr>
            <a:r>
              <a:rPr lang="en-US" sz="900" dirty="0">
                <a:solidFill>
                  <a:srgbClr val="A380FF"/>
                </a:solidFill>
                <a:latin typeface="Calibri" pitchFamily="34" charset="0"/>
                <a:ea typeface="Calibri" pitchFamily="34" charset="-122"/>
                <a:cs typeface="Calibri" pitchFamily="34" charset="-120"/>
              </a:rPr>
              <a:t>Permanent storage</a:t>
            </a:r>
            <a:endParaRPr lang="en-US" sz="900" dirty="0"/>
          </a:p>
        </p:txBody>
      </p:sp>
      <p:sp>
        <p:nvSpPr>
          <p:cNvPr id="19" name="Shape 17">
            <a:extLst>
              <a:ext uri="{FF2B5EF4-FFF2-40B4-BE49-F238E27FC236}">
                <a16:creationId xmlns:a16="http://schemas.microsoft.com/office/drawing/2014/main" id="{F92D1430-4F2F-484C-0303-238966938143}"/>
              </a:ext>
            </a:extLst>
          </p:cNvPr>
          <p:cNvSpPr/>
          <p:nvPr/>
        </p:nvSpPr>
        <p:spPr>
          <a:xfrm>
            <a:off x="457200" y="3145536"/>
            <a:ext cx="3383280" cy="457200"/>
          </a:xfrm>
          <a:prstGeom prst="roundRect">
            <a:avLst>
              <a:gd name="adj" fmla="val 16000"/>
            </a:avLst>
          </a:prstGeom>
          <a:solidFill>
            <a:srgbClr val="2D1A5E"/>
          </a:solidFill>
          <a:ln w="12700">
            <a:solidFill>
              <a:srgbClr val="2D1A5E"/>
            </a:solidFill>
            <a:prstDash val="solid"/>
          </a:ln>
        </p:spPr>
        <p:txBody>
          <a:bodyPr/>
          <a:lstStyle/>
          <a:p>
            <a:endParaRPr lang="en-US"/>
          </a:p>
        </p:txBody>
      </p:sp>
      <p:sp>
        <p:nvSpPr>
          <p:cNvPr id="20" name="Text 18">
            <a:extLst>
              <a:ext uri="{FF2B5EF4-FFF2-40B4-BE49-F238E27FC236}">
                <a16:creationId xmlns:a16="http://schemas.microsoft.com/office/drawing/2014/main" id="{DD03F348-E58A-C469-1824-E2F072899EC7}"/>
              </a:ext>
            </a:extLst>
          </p:cNvPr>
          <p:cNvSpPr/>
          <p:nvPr/>
        </p:nvSpPr>
        <p:spPr>
          <a:xfrm>
            <a:off x="457200" y="3182112"/>
            <a:ext cx="3383280" cy="237744"/>
          </a:xfrm>
          <a:prstGeom prst="rect">
            <a:avLst/>
          </a:prstGeom>
          <a:noFill/>
          <a:ln/>
        </p:spPr>
        <p:txBody>
          <a:bodyPr wrap="square" lIns="0" tIns="0" rIns="0" bIns="0" rtlCol="0" anchor="b"/>
          <a:lstStyle/>
          <a:p>
            <a:pPr marL="0" indent="0" algn="ctr">
              <a:buNone/>
            </a:pPr>
            <a:r>
              <a:rPr lang="en-US" sz="1200" b="1" dirty="0">
                <a:solidFill>
                  <a:srgbClr val="EDEDED"/>
                </a:solidFill>
                <a:latin typeface="Calibri" pitchFamily="34" charset="0"/>
                <a:ea typeface="Calibri" pitchFamily="34" charset="-122"/>
                <a:cs typeface="Calibri" pitchFamily="34" charset="-120"/>
              </a:rPr>
              <a:t>Keyboard/Mouse</a:t>
            </a:r>
            <a:endParaRPr lang="en-US" sz="1200" dirty="0"/>
          </a:p>
        </p:txBody>
      </p:sp>
      <p:sp>
        <p:nvSpPr>
          <p:cNvPr id="21" name="Text 19">
            <a:extLst>
              <a:ext uri="{FF2B5EF4-FFF2-40B4-BE49-F238E27FC236}">
                <a16:creationId xmlns:a16="http://schemas.microsoft.com/office/drawing/2014/main" id="{733D7FD1-1928-47AC-9161-62D5CDD6B1A6}"/>
              </a:ext>
            </a:extLst>
          </p:cNvPr>
          <p:cNvSpPr/>
          <p:nvPr/>
        </p:nvSpPr>
        <p:spPr>
          <a:xfrm>
            <a:off x="457200" y="3383280"/>
            <a:ext cx="3383280" cy="210312"/>
          </a:xfrm>
          <a:prstGeom prst="rect">
            <a:avLst/>
          </a:prstGeom>
          <a:noFill/>
          <a:ln/>
        </p:spPr>
        <p:txBody>
          <a:bodyPr wrap="square" lIns="0" tIns="0" rIns="0" bIns="0" rtlCol="0" anchor="t"/>
          <a:lstStyle/>
          <a:p>
            <a:pPr marL="0" indent="0" algn="ctr">
              <a:buNone/>
            </a:pPr>
            <a:r>
              <a:rPr lang="en-US" sz="900" dirty="0">
                <a:solidFill>
                  <a:srgbClr val="A380FF"/>
                </a:solidFill>
                <a:latin typeface="Calibri" pitchFamily="34" charset="0"/>
                <a:ea typeface="Calibri" pitchFamily="34" charset="-122"/>
                <a:cs typeface="Calibri" pitchFamily="34" charset="-120"/>
              </a:rPr>
              <a:t>Input devices</a:t>
            </a:r>
            <a:endParaRPr lang="en-US" sz="900" dirty="0"/>
          </a:p>
        </p:txBody>
      </p:sp>
      <p:sp>
        <p:nvSpPr>
          <p:cNvPr id="22" name="Shape 20">
            <a:extLst>
              <a:ext uri="{FF2B5EF4-FFF2-40B4-BE49-F238E27FC236}">
                <a16:creationId xmlns:a16="http://schemas.microsoft.com/office/drawing/2014/main" id="{CFAE9D85-F917-7856-CAA8-A5AD26A689CF}"/>
              </a:ext>
            </a:extLst>
          </p:cNvPr>
          <p:cNvSpPr/>
          <p:nvPr/>
        </p:nvSpPr>
        <p:spPr>
          <a:xfrm>
            <a:off x="457200" y="3675888"/>
            <a:ext cx="3383280" cy="457200"/>
          </a:xfrm>
          <a:prstGeom prst="roundRect">
            <a:avLst>
              <a:gd name="adj" fmla="val 16000"/>
            </a:avLst>
          </a:prstGeom>
          <a:solidFill>
            <a:srgbClr val="2D1A5E"/>
          </a:solidFill>
          <a:ln w="12700">
            <a:solidFill>
              <a:srgbClr val="2D1A5E"/>
            </a:solidFill>
            <a:prstDash val="solid"/>
          </a:ln>
        </p:spPr>
        <p:txBody>
          <a:bodyPr/>
          <a:lstStyle/>
          <a:p>
            <a:endParaRPr lang="en-US"/>
          </a:p>
        </p:txBody>
      </p:sp>
      <p:sp>
        <p:nvSpPr>
          <p:cNvPr id="23" name="Text 21">
            <a:extLst>
              <a:ext uri="{FF2B5EF4-FFF2-40B4-BE49-F238E27FC236}">
                <a16:creationId xmlns:a16="http://schemas.microsoft.com/office/drawing/2014/main" id="{1EE46265-4D55-2778-535E-196A3E55C707}"/>
              </a:ext>
            </a:extLst>
          </p:cNvPr>
          <p:cNvSpPr/>
          <p:nvPr/>
        </p:nvSpPr>
        <p:spPr>
          <a:xfrm>
            <a:off x="457200" y="3712464"/>
            <a:ext cx="3383280" cy="237744"/>
          </a:xfrm>
          <a:prstGeom prst="rect">
            <a:avLst/>
          </a:prstGeom>
          <a:noFill/>
          <a:ln/>
        </p:spPr>
        <p:txBody>
          <a:bodyPr wrap="square" lIns="0" tIns="0" rIns="0" bIns="0" rtlCol="0" anchor="b"/>
          <a:lstStyle/>
          <a:p>
            <a:pPr marL="0" indent="0" algn="ctr">
              <a:buNone/>
            </a:pPr>
            <a:r>
              <a:rPr lang="en-US" sz="1200" b="1" dirty="0">
                <a:solidFill>
                  <a:srgbClr val="EDEDED"/>
                </a:solidFill>
                <a:latin typeface="Calibri" pitchFamily="34" charset="0"/>
                <a:ea typeface="Calibri" pitchFamily="34" charset="-122"/>
                <a:cs typeface="Calibri" pitchFamily="34" charset="-120"/>
              </a:rPr>
              <a:t>Monitor</a:t>
            </a:r>
            <a:endParaRPr lang="en-US" sz="1200" dirty="0"/>
          </a:p>
        </p:txBody>
      </p:sp>
      <p:sp>
        <p:nvSpPr>
          <p:cNvPr id="24" name="Text 22">
            <a:extLst>
              <a:ext uri="{FF2B5EF4-FFF2-40B4-BE49-F238E27FC236}">
                <a16:creationId xmlns:a16="http://schemas.microsoft.com/office/drawing/2014/main" id="{C36E5A19-2A65-5292-C093-CEDA39503DC7}"/>
              </a:ext>
            </a:extLst>
          </p:cNvPr>
          <p:cNvSpPr/>
          <p:nvPr/>
        </p:nvSpPr>
        <p:spPr>
          <a:xfrm>
            <a:off x="457200" y="3913632"/>
            <a:ext cx="3383280" cy="210312"/>
          </a:xfrm>
          <a:prstGeom prst="rect">
            <a:avLst/>
          </a:prstGeom>
          <a:noFill/>
          <a:ln/>
        </p:spPr>
        <p:txBody>
          <a:bodyPr wrap="square" lIns="0" tIns="0" rIns="0" bIns="0" rtlCol="0" anchor="t"/>
          <a:lstStyle/>
          <a:p>
            <a:pPr marL="0" indent="0" algn="ctr">
              <a:buNone/>
            </a:pPr>
            <a:r>
              <a:rPr lang="en-US" sz="900" dirty="0">
                <a:solidFill>
                  <a:srgbClr val="A380FF"/>
                </a:solidFill>
                <a:latin typeface="Calibri" pitchFamily="34" charset="0"/>
                <a:ea typeface="Calibri" pitchFamily="34" charset="-122"/>
                <a:cs typeface="Calibri" pitchFamily="34" charset="-120"/>
              </a:rPr>
              <a:t>Displays output</a:t>
            </a:r>
            <a:endParaRPr lang="en-US" sz="900" dirty="0"/>
          </a:p>
        </p:txBody>
      </p:sp>
      <p:sp>
        <p:nvSpPr>
          <p:cNvPr id="25" name="Shape 23">
            <a:extLst>
              <a:ext uri="{FF2B5EF4-FFF2-40B4-BE49-F238E27FC236}">
                <a16:creationId xmlns:a16="http://schemas.microsoft.com/office/drawing/2014/main" id="{3A74E214-DA1F-6A5D-8515-BCA218885981}"/>
              </a:ext>
            </a:extLst>
          </p:cNvPr>
          <p:cNvSpPr/>
          <p:nvPr/>
        </p:nvSpPr>
        <p:spPr>
          <a:xfrm>
            <a:off x="5120640" y="822960"/>
            <a:ext cx="3749040" cy="4114800"/>
          </a:xfrm>
          <a:prstGeom prst="roundRect">
            <a:avLst>
              <a:gd name="adj" fmla="val 2927"/>
            </a:avLst>
          </a:prstGeom>
          <a:solidFill>
            <a:srgbClr val="0D2A2A"/>
          </a:solidFill>
          <a:ln w="12700">
            <a:solidFill>
              <a:srgbClr val="57E3D8"/>
            </a:solidFill>
            <a:prstDash val="solid"/>
          </a:ln>
        </p:spPr>
        <p:txBody>
          <a:bodyPr/>
          <a:lstStyle/>
          <a:p>
            <a:endParaRPr lang="en-US"/>
          </a:p>
        </p:txBody>
      </p:sp>
      <p:sp>
        <p:nvSpPr>
          <p:cNvPr id="26" name="Text 24">
            <a:extLst>
              <a:ext uri="{FF2B5EF4-FFF2-40B4-BE49-F238E27FC236}">
                <a16:creationId xmlns:a16="http://schemas.microsoft.com/office/drawing/2014/main" id="{D0BD4F54-495E-ACA6-25B0-54C6A582B047}"/>
              </a:ext>
            </a:extLst>
          </p:cNvPr>
          <p:cNvSpPr/>
          <p:nvPr/>
        </p:nvSpPr>
        <p:spPr>
          <a:xfrm>
            <a:off x="5120640" y="822960"/>
            <a:ext cx="3749040" cy="457200"/>
          </a:xfrm>
          <a:prstGeom prst="rect">
            <a:avLst/>
          </a:prstGeom>
          <a:noFill/>
          <a:ln/>
        </p:spPr>
        <p:txBody>
          <a:bodyPr wrap="square" rtlCol="0" anchor="ctr"/>
          <a:lstStyle/>
          <a:p>
            <a:pPr marL="0" indent="0" algn="ctr">
              <a:buNone/>
            </a:pPr>
            <a:r>
              <a:rPr lang="en-US" sz="1600" b="1" dirty="0">
                <a:solidFill>
                  <a:srgbClr val="57E3D8"/>
                </a:solidFill>
                <a:latin typeface="Calibri" pitchFamily="34" charset="0"/>
                <a:ea typeface="Calibri" pitchFamily="34" charset="-122"/>
                <a:cs typeface="Calibri" pitchFamily="34" charset="-120"/>
              </a:rPr>
              <a:t>Software</a:t>
            </a:r>
            <a:endParaRPr lang="en-US" sz="1600" dirty="0"/>
          </a:p>
        </p:txBody>
      </p:sp>
      <p:sp>
        <p:nvSpPr>
          <p:cNvPr id="27" name="Text 25">
            <a:extLst>
              <a:ext uri="{FF2B5EF4-FFF2-40B4-BE49-F238E27FC236}">
                <a16:creationId xmlns:a16="http://schemas.microsoft.com/office/drawing/2014/main" id="{43125863-18B0-9330-CA3A-7ECB061F6D53}"/>
              </a:ext>
            </a:extLst>
          </p:cNvPr>
          <p:cNvSpPr/>
          <p:nvPr/>
        </p:nvSpPr>
        <p:spPr>
          <a:xfrm>
            <a:off x="5120640" y="1188720"/>
            <a:ext cx="3749040"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Programs and instructions</a:t>
            </a:r>
            <a:endParaRPr lang="en-US" sz="1000" dirty="0"/>
          </a:p>
        </p:txBody>
      </p:sp>
      <p:sp>
        <p:nvSpPr>
          <p:cNvPr id="28" name="Shape 26">
            <a:extLst>
              <a:ext uri="{FF2B5EF4-FFF2-40B4-BE49-F238E27FC236}">
                <a16:creationId xmlns:a16="http://schemas.microsoft.com/office/drawing/2014/main" id="{84FEC082-9C6E-EFAB-2E09-A2EC6E8E170A}"/>
              </a:ext>
            </a:extLst>
          </p:cNvPr>
          <p:cNvSpPr/>
          <p:nvPr/>
        </p:nvSpPr>
        <p:spPr>
          <a:xfrm>
            <a:off x="5303520" y="1554480"/>
            <a:ext cx="3383280" cy="457200"/>
          </a:xfrm>
          <a:prstGeom prst="roundRect">
            <a:avLst>
              <a:gd name="adj" fmla="val 16000"/>
            </a:avLst>
          </a:prstGeom>
          <a:solidFill>
            <a:srgbClr val="0A2E2E"/>
          </a:solidFill>
          <a:ln w="12700">
            <a:solidFill>
              <a:srgbClr val="0A2E2E"/>
            </a:solidFill>
            <a:prstDash val="solid"/>
          </a:ln>
        </p:spPr>
        <p:txBody>
          <a:bodyPr/>
          <a:lstStyle/>
          <a:p>
            <a:endParaRPr lang="en-US"/>
          </a:p>
        </p:txBody>
      </p:sp>
      <p:sp>
        <p:nvSpPr>
          <p:cNvPr id="29" name="Text 27">
            <a:extLst>
              <a:ext uri="{FF2B5EF4-FFF2-40B4-BE49-F238E27FC236}">
                <a16:creationId xmlns:a16="http://schemas.microsoft.com/office/drawing/2014/main" id="{F1A9BAF0-071B-08B9-FF0E-D1ABF9DE790E}"/>
              </a:ext>
            </a:extLst>
          </p:cNvPr>
          <p:cNvSpPr/>
          <p:nvPr/>
        </p:nvSpPr>
        <p:spPr>
          <a:xfrm>
            <a:off x="5303520" y="1591056"/>
            <a:ext cx="3383280" cy="237744"/>
          </a:xfrm>
          <a:prstGeom prst="rect">
            <a:avLst/>
          </a:prstGeom>
          <a:noFill/>
          <a:ln/>
        </p:spPr>
        <p:txBody>
          <a:bodyPr wrap="square" lIns="0" tIns="0" rIns="0" bIns="0" rtlCol="0" anchor="b"/>
          <a:lstStyle/>
          <a:p>
            <a:pPr marL="0" indent="0" algn="ctr">
              <a:buNone/>
            </a:pPr>
            <a:r>
              <a:rPr lang="en-US" sz="1200" b="1" dirty="0">
                <a:solidFill>
                  <a:srgbClr val="EDEDED"/>
                </a:solidFill>
                <a:latin typeface="Calibri" pitchFamily="34" charset="0"/>
                <a:ea typeface="Calibri" pitchFamily="34" charset="-122"/>
                <a:cs typeface="Calibri" pitchFamily="34" charset="-120"/>
              </a:rPr>
              <a:t>Operating system</a:t>
            </a:r>
            <a:endParaRPr lang="en-US" sz="1200" dirty="0"/>
          </a:p>
        </p:txBody>
      </p:sp>
      <p:sp>
        <p:nvSpPr>
          <p:cNvPr id="30" name="Text 28">
            <a:extLst>
              <a:ext uri="{FF2B5EF4-FFF2-40B4-BE49-F238E27FC236}">
                <a16:creationId xmlns:a16="http://schemas.microsoft.com/office/drawing/2014/main" id="{C834D220-2790-29FB-87E2-348899BA16AD}"/>
              </a:ext>
            </a:extLst>
          </p:cNvPr>
          <p:cNvSpPr/>
          <p:nvPr/>
        </p:nvSpPr>
        <p:spPr>
          <a:xfrm>
            <a:off x="5303520" y="1792224"/>
            <a:ext cx="3383280" cy="210312"/>
          </a:xfrm>
          <a:prstGeom prst="rect">
            <a:avLst/>
          </a:prstGeom>
          <a:noFill/>
          <a:ln/>
        </p:spPr>
        <p:txBody>
          <a:bodyPr wrap="square" lIns="0" tIns="0" rIns="0" bIns="0" rtlCol="0" anchor="t"/>
          <a:lstStyle/>
          <a:p>
            <a:pPr marL="0" indent="0" algn="ctr">
              <a:buNone/>
            </a:pPr>
            <a:r>
              <a:rPr lang="en-US" sz="900" dirty="0">
                <a:solidFill>
                  <a:srgbClr val="57E3D8"/>
                </a:solidFill>
                <a:latin typeface="Calibri" pitchFamily="34" charset="0"/>
                <a:ea typeface="Calibri" pitchFamily="34" charset="-122"/>
                <a:cs typeface="Calibri" pitchFamily="34" charset="-120"/>
              </a:rPr>
              <a:t>Controls all hardware</a:t>
            </a:r>
            <a:endParaRPr lang="en-US" sz="900" dirty="0"/>
          </a:p>
        </p:txBody>
      </p:sp>
      <p:sp>
        <p:nvSpPr>
          <p:cNvPr id="31" name="Shape 29">
            <a:extLst>
              <a:ext uri="{FF2B5EF4-FFF2-40B4-BE49-F238E27FC236}">
                <a16:creationId xmlns:a16="http://schemas.microsoft.com/office/drawing/2014/main" id="{BE9C6DB1-FB1B-6432-889F-31C18C8B1251}"/>
              </a:ext>
            </a:extLst>
          </p:cNvPr>
          <p:cNvSpPr/>
          <p:nvPr/>
        </p:nvSpPr>
        <p:spPr>
          <a:xfrm>
            <a:off x="5303520" y="2084832"/>
            <a:ext cx="3383280" cy="457200"/>
          </a:xfrm>
          <a:prstGeom prst="roundRect">
            <a:avLst>
              <a:gd name="adj" fmla="val 16000"/>
            </a:avLst>
          </a:prstGeom>
          <a:solidFill>
            <a:srgbClr val="0A2E2E"/>
          </a:solidFill>
          <a:ln w="12700">
            <a:solidFill>
              <a:srgbClr val="0A2E2E"/>
            </a:solidFill>
            <a:prstDash val="solid"/>
          </a:ln>
        </p:spPr>
        <p:txBody>
          <a:bodyPr/>
          <a:lstStyle/>
          <a:p>
            <a:endParaRPr lang="en-US"/>
          </a:p>
        </p:txBody>
      </p:sp>
      <p:sp>
        <p:nvSpPr>
          <p:cNvPr id="32" name="Text 30">
            <a:extLst>
              <a:ext uri="{FF2B5EF4-FFF2-40B4-BE49-F238E27FC236}">
                <a16:creationId xmlns:a16="http://schemas.microsoft.com/office/drawing/2014/main" id="{B5D0303C-590B-C853-FC2C-6916367727E1}"/>
              </a:ext>
            </a:extLst>
          </p:cNvPr>
          <p:cNvSpPr/>
          <p:nvPr/>
        </p:nvSpPr>
        <p:spPr>
          <a:xfrm>
            <a:off x="5303520" y="2121408"/>
            <a:ext cx="3383280" cy="237744"/>
          </a:xfrm>
          <a:prstGeom prst="rect">
            <a:avLst/>
          </a:prstGeom>
          <a:noFill/>
          <a:ln/>
        </p:spPr>
        <p:txBody>
          <a:bodyPr wrap="square" lIns="0" tIns="0" rIns="0" bIns="0" rtlCol="0" anchor="b"/>
          <a:lstStyle/>
          <a:p>
            <a:pPr marL="0" indent="0" algn="ctr">
              <a:buNone/>
            </a:pPr>
            <a:r>
              <a:rPr lang="en-US" sz="1200" b="1" dirty="0">
                <a:solidFill>
                  <a:srgbClr val="EDEDED"/>
                </a:solidFill>
                <a:latin typeface="Calibri" pitchFamily="34" charset="0"/>
                <a:ea typeface="Calibri" pitchFamily="34" charset="-122"/>
                <a:cs typeface="Calibri" pitchFamily="34" charset="-120"/>
              </a:rPr>
              <a:t>Web browser</a:t>
            </a:r>
            <a:endParaRPr lang="en-US" sz="1200" dirty="0"/>
          </a:p>
        </p:txBody>
      </p:sp>
      <p:sp>
        <p:nvSpPr>
          <p:cNvPr id="33" name="Text 31">
            <a:extLst>
              <a:ext uri="{FF2B5EF4-FFF2-40B4-BE49-F238E27FC236}">
                <a16:creationId xmlns:a16="http://schemas.microsoft.com/office/drawing/2014/main" id="{57EE95FA-A5CD-0212-8D8A-B3E0BEB99351}"/>
              </a:ext>
            </a:extLst>
          </p:cNvPr>
          <p:cNvSpPr/>
          <p:nvPr/>
        </p:nvSpPr>
        <p:spPr>
          <a:xfrm>
            <a:off x="5303520" y="2322576"/>
            <a:ext cx="3383280" cy="210312"/>
          </a:xfrm>
          <a:prstGeom prst="rect">
            <a:avLst/>
          </a:prstGeom>
          <a:noFill/>
          <a:ln/>
        </p:spPr>
        <p:txBody>
          <a:bodyPr wrap="square" lIns="0" tIns="0" rIns="0" bIns="0" rtlCol="0" anchor="t"/>
          <a:lstStyle/>
          <a:p>
            <a:pPr marL="0" indent="0" algn="ctr">
              <a:buNone/>
            </a:pPr>
            <a:r>
              <a:rPr lang="en-US" sz="900" dirty="0">
                <a:solidFill>
                  <a:srgbClr val="57E3D8"/>
                </a:solidFill>
                <a:latin typeface="Calibri" pitchFamily="34" charset="0"/>
                <a:ea typeface="Calibri" pitchFamily="34" charset="-122"/>
                <a:cs typeface="Calibri" pitchFamily="34" charset="-120"/>
              </a:rPr>
              <a:t>Access the internet</a:t>
            </a:r>
            <a:endParaRPr lang="en-US" sz="900" dirty="0"/>
          </a:p>
        </p:txBody>
      </p:sp>
      <p:sp>
        <p:nvSpPr>
          <p:cNvPr id="34" name="Shape 32">
            <a:extLst>
              <a:ext uri="{FF2B5EF4-FFF2-40B4-BE49-F238E27FC236}">
                <a16:creationId xmlns:a16="http://schemas.microsoft.com/office/drawing/2014/main" id="{3C78ED93-9DF7-1167-2AF7-634C73AB6628}"/>
              </a:ext>
            </a:extLst>
          </p:cNvPr>
          <p:cNvSpPr/>
          <p:nvPr/>
        </p:nvSpPr>
        <p:spPr>
          <a:xfrm>
            <a:off x="5303520" y="2615184"/>
            <a:ext cx="3383280" cy="457200"/>
          </a:xfrm>
          <a:prstGeom prst="roundRect">
            <a:avLst>
              <a:gd name="adj" fmla="val 16000"/>
            </a:avLst>
          </a:prstGeom>
          <a:solidFill>
            <a:srgbClr val="0A2E2E"/>
          </a:solidFill>
          <a:ln w="12700">
            <a:solidFill>
              <a:srgbClr val="0A2E2E"/>
            </a:solidFill>
            <a:prstDash val="solid"/>
          </a:ln>
        </p:spPr>
        <p:txBody>
          <a:bodyPr/>
          <a:lstStyle/>
          <a:p>
            <a:endParaRPr lang="en-US"/>
          </a:p>
        </p:txBody>
      </p:sp>
      <p:sp>
        <p:nvSpPr>
          <p:cNvPr id="35" name="Text 33">
            <a:extLst>
              <a:ext uri="{FF2B5EF4-FFF2-40B4-BE49-F238E27FC236}">
                <a16:creationId xmlns:a16="http://schemas.microsoft.com/office/drawing/2014/main" id="{ED1FA111-73BA-9208-0BC5-6529996964D8}"/>
              </a:ext>
            </a:extLst>
          </p:cNvPr>
          <p:cNvSpPr/>
          <p:nvPr/>
        </p:nvSpPr>
        <p:spPr>
          <a:xfrm>
            <a:off x="5303520" y="2651760"/>
            <a:ext cx="3383280" cy="237744"/>
          </a:xfrm>
          <a:prstGeom prst="rect">
            <a:avLst/>
          </a:prstGeom>
          <a:noFill/>
          <a:ln/>
        </p:spPr>
        <p:txBody>
          <a:bodyPr wrap="square" lIns="0" tIns="0" rIns="0" bIns="0" rtlCol="0" anchor="b"/>
          <a:lstStyle/>
          <a:p>
            <a:pPr marL="0" indent="0" algn="ctr">
              <a:buNone/>
            </a:pPr>
            <a:r>
              <a:rPr lang="en-US" sz="1200" b="1" dirty="0">
                <a:solidFill>
                  <a:srgbClr val="EDEDED"/>
                </a:solidFill>
                <a:latin typeface="Calibri" pitchFamily="34" charset="0"/>
                <a:ea typeface="Calibri" pitchFamily="34" charset="-122"/>
                <a:cs typeface="Calibri" pitchFamily="34" charset="-120"/>
              </a:rPr>
              <a:t>Word processor</a:t>
            </a:r>
            <a:endParaRPr lang="en-US" sz="1200" dirty="0"/>
          </a:p>
        </p:txBody>
      </p:sp>
      <p:sp>
        <p:nvSpPr>
          <p:cNvPr id="36" name="Text 34">
            <a:extLst>
              <a:ext uri="{FF2B5EF4-FFF2-40B4-BE49-F238E27FC236}">
                <a16:creationId xmlns:a16="http://schemas.microsoft.com/office/drawing/2014/main" id="{47D38EDF-D97F-DEE1-D1F3-732C6DE326EC}"/>
              </a:ext>
            </a:extLst>
          </p:cNvPr>
          <p:cNvSpPr/>
          <p:nvPr/>
        </p:nvSpPr>
        <p:spPr>
          <a:xfrm>
            <a:off x="5303520" y="2852928"/>
            <a:ext cx="3383280" cy="210312"/>
          </a:xfrm>
          <a:prstGeom prst="rect">
            <a:avLst/>
          </a:prstGeom>
          <a:noFill/>
          <a:ln/>
        </p:spPr>
        <p:txBody>
          <a:bodyPr wrap="square" lIns="0" tIns="0" rIns="0" bIns="0" rtlCol="0" anchor="t"/>
          <a:lstStyle/>
          <a:p>
            <a:pPr marL="0" indent="0" algn="ctr">
              <a:buNone/>
            </a:pPr>
            <a:r>
              <a:rPr lang="en-US" sz="900" dirty="0">
                <a:solidFill>
                  <a:srgbClr val="57E3D8"/>
                </a:solidFill>
                <a:latin typeface="Calibri" pitchFamily="34" charset="0"/>
                <a:ea typeface="Calibri" pitchFamily="34" charset="-122"/>
                <a:cs typeface="Calibri" pitchFamily="34" charset="-120"/>
              </a:rPr>
              <a:t>Create documents</a:t>
            </a:r>
            <a:endParaRPr lang="en-US" sz="900" dirty="0"/>
          </a:p>
        </p:txBody>
      </p:sp>
      <p:sp>
        <p:nvSpPr>
          <p:cNvPr id="37" name="Shape 35">
            <a:extLst>
              <a:ext uri="{FF2B5EF4-FFF2-40B4-BE49-F238E27FC236}">
                <a16:creationId xmlns:a16="http://schemas.microsoft.com/office/drawing/2014/main" id="{5CCD5550-CB74-C7F2-FE66-244395E0A8C2}"/>
              </a:ext>
            </a:extLst>
          </p:cNvPr>
          <p:cNvSpPr/>
          <p:nvPr/>
        </p:nvSpPr>
        <p:spPr>
          <a:xfrm>
            <a:off x="5303520" y="3145536"/>
            <a:ext cx="3383280" cy="457200"/>
          </a:xfrm>
          <a:prstGeom prst="roundRect">
            <a:avLst>
              <a:gd name="adj" fmla="val 16000"/>
            </a:avLst>
          </a:prstGeom>
          <a:solidFill>
            <a:srgbClr val="0A2E2E"/>
          </a:solidFill>
          <a:ln w="12700">
            <a:solidFill>
              <a:srgbClr val="0A2E2E"/>
            </a:solidFill>
            <a:prstDash val="solid"/>
          </a:ln>
        </p:spPr>
        <p:txBody>
          <a:bodyPr/>
          <a:lstStyle/>
          <a:p>
            <a:endParaRPr lang="en-US"/>
          </a:p>
        </p:txBody>
      </p:sp>
      <p:sp>
        <p:nvSpPr>
          <p:cNvPr id="38" name="Text 36">
            <a:extLst>
              <a:ext uri="{FF2B5EF4-FFF2-40B4-BE49-F238E27FC236}">
                <a16:creationId xmlns:a16="http://schemas.microsoft.com/office/drawing/2014/main" id="{693D4475-8732-9375-E247-689DA521C77B}"/>
              </a:ext>
            </a:extLst>
          </p:cNvPr>
          <p:cNvSpPr/>
          <p:nvPr/>
        </p:nvSpPr>
        <p:spPr>
          <a:xfrm>
            <a:off x="5303520" y="3182112"/>
            <a:ext cx="3383280" cy="237744"/>
          </a:xfrm>
          <a:prstGeom prst="rect">
            <a:avLst/>
          </a:prstGeom>
          <a:noFill/>
          <a:ln/>
        </p:spPr>
        <p:txBody>
          <a:bodyPr wrap="square" lIns="0" tIns="0" rIns="0" bIns="0" rtlCol="0" anchor="b"/>
          <a:lstStyle/>
          <a:p>
            <a:pPr marL="0" indent="0" algn="ctr">
              <a:buNone/>
            </a:pPr>
            <a:r>
              <a:rPr lang="en-US" sz="1200" b="1" dirty="0">
                <a:solidFill>
                  <a:srgbClr val="EDEDED"/>
                </a:solidFill>
                <a:latin typeface="Calibri" pitchFamily="34" charset="0"/>
                <a:ea typeface="Calibri" pitchFamily="34" charset="-122"/>
                <a:cs typeface="Calibri" pitchFamily="34" charset="-120"/>
              </a:rPr>
              <a:t>Games</a:t>
            </a:r>
            <a:endParaRPr lang="en-US" sz="1200" dirty="0"/>
          </a:p>
        </p:txBody>
      </p:sp>
      <p:sp>
        <p:nvSpPr>
          <p:cNvPr id="39" name="Text 37">
            <a:extLst>
              <a:ext uri="{FF2B5EF4-FFF2-40B4-BE49-F238E27FC236}">
                <a16:creationId xmlns:a16="http://schemas.microsoft.com/office/drawing/2014/main" id="{A256444B-E95F-DBEA-719F-BE25ACDC7DCB}"/>
              </a:ext>
            </a:extLst>
          </p:cNvPr>
          <p:cNvSpPr/>
          <p:nvPr/>
        </p:nvSpPr>
        <p:spPr>
          <a:xfrm>
            <a:off x="5303520" y="3383280"/>
            <a:ext cx="3383280" cy="210312"/>
          </a:xfrm>
          <a:prstGeom prst="rect">
            <a:avLst/>
          </a:prstGeom>
          <a:noFill/>
          <a:ln/>
        </p:spPr>
        <p:txBody>
          <a:bodyPr wrap="square" lIns="0" tIns="0" rIns="0" bIns="0" rtlCol="0" anchor="t"/>
          <a:lstStyle/>
          <a:p>
            <a:pPr marL="0" indent="0" algn="ctr">
              <a:buNone/>
            </a:pPr>
            <a:r>
              <a:rPr lang="en-US" sz="900" dirty="0">
                <a:solidFill>
                  <a:srgbClr val="57E3D8"/>
                </a:solidFill>
                <a:latin typeface="Calibri" pitchFamily="34" charset="0"/>
                <a:ea typeface="Calibri" pitchFamily="34" charset="-122"/>
                <a:cs typeface="Calibri" pitchFamily="34" charset="-120"/>
              </a:rPr>
              <a:t>Entertainment software</a:t>
            </a:r>
            <a:endParaRPr lang="en-US" sz="900" dirty="0"/>
          </a:p>
        </p:txBody>
      </p:sp>
      <p:sp>
        <p:nvSpPr>
          <p:cNvPr id="40" name="Shape 38">
            <a:extLst>
              <a:ext uri="{FF2B5EF4-FFF2-40B4-BE49-F238E27FC236}">
                <a16:creationId xmlns:a16="http://schemas.microsoft.com/office/drawing/2014/main" id="{7845498B-E114-1BD5-BF91-9EECF64552A4}"/>
              </a:ext>
            </a:extLst>
          </p:cNvPr>
          <p:cNvSpPr/>
          <p:nvPr/>
        </p:nvSpPr>
        <p:spPr>
          <a:xfrm>
            <a:off x="5303520" y="3675888"/>
            <a:ext cx="3383280" cy="457200"/>
          </a:xfrm>
          <a:prstGeom prst="roundRect">
            <a:avLst>
              <a:gd name="adj" fmla="val 16000"/>
            </a:avLst>
          </a:prstGeom>
          <a:solidFill>
            <a:srgbClr val="0A2E2E"/>
          </a:solidFill>
          <a:ln w="12700">
            <a:solidFill>
              <a:srgbClr val="0A2E2E"/>
            </a:solidFill>
            <a:prstDash val="solid"/>
          </a:ln>
        </p:spPr>
        <p:txBody>
          <a:bodyPr/>
          <a:lstStyle/>
          <a:p>
            <a:endParaRPr lang="en-US"/>
          </a:p>
        </p:txBody>
      </p:sp>
      <p:sp>
        <p:nvSpPr>
          <p:cNvPr id="41" name="Text 39">
            <a:extLst>
              <a:ext uri="{FF2B5EF4-FFF2-40B4-BE49-F238E27FC236}">
                <a16:creationId xmlns:a16="http://schemas.microsoft.com/office/drawing/2014/main" id="{3C3038D3-D715-CB56-1260-738A88201456}"/>
              </a:ext>
            </a:extLst>
          </p:cNvPr>
          <p:cNvSpPr/>
          <p:nvPr/>
        </p:nvSpPr>
        <p:spPr>
          <a:xfrm>
            <a:off x="5303520" y="3712464"/>
            <a:ext cx="3383280" cy="237744"/>
          </a:xfrm>
          <a:prstGeom prst="rect">
            <a:avLst/>
          </a:prstGeom>
          <a:noFill/>
          <a:ln/>
        </p:spPr>
        <p:txBody>
          <a:bodyPr wrap="square" lIns="0" tIns="0" rIns="0" bIns="0" rtlCol="0" anchor="b"/>
          <a:lstStyle/>
          <a:p>
            <a:pPr marL="0" indent="0" algn="ctr">
              <a:buNone/>
            </a:pPr>
            <a:r>
              <a:rPr lang="en-US" sz="1200" b="1" dirty="0">
                <a:solidFill>
                  <a:srgbClr val="EDEDED"/>
                </a:solidFill>
                <a:latin typeface="Calibri" pitchFamily="34" charset="0"/>
                <a:ea typeface="Calibri" pitchFamily="34" charset="-122"/>
                <a:cs typeface="Calibri" pitchFamily="34" charset="-120"/>
              </a:rPr>
              <a:t>Spreadsheets</a:t>
            </a:r>
            <a:endParaRPr lang="en-US" sz="1200" dirty="0"/>
          </a:p>
        </p:txBody>
      </p:sp>
      <p:sp>
        <p:nvSpPr>
          <p:cNvPr id="42" name="Text 40">
            <a:extLst>
              <a:ext uri="{FF2B5EF4-FFF2-40B4-BE49-F238E27FC236}">
                <a16:creationId xmlns:a16="http://schemas.microsoft.com/office/drawing/2014/main" id="{C3443B09-E1F3-902B-488B-1A62CE6F3B26}"/>
              </a:ext>
            </a:extLst>
          </p:cNvPr>
          <p:cNvSpPr/>
          <p:nvPr/>
        </p:nvSpPr>
        <p:spPr>
          <a:xfrm>
            <a:off x="5303520" y="3913632"/>
            <a:ext cx="3383280" cy="210312"/>
          </a:xfrm>
          <a:prstGeom prst="rect">
            <a:avLst/>
          </a:prstGeom>
          <a:noFill/>
          <a:ln/>
        </p:spPr>
        <p:txBody>
          <a:bodyPr wrap="square" lIns="0" tIns="0" rIns="0" bIns="0" rtlCol="0" anchor="t"/>
          <a:lstStyle/>
          <a:p>
            <a:pPr marL="0" indent="0" algn="ctr">
              <a:buNone/>
            </a:pPr>
            <a:r>
              <a:rPr lang="en-US" sz="900" dirty="0">
                <a:solidFill>
                  <a:srgbClr val="57E3D8"/>
                </a:solidFill>
                <a:latin typeface="Calibri" pitchFamily="34" charset="0"/>
                <a:ea typeface="Calibri" pitchFamily="34" charset="-122"/>
                <a:cs typeface="Calibri" pitchFamily="34" charset="-120"/>
              </a:rPr>
              <a:t>Data and calculations</a:t>
            </a:r>
            <a:endParaRPr lang="en-US" sz="900" dirty="0"/>
          </a:p>
        </p:txBody>
      </p:sp>
      <p:sp>
        <p:nvSpPr>
          <p:cNvPr id="43" name="Shape 41">
            <a:extLst>
              <a:ext uri="{FF2B5EF4-FFF2-40B4-BE49-F238E27FC236}">
                <a16:creationId xmlns:a16="http://schemas.microsoft.com/office/drawing/2014/main" id="{40332ECF-54CE-96FE-E0DB-FB2569D7F7BA}"/>
              </a:ext>
            </a:extLst>
          </p:cNvPr>
          <p:cNvSpPr/>
          <p:nvPr/>
        </p:nvSpPr>
        <p:spPr>
          <a:xfrm>
            <a:off x="4114800" y="2286000"/>
            <a:ext cx="1005840" cy="0"/>
          </a:xfrm>
          <a:prstGeom prst="line">
            <a:avLst/>
          </a:prstGeom>
          <a:noFill/>
          <a:ln w="19050">
            <a:solidFill>
              <a:srgbClr val="4F29B7"/>
            </a:solidFill>
            <a:prstDash val="solid"/>
            <a:tailEnd type="arrow"/>
          </a:ln>
        </p:spPr>
        <p:txBody>
          <a:bodyPr/>
          <a:lstStyle/>
          <a:p>
            <a:endParaRPr lang="en-US"/>
          </a:p>
        </p:txBody>
      </p:sp>
      <p:sp>
        <p:nvSpPr>
          <p:cNvPr id="44" name="Shape 42">
            <a:extLst>
              <a:ext uri="{FF2B5EF4-FFF2-40B4-BE49-F238E27FC236}">
                <a16:creationId xmlns:a16="http://schemas.microsoft.com/office/drawing/2014/main" id="{58958D86-A58B-0C3A-89EB-E159FB32E58A}"/>
              </a:ext>
            </a:extLst>
          </p:cNvPr>
          <p:cNvSpPr/>
          <p:nvPr/>
        </p:nvSpPr>
        <p:spPr>
          <a:xfrm>
            <a:off x="5120640" y="2651760"/>
            <a:ext cx="0" cy="0"/>
          </a:xfrm>
          <a:prstGeom prst="line">
            <a:avLst/>
          </a:prstGeom>
          <a:noFill/>
          <a:ln w="19050">
            <a:solidFill>
              <a:srgbClr val="57E3D8"/>
            </a:solidFill>
            <a:prstDash val="solid"/>
            <a:tailEnd type="arrow"/>
          </a:ln>
        </p:spPr>
        <p:txBody>
          <a:bodyPr/>
          <a:lstStyle/>
          <a:p>
            <a:endParaRPr lang="en-US"/>
          </a:p>
        </p:txBody>
      </p:sp>
      <p:sp>
        <p:nvSpPr>
          <p:cNvPr id="45" name="Text 43">
            <a:extLst>
              <a:ext uri="{FF2B5EF4-FFF2-40B4-BE49-F238E27FC236}">
                <a16:creationId xmlns:a16="http://schemas.microsoft.com/office/drawing/2014/main" id="{364284F6-3447-C1D3-5E33-CD37E5331B37}"/>
              </a:ext>
            </a:extLst>
          </p:cNvPr>
          <p:cNvSpPr/>
          <p:nvPr/>
        </p:nvSpPr>
        <p:spPr>
          <a:xfrm>
            <a:off x="4069080" y="2080260"/>
            <a:ext cx="1097280" cy="228600"/>
          </a:xfrm>
          <a:prstGeom prst="rect">
            <a:avLst/>
          </a:prstGeom>
          <a:noFill/>
          <a:ln/>
        </p:spPr>
        <p:txBody>
          <a:bodyPr wrap="square" rtlCol="0" anchor="ctr"/>
          <a:lstStyle/>
          <a:p>
            <a:pPr marL="0" indent="0" algn="ctr">
              <a:buNone/>
            </a:pPr>
            <a:r>
              <a:rPr lang="en-US" sz="1000" dirty="0">
                <a:solidFill>
                  <a:srgbClr val="4F29B7"/>
                </a:solidFill>
                <a:latin typeface="Calibri" pitchFamily="34" charset="0"/>
                <a:ea typeface="Calibri" pitchFamily="34" charset="-122"/>
                <a:cs typeface="Calibri" pitchFamily="34" charset="-120"/>
              </a:rPr>
              <a:t>needs</a:t>
            </a:r>
            <a:endParaRPr lang="en-US" sz="1000" dirty="0"/>
          </a:p>
        </p:txBody>
      </p:sp>
      <p:sp>
        <p:nvSpPr>
          <p:cNvPr id="46" name="Text 44">
            <a:extLst>
              <a:ext uri="{FF2B5EF4-FFF2-40B4-BE49-F238E27FC236}">
                <a16:creationId xmlns:a16="http://schemas.microsoft.com/office/drawing/2014/main" id="{A3070534-ADA4-2985-48C0-51D40B36C833}"/>
              </a:ext>
            </a:extLst>
          </p:cNvPr>
          <p:cNvSpPr/>
          <p:nvPr/>
        </p:nvSpPr>
        <p:spPr>
          <a:xfrm>
            <a:off x="4023360" y="2651760"/>
            <a:ext cx="1097280" cy="228600"/>
          </a:xfrm>
          <a:prstGeom prst="rect">
            <a:avLst/>
          </a:prstGeom>
          <a:noFill/>
          <a:ln/>
        </p:spPr>
        <p:txBody>
          <a:bodyPr wrap="square" rtlCol="0" anchor="ctr"/>
          <a:lstStyle/>
          <a:p>
            <a:pPr marL="0" indent="0" algn="ctr">
              <a:buNone/>
            </a:pPr>
            <a:r>
              <a:rPr lang="en-US" sz="1000" dirty="0">
                <a:solidFill>
                  <a:srgbClr val="57E3D8"/>
                </a:solidFill>
                <a:latin typeface="Calibri" pitchFamily="34" charset="0"/>
                <a:ea typeface="Calibri" pitchFamily="34" charset="-122"/>
                <a:cs typeface="Calibri" pitchFamily="34" charset="-120"/>
              </a:rPr>
              <a:t>runs on</a:t>
            </a:r>
            <a:endParaRPr lang="en-US" sz="1000" dirty="0"/>
          </a:p>
        </p:txBody>
      </p:sp>
      <p:sp>
        <p:nvSpPr>
          <p:cNvPr id="47" name="Shape 41">
            <a:extLst>
              <a:ext uri="{FF2B5EF4-FFF2-40B4-BE49-F238E27FC236}">
                <a16:creationId xmlns:a16="http://schemas.microsoft.com/office/drawing/2014/main" id="{A493DFEA-EE59-408A-BEC6-D326D6489437}"/>
              </a:ext>
            </a:extLst>
          </p:cNvPr>
          <p:cNvSpPr/>
          <p:nvPr/>
        </p:nvSpPr>
        <p:spPr>
          <a:xfrm flipH="1">
            <a:off x="4023360" y="2880360"/>
            <a:ext cx="1097281" cy="0"/>
          </a:xfrm>
          <a:prstGeom prst="line">
            <a:avLst/>
          </a:prstGeom>
          <a:noFill/>
          <a:ln w="19050">
            <a:solidFill>
              <a:schemeClr val="accent5">
                <a:lumMod val="60000"/>
                <a:lumOff val="40000"/>
              </a:schemeClr>
            </a:solidFill>
            <a:prstDash val="solid"/>
            <a:tailEnd type="arrow"/>
          </a:ln>
        </p:spPr>
        <p:txBody>
          <a:bodyPr/>
          <a:lstStyle/>
          <a:p>
            <a:endParaRPr lang="en-US"/>
          </a:p>
        </p:txBody>
      </p:sp>
    </p:spTree>
    <p:extLst>
      <p:ext uri="{BB962C8B-B14F-4D97-AF65-F5344CB8AC3E}">
        <p14:creationId xmlns:p14="http://schemas.microsoft.com/office/powerpoint/2010/main" val="24465557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a:extLst>
            <a:ext uri="{FF2B5EF4-FFF2-40B4-BE49-F238E27FC236}">
              <a16:creationId xmlns:a16="http://schemas.microsoft.com/office/drawing/2014/main" id="{6A1AC33D-CA07-9A3D-72DD-9CFE1A2C6E0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5BCD1C9-0083-D998-A18E-AB6C62FBDCF9}"/>
              </a:ext>
            </a:extLst>
          </p:cNvPr>
          <p:cNvSpPr/>
          <p:nvPr/>
        </p:nvSpPr>
        <p:spPr>
          <a:xfrm>
            <a:off x="0" y="0"/>
            <a:ext cx="9144000" cy="73152"/>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CEE2672D-C190-343B-D40A-4E92CA12F3F8}"/>
              </a:ext>
            </a:extLst>
          </p:cNvPr>
          <p:cNvSpPr/>
          <p:nvPr/>
        </p:nvSpPr>
        <p:spPr>
          <a:xfrm>
            <a:off x="0" y="73152"/>
            <a:ext cx="9144000" cy="658368"/>
          </a:xfrm>
          <a:prstGeom prst="rect">
            <a:avLst/>
          </a:prstGeom>
          <a:solidFill>
            <a:srgbClr val="262626"/>
          </a:solidFill>
          <a:ln w="12700">
            <a:solidFill>
              <a:srgbClr val="262626"/>
            </a:solidFill>
            <a:prstDash val="solid"/>
          </a:ln>
        </p:spPr>
        <p:txBody>
          <a:bodyPr/>
          <a:lstStyle/>
          <a:p>
            <a:endParaRPr lang="en-US"/>
          </a:p>
        </p:txBody>
      </p:sp>
      <p:sp>
        <p:nvSpPr>
          <p:cNvPr id="4" name="Text 2">
            <a:extLst>
              <a:ext uri="{FF2B5EF4-FFF2-40B4-BE49-F238E27FC236}">
                <a16:creationId xmlns:a16="http://schemas.microsoft.com/office/drawing/2014/main" id="{E02C928C-0ED0-1E8C-77FE-403CF4CDE23F}"/>
              </a:ext>
            </a:extLst>
          </p:cNvPr>
          <p:cNvSpPr/>
          <p:nvPr/>
        </p:nvSpPr>
        <p:spPr>
          <a:xfrm>
            <a:off x="365760" y="73152"/>
            <a:ext cx="8412480" cy="411480"/>
          </a:xfrm>
          <a:prstGeom prst="rect">
            <a:avLst/>
          </a:prstGeom>
          <a:noFill/>
          <a:ln/>
        </p:spPr>
        <p:txBody>
          <a:bodyPr wrap="square" lIns="0" tIns="0" rIns="0" bIns="0" rtlCol="0" anchor="ctr"/>
          <a:lstStyle/>
          <a:p>
            <a:pPr marL="0" indent="0">
              <a:buNone/>
            </a:pPr>
            <a:r>
              <a:rPr lang="en-US" sz="2200" b="1" dirty="0">
                <a:solidFill>
                  <a:srgbClr val="57E3D8"/>
                </a:solidFill>
                <a:latin typeface="Calibri" pitchFamily="34" charset="0"/>
                <a:ea typeface="Calibri" pitchFamily="34" charset="-122"/>
                <a:cs typeface="Calibri" pitchFamily="34" charset="-120"/>
              </a:rPr>
              <a:t>Basic parts of a desktop computer</a:t>
            </a:r>
            <a:endParaRPr lang="en-US" sz="2200" dirty="0"/>
          </a:p>
        </p:txBody>
      </p:sp>
      <p:sp>
        <p:nvSpPr>
          <p:cNvPr id="5" name="Text 3">
            <a:extLst>
              <a:ext uri="{FF2B5EF4-FFF2-40B4-BE49-F238E27FC236}">
                <a16:creationId xmlns:a16="http://schemas.microsoft.com/office/drawing/2014/main" id="{BDFEECD0-6478-14F4-75BB-61C9A2517595}"/>
              </a:ext>
            </a:extLst>
          </p:cNvPr>
          <p:cNvSpPr/>
          <p:nvPr/>
        </p:nvSpPr>
        <p:spPr>
          <a:xfrm>
            <a:off x="365760" y="484632"/>
            <a:ext cx="8412480" cy="246888"/>
          </a:xfrm>
          <a:prstGeom prst="rect">
            <a:avLst/>
          </a:prstGeom>
          <a:noFill/>
          <a:ln/>
        </p:spPr>
        <p:txBody>
          <a:bodyPr wrap="square" lIns="0" tIns="0" rIns="0" bIns="0" rtlCol="0" anchor="t"/>
          <a:lstStyle/>
          <a:p>
            <a:pPr marL="0" indent="0">
              <a:buNone/>
            </a:pPr>
            <a:r>
              <a:rPr lang="en-US" sz="1100" i="1" dirty="0">
                <a:solidFill>
                  <a:srgbClr val="EDEDED"/>
                </a:solidFill>
                <a:latin typeface="Calibri" pitchFamily="34" charset="0"/>
                <a:ea typeface="Calibri" pitchFamily="34" charset="-122"/>
                <a:cs typeface="Calibri" pitchFamily="34" charset="-120"/>
              </a:rPr>
              <a:t>The essential physical components you need</a:t>
            </a:r>
            <a:endParaRPr lang="en-US" sz="1100" dirty="0"/>
          </a:p>
        </p:txBody>
      </p:sp>
      <p:sp>
        <p:nvSpPr>
          <p:cNvPr id="6" name="Shape 4">
            <a:extLst>
              <a:ext uri="{FF2B5EF4-FFF2-40B4-BE49-F238E27FC236}">
                <a16:creationId xmlns:a16="http://schemas.microsoft.com/office/drawing/2014/main" id="{5975DD1D-C711-0345-A7F9-62F5E6D9F62C}"/>
              </a:ext>
            </a:extLst>
          </p:cNvPr>
          <p:cNvSpPr/>
          <p:nvPr/>
        </p:nvSpPr>
        <p:spPr>
          <a:xfrm>
            <a:off x="0" y="5070348"/>
            <a:ext cx="9144000" cy="73152"/>
          </a:xfrm>
          <a:prstGeom prst="rect">
            <a:avLst/>
          </a:prstGeom>
          <a:solidFill>
            <a:srgbClr val="4F29B7"/>
          </a:solidFill>
          <a:ln w="12700">
            <a:solidFill>
              <a:srgbClr val="4F29B7"/>
            </a:solidFill>
            <a:prstDash val="solid"/>
          </a:ln>
        </p:spPr>
        <p:txBody>
          <a:bodyPr/>
          <a:lstStyle/>
          <a:p>
            <a:endParaRPr lang="en-US"/>
          </a:p>
        </p:txBody>
      </p:sp>
      <p:sp>
        <p:nvSpPr>
          <p:cNvPr id="7" name="Shape 5">
            <a:extLst>
              <a:ext uri="{FF2B5EF4-FFF2-40B4-BE49-F238E27FC236}">
                <a16:creationId xmlns:a16="http://schemas.microsoft.com/office/drawing/2014/main" id="{B33FF2FA-B68E-040E-AC15-F5C76CEE4376}"/>
              </a:ext>
            </a:extLst>
          </p:cNvPr>
          <p:cNvSpPr/>
          <p:nvPr/>
        </p:nvSpPr>
        <p:spPr>
          <a:xfrm>
            <a:off x="228600" y="777240"/>
            <a:ext cx="8686800" cy="4160520"/>
          </a:xfrm>
          <a:prstGeom prst="roundRect">
            <a:avLst>
              <a:gd name="adj" fmla="val 3297"/>
            </a:avLst>
          </a:prstGeom>
          <a:solidFill>
            <a:srgbClr val="161028"/>
          </a:solidFill>
          <a:ln w="9525">
            <a:solidFill>
              <a:srgbClr val="444444"/>
            </a:solidFill>
            <a:prstDash val="solid"/>
          </a:ln>
        </p:spPr>
        <p:txBody>
          <a:bodyPr/>
          <a:lstStyle/>
          <a:p>
            <a:endParaRPr lang="en-US"/>
          </a:p>
        </p:txBody>
      </p:sp>
      <p:sp>
        <p:nvSpPr>
          <p:cNvPr id="8" name="Shape 6">
            <a:extLst>
              <a:ext uri="{FF2B5EF4-FFF2-40B4-BE49-F238E27FC236}">
                <a16:creationId xmlns:a16="http://schemas.microsoft.com/office/drawing/2014/main" id="{3E204CBF-3018-5824-7AF0-BAE6714C6CEE}"/>
              </a:ext>
            </a:extLst>
          </p:cNvPr>
          <p:cNvSpPr/>
          <p:nvPr/>
        </p:nvSpPr>
        <p:spPr>
          <a:xfrm>
            <a:off x="411480" y="896112"/>
            <a:ext cx="2011680" cy="2926080"/>
          </a:xfrm>
          <a:prstGeom prst="roundRect">
            <a:avLst>
              <a:gd name="adj" fmla="val 4545"/>
            </a:avLst>
          </a:prstGeom>
          <a:solidFill>
            <a:srgbClr val="2D1A5E"/>
          </a:solidFill>
          <a:ln w="12700">
            <a:solidFill>
              <a:srgbClr val="4F29B7"/>
            </a:solidFill>
            <a:prstDash val="solid"/>
          </a:ln>
        </p:spPr>
        <p:txBody>
          <a:bodyPr/>
          <a:lstStyle/>
          <a:p>
            <a:endParaRPr lang="en-US"/>
          </a:p>
        </p:txBody>
      </p:sp>
      <p:sp>
        <p:nvSpPr>
          <p:cNvPr id="9" name="Text 7">
            <a:extLst>
              <a:ext uri="{FF2B5EF4-FFF2-40B4-BE49-F238E27FC236}">
                <a16:creationId xmlns:a16="http://schemas.microsoft.com/office/drawing/2014/main" id="{5C6C910C-B24C-4FE4-FEA1-3027FAC13A5F}"/>
              </a:ext>
            </a:extLst>
          </p:cNvPr>
          <p:cNvSpPr/>
          <p:nvPr/>
        </p:nvSpPr>
        <p:spPr>
          <a:xfrm>
            <a:off x="411480" y="896112"/>
            <a:ext cx="2011680" cy="365760"/>
          </a:xfrm>
          <a:prstGeom prst="rect">
            <a:avLst/>
          </a:prstGeom>
          <a:noFill/>
          <a:ln/>
        </p:spPr>
        <p:txBody>
          <a:bodyPr wrap="square" rtlCol="0" anchor="ctr"/>
          <a:lstStyle/>
          <a:p>
            <a:pPr marL="0" indent="0" algn="ctr">
              <a:buNone/>
            </a:pPr>
            <a:r>
              <a:rPr lang="en-US" sz="1100" b="1" dirty="0">
                <a:solidFill>
                  <a:srgbClr val="57E3D8"/>
                </a:solidFill>
                <a:latin typeface="Calibri" pitchFamily="34" charset="0"/>
                <a:ea typeface="Calibri" pitchFamily="34" charset="-122"/>
                <a:cs typeface="Calibri" pitchFamily="34" charset="-120"/>
              </a:rPr>
              <a:t>Computer case</a:t>
            </a:r>
            <a:endParaRPr lang="en-US" sz="1100" dirty="0"/>
          </a:p>
        </p:txBody>
      </p:sp>
      <p:sp>
        <p:nvSpPr>
          <p:cNvPr id="10" name="Shape 8">
            <a:extLst>
              <a:ext uri="{FF2B5EF4-FFF2-40B4-BE49-F238E27FC236}">
                <a16:creationId xmlns:a16="http://schemas.microsoft.com/office/drawing/2014/main" id="{1BB6E792-A3C4-8367-4AED-43CC1673F74C}"/>
              </a:ext>
            </a:extLst>
          </p:cNvPr>
          <p:cNvSpPr/>
          <p:nvPr/>
        </p:nvSpPr>
        <p:spPr>
          <a:xfrm>
            <a:off x="548640" y="1371600"/>
            <a:ext cx="1737360" cy="420624"/>
          </a:xfrm>
          <a:prstGeom prst="roundRect">
            <a:avLst>
              <a:gd name="adj" fmla="val 13043"/>
            </a:avLst>
          </a:prstGeom>
          <a:solidFill>
            <a:srgbClr val="1A0D40"/>
          </a:solidFill>
          <a:ln w="6350">
            <a:solidFill>
              <a:srgbClr val="A380FF"/>
            </a:solidFill>
            <a:prstDash val="solid"/>
          </a:ln>
        </p:spPr>
        <p:txBody>
          <a:bodyPr/>
          <a:lstStyle/>
          <a:p>
            <a:endParaRPr lang="en-US"/>
          </a:p>
        </p:txBody>
      </p:sp>
      <p:sp>
        <p:nvSpPr>
          <p:cNvPr id="11" name="Text 9">
            <a:extLst>
              <a:ext uri="{FF2B5EF4-FFF2-40B4-BE49-F238E27FC236}">
                <a16:creationId xmlns:a16="http://schemas.microsoft.com/office/drawing/2014/main" id="{BA20B55D-43EB-731F-9EC6-46C6056C3EE4}"/>
              </a:ext>
            </a:extLst>
          </p:cNvPr>
          <p:cNvSpPr/>
          <p:nvPr/>
        </p:nvSpPr>
        <p:spPr>
          <a:xfrm>
            <a:off x="548640" y="1371600"/>
            <a:ext cx="1737360" cy="420624"/>
          </a:xfrm>
          <a:prstGeom prst="rect">
            <a:avLst/>
          </a:prstGeom>
          <a:noFill/>
          <a:ln/>
        </p:spPr>
        <p:txBody>
          <a:bodyPr wrap="square" rtlCol="0" anchor="ctr"/>
          <a:lstStyle/>
          <a:p>
            <a:pPr marL="0" indent="0" algn="ctr">
              <a:buNone/>
            </a:pPr>
            <a:r>
              <a:rPr lang="en-US" sz="900" b="1" dirty="0">
                <a:solidFill>
                  <a:srgbClr val="EDEDED"/>
                </a:solidFill>
                <a:latin typeface="Calibri" pitchFamily="34" charset="0"/>
                <a:ea typeface="Calibri" pitchFamily="34" charset="-122"/>
                <a:cs typeface="Calibri" pitchFamily="34" charset="-120"/>
              </a:rPr>
              <a:t>Motherboard</a:t>
            </a:r>
            <a:endParaRPr lang="en-US" sz="900" dirty="0"/>
          </a:p>
        </p:txBody>
      </p:sp>
      <p:sp>
        <p:nvSpPr>
          <p:cNvPr id="12" name="Shape 10">
            <a:extLst>
              <a:ext uri="{FF2B5EF4-FFF2-40B4-BE49-F238E27FC236}">
                <a16:creationId xmlns:a16="http://schemas.microsoft.com/office/drawing/2014/main" id="{2E4A7F88-255C-053C-D73C-AAEA2ACD1AC5}"/>
              </a:ext>
            </a:extLst>
          </p:cNvPr>
          <p:cNvSpPr/>
          <p:nvPr/>
        </p:nvSpPr>
        <p:spPr>
          <a:xfrm>
            <a:off x="548640" y="1901952"/>
            <a:ext cx="1737360" cy="420624"/>
          </a:xfrm>
          <a:prstGeom prst="roundRect">
            <a:avLst>
              <a:gd name="adj" fmla="val 13043"/>
            </a:avLst>
          </a:prstGeom>
          <a:solidFill>
            <a:srgbClr val="1A0D40"/>
          </a:solidFill>
          <a:ln w="6350">
            <a:solidFill>
              <a:srgbClr val="A380FF"/>
            </a:solidFill>
            <a:prstDash val="solid"/>
          </a:ln>
        </p:spPr>
        <p:txBody>
          <a:bodyPr/>
          <a:lstStyle/>
          <a:p>
            <a:endParaRPr lang="en-US"/>
          </a:p>
        </p:txBody>
      </p:sp>
      <p:sp>
        <p:nvSpPr>
          <p:cNvPr id="13" name="Text 11">
            <a:extLst>
              <a:ext uri="{FF2B5EF4-FFF2-40B4-BE49-F238E27FC236}">
                <a16:creationId xmlns:a16="http://schemas.microsoft.com/office/drawing/2014/main" id="{711A1DCF-EE0B-4767-7370-82954D8DC262}"/>
              </a:ext>
            </a:extLst>
          </p:cNvPr>
          <p:cNvSpPr/>
          <p:nvPr/>
        </p:nvSpPr>
        <p:spPr>
          <a:xfrm>
            <a:off x="548640" y="1901952"/>
            <a:ext cx="1737360" cy="420624"/>
          </a:xfrm>
          <a:prstGeom prst="rect">
            <a:avLst/>
          </a:prstGeom>
          <a:noFill/>
          <a:ln/>
        </p:spPr>
        <p:txBody>
          <a:bodyPr wrap="square" rtlCol="0" anchor="ctr"/>
          <a:lstStyle/>
          <a:p>
            <a:pPr marL="0" indent="0" algn="ctr">
              <a:buNone/>
            </a:pPr>
            <a:r>
              <a:rPr lang="en-US" sz="900" b="1" dirty="0">
                <a:solidFill>
                  <a:srgbClr val="EDEDED"/>
                </a:solidFill>
                <a:latin typeface="Calibri" pitchFamily="34" charset="0"/>
                <a:ea typeface="Calibri" pitchFamily="34" charset="-122"/>
                <a:cs typeface="Calibri" pitchFamily="34" charset="-120"/>
              </a:rPr>
              <a:t>CPU</a:t>
            </a:r>
            <a:endParaRPr lang="en-US" sz="900" dirty="0"/>
          </a:p>
        </p:txBody>
      </p:sp>
      <p:sp>
        <p:nvSpPr>
          <p:cNvPr id="14" name="Shape 12">
            <a:extLst>
              <a:ext uri="{FF2B5EF4-FFF2-40B4-BE49-F238E27FC236}">
                <a16:creationId xmlns:a16="http://schemas.microsoft.com/office/drawing/2014/main" id="{FB3D2D78-FABE-BD96-6CFC-C60CFA1ECC41}"/>
              </a:ext>
            </a:extLst>
          </p:cNvPr>
          <p:cNvSpPr/>
          <p:nvPr/>
        </p:nvSpPr>
        <p:spPr>
          <a:xfrm>
            <a:off x="548640" y="2432304"/>
            <a:ext cx="1737360" cy="420624"/>
          </a:xfrm>
          <a:prstGeom prst="roundRect">
            <a:avLst>
              <a:gd name="adj" fmla="val 13043"/>
            </a:avLst>
          </a:prstGeom>
          <a:solidFill>
            <a:srgbClr val="1A0D40"/>
          </a:solidFill>
          <a:ln w="6350">
            <a:solidFill>
              <a:srgbClr val="A380FF"/>
            </a:solidFill>
            <a:prstDash val="solid"/>
          </a:ln>
        </p:spPr>
        <p:txBody>
          <a:bodyPr/>
          <a:lstStyle/>
          <a:p>
            <a:endParaRPr lang="en-US"/>
          </a:p>
        </p:txBody>
      </p:sp>
      <p:sp>
        <p:nvSpPr>
          <p:cNvPr id="15" name="Text 13">
            <a:extLst>
              <a:ext uri="{FF2B5EF4-FFF2-40B4-BE49-F238E27FC236}">
                <a16:creationId xmlns:a16="http://schemas.microsoft.com/office/drawing/2014/main" id="{9F062584-3A22-4895-8783-C4798333E69A}"/>
              </a:ext>
            </a:extLst>
          </p:cNvPr>
          <p:cNvSpPr/>
          <p:nvPr/>
        </p:nvSpPr>
        <p:spPr>
          <a:xfrm>
            <a:off x="548640" y="2432304"/>
            <a:ext cx="1737360" cy="420624"/>
          </a:xfrm>
          <a:prstGeom prst="rect">
            <a:avLst/>
          </a:prstGeom>
          <a:noFill/>
          <a:ln/>
        </p:spPr>
        <p:txBody>
          <a:bodyPr wrap="square" rtlCol="0" anchor="ctr"/>
          <a:lstStyle/>
          <a:p>
            <a:pPr marL="0" indent="0" algn="ctr">
              <a:buNone/>
            </a:pPr>
            <a:r>
              <a:rPr lang="en-US" sz="900" b="1" dirty="0">
                <a:solidFill>
                  <a:srgbClr val="EDEDED"/>
                </a:solidFill>
                <a:latin typeface="Calibri" pitchFamily="34" charset="0"/>
                <a:ea typeface="Calibri" pitchFamily="34" charset="-122"/>
                <a:cs typeface="Calibri" pitchFamily="34" charset="-120"/>
              </a:rPr>
              <a:t>Power supply</a:t>
            </a:r>
            <a:endParaRPr lang="en-US" sz="900" dirty="0"/>
          </a:p>
        </p:txBody>
      </p:sp>
      <p:sp>
        <p:nvSpPr>
          <p:cNvPr id="16" name="Shape 14">
            <a:extLst>
              <a:ext uri="{FF2B5EF4-FFF2-40B4-BE49-F238E27FC236}">
                <a16:creationId xmlns:a16="http://schemas.microsoft.com/office/drawing/2014/main" id="{4861A213-C8FF-3A5D-9FBF-492BB213EA02}"/>
              </a:ext>
            </a:extLst>
          </p:cNvPr>
          <p:cNvSpPr/>
          <p:nvPr/>
        </p:nvSpPr>
        <p:spPr>
          <a:xfrm>
            <a:off x="548640" y="2962656"/>
            <a:ext cx="1737360" cy="420624"/>
          </a:xfrm>
          <a:prstGeom prst="roundRect">
            <a:avLst>
              <a:gd name="adj" fmla="val 13043"/>
            </a:avLst>
          </a:prstGeom>
          <a:solidFill>
            <a:srgbClr val="1A0D40"/>
          </a:solidFill>
          <a:ln w="6350">
            <a:solidFill>
              <a:srgbClr val="A380FF"/>
            </a:solidFill>
            <a:prstDash val="solid"/>
          </a:ln>
        </p:spPr>
        <p:txBody>
          <a:bodyPr/>
          <a:lstStyle/>
          <a:p>
            <a:endParaRPr lang="en-US"/>
          </a:p>
        </p:txBody>
      </p:sp>
      <p:sp>
        <p:nvSpPr>
          <p:cNvPr id="17" name="Text 15">
            <a:extLst>
              <a:ext uri="{FF2B5EF4-FFF2-40B4-BE49-F238E27FC236}">
                <a16:creationId xmlns:a16="http://schemas.microsoft.com/office/drawing/2014/main" id="{3246CE44-59A5-73C0-965D-CFA76C49A5E4}"/>
              </a:ext>
            </a:extLst>
          </p:cNvPr>
          <p:cNvSpPr/>
          <p:nvPr/>
        </p:nvSpPr>
        <p:spPr>
          <a:xfrm>
            <a:off x="548640" y="2962656"/>
            <a:ext cx="1737360" cy="420624"/>
          </a:xfrm>
          <a:prstGeom prst="rect">
            <a:avLst/>
          </a:prstGeom>
          <a:noFill/>
          <a:ln/>
        </p:spPr>
        <p:txBody>
          <a:bodyPr wrap="square" rtlCol="0" anchor="ctr"/>
          <a:lstStyle/>
          <a:p>
            <a:pPr marL="0" indent="0" algn="ctr">
              <a:buNone/>
            </a:pPr>
            <a:r>
              <a:rPr lang="en-US" sz="900" b="1" dirty="0">
                <a:solidFill>
                  <a:srgbClr val="EDEDED"/>
                </a:solidFill>
                <a:latin typeface="Calibri" pitchFamily="34" charset="0"/>
                <a:ea typeface="Calibri" pitchFamily="34" charset="-122"/>
                <a:cs typeface="Calibri" pitchFamily="34" charset="-120"/>
              </a:rPr>
              <a:t>RAM slots</a:t>
            </a:r>
            <a:endParaRPr lang="en-US" sz="900" dirty="0"/>
          </a:p>
        </p:txBody>
      </p:sp>
      <p:sp>
        <p:nvSpPr>
          <p:cNvPr id="18" name="Shape 16">
            <a:extLst>
              <a:ext uri="{FF2B5EF4-FFF2-40B4-BE49-F238E27FC236}">
                <a16:creationId xmlns:a16="http://schemas.microsoft.com/office/drawing/2014/main" id="{96426677-9E9C-C8CA-EE8A-77DDC063256B}"/>
              </a:ext>
            </a:extLst>
          </p:cNvPr>
          <p:cNvSpPr/>
          <p:nvPr/>
        </p:nvSpPr>
        <p:spPr>
          <a:xfrm>
            <a:off x="2606040" y="896112"/>
            <a:ext cx="2103120" cy="1508760"/>
          </a:xfrm>
          <a:prstGeom prst="roundRect">
            <a:avLst>
              <a:gd name="adj" fmla="val 6061"/>
            </a:avLst>
          </a:prstGeom>
          <a:solidFill>
            <a:srgbClr val="0A2E2E"/>
          </a:solidFill>
          <a:ln w="12700">
            <a:solidFill>
              <a:srgbClr val="57E3D8"/>
            </a:solidFill>
            <a:prstDash val="solid"/>
          </a:ln>
        </p:spPr>
        <p:txBody>
          <a:bodyPr/>
          <a:lstStyle/>
          <a:p>
            <a:endParaRPr lang="en-US"/>
          </a:p>
        </p:txBody>
      </p:sp>
      <p:sp>
        <p:nvSpPr>
          <p:cNvPr id="19" name="Text 17">
            <a:extLst>
              <a:ext uri="{FF2B5EF4-FFF2-40B4-BE49-F238E27FC236}">
                <a16:creationId xmlns:a16="http://schemas.microsoft.com/office/drawing/2014/main" id="{4CDC2EC1-113B-5E12-B735-B46C74FE1BCE}"/>
              </a:ext>
            </a:extLst>
          </p:cNvPr>
          <p:cNvSpPr/>
          <p:nvPr/>
        </p:nvSpPr>
        <p:spPr>
          <a:xfrm>
            <a:off x="2606040" y="896112"/>
            <a:ext cx="2103120" cy="347472"/>
          </a:xfrm>
          <a:prstGeom prst="rect">
            <a:avLst/>
          </a:prstGeom>
          <a:noFill/>
          <a:ln/>
        </p:spPr>
        <p:txBody>
          <a:bodyPr wrap="square" rtlCol="0" anchor="ctr"/>
          <a:lstStyle/>
          <a:p>
            <a:pPr marL="0" indent="0" algn="ctr">
              <a:buNone/>
            </a:pPr>
            <a:r>
              <a:rPr lang="en-US" sz="1100" b="1" dirty="0">
                <a:solidFill>
                  <a:srgbClr val="57E3D8"/>
                </a:solidFill>
                <a:latin typeface="Calibri" pitchFamily="34" charset="0"/>
                <a:ea typeface="Calibri" pitchFamily="34" charset="-122"/>
                <a:cs typeface="Calibri" pitchFamily="34" charset="-120"/>
              </a:rPr>
              <a:t>Monitor</a:t>
            </a:r>
            <a:endParaRPr lang="en-US" sz="1100" dirty="0"/>
          </a:p>
        </p:txBody>
      </p:sp>
      <p:sp>
        <p:nvSpPr>
          <p:cNvPr id="20" name="Shape 18">
            <a:extLst>
              <a:ext uri="{FF2B5EF4-FFF2-40B4-BE49-F238E27FC236}">
                <a16:creationId xmlns:a16="http://schemas.microsoft.com/office/drawing/2014/main" id="{BECE1E03-87D7-D001-1BAF-088D5D7B8CA9}"/>
              </a:ext>
            </a:extLst>
          </p:cNvPr>
          <p:cNvSpPr/>
          <p:nvPr/>
        </p:nvSpPr>
        <p:spPr>
          <a:xfrm>
            <a:off x="2743200" y="1325880"/>
            <a:ext cx="1783080" cy="384048"/>
          </a:xfrm>
          <a:prstGeom prst="roundRect">
            <a:avLst>
              <a:gd name="adj" fmla="val 19048"/>
            </a:avLst>
          </a:prstGeom>
          <a:solidFill>
            <a:srgbClr val="0D3A3A"/>
          </a:solidFill>
          <a:ln w="12700">
            <a:solidFill>
              <a:srgbClr val="0D3A3A"/>
            </a:solidFill>
            <a:prstDash val="solid"/>
          </a:ln>
        </p:spPr>
        <p:txBody>
          <a:bodyPr/>
          <a:lstStyle/>
          <a:p>
            <a:endParaRPr lang="en-US"/>
          </a:p>
        </p:txBody>
      </p:sp>
      <p:sp>
        <p:nvSpPr>
          <p:cNvPr id="21" name="Text 19">
            <a:extLst>
              <a:ext uri="{FF2B5EF4-FFF2-40B4-BE49-F238E27FC236}">
                <a16:creationId xmlns:a16="http://schemas.microsoft.com/office/drawing/2014/main" id="{7804B2D0-64DD-05B4-982B-DC6A6A181B42}"/>
              </a:ext>
            </a:extLst>
          </p:cNvPr>
          <p:cNvSpPr/>
          <p:nvPr/>
        </p:nvSpPr>
        <p:spPr>
          <a:xfrm>
            <a:off x="2743200" y="1325880"/>
            <a:ext cx="1783080" cy="384048"/>
          </a:xfrm>
          <a:prstGeom prst="rect">
            <a:avLst/>
          </a:prstGeom>
          <a:noFill/>
          <a:ln/>
        </p:spPr>
        <p:txBody>
          <a:bodyPr wrap="square" lIns="0" tIns="0" rIns="0" bIns="0" rtlCol="0" anchor="ctr"/>
          <a:lstStyle/>
          <a:p>
            <a:pPr marL="0" indent="0" algn="ctr">
              <a:buNone/>
            </a:pPr>
            <a:r>
              <a:rPr lang="en-US" sz="1200" b="1" dirty="0">
                <a:solidFill>
                  <a:srgbClr val="EDEDED"/>
                </a:solidFill>
                <a:latin typeface="Calibri" pitchFamily="34" charset="0"/>
                <a:ea typeface="Calibri" pitchFamily="34" charset="-122"/>
                <a:cs typeface="Calibri" pitchFamily="34" charset="-120"/>
              </a:rPr>
              <a:t>LCD / LED display</a:t>
            </a:r>
            <a:endParaRPr lang="en-US" sz="1200" dirty="0"/>
          </a:p>
        </p:txBody>
      </p:sp>
      <p:sp>
        <p:nvSpPr>
          <p:cNvPr id="22" name="Shape 20">
            <a:extLst>
              <a:ext uri="{FF2B5EF4-FFF2-40B4-BE49-F238E27FC236}">
                <a16:creationId xmlns:a16="http://schemas.microsoft.com/office/drawing/2014/main" id="{3CB468DC-DDBF-D4B7-6FD7-B480CBE906AA}"/>
              </a:ext>
            </a:extLst>
          </p:cNvPr>
          <p:cNvSpPr/>
          <p:nvPr/>
        </p:nvSpPr>
        <p:spPr>
          <a:xfrm>
            <a:off x="2743200" y="1783080"/>
            <a:ext cx="1783080" cy="384048"/>
          </a:xfrm>
          <a:prstGeom prst="roundRect">
            <a:avLst>
              <a:gd name="adj" fmla="val 19048"/>
            </a:avLst>
          </a:prstGeom>
          <a:solidFill>
            <a:srgbClr val="0D3A3A"/>
          </a:solidFill>
          <a:ln w="12700">
            <a:solidFill>
              <a:srgbClr val="0D3A3A"/>
            </a:solidFill>
            <a:prstDash val="solid"/>
          </a:ln>
        </p:spPr>
        <p:txBody>
          <a:bodyPr/>
          <a:lstStyle/>
          <a:p>
            <a:endParaRPr lang="en-US"/>
          </a:p>
        </p:txBody>
      </p:sp>
      <p:sp>
        <p:nvSpPr>
          <p:cNvPr id="23" name="Text 21">
            <a:extLst>
              <a:ext uri="{FF2B5EF4-FFF2-40B4-BE49-F238E27FC236}">
                <a16:creationId xmlns:a16="http://schemas.microsoft.com/office/drawing/2014/main" id="{515422E5-C4A4-B89B-585F-487188665260}"/>
              </a:ext>
            </a:extLst>
          </p:cNvPr>
          <p:cNvSpPr/>
          <p:nvPr/>
        </p:nvSpPr>
        <p:spPr>
          <a:xfrm>
            <a:off x="2743200" y="1783080"/>
            <a:ext cx="1783080" cy="384048"/>
          </a:xfrm>
          <a:prstGeom prst="rect">
            <a:avLst/>
          </a:prstGeom>
          <a:noFill/>
          <a:ln/>
        </p:spPr>
        <p:txBody>
          <a:bodyPr wrap="square" lIns="0" tIns="0" rIns="0" bIns="0" rtlCol="0" anchor="ctr"/>
          <a:lstStyle/>
          <a:p>
            <a:pPr marL="0" indent="0" algn="ctr">
              <a:buNone/>
            </a:pPr>
            <a:r>
              <a:rPr lang="en-US" sz="1200" b="1" dirty="0">
                <a:solidFill>
                  <a:srgbClr val="EDEDED"/>
                </a:solidFill>
                <a:latin typeface="Calibri" pitchFamily="34" charset="0"/>
                <a:ea typeface="Calibri" pitchFamily="34" charset="-122"/>
                <a:cs typeface="Calibri" pitchFamily="34" charset="-120"/>
              </a:rPr>
              <a:t>VGA / HDMI port</a:t>
            </a:r>
            <a:endParaRPr lang="en-US" sz="1200" dirty="0"/>
          </a:p>
        </p:txBody>
      </p:sp>
      <p:sp>
        <p:nvSpPr>
          <p:cNvPr id="24" name="Shape 22">
            <a:extLst>
              <a:ext uri="{FF2B5EF4-FFF2-40B4-BE49-F238E27FC236}">
                <a16:creationId xmlns:a16="http://schemas.microsoft.com/office/drawing/2014/main" id="{B98B6C5B-FF36-C40D-5A5D-B5E4F8AAEF28}"/>
              </a:ext>
            </a:extLst>
          </p:cNvPr>
          <p:cNvSpPr/>
          <p:nvPr/>
        </p:nvSpPr>
        <p:spPr>
          <a:xfrm>
            <a:off x="2606040" y="2578608"/>
            <a:ext cx="2103120" cy="1234440"/>
          </a:xfrm>
          <a:prstGeom prst="roundRect">
            <a:avLst>
              <a:gd name="adj" fmla="val 7407"/>
            </a:avLst>
          </a:prstGeom>
          <a:solidFill>
            <a:srgbClr val="2A1E00"/>
          </a:solidFill>
          <a:ln w="12700">
            <a:solidFill>
              <a:srgbClr val="FFDB5E"/>
            </a:solidFill>
            <a:prstDash val="solid"/>
          </a:ln>
        </p:spPr>
        <p:txBody>
          <a:bodyPr/>
          <a:lstStyle/>
          <a:p>
            <a:endParaRPr lang="en-US"/>
          </a:p>
        </p:txBody>
      </p:sp>
      <p:sp>
        <p:nvSpPr>
          <p:cNvPr id="25" name="Text 23">
            <a:extLst>
              <a:ext uri="{FF2B5EF4-FFF2-40B4-BE49-F238E27FC236}">
                <a16:creationId xmlns:a16="http://schemas.microsoft.com/office/drawing/2014/main" id="{7942E472-94EB-EC65-4AF4-171A751D5D95}"/>
              </a:ext>
            </a:extLst>
          </p:cNvPr>
          <p:cNvSpPr/>
          <p:nvPr/>
        </p:nvSpPr>
        <p:spPr>
          <a:xfrm>
            <a:off x="2606040" y="2578608"/>
            <a:ext cx="2103120" cy="347472"/>
          </a:xfrm>
          <a:prstGeom prst="rect">
            <a:avLst/>
          </a:prstGeom>
          <a:noFill/>
          <a:ln/>
        </p:spPr>
        <p:txBody>
          <a:bodyPr wrap="square" rtlCol="0" anchor="ctr"/>
          <a:lstStyle/>
          <a:p>
            <a:pPr marL="0" indent="0" algn="ctr">
              <a:buNone/>
            </a:pPr>
            <a:r>
              <a:rPr lang="en-US" sz="1100" b="1" dirty="0">
                <a:solidFill>
                  <a:srgbClr val="FFDB5E"/>
                </a:solidFill>
                <a:latin typeface="Calibri" pitchFamily="34" charset="0"/>
                <a:ea typeface="Calibri" pitchFamily="34" charset="-122"/>
                <a:cs typeface="Calibri" pitchFamily="34" charset="-120"/>
              </a:rPr>
              <a:t>Keyboard</a:t>
            </a:r>
            <a:endParaRPr lang="en-US" sz="1100" dirty="0"/>
          </a:p>
        </p:txBody>
      </p:sp>
      <p:sp>
        <p:nvSpPr>
          <p:cNvPr id="26" name="Shape 24">
            <a:extLst>
              <a:ext uri="{FF2B5EF4-FFF2-40B4-BE49-F238E27FC236}">
                <a16:creationId xmlns:a16="http://schemas.microsoft.com/office/drawing/2014/main" id="{076EA14E-5216-4F5B-92FF-F559A698E3D1}"/>
              </a:ext>
            </a:extLst>
          </p:cNvPr>
          <p:cNvSpPr/>
          <p:nvPr/>
        </p:nvSpPr>
        <p:spPr>
          <a:xfrm>
            <a:off x="2743200" y="2990088"/>
            <a:ext cx="1783080" cy="347472"/>
          </a:xfrm>
          <a:prstGeom prst="roundRect">
            <a:avLst>
              <a:gd name="adj" fmla="val 21053"/>
            </a:avLst>
          </a:prstGeom>
          <a:solidFill>
            <a:srgbClr val="332500"/>
          </a:solidFill>
          <a:ln w="12700">
            <a:solidFill>
              <a:srgbClr val="332500"/>
            </a:solidFill>
            <a:prstDash val="solid"/>
          </a:ln>
        </p:spPr>
        <p:txBody>
          <a:bodyPr/>
          <a:lstStyle/>
          <a:p>
            <a:endParaRPr lang="en-US"/>
          </a:p>
        </p:txBody>
      </p:sp>
      <p:sp>
        <p:nvSpPr>
          <p:cNvPr id="27" name="Text 25">
            <a:extLst>
              <a:ext uri="{FF2B5EF4-FFF2-40B4-BE49-F238E27FC236}">
                <a16:creationId xmlns:a16="http://schemas.microsoft.com/office/drawing/2014/main" id="{20C7BFE1-17DD-66BB-3B0F-199C19F24518}"/>
              </a:ext>
            </a:extLst>
          </p:cNvPr>
          <p:cNvSpPr/>
          <p:nvPr/>
        </p:nvSpPr>
        <p:spPr>
          <a:xfrm>
            <a:off x="2743200" y="2990088"/>
            <a:ext cx="1783080" cy="347472"/>
          </a:xfrm>
          <a:prstGeom prst="rect">
            <a:avLst/>
          </a:prstGeom>
          <a:noFill/>
          <a:ln/>
        </p:spPr>
        <p:txBody>
          <a:bodyPr wrap="square" lIns="0" tIns="0" rIns="0" bIns="0" rtlCol="0" anchor="ctr"/>
          <a:lstStyle/>
          <a:p>
            <a:pPr marL="0" indent="0" algn="ctr">
              <a:buNone/>
            </a:pPr>
            <a:r>
              <a:rPr lang="en-US" sz="1200" b="1" dirty="0">
                <a:solidFill>
                  <a:srgbClr val="EDEDED"/>
                </a:solidFill>
                <a:latin typeface="Calibri" pitchFamily="34" charset="0"/>
                <a:ea typeface="Calibri" pitchFamily="34" charset="-122"/>
                <a:cs typeface="Calibri" pitchFamily="34" charset="-120"/>
              </a:rPr>
              <a:t>Function keys</a:t>
            </a:r>
            <a:endParaRPr lang="en-US" sz="1200" dirty="0"/>
          </a:p>
        </p:txBody>
      </p:sp>
      <p:sp>
        <p:nvSpPr>
          <p:cNvPr id="28" name="Shape 26">
            <a:extLst>
              <a:ext uri="{FF2B5EF4-FFF2-40B4-BE49-F238E27FC236}">
                <a16:creationId xmlns:a16="http://schemas.microsoft.com/office/drawing/2014/main" id="{51CBBDB0-6057-A80A-7A5E-4F8C732725CD}"/>
              </a:ext>
            </a:extLst>
          </p:cNvPr>
          <p:cNvSpPr/>
          <p:nvPr/>
        </p:nvSpPr>
        <p:spPr>
          <a:xfrm>
            <a:off x="2743200" y="3364992"/>
            <a:ext cx="1783080" cy="347472"/>
          </a:xfrm>
          <a:prstGeom prst="roundRect">
            <a:avLst>
              <a:gd name="adj" fmla="val 21053"/>
            </a:avLst>
          </a:prstGeom>
          <a:solidFill>
            <a:srgbClr val="332500"/>
          </a:solidFill>
          <a:ln w="12700">
            <a:solidFill>
              <a:srgbClr val="332500"/>
            </a:solidFill>
            <a:prstDash val="solid"/>
          </a:ln>
        </p:spPr>
        <p:txBody>
          <a:bodyPr/>
          <a:lstStyle/>
          <a:p>
            <a:endParaRPr lang="en-US"/>
          </a:p>
        </p:txBody>
      </p:sp>
      <p:sp>
        <p:nvSpPr>
          <p:cNvPr id="29" name="Text 27">
            <a:extLst>
              <a:ext uri="{FF2B5EF4-FFF2-40B4-BE49-F238E27FC236}">
                <a16:creationId xmlns:a16="http://schemas.microsoft.com/office/drawing/2014/main" id="{6D78DD09-6885-5629-C5DB-24BB85240A41}"/>
              </a:ext>
            </a:extLst>
          </p:cNvPr>
          <p:cNvSpPr/>
          <p:nvPr/>
        </p:nvSpPr>
        <p:spPr>
          <a:xfrm>
            <a:off x="2743200" y="3364992"/>
            <a:ext cx="1783080" cy="347472"/>
          </a:xfrm>
          <a:prstGeom prst="rect">
            <a:avLst/>
          </a:prstGeom>
          <a:noFill/>
          <a:ln/>
        </p:spPr>
        <p:txBody>
          <a:bodyPr wrap="square" lIns="0" tIns="0" rIns="0" bIns="0" rtlCol="0" anchor="ctr"/>
          <a:lstStyle/>
          <a:p>
            <a:pPr marL="0" indent="0" algn="ctr">
              <a:buNone/>
            </a:pPr>
            <a:r>
              <a:rPr lang="en-US" sz="1200" b="1" dirty="0">
                <a:solidFill>
                  <a:srgbClr val="EDEDED"/>
                </a:solidFill>
                <a:latin typeface="Calibri" pitchFamily="34" charset="0"/>
                <a:ea typeface="Calibri" pitchFamily="34" charset="-122"/>
                <a:cs typeface="Calibri" pitchFamily="34" charset="-120"/>
              </a:rPr>
              <a:t>Navigation keys</a:t>
            </a:r>
            <a:endParaRPr lang="en-US" sz="1200" dirty="0"/>
          </a:p>
        </p:txBody>
      </p:sp>
      <p:sp>
        <p:nvSpPr>
          <p:cNvPr id="30" name="Shape 28">
            <a:extLst>
              <a:ext uri="{FF2B5EF4-FFF2-40B4-BE49-F238E27FC236}">
                <a16:creationId xmlns:a16="http://schemas.microsoft.com/office/drawing/2014/main" id="{0DD8AA43-0221-912F-22CA-C430B79B0FD3}"/>
              </a:ext>
            </a:extLst>
          </p:cNvPr>
          <p:cNvSpPr/>
          <p:nvPr/>
        </p:nvSpPr>
        <p:spPr>
          <a:xfrm>
            <a:off x="4892040" y="896112"/>
            <a:ext cx="1920240" cy="1508760"/>
          </a:xfrm>
          <a:prstGeom prst="roundRect">
            <a:avLst>
              <a:gd name="adj" fmla="val 6061"/>
            </a:avLst>
          </a:prstGeom>
          <a:solidFill>
            <a:srgbClr val="2E0A0A"/>
          </a:solidFill>
          <a:ln w="12700">
            <a:solidFill>
              <a:srgbClr val="FF8181"/>
            </a:solidFill>
            <a:prstDash val="solid"/>
          </a:ln>
        </p:spPr>
        <p:txBody>
          <a:bodyPr/>
          <a:lstStyle/>
          <a:p>
            <a:endParaRPr lang="en-US"/>
          </a:p>
        </p:txBody>
      </p:sp>
      <p:sp>
        <p:nvSpPr>
          <p:cNvPr id="31" name="Text 29">
            <a:extLst>
              <a:ext uri="{FF2B5EF4-FFF2-40B4-BE49-F238E27FC236}">
                <a16:creationId xmlns:a16="http://schemas.microsoft.com/office/drawing/2014/main" id="{73C5D983-A97A-2569-C86C-B4491BE76306}"/>
              </a:ext>
            </a:extLst>
          </p:cNvPr>
          <p:cNvSpPr/>
          <p:nvPr/>
        </p:nvSpPr>
        <p:spPr>
          <a:xfrm>
            <a:off x="4892040" y="896112"/>
            <a:ext cx="1920240" cy="347472"/>
          </a:xfrm>
          <a:prstGeom prst="rect">
            <a:avLst/>
          </a:prstGeom>
          <a:noFill/>
          <a:ln/>
        </p:spPr>
        <p:txBody>
          <a:bodyPr wrap="square" rtlCol="0" anchor="ctr"/>
          <a:lstStyle/>
          <a:p>
            <a:pPr marL="0" indent="0" algn="ctr">
              <a:buNone/>
            </a:pPr>
            <a:r>
              <a:rPr lang="en-US" sz="1100" b="1" dirty="0">
                <a:solidFill>
                  <a:srgbClr val="FF8181"/>
                </a:solidFill>
                <a:latin typeface="Calibri" pitchFamily="34" charset="0"/>
                <a:ea typeface="Calibri" pitchFamily="34" charset="-122"/>
                <a:cs typeface="Calibri" pitchFamily="34" charset="-120"/>
              </a:rPr>
              <a:t>Mouse</a:t>
            </a:r>
            <a:endParaRPr lang="en-US" sz="1100" dirty="0"/>
          </a:p>
        </p:txBody>
      </p:sp>
      <p:sp>
        <p:nvSpPr>
          <p:cNvPr id="32" name="Shape 30">
            <a:extLst>
              <a:ext uri="{FF2B5EF4-FFF2-40B4-BE49-F238E27FC236}">
                <a16:creationId xmlns:a16="http://schemas.microsoft.com/office/drawing/2014/main" id="{7350C63F-7F00-4271-4266-79613F79130A}"/>
              </a:ext>
            </a:extLst>
          </p:cNvPr>
          <p:cNvSpPr/>
          <p:nvPr/>
        </p:nvSpPr>
        <p:spPr>
          <a:xfrm>
            <a:off x="5029200" y="1325880"/>
            <a:ext cx="1645920" cy="347472"/>
          </a:xfrm>
          <a:prstGeom prst="roundRect">
            <a:avLst>
              <a:gd name="adj" fmla="val 21053"/>
            </a:avLst>
          </a:prstGeom>
          <a:solidFill>
            <a:srgbClr val="3A1010"/>
          </a:solidFill>
          <a:ln w="12700">
            <a:solidFill>
              <a:srgbClr val="3A1010"/>
            </a:solidFill>
            <a:prstDash val="solid"/>
          </a:ln>
        </p:spPr>
        <p:txBody>
          <a:bodyPr/>
          <a:lstStyle/>
          <a:p>
            <a:endParaRPr lang="en-US"/>
          </a:p>
        </p:txBody>
      </p:sp>
      <p:sp>
        <p:nvSpPr>
          <p:cNvPr id="33" name="Text 31">
            <a:extLst>
              <a:ext uri="{FF2B5EF4-FFF2-40B4-BE49-F238E27FC236}">
                <a16:creationId xmlns:a16="http://schemas.microsoft.com/office/drawing/2014/main" id="{E0451C84-57AC-F250-E5FB-AF49B594F9A1}"/>
              </a:ext>
            </a:extLst>
          </p:cNvPr>
          <p:cNvSpPr/>
          <p:nvPr/>
        </p:nvSpPr>
        <p:spPr>
          <a:xfrm>
            <a:off x="5029200" y="1325880"/>
            <a:ext cx="1645920" cy="347472"/>
          </a:xfrm>
          <a:prstGeom prst="rect">
            <a:avLst/>
          </a:prstGeom>
          <a:noFill/>
          <a:ln/>
        </p:spPr>
        <p:txBody>
          <a:bodyPr wrap="square" lIns="0" tIns="0" rIns="0" bIns="0" rtlCol="0" anchor="ctr"/>
          <a:lstStyle/>
          <a:p>
            <a:pPr marL="0" indent="0" algn="ctr">
              <a:buNone/>
            </a:pPr>
            <a:r>
              <a:rPr lang="en-US" sz="1200" b="1" dirty="0">
                <a:solidFill>
                  <a:srgbClr val="EDEDED"/>
                </a:solidFill>
                <a:latin typeface="Calibri" pitchFamily="34" charset="0"/>
                <a:ea typeface="Calibri" pitchFamily="34" charset="-122"/>
                <a:cs typeface="Calibri" pitchFamily="34" charset="-120"/>
              </a:rPr>
              <a:t>Optical type</a:t>
            </a:r>
            <a:endParaRPr lang="en-US" sz="1200" dirty="0"/>
          </a:p>
        </p:txBody>
      </p:sp>
      <p:sp>
        <p:nvSpPr>
          <p:cNvPr id="34" name="Shape 32">
            <a:extLst>
              <a:ext uri="{FF2B5EF4-FFF2-40B4-BE49-F238E27FC236}">
                <a16:creationId xmlns:a16="http://schemas.microsoft.com/office/drawing/2014/main" id="{46A07F4E-8B2E-0DAD-C30E-32A306EB46F8}"/>
              </a:ext>
            </a:extLst>
          </p:cNvPr>
          <p:cNvSpPr/>
          <p:nvPr/>
        </p:nvSpPr>
        <p:spPr>
          <a:xfrm>
            <a:off x="5029200" y="1737360"/>
            <a:ext cx="1645920" cy="347472"/>
          </a:xfrm>
          <a:prstGeom prst="roundRect">
            <a:avLst>
              <a:gd name="adj" fmla="val 21053"/>
            </a:avLst>
          </a:prstGeom>
          <a:solidFill>
            <a:srgbClr val="3A1010"/>
          </a:solidFill>
          <a:ln w="12700">
            <a:solidFill>
              <a:srgbClr val="3A1010"/>
            </a:solidFill>
            <a:prstDash val="solid"/>
          </a:ln>
        </p:spPr>
        <p:txBody>
          <a:bodyPr/>
          <a:lstStyle/>
          <a:p>
            <a:endParaRPr lang="en-US"/>
          </a:p>
        </p:txBody>
      </p:sp>
      <p:sp>
        <p:nvSpPr>
          <p:cNvPr id="35" name="Text 33">
            <a:extLst>
              <a:ext uri="{FF2B5EF4-FFF2-40B4-BE49-F238E27FC236}">
                <a16:creationId xmlns:a16="http://schemas.microsoft.com/office/drawing/2014/main" id="{22D989EE-D47E-6FFC-D406-14BB94746410}"/>
              </a:ext>
            </a:extLst>
          </p:cNvPr>
          <p:cNvSpPr/>
          <p:nvPr/>
        </p:nvSpPr>
        <p:spPr>
          <a:xfrm>
            <a:off x="5029200" y="1737360"/>
            <a:ext cx="1645920" cy="347472"/>
          </a:xfrm>
          <a:prstGeom prst="rect">
            <a:avLst/>
          </a:prstGeom>
          <a:noFill/>
          <a:ln/>
        </p:spPr>
        <p:txBody>
          <a:bodyPr wrap="square" lIns="0" tIns="0" rIns="0" bIns="0" rtlCol="0" anchor="ctr"/>
          <a:lstStyle/>
          <a:p>
            <a:pPr marL="0" indent="0" algn="ctr">
              <a:buNone/>
            </a:pPr>
            <a:r>
              <a:rPr lang="en-US" sz="1200" b="1" dirty="0">
                <a:solidFill>
                  <a:srgbClr val="EDEDED"/>
                </a:solidFill>
                <a:latin typeface="Calibri" pitchFamily="34" charset="0"/>
                <a:ea typeface="Calibri" pitchFamily="34" charset="-122"/>
                <a:cs typeface="Calibri" pitchFamily="34" charset="-120"/>
              </a:rPr>
              <a:t>Mechanical type</a:t>
            </a:r>
            <a:endParaRPr lang="en-US" sz="1200" dirty="0"/>
          </a:p>
        </p:txBody>
      </p:sp>
      <p:sp>
        <p:nvSpPr>
          <p:cNvPr id="36" name="Shape 34">
            <a:extLst>
              <a:ext uri="{FF2B5EF4-FFF2-40B4-BE49-F238E27FC236}">
                <a16:creationId xmlns:a16="http://schemas.microsoft.com/office/drawing/2014/main" id="{192F5EC5-C093-DFE1-AB52-1F17C43F4F91}"/>
              </a:ext>
            </a:extLst>
          </p:cNvPr>
          <p:cNvSpPr/>
          <p:nvPr/>
        </p:nvSpPr>
        <p:spPr>
          <a:xfrm>
            <a:off x="4892040" y="2578608"/>
            <a:ext cx="1920240" cy="621792"/>
          </a:xfrm>
          <a:prstGeom prst="roundRect">
            <a:avLst>
              <a:gd name="adj" fmla="val 14706"/>
            </a:avLst>
          </a:prstGeom>
          <a:solidFill>
            <a:srgbClr val="1A1A1A"/>
          </a:solidFill>
          <a:ln w="12700">
            <a:solidFill>
              <a:srgbClr val="888888"/>
            </a:solidFill>
            <a:prstDash val="solid"/>
          </a:ln>
        </p:spPr>
        <p:txBody>
          <a:bodyPr/>
          <a:lstStyle/>
          <a:p>
            <a:endParaRPr lang="en-US"/>
          </a:p>
        </p:txBody>
      </p:sp>
      <p:sp>
        <p:nvSpPr>
          <p:cNvPr id="37" name="Text 35">
            <a:extLst>
              <a:ext uri="{FF2B5EF4-FFF2-40B4-BE49-F238E27FC236}">
                <a16:creationId xmlns:a16="http://schemas.microsoft.com/office/drawing/2014/main" id="{8CE7DE07-7E34-B7FF-2EDE-D71FF20FC981}"/>
              </a:ext>
            </a:extLst>
          </p:cNvPr>
          <p:cNvSpPr/>
          <p:nvPr/>
        </p:nvSpPr>
        <p:spPr>
          <a:xfrm>
            <a:off x="4892040" y="2578608"/>
            <a:ext cx="1920240" cy="320040"/>
          </a:xfrm>
          <a:prstGeom prst="rect">
            <a:avLst/>
          </a:prstGeom>
          <a:noFill/>
          <a:ln/>
        </p:spPr>
        <p:txBody>
          <a:bodyPr wrap="square" rtlCol="0" anchor="ctr"/>
          <a:lstStyle/>
          <a:p>
            <a:pPr marL="0" indent="0" algn="ctr">
              <a:buNone/>
            </a:pPr>
            <a:r>
              <a:rPr lang="en-US" sz="1100" b="1" dirty="0">
                <a:solidFill>
                  <a:srgbClr val="EDEDED"/>
                </a:solidFill>
                <a:latin typeface="Calibri" pitchFamily="34" charset="0"/>
                <a:ea typeface="Calibri" pitchFamily="34" charset="-122"/>
                <a:cs typeface="Calibri" pitchFamily="34" charset="-120"/>
              </a:rPr>
              <a:t>Power cord</a:t>
            </a:r>
            <a:endParaRPr lang="en-US" sz="1100" dirty="0"/>
          </a:p>
        </p:txBody>
      </p:sp>
      <p:sp>
        <p:nvSpPr>
          <p:cNvPr id="38" name="Text 36">
            <a:extLst>
              <a:ext uri="{FF2B5EF4-FFF2-40B4-BE49-F238E27FC236}">
                <a16:creationId xmlns:a16="http://schemas.microsoft.com/office/drawing/2014/main" id="{370B447E-8A59-1873-A901-6C926A14D1CB}"/>
              </a:ext>
            </a:extLst>
          </p:cNvPr>
          <p:cNvSpPr/>
          <p:nvPr/>
        </p:nvSpPr>
        <p:spPr>
          <a:xfrm>
            <a:off x="4892040" y="2898648"/>
            <a:ext cx="1920240" cy="274320"/>
          </a:xfrm>
          <a:prstGeom prst="rect">
            <a:avLst/>
          </a:prstGeom>
          <a:noFill/>
          <a:ln/>
        </p:spPr>
        <p:txBody>
          <a:bodyPr wrap="square" rtlCol="0" anchor="t"/>
          <a:lstStyle/>
          <a:p>
            <a:pPr marL="0" indent="0" algn="ctr">
              <a:buNone/>
            </a:pPr>
            <a:r>
              <a:rPr lang="en-US" sz="900" dirty="0">
                <a:solidFill>
                  <a:srgbClr val="888888"/>
                </a:solidFill>
                <a:latin typeface="Calibri" pitchFamily="34" charset="0"/>
                <a:ea typeface="Calibri" pitchFamily="34" charset="-122"/>
                <a:cs typeface="Calibri" pitchFamily="34" charset="-120"/>
              </a:rPr>
              <a:t>Supplies electricity</a:t>
            </a:r>
            <a:endParaRPr lang="en-US" sz="900" dirty="0"/>
          </a:p>
        </p:txBody>
      </p:sp>
      <p:sp>
        <p:nvSpPr>
          <p:cNvPr id="39" name="Shape 37">
            <a:extLst>
              <a:ext uri="{FF2B5EF4-FFF2-40B4-BE49-F238E27FC236}">
                <a16:creationId xmlns:a16="http://schemas.microsoft.com/office/drawing/2014/main" id="{B912B2FE-4795-D7FC-F5F6-DD2A39B9D0A2}"/>
              </a:ext>
            </a:extLst>
          </p:cNvPr>
          <p:cNvSpPr/>
          <p:nvPr/>
        </p:nvSpPr>
        <p:spPr>
          <a:xfrm>
            <a:off x="4892040" y="3310128"/>
            <a:ext cx="1920240" cy="621792"/>
          </a:xfrm>
          <a:prstGeom prst="roundRect">
            <a:avLst>
              <a:gd name="adj" fmla="val 14706"/>
            </a:avLst>
          </a:prstGeom>
          <a:solidFill>
            <a:srgbClr val="0A1E3A"/>
          </a:solidFill>
          <a:ln w="12700">
            <a:solidFill>
              <a:srgbClr val="4D96FF"/>
            </a:solidFill>
            <a:prstDash val="solid"/>
          </a:ln>
        </p:spPr>
        <p:txBody>
          <a:bodyPr/>
          <a:lstStyle/>
          <a:p>
            <a:endParaRPr lang="en-US"/>
          </a:p>
        </p:txBody>
      </p:sp>
      <p:sp>
        <p:nvSpPr>
          <p:cNvPr id="40" name="Text 38">
            <a:extLst>
              <a:ext uri="{FF2B5EF4-FFF2-40B4-BE49-F238E27FC236}">
                <a16:creationId xmlns:a16="http://schemas.microsoft.com/office/drawing/2014/main" id="{65A54EE5-8470-456E-70DB-9FFED2886364}"/>
              </a:ext>
            </a:extLst>
          </p:cNvPr>
          <p:cNvSpPr/>
          <p:nvPr/>
        </p:nvSpPr>
        <p:spPr>
          <a:xfrm>
            <a:off x="4892040" y="3310128"/>
            <a:ext cx="1920240" cy="320040"/>
          </a:xfrm>
          <a:prstGeom prst="rect">
            <a:avLst/>
          </a:prstGeom>
          <a:noFill/>
          <a:ln/>
        </p:spPr>
        <p:txBody>
          <a:bodyPr wrap="square" rtlCol="0" anchor="ctr"/>
          <a:lstStyle/>
          <a:p>
            <a:pPr marL="0" indent="0" algn="ctr">
              <a:buNone/>
            </a:pPr>
            <a:r>
              <a:rPr lang="en-US" sz="1100" b="1" dirty="0">
                <a:solidFill>
                  <a:srgbClr val="4D96FF"/>
                </a:solidFill>
                <a:latin typeface="Calibri" pitchFamily="34" charset="0"/>
                <a:ea typeface="Calibri" pitchFamily="34" charset="-122"/>
                <a:cs typeface="Calibri" pitchFamily="34" charset="-120"/>
              </a:rPr>
              <a:t>Ports</a:t>
            </a:r>
            <a:endParaRPr lang="en-US" sz="1100" dirty="0"/>
          </a:p>
        </p:txBody>
      </p:sp>
      <p:sp>
        <p:nvSpPr>
          <p:cNvPr id="41" name="Text 39">
            <a:extLst>
              <a:ext uri="{FF2B5EF4-FFF2-40B4-BE49-F238E27FC236}">
                <a16:creationId xmlns:a16="http://schemas.microsoft.com/office/drawing/2014/main" id="{D6157494-FACA-DCCD-6791-CAC92CF6589E}"/>
              </a:ext>
            </a:extLst>
          </p:cNvPr>
          <p:cNvSpPr/>
          <p:nvPr/>
        </p:nvSpPr>
        <p:spPr>
          <a:xfrm>
            <a:off x="4892040" y="3630168"/>
            <a:ext cx="1920240" cy="274320"/>
          </a:xfrm>
          <a:prstGeom prst="rect">
            <a:avLst/>
          </a:prstGeom>
          <a:noFill/>
          <a:ln/>
        </p:spPr>
        <p:txBody>
          <a:bodyPr wrap="square" rtlCol="0" anchor="t"/>
          <a:lstStyle/>
          <a:p>
            <a:pPr marL="0" indent="0" algn="ctr">
              <a:buNone/>
            </a:pPr>
            <a:r>
              <a:rPr lang="en-US" sz="900" dirty="0">
                <a:solidFill>
                  <a:srgbClr val="6699CC"/>
                </a:solidFill>
                <a:latin typeface="Calibri" pitchFamily="34" charset="0"/>
                <a:ea typeface="Calibri" pitchFamily="34" charset="-122"/>
                <a:cs typeface="Calibri" pitchFamily="34" charset="-120"/>
              </a:rPr>
              <a:t>USB, HDMI, audio</a:t>
            </a:r>
            <a:endParaRPr lang="en-US" sz="900" dirty="0"/>
          </a:p>
        </p:txBody>
      </p:sp>
      <p:sp>
        <p:nvSpPr>
          <p:cNvPr id="42" name="Shape 40">
            <a:extLst>
              <a:ext uri="{FF2B5EF4-FFF2-40B4-BE49-F238E27FC236}">
                <a16:creationId xmlns:a16="http://schemas.microsoft.com/office/drawing/2014/main" id="{B08FF4F3-6485-A093-BD05-53E01FB41B7E}"/>
              </a:ext>
            </a:extLst>
          </p:cNvPr>
          <p:cNvSpPr/>
          <p:nvPr/>
        </p:nvSpPr>
        <p:spPr>
          <a:xfrm>
            <a:off x="6995160" y="896112"/>
            <a:ext cx="1719072" cy="3035808"/>
          </a:xfrm>
          <a:prstGeom prst="roundRect">
            <a:avLst>
              <a:gd name="adj" fmla="val 5319"/>
            </a:avLst>
          </a:prstGeom>
          <a:solidFill>
            <a:srgbClr val="0E1E10"/>
          </a:solidFill>
          <a:ln w="12700">
            <a:solidFill>
              <a:srgbClr val="80D883"/>
            </a:solidFill>
            <a:prstDash val="solid"/>
          </a:ln>
        </p:spPr>
        <p:txBody>
          <a:bodyPr/>
          <a:lstStyle/>
          <a:p>
            <a:endParaRPr lang="en-US"/>
          </a:p>
        </p:txBody>
      </p:sp>
      <p:sp>
        <p:nvSpPr>
          <p:cNvPr id="43" name="Text 41">
            <a:extLst>
              <a:ext uri="{FF2B5EF4-FFF2-40B4-BE49-F238E27FC236}">
                <a16:creationId xmlns:a16="http://schemas.microsoft.com/office/drawing/2014/main" id="{8115C843-7CDB-4FC4-038E-6343F2EC6589}"/>
              </a:ext>
            </a:extLst>
          </p:cNvPr>
          <p:cNvSpPr/>
          <p:nvPr/>
        </p:nvSpPr>
        <p:spPr>
          <a:xfrm>
            <a:off x="6995160" y="896112"/>
            <a:ext cx="1719072" cy="347472"/>
          </a:xfrm>
          <a:prstGeom prst="rect">
            <a:avLst/>
          </a:prstGeom>
          <a:noFill/>
          <a:ln/>
        </p:spPr>
        <p:txBody>
          <a:bodyPr wrap="square" rtlCol="0" anchor="ctr"/>
          <a:lstStyle/>
          <a:p>
            <a:pPr marL="0" indent="0" algn="ctr">
              <a:buNone/>
            </a:pPr>
            <a:r>
              <a:rPr lang="en-US" sz="1100" b="1" dirty="0">
                <a:solidFill>
                  <a:srgbClr val="80D883"/>
                </a:solidFill>
                <a:latin typeface="Calibri" pitchFamily="34" charset="0"/>
                <a:ea typeface="Calibri" pitchFamily="34" charset="-122"/>
                <a:cs typeface="Calibri" pitchFamily="34" charset="-120"/>
              </a:rPr>
              <a:t>Peripherals</a:t>
            </a:r>
            <a:endParaRPr lang="en-US" sz="1100" dirty="0"/>
          </a:p>
        </p:txBody>
      </p:sp>
      <p:sp>
        <p:nvSpPr>
          <p:cNvPr id="44" name="Shape 42">
            <a:extLst>
              <a:ext uri="{FF2B5EF4-FFF2-40B4-BE49-F238E27FC236}">
                <a16:creationId xmlns:a16="http://schemas.microsoft.com/office/drawing/2014/main" id="{CFED1C1E-9BD4-1F57-3A0D-28F1B4EAF585}"/>
              </a:ext>
            </a:extLst>
          </p:cNvPr>
          <p:cNvSpPr/>
          <p:nvPr/>
        </p:nvSpPr>
        <p:spPr>
          <a:xfrm>
            <a:off x="7114032" y="1316736"/>
            <a:ext cx="1481328" cy="347472"/>
          </a:xfrm>
          <a:prstGeom prst="roundRect">
            <a:avLst>
              <a:gd name="adj" fmla="val 15789"/>
            </a:avLst>
          </a:prstGeom>
          <a:solidFill>
            <a:srgbClr val="142814"/>
          </a:solidFill>
          <a:ln w="6350">
            <a:solidFill>
              <a:srgbClr val="2A5A2A"/>
            </a:solidFill>
            <a:prstDash val="solid"/>
          </a:ln>
        </p:spPr>
        <p:txBody>
          <a:bodyPr/>
          <a:lstStyle/>
          <a:p>
            <a:endParaRPr lang="en-US"/>
          </a:p>
        </p:txBody>
      </p:sp>
      <p:sp>
        <p:nvSpPr>
          <p:cNvPr id="45" name="Text 43">
            <a:extLst>
              <a:ext uri="{FF2B5EF4-FFF2-40B4-BE49-F238E27FC236}">
                <a16:creationId xmlns:a16="http://schemas.microsoft.com/office/drawing/2014/main" id="{756AF21E-43D5-8950-52EF-17A6BA680C33}"/>
              </a:ext>
            </a:extLst>
          </p:cNvPr>
          <p:cNvSpPr/>
          <p:nvPr/>
        </p:nvSpPr>
        <p:spPr>
          <a:xfrm>
            <a:off x="7114032" y="1316736"/>
            <a:ext cx="1481328" cy="347472"/>
          </a:xfrm>
          <a:prstGeom prst="rect">
            <a:avLst/>
          </a:prstGeom>
          <a:noFill/>
          <a:ln/>
        </p:spPr>
        <p:txBody>
          <a:bodyPr wrap="square" rtlCol="0" anchor="ctr"/>
          <a:lstStyle/>
          <a:p>
            <a:pPr marL="0" indent="0" algn="ctr">
              <a:buNone/>
            </a:pPr>
            <a:r>
              <a:rPr lang="en-US" sz="900" dirty="0">
                <a:solidFill>
                  <a:srgbClr val="EDEDED"/>
                </a:solidFill>
                <a:latin typeface="Calibri" pitchFamily="34" charset="0"/>
                <a:ea typeface="Calibri" pitchFamily="34" charset="-122"/>
                <a:cs typeface="Calibri" pitchFamily="34" charset="-120"/>
              </a:rPr>
              <a:t>Printer</a:t>
            </a:r>
            <a:endParaRPr lang="en-US" sz="900" dirty="0"/>
          </a:p>
        </p:txBody>
      </p:sp>
      <p:sp>
        <p:nvSpPr>
          <p:cNvPr id="46" name="Shape 44">
            <a:extLst>
              <a:ext uri="{FF2B5EF4-FFF2-40B4-BE49-F238E27FC236}">
                <a16:creationId xmlns:a16="http://schemas.microsoft.com/office/drawing/2014/main" id="{82CAE7AC-6679-C318-B754-79A9E59BFFEF}"/>
              </a:ext>
            </a:extLst>
          </p:cNvPr>
          <p:cNvSpPr/>
          <p:nvPr/>
        </p:nvSpPr>
        <p:spPr>
          <a:xfrm>
            <a:off x="7114032" y="1801368"/>
            <a:ext cx="1481328" cy="347472"/>
          </a:xfrm>
          <a:prstGeom prst="roundRect">
            <a:avLst>
              <a:gd name="adj" fmla="val 15789"/>
            </a:avLst>
          </a:prstGeom>
          <a:solidFill>
            <a:srgbClr val="142814"/>
          </a:solidFill>
          <a:ln w="6350">
            <a:solidFill>
              <a:srgbClr val="2A5A2A"/>
            </a:solidFill>
            <a:prstDash val="solid"/>
          </a:ln>
        </p:spPr>
        <p:txBody>
          <a:bodyPr/>
          <a:lstStyle/>
          <a:p>
            <a:endParaRPr lang="en-US"/>
          </a:p>
        </p:txBody>
      </p:sp>
      <p:sp>
        <p:nvSpPr>
          <p:cNvPr id="47" name="Text 45">
            <a:extLst>
              <a:ext uri="{FF2B5EF4-FFF2-40B4-BE49-F238E27FC236}">
                <a16:creationId xmlns:a16="http://schemas.microsoft.com/office/drawing/2014/main" id="{BFE45B3A-4B6E-94CE-FC6E-8072A28A61D5}"/>
              </a:ext>
            </a:extLst>
          </p:cNvPr>
          <p:cNvSpPr/>
          <p:nvPr/>
        </p:nvSpPr>
        <p:spPr>
          <a:xfrm>
            <a:off x="7114032" y="1801368"/>
            <a:ext cx="1481328" cy="347472"/>
          </a:xfrm>
          <a:prstGeom prst="rect">
            <a:avLst/>
          </a:prstGeom>
          <a:noFill/>
          <a:ln/>
        </p:spPr>
        <p:txBody>
          <a:bodyPr wrap="square" rtlCol="0" anchor="ctr"/>
          <a:lstStyle/>
          <a:p>
            <a:pPr marL="0" indent="0" algn="ctr">
              <a:buNone/>
            </a:pPr>
            <a:r>
              <a:rPr lang="en-US" sz="900" dirty="0">
                <a:solidFill>
                  <a:srgbClr val="EDEDED"/>
                </a:solidFill>
                <a:latin typeface="Calibri" pitchFamily="34" charset="0"/>
                <a:ea typeface="Calibri" pitchFamily="34" charset="-122"/>
                <a:cs typeface="Calibri" pitchFamily="34" charset="-120"/>
              </a:rPr>
              <a:t>Scanner</a:t>
            </a:r>
            <a:endParaRPr lang="en-US" sz="900" dirty="0"/>
          </a:p>
        </p:txBody>
      </p:sp>
      <p:sp>
        <p:nvSpPr>
          <p:cNvPr id="48" name="Shape 46">
            <a:extLst>
              <a:ext uri="{FF2B5EF4-FFF2-40B4-BE49-F238E27FC236}">
                <a16:creationId xmlns:a16="http://schemas.microsoft.com/office/drawing/2014/main" id="{927F3D8E-C137-C953-FC79-664B28B13950}"/>
              </a:ext>
            </a:extLst>
          </p:cNvPr>
          <p:cNvSpPr/>
          <p:nvPr/>
        </p:nvSpPr>
        <p:spPr>
          <a:xfrm>
            <a:off x="7114032" y="2286000"/>
            <a:ext cx="1481328" cy="347472"/>
          </a:xfrm>
          <a:prstGeom prst="roundRect">
            <a:avLst>
              <a:gd name="adj" fmla="val 15789"/>
            </a:avLst>
          </a:prstGeom>
          <a:solidFill>
            <a:srgbClr val="142814"/>
          </a:solidFill>
          <a:ln w="6350">
            <a:solidFill>
              <a:srgbClr val="2A5A2A"/>
            </a:solidFill>
            <a:prstDash val="solid"/>
          </a:ln>
        </p:spPr>
        <p:txBody>
          <a:bodyPr/>
          <a:lstStyle/>
          <a:p>
            <a:endParaRPr lang="en-US"/>
          </a:p>
        </p:txBody>
      </p:sp>
      <p:sp>
        <p:nvSpPr>
          <p:cNvPr id="49" name="Text 47">
            <a:extLst>
              <a:ext uri="{FF2B5EF4-FFF2-40B4-BE49-F238E27FC236}">
                <a16:creationId xmlns:a16="http://schemas.microsoft.com/office/drawing/2014/main" id="{6D6AB78E-1F3C-B0D5-AD8A-28E546AC4122}"/>
              </a:ext>
            </a:extLst>
          </p:cNvPr>
          <p:cNvSpPr/>
          <p:nvPr/>
        </p:nvSpPr>
        <p:spPr>
          <a:xfrm>
            <a:off x="7114032" y="2286000"/>
            <a:ext cx="1481328" cy="347472"/>
          </a:xfrm>
          <a:prstGeom prst="rect">
            <a:avLst/>
          </a:prstGeom>
          <a:noFill/>
          <a:ln/>
        </p:spPr>
        <p:txBody>
          <a:bodyPr wrap="square" rtlCol="0" anchor="ctr"/>
          <a:lstStyle/>
          <a:p>
            <a:pPr marL="0" indent="0" algn="ctr">
              <a:buNone/>
            </a:pPr>
            <a:r>
              <a:rPr lang="en-US" sz="900" dirty="0">
                <a:solidFill>
                  <a:srgbClr val="EDEDED"/>
                </a:solidFill>
                <a:latin typeface="Calibri" pitchFamily="34" charset="0"/>
                <a:ea typeface="Calibri" pitchFamily="34" charset="-122"/>
                <a:cs typeface="Calibri" pitchFamily="34" charset="-120"/>
              </a:rPr>
              <a:t>Speakers</a:t>
            </a:r>
            <a:endParaRPr lang="en-US" sz="900" dirty="0"/>
          </a:p>
        </p:txBody>
      </p:sp>
      <p:sp>
        <p:nvSpPr>
          <p:cNvPr id="50" name="Shape 48">
            <a:extLst>
              <a:ext uri="{FF2B5EF4-FFF2-40B4-BE49-F238E27FC236}">
                <a16:creationId xmlns:a16="http://schemas.microsoft.com/office/drawing/2014/main" id="{A5894569-93CC-DC4D-1AE9-BCB214A8BC60}"/>
              </a:ext>
            </a:extLst>
          </p:cNvPr>
          <p:cNvSpPr/>
          <p:nvPr/>
        </p:nvSpPr>
        <p:spPr>
          <a:xfrm>
            <a:off x="7114032" y="2770632"/>
            <a:ext cx="1481328" cy="347472"/>
          </a:xfrm>
          <a:prstGeom prst="roundRect">
            <a:avLst>
              <a:gd name="adj" fmla="val 15789"/>
            </a:avLst>
          </a:prstGeom>
          <a:solidFill>
            <a:srgbClr val="142814"/>
          </a:solidFill>
          <a:ln w="6350">
            <a:solidFill>
              <a:srgbClr val="2A5A2A"/>
            </a:solidFill>
            <a:prstDash val="solid"/>
          </a:ln>
        </p:spPr>
        <p:txBody>
          <a:bodyPr/>
          <a:lstStyle/>
          <a:p>
            <a:endParaRPr lang="en-US"/>
          </a:p>
        </p:txBody>
      </p:sp>
      <p:sp>
        <p:nvSpPr>
          <p:cNvPr id="51" name="Text 49">
            <a:extLst>
              <a:ext uri="{FF2B5EF4-FFF2-40B4-BE49-F238E27FC236}">
                <a16:creationId xmlns:a16="http://schemas.microsoft.com/office/drawing/2014/main" id="{9FFB5BC2-4EEF-2022-EA25-98A34D4BAC65}"/>
              </a:ext>
            </a:extLst>
          </p:cNvPr>
          <p:cNvSpPr/>
          <p:nvPr/>
        </p:nvSpPr>
        <p:spPr>
          <a:xfrm>
            <a:off x="7114032" y="2770632"/>
            <a:ext cx="1481328" cy="347472"/>
          </a:xfrm>
          <a:prstGeom prst="rect">
            <a:avLst/>
          </a:prstGeom>
          <a:noFill/>
          <a:ln/>
        </p:spPr>
        <p:txBody>
          <a:bodyPr wrap="square" rtlCol="0" anchor="ctr"/>
          <a:lstStyle/>
          <a:p>
            <a:pPr marL="0" indent="0" algn="ctr">
              <a:buNone/>
            </a:pPr>
            <a:r>
              <a:rPr lang="en-US" sz="900" dirty="0">
                <a:solidFill>
                  <a:srgbClr val="EDEDED"/>
                </a:solidFill>
                <a:latin typeface="Calibri" pitchFamily="34" charset="0"/>
                <a:ea typeface="Calibri" pitchFamily="34" charset="-122"/>
                <a:cs typeface="Calibri" pitchFamily="34" charset="-120"/>
              </a:rPr>
              <a:t>Webcam</a:t>
            </a:r>
            <a:endParaRPr lang="en-US" sz="900" dirty="0"/>
          </a:p>
        </p:txBody>
      </p:sp>
      <p:sp>
        <p:nvSpPr>
          <p:cNvPr id="52" name="Shape 50">
            <a:extLst>
              <a:ext uri="{FF2B5EF4-FFF2-40B4-BE49-F238E27FC236}">
                <a16:creationId xmlns:a16="http://schemas.microsoft.com/office/drawing/2014/main" id="{2BD69C2B-08DF-8B36-D52C-C3DD6A5B2FB4}"/>
              </a:ext>
            </a:extLst>
          </p:cNvPr>
          <p:cNvSpPr/>
          <p:nvPr/>
        </p:nvSpPr>
        <p:spPr>
          <a:xfrm>
            <a:off x="7114032" y="3255264"/>
            <a:ext cx="1481328" cy="347472"/>
          </a:xfrm>
          <a:prstGeom prst="roundRect">
            <a:avLst>
              <a:gd name="adj" fmla="val 15789"/>
            </a:avLst>
          </a:prstGeom>
          <a:solidFill>
            <a:srgbClr val="142814"/>
          </a:solidFill>
          <a:ln w="6350">
            <a:solidFill>
              <a:srgbClr val="2A5A2A"/>
            </a:solidFill>
            <a:prstDash val="solid"/>
          </a:ln>
        </p:spPr>
        <p:txBody>
          <a:bodyPr/>
          <a:lstStyle/>
          <a:p>
            <a:endParaRPr lang="en-US"/>
          </a:p>
        </p:txBody>
      </p:sp>
      <p:sp>
        <p:nvSpPr>
          <p:cNvPr id="53" name="Text 51">
            <a:extLst>
              <a:ext uri="{FF2B5EF4-FFF2-40B4-BE49-F238E27FC236}">
                <a16:creationId xmlns:a16="http://schemas.microsoft.com/office/drawing/2014/main" id="{39CFC1EA-98B2-87A9-2B16-3DECCB6710BD}"/>
              </a:ext>
            </a:extLst>
          </p:cNvPr>
          <p:cNvSpPr/>
          <p:nvPr/>
        </p:nvSpPr>
        <p:spPr>
          <a:xfrm>
            <a:off x="7114032" y="3255264"/>
            <a:ext cx="1481328" cy="347472"/>
          </a:xfrm>
          <a:prstGeom prst="rect">
            <a:avLst/>
          </a:prstGeom>
          <a:noFill/>
          <a:ln/>
        </p:spPr>
        <p:txBody>
          <a:bodyPr wrap="square" rtlCol="0" anchor="ctr"/>
          <a:lstStyle/>
          <a:p>
            <a:pPr marL="0" indent="0" algn="ctr">
              <a:buNone/>
            </a:pPr>
            <a:r>
              <a:rPr lang="en-US" sz="900" dirty="0">
                <a:solidFill>
                  <a:srgbClr val="EDEDED"/>
                </a:solidFill>
                <a:latin typeface="Calibri" pitchFamily="34" charset="0"/>
                <a:ea typeface="Calibri" pitchFamily="34" charset="-122"/>
                <a:cs typeface="Calibri" pitchFamily="34" charset="-120"/>
              </a:rPr>
              <a:t>USB drives</a:t>
            </a:r>
            <a:endParaRPr lang="en-US" sz="900" dirty="0"/>
          </a:p>
        </p:txBody>
      </p:sp>
    </p:spTree>
    <p:extLst>
      <p:ext uri="{BB962C8B-B14F-4D97-AF65-F5344CB8AC3E}">
        <p14:creationId xmlns:p14="http://schemas.microsoft.com/office/powerpoint/2010/main" val="14140850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a:extLst>
            <a:ext uri="{FF2B5EF4-FFF2-40B4-BE49-F238E27FC236}">
              <a16:creationId xmlns:a16="http://schemas.microsoft.com/office/drawing/2014/main" id="{F938DC5C-7D51-33EF-EC2F-903B4691A76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D737442-8D81-2853-880E-B42C3E57B121}"/>
              </a:ext>
            </a:extLst>
          </p:cNvPr>
          <p:cNvSpPr/>
          <p:nvPr/>
        </p:nvSpPr>
        <p:spPr>
          <a:xfrm>
            <a:off x="0" y="0"/>
            <a:ext cx="9144000" cy="73152"/>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0C7F8120-DDCD-B00F-157A-EA938D251AAE}"/>
              </a:ext>
            </a:extLst>
          </p:cNvPr>
          <p:cNvSpPr/>
          <p:nvPr/>
        </p:nvSpPr>
        <p:spPr>
          <a:xfrm>
            <a:off x="0" y="73152"/>
            <a:ext cx="9144000" cy="658368"/>
          </a:xfrm>
          <a:prstGeom prst="rect">
            <a:avLst/>
          </a:prstGeom>
          <a:solidFill>
            <a:srgbClr val="262626"/>
          </a:solidFill>
          <a:ln w="12700">
            <a:solidFill>
              <a:srgbClr val="262626"/>
            </a:solidFill>
            <a:prstDash val="solid"/>
          </a:ln>
        </p:spPr>
        <p:txBody>
          <a:bodyPr/>
          <a:lstStyle/>
          <a:p>
            <a:endParaRPr lang="en-US"/>
          </a:p>
        </p:txBody>
      </p:sp>
      <p:sp>
        <p:nvSpPr>
          <p:cNvPr id="4" name="Text 2">
            <a:extLst>
              <a:ext uri="{FF2B5EF4-FFF2-40B4-BE49-F238E27FC236}">
                <a16:creationId xmlns:a16="http://schemas.microsoft.com/office/drawing/2014/main" id="{16098926-9EDA-9F30-BFD8-DFDDAF496B5B}"/>
              </a:ext>
            </a:extLst>
          </p:cNvPr>
          <p:cNvSpPr/>
          <p:nvPr/>
        </p:nvSpPr>
        <p:spPr>
          <a:xfrm>
            <a:off x="365760" y="73152"/>
            <a:ext cx="8412480" cy="411480"/>
          </a:xfrm>
          <a:prstGeom prst="rect">
            <a:avLst/>
          </a:prstGeom>
          <a:noFill/>
          <a:ln/>
        </p:spPr>
        <p:txBody>
          <a:bodyPr wrap="square" lIns="0" tIns="0" rIns="0" bIns="0" rtlCol="0" anchor="ctr"/>
          <a:lstStyle/>
          <a:p>
            <a:pPr marL="0" indent="0">
              <a:buNone/>
            </a:pPr>
            <a:r>
              <a:rPr lang="en-US" sz="2200" b="1" dirty="0">
                <a:solidFill>
                  <a:srgbClr val="57E3D8"/>
                </a:solidFill>
                <a:latin typeface="Calibri" pitchFamily="34" charset="0"/>
                <a:ea typeface="Calibri" pitchFamily="34" charset="-122"/>
                <a:cs typeface="Calibri" pitchFamily="34" charset="-120"/>
              </a:rPr>
              <a:t>PC vs. Mac</a:t>
            </a:r>
            <a:endParaRPr lang="en-US" sz="2200" dirty="0"/>
          </a:p>
        </p:txBody>
      </p:sp>
      <p:sp>
        <p:nvSpPr>
          <p:cNvPr id="5" name="Text 3">
            <a:extLst>
              <a:ext uri="{FF2B5EF4-FFF2-40B4-BE49-F238E27FC236}">
                <a16:creationId xmlns:a16="http://schemas.microsoft.com/office/drawing/2014/main" id="{E716D937-3C6D-88A6-7F45-F226E11D57EC}"/>
              </a:ext>
            </a:extLst>
          </p:cNvPr>
          <p:cNvSpPr/>
          <p:nvPr/>
        </p:nvSpPr>
        <p:spPr>
          <a:xfrm>
            <a:off x="365760" y="484632"/>
            <a:ext cx="8412480" cy="246888"/>
          </a:xfrm>
          <a:prstGeom prst="rect">
            <a:avLst/>
          </a:prstGeom>
          <a:noFill/>
          <a:ln/>
        </p:spPr>
        <p:txBody>
          <a:bodyPr wrap="square" lIns="0" tIns="0" rIns="0" bIns="0" rtlCol="0" anchor="t"/>
          <a:lstStyle/>
          <a:p>
            <a:pPr marL="0" indent="0">
              <a:buNone/>
            </a:pPr>
            <a:r>
              <a:rPr lang="en-US" sz="1100" i="1" dirty="0">
                <a:solidFill>
                  <a:srgbClr val="EDEDED"/>
                </a:solidFill>
                <a:latin typeface="Calibri" pitchFamily="34" charset="0"/>
                <a:ea typeface="Calibri" pitchFamily="34" charset="-122"/>
                <a:cs typeface="Calibri" pitchFamily="34" charset="-120"/>
              </a:rPr>
              <a:t>Two styles of personal computer — same job, different experience</a:t>
            </a:r>
            <a:endParaRPr lang="en-US" sz="1100" dirty="0"/>
          </a:p>
        </p:txBody>
      </p:sp>
      <p:sp>
        <p:nvSpPr>
          <p:cNvPr id="6" name="Shape 4">
            <a:extLst>
              <a:ext uri="{FF2B5EF4-FFF2-40B4-BE49-F238E27FC236}">
                <a16:creationId xmlns:a16="http://schemas.microsoft.com/office/drawing/2014/main" id="{575D64EF-ED1C-72CD-B931-D7593460A20B}"/>
              </a:ext>
            </a:extLst>
          </p:cNvPr>
          <p:cNvSpPr/>
          <p:nvPr/>
        </p:nvSpPr>
        <p:spPr>
          <a:xfrm>
            <a:off x="0" y="5070348"/>
            <a:ext cx="9144000" cy="73152"/>
          </a:xfrm>
          <a:prstGeom prst="rect">
            <a:avLst/>
          </a:prstGeom>
          <a:solidFill>
            <a:srgbClr val="4F29B7"/>
          </a:solidFill>
          <a:ln w="12700">
            <a:solidFill>
              <a:srgbClr val="4F29B7"/>
            </a:solidFill>
            <a:prstDash val="solid"/>
          </a:ln>
        </p:spPr>
        <p:txBody>
          <a:bodyPr/>
          <a:lstStyle/>
          <a:p>
            <a:endParaRPr lang="en-US"/>
          </a:p>
        </p:txBody>
      </p:sp>
      <p:sp>
        <p:nvSpPr>
          <p:cNvPr id="7" name="Shape 5">
            <a:extLst>
              <a:ext uri="{FF2B5EF4-FFF2-40B4-BE49-F238E27FC236}">
                <a16:creationId xmlns:a16="http://schemas.microsoft.com/office/drawing/2014/main" id="{7C653463-1142-179E-88BD-AFAF6F8C8637}"/>
              </a:ext>
            </a:extLst>
          </p:cNvPr>
          <p:cNvSpPr/>
          <p:nvPr/>
        </p:nvSpPr>
        <p:spPr>
          <a:xfrm>
            <a:off x="274320" y="822960"/>
            <a:ext cx="3886200" cy="4114800"/>
          </a:xfrm>
          <a:prstGeom prst="roundRect">
            <a:avLst>
              <a:gd name="adj" fmla="val 2824"/>
            </a:avLst>
          </a:prstGeom>
          <a:solidFill>
            <a:srgbClr val="1E0F40"/>
          </a:solidFill>
          <a:ln w="12700">
            <a:solidFill>
              <a:srgbClr val="4F29B7"/>
            </a:solidFill>
            <a:prstDash val="solid"/>
          </a:ln>
        </p:spPr>
        <p:txBody>
          <a:bodyPr/>
          <a:lstStyle/>
          <a:p>
            <a:endParaRPr lang="en-US"/>
          </a:p>
        </p:txBody>
      </p:sp>
      <p:sp>
        <p:nvSpPr>
          <p:cNvPr id="8" name="Text 6">
            <a:extLst>
              <a:ext uri="{FF2B5EF4-FFF2-40B4-BE49-F238E27FC236}">
                <a16:creationId xmlns:a16="http://schemas.microsoft.com/office/drawing/2014/main" id="{87C3DF9D-CF81-CFC2-24DE-26789DF7C566}"/>
              </a:ext>
            </a:extLst>
          </p:cNvPr>
          <p:cNvSpPr/>
          <p:nvPr/>
        </p:nvSpPr>
        <p:spPr>
          <a:xfrm>
            <a:off x="274320" y="822960"/>
            <a:ext cx="388620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PC</a:t>
            </a:r>
            <a:endParaRPr lang="en-US" sz="2000" dirty="0"/>
          </a:p>
        </p:txBody>
      </p:sp>
      <p:sp>
        <p:nvSpPr>
          <p:cNvPr id="9" name="Text 7">
            <a:extLst>
              <a:ext uri="{FF2B5EF4-FFF2-40B4-BE49-F238E27FC236}">
                <a16:creationId xmlns:a16="http://schemas.microsoft.com/office/drawing/2014/main" id="{8F6E38CC-3D4A-3E0B-2BE5-A1AFFE25B54B}"/>
              </a:ext>
            </a:extLst>
          </p:cNvPr>
          <p:cNvSpPr/>
          <p:nvPr/>
        </p:nvSpPr>
        <p:spPr>
          <a:xfrm>
            <a:off x="274320" y="1188720"/>
            <a:ext cx="3886200" cy="256032"/>
          </a:xfrm>
          <a:prstGeom prst="rect">
            <a:avLst/>
          </a:prstGeom>
          <a:noFill/>
          <a:ln/>
        </p:spPr>
        <p:txBody>
          <a:bodyPr wrap="square" rtlCol="0" anchor="ctr"/>
          <a:lstStyle/>
          <a:p>
            <a:pPr marL="0" indent="0" algn="ctr">
              <a:buNone/>
            </a:pPr>
            <a:r>
              <a:rPr lang="en-US" sz="1000" i="1" dirty="0">
                <a:solidFill>
                  <a:srgbClr val="A380FF"/>
                </a:solidFill>
                <a:latin typeface="Calibri" pitchFamily="34" charset="0"/>
                <a:ea typeface="Calibri" pitchFamily="34" charset="-122"/>
                <a:cs typeface="Calibri" pitchFamily="34" charset="-120"/>
              </a:rPr>
              <a:t>Personal Computer</a:t>
            </a:r>
            <a:endParaRPr lang="en-US" sz="1000" dirty="0"/>
          </a:p>
        </p:txBody>
      </p:sp>
      <p:sp>
        <p:nvSpPr>
          <p:cNvPr id="10" name="Shape 8">
            <a:extLst>
              <a:ext uri="{FF2B5EF4-FFF2-40B4-BE49-F238E27FC236}">
                <a16:creationId xmlns:a16="http://schemas.microsoft.com/office/drawing/2014/main" id="{F539B252-D602-88A8-A23E-D20791397C62}"/>
              </a:ext>
            </a:extLst>
          </p:cNvPr>
          <p:cNvSpPr/>
          <p:nvPr/>
        </p:nvSpPr>
        <p:spPr>
          <a:xfrm>
            <a:off x="457200" y="1536192"/>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11" name="Text 9">
            <a:extLst>
              <a:ext uri="{FF2B5EF4-FFF2-40B4-BE49-F238E27FC236}">
                <a16:creationId xmlns:a16="http://schemas.microsoft.com/office/drawing/2014/main" id="{6F22105E-A2B1-5DB5-D76C-63941344DE60}"/>
              </a:ext>
            </a:extLst>
          </p:cNvPr>
          <p:cNvSpPr/>
          <p:nvPr/>
        </p:nvSpPr>
        <p:spPr>
          <a:xfrm>
            <a:off x="502920" y="1536192"/>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OS:</a:t>
            </a:r>
            <a:endParaRPr lang="en-US" sz="800" dirty="0"/>
          </a:p>
        </p:txBody>
      </p:sp>
      <p:sp>
        <p:nvSpPr>
          <p:cNvPr id="12" name="Text 10">
            <a:extLst>
              <a:ext uri="{FF2B5EF4-FFF2-40B4-BE49-F238E27FC236}">
                <a16:creationId xmlns:a16="http://schemas.microsoft.com/office/drawing/2014/main" id="{DFF3E5FA-C8C4-1DB7-9D76-AF20B79D4766}"/>
              </a:ext>
            </a:extLst>
          </p:cNvPr>
          <p:cNvSpPr/>
          <p:nvPr/>
        </p:nvSpPr>
        <p:spPr>
          <a:xfrm>
            <a:off x="1325880" y="1536192"/>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Microsoft Windows</a:t>
            </a:r>
            <a:endParaRPr lang="en-US" sz="900" dirty="0"/>
          </a:p>
        </p:txBody>
      </p:sp>
      <p:sp>
        <p:nvSpPr>
          <p:cNvPr id="13" name="Shape 11">
            <a:extLst>
              <a:ext uri="{FF2B5EF4-FFF2-40B4-BE49-F238E27FC236}">
                <a16:creationId xmlns:a16="http://schemas.microsoft.com/office/drawing/2014/main" id="{251E9839-9550-A02D-B6AA-E0AF4A750EA8}"/>
              </a:ext>
            </a:extLst>
          </p:cNvPr>
          <p:cNvSpPr/>
          <p:nvPr/>
        </p:nvSpPr>
        <p:spPr>
          <a:xfrm>
            <a:off x="457200" y="2011680"/>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14" name="Text 12">
            <a:extLst>
              <a:ext uri="{FF2B5EF4-FFF2-40B4-BE49-F238E27FC236}">
                <a16:creationId xmlns:a16="http://schemas.microsoft.com/office/drawing/2014/main" id="{87599456-8900-62A4-86BE-14B5BFD4D0C7}"/>
              </a:ext>
            </a:extLst>
          </p:cNvPr>
          <p:cNvSpPr/>
          <p:nvPr/>
        </p:nvSpPr>
        <p:spPr>
          <a:xfrm>
            <a:off x="502920" y="2011680"/>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Made by:</a:t>
            </a:r>
            <a:endParaRPr lang="en-US" sz="800" dirty="0"/>
          </a:p>
        </p:txBody>
      </p:sp>
      <p:sp>
        <p:nvSpPr>
          <p:cNvPr id="15" name="Text 13">
            <a:extLst>
              <a:ext uri="{FF2B5EF4-FFF2-40B4-BE49-F238E27FC236}">
                <a16:creationId xmlns:a16="http://schemas.microsoft.com/office/drawing/2014/main" id="{0F359D1C-3746-BFAC-361A-B9CAFC55E886}"/>
              </a:ext>
            </a:extLst>
          </p:cNvPr>
          <p:cNvSpPr/>
          <p:nvPr/>
        </p:nvSpPr>
        <p:spPr>
          <a:xfrm>
            <a:off x="1325880" y="2011680"/>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Dell, HP, Lenovo, and more</a:t>
            </a:r>
            <a:endParaRPr lang="en-US" sz="900" dirty="0"/>
          </a:p>
        </p:txBody>
      </p:sp>
      <p:sp>
        <p:nvSpPr>
          <p:cNvPr id="16" name="Shape 14">
            <a:extLst>
              <a:ext uri="{FF2B5EF4-FFF2-40B4-BE49-F238E27FC236}">
                <a16:creationId xmlns:a16="http://schemas.microsoft.com/office/drawing/2014/main" id="{F71D1348-3AA5-3882-54A1-57A76FAC380D}"/>
              </a:ext>
            </a:extLst>
          </p:cNvPr>
          <p:cNvSpPr/>
          <p:nvPr/>
        </p:nvSpPr>
        <p:spPr>
          <a:xfrm>
            <a:off x="457200" y="2487168"/>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17" name="Text 15">
            <a:extLst>
              <a:ext uri="{FF2B5EF4-FFF2-40B4-BE49-F238E27FC236}">
                <a16:creationId xmlns:a16="http://schemas.microsoft.com/office/drawing/2014/main" id="{CF8A9D77-12E4-A989-944B-42A32BEC703B}"/>
              </a:ext>
            </a:extLst>
          </p:cNvPr>
          <p:cNvSpPr/>
          <p:nvPr/>
        </p:nvSpPr>
        <p:spPr>
          <a:xfrm>
            <a:off x="502920" y="2487168"/>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Software:</a:t>
            </a:r>
            <a:endParaRPr lang="en-US" sz="800" dirty="0"/>
          </a:p>
        </p:txBody>
      </p:sp>
      <p:sp>
        <p:nvSpPr>
          <p:cNvPr id="18" name="Text 16">
            <a:extLst>
              <a:ext uri="{FF2B5EF4-FFF2-40B4-BE49-F238E27FC236}">
                <a16:creationId xmlns:a16="http://schemas.microsoft.com/office/drawing/2014/main" id="{6AF3EE4B-F711-A440-7FC2-F5F1CC31B724}"/>
              </a:ext>
            </a:extLst>
          </p:cNvPr>
          <p:cNvSpPr/>
          <p:nvPr/>
        </p:nvSpPr>
        <p:spPr>
          <a:xfrm>
            <a:off x="1325880" y="2487168"/>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Widest library — games, business</a:t>
            </a:r>
            <a:endParaRPr lang="en-US" sz="900" dirty="0"/>
          </a:p>
        </p:txBody>
      </p:sp>
      <p:sp>
        <p:nvSpPr>
          <p:cNvPr id="19" name="Shape 17">
            <a:extLst>
              <a:ext uri="{FF2B5EF4-FFF2-40B4-BE49-F238E27FC236}">
                <a16:creationId xmlns:a16="http://schemas.microsoft.com/office/drawing/2014/main" id="{596A5860-F2B4-C8FE-B166-FD5219F46DE7}"/>
              </a:ext>
            </a:extLst>
          </p:cNvPr>
          <p:cNvSpPr/>
          <p:nvPr/>
        </p:nvSpPr>
        <p:spPr>
          <a:xfrm>
            <a:off x="457200" y="2962656"/>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20" name="Text 18">
            <a:extLst>
              <a:ext uri="{FF2B5EF4-FFF2-40B4-BE49-F238E27FC236}">
                <a16:creationId xmlns:a16="http://schemas.microsoft.com/office/drawing/2014/main" id="{A81CB853-7AB7-49EC-8C36-43EFC3EE9829}"/>
              </a:ext>
            </a:extLst>
          </p:cNvPr>
          <p:cNvSpPr/>
          <p:nvPr/>
        </p:nvSpPr>
        <p:spPr>
          <a:xfrm>
            <a:off x="502920" y="2962656"/>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Hardware:</a:t>
            </a:r>
            <a:endParaRPr lang="en-US" sz="800" dirty="0"/>
          </a:p>
        </p:txBody>
      </p:sp>
      <p:sp>
        <p:nvSpPr>
          <p:cNvPr id="21" name="Text 19">
            <a:extLst>
              <a:ext uri="{FF2B5EF4-FFF2-40B4-BE49-F238E27FC236}">
                <a16:creationId xmlns:a16="http://schemas.microsoft.com/office/drawing/2014/main" id="{01F475CF-1041-BAFD-6AA4-A1D372E0B2C7}"/>
              </a:ext>
            </a:extLst>
          </p:cNvPr>
          <p:cNvSpPr/>
          <p:nvPr/>
        </p:nvSpPr>
        <p:spPr>
          <a:xfrm>
            <a:off x="1325880" y="2962656"/>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Highly upgradeable &amp; customizable</a:t>
            </a:r>
            <a:endParaRPr lang="en-US" sz="900" dirty="0"/>
          </a:p>
        </p:txBody>
      </p:sp>
      <p:sp>
        <p:nvSpPr>
          <p:cNvPr id="22" name="Shape 20">
            <a:extLst>
              <a:ext uri="{FF2B5EF4-FFF2-40B4-BE49-F238E27FC236}">
                <a16:creationId xmlns:a16="http://schemas.microsoft.com/office/drawing/2014/main" id="{03F49C8D-AD9E-60C1-F1AA-48F0627BF1EF}"/>
              </a:ext>
            </a:extLst>
          </p:cNvPr>
          <p:cNvSpPr/>
          <p:nvPr/>
        </p:nvSpPr>
        <p:spPr>
          <a:xfrm>
            <a:off x="457200" y="3438144"/>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23" name="Text 21">
            <a:extLst>
              <a:ext uri="{FF2B5EF4-FFF2-40B4-BE49-F238E27FC236}">
                <a16:creationId xmlns:a16="http://schemas.microsoft.com/office/drawing/2014/main" id="{82834748-8E04-C1D1-F4AC-BB51AD8FF547}"/>
              </a:ext>
            </a:extLst>
          </p:cNvPr>
          <p:cNvSpPr/>
          <p:nvPr/>
        </p:nvSpPr>
        <p:spPr>
          <a:xfrm>
            <a:off x="502920" y="3438144"/>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First sold:</a:t>
            </a:r>
            <a:endParaRPr lang="en-US" sz="800" dirty="0"/>
          </a:p>
        </p:txBody>
      </p:sp>
      <p:sp>
        <p:nvSpPr>
          <p:cNvPr id="24" name="Text 22">
            <a:extLst>
              <a:ext uri="{FF2B5EF4-FFF2-40B4-BE49-F238E27FC236}">
                <a16:creationId xmlns:a16="http://schemas.microsoft.com/office/drawing/2014/main" id="{2595A1BA-789B-D1C6-BA77-FFA46E209E26}"/>
              </a:ext>
            </a:extLst>
          </p:cNvPr>
          <p:cNvSpPr/>
          <p:nvPr/>
        </p:nvSpPr>
        <p:spPr>
          <a:xfrm>
            <a:off x="1325880" y="3438144"/>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1981 — IBM PC was the pioneer</a:t>
            </a:r>
            <a:endParaRPr lang="en-US" sz="900" dirty="0"/>
          </a:p>
        </p:txBody>
      </p:sp>
      <p:sp>
        <p:nvSpPr>
          <p:cNvPr id="25" name="Shape 23">
            <a:extLst>
              <a:ext uri="{FF2B5EF4-FFF2-40B4-BE49-F238E27FC236}">
                <a16:creationId xmlns:a16="http://schemas.microsoft.com/office/drawing/2014/main" id="{0CA1FABC-481F-2EA3-FA26-2D0379687B51}"/>
              </a:ext>
            </a:extLst>
          </p:cNvPr>
          <p:cNvSpPr/>
          <p:nvPr/>
        </p:nvSpPr>
        <p:spPr>
          <a:xfrm>
            <a:off x="457200" y="3913632"/>
            <a:ext cx="3520440" cy="402336"/>
          </a:xfrm>
          <a:prstGeom prst="roundRect">
            <a:avLst>
              <a:gd name="adj" fmla="val 13636"/>
            </a:avLst>
          </a:prstGeom>
          <a:solidFill>
            <a:srgbClr val="2D1A5E"/>
          </a:solidFill>
          <a:ln w="6350">
            <a:solidFill>
              <a:srgbClr val="3A2A70"/>
            </a:solidFill>
            <a:prstDash val="solid"/>
          </a:ln>
        </p:spPr>
        <p:txBody>
          <a:bodyPr/>
          <a:lstStyle/>
          <a:p>
            <a:endParaRPr lang="en-US"/>
          </a:p>
        </p:txBody>
      </p:sp>
      <p:sp>
        <p:nvSpPr>
          <p:cNvPr id="26" name="Text 24">
            <a:extLst>
              <a:ext uri="{FF2B5EF4-FFF2-40B4-BE49-F238E27FC236}">
                <a16:creationId xmlns:a16="http://schemas.microsoft.com/office/drawing/2014/main" id="{513F6708-4696-FCC6-0F1F-74D3C8F7F1BF}"/>
              </a:ext>
            </a:extLst>
          </p:cNvPr>
          <p:cNvSpPr/>
          <p:nvPr/>
        </p:nvSpPr>
        <p:spPr>
          <a:xfrm>
            <a:off x="502920" y="3913632"/>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Price:</a:t>
            </a:r>
            <a:endParaRPr lang="en-US" sz="800" dirty="0"/>
          </a:p>
        </p:txBody>
      </p:sp>
      <p:sp>
        <p:nvSpPr>
          <p:cNvPr id="27" name="Text 25">
            <a:extLst>
              <a:ext uri="{FF2B5EF4-FFF2-40B4-BE49-F238E27FC236}">
                <a16:creationId xmlns:a16="http://schemas.microsoft.com/office/drawing/2014/main" id="{CB8CF467-F7B2-6C94-9752-D91C4E5AD506}"/>
              </a:ext>
            </a:extLst>
          </p:cNvPr>
          <p:cNvSpPr/>
          <p:nvPr/>
        </p:nvSpPr>
        <p:spPr>
          <a:xfrm>
            <a:off x="1325880" y="3913632"/>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Budget to high-end range</a:t>
            </a:r>
            <a:endParaRPr lang="en-US" sz="900" dirty="0"/>
          </a:p>
        </p:txBody>
      </p:sp>
      <p:sp>
        <p:nvSpPr>
          <p:cNvPr id="28" name="Shape 26">
            <a:extLst>
              <a:ext uri="{FF2B5EF4-FFF2-40B4-BE49-F238E27FC236}">
                <a16:creationId xmlns:a16="http://schemas.microsoft.com/office/drawing/2014/main" id="{28D0995B-6653-F79C-9F46-E12B88A13D38}"/>
              </a:ext>
            </a:extLst>
          </p:cNvPr>
          <p:cNvSpPr/>
          <p:nvPr/>
        </p:nvSpPr>
        <p:spPr>
          <a:xfrm>
            <a:off x="4416552" y="843534"/>
            <a:ext cx="310896" cy="4114800"/>
          </a:xfrm>
          <a:prstGeom prst="rect">
            <a:avLst/>
          </a:prstGeom>
          <a:solidFill>
            <a:srgbClr val="4F29B7"/>
          </a:solidFill>
          <a:ln w="12700">
            <a:solidFill>
              <a:srgbClr val="4F29B7"/>
            </a:solidFill>
            <a:prstDash val="solid"/>
          </a:ln>
        </p:spPr>
        <p:txBody>
          <a:bodyPr/>
          <a:lstStyle/>
          <a:p>
            <a:endParaRPr lang="en-US"/>
          </a:p>
        </p:txBody>
      </p:sp>
      <p:sp>
        <p:nvSpPr>
          <p:cNvPr id="29" name="Text 27">
            <a:extLst>
              <a:ext uri="{FF2B5EF4-FFF2-40B4-BE49-F238E27FC236}">
                <a16:creationId xmlns:a16="http://schemas.microsoft.com/office/drawing/2014/main" id="{8FEE9ABE-4588-73AD-31E1-FC833708A9CC}"/>
              </a:ext>
            </a:extLst>
          </p:cNvPr>
          <p:cNvSpPr/>
          <p:nvPr/>
        </p:nvSpPr>
        <p:spPr>
          <a:xfrm>
            <a:off x="4306824" y="2718054"/>
            <a:ext cx="530352" cy="365760"/>
          </a:xfrm>
          <a:prstGeom prst="rect">
            <a:avLst/>
          </a:prstGeom>
          <a:noFill/>
          <a:ln/>
        </p:spPr>
        <p:txBody>
          <a:bodyPr wrap="square" rtlCol="0" anchor="ctr"/>
          <a:lstStyle/>
          <a:p>
            <a:pPr marL="0" indent="0" algn="ctr">
              <a:buNone/>
            </a:pPr>
            <a:r>
              <a:rPr lang="en-US" sz="1300" b="1" dirty="0">
                <a:solidFill>
                  <a:srgbClr val="EDEDED"/>
                </a:solidFill>
                <a:latin typeface="Calibri" pitchFamily="34" charset="0"/>
                <a:ea typeface="Calibri" pitchFamily="34" charset="-122"/>
                <a:cs typeface="Calibri" pitchFamily="34" charset="-120"/>
              </a:rPr>
              <a:t>vs</a:t>
            </a:r>
            <a:endParaRPr lang="en-US" sz="1300" dirty="0"/>
          </a:p>
        </p:txBody>
      </p:sp>
      <p:sp>
        <p:nvSpPr>
          <p:cNvPr id="30" name="Shape 28">
            <a:extLst>
              <a:ext uri="{FF2B5EF4-FFF2-40B4-BE49-F238E27FC236}">
                <a16:creationId xmlns:a16="http://schemas.microsoft.com/office/drawing/2014/main" id="{AEE34ACF-5233-297C-7290-F82D7391F43A}"/>
              </a:ext>
            </a:extLst>
          </p:cNvPr>
          <p:cNvSpPr/>
          <p:nvPr/>
        </p:nvSpPr>
        <p:spPr>
          <a:xfrm>
            <a:off x="4983480" y="822960"/>
            <a:ext cx="3886200" cy="4114800"/>
          </a:xfrm>
          <a:prstGeom prst="roundRect">
            <a:avLst>
              <a:gd name="adj" fmla="val 2824"/>
            </a:avLst>
          </a:prstGeom>
          <a:solidFill>
            <a:srgbClr val="0D2020"/>
          </a:solidFill>
          <a:ln w="12700">
            <a:solidFill>
              <a:srgbClr val="57E3D8"/>
            </a:solidFill>
            <a:prstDash val="solid"/>
          </a:ln>
        </p:spPr>
        <p:txBody>
          <a:bodyPr/>
          <a:lstStyle/>
          <a:p>
            <a:endParaRPr lang="en-US"/>
          </a:p>
        </p:txBody>
      </p:sp>
      <p:sp>
        <p:nvSpPr>
          <p:cNvPr id="31" name="Text 29">
            <a:extLst>
              <a:ext uri="{FF2B5EF4-FFF2-40B4-BE49-F238E27FC236}">
                <a16:creationId xmlns:a16="http://schemas.microsoft.com/office/drawing/2014/main" id="{F2EF1F1A-21A0-05F7-0DAD-248D9EFC403C}"/>
              </a:ext>
            </a:extLst>
          </p:cNvPr>
          <p:cNvSpPr/>
          <p:nvPr/>
        </p:nvSpPr>
        <p:spPr>
          <a:xfrm>
            <a:off x="4983480" y="822960"/>
            <a:ext cx="388620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Mac</a:t>
            </a:r>
            <a:endParaRPr lang="en-US" sz="2000" dirty="0"/>
          </a:p>
        </p:txBody>
      </p:sp>
      <p:sp>
        <p:nvSpPr>
          <p:cNvPr id="32" name="Text 30">
            <a:extLst>
              <a:ext uri="{FF2B5EF4-FFF2-40B4-BE49-F238E27FC236}">
                <a16:creationId xmlns:a16="http://schemas.microsoft.com/office/drawing/2014/main" id="{46E4A81B-148B-8CD9-9160-86527E3CF4B9}"/>
              </a:ext>
            </a:extLst>
          </p:cNvPr>
          <p:cNvSpPr/>
          <p:nvPr/>
        </p:nvSpPr>
        <p:spPr>
          <a:xfrm>
            <a:off x="4983480" y="1188720"/>
            <a:ext cx="3886200" cy="256032"/>
          </a:xfrm>
          <a:prstGeom prst="rect">
            <a:avLst/>
          </a:prstGeom>
          <a:noFill/>
          <a:ln/>
        </p:spPr>
        <p:txBody>
          <a:bodyPr wrap="square" rtlCol="0" anchor="ctr"/>
          <a:lstStyle/>
          <a:p>
            <a:pPr marL="0" indent="0" algn="ctr">
              <a:buNone/>
            </a:pPr>
            <a:r>
              <a:rPr lang="en-US" sz="1000" i="1" dirty="0">
                <a:solidFill>
                  <a:srgbClr val="57E3D8"/>
                </a:solidFill>
                <a:latin typeface="Calibri" pitchFamily="34" charset="0"/>
                <a:ea typeface="Calibri" pitchFamily="34" charset="-122"/>
                <a:cs typeface="Calibri" pitchFamily="34" charset="-120"/>
              </a:rPr>
              <a:t>Macintosh — by Apple</a:t>
            </a:r>
            <a:endParaRPr lang="en-US" sz="1000" dirty="0"/>
          </a:p>
        </p:txBody>
      </p:sp>
      <p:sp>
        <p:nvSpPr>
          <p:cNvPr id="33" name="Shape 31">
            <a:extLst>
              <a:ext uri="{FF2B5EF4-FFF2-40B4-BE49-F238E27FC236}">
                <a16:creationId xmlns:a16="http://schemas.microsoft.com/office/drawing/2014/main" id="{2AA6F638-5CE6-FF35-A36A-357ACBC7A5EE}"/>
              </a:ext>
            </a:extLst>
          </p:cNvPr>
          <p:cNvSpPr/>
          <p:nvPr/>
        </p:nvSpPr>
        <p:spPr>
          <a:xfrm>
            <a:off x="5166360" y="1536192"/>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34" name="Text 32">
            <a:extLst>
              <a:ext uri="{FF2B5EF4-FFF2-40B4-BE49-F238E27FC236}">
                <a16:creationId xmlns:a16="http://schemas.microsoft.com/office/drawing/2014/main" id="{40D20E3D-237B-9D65-0005-F1470DFDA85F}"/>
              </a:ext>
            </a:extLst>
          </p:cNvPr>
          <p:cNvSpPr/>
          <p:nvPr/>
        </p:nvSpPr>
        <p:spPr>
          <a:xfrm>
            <a:off x="5212080" y="1536192"/>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OS:</a:t>
            </a:r>
            <a:endParaRPr lang="en-US" sz="800" dirty="0"/>
          </a:p>
        </p:txBody>
      </p:sp>
      <p:sp>
        <p:nvSpPr>
          <p:cNvPr id="35" name="Text 33">
            <a:extLst>
              <a:ext uri="{FF2B5EF4-FFF2-40B4-BE49-F238E27FC236}">
                <a16:creationId xmlns:a16="http://schemas.microsoft.com/office/drawing/2014/main" id="{254710F6-A3D0-2BDA-1EDF-0B27D0168981}"/>
              </a:ext>
            </a:extLst>
          </p:cNvPr>
          <p:cNvSpPr/>
          <p:nvPr/>
        </p:nvSpPr>
        <p:spPr>
          <a:xfrm>
            <a:off x="6035040" y="1536192"/>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macOS — Apple's own system</a:t>
            </a:r>
            <a:endParaRPr lang="en-US" sz="900" dirty="0"/>
          </a:p>
        </p:txBody>
      </p:sp>
      <p:sp>
        <p:nvSpPr>
          <p:cNvPr id="36" name="Shape 34">
            <a:extLst>
              <a:ext uri="{FF2B5EF4-FFF2-40B4-BE49-F238E27FC236}">
                <a16:creationId xmlns:a16="http://schemas.microsoft.com/office/drawing/2014/main" id="{276EF63A-0F9F-9871-090D-42662C083648}"/>
              </a:ext>
            </a:extLst>
          </p:cNvPr>
          <p:cNvSpPr/>
          <p:nvPr/>
        </p:nvSpPr>
        <p:spPr>
          <a:xfrm>
            <a:off x="5166360" y="2011680"/>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37" name="Text 35">
            <a:extLst>
              <a:ext uri="{FF2B5EF4-FFF2-40B4-BE49-F238E27FC236}">
                <a16:creationId xmlns:a16="http://schemas.microsoft.com/office/drawing/2014/main" id="{50710570-BD97-07DD-973A-6E0879828529}"/>
              </a:ext>
            </a:extLst>
          </p:cNvPr>
          <p:cNvSpPr/>
          <p:nvPr/>
        </p:nvSpPr>
        <p:spPr>
          <a:xfrm>
            <a:off x="5212080" y="2011680"/>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Made by:</a:t>
            </a:r>
            <a:endParaRPr lang="en-US" sz="800" dirty="0"/>
          </a:p>
        </p:txBody>
      </p:sp>
      <p:sp>
        <p:nvSpPr>
          <p:cNvPr id="38" name="Text 36">
            <a:extLst>
              <a:ext uri="{FF2B5EF4-FFF2-40B4-BE49-F238E27FC236}">
                <a16:creationId xmlns:a16="http://schemas.microsoft.com/office/drawing/2014/main" id="{325466D3-0145-6B0D-2552-02E73F82500A}"/>
              </a:ext>
            </a:extLst>
          </p:cNvPr>
          <p:cNvSpPr/>
          <p:nvPr/>
        </p:nvSpPr>
        <p:spPr>
          <a:xfrm>
            <a:off x="6035040" y="2011680"/>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Apple Inc. exclusively</a:t>
            </a:r>
            <a:endParaRPr lang="en-US" sz="900" dirty="0"/>
          </a:p>
        </p:txBody>
      </p:sp>
      <p:sp>
        <p:nvSpPr>
          <p:cNvPr id="39" name="Shape 37">
            <a:extLst>
              <a:ext uri="{FF2B5EF4-FFF2-40B4-BE49-F238E27FC236}">
                <a16:creationId xmlns:a16="http://schemas.microsoft.com/office/drawing/2014/main" id="{6942382F-E7A3-C1F2-B83D-D6FA86B546E1}"/>
              </a:ext>
            </a:extLst>
          </p:cNvPr>
          <p:cNvSpPr/>
          <p:nvPr/>
        </p:nvSpPr>
        <p:spPr>
          <a:xfrm>
            <a:off x="5166360" y="2487168"/>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40" name="Text 38">
            <a:extLst>
              <a:ext uri="{FF2B5EF4-FFF2-40B4-BE49-F238E27FC236}">
                <a16:creationId xmlns:a16="http://schemas.microsoft.com/office/drawing/2014/main" id="{E5CD63DE-A2FD-FE4E-8F62-CFED0F0E9EA7}"/>
              </a:ext>
            </a:extLst>
          </p:cNvPr>
          <p:cNvSpPr/>
          <p:nvPr/>
        </p:nvSpPr>
        <p:spPr>
          <a:xfrm>
            <a:off x="5212080" y="2487168"/>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Software:</a:t>
            </a:r>
            <a:endParaRPr lang="en-US" sz="800" dirty="0"/>
          </a:p>
        </p:txBody>
      </p:sp>
      <p:sp>
        <p:nvSpPr>
          <p:cNvPr id="41" name="Text 39">
            <a:extLst>
              <a:ext uri="{FF2B5EF4-FFF2-40B4-BE49-F238E27FC236}">
                <a16:creationId xmlns:a16="http://schemas.microsoft.com/office/drawing/2014/main" id="{3B5504F8-686E-BA78-2DB4-23833D5191B0}"/>
              </a:ext>
            </a:extLst>
          </p:cNvPr>
          <p:cNvSpPr/>
          <p:nvPr/>
        </p:nvSpPr>
        <p:spPr>
          <a:xfrm>
            <a:off x="6035040" y="2487168"/>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Apple ecosystem — iCloud, iPhone sync</a:t>
            </a:r>
            <a:endParaRPr lang="en-US" sz="900" dirty="0"/>
          </a:p>
        </p:txBody>
      </p:sp>
      <p:sp>
        <p:nvSpPr>
          <p:cNvPr id="42" name="Shape 40">
            <a:extLst>
              <a:ext uri="{FF2B5EF4-FFF2-40B4-BE49-F238E27FC236}">
                <a16:creationId xmlns:a16="http://schemas.microsoft.com/office/drawing/2014/main" id="{B4BD8040-DFF5-8EB7-EFFC-2EDD0AA4C308}"/>
              </a:ext>
            </a:extLst>
          </p:cNvPr>
          <p:cNvSpPr/>
          <p:nvPr/>
        </p:nvSpPr>
        <p:spPr>
          <a:xfrm>
            <a:off x="5166360" y="2962656"/>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43" name="Text 41">
            <a:extLst>
              <a:ext uri="{FF2B5EF4-FFF2-40B4-BE49-F238E27FC236}">
                <a16:creationId xmlns:a16="http://schemas.microsoft.com/office/drawing/2014/main" id="{3C3B4DAE-E3CC-8255-554E-4C338D6C2133}"/>
              </a:ext>
            </a:extLst>
          </p:cNvPr>
          <p:cNvSpPr/>
          <p:nvPr/>
        </p:nvSpPr>
        <p:spPr>
          <a:xfrm>
            <a:off x="5212080" y="2962656"/>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Hardware:</a:t>
            </a:r>
            <a:endParaRPr lang="en-US" sz="800" dirty="0"/>
          </a:p>
        </p:txBody>
      </p:sp>
      <p:sp>
        <p:nvSpPr>
          <p:cNvPr id="44" name="Text 42">
            <a:extLst>
              <a:ext uri="{FF2B5EF4-FFF2-40B4-BE49-F238E27FC236}">
                <a16:creationId xmlns:a16="http://schemas.microsoft.com/office/drawing/2014/main" id="{0EA8348F-EAC9-B6A1-A0A9-981B05749E1E}"/>
              </a:ext>
            </a:extLst>
          </p:cNvPr>
          <p:cNvSpPr/>
          <p:nvPr/>
        </p:nvSpPr>
        <p:spPr>
          <a:xfrm>
            <a:off x="6035040" y="2962656"/>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Fixed config, less upgradeable</a:t>
            </a:r>
            <a:endParaRPr lang="en-US" sz="900" dirty="0"/>
          </a:p>
        </p:txBody>
      </p:sp>
      <p:sp>
        <p:nvSpPr>
          <p:cNvPr id="45" name="Shape 43">
            <a:extLst>
              <a:ext uri="{FF2B5EF4-FFF2-40B4-BE49-F238E27FC236}">
                <a16:creationId xmlns:a16="http://schemas.microsoft.com/office/drawing/2014/main" id="{AF19D472-79B4-7EAD-A3A0-DB3C2232CDB5}"/>
              </a:ext>
            </a:extLst>
          </p:cNvPr>
          <p:cNvSpPr/>
          <p:nvPr/>
        </p:nvSpPr>
        <p:spPr>
          <a:xfrm>
            <a:off x="5166360" y="3438144"/>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46" name="Text 44">
            <a:extLst>
              <a:ext uri="{FF2B5EF4-FFF2-40B4-BE49-F238E27FC236}">
                <a16:creationId xmlns:a16="http://schemas.microsoft.com/office/drawing/2014/main" id="{AE5764AD-FEB5-7C1D-EED5-D76C266FC016}"/>
              </a:ext>
            </a:extLst>
          </p:cNvPr>
          <p:cNvSpPr/>
          <p:nvPr/>
        </p:nvSpPr>
        <p:spPr>
          <a:xfrm>
            <a:off x="5212080" y="3438144"/>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First sold:</a:t>
            </a:r>
            <a:endParaRPr lang="en-US" sz="800" dirty="0"/>
          </a:p>
        </p:txBody>
      </p:sp>
      <p:sp>
        <p:nvSpPr>
          <p:cNvPr id="47" name="Text 45">
            <a:extLst>
              <a:ext uri="{FF2B5EF4-FFF2-40B4-BE49-F238E27FC236}">
                <a16:creationId xmlns:a16="http://schemas.microsoft.com/office/drawing/2014/main" id="{C71AEF8E-A22F-ADC6-B183-DCD242EA877B}"/>
              </a:ext>
            </a:extLst>
          </p:cNvPr>
          <p:cNvSpPr/>
          <p:nvPr/>
        </p:nvSpPr>
        <p:spPr>
          <a:xfrm>
            <a:off x="6035040" y="3438144"/>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1984 — first GUI computer for consumers</a:t>
            </a:r>
            <a:endParaRPr lang="en-US" sz="900" dirty="0"/>
          </a:p>
        </p:txBody>
      </p:sp>
      <p:sp>
        <p:nvSpPr>
          <p:cNvPr id="48" name="Shape 46">
            <a:extLst>
              <a:ext uri="{FF2B5EF4-FFF2-40B4-BE49-F238E27FC236}">
                <a16:creationId xmlns:a16="http://schemas.microsoft.com/office/drawing/2014/main" id="{42600777-6D46-7631-F808-A9562ACAB92E}"/>
              </a:ext>
            </a:extLst>
          </p:cNvPr>
          <p:cNvSpPr/>
          <p:nvPr/>
        </p:nvSpPr>
        <p:spPr>
          <a:xfrm>
            <a:off x="5166360" y="3913632"/>
            <a:ext cx="3520440" cy="402336"/>
          </a:xfrm>
          <a:prstGeom prst="roundRect">
            <a:avLst>
              <a:gd name="adj" fmla="val 13636"/>
            </a:avLst>
          </a:prstGeom>
          <a:solidFill>
            <a:srgbClr val="0F2E2E"/>
          </a:solidFill>
          <a:ln w="6350">
            <a:solidFill>
              <a:srgbClr val="1A3E3E"/>
            </a:solidFill>
            <a:prstDash val="solid"/>
          </a:ln>
        </p:spPr>
        <p:txBody>
          <a:bodyPr/>
          <a:lstStyle/>
          <a:p>
            <a:endParaRPr lang="en-US"/>
          </a:p>
        </p:txBody>
      </p:sp>
      <p:sp>
        <p:nvSpPr>
          <p:cNvPr id="49" name="Text 47">
            <a:extLst>
              <a:ext uri="{FF2B5EF4-FFF2-40B4-BE49-F238E27FC236}">
                <a16:creationId xmlns:a16="http://schemas.microsoft.com/office/drawing/2014/main" id="{519DB8C3-055F-459B-82F6-A024731C65B5}"/>
              </a:ext>
            </a:extLst>
          </p:cNvPr>
          <p:cNvSpPr/>
          <p:nvPr/>
        </p:nvSpPr>
        <p:spPr>
          <a:xfrm>
            <a:off x="5212080" y="3913632"/>
            <a:ext cx="822960" cy="402336"/>
          </a:xfrm>
          <a:prstGeom prst="rect">
            <a:avLst/>
          </a:prstGeom>
          <a:noFill/>
          <a:ln/>
        </p:spPr>
        <p:txBody>
          <a:bodyPr wrap="square"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Price:</a:t>
            </a:r>
            <a:endParaRPr lang="en-US" sz="800" dirty="0"/>
          </a:p>
        </p:txBody>
      </p:sp>
      <p:sp>
        <p:nvSpPr>
          <p:cNvPr id="50" name="Text 48">
            <a:extLst>
              <a:ext uri="{FF2B5EF4-FFF2-40B4-BE49-F238E27FC236}">
                <a16:creationId xmlns:a16="http://schemas.microsoft.com/office/drawing/2014/main" id="{3D362DF0-8C20-2710-479A-BDFA915F4002}"/>
              </a:ext>
            </a:extLst>
          </p:cNvPr>
          <p:cNvSpPr/>
          <p:nvPr/>
        </p:nvSpPr>
        <p:spPr>
          <a:xfrm>
            <a:off x="6035040" y="3913632"/>
            <a:ext cx="2560320" cy="402336"/>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Premium pricing, higher entry cost</a:t>
            </a:r>
            <a:endParaRPr lang="en-US" sz="900" dirty="0"/>
          </a:p>
        </p:txBody>
      </p:sp>
    </p:spTree>
    <p:extLst>
      <p:ext uri="{BB962C8B-B14F-4D97-AF65-F5344CB8AC3E}">
        <p14:creationId xmlns:p14="http://schemas.microsoft.com/office/powerpoint/2010/main" val="8828588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a:extLst>
            <a:ext uri="{FF2B5EF4-FFF2-40B4-BE49-F238E27FC236}">
              <a16:creationId xmlns:a16="http://schemas.microsoft.com/office/drawing/2014/main" id="{51DE5212-F9CA-2859-B405-F890E77931D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D025DDA-04FF-DF10-65F1-C6611CFB6CEB}"/>
              </a:ext>
            </a:extLst>
          </p:cNvPr>
          <p:cNvSpPr/>
          <p:nvPr/>
        </p:nvSpPr>
        <p:spPr>
          <a:xfrm>
            <a:off x="0" y="0"/>
            <a:ext cx="9144000" cy="73152"/>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7A4DAD0C-82E4-4568-0004-8026539F4944}"/>
              </a:ext>
            </a:extLst>
          </p:cNvPr>
          <p:cNvSpPr/>
          <p:nvPr/>
        </p:nvSpPr>
        <p:spPr>
          <a:xfrm>
            <a:off x="0" y="73152"/>
            <a:ext cx="9144000" cy="658368"/>
          </a:xfrm>
          <a:prstGeom prst="rect">
            <a:avLst/>
          </a:prstGeom>
          <a:solidFill>
            <a:srgbClr val="262626"/>
          </a:solidFill>
          <a:ln w="12700">
            <a:solidFill>
              <a:srgbClr val="262626"/>
            </a:solidFill>
            <a:prstDash val="solid"/>
          </a:ln>
        </p:spPr>
        <p:txBody>
          <a:bodyPr/>
          <a:lstStyle/>
          <a:p>
            <a:endParaRPr lang="en-US"/>
          </a:p>
        </p:txBody>
      </p:sp>
      <p:sp>
        <p:nvSpPr>
          <p:cNvPr id="4" name="Text 2">
            <a:extLst>
              <a:ext uri="{FF2B5EF4-FFF2-40B4-BE49-F238E27FC236}">
                <a16:creationId xmlns:a16="http://schemas.microsoft.com/office/drawing/2014/main" id="{340298B6-DDCA-C62C-5C4F-BB3DF17CB911}"/>
              </a:ext>
            </a:extLst>
          </p:cNvPr>
          <p:cNvSpPr/>
          <p:nvPr/>
        </p:nvSpPr>
        <p:spPr>
          <a:xfrm>
            <a:off x="365760" y="73152"/>
            <a:ext cx="8412480" cy="411480"/>
          </a:xfrm>
          <a:prstGeom prst="rect">
            <a:avLst/>
          </a:prstGeom>
          <a:noFill/>
          <a:ln/>
        </p:spPr>
        <p:txBody>
          <a:bodyPr wrap="square" lIns="0" tIns="0" rIns="0" bIns="0" rtlCol="0" anchor="ctr"/>
          <a:lstStyle/>
          <a:p>
            <a:pPr marL="0" indent="0">
              <a:buNone/>
            </a:pPr>
            <a:r>
              <a:rPr lang="en-US" sz="2200" b="1" dirty="0">
                <a:solidFill>
                  <a:srgbClr val="57E3D8"/>
                </a:solidFill>
                <a:latin typeface="Calibri" pitchFamily="34" charset="0"/>
                <a:ea typeface="Calibri" pitchFamily="34" charset="-122"/>
                <a:cs typeface="Calibri" pitchFamily="34" charset="-120"/>
              </a:rPr>
              <a:t>Inside the computer case</a:t>
            </a:r>
            <a:endParaRPr lang="en-US" sz="2200" dirty="0"/>
          </a:p>
        </p:txBody>
      </p:sp>
      <p:sp>
        <p:nvSpPr>
          <p:cNvPr id="5" name="Text 3">
            <a:extLst>
              <a:ext uri="{FF2B5EF4-FFF2-40B4-BE49-F238E27FC236}">
                <a16:creationId xmlns:a16="http://schemas.microsoft.com/office/drawing/2014/main" id="{76BA9BE7-1CBC-FD66-E581-73A77B65F9E1}"/>
              </a:ext>
            </a:extLst>
          </p:cNvPr>
          <p:cNvSpPr/>
          <p:nvPr/>
        </p:nvSpPr>
        <p:spPr>
          <a:xfrm>
            <a:off x="365760" y="484632"/>
            <a:ext cx="8412480" cy="246888"/>
          </a:xfrm>
          <a:prstGeom prst="rect">
            <a:avLst/>
          </a:prstGeom>
          <a:noFill/>
          <a:ln/>
        </p:spPr>
        <p:txBody>
          <a:bodyPr wrap="square" lIns="0" tIns="0" rIns="0" bIns="0" rtlCol="0" anchor="t"/>
          <a:lstStyle/>
          <a:p>
            <a:pPr marL="0" indent="0">
              <a:buNone/>
            </a:pPr>
            <a:r>
              <a:rPr lang="en-US" sz="1100" i="1" dirty="0">
                <a:solidFill>
                  <a:srgbClr val="EDEDED"/>
                </a:solidFill>
                <a:latin typeface="Calibri" pitchFamily="34" charset="0"/>
                <a:ea typeface="Calibri" pitchFamily="34" charset="-122"/>
                <a:cs typeface="Calibri" pitchFamily="34" charset="-120"/>
              </a:rPr>
              <a:t>Six categories of internal components</a:t>
            </a:r>
            <a:endParaRPr lang="en-US" sz="1100" dirty="0"/>
          </a:p>
        </p:txBody>
      </p:sp>
      <p:sp>
        <p:nvSpPr>
          <p:cNvPr id="6" name="Shape 4">
            <a:extLst>
              <a:ext uri="{FF2B5EF4-FFF2-40B4-BE49-F238E27FC236}">
                <a16:creationId xmlns:a16="http://schemas.microsoft.com/office/drawing/2014/main" id="{2597B8A1-30EB-6EB0-41B3-65FD64004A19}"/>
              </a:ext>
            </a:extLst>
          </p:cNvPr>
          <p:cNvSpPr/>
          <p:nvPr/>
        </p:nvSpPr>
        <p:spPr>
          <a:xfrm>
            <a:off x="0" y="5070348"/>
            <a:ext cx="9144000" cy="73152"/>
          </a:xfrm>
          <a:prstGeom prst="rect">
            <a:avLst/>
          </a:prstGeom>
          <a:solidFill>
            <a:srgbClr val="4F29B7"/>
          </a:solidFill>
          <a:ln w="12700">
            <a:solidFill>
              <a:srgbClr val="4F29B7"/>
            </a:solidFill>
            <a:prstDash val="solid"/>
          </a:ln>
        </p:spPr>
        <p:txBody>
          <a:bodyPr/>
          <a:lstStyle/>
          <a:p>
            <a:endParaRPr lang="en-US"/>
          </a:p>
        </p:txBody>
      </p:sp>
      <p:sp>
        <p:nvSpPr>
          <p:cNvPr id="7" name="Shape 5">
            <a:extLst>
              <a:ext uri="{FF2B5EF4-FFF2-40B4-BE49-F238E27FC236}">
                <a16:creationId xmlns:a16="http://schemas.microsoft.com/office/drawing/2014/main" id="{3A150276-688A-AC4E-C2DA-7C7544E18FC5}"/>
              </a:ext>
            </a:extLst>
          </p:cNvPr>
          <p:cNvSpPr/>
          <p:nvPr/>
        </p:nvSpPr>
        <p:spPr>
          <a:xfrm>
            <a:off x="228600" y="804672"/>
            <a:ext cx="5486400" cy="2788920"/>
          </a:xfrm>
          <a:prstGeom prst="roundRect">
            <a:avLst>
              <a:gd name="adj" fmla="val 4590"/>
            </a:avLst>
          </a:prstGeom>
          <a:solidFill>
            <a:srgbClr val="1E0F40"/>
          </a:solidFill>
          <a:ln w="12700">
            <a:solidFill>
              <a:srgbClr val="4F29B7"/>
            </a:solidFill>
            <a:prstDash val="solid"/>
          </a:ln>
        </p:spPr>
        <p:txBody>
          <a:bodyPr/>
          <a:lstStyle/>
          <a:p>
            <a:endParaRPr lang="en-US"/>
          </a:p>
        </p:txBody>
      </p:sp>
      <p:sp>
        <p:nvSpPr>
          <p:cNvPr id="8" name="Text 6">
            <a:extLst>
              <a:ext uri="{FF2B5EF4-FFF2-40B4-BE49-F238E27FC236}">
                <a16:creationId xmlns:a16="http://schemas.microsoft.com/office/drawing/2014/main" id="{968BFE37-47EE-49A9-E3A5-4D171ADC1D60}"/>
              </a:ext>
            </a:extLst>
          </p:cNvPr>
          <p:cNvSpPr/>
          <p:nvPr/>
        </p:nvSpPr>
        <p:spPr>
          <a:xfrm>
            <a:off x="320040" y="822960"/>
            <a:ext cx="5303520" cy="365760"/>
          </a:xfrm>
          <a:prstGeom prst="rect">
            <a:avLst/>
          </a:prstGeom>
          <a:noFill/>
          <a:ln/>
        </p:spPr>
        <p:txBody>
          <a:bodyPr wrap="square" rtlCol="0" anchor="ctr"/>
          <a:lstStyle/>
          <a:p>
            <a:pPr marL="0" indent="0">
              <a:buNone/>
            </a:pPr>
            <a:r>
              <a:rPr lang="en-US" sz="1100" b="1" dirty="0">
                <a:solidFill>
                  <a:srgbClr val="57E3D8"/>
                </a:solidFill>
                <a:latin typeface="Calibri" pitchFamily="34" charset="0"/>
                <a:ea typeface="Calibri" pitchFamily="34" charset="-122"/>
                <a:cs typeface="Calibri" pitchFamily="34" charset="-120"/>
              </a:rPr>
              <a:t>Motherboard — connects everything</a:t>
            </a:r>
            <a:endParaRPr lang="en-US" sz="1100" dirty="0"/>
          </a:p>
        </p:txBody>
      </p:sp>
      <p:sp>
        <p:nvSpPr>
          <p:cNvPr id="9" name="Shape 7">
            <a:extLst>
              <a:ext uri="{FF2B5EF4-FFF2-40B4-BE49-F238E27FC236}">
                <a16:creationId xmlns:a16="http://schemas.microsoft.com/office/drawing/2014/main" id="{BA548FB7-AB92-E1CE-75AE-323DE19D7FCA}"/>
              </a:ext>
            </a:extLst>
          </p:cNvPr>
          <p:cNvSpPr/>
          <p:nvPr/>
        </p:nvSpPr>
        <p:spPr>
          <a:xfrm>
            <a:off x="365760" y="1261872"/>
            <a:ext cx="2423160" cy="475488"/>
          </a:xfrm>
          <a:prstGeom prst="roundRect">
            <a:avLst>
              <a:gd name="adj" fmla="val 15385"/>
            </a:avLst>
          </a:prstGeom>
          <a:solidFill>
            <a:srgbClr val="2D1A5E"/>
          </a:solidFill>
          <a:ln w="12700">
            <a:solidFill>
              <a:srgbClr val="2D1A5E"/>
            </a:solidFill>
            <a:prstDash val="solid"/>
          </a:ln>
        </p:spPr>
        <p:txBody>
          <a:bodyPr/>
          <a:lstStyle/>
          <a:p>
            <a:endParaRPr lang="en-US"/>
          </a:p>
        </p:txBody>
      </p:sp>
      <p:sp>
        <p:nvSpPr>
          <p:cNvPr id="10" name="Text 8">
            <a:extLst>
              <a:ext uri="{FF2B5EF4-FFF2-40B4-BE49-F238E27FC236}">
                <a16:creationId xmlns:a16="http://schemas.microsoft.com/office/drawing/2014/main" id="{92CF43B2-D84E-C02F-48BC-2FFFFF077448}"/>
              </a:ext>
            </a:extLst>
          </p:cNvPr>
          <p:cNvSpPr/>
          <p:nvPr/>
        </p:nvSpPr>
        <p:spPr>
          <a:xfrm>
            <a:off x="365760" y="1298448"/>
            <a:ext cx="2423160" cy="247254"/>
          </a:xfrm>
          <a:prstGeom prst="rect">
            <a:avLst/>
          </a:prstGeom>
          <a:noFill/>
          <a:ln/>
        </p:spPr>
        <p:txBody>
          <a:bodyPr wrap="square" lIns="0" tIns="0" rIns="0" bIns="0" rtlCol="0" anchor="b"/>
          <a:lstStyle/>
          <a:p>
            <a:pPr marL="0" indent="0" algn="ctr">
              <a:buNone/>
            </a:pPr>
            <a:r>
              <a:rPr lang="en-US" sz="1200" b="1" dirty="0">
                <a:solidFill>
                  <a:srgbClr val="EDEDED"/>
                </a:solidFill>
                <a:latin typeface="Calibri" pitchFamily="34" charset="0"/>
                <a:ea typeface="Calibri" pitchFamily="34" charset="-122"/>
                <a:cs typeface="Calibri" pitchFamily="34" charset="-120"/>
              </a:rPr>
              <a:t>CPU</a:t>
            </a:r>
            <a:endParaRPr lang="en-US" sz="1200" dirty="0"/>
          </a:p>
        </p:txBody>
      </p:sp>
      <p:sp>
        <p:nvSpPr>
          <p:cNvPr id="11" name="Text 9">
            <a:extLst>
              <a:ext uri="{FF2B5EF4-FFF2-40B4-BE49-F238E27FC236}">
                <a16:creationId xmlns:a16="http://schemas.microsoft.com/office/drawing/2014/main" id="{22065317-2879-F31D-37A7-38EA3370D926}"/>
              </a:ext>
            </a:extLst>
          </p:cNvPr>
          <p:cNvSpPr/>
          <p:nvPr/>
        </p:nvSpPr>
        <p:spPr>
          <a:xfrm>
            <a:off x="365760" y="1509126"/>
            <a:ext cx="2423160" cy="218724"/>
          </a:xfrm>
          <a:prstGeom prst="rect">
            <a:avLst/>
          </a:prstGeom>
          <a:noFill/>
          <a:ln/>
        </p:spPr>
        <p:txBody>
          <a:bodyPr wrap="square" lIns="0" tIns="0" rIns="0" bIns="0" rtlCol="0" anchor="t"/>
          <a:lstStyle/>
          <a:p>
            <a:pPr marL="0" indent="0" algn="ctr">
              <a:buNone/>
            </a:pPr>
            <a:r>
              <a:rPr lang="en-US" sz="900" dirty="0">
                <a:solidFill>
                  <a:srgbClr val="A380FF"/>
                </a:solidFill>
                <a:latin typeface="Calibri" pitchFamily="34" charset="0"/>
                <a:ea typeface="Calibri" pitchFamily="34" charset="-122"/>
                <a:cs typeface="Calibri" pitchFamily="34" charset="-120"/>
              </a:rPr>
              <a:t>Processes all instructions</a:t>
            </a:r>
            <a:endParaRPr lang="en-US" sz="900" dirty="0"/>
          </a:p>
        </p:txBody>
      </p:sp>
      <p:sp>
        <p:nvSpPr>
          <p:cNvPr id="12" name="Shape 10">
            <a:extLst>
              <a:ext uri="{FF2B5EF4-FFF2-40B4-BE49-F238E27FC236}">
                <a16:creationId xmlns:a16="http://schemas.microsoft.com/office/drawing/2014/main" id="{7293612A-67E5-43C5-DB13-341DE7472837}"/>
              </a:ext>
            </a:extLst>
          </p:cNvPr>
          <p:cNvSpPr/>
          <p:nvPr/>
        </p:nvSpPr>
        <p:spPr>
          <a:xfrm>
            <a:off x="2926080" y="1261872"/>
            <a:ext cx="2423160" cy="475488"/>
          </a:xfrm>
          <a:prstGeom prst="roundRect">
            <a:avLst>
              <a:gd name="adj" fmla="val 15385"/>
            </a:avLst>
          </a:prstGeom>
          <a:solidFill>
            <a:srgbClr val="2D1A5E"/>
          </a:solidFill>
          <a:ln w="12700">
            <a:solidFill>
              <a:srgbClr val="2D1A5E"/>
            </a:solidFill>
            <a:prstDash val="solid"/>
          </a:ln>
        </p:spPr>
        <p:txBody>
          <a:bodyPr/>
          <a:lstStyle/>
          <a:p>
            <a:endParaRPr lang="en-US"/>
          </a:p>
        </p:txBody>
      </p:sp>
      <p:sp>
        <p:nvSpPr>
          <p:cNvPr id="13" name="Text 11">
            <a:extLst>
              <a:ext uri="{FF2B5EF4-FFF2-40B4-BE49-F238E27FC236}">
                <a16:creationId xmlns:a16="http://schemas.microsoft.com/office/drawing/2014/main" id="{B425AF38-0866-C9A9-395E-D8A02462968C}"/>
              </a:ext>
            </a:extLst>
          </p:cNvPr>
          <p:cNvSpPr/>
          <p:nvPr/>
        </p:nvSpPr>
        <p:spPr>
          <a:xfrm>
            <a:off x="2926080" y="1298448"/>
            <a:ext cx="2423160" cy="247254"/>
          </a:xfrm>
          <a:prstGeom prst="rect">
            <a:avLst/>
          </a:prstGeom>
          <a:noFill/>
          <a:ln/>
        </p:spPr>
        <p:txBody>
          <a:bodyPr wrap="square" lIns="0" tIns="0" rIns="0" bIns="0" rtlCol="0" anchor="b"/>
          <a:lstStyle/>
          <a:p>
            <a:pPr marL="0" indent="0" algn="ctr">
              <a:buNone/>
            </a:pPr>
            <a:r>
              <a:rPr lang="en-US" sz="1200" b="1" dirty="0">
                <a:solidFill>
                  <a:srgbClr val="EDEDED"/>
                </a:solidFill>
                <a:latin typeface="Calibri" pitchFamily="34" charset="0"/>
                <a:ea typeface="Calibri" pitchFamily="34" charset="-122"/>
                <a:cs typeface="Calibri" pitchFamily="34" charset="-120"/>
              </a:rPr>
              <a:t>RAM</a:t>
            </a:r>
            <a:endParaRPr lang="en-US" sz="1200" dirty="0"/>
          </a:p>
        </p:txBody>
      </p:sp>
      <p:sp>
        <p:nvSpPr>
          <p:cNvPr id="14" name="Text 12">
            <a:extLst>
              <a:ext uri="{FF2B5EF4-FFF2-40B4-BE49-F238E27FC236}">
                <a16:creationId xmlns:a16="http://schemas.microsoft.com/office/drawing/2014/main" id="{06FD41F7-1162-5418-0128-09AE9B82B830}"/>
              </a:ext>
            </a:extLst>
          </p:cNvPr>
          <p:cNvSpPr/>
          <p:nvPr/>
        </p:nvSpPr>
        <p:spPr>
          <a:xfrm>
            <a:off x="2926080" y="1509126"/>
            <a:ext cx="2423160" cy="218724"/>
          </a:xfrm>
          <a:prstGeom prst="rect">
            <a:avLst/>
          </a:prstGeom>
          <a:noFill/>
          <a:ln/>
        </p:spPr>
        <p:txBody>
          <a:bodyPr wrap="square" lIns="0" tIns="0" rIns="0" bIns="0" rtlCol="0" anchor="t"/>
          <a:lstStyle/>
          <a:p>
            <a:pPr marL="0" indent="0" algn="ctr">
              <a:buNone/>
            </a:pPr>
            <a:r>
              <a:rPr lang="en-US" sz="900" dirty="0">
                <a:solidFill>
                  <a:srgbClr val="A380FF"/>
                </a:solidFill>
                <a:latin typeface="Calibri" pitchFamily="34" charset="0"/>
                <a:ea typeface="Calibri" pitchFamily="34" charset="-122"/>
                <a:cs typeface="Calibri" pitchFamily="34" charset="-120"/>
              </a:rPr>
              <a:t>Active short-term memory</a:t>
            </a:r>
            <a:endParaRPr lang="en-US" sz="900" dirty="0"/>
          </a:p>
        </p:txBody>
      </p:sp>
      <p:sp>
        <p:nvSpPr>
          <p:cNvPr id="15" name="Shape 13">
            <a:extLst>
              <a:ext uri="{FF2B5EF4-FFF2-40B4-BE49-F238E27FC236}">
                <a16:creationId xmlns:a16="http://schemas.microsoft.com/office/drawing/2014/main" id="{B1283B2D-20F1-6821-0E6B-ECDA2FAC53FB}"/>
              </a:ext>
            </a:extLst>
          </p:cNvPr>
          <p:cNvSpPr/>
          <p:nvPr/>
        </p:nvSpPr>
        <p:spPr>
          <a:xfrm>
            <a:off x="365760" y="1810512"/>
            <a:ext cx="2423160" cy="475488"/>
          </a:xfrm>
          <a:prstGeom prst="roundRect">
            <a:avLst>
              <a:gd name="adj" fmla="val 15385"/>
            </a:avLst>
          </a:prstGeom>
          <a:solidFill>
            <a:srgbClr val="2D1A5E"/>
          </a:solidFill>
          <a:ln w="12700">
            <a:solidFill>
              <a:srgbClr val="2D1A5E"/>
            </a:solidFill>
            <a:prstDash val="solid"/>
          </a:ln>
        </p:spPr>
        <p:txBody>
          <a:bodyPr/>
          <a:lstStyle/>
          <a:p>
            <a:endParaRPr lang="en-US"/>
          </a:p>
        </p:txBody>
      </p:sp>
      <p:sp>
        <p:nvSpPr>
          <p:cNvPr id="16" name="Text 14">
            <a:extLst>
              <a:ext uri="{FF2B5EF4-FFF2-40B4-BE49-F238E27FC236}">
                <a16:creationId xmlns:a16="http://schemas.microsoft.com/office/drawing/2014/main" id="{0F42B02B-D75D-4FDF-3B99-7A6BFC892343}"/>
              </a:ext>
            </a:extLst>
          </p:cNvPr>
          <p:cNvSpPr/>
          <p:nvPr/>
        </p:nvSpPr>
        <p:spPr>
          <a:xfrm>
            <a:off x="365760" y="1847088"/>
            <a:ext cx="2423160" cy="247254"/>
          </a:xfrm>
          <a:prstGeom prst="rect">
            <a:avLst/>
          </a:prstGeom>
          <a:noFill/>
          <a:ln/>
        </p:spPr>
        <p:txBody>
          <a:bodyPr wrap="square" lIns="0" tIns="0" rIns="0" bIns="0" rtlCol="0" anchor="b"/>
          <a:lstStyle/>
          <a:p>
            <a:pPr marL="0" indent="0" algn="ctr">
              <a:buNone/>
            </a:pPr>
            <a:r>
              <a:rPr lang="en-US" sz="1200" b="1" dirty="0">
                <a:solidFill>
                  <a:srgbClr val="EDEDED"/>
                </a:solidFill>
                <a:latin typeface="Calibri" pitchFamily="34" charset="0"/>
                <a:ea typeface="Calibri" pitchFamily="34" charset="-122"/>
                <a:cs typeface="Calibri" pitchFamily="34" charset="-120"/>
              </a:rPr>
              <a:t>GPU slot</a:t>
            </a:r>
            <a:endParaRPr lang="en-US" sz="1200" dirty="0"/>
          </a:p>
        </p:txBody>
      </p:sp>
      <p:sp>
        <p:nvSpPr>
          <p:cNvPr id="17" name="Text 15">
            <a:extLst>
              <a:ext uri="{FF2B5EF4-FFF2-40B4-BE49-F238E27FC236}">
                <a16:creationId xmlns:a16="http://schemas.microsoft.com/office/drawing/2014/main" id="{AE116D31-7DE0-21E4-86DA-1F91E8205AC8}"/>
              </a:ext>
            </a:extLst>
          </p:cNvPr>
          <p:cNvSpPr/>
          <p:nvPr/>
        </p:nvSpPr>
        <p:spPr>
          <a:xfrm>
            <a:off x="365760" y="2057766"/>
            <a:ext cx="2423160" cy="218724"/>
          </a:xfrm>
          <a:prstGeom prst="rect">
            <a:avLst/>
          </a:prstGeom>
          <a:noFill/>
          <a:ln/>
        </p:spPr>
        <p:txBody>
          <a:bodyPr wrap="square" lIns="0" tIns="0" rIns="0" bIns="0" rtlCol="0" anchor="t"/>
          <a:lstStyle/>
          <a:p>
            <a:pPr marL="0" indent="0" algn="ctr">
              <a:buNone/>
            </a:pPr>
            <a:r>
              <a:rPr lang="en-US" sz="900" dirty="0">
                <a:solidFill>
                  <a:srgbClr val="A380FF"/>
                </a:solidFill>
                <a:latin typeface="Calibri" pitchFamily="34" charset="0"/>
                <a:ea typeface="Calibri" pitchFamily="34" charset="-122"/>
                <a:cs typeface="Calibri" pitchFamily="34" charset="-120"/>
              </a:rPr>
              <a:t>Graphics card port</a:t>
            </a:r>
            <a:endParaRPr lang="en-US" sz="900" dirty="0"/>
          </a:p>
        </p:txBody>
      </p:sp>
      <p:sp>
        <p:nvSpPr>
          <p:cNvPr id="18" name="Shape 16">
            <a:extLst>
              <a:ext uri="{FF2B5EF4-FFF2-40B4-BE49-F238E27FC236}">
                <a16:creationId xmlns:a16="http://schemas.microsoft.com/office/drawing/2014/main" id="{96061E2D-F990-9B8F-9B8C-47724910B7AB}"/>
              </a:ext>
            </a:extLst>
          </p:cNvPr>
          <p:cNvSpPr/>
          <p:nvPr/>
        </p:nvSpPr>
        <p:spPr>
          <a:xfrm>
            <a:off x="2926080" y="1810512"/>
            <a:ext cx="2423160" cy="475488"/>
          </a:xfrm>
          <a:prstGeom prst="roundRect">
            <a:avLst>
              <a:gd name="adj" fmla="val 15385"/>
            </a:avLst>
          </a:prstGeom>
          <a:solidFill>
            <a:srgbClr val="2D1A5E"/>
          </a:solidFill>
          <a:ln w="12700">
            <a:solidFill>
              <a:srgbClr val="2D1A5E"/>
            </a:solidFill>
            <a:prstDash val="solid"/>
          </a:ln>
        </p:spPr>
        <p:txBody>
          <a:bodyPr/>
          <a:lstStyle/>
          <a:p>
            <a:endParaRPr lang="en-US"/>
          </a:p>
        </p:txBody>
      </p:sp>
      <p:sp>
        <p:nvSpPr>
          <p:cNvPr id="19" name="Text 17">
            <a:extLst>
              <a:ext uri="{FF2B5EF4-FFF2-40B4-BE49-F238E27FC236}">
                <a16:creationId xmlns:a16="http://schemas.microsoft.com/office/drawing/2014/main" id="{6DB8655B-44CA-D617-A8BE-237E478FB187}"/>
              </a:ext>
            </a:extLst>
          </p:cNvPr>
          <p:cNvSpPr/>
          <p:nvPr/>
        </p:nvSpPr>
        <p:spPr>
          <a:xfrm>
            <a:off x="2926080" y="1847088"/>
            <a:ext cx="2423160" cy="247254"/>
          </a:xfrm>
          <a:prstGeom prst="rect">
            <a:avLst/>
          </a:prstGeom>
          <a:noFill/>
          <a:ln/>
        </p:spPr>
        <p:txBody>
          <a:bodyPr wrap="square" lIns="0" tIns="0" rIns="0" bIns="0" rtlCol="0" anchor="b"/>
          <a:lstStyle/>
          <a:p>
            <a:pPr marL="0" indent="0" algn="ctr">
              <a:buNone/>
            </a:pPr>
            <a:r>
              <a:rPr lang="en-US" sz="1200" b="1" dirty="0">
                <a:solidFill>
                  <a:srgbClr val="EDEDED"/>
                </a:solidFill>
                <a:latin typeface="Calibri" pitchFamily="34" charset="0"/>
                <a:ea typeface="Calibri" pitchFamily="34" charset="-122"/>
                <a:cs typeface="Calibri" pitchFamily="34" charset="-120"/>
              </a:rPr>
              <a:t>Expansion slots</a:t>
            </a:r>
            <a:endParaRPr lang="en-US" sz="1200" dirty="0"/>
          </a:p>
        </p:txBody>
      </p:sp>
      <p:sp>
        <p:nvSpPr>
          <p:cNvPr id="20" name="Text 18">
            <a:extLst>
              <a:ext uri="{FF2B5EF4-FFF2-40B4-BE49-F238E27FC236}">
                <a16:creationId xmlns:a16="http://schemas.microsoft.com/office/drawing/2014/main" id="{EAF760CE-D592-39F7-72BB-59FAFA41EDB0}"/>
              </a:ext>
            </a:extLst>
          </p:cNvPr>
          <p:cNvSpPr/>
          <p:nvPr/>
        </p:nvSpPr>
        <p:spPr>
          <a:xfrm>
            <a:off x="2926080" y="2057766"/>
            <a:ext cx="2423160" cy="218724"/>
          </a:xfrm>
          <a:prstGeom prst="rect">
            <a:avLst/>
          </a:prstGeom>
          <a:noFill/>
          <a:ln/>
        </p:spPr>
        <p:txBody>
          <a:bodyPr wrap="square" lIns="0" tIns="0" rIns="0" bIns="0" rtlCol="0" anchor="t"/>
          <a:lstStyle/>
          <a:p>
            <a:pPr marL="0" indent="0" algn="ctr">
              <a:buNone/>
            </a:pPr>
            <a:r>
              <a:rPr lang="en-US" sz="900" dirty="0">
                <a:solidFill>
                  <a:srgbClr val="A380FF"/>
                </a:solidFill>
                <a:latin typeface="Calibri" pitchFamily="34" charset="0"/>
                <a:ea typeface="Calibri" pitchFamily="34" charset="-122"/>
                <a:cs typeface="Calibri" pitchFamily="34" charset="-120"/>
              </a:rPr>
              <a:t>PCIe add-on cards</a:t>
            </a:r>
            <a:endParaRPr lang="en-US" sz="900" dirty="0"/>
          </a:p>
        </p:txBody>
      </p:sp>
      <p:sp>
        <p:nvSpPr>
          <p:cNvPr id="21" name="Shape 19">
            <a:extLst>
              <a:ext uri="{FF2B5EF4-FFF2-40B4-BE49-F238E27FC236}">
                <a16:creationId xmlns:a16="http://schemas.microsoft.com/office/drawing/2014/main" id="{17E4DBEC-0402-810E-F1DA-C87578B50780}"/>
              </a:ext>
            </a:extLst>
          </p:cNvPr>
          <p:cNvSpPr/>
          <p:nvPr/>
        </p:nvSpPr>
        <p:spPr>
          <a:xfrm>
            <a:off x="365760" y="2359152"/>
            <a:ext cx="4983480" cy="256032"/>
          </a:xfrm>
          <a:prstGeom prst="roundRect">
            <a:avLst>
              <a:gd name="adj" fmla="val 28571"/>
            </a:avLst>
          </a:prstGeom>
          <a:solidFill>
            <a:srgbClr val="1A0D40"/>
          </a:solidFill>
          <a:ln w="12700">
            <a:solidFill>
              <a:srgbClr val="1A0D40"/>
            </a:solidFill>
            <a:prstDash val="solid"/>
          </a:ln>
        </p:spPr>
        <p:txBody>
          <a:bodyPr/>
          <a:lstStyle/>
          <a:p>
            <a:endParaRPr lang="en-US"/>
          </a:p>
        </p:txBody>
      </p:sp>
      <p:sp>
        <p:nvSpPr>
          <p:cNvPr id="22" name="Text 20">
            <a:extLst>
              <a:ext uri="{FF2B5EF4-FFF2-40B4-BE49-F238E27FC236}">
                <a16:creationId xmlns:a16="http://schemas.microsoft.com/office/drawing/2014/main" id="{61658054-D898-83B1-9FA7-0AD94B39F1B7}"/>
              </a:ext>
            </a:extLst>
          </p:cNvPr>
          <p:cNvSpPr/>
          <p:nvPr/>
        </p:nvSpPr>
        <p:spPr>
          <a:xfrm>
            <a:off x="365760" y="2359152"/>
            <a:ext cx="4983480" cy="256032"/>
          </a:xfrm>
          <a:prstGeom prst="rect">
            <a:avLst/>
          </a:prstGeom>
          <a:noFill/>
          <a:ln/>
        </p:spPr>
        <p:txBody>
          <a:bodyPr wrap="square" lIns="0" tIns="0" rIns="0" bIns="0" rtlCol="0" anchor="ctr"/>
          <a:lstStyle/>
          <a:p>
            <a:pPr marL="0" indent="0" algn="ctr">
              <a:buNone/>
            </a:pPr>
            <a:r>
              <a:rPr lang="en-US" sz="1200" b="1" dirty="0">
                <a:solidFill>
                  <a:srgbClr val="A380FF"/>
                </a:solidFill>
                <a:latin typeface="Calibri" pitchFamily="34" charset="0"/>
                <a:ea typeface="Calibri" pitchFamily="34" charset="-122"/>
                <a:cs typeface="Calibri" pitchFamily="34" charset="-120"/>
              </a:rPr>
              <a:t>Chipset / BIOS — manages communication between all components</a:t>
            </a:r>
            <a:endParaRPr lang="en-US" sz="1200" dirty="0"/>
          </a:p>
        </p:txBody>
      </p:sp>
      <p:sp>
        <p:nvSpPr>
          <p:cNvPr id="23" name="Shape 21">
            <a:extLst>
              <a:ext uri="{FF2B5EF4-FFF2-40B4-BE49-F238E27FC236}">
                <a16:creationId xmlns:a16="http://schemas.microsoft.com/office/drawing/2014/main" id="{1F2AEE09-7E7C-00E3-84A9-4DB097B91266}"/>
              </a:ext>
            </a:extLst>
          </p:cNvPr>
          <p:cNvSpPr/>
          <p:nvPr/>
        </p:nvSpPr>
        <p:spPr>
          <a:xfrm>
            <a:off x="5852160" y="804672"/>
            <a:ext cx="3017520" cy="1325880"/>
          </a:xfrm>
          <a:prstGeom prst="roundRect">
            <a:avLst>
              <a:gd name="adj" fmla="val 6897"/>
            </a:avLst>
          </a:prstGeom>
          <a:solidFill>
            <a:srgbClr val="0A1E3A"/>
          </a:solidFill>
          <a:ln w="12700">
            <a:solidFill>
              <a:srgbClr val="4D96FF"/>
            </a:solidFill>
            <a:prstDash val="solid"/>
          </a:ln>
        </p:spPr>
        <p:txBody>
          <a:bodyPr/>
          <a:lstStyle/>
          <a:p>
            <a:endParaRPr lang="en-US"/>
          </a:p>
        </p:txBody>
      </p:sp>
      <p:sp>
        <p:nvSpPr>
          <p:cNvPr id="24" name="Text 22">
            <a:extLst>
              <a:ext uri="{FF2B5EF4-FFF2-40B4-BE49-F238E27FC236}">
                <a16:creationId xmlns:a16="http://schemas.microsoft.com/office/drawing/2014/main" id="{3CB4CA80-31E9-9716-FE60-CAE8F862671B}"/>
              </a:ext>
            </a:extLst>
          </p:cNvPr>
          <p:cNvSpPr/>
          <p:nvPr/>
        </p:nvSpPr>
        <p:spPr>
          <a:xfrm>
            <a:off x="5852160" y="804672"/>
            <a:ext cx="3017520" cy="365760"/>
          </a:xfrm>
          <a:prstGeom prst="rect">
            <a:avLst/>
          </a:prstGeom>
          <a:noFill/>
          <a:ln/>
        </p:spPr>
        <p:txBody>
          <a:bodyPr wrap="square" rtlCol="0" anchor="ctr"/>
          <a:lstStyle/>
          <a:p>
            <a:pPr marL="0" indent="0" algn="ctr">
              <a:buNone/>
            </a:pPr>
            <a:r>
              <a:rPr lang="en-US" sz="1200" b="1" dirty="0">
                <a:solidFill>
                  <a:srgbClr val="4D96FF"/>
                </a:solidFill>
                <a:latin typeface="Calibri" pitchFamily="34" charset="0"/>
                <a:ea typeface="Calibri" pitchFamily="34" charset="-122"/>
                <a:cs typeface="Calibri" pitchFamily="34" charset="-120"/>
              </a:rPr>
              <a:t>Storage</a:t>
            </a:r>
            <a:endParaRPr lang="en-US" sz="1200" dirty="0"/>
          </a:p>
        </p:txBody>
      </p:sp>
      <p:sp>
        <p:nvSpPr>
          <p:cNvPr id="25" name="Shape 23">
            <a:extLst>
              <a:ext uri="{FF2B5EF4-FFF2-40B4-BE49-F238E27FC236}">
                <a16:creationId xmlns:a16="http://schemas.microsoft.com/office/drawing/2014/main" id="{BF6B5096-A3B1-4BE9-F788-2601AA9F9903}"/>
              </a:ext>
            </a:extLst>
          </p:cNvPr>
          <p:cNvSpPr/>
          <p:nvPr/>
        </p:nvSpPr>
        <p:spPr>
          <a:xfrm>
            <a:off x="5989320" y="1234440"/>
            <a:ext cx="1325880" cy="384048"/>
          </a:xfrm>
          <a:prstGeom prst="roundRect">
            <a:avLst>
              <a:gd name="adj" fmla="val 19048"/>
            </a:avLst>
          </a:prstGeom>
          <a:solidFill>
            <a:srgbClr val="0D2A3A"/>
          </a:solidFill>
          <a:ln w="12700">
            <a:solidFill>
              <a:srgbClr val="0D2A3A"/>
            </a:solidFill>
            <a:prstDash val="solid"/>
          </a:ln>
        </p:spPr>
        <p:txBody>
          <a:bodyPr/>
          <a:lstStyle/>
          <a:p>
            <a:endParaRPr lang="en-US"/>
          </a:p>
        </p:txBody>
      </p:sp>
      <p:sp>
        <p:nvSpPr>
          <p:cNvPr id="26" name="Text 24">
            <a:extLst>
              <a:ext uri="{FF2B5EF4-FFF2-40B4-BE49-F238E27FC236}">
                <a16:creationId xmlns:a16="http://schemas.microsoft.com/office/drawing/2014/main" id="{0FE98214-ABA4-119F-6617-9B0EE1B38525}"/>
              </a:ext>
            </a:extLst>
          </p:cNvPr>
          <p:cNvSpPr/>
          <p:nvPr/>
        </p:nvSpPr>
        <p:spPr>
          <a:xfrm>
            <a:off x="5989320" y="1271016"/>
            <a:ext cx="1325880" cy="199705"/>
          </a:xfrm>
          <a:prstGeom prst="rect">
            <a:avLst/>
          </a:prstGeom>
          <a:noFill/>
          <a:ln/>
        </p:spPr>
        <p:txBody>
          <a:bodyPr wrap="square" lIns="0" tIns="0" rIns="0" bIns="0" rtlCol="0" anchor="b"/>
          <a:lstStyle/>
          <a:p>
            <a:pPr marL="0" indent="0" algn="ctr">
              <a:buNone/>
            </a:pPr>
            <a:r>
              <a:rPr lang="en-US" sz="1200" b="1" dirty="0">
                <a:solidFill>
                  <a:srgbClr val="EDEDED"/>
                </a:solidFill>
                <a:latin typeface="Calibri" pitchFamily="34" charset="0"/>
                <a:ea typeface="Calibri" pitchFamily="34" charset="-122"/>
                <a:cs typeface="Calibri" pitchFamily="34" charset="-120"/>
              </a:rPr>
              <a:t>HDD</a:t>
            </a:r>
            <a:endParaRPr lang="en-US" sz="1200" dirty="0"/>
          </a:p>
        </p:txBody>
      </p:sp>
      <p:sp>
        <p:nvSpPr>
          <p:cNvPr id="27" name="Text 25">
            <a:extLst>
              <a:ext uri="{FF2B5EF4-FFF2-40B4-BE49-F238E27FC236}">
                <a16:creationId xmlns:a16="http://schemas.microsoft.com/office/drawing/2014/main" id="{C89C7FA9-59B7-FA4A-72AE-AAE09CB69921}"/>
              </a:ext>
            </a:extLst>
          </p:cNvPr>
          <p:cNvSpPr/>
          <p:nvPr/>
        </p:nvSpPr>
        <p:spPr>
          <a:xfrm>
            <a:off x="5989320" y="1434145"/>
            <a:ext cx="1325880" cy="176662"/>
          </a:xfrm>
          <a:prstGeom prst="rect">
            <a:avLst/>
          </a:prstGeom>
          <a:noFill/>
          <a:ln/>
        </p:spPr>
        <p:txBody>
          <a:bodyPr wrap="square" lIns="0" tIns="0" rIns="0" bIns="0" rtlCol="0" anchor="t"/>
          <a:lstStyle/>
          <a:p>
            <a:pPr marL="0" indent="0" algn="ctr">
              <a:buNone/>
            </a:pPr>
            <a:r>
              <a:rPr lang="en-US" sz="900" dirty="0">
                <a:solidFill>
                  <a:srgbClr val="6699CC"/>
                </a:solidFill>
                <a:latin typeface="Calibri" pitchFamily="34" charset="0"/>
                <a:ea typeface="Calibri" pitchFamily="34" charset="-122"/>
                <a:cs typeface="Calibri" pitchFamily="34" charset="-120"/>
              </a:rPr>
              <a:t>Magnetic disk</a:t>
            </a:r>
            <a:endParaRPr lang="en-US" sz="900" dirty="0"/>
          </a:p>
        </p:txBody>
      </p:sp>
      <p:sp>
        <p:nvSpPr>
          <p:cNvPr id="28" name="Shape 26">
            <a:extLst>
              <a:ext uri="{FF2B5EF4-FFF2-40B4-BE49-F238E27FC236}">
                <a16:creationId xmlns:a16="http://schemas.microsoft.com/office/drawing/2014/main" id="{470F9A9E-AE40-F60F-3849-332291ACE56E}"/>
              </a:ext>
            </a:extLst>
          </p:cNvPr>
          <p:cNvSpPr/>
          <p:nvPr/>
        </p:nvSpPr>
        <p:spPr>
          <a:xfrm>
            <a:off x="7406640" y="1234440"/>
            <a:ext cx="1325880" cy="384048"/>
          </a:xfrm>
          <a:prstGeom prst="roundRect">
            <a:avLst>
              <a:gd name="adj" fmla="val 19048"/>
            </a:avLst>
          </a:prstGeom>
          <a:solidFill>
            <a:srgbClr val="0D2A3A"/>
          </a:solidFill>
          <a:ln w="12700">
            <a:solidFill>
              <a:srgbClr val="0D2A3A"/>
            </a:solidFill>
            <a:prstDash val="solid"/>
          </a:ln>
        </p:spPr>
        <p:txBody>
          <a:bodyPr/>
          <a:lstStyle/>
          <a:p>
            <a:endParaRPr lang="en-US"/>
          </a:p>
        </p:txBody>
      </p:sp>
      <p:sp>
        <p:nvSpPr>
          <p:cNvPr id="29" name="Text 27">
            <a:extLst>
              <a:ext uri="{FF2B5EF4-FFF2-40B4-BE49-F238E27FC236}">
                <a16:creationId xmlns:a16="http://schemas.microsoft.com/office/drawing/2014/main" id="{E7BCBDD3-BD7E-2E50-0182-6E99562079BB}"/>
              </a:ext>
            </a:extLst>
          </p:cNvPr>
          <p:cNvSpPr/>
          <p:nvPr/>
        </p:nvSpPr>
        <p:spPr>
          <a:xfrm>
            <a:off x="7406640" y="1271016"/>
            <a:ext cx="1325880" cy="199705"/>
          </a:xfrm>
          <a:prstGeom prst="rect">
            <a:avLst/>
          </a:prstGeom>
          <a:noFill/>
          <a:ln/>
        </p:spPr>
        <p:txBody>
          <a:bodyPr wrap="square" lIns="0" tIns="0" rIns="0" bIns="0" rtlCol="0" anchor="b"/>
          <a:lstStyle/>
          <a:p>
            <a:pPr marL="0" indent="0" algn="ctr">
              <a:buNone/>
            </a:pPr>
            <a:r>
              <a:rPr lang="en-US" sz="1200" b="1" dirty="0">
                <a:solidFill>
                  <a:srgbClr val="EDEDED"/>
                </a:solidFill>
                <a:latin typeface="Calibri" pitchFamily="34" charset="0"/>
                <a:ea typeface="Calibri" pitchFamily="34" charset="-122"/>
                <a:cs typeface="Calibri" pitchFamily="34" charset="-120"/>
              </a:rPr>
              <a:t>SSD</a:t>
            </a:r>
            <a:endParaRPr lang="en-US" sz="1200" dirty="0"/>
          </a:p>
        </p:txBody>
      </p:sp>
      <p:sp>
        <p:nvSpPr>
          <p:cNvPr id="30" name="Text 28">
            <a:extLst>
              <a:ext uri="{FF2B5EF4-FFF2-40B4-BE49-F238E27FC236}">
                <a16:creationId xmlns:a16="http://schemas.microsoft.com/office/drawing/2014/main" id="{7412A1F7-6A4F-245B-3DC6-202EDD89AFA9}"/>
              </a:ext>
            </a:extLst>
          </p:cNvPr>
          <p:cNvSpPr/>
          <p:nvPr/>
        </p:nvSpPr>
        <p:spPr>
          <a:xfrm>
            <a:off x="7406640" y="1434145"/>
            <a:ext cx="1325880" cy="176662"/>
          </a:xfrm>
          <a:prstGeom prst="rect">
            <a:avLst/>
          </a:prstGeom>
          <a:noFill/>
          <a:ln/>
        </p:spPr>
        <p:txBody>
          <a:bodyPr wrap="square" lIns="0" tIns="0" rIns="0" bIns="0" rtlCol="0" anchor="t"/>
          <a:lstStyle/>
          <a:p>
            <a:pPr marL="0" indent="0" algn="ctr">
              <a:buNone/>
            </a:pPr>
            <a:r>
              <a:rPr lang="en-US" sz="900" dirty="0">
                <a:solidFill>
                  <a:srgbClr val="6699CC"/>
                </a:solidFill>
                <a:latin typeface="Calibri" pitchFamily="34" charset="0"/>
                <a:ea typeface="Calibri" pitchFamily="34" charset="-122"/>
                <a:cs typeface="Calibri" pitchFamily="34" charset="-120"/>
              </a:rPr>
              <a:t>Flash, faster</a:t>
            </a:r>
            <a:endParaRPr lang="en-US" sz="900" dirty="0"/>
          </a:p>
        </p:txBody>
      </p:sp>
      <p:sp>
        <p:nvSpPr>
          <p:cNvPr id="31" name="Shape 29">
            <a:extLst>
              <a:ext uri="{FF2B5EF4-FFF2-40B4-BE49-F238E27FC236}">
                <a16:creationId xmlns:a16="http://schemas.microsoft.com/office/drawing/2014/main" id="{517D1BEC-2894-84DD-D3E1-1A9EF8DA88CC}"/>
              </a:ext>
            </a:extLst>
          </p:cNvPr>
          <p:cNvSpPr/>
          <p:nvPr/>
        </p:nvSpPr>
        <p:spPr>
          <a:xfrm>
            <a:off x="5989320" y="1664208"/>
            <a:ext cx="2724912" cy="347472"/>
          </a:xfrm>
          <a:prstGeom prst="roundRect">
            <a:avLst>
              <a:gd name="adj" fmla="val 21053"/>
            </a:avLst>
          </a:prstGeom>
          <a:solidFill>
            <a:srgbClr val="0A1E30"/>
          </a:solidFill>
          <a:ln w="12700">
            <a:solidFill>
              <a:srgbClr val="0A1E30"/>
            </a:solidFill>
            <a:prstDash val="solid"/>
          </a:ln>
        </p:spPr>
        <p:txBody>
          <a:bodyPr/>
          <a:lstStyle/>
          <a:p>
            <a:endParaRPr lang="en-US"/>
          </a:p>
        </p:txBody>
      </p:sp>
      <p:sp>
        <p:nvSpPr>
          <p:cNvPr id="32" name="Text 30">
            <a:extLst>
              <a:ext uri="{FF2B5EF4-FFF2-40B4-BE49-F238E27FC236}">
                <a16:creationId xmlns:a16="http://schemas.microsoft.com/office/drawing/2014/main" id="{01E48A41-B196-7C72-5F59-751417ABA161}"/>
              </a:ext>
            </a:extLst>
          </p:cNvPr>
          <p:cNvSpPr/>
          <p:nvPr/>
        </p:nvSpPr>
        <p:spPr>
          <a:xfrm>
            <a:off x="5989320" y="1664208"/>
            <a:ext cx="2724912" cy="347472"/>
          </a:xfrm>
          <a:prstGeom prst="rect">
            <a:avLst/>
          </a:prstGeom>
          <a:noFill/>
          <a:ln/>
        </p:spPr>
        <p:txBody>
          <a:bodyPr wrap="square" lIns="0" tIns="0" rIns="0" bIns="0" rtlCol="0" anchor="ctr"/>
          <a:lstStyle/>
          <a:p>
            <a:pPr marL="0" indent="0" algn="ctr">
              <a:buNone/>
            </a:pPr>
            <a:r>
              <a:rPr lang="en-US" sz="1200" b="1" dirty="0">
                <a:solidFill>
                  <a:srgbClr val="EDEDED"/>
                </a:solidFill>
                <a:latin typeface="Calibri" pitchFamily="34" charset="0"/>
                <a:ea typeface="Calibri" pitchFamily="34" charset="-122"/>
                <a:cs typeface="Calibri" pitchFamily="34" charset="-120"/>
              </a:rPr>
              <a:t>Optical drive — reads CDs/DVDs</a:t>
            </a:r>
            <a:endParaRPr lang="en-US" sz="1200" dirty="0"/>
          </a:p>
        </p:txBody>
      </p:sp>
      <p:sp>
        <p:nvSpPr>
          <p:cNvPr id="33" name="Shape 31">
            <a:extLst>
              <a:ext uri="{FF2B5EF4-FFF2-40B4-BE49-F238E27FC236}">
                <a16:creationId xmlns:a16="http://schemas.microsoft.com/office/drawing/2014/main" id="{D67A1872-4E96-40A5-957D-9460637F3D11}"/>
              </a:ext>
            </a:extLst>
          </p:cNvPr>
          <p:cNvSpPr/>
          <p:nvPr/>
        </p:nvSpPr>
        <p:spPr>
          <a:xfrm>
            <a:off x="5852160" y="2212848"/>
            <a:ext cx="3017520" cy="1371600"/>
          </a:xfrm>
          <a:prstGeom prst="roundRect">
            <a:avLst>
              <a:gd name="adj" fmla="val 6667"/>
            </a:avLst>
          </a:prstGeom>
          <a:solidFill>
            <a:srgbClr val="0E1E10"/>
          </a:solidFill>
          <a:ln w="12700">
            <a:solidFill>
              <a:srgbClr val="80D883"/>
            </a:solidFill>
            <a:prstDash val="solid"/>
          </a:ln>
        </p:spPr>
        <p:txBody>
          <a:bodyPr/>
          <a:lstStyle/>
          <a:p>
            <a:endParaRPr lang="en-US"/>
          </a:p>
        </p:txBody>
      </p:sp>
      <p:sp>
        <p:nvSpPr>
          <p:cNvPr id="34" name="Text 32">
            <a:extLst>
              <a:ext uri="{FF2B5EF4-FFF2-40B4-BE49-F238E27FC236}">
                <a16:creationId xmlns:a16="http://schemas.microsoft.com/office/drawing/2014/main" id="{5AE7CF20-77DC-E2C0-B49B-C7C3880DD611}"/>
              </a:ext>
            </a:extLst>
          </p:cNvPr>
          <p:cNvSpPr/>
          <p:nvPr/>
        </p:nvSpPr>
        <p:spPr>
          <a:xfrm>
            <a:off x="5852160" y="2212848"/>
            <a:ext cx="3017520" cy="365760"/>
          </a:xfrm>
          <a:prstGeom prst="rect">
            <a:avLst/>
          </a:prstGeom>
          <a:noFill/>
          <a:ln/>
        </p:spPr>
        <p:txBody>
          <a:bodyPr wrap="square" rtlCol="0" anchor="ctr"/>
          <a:lstStyle/>
          <a:p>
            <a:pPr marL="0" indent="0" algn="ctr">
              <a:buNone/>
            </a:pPr>
            <a:r>
              <a:rPr lang="en-US" sz="1200" b="1" dirty="0">
                <a:solidFill>
                  <a:srgbClr val="80D883"/>
                </a:solidFill>
                <a:latin typeface="Calibri" pitchFamily="34" charset="0"/>
                <a:ea typeface="Calibri" pitchFamily="34" charset="-122"/>
                <a:cs typeface="Calibri" pitchFamily="34" charset="-120"/>
              </a:rPr>
              <a:t>Cooling</a:t>
            </a:r>
            <a:endParaRPr lang="en-US" sz="1200" dirty="0"/>
          </a:p>
        </p:txBody>
      </p:sp>
      <p:sp>
        <p:nvSpPr>
          <p:cNvPr id="35" name="Shape 33">
            <a:extLst>
              <a:ext uri="{FF2B5EF4-FFF2-40B4-BE49-F238E27FC236}">
                <a16:creationId xmlns:a16="http://schemas.microsoft.com/office/drawing/2014/main" id="{83D4952F-84BC-0BB7-EC9D-A2C167C493BF}"/>
              </a:ext>
            </a:extLst>
          </p:cNvPr>
          <p:cNvSpPr/>
          <p:nvPr/>
        </p:nvSpPr>
        <p:spPr>
          <a:xfrm>
            <a:off x="5989320" y="2651760"/>
            <a:ext cx="1325880" cy="402336"/>
          </a:xfrm>
          <a:prstGeom prst="roundRect">
            <a:avLst>
              <a:gd name="adj" fmla="val 18182"/>
            </a:avLst>
          </a:prstGeom>
          <a:solidFill>
            <a:srgbClr val="142814"/>
          </a:solidFill>
          <a:ln w="12700">
            <a:solidFill>
              <a:srgbClr val="142814"/>
            </a:solidFill>
            <a:prstDash val="solid"/>
          </a:ln>
        </p:spPr>
        <p:txBody>
          <a:bodyPr/>
          <a:lstStyle/>
          <a:p>
            <a:endParaRPr lang="en-US"/>
          </a:p>
        </p:txBody>
      </p:sp>
      <p:sp>
        <p:nvSpPr>
          <p:cNvPr id="36" name="Text 34">
            <a:extLst>
              <a:ext uri="{FF2B5EF4-FFF2-40B4-BE49-F238E27FC236}">
                <a16:creationId xmlns:a16="http://schemas.microsoft.com/office/drawing/2014/main" id="{43C802E3-AE6F-E8F4-A105-9127D8103DA8}"/>
              </a:ext>
            </a:extLst>
          </p:cNvPr>
          <p:cNvSpPr/>
          <p:nvPr/>
        </p:nvSpPr>
        <p:spPr>
          <a:xfrm>
            <a:off x="5989320" y="2688336"/>
            <a:ext cx="1325880" cy="209215"/>
          </a:xfrm>
          <a:prstGeom prst="rect">
            <a:avLst/>
          </a:prstGeom>
          <a:noFill/>
          <a:ln/>
        </p:spPr>
        <p:txBody>
          <a:bodyPr wrap="square" lIns="0" tIns="0" rIns="0" bIns="0" rtlCol="0" anchor="b"/>
          <a:lstStyle/>
          <a:p>
            <a:pPr marL="0" indent="0" algn="ctr">
              <a:buNone/>
            </a:pPr>
            <a:r>
              <a:rPr lang="en-US" sz="1200" b="1" dirty="0">
                <a:solidFill>
                  <a:srgbClr val="EDEDED"/>
                </a:solidFill>
                <a:latin typeface="Calibri" pitchFamily="34" charset="0"/>
                <a:ea typeface="Calibri" pitchFamily="34" charset="-122"/>
                <a:cs typeface="Calibri" pitchFamily="34" charset="-120"/>
              </a:rPr>
              <a:t>CPU cooler</a:t>
            </a:r>
            <a:endParaRPr lang="en-US" sz="1200" dirty="0"/>
          </a:p>
        </p:txBody>
      </p:sp>
      <p:sp>
        <p:nvSpPr>
          <p:cNvPr id="37" name="Text 35">
            <a:extLst>
              <a:ext uri="{FF2B5EF4-FFF2-40B4-BE49-F238E27FC236}">
                <a16:creationId xmlns:a16="http://schemas.microsoft.com/office/drawing/2014/main" id="{DCB9A91A-99F7-769D-2A32-AA81D1569FC0}"/>
              </a:ext>
            </a:extLst>
          </p:cNvPr>
          <p:cNvSpPr/>
          <p:nvPr/>
        </p:nvSpPr>
        <p:spPr>
          <a:xfrm>
            <a:off x="5989320" y="2860975"/>
            <a:ext cx="1325880" cy="185075"/>
          </a:xfrm>
          <a:prstGeom prst="rect">
            <a:avLst/>
          </a:prstGeom>
          <a:noFill/>
          <a:ln/>
        </p:spPr>
        <p:txBody>
          <a:bodyPr wrap="square" lIns="0" tIns="0" rIns="0" bIns="0" rtlCol="0" anchor="t"/>
          <a:lstStyle/>
          <a:p>
            <a:pPr marL="0" indent="0" algn="ctr">
              <a:buNone/>
            </a:pPr>
            <a:r>
              <a:rPr lang="en-US" sz="900" dirty="0">
                <a:solidFill>
                  <a:srgbClr val="80D883"/>
                </a:solidFill>
                <a:latin typeface="Calibri" pitchFamily="34" charset="0"/>
                <a:ea typeface="Calibri" pitchFamily="34" charset="-122"/>
                <a:cs typeface="Calibri" pitchFamily="34" charset="-120"/>
              </a:rPr>
              <a:t>Fan + heatsink</a:t>
            </a:r>
            <a:endParaRPr lang="en-US" sz="900" dirty="0"/>
          </a:p>
        </p:txBody>
      </p:sp>
      <p:sp>
        <p:nvSpPr>
          <p:cNvPr id="38" name="Shape 36">
            <a:extLst>
              <a:ext uri="{FF2B5EF4-FFF2-40B4-BE49-F238E27FC236}">
                <a16:creationId xmlns:a16="http://schemas.microsoft.com/office/drawing/2014/main" id="{F884E830-5067-5A6D-3CC1-8D1D2D124F08}"/>
              </a:ext>
            </a:extLst>
          </p:cNvPr>
          <p:cNvSpPr/>
          <p:nvPr/>
        </p:nvSpPr>
        <p:spPr>
          <a:xfrm>
            <a:off x="7406640" y="2651760"/>
            <a:ext cx="1325880" cy="402336"/>
          </a:xfrm>
          <a:prstGeom prst="roundRect">
            <a:avLst>
              <a:gd name="adj" fmla="val 18182"/>
            </a:avLst>
          </a:prstGeom>
          <a:solidFill>
            <a:srgbClr val="142814"/>
          </a:solidFill>
          <a:ln w="12700">
            <a:solidFill>
              <a:srgbClr val="142814"/>
            </a:solidFill>
            <a:prstDash val="solid"/>
          </a:ln>
        </p:spPr>
        <p:txBody>
          <a:bodyPr/>
          <a:lstStyle/>
          <a:p>
            <a:endParaRPr lang="en-US"/>
          </a:p>
        </p:txBody>
      </p:sp>
      <p:sp>
        <p:nvSpPr>
          <p:cNvPr id="39" name="Text 37">
            <a:extLst>
              <a:ext uri="{FF2B5EF4-FFF2-40B4-BE49-F238E27FC236}">
                <a16:creationId xmlns:a16="http://schemas.microsoft.com/office/drawing/2014/main" id="{A1E8952E-2AE5-B6BF-71D7-4783F8194600}"/>
              </a:ext>
            </a:extLst>
          </p:cNvPr>
          <p:cNvSpPr/>
          <p:nvPr/>
        </p:nvSpPr>
        <p:spPr>
          <a:xfrm>
            <a:off x="7406640" y="2688336"/>
            <a:ext cx="1325880" cy="209215"/>
          </a:xfrm>
          <a:prstGeom prst="rect">
            <a:avLst/>
          </a:prstGeom>
          <a:noFill/>
          <a:ln/>
        </p:spPr>
        <p:txBody>
          <a:bodyPr wrap="square" lIns="0" tIns="0" rIns="0" bIns="0" rtlCol="0" anchor="b"/>
          <a:lstStyle/>
          <a:p>
            <a:pPr marL="0" indent="0" algn="ctr">
              <a:buNone/>
            </a:pPr>
            <a:r>
              <a:rPr lang="en-US" sz="1200" b="1" dirty="0">
                <a:solidFill>
                  <a:srgbClr val="EDEDED"/>
                </a:solidFill>
                <a:latin typeface="Calibri" pitchFamily="34" charset="0"/>
                <a:ea typeface="Calibri" pitchFamily="34" charset="-122"/>
                <a:cs typeface="Calibri" pitchFamily="34" charset="-120"/>
              </a:rPr>
              <a:t>Case fans</a:t>
            </a:r>
            <a:endParaRPr lang="en-US" sz="1200" dirty="0"/>
          </a:p>
        </p:txBody>
      </p:sp>
      <p:sp>
        <p:nvSpPr>
          <p:cNvPr id="40" name="Text 38">
            <a:extLst>
              <a:ext uri="{FF2B5EF4-FFF2-40B4-BE49-F238E27FC236}">
                <a16:creationId xmlns:a16="http://schemas.microsoft.com/office/drawing/2014/main" id="{E1979199-ABBA-0152-74CC-A788FD93E313}"/>
              </a:ext>
            </a:extLst>
          </p:cNvPr>
          <p:cNvSpPr/>
          <p:nvPr/>
        </p:nvSpPr>
        <p:spPr>
          <a:xfrm>
            <a:off x="7406640" y="2860975"/>
            <a:ext cx="1325880" cy="185075"/>
          </a:xfrm>
          <a:prstGeom prst="rect">
            <a:avLst/>
          </a:prstGeom>
          <a:noFill/>
          <a:ln/>
        </p:spPr>
        <p:txBody>
          <a:bodyPr wrap="square" lIns="0" tIns="0" rIns="0" bIns="0" rtlCol="0" anchor="t"/>
          <a:lstStyle/>
          <a:p>
            <a:pPr marL="0" indent="0" algn="ctr">
              <a:buNone/>
            </a:pPr>
            <a:r>
              <a:rPr lang="en-US" sz="900" dirty="0">
                <a:solidFill>
                  <a:srgbClr val="80D883"/>
                </a:solidFill>
                <a:latin typeface="Calibri" pitchFamily="34" charset="0"/>
                <a:ea typeface="Calibri" pitchFamily="34" charset="-122"/>
                <a:cs typeface="Calibri" pitchFamily="34" charset="-120"/>
              </a:rPr>
              <a:t>Airflow cooling</a:t>
            </a:r>
            <a:endParaRPr lang="en-US" sz="900" dirty="0"/>
          </a:p>
        </p:txBody>
      </p:sp>
      <p:sp>
        <p:nvSpPr>
          <p:cNvPr id="41" name="Shape 39">
            <a:extLst>
              <a:ext uri="{FF2B5EF4-FFF2-40B4-BE49-F238E27FC236}">
                <a16:creationId xmlns:a16="http://schemas.microsoft.com/office/drawing/2014/main" id="{8ABCCD8E-BFDD-52E6-5D17-252417D2E5EE}"/>
              </a:ext>
            </a:extLst>
          </p:cNvPr>
          <p:cNvSpPr/>
          <p:nvPr/>
        </p:nvSpPr>
        <p:spPr>
          <a:xfrm>
            <a:off x="5989320" y="3090672"/>
            <a:ext cx="2724912" cy="347472"/>
          </a:xfrm>
          <a:prstGeom prst="roundRect">
            <a:avLst>
              <a:gd name="adj" fmla="val 21053"/>
            </a:avLst>
          </a:prstGeom>
          <a:solidFill>
            <a:srgbClr val="0E1E10"/>
          </a:solidFill>
          <a:ln w="12700">
            <a:solidFill>
              <a:srgbClr val="0E1E10"/>
            </a:solidFill>
            <a:prstDash val="solid"/>
          </a:ln>
        </p:spPr>
        <p:txBody>
          <a:bodyPr/>
          <a:lstStyle/>
          <a:p>
            <a:endParaRPr lang="en-US"/>
          </a:p>
        </p:txBody>
      </p:sp>
      <p:sp>
        <p:nvSpPr>
          <p:cNvPr id="42" name="Text 40">
            <a:extLst>
              <a:ext uri="{FF2B5EF4-FFF2-40B4-BE49-F238E27FC236}">
                <a16:creationId xmlns:a16="http://schemas.microsoft.com/office/drawing/2014/main" id="{4D8535DC-7960-0667-A4B5-DB2EE91EA9D7}"/>
              </a:ext>
            </a:extLst>
          </p:cNvPr>
          <p:cNvSpPr/>
          <p:nvPr/>
        </p:nvSpPr>
        <p:spPr>
          <a:xfrm>
            <a:off x="5989320" y="3090672"/>
            <a:ext cx="2724912" cy="347472"/>
          </a:xfrm>
          <a:prstGeom prst="rect">
            <a:avLst/>
          </a:prstGeom>
          <a:noFill/>
          <a:ln/>
        </p:spPr>
        <p:txBody>
          <a:bodyPr wrap="square" lIns="0" tIns="0" rIns="0" bIns="0" rtlCol="0" anchor="ctr"/>
          <a:lstStyle/>
          <a:p>
            <a:pPr marL="0" indent="0" algn="ctr">
              <a:buNone/>
            </a:pPr>
            <a:r>
              <a:rPr lang="en-US" sz="1200" b="1" dirty="0">
                <a:solidFill>
                  <a:srgbClr val="EDEDED"/>
                </a:solidFill>
                <a:latin typeface="Calibri" pitchFamily="34" charset="0"/>
                <a:ea typeface="Calibri" pitchFamily="34" charset="-122"/>
                <a:cs typeface="Calibri" pitchFamily="34" charset="-120"/>
              </a:rPr>
              <a:t>Thermal paste — CPU to cooler bond</a:t>
            </a:r>
            <a:endParaRPr lang="en-US" sz="1200" dirty="0"/>
          </a:p>
        </p:txBody>
      </p:sp>
      <p:sp>
        <p:nvSpPr>
          <p:cNvPr id="43" name="Shape 41">
            <a:extLst>
              <a:ext uri="{FF2B5EF4-FFF2-40B4-BE49-F238E27FC236}">
                <a16:creationId xmlns:a16="http://schemas.microsoft.com/office/drawing/2014/main" id="{49B2DB16-3D01-F0CF-B476-2E37CC3FAB09}"/>
              </a:ext>
            </a:extLst>
          </p:cNvPr>
          <p:cNvSpPr/>
          <p:nvPr/>
        </p:nvSpPr>
        <p:spPr>
          <a:xfrm>
            <a:off x="228600" y="3703320"/>
            <a:ext cx="3931920" cy="1051560"/>
          </a:xfrm>
          <a:prstGeom prst="roundRect">
            <a:avLst>
              <a:gd name="adj" fmla="val 8696"/>
            </a:avLst>
          </a:prstGeom>
          <a:solidFill>
            <a:srgbClr val="2E1000"/>
          </a:solidFill>
          <a:ln w="12700">
            <a:solidFill>
              <a:srgbClr val="F4A664"/>
            </a:solidFill>
            <a:prstDash val="solid"/>
          </a:ln>
        </p:spPr>
        <p:txBody>
          <a:bodyPr/>
          <a:lstStyle/>
          <a:p>
            <a:endParaRPr lang="en-US"/>
          </a:p>
        </p:txBody>
      </p:sp>
      <p:sp>
        <p:nvSpPr>
          <p:cNvPr id="44" name="Text 42">
            <a:extLst>
              <a:ext uri="{FF2B5EF4-FFF2-40B4-BE49-F238E27FC236}">
                <a16:creationId xmlns:a16="http://schemas.microsoft.com/office/drawing/2014/main" id="{CAE32866-0CF5-A054-5761-197971ECCFCA}"/>
              </a:ext>
            </a:extLst>
          </p:cNvPr>
          <p:cNvSpPr/>
          <p:nvPr/>
        </p:nvSpPr>
        <p:spPr>
          <a:xfrm>
            <a:off x="320040" y="3730752"/>
            <a:ext cx="3749040" cy="347472"/>
          </a:xfrm>
          <a:prstGeom prst="rect">
            <a:avLst/>
          </a:prstGeom>
          <a:noFill/>
          <a:ln/>
        </p:spPr>
        <p:txBody>
          <a:bodyPr wrap="square" rtlCol="0" anchor="ctr"/>
          <a:lstStyle/>
          <a:p>
            <a:pPr marL="0" indent="0">
              <a:buNone/>
            </a:pPr>
            <a:r>
              <a:rPr lang="en-US" sz="1200" b="1" dirty="0">
                <a:solidFill>
                  <a:srgbClr val="F4A664"/>
                </a:solidFill>
                <a:latin typeface="Calibri" pitchFamily="34" charset="0"/>
                <a:ea typeface="Calibri" pitchFamily="34" charset="-122"/>
                <a:cs typeface="Calibri" pitchFamily="34" charset="-120"/>
              </a:rPr>
              <a:t>Power supply (PSU)</a:t>
            </a:r>
            <a:endParaRPr lang="en-US" sz="1200" dirty="0"/>
          </a:p>
        </p:txBody>
      </p:sp>
      <p:sp>
        <p:nvSpPr>
          <p:cNvPr id="45" name="Text 43">
            <a:extLst>
              <a:ext uri="{FF2B5EF4-FFF2-40B4-BE49-F238E27FC236}">
                <a16:creationId xmlns:a16="http://schemas.microsoft.com/office/drawing/2014/main" id="{C5B9C96C-27E2-F387-85A6-A11272EDDC7E}"/>
              </a:ext>
            </a:extLst>
          </p:cNvPr>
          <p:cNvSpPr/>
          <p:nvPr/>
        </p:nvSpPr>
        <p:spPr>
          <a:xfrm>
            <a:off x="320040" y="4078224"/>
            <a:ext cx="3749040" cy="603504"/>
          </a:xfrm>
          <a:prstGeom prst="rect">
            <a:avLst/>
          </a:prstGeom>
          <a:noFill/>
          <a:ln/>
        </p:spPr>
        <p:txBody>
          <a:bodyPr wrap="square" rtlCol="0" anchor="ctr"/>
          <a:lstStyle/>
          <a:p>
            <a:pPr marL="0" indent="0">
              <a:buNone/>
            </a:pPr>
            <a:r>
              <a:rPr lang="en-US" sz="900" dirty="0">
                <a:solidFill>
                  <a:srgbClr val="EDEDED"/>
                </a:solidFill>
                <a:latin typeface="Calibri" pitchFamily="34" charset="0"/>
                <a:ea typeface="Calibri" pitchFamily="34" charset="-122"/>
                <a:cs typeface="Calibri" pitchFamily="34" charset="-120"/>
              </a:rPr>
              <a:t>Converts AC wall power to DC voltages for all components</a:t>
            </a:r>
            <a:endParaRPr lang="en-US" sz="900" dirty="0"/>
          </a:p>
        </p:txBody>
      </p:sp>
      <p:sp>
        <p:nvSpPr>
          <p:cNvPr id="46" name="Shape 44">
            <a:extLst>
              <a:ext uri="{FF2B5EF4-FFF2-40B4-BE49-F238E27FC236}">
                <a16:creationId xmlns:a16="http://schemas.microsoft.com/office/drawing/2014/main" id="{D1BF4826-A2CA-329D-5F1E-3F31D70F0C37}"/>
              </a:ext>
            </a:extLst>
          </p:cNvPr>
          <p:cNvSpPr/>
          <p:nvPr/>
        </p:nvSpPr>
        <p:spPr>
          <a:xfrm>
            <a:off x="4297680" y="3703320"/>
            <a:ext cx="4572000" cy="1051560"/>
          </a:xfrm>
          <a:prstGeom prst="roundRect">
            <a:avLst>
              <a:gd name="adj" fmla="val 8696"/>
            </a:avLst>
          </a:prstGeom>
          <a:solidFill>
            <a:srgbClr val="1A1A1A"/>
          </a:solidFill>
          <a:ln w="12700">
            <a:solidFill>
              <a:srgbClr val="888888"/>
            </a:solidFill>
            <a:prstDash val="solid"/>
          </a:ln>
        </p:spPr>
        <p:txBody>
          <a:bodyPr/>
          <a:lstStyle/>
          <a:p>
            <a:endParaRPr lang="en-US"/>
          </a:p>
        </p:txBody>
      </p:sp>
      <p:sp>
        <p:nvSpPr>
          <p:cNvPr id="47" name="Text 45">
            <a:extLst>
              <a:ext uri="{FF2B5EF4-FFF2-40B4-BE49-F238E27FC236}">
                <a16:creationId xmlns:a16="http://schemas.microsoft.com/office/drawing/2014/main" id="{496DA46F-9680-D0A3-09A9-D1FF88F9987A}"/>
              </a:ext>
            </a:extLst>
          </p:cNvPr>
          <p:cNvSpPr/>
          <p:nvPr/>
        </p:nvSpPr>
        <p:spPr>
          <a:xfrm>
            <a:off x="4389120" y="3730752"/>
            <a:ext cx="4389120" cy="347472"/>
          </a:xfrm>
          <a:prstGeom prst="rect">
            <a:avLst/>
          </a:prstGeom>
          <a:noFill/>
          <a:ln/>
        </p:spPr>
        <p:txBody>
          <a:bodyPr wrap="square" rtlCol="0" anchor="ctr"/>
          <a:lstStyle/>
          <a:p>
            <a:pPr marL="0" indent="0">
              <a:buNone/>
            </a:pPr>
            <a:r>
              <a:rPr lang="en-US" sz="1200" b="1" dirty="0">
                <a:solidFill>
                  <a:srgbClr val="EDEDED"/>
                </a:solidFill>
                <a:latin typeface="Calibri" pitchFamily="34" charset="0"/>
                <a:ea typeface="Calibri" pitchFamily="34" charset="-122"/>
                <a:cs typeface="Calibri" pitchFamily="34" charset="-120"/>
              </a:rPr>
              <a:t>Cables and connectors</a:t>
            </a:r>
            <a:endParaRPr lang="en-US" sz="1200" dirty="0"/>
          </a:p>
        </p:txBody>
      </p:sp>
      <p:sp>
        <p:nvSpPr>
          <p:cNvPr id="48" name="Text 46">
            <a:extLst>
              <a:ext uri="{FF2B5EF4-FFF2-40B4-BE49-F238E27FC236}">
                <a16:creationId xmlns:a16="http://schemas.microsoft.com/office/drawing/2014/main" id="{36753ED1-ED7F-A664-EDDD-8C49CF68CCBE}"/>
              </a:ext>
            </a:extLst>
          </p:cNvPr>
          <p:cNvSpPr/>
          <p:nvPr/>
        </p:nvSpPr>
        <p:spPr>
          <a:xfrm>
            <a:off x="4389120" y="4078224"/>
            <a:ext cx="4389120" cy="603504"/>
          </a:xfrm>
          <a:prstGeom prst="rect">
            <a:avLst/>
          </a:prstGeom>
          <a:noFill/>
          <a:ln/>
        </p:spPr>
        <p:txBody>
          <a:bodyPr wrap="square" rtlCol="0" anchor="ctr"/>
          <a:lstStyle/>
          <a:p>
            <a:pPr marL="0" indent="0">
              <a:buNone/>
            </a:pPr>
            <a:r>
              <a:rPr lang="en-US" sz="900" dirty="0">
                <a:solidFill>
                  <a:srgbClr val="999999"/>
                </a:solidFill>
                <a:latin typeface="Calibri" pitchFamily="34" charset="0"/>
                <a:ea typeface="Calibri" pitchFamily="34" charset="-122"/>
                <a:cs typeface="Calibri" pitchFamily="34" charset="-120"/>
              </a:rPr>
              <a:t>SATA data cables · Power cables · USB headers · Front panel connectors</a:t>
            </a:r>
            <a:endParaRPr lang="en-US" sz="900" dirty="0"/>
          </a:p>
        </p:txBody>
      </p:sp>
    </p:spTree>
    <p:extLst>
      <p:ext uri="{BB962C8B-B14F-4D97-AF65-F5344CB8AC3E}">
        <p14:creationId xmlns:p14="http://schemas.microsoft.com/office/powerpoint/2010/main" val="18500391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a:extLst>
            <a:ext uri="{FF2B5EF4-FFF2-40B4-BE49-F238E27FC236}">
              <a16:creationId xmlns:a16="http://schemas.microsoft.com/office/drawing/2014/main" id="{28281AEC-4DAE-0847-65A0-5F1AFBFF064E}"/>
            </a:ext>
          </a:extLst>
        </p:cNvPr>
        <p:cNvGrpSpPr/>
        <p:nvPr/>
      </p:nvGrpSpPr>
      <p:grpSpPr>
        <a:xfrm>
          <a:off x="0" y="0"/>
          <a:ext cx="0" cy="0"/>
          <a:chOff x="0" y="0"/>
          <a:chExt cx="0" cy="0"/>
        </a:xfrm>
      </p:grpSpPr>
      <p:sp>
        <p:nvSpPr>
          <p:cNvPr id="44" name="Shape 1">
            <a:extLst>
              <a:ext uri="{FF2B5EF4-FFF2-40B4-BE49-F238E27FC236}">
                <a16:creationId xmlns:a16="http://schemas.microsoft.com/office/drawing/2014/main" id="{5745B304-7F98-2C7F-A319-D716DFE87E3B}"/>
              </a:ext>
            </a:extLst>
          </p:cNvPr>
          <p:cNvSpPr/>
          <p:nvPr/>
        </p:nvSpPr>
        <p:spPr>
          <a:xfrm>
            <a:off x="0" y="73152"/>
            <a:ext cx="9144000" cy="841248"/>
          </a:xfrm>
          <a:prstGeom prst="rect">
            <a:avLst/>
          </a:prstGeom>
          <a:solidFill>
            <a:srgbClr val="262626"/>
          </a:solidFill>
          <a:ln w="12700">
            <a:solidFill>
              <a:srgbClr val="262626"/>
            </a:solidFill>
            <a:prstDash val="solid"/>
          </a:ln>
        </p:spPr>
        <p:txBody>
          <a:bodyPr/>
          <a:lstStyle/>
          <a:p>
            <a:endParaRPr lang="en-US"/>
          </a:p>
        </p:txBody>
      </p:sp>
      <p:sp>
        <p:nvSpPr>
          <p:cNvPr id="23" name="Shape 0">
            <a:extLst>
              <a:ext uri="{FF2B5EF4-FFF2-40B4-BE49-F238E27FC236}">
                <a16:creationId xmlns:a16="http://schemas.microsoft.com/office/drawing/2014/main" id="{008CEEED-7D80-688E-1919-A1AC3D4CAE9A}"/>
              </a:ext>
            </a:extLst>
          </p:cNvPr>
          <p:cNvSpPr/>
          <p:nvPr/>
        </p:nvSpPr>
        <p:spPr>
          <a:xfrm>
            <a:off x="0" y="0"/>
            <a:ext cx="9144000" cy="54864"/>
          </a:xfrm>
          <a:prstGeom prst="rect">
            <a:avLst/>
          </a:prstGeom>
          <a:solidFill>
            <a:srgbClr val="57E3D8"/>
          </a:solidFill>
          <a:ln w="12700">
            <a:solidFill>
              <a:srgbClr val="57E3D8"/>
            </a:solidFill>
            <a:prstDash val="solid"/>
          </a:ln>
        </p:spPr>
        <p:txBody>
          <a:bodyPr/>
          <a:lstStyle/>
          <a:p>
            <a:endParaRPr lang="en-US"/>
          </a:p>
        </p:txBody>
      </p:sp>
      <p:sp>
        <p:nvSpPr>
          <p:cNvPr id="24" name="Shape 1">
            <a:extLst>
              <a:ext uri="{FF2B5EF4-FFF2-40B4-BE49-F238E27FC236}">
                <a16:creationId xmlns:a16="http://schemas.microsoft.com/office/drawing/2014/main" id="{606A33CB-AAB3-496F-573E-31BCB3F68637}"/>
              </a:ext>
            </a:extLst>
          </p:cNvPr>
          <p:cNvSpPr/>
          <p:nvPr/>
        </p:nvSpPr>
        <p:spPr>
          <a:xfrm>
            <a:off x="0" y="5088636"/>
            <a:ext cx="9144000" cy="54864"/>
          </a:xfrm>
          <a:prstGeom prst="rect">
            <a:avLst/>
          </a:prstGeom>
          <a:solidFill>
            <a:srgbClr val="4F29B7"/>
          </a:solidFill>
          <a:ln w="12700">
            <a:solidFill>
              <a:srgbClr val="4F29B7"/>
            </a:solidFill>
            <a:prstDash val="solid"/>
          </a:ln>
        </p:spPr>
        <p:txBody>
          <a:bodyPr/>
          <a:lstStyle/>
          <a:p>
            <a:endParaRPr lang="en-US"/>
          </a:p>
        </p:txBody>
      </p:sp>
      <p:sp>
        <p:nvSpPr>
          <p:cNvPr id="25" name="Text 2">
            <a:extLst>
              <a:ext uri="{FF2B5EF4-FFF2-40B4-BE49-F238E27FC236}">
                <a16:creationId xmlns:a16="http://schemas.microsoft.com/office/drawing/2014/main" id="{3C508B3D-67CE-C046-828F-39C4C299BA3C}"/>
              </a:ext>
            </a:extLst>
          </p:cNvPr>
          <p:cNvSpPr/>
          <p:nvPr/>
        </p:nvSpPr>
        <p:spPr>
          <a:xfrm>
            <a:off x="347472" y="164592"/>
            <a:ext cx="8449056" cy="475488"/>
          </a:xfrm>
          <a:prstGeom prst="rect">
            <a:avLst/>
          </a:prstGeom>
          <a:noFill/>
          <a:ln/>
        </p:spPr>
        <p:txBody>
          <a:bodyPr wrap="square" rtlCol="0" anchor="ctr"/>
          <a:lstStyle/>
          <a:p>
            <a:pPr marL="0" indent="0">
              <a:buNone/>
            </a:pPr>
            <a:r>
              <a:rPr lang="en-US" sz="2800" b="1" dirty="0">
                <a:solidFill>
                  <a:srgbClr val="57E3D8"/>
                </a:solidFill>
                <a:latin typeface="Calibri" pitchFamily="34" charset="0"/>
                <a:ea typeface="Calibri" pitchFamily="34" charset="-122"/>
                <a:cs typeface="Calibri" pitchFamily="34" charset="-120"/>
              </a:rPr>
              <a:t>Understanding Operating Systems</a:t>
            </a:r>
            <a:endParaRPr lang="en-US" sz="2800" dirty="0"/>
          </a:p>
        </p:txBody>
      </p:sp>
      <p:sp>
        <p:nvSpPr>
          <p:cNvPr id="26" name="Text 3">
            <a:extLst>
              <a:ext uri="{FF2B5EF4-FFF2-40B4-BE49-F238E27FC236}">
                <a16:creationId xmlns:a16="http://schemas.microsoft.com/office/drawing/2014/main" id="{0AB16C1E-85E2-D07C-BC16-D07E6D34AB17}"/>
              </a:ext>
            </a:extLst>
          </p:cNvPr>
          <p:cNvSpPr/>
          <p:nvPr/>
        </p:nvSpPr>
        <p:spPr>
          <a:xfrm>
            <a:off x="347472" y="621792"/>
            <a:ext cx="8449056" cy="256032"/>
          </a:xfrm>
          <a:prstGeom prst="rect">
            <a:avLst/>
          </a:prstGeom>
          <a:noFill/>
          <a:ln/>
        </p:spPr>
        <p:txBody>
          <a:bodyPr wrap="square" rtlCol="0" anchor="ctr"/>
          <a:lstStyle/>
          <a:p>
            <a:pPr marL="0" indent="0">
              <a:buNone/>
            </a:pPr>
            <a:r>
              <a:rPr lang="en-US" sz="1300" i="1" dirty="0">
                <a:solidFill>
                  <a:srgbClr val="EDEDED"/>
                </a:solidFill>
                <a:latin typeface="Calibri" pitchFamily="34" charset="0"/>
                <a:ea typeface="Calibri" pitchFamily="34" charset="-122"/>
                <a:cs typeface="Calibri" pitchFamily="34" charset="-120"/>
              </a:rPr>
              <a:t>What is an operating system?</a:t>
            </a:r>
            <a:endParaRPr lang="en-US" sz="1300" dirty="0"/>
          </a:p>
        </p:txBody>
      </p:sp>
      <p:sp>
        <p:nvSpPr>
          <p:cNvPr id="27" name="Shape 4">
            <a:extLst>
              <a:ext uri="{FF2B5EF4-FFF2-40B4-BE49-F238E27FC236}">
                <a16:creationId xmlns:a16="http://schemas.microsoft.com/office/drawing/2014/main" id="{47D6CEAE-2FEA-F2BF-EA14-1689206C46D3}"/>
              </a:ext>
            </a:extLst>
          </p:cNvPr>
          <p:cNvSpPr/>
          <p:nvPr/>
        </p:nvSpPr>
        <p:spPr>
          <a:xfrm>
            <a:off x="274320" y="987552"/>
            <a:ext cx="8595360" cy="3986784"/>
          </a:xfrm>
          <a:prstGeom prst="roundRect">
            <a:avLst>
              <a:gd name="adj" fmla="val 2752"/>
            </a:avLst>
          </a:prstGeom>
          <a:solidFill>
            <a:srgbClr val="1A1040"/>
          </a:solidFill>
          <a:ln w="12700">
            <a:solidFill>
              <a:srgbClr val="1A1040"/>
            </a:solidFill>
            <a:prstDash val="solid"/>
          </a:ln>
        </p:spPr>
        <p:txBody>
          <a:bodyPr/>
          <a:lstStyle/>
          <a:p>
            <a:endParaRPr lang="en-US"/>
          </a:p>
        </p:txBody>
      </p:sp>
      <p:sp>
        <p:nvSpPr>
          <p:cNvPr id="28" name="Text 5">
            <a:extLst>
              <a:ext uri="{FF2B5EF4-FFF2-40B4-BE49-F238E27FC236}">
                <a16:creationId xmlns:a16="http://schemas.microsoft.com/office/drawing/2014/main" id="{BFF8DD51-555D-BA0F-9CE5-CD5B9C859DEB}"/>
              </a:ext>
            </a:extLst>
          </p:cNvPr>
          <p:cNvSpPr/>
          <p:nvPr/>
        </p:nvSpPr>
        <p:spPr>
          <a:xfrm>
            <a:off x="502920" y="1078992"/>
            <a:ext cx="8138160" cy="640080"/>
          </a:xfrm>
          <a:prstGeom prst="rect">
            <a:avLst/>
          </a:prstGeom>
          <a:noFill/>
          <a:ln/>
        </p:spPr>
        <p:txBody>
          <a:bodyPr wrap="square" lIns="0" tIns="0" rIns="0" bIns="0" rtlCol="0" anchor="t"/>
          <a:lstStyle/>
          <a:p>
            <a:pPr marL="0" indent="0">
              <a:lnSpc>
                <a:spcPct val="140000"/>
              </a:lnSpc>
              <a:buNone/>
            </a:pPr>
            <a:r>
              <a:rPr lang="en-US" sz="1300" dirty="0">
                <a:solidFill>
                  <a:srgbClr val="EDEDED"/>
                </a:solidFill>
                <a:latin typeface="Calibri" pitchFamily="34" charset="0"/>
                <a:ea typeface="Calibri" pitchFamily="34" charset="-122"/>
                <a:cs typeface="Calibri" pitchFamily="34" charset="-120"/>
              </a:rPr>
              <a:t>An operating system is the most important software that runs on a computer. It manages the computer's memory and processes, as well as all of its software and hardware. It also allows you to communicate with the computer without knowing how to speak the computer's language.</a:t>
            </a:r>
            <a:endParaRPr lang="en-US" sz="1300" dirty="0"/>
          </a:p>
        </p:txBody>
      </p:sp>
      <p:sp>
        <p:nvSpPr>
          <p:cNvPr id="29" name="Text 7">
            <a:extLst>
              <a:ext uri="{FF2B5EF4-FFF2-40B4-BE49-F238E27FC236}">
                <a16:creationId xmlns:a16="http://schemas.microsoft.com/office/drawing/2014/main" id="{99D09ABA-0C87-1247-0E8B-B16F3E7E1E93}"/>
              </a:ext>
            </a:extLst>
          </p:cNvPr>
          <p:cNvSpPr/>
          <p:nvPr/>
        </p:nvSpPr>
        <p:spPr>
          <a:xfrm>
            <a:off x="502920" y="1865376"/>
            <a:ext cx="8138160" cy="329184"/>
          </a:xfrm>
          <a:prstGeom prst="rect">
            <a:avLst/>
          </a:prstGeom>
          <a:noFill/>
          <a:ln/>
        </p:spPr>
        <p:txBody>
          <a:bodyPr wrap="square" rtlCol="0" anchor="ctr"/>
          <a:lstStyle/>
          <a:p>
            <a:pPr marL="0" indent="0">
              <a:buNone/>
            </a:pPr>
            <a:r>
              <a:rPr lang="en-US" sz="1400" b="1" i="1" dirty="0">
                <a:solidFill>
                  <a:srgbClr val="57E3D8"/>
                </a:solidFill>
                <a:latin typeface="Calibri" pitchFamily="34" charset="0"/>
                <a:ea typeface="Calibri" pitchFamily="34" charset="-122"/>
                <a:cs typeface="Calibri" pitchFamily="34" charset="-120"/>
              </a:rPr>
              <a:t>Without an operating system, a computer is useless.</a:t>
            </a:r>
            <a:endParaRPr lang="en-US" sz="1400" dirty="0"/>
          </a:p>
        </p:txBody>
      </p:sp>
      <p:sp>
        <p:nvSpPr>
          <p:cNvPr id="30" name="Shape 8">
            <a:extLst>
              <a:ext uri="{FF2B5EF4-FFF2-40B4-BE49-F238E27FC236}">
                <a16:creationId xmlns:a16="http://schemas.microsoft.com/office/drawing/2014/main" id="{17D30D13-F657-D3CA-27B6-CDD5D1DC28FB}"/>
              </a:ext>
            </a:extLst>
          </p:cNvPr>
          <p:cNvSpPr/>
          <p:nvPr/>
        </p:nvSpPr>
        <p:spPr>
          <a:xfrm>
            <a:off x="502920" y="2249424"/>
            <a:ext cx="8138160" cy="0"/>
          </a:xfrm>
          <a:prstGeom prst="line">
            <a:avLst/>
          </a:prstGeom>
          <a:noFill/>
          <a:ln w="6350">
            <a:solidFill>
              <a:srgbClr val="2A1A5E"/>
            </a:solidFill>
            <a:prstDash val="solid"/>
          </a:ln>
        </p:spPr>
        <p:txBody>
          <a:bodyPr/>
          <a:lstStyle/>
          <a:p>
            <a:endParaRPr lang="en-US"/>
          </a:p>
        </p:txBody>
      </p:sp>
      <p:sp>
        <p:nvSpPr>
          <p:cNvPr id="31" name="Shape 9">
            <a:extLst>
              <a:ext uri="{FF2B5EF4-FFF2-40B4-BE49-F238E27FC236}">
                <a16:creationId xmlns:a16="http://schemas.microsoft.com/office/drawing/2014/main" id="{CD923A1E-E663-1576-6C89-395848DBB7CA}"/>
              </a:ext>
            </a:extLst>
          </p:cNvPr>
          <p:cNvSpPr/>
          <p:nvPr/>
        </p:nvSpPr>
        <p:spPr>
          <a:xfrm>
            <a:off x="475488" y="2377440"/>
            <a:ext cx="2578608" cy="1536192"/>
          </a:xfrm>
          <a:prstGeom prst="roundRect">
            <a:avLst>
              <a:gd name="adj" fmla="val 5952"/>
            </a:avLst>
          </a:prstGeom>
          <a:solidFill>
            <a:srgbClr val="1E1040"/>
          </a:solidFill>
          <a:ln w="10160">
            <a:solidFill>
              <a:srgbClr val="57E3D8"/>
            </a:solidFill>
            <a:prstDash val="solid"/>
          </a:ln>
        </p:spPr>
        <p:txBody>
          <a:bodyPr/>
          <a:lstStyle/>
          <a:p>
            <a:endParaRPr lang="en-US"/>
          </a:p>
        </p:txBody>
      </p:sp>
      <p:sp>
        <p:nvSpPr>
          <p:cNvPr id="32" name="Shape 10">
            <a:extLst>
              <a:ext uri="{FF2B5EF4-FFF2-40B4-BE49-F238E27FC236}">
                <a16:creationId xmlns:a16="http://schemas.microsoft.com/office/drawing/2014/main" id="{1D212A73-990A-6DD0-A177-5F5B4E702A87}"/>
              </a:ext>
            </a:extLst>
          </p:cNvPr>
          <p:cNvSpPr/>
          <p:nvPr/>
        </p:nvSpPr>
        <p:spPr>
          <a:xfrm>
            <a:off x="475488" y="2377440"/>
            <a:ext cx="2578608" cy="54864"/>
          </a:xfrm>
          <a:prstGeom prst="rect">
            <a:avLst/>
          </a:prstGeom>
          <a:solidFill>
            <a:srgbClr val="57E3D8"/>
          </a:solidFill>
          <a:ln w="12700">
            <a:solidFill>
              <a:srgbClr val="57E3D8"/>
            </a:solidFill>
            <a:prstDash val="solid"/>
          </a:ln>
        </p:spPr>
        <p:txBody>
          <a:bodyPr/>
          <a:lstStyle/>
          <a:p>
            <a:endParaRPr lang="en-US"/>
          </a:p>
        </p:txBody>
      </p:sp>
      <p:sp>
        <p:nvSpPr>
          <p:cNvPr id="33" name="Text 11">
            <a:extLst>
              <a:ext uri="{FF2B5EF4-FFF2-40B4-BE49-F238E27FC236}">
                <a16:creationId xmlns:a16="http://schemas.microsoft.com/office/drawing/2014/main" id="{503A35F6-8EB4-2DDC-45FD-DB79BA1DE823}"/>
              </a:ext>
            </a:extLst>
          </p:cNvPr>
          <p:cNvSpPr/>
          <p:nvPr/>
        </p:nvSpPr>
        <p:spPr>
          <a:xfrm>
            <a:off x="603504" y="2487168"/>
            <a:ext cx="2322576" cy="310896"/>
          </a:xfrm>
          <a:prstGeom prst="rect">
            <a:avLst/>
          </a:prstGeom>
          <a:noFill/>
          <a:ln/>
        </p:spPr>
        <p:txBody>
          <a:bodyPr wrap="square" lIns="0" tIns="0" rIns="0" bIns="0" rtlCol="0" anchor="ctr"/>
          <a:lstStyle/>
          <a:p>
            <a:pPr marL="0" indent="0">
              <a:buNone/>
            </a:pPr>
            <a:r>
              <a:rPr lang="en-US" sz="1300" b="1" dirty="0">
                <a:solidFill>
                  <a:srgbClr val="57E3D8"/>
                </a:solidFill>
                <a:latin typeface="Calibri" pitchFamily="34" charset="0"/>
                <a:ea typeface="Calibri" pitchFamily="34" charset="-122"/>
                <a:cs typeface="Calibri" pitchFamily="34" charset="-120"/>
              </a:rPr>
              <a:t>Memory</a:t>
            </a:r>
            <a:endParaRPr lang="en-US" sz="1300" dirty="0"/>
          </a:p>
        </p:txBody>
      </p:sp>
      <p:sp>
        <p:nvSpPr>
          <p:cNvPr id="34" name="Text 12">
            <a:extLst>
              <a:ext uri="{FF2B5EF4-FFF2-40B4-BE49-F238E27FC236}">
                <a16:creationId xmlns:a16="http://schemas.microsoft.com/office/drawing/2014/main" id="{8C2FCD91-4E77-BE34-C158-DD6E1ACC936D}"/>
              </a:ext>
            </a:extLst>
          </p:cNvPr>
          <p:cNvSpPr/>
          <p:nvPr/>
        </p:nvSpPr>
        <p:spPr>
          <a:xfrm>
            <a:off x="603504" y="2816352"/>
            <a:ext cx="2322576" cy="1042416"/>
          </a:xfrm>
          <a:prstGeom prst="rect">
            <a:avLst/>
          </a:prstGeom>
          <a:noFill/>
          <a:ln/>
        </p:spPr>
        <p:txBody>
          <a:bodyPr wrap="square" lIns="0" tIns="0" rIns="0" bIns="0" rtlCol="0" anchor="t"/>
          <a:lstStyle/>
          <a:p>
            <a:pPr marL="0" indent="0">
              <a:lnSpc>
                <a:spcPct val="130000"/>
              </a:lnSpc>
              <a:buNone/>
            </a:pPr>
            <a:r>
              <a:rPr lang="en-US" sz="1100" dirty="0">
                <a:solidFill>
                  <a:srgbClr val="EDEDED"/>
                </a:solidFill>
                <a:latin typeface="Calibri" pitchFamily="34" charset="0"/>
                <a:ea typeface="Calibri" pitchFamily="34" charset="-122"/>
                <a:cs typeface="Calibri" pitchFamily="34" charset="-120"/>
              </a:rPr>
              <a:t>Manages the computer's RAM — ensures each running program gets the memory it needs.</a:t>
            </a:r>
            <a:endParaRPr lang="en-US" sz="1100" dirty="0"/>
          </a:p>
        </p:txBody>
      </p:sp>
      <p:sp>
        <p:nvSpPr>
          <p:cNvPr id="35" name="Shape 13">
            <a:extLst>
              <a:ext uri="{FF2B5EF4-FFF2-40B4-BE49-F238E27FC236}">
                <a16:creationId xmlns:a16="http://schemas.microsoft.com/office/drawing/2014/main" id="{D84D5513-BA52-286A-BF60-DB3FF3F3F314}"/>
              </a:ext>
            </a:extLst>
          </p:cNvPr>
          <p:cNvSpPr/>
          <p:nvPr/>
        </p:nvSpPr>
        <p:spPr>
          <a:xfrm>
            <a:off x="3236976" y="2377440"/>
            <a:ext cx="2578608" cy="1536192"/>
          </a:xfrm>
          <a:prstGeom prst="roundRect">
            <a:avLst>
              <a:gd name="adj" fmla="val 5952"/>
            </a:avLst>
          </a:prstGeom>
          <a:solidFill>
            <a:srgbClr val="1E1040"/>
          </a:solidFill>
          <a:ln w="10160">
            <a:solidFill>
              <a:srgbClr val="A380FF"/>
            </a:solidFill>
            <a:prstDash val="solid"/>
          </a:ln>
        </p:spPr>
        <p:txBody>
          <a:bodyPr/>
          <a:lstStyle/>
          <a:p>
            <a:endParaRPr lang="en-US"/>
          </a:p>
        </p:txBody>
      </p:sp>
      <p:sp>
        <p:nvSpPr>
          <p:cNvPr id="36" name="Shape 14">
            <a:extLst>
              <a:ext uri="{FF2B5EF4-FFF2-40B4-BE49-F238E27FC236}">
                <a16:creationId xmlns:a16="http://schemas.microsoft.com/office/drawing/2014/main" id="{FFFE080B-2D88-0A56-6A91-B14362262C08}"/>
              </a:ext>
            </a:extLst>
          </p:cNvPr>
          <p:cNvSpPr/>
          <p:nvPr/>
        </p:nvSpPr>
        <p:spPr>
          <a:xfrm>
            <a:off x="3236976" y="2377440"/>
            <a:ext cx="2578608" cy="54864"/>
          </a:xfrm>
          <a:prstGeom prst="rect">
            <a:avLst/>
          </a:prstGeom>
          <a:solidFill>
            <a:srgbClr val="A380FF"/>
          </a:solidFill>
          <a:ln w="12700">
            <a:solidFill>
              <a:srgbClr val="A380FF"/>
            </a:solidFill>
            <a:prstDash val="solid"/>
          </a:ln>
        </p:spPr>
        <p:txBody>
          <a:bodyPr/>
          <a:lstStyle/>
          <a:p>
            <a:endParaRPr lang="en-US"/>
          </a:p>
        </p:txBody>
      </p:sp>
      <p:sp>
        <p:nvSpPr>
          <p:cNvPr id="37" name="Text 15">
            <a:extLst>
              <a:ext uri="{FF2B5EF4-FFF2-40B4-BE49-F238E27FC236}">
                <a16:creationId xmlns:a16="http://schemas.microsoft.com/office/drawing/2014/main" id="{DA685492-5619-6088-5004-C6C92A2FF95F}"/>
              </a:ext>
            </a:extLst>
          </p:cNvPr>
          <p:cNvSpPr/>
          <p:nvPr/>
        </p:nvSpPr>
        <p:spPr>
          <a:xfrm>
            <a:off x="3364992" y="2487168"/>
            <a:ext cx="2322576" cy="310896"/>
          </a:xfrm>
          <a:prstGeom prst="rect">
            <a:avLst/>
          </a:prstGeom>
          <a:noFill/>
          <a:ln/>
        </p:spPr>
        <p:txBody>
          <a:bodyPr wrap="square" lIns="0" tIns="0" rIns="0" bIns="0" rtlCol="0" anchor="ctr"/>
          <a:lstStyle/>
          <a:p>
            <a:pPr marL="0" indent="0">
              <a:buNone/>
            </a:pPr>
            <a:r>
              <a:rPr lang="en-US" sz="1300" b="1" dirty="0">
                <a:solidFill>
                  <a:srgbClr val="A380FF"/>
                </a:solidFill>
                <a:latin typeface="Calibri" pitchFamily="34" charset="0"/>
                <a:ea typeface="Calibri" pitchFamily="34" charset="-122"/>
                <a:cs typeface="Calibri" pitchFamily="34" charset="-120"/>
              </a:rPr>
              <a:t>Processes</a:t>
            </a:r>
            <a:endParaRPr lang="en-US" sz="1300" dirty="0"/>
          </a:p>
        </p:txBody>
      </p:sp>
      <p:sp>
        <p:nvSpPr>
          <p:cNvPr id="38" name="Text 16">
            <a:extLst>
              <a:ext uri="{FF2B5EF4-FFF2-40B4-BE49-F238E27FC236}">
                <a16:creationId xmlns:a16="http://schemas.microsoft.com/office/drawing/2014/main" id="{2B205E37-92FB-86B1-79FE-2A940B8B0685}"/>
              </a:ext>
            </a:extLst>
          </p:cNvPr>
          <p:cNvSpPr/>
          <p:nvPr/>
        </p:nvSpPr>
        <p:spPr>
          <a:xfrm>
            <a:off x="3364992" y="2816352"/>
            <a:ext cx="2322576" cy="1042416"/>
          </a:xfrm>
          <a:prstGeom prst="rect">
            <a:avLst/>
          </a:prstGeom>
          <a:noFill/>
          <a:ln/>
        </p:spPr>
        <p:txBody>
          <a:bodyPr wrap="square" lIns="0" tIns="0" rIns="0" bIns="0" rtlCol="0" anchor="t"/>
          <a:lstStyle/>
          <a:p>
            <a:pPr marL="0" indent="0">
              <a:lnSpc>
                <a:spcPct val="130000"/>
              </a:lnSpc>
              <a:buNone/>
            </a:pPr>
            <a:r>
              <a:rPr lang="en-US" sz="1100" dirty="0">
                <a:solidFill>
                  <a:srgbClr val="EDEDED"/>
                </a:solidFill>
                <a:latin typeface="Calibri" pitchFamily="34" charset="0"/>
                <a:ea typeface="Calibri" pitchFamily="34" charset="-122"/>
                <a:cs typeface="Calibri" pitchFamily="34" charset="-120"/>
              </a:rPr>
              <a:t>Coordinates CPU access for all programs running at the same time.</a:t>
            </a:r>
            <a:endParaRPr lang="en-US" sz="1100" dirty="0"/>
          </a:p>
        </p:txBody>
      </p:sp>
      <p:sp>
        <p:nvSpPr>
          <p:cNvPr id="39" name="Shape 17">
            <a:extLst>
              <a:ext uri="{FF2B5EF4-FFF2-40B4-BE49-F238E27FC236}">
                <a16:creationId xmlns:a16="http://schemas.microsoft.com/office/drawing/2014/main" id="{CA3245EC-69B6-4FB1-B02F-B1F1CDD49418}"/>
              </a:ext>
            </a:extLst>
          </p:cNvPr>
          <p:cNvSpPr/>
          <p:nvPr/>
        </p:nvSpPr>
        <p:spPr>
          <a:xfrm>
            <a:off x="5998464" y="2377440"/>
            <a:ext cx="2578608" cy="1536192"/>
          </a:xfrm>
          <a:prstGeom prst="roundRect">
            <a:avLst>
              <a:gd name="adj" fmla="val 5952"/>
            </a:avLst>
          </a:prstGeom>
          <a:solidFill>
            <a:srgbClr val="1E1040"/>
          </a:solidFill>
          <a:ln w="10160">
            <a:solidFill>
              <a:srgbClr val="F4A664"/>
            </a:solidFill>
            <a:prstDash val="solid"/>
          </a:ln>
        </p:spPr>
        <p:txBody>
          <a:bodyPr/>
          <a:lstStyle/>
          <a:p>
            <a:endParaRPr lang="en-US"/>
          </a:p>
        </p:txBody>
      </p:sp>
      <p:sp>
        <p:nvSpPr>
          <p:cNvPr id="40" name="Shape 18">
            <a:extLst>
              <a:ext uri="{FF2B5EF4-FFF2-40B4-BE49-F238E27FC236}">
                <a16:creationId xmlns:a16="http://schemas.microsoft.com/office/drawing/2014/main" id="{506BDF77-B565-96B6-5D63-958EC8FC704A}"/>
              </a:ext>
            </a:extLst>
          </p:cNvPr>
          <p:cNvSpPr/>
          <p:nvPr/>
        </p:nvSpPr>
        <p:spPr>
          <a:xfrm>
            <a:off x="5998464" y="2377440"/>
            <a:ext cx="2578608" cy="54864"/>
          </a:xfrm>
          <a:prstGeom prst="rect">
            <a:avLst/>
          </a:prstGeom>
          <a:solidFill>
            <a:srgbClr val="F4A664"/>
          </a:solidFill>
          <a:ln w="12700">
            <a:solidFill>
              <a:srgbClr val="F4A664"/>
            </a:solidFill>
            <a:prstDash val="solid"/>
          </a:ln>
        </p:spPr>
        <p:txBody>
          <a:bodyPr/>
          <a:lstStyle/>
          <a:p>
            <a:endParaRPr lang="en-US"/>
          </a:p>
        </p:txBody>
      </p:sp>
      <p:sp>
        <p:nvSpPr>
          <p:cNvPr id="41" name="Text 19">
            <a:extLst>
              <a:ext uri="{FF2B5EF4-FFF2-40B4-BE49-F238E27FC236}">
                <a16:creationId xmlns:a16="http://schemas.microsoft.com/office/drawing/2014/main" id="{35D1E1C4-BC12-0E13-9C2A-BD7493F57432}"/>
              </a:ext>
            </a:extLst>
          </p:cNvPr>
          <p:cNvSpPr/>
          <p:nvPr/>
        </p:nvSpPr>
        <p:spPr>
          <a:xfrm>
            <a:off x="6126480" y="2487168"/>
            <a:ext cx="2322576" cy="310896"/>
          </a:xfrm>
          <a:prstGeom prst="rect">
            <a:avLst/>
          </a:prstGeom>
          <a:noFill/>
          <a:ln/>
        </p:spPr>
        <p:txBody>
          <a:bodyPr wrap="square" lIns="0" tIns="0" rIns="0" bIns="0" rtlCol="0" anchor="ctr"/>
          <a:lstStyle/>
          <a:p>
            <a:pPr marL="0" indent="0">
              <a:buNone/>
            </a:pPr>
            <a:r>
              <a:rPr lang="en-US" sz="1300" b="1" dirty="0">
                <a:solidFill>
                  <a:srgbClr val="F4A664"/>
                </a:solidFill>
                <a:latin typeface="Calibri" pitchFamily="34" charset="0"/>
                <a:ea typeface="Calibri" pitchFamily="34" charset="-122"/>
                <a:cs typeface="Calibri" pitchFamily="34" charset="-120"/>
              </a:rPr>
              <a:t>Hardware</a:t>
            </a:r>
            <a:endParaRPr lang="en-US" sz="1300" dirty="0"/>
          </a:p>
        </p:txBody>
      </p:sp>
      <p:sp>
        <p:nvSpPr>
          <p:cNvPr id="42" name="Text 20">
            <a:extLst>
              <a:ext uri="{FF2B5EF4-FFF2-40B4-BE49-F238E27FC236}">
                <a16:creationId xmlns:a16="http://schemas.microsoft.com/office/drawing/2014/main" id="{FCCD5331-D47F-DC79-CA20-CDD815807598}"/>
              </a:ext>
            </a:extLst>
          </p:cNvPr>
          <p:cNvSpPr/>
          <p:nvPr/>
        </p:nvSpPr>
        <p:spPr>
          <a:xfrm>
            <a:off x="6126480" y="2816352"/>
            <a:ext cx="2322576" cy="1042416"/>
          </a:xfrm>
          <a:prstGeom prst="rect">
            <a:avLst/>
          </a:prstGeom>
          <a:noFill/>
          <a:ln/>
        </p:spPr>
        <p:txBody>
          <a:bodyPr wrap="square" lIns="0" tIns="0" rIns="0" bIns="0" rtlCol="0" anchor="t"/>
          <a:lstStyle/>
          <a:p>
            <a:pPr marL="0" indent="0">
              <a:lnSpc>
                <a:spcPct val="130000"/>
              </a:lnSpc>
              <a:buNone/>
            </a:pPr>
            <a:r>
              <a:rPr lang="en-US" sz="1100" dirty="0">
                <a:solidFill>
                  <a:srgbClr val="EDEDED"/>
                </a:solidFill>
                <a:latin typeface="Calibri" pitchFamily="34" charset="0"/>
                <a:ea typeface="Calibri" pitchFamily="34" charset="-122"/>
                <a:cs typeface="Calibri" pitchFamily="34" charset="-120"/>
              </a:rPr>
              <a:t>Controls all software and hardware, letting you communicate with your computer.</a:t>
            </a:r>
            <a:endParaRPr lang="en-US" sz="1100" dirty="0"/>
          </a:p>
        </p:txBody>
      </p:sp>
      <p:sp>
        <p:nvSpPr>
          <p:cNvPr id="43" name="Text 21">
            <a:extLst>
              <a:ext uri="{FF2B5EF4-FFF2-40B4-BE49-F238E27FC236}">
                <a16:creationId xmlns:a16="http://schemas.microsoft.com/office/drawing/2014/main" id="{D5C125F7-0236-C3A3-5A87-C7EBC907E7C3}"/>
              </a:ext>
            </a:extLst>
          </p:cNvPr>
          <p:cNvSpPr/>
          <p:nvPr/>
        </p:nvSpPr>
        <p:spPr>
          <a:xfrm>
            <a:off x="502920" y="3986784"/>
            <a:ext cx="8138160" cy="512064"/>
          </a:xfrm>
          <a:prstGeom prst="rect">
            <a:avLst/>
          </a:prstGeom>
          <a:noFill/>
          <a:ln/>
        </p:spPr>
        <p:txBody>
          <a:bodyPr wrap="square" lIns="0" tIns="0" rIns="0" bIns="0" rtlCol="0" anchor="ctr"/>
          <a:lstStyle/>
          <a:p>
            <a:pPr marL="0" indent="0">
              <a:lnSpc>
                <a:spcPct val="130000"/>
              </a:lnSpc>
              <a:buNone/>
            </a:pPr>
            <a:r>
              <a:rPr lang="en-US" sz="1200" b="1" dirty="0">
                <a:solidFill>
                  <a:srgbClr val="57E3D8"/>
                </a:solidFill>
                <a:latin typeface="Calibri" pitchFamily="34" charset="0"/>
                <a:ea typeface="Calibri" pitchFamily="34" charset="-122"/>
                <a:cs typeface="Calibri" pitchFamily="34" charset="-120"/>
              </a:rPr>
              <a:t>The OS's job:  </a:t>
            </a:r>
            <a:r>
              <a:rPr lang="en-US" sz="1200" dirty="0">
                <a:solidFill>
                  <a:srgbClr val="EDEDED"/>
                </a:solidFill>
                <a:latin typeface="Calibri" pitchFamily="34" charset="0"/>
                <a:ea typeface="Calibri" pitchFamily="34" charset="-122"/>
                <a:cs typeface="Calibri" pitchFamily="34" charset="-120"/>
              </a:rPr>
              <a:t>Most of the time, several programs run simultaneously — all needing access to your CPU, memory, and storage. The operating system coordinates all of this so each program gets what it needs.</a:t>
            </a:r>
            <a:endParaRPr lang="en-US" sz="1200" dirty="0"/>
          </a:p>
        </p:txBody>
      </p:sp>
    </p:spTree>
    <p:extLst>
      <p:ext uri="{BB962C8B-B14F-4D97-AF65-F5344CB8AC3E}">
        <p14:creationId xmlns:p14="http://schemas.microsoft.com/office/powerpoint/2010/main" val="34124913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a:extLst>
            <a:ext uri="{FF2B5EF4-FFF2-40B4-BE49-F238E27FC236}">
              <a16:creationId xmlns:a16="http://schemas.microsoft.com/office/drawing/2014/main" id="{68E519A1-F28A-CD0E-64F7-A7210D78C55F}"/>
            </a:ext>
          </a:extLst>
        </p:cNvPr>
        <p:cNvGrpSpPr/>
        <p:nvPr/>
      </p:nvGrpSpPr>
      <p:grpSpPr>
        <a:xfrm>
          <a:off x="0" y="0"/>
          <a:ext cx="0" cy="0"/>
          <a:chOff x="0" y="0"/>
          <a:chExt cx="0" cy="0"/>
        </a:xfrm>
      </p:grpSpPr>
      <p:sp>
        <p:nvSpPr>
          <p:cNvPr id="20" name="Shape 1">
            <a:extLst>
              <a:ext uri="{FF2B5EF4-FFF2-40B4-BE49-F238E27FC236}">
                <a16:creationId xmlns:a16="http://schemas.microsoft.com/office/drawing/2014/main" id="{0099FBD7-A32B-D033-BD5D-D091E47C00D1}"/>
              </a:ext>
            </a:extLst>
          </p:cNvPr>
          <p:cNvSpPr/>
          <p:nvPr/>
        </p:nvSpPr>
        <p:spPr>
          <a:xfrm>
            <a:off x="0" y="73152"/>
            <a:ext cx="9144000" cy="841248"/>
          </a:xfrm>
          <a:prstGeom prst="rect">
            <a:avLst/>
          </a:prstGeom>
          <a:solidFill>
            <a:srgbClr val="262626"/>
          </a:solidFill>
          <a:ln w="12700">
            <a:solidFill>
              <a:srgbClr val="262626"/>
            </a:solidFill>
            <a:prstDash val="solid"/>
          </a:ln>
        </p:spPr>
        <p:txBody>
          <a:bodyPr/>
          <a:lstStyle/>
          <a:p>
            <a:endParaRPr lang="en-US"/>
          </a:p>
        </p:txBody>
      </p:sp>
      <p:sp>
        <p:nvSpPr>
          <p:cNvPr id="2" name="Shape 0">
            <a:extLst>
              <a:ext uri="{FF2B5EF4-FFF2-40B4-BE49-F238E27FC236}">
                <a16:creationId xmlns:a16="http://schemas.microsoft.com/office/drawing/2014/main" id="{BF6F45A1-7818-3F7E-F60C-7F708FD03E4C}"/>
              </a:ext>
            </a:extLst>
          </p:cNvPr>
          <p:cNvSpPr/>
          <p:nvPr/>
        </p:nvSpPr>
        <p:spPr>
          <a:xfrm>
            <a:off x="0" y="0"/>
            <a:ext cx="9144000" cy="54864"/>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1EB54078-98E6-CAE0-0567-E08FA45D2C91}"/>
              </a:ext>
            </a:extLst>
          </p:cNvPr>
          <p:cNvSpPr/>
          <p:nvPr/>
        </p:nvSpPr>
        <p:spPr>
          <a:xfrm>
            <a:off x="0" y="5088636"/>
            <a:ext cx="9144000" cy="54864"/>
          </a:xfrm>
          <a:prstGeom prst="rect">
            <a:avLst/>
          </a:prstGeom>
          <a:solidFill>
            <a:srgbClr val="4F29B7"/>
          </a:solidFill>
          <a:ln w="12700">
            <a:solidFill>
              <a:srgbClr val="4F29B7"/>
            </a:solidFill>
            <a:prstDash val="solid"/>
          </a:ln>
        </p:spPr>
        <p:txBody>
          <a:bodyPr/>
          <a:lstStyle/>
          <a:p>
            <a:endParaRPr lang="en-US"/>
          </a:p>
        </p:txBody>
      </p:sp>
      <p:sp>
        <p:nvSpPr>
          <p:cNvPr id="4" name="Text 2">
            <a:extLst>
              <a:ext uri="{FF2B5EF4-FFF2-40B4-BE49-F238E27FC236}">
                <a16:creationId xmlns:a16="http://schemas.microsoft.com/office/drawing/2014/main" id="{F8593CDB-74C1-3A80-4B08-6F33A7ADDE9F}"/>
              </a:ext>
            </a:extLst>
          </p:cNvPr>
          <p:cNvSpPr/>
          <p:nvPr/>
        </p:nvSpPr>
        <p:spPr>
          <a:xfrm>
            <a:off x="347472" y="164592"/>
            <a:ext cx="8449056" cy="475488"/>
          </a:xfrm>
          <a:prstGeom prst="rect">
            <a:avLst/>
          </a:prstGeom>
          <a:noFill/>
          <a:ln/>
        </p:spPr>
        <p:txBody>
          <a:bodyPr wrap="square" rtlCol="0" anchor="ctr"/>
          <a:lstStyle/>
          <a:p>
            <a:pPr marL="0" indent="0">
              <a:buNone/>
            </a:pPr>
            <a:r>
              <a:rPr lang="en-US" sz="2800" b="1" dirty="0">
                <a:solidFill>
                  <a:srgbClr val="57E3D8"/>
                </a:solidFill>
                <a:latin typeface="Calibri" pitchFamily="34" charset="0"/>
                <a:ea typeface="Calibri" pitchFamily="34" charset="-122"/>
                <a:cs typeface="Calibri" pitchFamily="34" charset="-120"/>
              </a:rPr>
              <a:t>Types of operating systems</a:t>
            </a:r>
            <a:endParaRPr lang="en-US" sz="2800" dirty="0"/>
          </a:p>
        </p:txBody>
      </p:sp>
      <p:sp>
        <p:nvSpPr>
          <p:cNvPr id="5" name="Text 3">
            <a:extLst>
              <a:ext uri="{FF2B5EF4-FFF2-40B4-BE49-F238E27FC236}">
                <a16:creationId xmlns:a16="http://schemas.microsoft.com/office/drawing/2014/main" id="{13CD6B20-AAA5-2647-47EF-A45F5864FAB1}"/>
              </a:ext>
            </a:extLst>
          </p:cNvPr>
          <p:cNvSpPr/>
          <p:nvPr/>
        </p:nvSpPr>
        <p:spPr>
          <a:xfrm>
            <a:off x="347472" y="621792"/>
            <a:ext cx="8449056" cy="256032"/>
          </a:xfrm>
          <a:prstGeom prst="rect">
            <a:avLst/>
          </a:prstGeom>
          <a:noFill/>
          <a:ln/>
        </p:spPr>
        <p:txBody>
          <a:bodyPr wrap="square" rtlCol="0" anchor="ctr"/>
          <a:lstStyle/>
          <a:p>
            <a:pPr marL="0" indent="0">
              <a:buNone/>
            </a:pPr>
            <a:r>
              <a:rPr lang="en-US" sz="1300" i="1" dirty="0">
                <a:solidFill>
                  <a:srgbClr val="EDEDED"/>
                </a:solidFill>
                <a:latin typeface="Calibri" pitchFamily="34" charset="0"/>
                <a:ea typeface="Calibri" pitchFamily="34" charset="-122"/>
                <a:cs typeface="Calibri" pitchFamily="34" charset="-120"/>
              </a:rPr>
              <a:t>The three most common OS for personal computers</a:t>
            </a:r>
            <a:endParaRPr lang="en-US" sz="1300" dirty="0"/>
          </a:p>
        </p:txBody>
      </p:sp>
      <p:sp>
        <p:nvSpPr>
          <p:cNvPr id="6" name="Shape 4">
            <a:extLst>
              <a:ext uri="{FF2B5EF4-FFF2-40B4-BE49-F238E27FC236}">
                <a16:creationId xmlns:a16="http://schemas.microsoft.com/office/drawing/2014/main" id="{8517B760-DBCE-52BB-9F4D-84305AC19443}"/>
              </a:ext>
            </a:extLst>
          </p:cNvPr>
          <p:cNvSpPr/>
          <p:nvPr/>
        </p:nvSpPr>
        <p:spPr>
          <a:xfrm>
            <a:off x="274320" y="987552"/>
            <a:ext cx="8595360" cy="420624"/>
          </a:xfrm>
          <a:prstGeom prst="roundRect">
            <a:avLst>
              <a:gd name="adj" fmla="val 26087"/>
            </a:avLst>
          </a:prstGeom>
          <a:solidFill>
            <a:srgbClr val="1A1040"/>
          </a:solidFill>
          <a:ln w="12700">
            <a:solidFill>
              <a:srgbClr val="1A1040"/>
            </a:solidFill>
            <a:prstDash val="solid"/>
          </a:ln>
        </p:spPr>
        <p:txBody>
          <a:bodyPr/>
          <a:lstStyle/>
          <a:p>
            <a:endParaRPr lang="en-US"/>
          </a:p>
        </p:txBody>
      </p:sp>
      <p:sp>
        <p:nvSpPr>
          <p:cNvPr id="7" name="Text 5">
            <a:extLst>
              <a:ext uri="{FF2B5EF4-FFF2-40B4-BE49-F238E27FC236}">
                <a16:creationId xmlns:a16="http://schemas.microsoft.com/office/drawing/2014/main" id="{C66EFC53-6AE3-524A-AEAD-3F7782680B35}"/>
              </a:ext>
            </a:extLst>
          </p:cNvPr>
          <p:cNvSpPr/>
          <p:nvPr/>
        </p:nvSpPr>
        <p:spPr>
          <a:xfrm>
            <a:off x="502920" y="1024128"/>
            <a:ext cx="8138160" cy="329184"/>
          </a:xfrm>
          <a:prstGeom prst="rect">
            <a:avLst/>
          </a:prstGeom>
          <a:noFill/>
          <a:ln/>
        </p:spPr>
        <p:txBody>
          <a:bodyPr wrap="square" lIns="0" tIns="0" rIns="0" bIns="0" rtlCol="0" anchor="ctr"/>
          <a:lstStyle/>
          <a:p>
            <a:pPr marL="0" indent="0">
              <a:buNone/>
            </a:pPr>
            <a:r>
              <a:rPr lang="en-US" sz="1200" dirty="0">
                <a:solidFill>
                  <a:srgbClr val="EDEDED"/>
                </a:solidFill>
                <a:latin typeface="Calibri" pitchFamily="34" charset="0"/>
                <a:ea typeface="Calibri" pitchFamily="34" charset="-122"/>
                <a:cs typeface="Calibri" pitchFamily="34" charset="-120"/>
              </a:rPr>
              <a:t>Operating systems usually come pre-loaded on any computer you buy. </a:t>
            </a:r>
            <a:r>
              <a:rPr lang="en-US" sz="1200" b="1" dirty="0">
                <a:solidFill>
                  <a:srgbClr val="57E3D8"/>
                </a:solidFill>
                <a:latin typeface="Calibri" pitchFamily="34" charset="0"/>
                <a:ea typeface="Calibri" pitchFamily="34" charset="-122"/>
                <a:cs typeface="Calibri" pitchFamily="34" charset="-120"/>
              </a:rPr>
              <a:t>Modern operating systems use a graphical user interface (GUI)</a:t>
            </a:r>
            <a:r>
              <a:rPr lang="en-US" sz="1200" dirty="0">
                <a:solidFill>
                  <a:srgbClr val="EDEDED"/>
                </a:solidFill>
                <a:latin typeface="Calibri" pitchFamily="34" charset="0"/>
                <a:ea typeface="Calibri" pitchFamily="34" charset="-122"/>
                <a:cs typeface="Calibri" pitchFamily="34" charset="-120"/>
              </a:rPr>
              <a:t> — a GUI lets you use your mouse to click icons, buttons, and menus.</a:t>
            </a:r>
            <a:endParaRPr lang="en-US" sz="1200" dirty="0"/>
          </a:p>
        </p:txBody>
      </p:sp>
      <p:sp>
        <p:nvSpPr>
          <p:cNvPr id="8" name="Shape 6">
            <a:extLst>
              <a:ext uri="{FF2B5EF4-FFF2-40B4-BE49-F238E27FC236}">
                <a16:creationId xmlns:a16="http://schemas.microsoft.com/office/drawing/2014/main" id="{B10692DA-084B-2BAE-A611-4B7E95E96F9A}"/>
              </a:ext>
            </a:extLst>
          </p:cNvPr>
          <p:cNvSpPr/>
          <p:nvPr/>
        </p:nvSpPr>
        <p:spPr>
          <a:xfrm>
            <a:off x="292608" y="1499616"/>
            <a:ext cx="2779776" cy="3401568"/>
          </a:xfrm>
          <a:prstGeom prst="roundRect">
            <a:avLst>
              <a:gd name="adj" fmla="val 4605"/>
            </a:avLst>
          </a:prstGeom>
          <a:solidFill>
            <a:srgbClr val="1E0F40"/>
          </a:solidFill>
          <a:ln w="19050">
            <a:solidFill>
              <a:srgbClr val="4F29B7"/>
            </a:solidFill>
            <a:prstDash val="solid"/>
          </a:ln>
        </p:spPr>
        <p:txBody>
          <a:bodyPr/>
          <a:lstStyle/>
          <a:p>
            <a:endParaRPr lang="en-US"/>
          </a:p>
        </p:txBody>
      </p:sp>
      <p:sp>
        <p:nvSpPr>
          <p:cNvPr id="9" name="Text 7">
            <a:extLst>
              <a:ext uri="{FF2B5EF4-FFF2-40B4-BE49-F238E27FC236}">
                <a16:creationId xmlns:a16="http://schemas.microsoft.com/office/drawing/2014/main" id="{06B2DC9B-FB98-86D6-CF21-280BB1E66B52}"/>
              </a:ext>
            </a:extLst>
          </p:cNvPr>
          <p:cNvSpPr/>
          <p:nvPr/>
        </p:nvSpPr>
        <p:spPr>
          <a:xfrm>
            <a:off x="292608" y="1545336"/>
            <a:ext cx="2779776" cy="457200"/>
          </a:xfrm>
          <a:prstGeom prst="rect">
            <a:avLst/>
          </a:prstGeom>
          <a:noFill/>
          <a:ln/>
        </p:spPr>
        <p:txBody>
          <a:bodyPr wrap="square" rtlCol="0" anchor="ctr"/>
          <a:lstStyle/>
          <a:p>
            <a:pPr marL="0" indent="0" algn="ctr">
              <a:buNone/>
            </a:pPr>
            <a:r>
              <a:rPr lang="en-US" sz="2000" b="1" dirty="0">
                <a:solidFill>
                  <a:srgbClr val="4F29B7"/>
                </a:solidFill>
                <a:latin typeface="Calibri" pitchFamily="34" charset="0"/>
                <a:ea typeface="Calibri" pitchFamily="34" charset="-122"/>
                <a:cs typeface="Calibri" pitchFamily="34" charset="-120"/>
              </a:rPr>
              <a:t>Microsoft Windows</a:t>
            </a:r>
            <a:endParaRPr lang="en-US" sz="2000" dirty="0"/>
          </a:p>
        </p:txBody>
      </p:sp>
      <p:sp>
        <p:nvSpPr>
          <p:cNvPr id="10" name="Text 8">
            <a:extLst>
              <a:ext uri="{FF2B5EF4-FFF2-40B4-BE49-F238E27FC236}">
                <a16:creationId xmlns:a16="http://schemas.microsoft.com/office/drawing/2014/main" id="{80F72355-3A6B-4A6C-5A0C-BF6E7C6EF484}"/>
              </a:ext>
            </a:extLst>
          </p:cNvPr>
          <p:cNvSpPr/>
          <p:nvPr/>
        </p:nvSpPr>
        <p:spPr>
          <a:xfrm>
            <a:off x="292608" y="1975104"/>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Most popular  ·  80%+ of global users</a:t>
            </a:r>
            <a:endParaRPr lang="en-US" sz="1000" dirty="0"/>
          </a:p>
        </p:txBody>
      </p:sp>
      <p:sp>
        <p:nvSpPr>
          <p:cNvPr id="11" name="Text 9">
            <a:extLst>
              <a:ext uri="{FF2B5EF4-FFF2-40B4-BE49-F238E27FC236}">
                <a16:creationId xmlns:a16="http://schemas.microsoft.com/office/drawing/2014/main" id="{A6F7F312-11C7-6E2E-23D2-71C708D73857}"/>
              </a:ext>
            </a:extLst>
          </p:cNvPr>
          <p:cNvSpPr/>
          <p:nvPr/>
        </p:nvSpPr>
        <p:spPr>
          <a:xfrm>
            <a:off x="457200" y="2212848"/>
            <a:ext cx="2468880" cy="2615184"/>
          </a:xfrm>
          <a:prstGeom prst="rect">
            <a:avLst/>
          </a:prstGeom>
          <a:noFill/>
          <a:ln/>
        </p:spPr>
        <p:txBody>
          <a:bodyPr wrap="square" lIns="0" tIns="0" rIns="0" bIns="0" rtlCol="0" anchor="t"/>
          <a:lstStyle/>
          <a:p>
            <a:pPr marL="0" indent="0">
              <a:lnSpc>
                <a:spcPct val="135000"/>
              </a:lnSpc>
              <a:buNone/>
            </a:pPr>
            <a:r>
              <a:rPr lang="en-US" sz="1100" dirty="0">
                <a:solidFill>
                  <a:srgbClr val="EDEDED"/>
                </a:solidFill>
                <a:latin typeface="Calibri" pitchFamily="34" charset="0"/>
                <a:ea typeface="Calibri" pitchFamily="34" charset="-122"/>
                <a:cs typeface="Calibri" pitchFamily="34" charset="-120"/>
              </a:rPr>
              <a:t>Microsoft created Windows in the mid-1980s. It comes pre-loaded on most new PCs. Recent versions: Windows 10 (2015), Windows 8 (2012), Windows 7 (2009), Vista (2007).</a:t>
            </a:r>
            <a:endParaRPr lang="en-US" sz="1100" dirty="0"/>
          </a:p>
        </p:txBody>
      </p:sp>
      <p:sp>
        <p:nvSpPr>
          <p:cNvPr id="12" name="Shape 10">
            <a:extLst>
              <a:ext uri="{FF2B5EF4-FFF2-40B4-BE49-F238E27FC236}">
                <a16:creationId xmlns:a16="http://schemas.microsoft.com/office/drawing/2014/main" id="{B319AB59-A1E4-7495-8B8A-D8FB6939DB40}"/>
              </a:ext>
            </a:extLst>
          </p:cNvPr>
          <p:cNvSpPr/>
          <p:nvPr/>
        </p:nvSpPr>
        <p:spPr>
          <a:xfrm>
            <a:off x="3200400" y="1499616"/>
            <a:ext cx="2779776" cy="3401568"/>
          </a:xfrm>
          <a:prstGeom prst="roundRect">
            <a:avLst>
              <a:gd name="adj" fmla="val 4605"/>
            </a:avLst>
          </a:prstGeom>
          <a:solidFill>
            <a:srgbClr val="110A2E"/>
          </a:solidFill>
          <a:ln w="19050">
            <a:solidFill>
              <a:srgbClr val="A380FF"/>
            </a:solidFill>
            <a:prstDash val="solid"/>
          </a:ln>
        </p:spPr>
        <p:txBody>
          <a:bodyPr/>
          <a:lstStyle/>
          <a:p>
            <a:endParaRPr lang="en-US"/>
          </a:p>
        </p:txBody>
      </p:sp>
      <p:sp>
        <p:nvSpPr>
          <p:cNvPr id="13" name="Text 11">
            <a:extLst>
              <a:ext uri="{FF2B5EF4-FFF2-40B4-BE49-F238E27FC236}">
                <a16:creationId xmlns:a16="http://schemas.microsoft.com/office/drawing/2014/main" id="{7B9E2542-0415-D53F-89A6-B2737BF2D2E8}"/>
              </a:ext>
            </a:extLst>
          </p:cNvPr>
          <p:cNvSpPr/>
          <p:nvPr/>
        </p:nvSpPr>
        <p:spPr>
          <a:xfrm>
            <a:off x="3200400" y="1545336"/>
            <a:ext cx="2779776" cy="457200"/>
          </a:xfrm>
          <a:prstGeom prst="rect">
            <a:avLst/>
          </a:prstGeom>
          <a:noFill/>
          <a:ln/>
        </p:spPr>
        <p:txBody>
          <a:bodyPr wrap="square" rtlCol="0" anchor="ctr"/>
          <a:lstStyle/>
          <a:p>
            <a:pPr marL="0" indent="0" algn="ctr">
              <a:buNone/>
            </a:pPr>
            <a:r>
              <a:rPr lang="en-US" sz="2000" b="1" dirty="0">
                <a:solidFill>
                  <a:srgbClr val="A380FF"/>
                </a:solidFill>
                <a:latin typeface="Calibri" pitchFamily="34" charset="0"/>
                <a:ea typeface="Calibri" pitchFamily="34" charset="-122"/>
                <a:cs typeface="Calibri" pitchFamily="34" charset="-120"/>
              </a:rPr>
              <a:t>macOS</a:t>
            </a:r>
            <a:endParaRPr lang="en-US" sz="2000" dirty="0"/>
          </a:p>
        </p:txBody>
      </p:sp>
      <p:sp>
        <p:nvSpPr>
          <p:cNvPr id="14" name="Text 12">
            <a:extLst>
              <a:ext uri="{FF2B5EF4-FFF2-40B4-BE49-F238E27FC236}">
                <a16:creationId xmlns:a16="http://schemas.microsoft.com/office/drawing/2014/main" id="{D520DB52-41BD-3A9E-774F-0E90DB7F8CDE}"/>
              </a:ext>
            </a:extLst>
          </p:cNvPr>
          <p:cNvSpPr/>
          <p:nvPr/>
        </p:nvSpPr>
        <p:spPr>
          <a:xfrm>
            <a:off x="3200400" y="1975104"/>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Apple ecosystem  ·  &lt;10% of global users</a:t>
            </a:r>
            <a:endParaRPr lang="en-US" sz="1000" dirty="0"/>
          </a:p>
        </p:txBody>
      </p:sp>
      <p:sp>
        <p:nvSpPr>
          <p:cNvPr id="15" name="Text 13">
            <a:extLst>
              <a:ext uri="{FF2B5EF4-FFF2-40B4-BE49-F238E27FC236}">
                <a16:creationId xmlns:a16="http://schemas.microsoft.com/office/drawing/2014/main" id="{966A8129-1A41-594C-31D7-611070D24803}"/>
              </a:ext>
            </a:extLst>
          </p:cNvPr>
          <p:cNvSpPr/>
          <p:nvPr/>
        </p:nvSpPr>
        <p:spPr>
          <a:xfrm>
            <a:off x="3364992" y="2212848"/>
            <a:ext cx="2468880" cy="2615184"/>
          </a:xfrm>
          <a:prstGeom prst="rect">
            <a:avLst/>
          </a:prstGeom>
          <a:noFill/>
          <a:ln/>
        </p:spPr>
        <p:txBody>
          <a:bodyPr wrap="square" lIns="0" tIns="0" rIns="0" bIns="0" rtlCol="0" anchor="t"/>
          <a:lstStyle/>
          <a:p>
            <a:pPr marL="0" indent="0">
              <a:lnSpc>
                <a:spcPct val="135000"/>
              </a:lnSpc>
              <a:buNone/>
            </a:pPr>
            <a:r>
              <a:rPr lang="en-US" sz="1100" dirty="0">
                <a:solidFill>
                  <a:srgbClr val="EDEDED"/>
                </a:solidFill>
                <a:latin typeface="Calibri" pitchFamily="34" charset="0"/>
                <a:ea typeface="Calibri" pitchFamily="34" charset="-122"/>
                <a:cs typeface="Calibri" pitchFamily="34" charset="-120"/>
              </a:rPr>
              <a:t>macOS (previously OS X) is made by Apple and comes pre-loaded on all Macs. Recent versions: Mojave (2018), High Sierra (2017), Sierra (2016). Macs tend to be more expensive.</a:t>
            </a:r>
            <a:endParaRPr lang="en-US" sz="1100" dirty="0"/>
          </a:p>
        </p:txBody>
      </p:sp>
      <p:sp>
        <p:nvSpPr>
          <p:cNvPr id="16" name="Shape 14">
            <a:extLst>
              <a:ext uri="{FF2B5EF4-FFF2-40B4-BE49-F238E27FC236}">
                <a16:creationId xmlns:a16="http://schemas.microsoft.com/office/drawing/2014/main" id="{7C1B5EBA-52EB-ABC9-D3EB-5CFA15DCA663}"/>
              </a:ext>
            </a:extLst>
          </p:cNvPr>
          <p:cNvSpPr/>
          <p:nvPr/>
        </p:nvSpPr>
        <p:spPr>
          <a:xfrm>
            <a:off x="6108192" y="1499616"/>
            <a:ext cx="2779776" cy="3401568"/>
          </a:xfrm>
          <a:prstGeom prst="roundRect">
            <a:avLst>
              <a:gd name="adj" fmla="val 4605"/>
            </a:avLst>
          </a:prstGeom>
          <a:solidFill>
            <a:srgbClr val="0A2E2E"/>
          </a:solidFill>
          <a:ln w="19050">
            <a:solidFill>
              <a:srgbClr val="57E3D8"/>
            </a:solidFill>
            <a:prstDash val="solid"/>
          </a:ln>
        </p:spPr>
        <p:txBody>
          <a:bodyPr/>
          <a:lstStyle/>
          <a:p>
            <a:endParaRPr lang="en-US"/>
          </a:p>
        </p:txBody>
      </p:sp>
      <p:sp>
        <p:nvSpPr>
          <p:cNvPr id="17" name="Text 15">
            <a:extLst>
              <a:ext uri="{FF2B5EF4-FFF2-40B4-BE49-F238E27FC236}">
                <a16:creationId xmlns:a16="http://schemas.microsoft.com/office/drawing/2014/main" id="{BD01AF8F-536E-C495-E8A0-F7655F895F22}"/>
              </a:ext>
            </a:extLst>
          </p:cNvPr>
          <p:cNvSpPr/>
          <p:nvPr/>
        </p:nvSpPr>
        <p:spPr>
          <a:xfrm>
            <a:off x="6108192" y="1545336"/>
            <a:ext cx="2779776" cy="457200"/>
          </a:xfrm>
          <a:prstGeom prst="rect">
            <a:avLst/>
          </a:prstGeom>
          <a:noFill/>
          <a:ln/>
        </p:spPr>
        <p:txBody>
          <a:bodyPr wrap="square" rtlCol="0" anchor="ctr"/>
          <a:lstStyle/>
          <a:p>
            <a:pPr marL="0" indent="0" algn="ctr">
              <a:buNone/>
            </a:pPr>
            <a:r>
              <a:rPr lang="en-US" sz="2000" b="1" dirty="0">
                <a:solidFill>
                  <a:srgbClr val="57E3D8"/>
                </a:solidFill>
                <a:latin typeface="Calibri" pitchFamily="34" charset="0"/>
                <a:ea typeface="Calibri" pitchFamily="34" charset="-122"/>
                <a:cs typeface="Calibri" pitchFamily="34" charset="-120"/>
              </a:rPr>
              <a:t>Linux</a:t>
            </a:r>
            <a:endParaRPr lang="en-US" sz="2000" dirty="0"/>
          </a:p>
        </p:txBody>
      </p:sp>
      <p:sp>
        <p:nvSpPr>
          <p:cNvPr id="18" name="Text 16">
            <a:extLst>
              <a:ext uri="{FF2B5EF4-FFF2-40B4-BE49-F238E27FC236}">
                <a16:creationId xmlns:a16="http://schemas.microsoft.com/office/drawing/2014/main" id="{C4029E02-E763-B814-4C30-6D610F53CED9}"/>
              </a:ext>
            </a:extLst>
          </p:cNvPr>
          <p:cNvSpPr/>
          <p:nvPr/>
        </p:nvSpPr>
        <p:spPr>
          <a:xfrm>
            <a:off x="6108192" y="1975104"/>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Open-source &amp; free  ·  &lt;2% of global users</a:t>
            </a:r>
            <a:endParaRPr lang="en-US" sz="1000" dirty="0"/>
          </a:p>
        </p:txBody>
      </p:sp>
      <p:sp>
        <p:nvSpPr>
          <p:cNvPr id="19" name="Text 17">
            <a:extLst>
              <a:ext uri="{FF2B5EF4-FFF2-40B4-BE49-F238E27FC236}">
                <a16:creationId xmlns:a16="http://schemas.microsoft.com/office/drawing/2014/main" id="{68B76B5C-86FB-DDD2-2643-011F7DA0DB57}"/>
              </a:ext>
            </a:extLst>
          </p:cNvPr>
          <p:cNvSpPr/>
          <p:nvPr/>
        </p:nvSpPr>
        <p:spPr>
          <a:xfrm>
            <a:off x="6272784" y="2212848"/>
            <a:ext cx="2468880" cy="2615184"/>
          </a:xfrm>
          <a:prstGeom prst="rect">
            <a:avLst/>
          </a:prstGeom>
          <a:noFill/>
          <a:ln/>
        </p:spPr>
        <p:txBody>
          <a:bodyPr wrap="square" lIns="0" tIns="0" rIns="0" bIns="0" rtlCol="0" anchor="t"/>
          <a:lstStyle/>
          <a:p>
            <a:pPr marL="0" indent="0">
              <a:lnSpc>
                <a:spcPct val="135000"/>
              </a:lnSpc>
              <a:buNone/>
            </a:pPr>
            <a:r>
              <a:rPr lang="en-US" sz="1100" dirty="0">
                <a:solidFill>
                  <a:srgbClr val="EDEDED"/>
                </a:solidFill>
                <a:latin typeface="Calibri" pitchFamily="34" charset="0"/>
                <a:ea typeface="Calibri" pitchFamily="34" charset="-122"/>
                <a:cs typeface="Calibri" pitchFamily="34" charset="-120"/>
              </a:rPr>
              <a:t>Linux is a family of open-source OSes — free to modify and distribute by anyone. Most servers run Linux because it is easy to customize. Many different distributions available.</a:t>
            </a:r>
            <a:endParaRPr lang="en-US" sz="1100" dirty="0"/>
          </a:p>
        </p:txBody>
      </p:sp>
    </p:spTree>
    <p:extLst>
      <p:ext uri="{BB962C8B-B14F-4D97-AF65-F5344CB8AC3E}">
        <p14:creationId xmlns:p14="http://schemas.microsoft.com/office/powerpoint/2010/main" val="36912561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a:extLst>
            <a:ext uri="{FF2B5EF4-FFF2-40B4-BE49-F238E27FC236}">
              <a16:creationId xmlns:a16="http://schemas.microsoft.com/office/drawing/2014/main" id="{41C83B7C-08CA-EB7F-8AB6-EB3C0BE530ED}"/>
            </a:ext>
          </a:extLst>
        </p:cNvPr>
        <p:cNvGrpSpPr/>
        <p:nvPr/>
      </p:nvGrpSpPr>
      <p:grpSpPr>
        <a:xfrm>
          <a:off x="0" y="0"/>
          <a:ext cx="0" cy="0"/>
          <a:chOff x="0" y="0"/>
          <a:chExt cx="0" cy="0"/>
        </a:xfrm>
      </p:grpSpPr>
      <p:sp>
        <p:nvSpPr>
          <p:cNvPr id="29" name="Shape 1">
            <a:extLst>
              <a:ext uri="{FF2B5EF4-FFF2-40B4-BE49-F238E27FC236}">
                <a16:creationId xmlns:a16="http://schemas.microsoft.com/office/drawing/2014/main" id="{8A2712D6-9A81-EA50-A52A-E556AF1A4D91}"/>
              </a:ext>
            </a:extLst>
          </p:cNvPr>
          <p:cNvSpPr/>
          <p:nvPr/>
        </p:nvSpPr>
        <p:spPr>
          <a:xfrm>
            <a:off x="0" y="73152"/>
            <a:ext cx="9144000" cy="841248"/>
          </a:xfrm>
          <a:prstGeom prst="rect">
            <a:avLst/>
          </a:prstGeom>
          <a:solidFill>
            <a:srgbClr val="262626"/>
          </a:solidFill>
          <a:ln w="12700">
            <a:solidFill>
              <a:srgbClr val="262626"/>
            </a:solidFill>
            <a:prstDash val="solid"/>
          </a:ln>
        </p:spPr>
        <p:txBody>
          <a:bodyPr/>
          <a:lstStyle/>
          <a:p>
            <a:endParaRPr lang="en-US"/>
          </a:p>
        </p:txBody>
      </p:sp>
      <p:sp>
        <p:nvSpPr>
          <p:cNvPr id="2" name="Shape 0">
            <a:extLst>
              <a:ext uri="{FF2B5EF4-FFF2-40B4-BE49-F238E27FC236}">
                <a16:creationId xmlns:a16="http://schemas.microsoft.com/office/drawing/2014/main" id="{92166A5B-FC26-4CBF-DBAB-DF404AD9E1D8}"/>
              </a:ext>
            </a:extLst>
          </p:cNvPr>
          <p:cNvSpPr/>
          <p:nvPr/>
        </p:nvSpPr>
        <p:spPr>
          <a:xfrm>
            <a:off x="0" y="0"/>
            <a:ext cx="9144000" cy="54864"/>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B19063CF-1910-1DFE-D08A-6D943698632C}"/>
              </a:ext>
            </a:extLst>
          </p:cNvPr>
          <p:cNvSpPr/>
          <p:nvPr/>
        </p:nvSpPr>
        <p:spPr>
          <a:xfrm>
            <a:off x="0" y="5088636"/>
            <a:ext cx="9144000" cy="54864"/>
          </a:xfrm>
          <a:prstGeom prst="rect">
            <a:avLst/>
          </a:prstGeom>
          <a:solidFill>
            <a:srgbClr val="4F29B7"/>
          </a:solidFill>
          <a:ln w="12700">
            <a:solidFill>
              <a:srgbClr val="4F29B7"/>
            </a:solidFill>
            <a:prstDash val="solid"/>
          </a:ln>
        </p:spPr>
        <p:txBody>
          <a:bodyPr/>
          <a:lstStyle/>
          <a:p>
            <a:endParaRPr lang="en-US"/>
          </a:p>
        </p:txBody>
      </p:sp>
      <p:sp>
        <p:nvSpPr>
          <p:cNvPr id="4" name="Text 2">
            <a:extLst>
              <a:ext uri="{FF2B5EF4-FFF2-40B4-BE49-F238E27FC236}">
                <a16:creationId xmlns:a16="http://schemas.microsoft.com/office/drawing/2014/main" id="{E1423303-CA7C-E5CA-7FA2-FEB1376FF6A9}"/>
              </a:ext>
            </a:extLst>
          </p:cNvPr>
          <p:cNvSpPr/>
          <p:nvPr/>
        </p:nvSpPr>
        <p:spPr>
          <a:xfrm>
            <a:off x="347472" y="164592"/>
            <a:ext cx="8449056" cy="475488"/>
          </a:xfrm>
          <a:prstGeom prst="rect">
            <a:avLst/>
          </a:prstGeom>
          <a:noFill/>
          <a:ln/>
        </p:spPr>
        <p:txBody>
          <a:bodyPr wrap="square" rtlCol="0" anchor="ctr"/>
          <a:lstStyle/>
          <a:p>
            <a:pPr marL="0" indent="0">
              <a:buNone/>
            </a:pPr>
            <a:r>
              <a:rPr lang="en-US" sz="2800" b="1" dirty="0">
                <a:solidFill>
                  <a:srgbClr val="57E3D8"/>
                </a:solidFill>
                <a:latin typeface="Calibri" pitchFamily="34" charset="0"/>
                <a:ea typeface="Calibri" pitchFamily="34" charset="-122"/>
                <a:cs typeface="Calibri" pitchFamily="34" charset="-120"/>
              </a:rPr>
              <a:t>Graphical User Interface (GUI)</a:t>
            </a:r>
            <a:endParaRPr lang="en-US" sz="2800" dirty="0"/>
          </a:p>
        </p:txBody>
      </p:sp>
      <p:sp>
        <p:nvSpPr>
          <p:cNvPr id="5" name="Text 3">
            <a:extLst>
              <a:ext uri="{FF2B5EF4-FFF2-40B4-BE49-F238E27FC236}">
                <a16:creationId xmlns:a16="http://schemas.microsoft.com/office/drawing/2014/main" id="{BBBA4524-D496-E3C5-F0FE-365A6B57555D}"/>
              </a:ext>
            </a:extLst>
          </p:cNvPr>
          <p:cNvSpPr/>
          <p:nvPr/>
        </p:nvSpPr>
        <p:spPr>
          <a:xfrm>
            <a:off x="347472" y="621792"/>
            <a:ext cx="8449056" cy="256032"/>
          </a:xfrm>
          <a:prstGeom prst="rect">
            <a:avLst/>
          </a:prstGeom>
          <a:noFill/>
          <a:ln/>
        </p:spPr>
        <p:txBody>
          <a:bodyPr wrap="square" rtlCol="0" anchor="ctr"/>
          <a:lstStyle/>
          <a:p>
            <a:pPr marL="0" indent="0">
              <a:buNone/>
            </a:pPr>
            <a:r>
              <a:rPr lang="en-US" sz="1300" i="1" dirty="0">
                <a:solidFill>
                  <a:srgbClr val="EDEDED"/>
                </a:solidFill>
                <a:latin typeface="Calibri" pitchFamily="34" charset="0"/>
                <a:ea typeface="Calibri" pitchFamily="34" charset="-122"/>
                <a:cs typeface="Calibri" pitchFamily="34" charset="-120"/>
              </a:rPr>
              <a:t>How modern operating systems let you interact with your computer</a:t>
            </a:r>
            <a:endParaRPr lang="en-US" sz="1300" dirty="0"/>
          </a:p>
        </p:txBody>
      </p:sp>
      <p:sp>
        <p:nvSpPr>
          <p:cNvPr id="6" name="Shape 4">
            <a:extLst>
              <a:ext uri="{FF2B5EF4-FFF2-40B4-BE49-F238E27FC236}">
                <a16:creationId xmlns:a16="http://schemas.microsoft.com/office/drawing/2014/main" id="{A62AEAD8-B65F-8649-8DA4-C6A8DB354944}"/>
              </a:ext>
            </a:extLst>
          </p:cNvPr>
          <p:cNvSpPr/>
          <p:nvPr/>
        </p:nvSpPr>
        <p:spPr>
          <a:xfrm>
            <a:off x="274320" y="987552"/>
            <a:ext cx="8595360" cy="3986784"/>
          </a:xfrm>
          <a:prstGeom prst="roundRect">
            <a:avLst>
              <a:gd name="adj" fmla="val 2752"/>
            </a:avLst>
          </a:prstGeom>
          <a:solidFill>
            <a:srgbClr val="1A1040"/>
          </a:solidFill>
          <a:ln w="12700">
            <a:solidFill>
              <a:srgbClr val="1A1040"/>
            </a:solidFill>
            <a:prstDash val="solid"/>
          </a:ln>
        </p:spPr>
        <p:txBody>
          <a:bodyPr/>
          <a:lstStyle/>
          <a:p>
            <a:endParaRPr lang="en-US"/>
          </a:p>
        </p:txBody>
      </p:sp>
      <p:sp>
        <p:nvSpPr>
          <p:cNvPr id="7" name="Text 5">
            <a:extLst>
              <a:ext uri="{FF2B5EF4-FFF2-40B4-BE49-F238E27FC236}">
                <a16:creationId xmlns:a16="http://schemas.microsoft.com/office/drawing/2014/main" id="{4BBD99F7-D1CD-88FD-79E8-EB430F28E9C8}"/>
              </a:ext>
            </a:extLst>
          </p:cNvPr>
          <p:cNvSpPr/>
          <p:nvPr/>
        </p:nvSpPr>
        <p:spPr>
          <a:xfrm>
            <a:off x="502920" y="1060704"/>
            <a:ext cx="8138160" cy="512064"/>
          </a:xfrm>
          <a:prstGeom prst="rect">
            <a:avLst/>
          </a:prstGeom>
          <a:noFill/>
          <a:ln/>
        </p:spPr>
        <p:txBody>
          <a:bodyPr wrap="square" lIns="0" tIns="0" rIns="0" bIns="0" rtlCol="0" anchor="ctr"/>
          <a:lstStyle/>
          <a:p>
            <a:pPr marL="0" indent="0">
              <a:lnSpc>
                <a:spcPct val="135000"/>
              </a:lnSpc>
              <a:buNone/>
            </a:pPr>
            <a:r>
              <a:rPr lang="en-US" sz="1300" b="1" dirty="0">
                <a:solidFill>
                  <a:srgbClr val="57E3D8"/>
                </a:solidFill>
                <a:latin typeface="Calibri" pitchFamily="34" charset="0"/>
                <a:ea typeface="Calibri" pitchFamily="34" charset="-122"/>
                <a:cs typeface="Calibri" pitchFamily="34" charset="-120"/>
              </a:rPr>
              <a:t>GUI  </a:t>
            </a:r>
            <a:r>
              <a:rPr lang="en-US" sz="1300" dirty="0">
                <a:solidFill>
                  <a:srgbClr val="EDEDED"/>
                </a:solidFill>
                <a:latin typeface="Calibri" pitchFamily="34" charset="0"/>
                <a:ea typeface="Calibri" pitchFamily="34" charset="-122"/>
                <a:cs typeface="Calibri" pitchFamily="34" charset="-120"/>
              </a:rPr>
              <a:t>(pronounced gooey) lets you use your mouse to click icons, buttons, and menus. Everything is clearly displayed on the screen using a combination of graphics and text.</a:t>
            </a:r>
            <a:endParaRPr lang="en-US" sz="1300" dirty="0"/>
          </a:p>
        </p:txBody>
      </p:sp>
      <p:sp>
        <p:nvSpPr>
          <p:cNvPr id="8" name="Shape 6">
            <a:extLst>
              <a:ext uri="{FF2B5EF4-FFF2-40B4-BE49-F238E27FC236}">
                <a16:creationId xmlns:a16="http://schemas.microsoft.com/office/drawing/2014/main" id="{B9EEA39F-6EB2-9143-86EC-E7752736695F}"/>
              </a:ext>
            </a:extLst>
          </p:cNvPr>
          <p:cNvSpPr/>
          <p:nvPr/>
        </p:nvSpPr>
        <p:spPr>
          <a:xfrm>
            <a:off x="475488" y="1700784"/>
            <a:ext cx="1920240" cy="1353312"/>
          </a:xfrm>
          <a:prstGeom prst="roundRect">
            <a:avLst>
              <a:gd name="adj" fmla="val 6757"/>
            </a:avLst>
          </a:prstGeom>
          <a:solidFill>
            <a:srgbClr val="1E1040"/>
          </a:solidFill>
          <a:ln w="12700">
            <a:solidFill>
              <a:srgbClr val="57E3D8"/>
            </a:solidFill>
            <a:prstDash val="solid"/>
          </a:ln>
        </p:spPr>
        <p:txBody>
          <a:bodyPr/>
          <a:lstStyle/>
          <a:p>
            <a:endParaRPr lang="en-US"/>
          </a:p>
        </p:txBody>
      </p:sp>
      <p:sp>
        <p:nvSpPr>
          <p:cNvPr id="9" name="Shape 7">
            <a:extLst>
              <a:ext uri="{FF2B5EF4-FFF2-40B4-BE49-F238E27FC236}">
                <a16:creationId xmlns:a16="http://schemas.microsoft.com/office/drawing/2014/main" id="{36546888-2633-775B-16E7-B7A1E6B55835}"/>
              </a:ext>
            </a:extLst>
          </p:cNvPr>
          <p:cNvSpPr/>
          <p:nvPr/>
        </p:nvSpPr>
        <p:spPr>
          <a:xfrm>
            <a:off x="1225296" y="1792224"/>
            <a:ext cx="420624" cy="420624"/>
          </a:xfrm>
          <a:prstGeom prst="ellipse">
            <a:avLst/>
          </a:prstGeom>
          <a:solidFill>
            <a:srgbClr val="57E3D8"/>
          </a:solidFill>
          <a:ln w="12700">
            <a:solidFill>
              <a:srgbClr val="57E3D8"/>
            </a:solidFill>
            <a:prstDash val="solid"/>
          </a:ln>
        </p:spPr>
        <p:txBody>
          <a:bodyPr/>
          <a:lstStyle/>
          <a:p>
            <a:endParaRPr lang="en-US"/>
          </a:p>
        </p:txBody>
      </p:sp>
      <p:sp>
        <p:nvSpPr>
          <p:cNvPr id="10" name="Text 8">
            <a:extLst>
              <a:ext uri="{FF2B5EF4-FFF2-40B4-BE49-F238E27FC236}">
                <a16:creationId xmlns:a16="http://schemas.microsoft.com/office/drawing/2014/main" id="{114138A1-14E3-E52A-B7DF-C7558380B095}"/>
              </a:ext>
            </a:extLst>
          </p:cNvPr>
          <p:cNvSpPr/>
          <p:nvPr/>
        </p:nvSpPr>
        <p:spPr>
          <a:xfrm>
            <a:off x="475488" y="2249424"/>
            <a:ext cx="192024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Icons</a:t>
            </a:r>
            <a:endParaRPr lang="en-US" sz="1200" dirty="0"/>
          </a:p>
        </p:txBody>
      </p:sp>
      <p:sp>
        <p:nvSpPr>
          <p:cNvPr id="11" name="Text 9">
            <a:extLst>
              <a:ext uri="{FF2B5EF4-FFF2-40B4-BE49-F238E27FC236}">
                <a16:creationId xmlns:a16="http://schemas.microsoft.com/office/drawing/2014/main" id="{9D0EE558-1935-5963-6667-CC663488C716}"/>
              </a:ext>
            </a:extLst>
          </p:cNvPr>
          <p:cNvSpPr/>
          <p:nvPr/>
        </p:nvSpPr>
        <p:spPr>
          <a:xfrm>
            <a:off x="566928" y="2560320"/>
            <a:ext cx="1737360" cy="420624"/>
          </a:xfrm>
          <a:prstGeom prst="rect">
            <a:avLst/>
          </a:prstGeom>
          <a:noFill/>
          <a:ln/>
        </p:spPr>
        <p:txBody>
          <a:bodyPr wrap="square" lIns="0" tIns="0" rIns="0" bIns="0" rtlCol="0" anchor="t"/>
          <a:lstStyle/>
          <a:p>
            <a:pPr marL="0" indent="0" algn="ctr">
              <a:lnSpc>
                <a:spcPct val="120000"/>
              </a:lnSpc>
              <a:buNone/>
            </a:pPr>
            <a:r>
              <a:rPr lang="en-US" sz="950" dirty="0">
                <a:solidFill>
                  <a:srgbClr val="57E3D8"/>
                </a:solidFill>
                <a:latin typeface="Calibri" pitchFamily="34" charset="0"/>
                <a:ea typeface="Calibri" pitchFamily="34" charset="-122"/>
                <a:cs typeface="Calibri" pitchFamily="34" charset="-120"/>
              </a:rPr>
              <a:t>Visual shortcuts</a:t>
            </a:r>
            <a:endParaRPr lang="en-US" sz="950" dirty="0"/>
          </a:p>
          <a:p>
            <a:pPr marL="0" indent="0" algn="ctr">
              <a:lnSpc>
                <a:spcPct val="120000"/>
              </a:lnSpc>
              <a:buNone/>
            </a:pPr>
            <a:r>
              <a:rPr lang="en-US" sz="950" dirty="0">
                <a:solidFill>
                  <a:srgbClr val="57E3D8"/>
                </a:solidFill>
                <a:latin typeface="Calibri" pitchFamily="34" charset="0"/>
                <a:ea typeface="Calibri" pitchFamily="34" charset="-122"/>
                <a:cs typeface="Calibri" pitchFamily="34" charset="-120"/>
              </a:rPr>
              <a:t>to programs &amp; files</a:t>
            </a:r>
            <a:endParaRPr lang="en-US" sz="950" dirty="0"/>
          </a:p>
        </p:txBody>
      </p:sp>
      <p:sp>
        <p:nvSpPr>
          <p:cNvPr id="12" name="Shape 10">
            <a:extLst>
              <a:ext uri="{FF2B5EF4-FFF2-40B4-BE49-F238E27FC236}">
                <a16:creationId xmlns:a16="http://schemas.microsoft.com/office/drawing/2014/main" id="{DDAF14C0-97C5-B335-4AB0-8D3D1E9E4F47}"/>
              </a:ext>
            </a:extLst>
          </p:cNvPr>
          <p:cNvSpPr/>
          <p:nvPr/>
        </p:nvSpPr>
        <p:spPr>
          <a:xfrm>
            <a:off x="2560320" y="1700784"/>
            <a:ext cx="1920240" cy="1353312"/>
          </a:xfrm>
          <a:prstGeom prst="roundRect">
            <a:avLst>
              <a:gd name="adj" fmla="val 6757"/>
            </a:avLst>
          </a:prstGeom>
          <a:solidFill>
            <a:srgbClr val="1E1040"/>
          </a:solidFill>
          <a:ln w="12700">
            <a:solidFill>
              <a:srgbClr val="A380FF"/>
            </a:solidFill>
            <a:prstDash val="solid"/>
          </a:ln>
        </p:spPr>
        <p:txBody>
          <a:bodyPr/>
          <a:lstStyle/>
          <a:p>
            <a:endParaRPr lang="en-US"/>
          </a:p>
        </p:txBody>
      </p:sp>
      <p:sp>
        <p:nvSpPr>
          <p:cNvPr id="13" name="Shape 11">
            <a:extLst>
              <a:ext uri="{FF2B5EF4-FFF2-40B4-BE49-F238E27FC236}">
                <a16:creationId xmlns:a16="http://schemas.microsoft.com/office/drawing/2014/main" id="{776403A4-2CA0-39E1-1FCF-79323B814822}"/>
              </a:ext>
            </a:extLst>
          </p:cNvPr>
          <p:cNvSpPr/>
          <p:nvPr/>
        </p:nvSpPr>
        <p:spPr>
          <a:xfrm>
            <a:off x="3310128" y="1792224"/>
            <a:ext cx="420624" cy="420624"/>
          </a:xfrm>
          <a:prstGeom prst="ellipse">
            <a:avLst/>
          </a:prstGeom>
          <a:solidFill>
            <a:srgbClr val="A380FF"/>
          </a:solidFill>
          <a:ln w="12700">
            <a:solidFill>
              <a:srgbClr val="A380FF"/>
            </a:solidFill>
            <a:prstDash val="solid"/>
          </a:ln>
        </p:spPr>
        <p:txBody>
          <a:bodyPr/>
          <a:lstStyle/>
          <a:p>
            <a:endParaRPr lang="en-US"/>
          </a:p>
        </p:txBody>
      </p:sp>
      <p:sp>
        <p:nvSpPr>
          <p:cNvPr id="14" name="Text 12">
            <a:extLst>
              <a:ext uri="{FF2B5EF4-FFF2-40B4-BE49-F238E27FC236}">
                <a16:creationId xmlns:a16="http://schemas.microsoft.com/office/drawing/2014/main" id="{0884DE88-35C5-C26A-63B1-CC359648059C}"/>
              </a:ext>
            </a:extLst>
          </p:cNvPr>
          <p:cNvSpPr/>
          <p:nvPr/>
        </p:nvSpPr>
        <p:spPr>
          <a:xfrm>
            <a:off x="2560320" y="2249424"/>
            <a:ext cx="192024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Buttons</a:t>
            </a:r>
            <a:endParaRPr lang="en-US" sz="1200" dirty="0"/>
          </a:p>
        </p:txBody>
      </p:sp>
      <p:sp>
        <p:nvSpPr>
          <p:cNvPr id="15" name="Text 13">
            <a:extLst>
              <a:ext uri="{FF2B5EF4-FFF2-40B4-BE49-F238E27FC236}">
                <a16:creationId xmlns:a16="http://schemas.microsoft.com/office/drawing/2014/main" id="{F3F1D8EF-4D16-5EFA-256E-3E3E9A333005}"/>
              </a:ext>
            </a:extLst>
          </p:cNvPr>
          <p:cNvSpPr/>
          <p:nvPr/>
        </p:nvSpPr>
        <p:spPr>
          <a:xfrm>
            <a:off x="2651760" y="2560320"/>
            <a:ext cx="1737360" cy="420624"/>
          </a:xfrm>
          <a:prstGeom prst="rect">
            <a:avLst/>
          </a:prstGeom>
          <a:noFill/>
          <a:ln/>
        </p:spPr>
        <p:txBody>
          <a:bodyPr wrap="square" lIns="0" tIns="0" rIns="0" bIns="0" rtlCol="0" anchor="t"/>
          <a:lstStyle/>
          <a:p>
            <a:pPr marL="0" indent="0" algn="ctr">
              <a:lnSpc>
                <a:spcPct val="120000"/>
              </a:lnSpc>
              <a:buNone/>
            </a:pPr>
            <a:r>
              <a:rPr lang="en-US" sz="950" dirty="0">
                <a:solidFill>
                  <a:srgbClr val="A380FF"/>
                </a:solidFill>
                <a:latin typeface="Calibri" pitchFamily="34" charset="0"/>
                <a:ea typeface="Calibri" pitchFamily="34" charset="-122"/>
                <a:cs typeface="Calibri" pitchFamily="34" charset="-120"/>
              </a:rPr>
              <a:t>Clickable elements</a:t>
            </a:r>
            <a:endParaRPr lang="en-US" sz="950" dirty="0"/>
          </a:p>
          <a:p>
            <a:pPr marL="0" indent="0" algn="ctr">
              <a:lnSpc>
                <a:spcPct val="120000"/>
              </a:lnSpc>
              <a:buNone/>
            </a:pPr>
            <a:r>
              <a:rPr lang="en-US" sz="950" dirty="0">
                <a:solidFill>
                  <a:srgbClr val="A380FF"/>
                </a:solidFill>
                <a:latin typeface="Calibri" pitchFamily="34" charset="0"/>
                <a:ea typeface="Calibri" pitchFamily="34" charset="-122"/>
                <a:cs typeface="Calibri" pitchFamily="34" charset="-120"/>
              </a:rPr>
              <a:t>that trigger actions</a:t>
            </a:r>
            <a:endParaRPr lang="en-US" sz="950" dirty="0"/>
          </a:p>
        </p:txBody>
      </p:sp>
      <p:sp>
        <p:nvSpPr>
          <p:cNvPr id="16" name="Shape 14">
            <a:extLst>
              <a:ext uri="{FF2B5EF4-FFF2-40B4-BE49-F238E27FC236}">
                <a16:creationId xmlns:a16="http://schemas.microsoft.com/office/drawing/2014/main" id="{6B6C4DA2-FE91-7709-48E2-5BCC76E8B8AC}"/>
              </a:ext>
            </a:extLst>
          </p:cNvPr>
          <p:cNvSpPr/>
          <p:nvPr/>
        </p:nvSpPr>
        <p:spPr>
          <a:xfrm>
            <a:off x="4645152" y="1700784"/>
            <a:ext cx="1920240" cy="1353312"/>
          </a:xfrm>
          <a:prstGeom prst="roundRect">
            <a:avLst>
              <a:gd name="adj" fmla="val 6757"/>
            </a:avLst>
          </a:prstGeom>
          <a:solidFill>
            <a:srgbClr val="1E1040"/>
          </a:solidFill>
          <a:ln w="12700">
            <a:solidFill>
              <a:srgbClr val="F4A664"/>
            </a:solidFill>
            <a:prstDash val="solid"/>
          </a:ln>
        </p:spPr>
        <p:txBody>
          <a:bodyPr/>
          <a:lstStyle/>
          <a:p>
            <a:endParaRPr lang="en-US"/>
          </a:p>
        </p:txBody>
      </p:sp>
      <p:sp>
        <p:nvSpPr>
          <p:cNvPr id="17" name="Shape 15">
            <a:extLst>
              <a:ext uri="{FF2B5EF4-FFF2-40B4-BE49-F238E27FC236}">
                <a16:creationId xmlns:a16="http://schemas.microsoft.com/office/drawing/2014/main" id="{BCF9DEE9-7D1F-DA11-ACB3-110AC3BF2D9B}"/>
              </a:ext>
            </a:extLst>
          </p:cNvPr>
          <p:cNvSpPr/>
          <p:nvPr/>
        </p:nvSpPr>
        <p:spPr>
          <a:xfrm>
            <a:off x="5394960" y="1792224"/>
            <a:ext cx="420624" cy="420624"/>
          </a:xfrm>
          <a:prstGeom prst="ellipse">
            <a:avLst/>
          </a:prstGeom>
          <a:solidFill>
            <a:srgbClr val="F4A664"/>
          </a:solidFill>
          <a:ln w="12700">
            <a:solidFill>
              <a:srgbClr val="F4A664"/>
            </a:solidFill>
            <a:prstDash val="solid"/>
          </a:ln>
        </p:spPr>
        <p:txBody>
          <a:bodyPr/>
          <a:lstStyle/>
          <a:p>
            <a:endParaRPr lang="en-US"/>
          </a:p>
        </p:txBody>
      </p:sp>
      <p:sp>
        <p:nvSpPr>
          <p:cNvPr id="18" name="Text 16">
            <a:extLst>
              <a:ext uri="{FF2B5EF4-FFF2-40B4-BE49-F238E27FC236}">
                <a16:creationId xmlns:a16="http://schemas.microsoft.com/office/drawing/2014/main" id="{3BBC35AA-47CA-92E2-7A2D-3DA484623ACE}"/>
              </a:ext>
            </a:extLst>
          </p:cNvPr>
          <p:cNvSpPr/>
          <p:nvPr/>
        </p:nvSpPr>
        <p:spPr>
          <a:xfrm>
            <a:off x="4645152" y="2249424"/>
            <a:ext cx="192024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Menus</a:t>
            </a:r>
            <a:endParaRPr lang="en-US" sz="1200" dirty="0"/>
          </a:p>
        </p:txBody>
      </p:sp>
      <p:sp>
        <p:nvSpPr>
          <p:cNvPr id="19" name="Text 17">
            <a:extLst>
              <a:ext uri="{FF2B5EF4-FFF2-40B4-BE49-F238E27FC236}">
                <a16:creationId xmlns:a16="http://schemas.microsoft.com/office/drawing/2014/main" id="{5E17B471-B989-A6FA-1447-BD99A4C9F566}"/>
              </a:ext>
            </a:extLst>
          </p:cNvPr>
          <p:cNvSpPr/>
          <p:nvPr/>
        </p:nvSpPr>
        <p:spPr>
          <a:xfrm>
            <a:off x="4736592" y="2560320"/>
            <a:ext cx="1737360" cy="420624"/>
          </a:xfrm>
          <a:prstGeom prst="rect">
            <a:avLst/>
          </a:prstGeom>
          <a:noFill/>
          <a:ln/>
        </p:spPr>
        <p:txBody>
          <a:bodyPr wrap="square" lIns="0" tIns="0" rIns="0" bIns="0" rtlCol="0" anchor="t"/>
          <a:lstStyle/>
          <a:p>
            <a:pPr marL="0" indent="0" algn="ctr">
              <a:lnSpc>
                <a:spcPct val="120000"/>
              </a:lnSpc>
              <a:buNone/>
            </a:pPr>
            <a:r>
              <a:rPr lang="en-US" sz="950" dirty="0">
                <a:solidFill>
                  <a:srgbClr val="F4A664"/>
                </a:solidFill>
                <a:latin typeface="Calibri" pitchFamily="34" charset="0"/>
                <a:ea typeface="Calibri" pitchFamily="34" charset="-122"/>
                <a:cs typeface="Calibri" pitchFamily="34" charset="-120"/>
              </a:rPr>
              <a:t>Organised lists</a:t>
            </a:r>
            <a:endParaRPr lang="en-US" sz="950" dirty="0"/>
          </a:p>
          <a:p>
            <a:pPr marL="0" indent="0" algn="ctr">
              <a:lnSpc>
                <a:spcPct val="120000"/>
              </a:lnSpc>
              <a:buNone/>
            </a:pPr>
            <a:r>
              <a:rPr lang="en-US" sz="950" dirty="0">
                <a:solidFill>
                  <a:srgbClr val="F4A664"/>
                </a:solidFill>
                <a:latin typeface="Calibri" pitchFamily="34" charset="0"/>
                <a:ea typeface="Calibri" pitchFamily="34" charset="-122"/>
                <a:cs typeface="Calibri" pitchFamily="34" charset="-120"/>
              </a:rPr>
              <a:t>of available options</a:t>
            </a:r>
            <a:endParaRPr lang="en-US" sz="950" dirty="0"/>
          </a:p>
        </p:txBody>
      </p:sp>
      <p:sp>
        <p:nvSpPr>
          <p:cNvPr id="20" name="Shape 18">
            <a:extLst>
              <a:ext uri="{FF2B5EF4-FFF2-40B4-BE49-F238E27FC236}">
                <a16:creationId xmlns:a16="http://schemas.microsoft.com/office/drawing/2014/main" id="{AF77532F-24F0-448B-56CC-87190731AE70}"/>
              </a:ext>
            </a:extLst>
          </p:cNvPr>
          <p:cNvSpPr/>
          <p:nvPr/>
        </p:nvSpPr>
        <p:spPr>
          <a:xfrm>
            <a:off x="6729984" y="1700784"/>
            <a:ext cx="1920240" cy="1353312"/>
          </a:xfrm>
          <a:prstGeom prst="roundRect">
            <a:avLst>
              <a:gd name="adj" fmla="val 6757"/>
            </a:avLst>
          </a:prstGeom>
          <a:solidFill>
            <a:srgbClr val="1E1040"/>
          </a:solidFill>
          <a:ln w="12700">
            <a:solidFill>
              <a:srgbClr val="FFDB5E"/>
            </a:solidFill>
            <a:prstDash val="solid"/>
          </a:ln>
        </p:spPr>
        <p:txBody>
          <a:bodyPr/>
          <a:lstStyle/>
          <a:p>
            <a:endParaRPr lang="en-US"/>
          </a:p>
        </p:txBody>
      </p:sp>
      <p:sp>
        <p:nvSpPr>
          <p:cNvPr id="21" name="Shape 19">
            <a:extLst>
              <a:ext uri="{FF2B5EF4-FFF2-40B4-BE49-F238E27FC236}">
                <a16:creationId xmlns:a16="http://schemas.microsoft.com/office/drawing/2014/main" id="{444B2C1B-B9C4-104E-5A1F-856419321354}"/>
              </a:ext>
            </a:extLst>
          </p:cNvPr>
          <p:cNvSpPr/>
          <p:nvPr/>
        </p:nvSpPr>
        <p:spPr>
          <a:xfrm>
            <a:off x="7479792" y="1792224"/>
            <a:ext cx="420624" cy="420624"/>
          </a:xfrm>
          <a:prstGeom prst="ellipse">
            <a:avLst/>
          </a:prstGeom>
          <a:solidFill>
            <a:srgbClr val="FFDB5E"/>
          </a:solidFill>
          <a:ln w="12700">
            <a:solidFill>
              <a:srgbClr val="FFDB5E"/>
            </a:solidFill>
            <a:prstDash val="solid"/>
          </a:ln>
        </p:spPr>
        <p:txBody>
          <a:bodyPr/>
          <a:lstStyle/>
          <a:p>
            <a:endParaRPr lang="en-US"/>
          </a:p>
        </p:txBody>
      </p:sp>
      <p:sp>
        <p:nvSpPr>
          <p:cNvPr id="22" name="Text 20">
            <a:extLst>
              <a:ext uri="{FF2B5EF4-FFF2-40B4-BE49-F238E27FC236}">
                <a16:creationId xmlns:a16="http://schemas.microsoft.com/office/drawing/2014/main" id="{6427A6D4-42C7-FCD9-7BE7-9C4E7528756A}"/>
              </a:ext>
            </a:extLst>
          </p:cNvPr>
          <p:cNvSpPr/>
          <p:nvPr/>
        </p:nvSpPr>
        <p:spPr>
          <a:xfrm>
            <a:off x="6729984" y="2249424"/>
            <a:ext cx="1920240"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Windows</a:t>
            </a:r>
            <a:endParaRPr lang="en-US" sz="1200" dirty="0"/>
          </a:p>
        </p:txBody>
      </p:sp>
      <p:sp>
        <p:nvSpPr>
          <p:cNvPr id="23" name="Text 21">
            <a:extLst>
              <a:ext uri="{FF2B5EF4-FFF2-40B4-BE49-F238E27FC236}">
                <a16:creationId xmlns:a16="http://schemas.microsoft.com/office/drawing/2014/main" id="{ACA6E1B9-8181-4CDF-FC01-03DEC6C36C81}"/>
              </a:ext>
            </a:extLst>
          </p:cNvPr>
          <p:cNvSpPr/>
          <p:nvPr/>
        </p:nvSpPr>
        <p:spPr>
          <a:xfrm>
            <a:off x="6821424" y="2560320"/>
            <a:ext cx="1737360" cy="420624"/>
          </a:xfrm>
          <a:prstGeom prst="rect">
            <a:avLst/>
          </a:prstGeom>
          <a:noFill/>
          <a:ln/>
        </p:spPr>
        <p:txBody>
          <a:bodyPr wrap="square" lIns="0" tIns="0" rIns="0" bIns="0" rtlCol="0" anchor="t"/>
          <a:lstStyle/>
          <a:p>
            <a:pPr marL="0" indent="0" algn="ctr">
              <a:lnSpc>
                <a:spcPct val="120000"/>
              </a:lnSpc>
              <a:buNone/>
            </a:pPr>
            <a:r>
              <a:rPr lang="en-US" sz="950" dirty="0">
                <a:solidFill>
                  <a:srgbClr val="FFDB5E"/>
                </a:solidFill>
                <a:latin typeface="Calibri" pitchFamily="34" charset="0"/>
                <a:ea typeface="Calibri" pitchFamily="34" charset="-122"/>
                <a:cs typeface="Calibri" pitchFamily="34" charset="-120"/>
              </a:rPr>
              <a:t>Framed areas that</a:t>
            </a:r>
            <a:endParaRPr lang="en-US" sz="950" dirty="0"/>
          </a:p>
          <a:p>
            <a:pPr marL="0" indent="0" algn="ctr">
              <a:lnSpc>
                <a:spcPct val="120000"/>
              </a:lnSpc>
              <a:buNone/>
            </a:pPr>
            <a:r>
              <a:rPr lang="en-US" sz="950" dirty="0">
                <a:solidFill>
                  <a:srgbClr val="FFDB5E"/>
                </a:solidFill>
                <a:latin typeface="Calibri" pitchFamily="34" charset="0"/>
                <a:ea typeface="Calibri" pitchFamily="34" charset="-122"/>
                <a:cs typeface="Calibri" pitchFamily="34" charset="-120"/>
              </a:rPr>
              <a:t>contain each program</a:t>
            </a:r>
            <a:endParaRPr lang="en-US" sz="950" dirty="0"/>
          </a:p>
        </p:txBody>
      </p:sp>
      <p:sp>
        <p:nvSpPr>
          <p:cNvPr id="24" name="Shape 22">
            <a:extLst>
              <a:ext uri="{FF2B5EF4-FFF2-40B4-BE49-F238E27FC236}">
                <a16:creationId xmlns:a16="http://schemas.microsoft.com/office/drawing/2014/main" id="{526070CD-12B8-C31F-4E7B-8B315D641596}"/>
              </a:ext>
            </a:extLst>
          </p:cNvPr>
          <p:cNvSpPr/>
          <p:nvPr/>
        </p:nvSpPr>
        <p:spPr>
          <a:xfrm>
            <a:off x="502920" y="3163824"/>
            <a:ext cx="8138160" cy="0"/>
          </a:xfrm>
          <a:prstGeom prst="line">
            <a:avLst/>
          </a:prstGeom>
          <a:noFill/>
          <a:ln w="6350">
            <a:solidFill>
              <a:srgbClr val="2A1A5E"/>
            </a:solidFill>
            <a:prstDash val="solid"/>
          </a:ln>
        </p:spPr>
        <p:txBody>
          <a:bodyPr/>
          <a:lstStyle/>
          <a:p>
            <a:endParaRPr lang="en-US"/>
          </a:p>
        </p:txBody>
      </p:sp>
      <p:sp>
        <p:nvSpPr>
          <p:cNvPr id="25" name="Text 23">
            <a:extLst>
              <a:ext uri="{FF2B5EF4-FFF2-40B4-BE49-F238E27FC236}">
                <a16:creationId xmlns:a16="http://schemas.microsoft.com/office/drawing/2014/main" id="{47FDBBA1-FA6D-C11D-77FF-CFBC86783B6E}"/>
              </a:ext>
            </a:extLst>
          </p:cNvPr>
          <p:cNvSpPr/>
          <p:nvPr/>
        </p:nvSpPr>
        <p:spPr>
          <a:xfrm>
            <a:off x="502920" y="3255264"/>
            <a:ext cx="8138160" cy="274320"/>
          </a:xfrm>
          <a:prstGeom prst="rect">
            <a:avLst/>
          </a:prstGeom>
          <a:noFill/>
          <a:ln/>
        </p:spPr>
        <p:txBody>
          <a:bodyPr wrap="square" rtlCol="0" anchor="ctr"/>
          <a:lstStyle/>
          <a:p>
            <a:pPr marL="0" indent="0">
              <a:buNone/>
            </a:pPr>
            <a:r>
              <a:rPr lang="en-US" sz="1300" b="1" i="1" dirty="0">
                <a:solidFill>
                  <a:srgbClr val="57E3D8"/>
                </a:solidFill>
                <a:latin typeface="Calibri" pitchFamily="34" charset="0"/>
                <a:ea typeface="Calibri" pitchFamily="34" charset="-122"/>
                <a:cs typeface="Calibri" pitchFamily="34" charset="-120"/>
              </a:rPr>
              <a:t>Each operating system's GUI has a different look and feel.</a:t>
            </a:r>
            <a:endParaRPr lang="en-US" sz="1300" dirty="0"/>
          </a:p>
        </p:txBody>
      </p:sp>
      <p:sp>
        <p:nvSpPr>
          <p:cNvPr id="26" name="Text 24">
            <a:extLst>
              <a:ext uri="{FF2B5EF4-FFF2-40B4-BE49-F238E27FC236}">
                <a16:creationId xmlns:a16="http://schemas.microsoft.com/office/drawing/2014/main" id="{AFAE8E6B-6622-99C9-FA34-4710944946DA}"/>
              </a:ext>
            </a:extLst>
          </p:cNvPr>
          <p:cNvSpPr/>
          <p:nvPr/>
        </p:nvSpPr>
        <p:spPr>
          <a:xfrm>
            <a:off x="502920" y="3566160"/>
            <a:ext cx="8138160" cy="420624"/>
          </a:xfrm>
          <a:prstGeom prst="rect">
            <a:avLst/>
          </a:prstGeom>
          <a:noFill/>
          <a:ln/>
        </p:spPr>
        <p:txBody>
          <a:bodyPr wrap="square" lIns="0" tIns="0" rIns="0" bIns="0" rtlCol="0" anchor="t"/>
          <a:lstStyle/>
          <a:p>
            <a:pPr marL="0" indent="0">
              <a:lnSpc>
                <a:spcPct val="135000"/>
              </a:lnSpc>
              <a:buNone/>
            </a:pPr>
            <a:r>
              <a:rPr lang="en-US" sz="1200" dirty="0">
                <a:solidFill>
                  <a:srgbClr val="EDEDED"/>
                </a:solidFill>
                <a:latin typeface="Calibri" pitchFamily="34" charset="0"/>
                <a:ea typeface="Calibri" pitchFamily="34" charset="-122"/>
                <a:cs typeface="Calibri" pitchFamily="34" charset="-120"/>
              </a:rPr>
              <a:t>If you switch to a different operating system it may seem unfamiliar at first. However, modern operating systems are designed to be easy to use, and most of the basic principles are the same.</a:t>
            </a:r>
            <a:endParaRPr lang="en-US" sz="1200" dirty="0"/>
          </a:p>
        </p:txBody>
      </p:sp>
      <p:sp>
        <p:nvSpPr>
          <p:cNvPr id="27" name="Shape 25">
            <a:extLst>
              <a:ext uri="{FF2B5EF4-FFF2-40B4-BE49-F238E27FC236}">
                <a16:creationId xmlns:a16="http://schemas.microsoft.com/office/drawing/2014/main" id="{C775A4A9-8959-3644-C0AE-7341E4B30464}"/>
              </a:ext>
            </a:extLst>
          </p:cNvPr>
          <p:cNvSpPr/>
          <p:nvPr/>
        </p:nvSpPr>
        <p:spPr>
          <a:xfrm>
            <a:off x="475488" y="4041648"/>
            <a:ext cx="8193024" cy="512064"/>
          </a:xfrm>
          <a:prstGeom prst="roundRect">
            <a:avLst>
              <a:gd name="adj" fmla="val 14286"/>
            </a:avLst>
          </a:prstGeom>
          <a:solidFill>
            <a:srgbClr val="0E1E1E"/>
          </a:solidFill>
          <a:ln w="6350">
            <a:solidFill>
              <a:srgbClr val="57E3D8"/>
            </a:solidFill>
            <a:prstDash val="solid"/>
          </a:ln>
        </p:spPr>
        <p:txBody>
          <a:bodyPr/>
          <a:lstStyle/>
          <a:p>
            <a:endParaRPr lang="en-US"/>
          </a:p>
        </p:txBody>
      </p:sp>
      <p:sp>
        <p:nvSpPr>
          <p:cNvPr id="28" name="Text 26">
            <a:extLst>
              <a:ext uri="{FF2B5EF4-FFF2-40B4-BE49-F238E27FC236}">
                <a16:creationId xmlns:a16="http://schemas.microsoft.com/office/drawing/2014/main" id="{CE392212-98E9-FFFD-5AB1-886CB21B6C0A}"/>
              </a:ext>
            </a:extLst>
          </p:cNvPr>
          <p:cNvSpPr/>
          <p:nvPr/>
        </p:nvSpPr>
        <p:spPr>
          <a:xfrm>
            <a:off x="621792" y="4041648"/>
            <a:ext cx="7863840" cy="512064"/>
          </a:xfrm>
          <a:prstGeom prst="rect">
            <a:avLst/>
          </a:prstGeom>
          <a:noFill/>
          <a:ln/>
        </p:spPr>
        <p:txBody>
          <a:bodyPr wrap="square" lIns="0" tIns="0" rIns="0" bIns="0" rtlCol="0" anchor="ctr"/>
          <a:lstStyle/>
          <a:p>
            <a:pPr marL="0" indent="0">
              <a:buNone/>
            </a:pPr>
            <a:r>
              <a:rPr lang="en-US" sz="1100" b="1" dirty="0">
                <a:solidFill>
                  <a:srgbClr val="57E3D8"/>
                </a:solidFill>
                <a:latin typeface="Calibri" pitchFamily="34" charset="0"/>
                <a:ea typeface="Calibri" pitchFamily="34" charset="-122"/>
                <a:cs typeface="Calibri" pitchFamily="34" charset="-120"/>
              </a:rPr>
              <a:t>Tip:  </a:t>
            </a:r>
            <a:r>
              <a:rPr lang="en-US" sz="1100" dirty="0">
                <a:solidFill>
                  <a:srgbClr val="EDEDED"/>
                </a:solidFill>
                <a:latin typeface="Calibri" pitchFamily="34" charset="0"/>
                <a:ea typeface="Calibri" pitchFamily="34" charset="-122"/>
                <a:cs typeface="Calibri" pitchFamily="34" charset="-120"/>
              </a:rPr>
              <a:t>All modern OSes — Windows, macOS, and Linux — use a GUI, making them accessible to users without any programming knowledge.</a:t>
            </a:r>
            <a:endParaRPr lang="en-US" sz="1100" dirty="0"/>
          </a:p>
        </p:txBody>
      </p:sp>
    </p:spTree>
    <p:extLst>
      <p:ext uri="{BB962C8B-B14F-4D97-AF65-F5344CB8AC3E}">
        <p14:creationId xmlns:p14="http://schemas.microsoft.com/office/powerpoint/2010/main" val="1297469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a:extLst>
            <a:ext uri="{FF2B5EF4-FFF2-40B4-BE49-F238E27FC236}">
              <a16:creationId xmlns:a16="http://schemas.microsoft.com/office/drawing/2014/main" id="{691DB463-5C60-EA1E-B908-A064AEF00C2E}"/>
            </a:ext>
          </a:extLst>
        </p:cNvPr>
        <p:cNvGrpSpPr/>
        <p:nvPr/>
      </p:nvGrpSpPr>
      <p:grpSpPr>
        <a:xfrm>
          <a:off x="0" y="0"/>
          <a:ext cx="0" cy="0"/>
          <a:chOff x="0" y="0"/>
          <a:chExt cx="0" cy="0"/>
        </a:xfrm>
      </p:grpSpPr>
      <p:sp>
        <p:nvSpPr>
          <p:cNvPr id="24" name="Shape 1">
            <a:extLst>
              <a:ext uri="{FF2B5EF4-FFF2-40B4-BE49-F238E27FC236}">
                <a16:creationId xmlns:a16="http://schemas.microsoft.com/office/drawing/2014/main" id="{47991777-4E33-F366-EDA8-212DC6C7B012}"/>
              </a:ext>
            </a:extLst>
          </p:cNvPr>
          <p:cNvSpPr/>
          <p:nvPr/>
        </p:nvSpPr>
        <p:spPr>
          <a:xfrm>
            <a:off x="0" y="73152"/>
            <a:ext cx="9144000" cy="841248"/>
          </a:xfrm>
          <a:prstGeom prst="rect">
            <a:avLst/>
          </a:prstGeom>
          <a:solidFill>
            <a:srgbClr val="262626"/>
          </a:solidFill>
          <a:ln w="12700">
            <a:solidFill>
              <a:srgbClr val="262626"/>
            </a:solidFill>
            <a:prstDash val="solid"/>
          </a:ln>
        </p:spPr>
        <p:txBody>
          <a:bodyPr/>
          <a:lstStyle/>
          <a:p>
            <a:endParaRPr lang="en-US"/>
          </a:p>
        </p:txBody>
      </p:sp>
      <p:sp>
        <p:nvSpPr>
          <p:cNvPr id="2" name="Shape 0">
            <a:extLst>
              <a:ext uri="{FF2B5EF4-FFF2-40B4-BE49-F238E27FC236}">
                <a16:creationId xmlns:a16="http://schemas.microsoft.com/office/drawing/2014/main" id="{20A6C76C-B6C3-713A-92AE-BE6EE11B5889}"/>
              </a:ext>
            </a:extLst>
          </p:cNvPr>
          <p:cNvSpPr/>
          <p:nvPr/>
        </p:nvSpPr>
        <p:spPr>
          <a:xfrm>
            <a:off x="0" y="0"/>
            <a:ext cx="9144000" cy="54864"/>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4B734913-4D35-7450-9E15-B7F85B8C8B7B}"/>
              </a:ext>
            </a:extLst>
          </p:cNvPr>
          <p:cNvSpPr/>
          <p:nvPr/>
        </p:nvSpPr>
        <p:spPr>
          <a:xfrm>
            <a:off x="0" y="5088636"/>
            <a:ext cx="9144000" cy="54864"/>
          </a:xfrm>
          <a:prstGeom prst="rect">
            <a:avLst/>
          </a:prstGeom>
          <a:solidFill>
            <a:srgbClr val="4F29B7"/>
          </a:solidFill>
          <a:ln w="12700">
            <a:solidFill>
              <a:srgbClr val="4F29B7"/>
            </a:solidFill>
            <a:prstDash val="solid"/>
          </a:ln>
        </p:spPr>
        <p:txBody>
          <a:bodyPr/>
          <a:lstStyle/>
          <a:p>
            <a:endParaRPr lang="en-US"/>
          </a:p>
        </p:txBody>
      </p:sp>
      <p:sp>
        <p:nvSpPr>
          <p:cNvPr id="4" name="Text 2">
            <a:extLst>
              <a:ext uri="{FF2B5EF4-FFF2-40B4-BE49-F238E27FC236}">
                <a16:creationId xmlns:a16="http://schemas.microsoft.com/office/drawing/2014/main" id="{86D3D455-CA86-64C0-4A41-D26E6A571114}"/>
              </a:ext>
            </a:extLst>
          </p:cNvPr>
          <p:cNvSpPr/>
          <p:nvPr/>
        </p:nvSpPr>
        <p:spPr>
          <a:xfrm>
            <a:off x="347472" y="164592"/>
            <a:ext cx="8449056" cy="475488"/>
          </a:xfrm>
          <a:prstGeom prst="rect">
            <a:avLst/>
          </a:prstGeom>
          <a:noFill/>
          <a:ln/>
        </p:spPr>
        <p:txBody>
          <a:bodyPr wrap="square" rtlCol="0" anchor="ctr"/>
          <a:lstStyle/>
          <a:p>
            <a:pPr marL="0" indent="0">
              <a:buNone/>
            </a:pPr>
            <a:r>
              <a:rPr lang="en-US" sz="2800" b="1" dirty="0">
                <a:solidFill>
                  <a:srgbClr val="57E3D8"/>
                </a:solidFill>
                <a:latin typeface="Calibri" pitchFamily="34" charset="0"/>
                <a:ea typeface="Calibri" pitchFamily="34" charset="-122"/>
                <a:cs typeface="Calibri" pitchFamily="34" charset="-120"/>
              </a:rPr>
              <a:t>Operating systems for mobile devices</a:t>
            </a:r>
            <a:endParaRPr lang="en-US" sz="2800" dirty="0"/>
          </a:p>
        </p:txBody>
      </p:sp>
      <p:sp>
        <p:nvSpPr>
          <p:cNvPr id="5" name="Text 3">
            <a:extLst>
              <a:ext uri="{FF2B5EF4-FFF2-40B4-BE49-F238E27FC236}">
                <a16:creationId xmlns:a16="http://schemas.microsoft.com/office/drawing/2014/main" id="{2CFAC0E4-2F39-2EEF-EE00-52C097FAAC9C}"/>
              </a:ext>
            </a:extLst>
          </p:cNvPr>
          <p:cNvSpPr/>
          <p:nvPr/>
        </p:nvSpPr>
        <p:spPr>
          <a:xfrm>
            <a:off x="347472" y="621792"/>
            <a:ext cx="8449056" cy="256032"/>
          </a:xfrm>
          <a:prstGeom prst="rect">
            <a:avLst/>
          </a:prstGeom>
          <a:noFill/>
          <a:ln/>
        </p:spPr>
        <p:txBody>
          <a:bodyPr wrap="square" rtlCol="0" anchor="ctr"/>
          <a:lstStyle/>
          <a:p>
            <a:pPr marL="0" indent="0">
              <a:buNone/>
            </a:pPr>
            <a:r>
              <a:rPr lang="en-US" sz="1300" i="1" dirty="0">
                <a:solidFill>
                  <a:srgbClr val="EDEDED"/>
                </a:solidFill>
                <a:latin typeface="Calibri" pitchFamily="34" charset="0"/>
                <a:ea typeface="Calibri" pitchFamily="34" charset="-122"/>
                <a:cs typeface="Calibri" pitchFamily="34" charset="-120"/>
              </a:rPr>
              <a:t>Mobile OSes are different from desktop and laptop operating systems</a:t>
            </a:r>
            <a:endParaRPr lang="en-US" sz="1300" dirty="0"/>
          </a:p>
        </p:txBody>
      </p:sp>
      <p:sp>
        <p:nvSpPr>
          <p:cNvPr id="6" name="Shape 4">
            <a:extLst>
              <a:ext uri="{FF2B5EF4-FFF2-40B4-BE49-F238E27FC236}">
                <a16:creationId xmlns:a16="http://schemas.microsoft.com/office/drawing/2014/main" id="{48AB83BC-1AD9-0CE2-ABFD-12E6B23109B3}"/>
              </a:ext>
            </a:extLst>
          </p:cNvPr>
          <p:cNvSpPr/>
          <p:nvPr/>
        </p:nvSpPr>
        <p:spPr>
          <a:xfrm>
            <a:off x="274320" y="987552"/>
            <a:ext cx="8595360" cy="3986784"/>
          </a:xfrm>
          <a:prstGeom prst="roundRect">
            <a:avLst>
              <a:gd name="adj" fmla="val 2752"/>
            </a:avLst>
          </a:prstGeom>
          <a:solidFill>
            <a:srgbClr val="1A1040"/>
          </a:solidFill>
          <a:ln w="12700">
            <a:solidFill>
              <a:srgbClr val="1A1040"/>
            </a:solidFill>
            <a:prstDash val="solid"/>
          </a:ln>
        </p:spPr>
        <p:txBody>
          <a:bodyPr/>
          <a:lstStyle/>
          <a:p>
            <a:endParaRPr lang="en-US"/>
          </a:p>
        </p:txBody>
      </p:sp>
      <p:sp>
        <p:nvSpPr>
          <p:cNvPr id="7" name="Text 5">
            <a:extLst>
              <a:ext uri="{FF2B5EF4-FFF2-40B4-BE49-F238E27FC236}">
                <a16:creationId xmlns:a16="http://schemas.microsoft.com/office/drawing/2014/main" id="{0F378E08-B90C-21D3-9467-40100A2ABCF1}"/>
              </a:ext>
            </a:extLst>
          </p:cNvPr>
          <p:cNvSpPr/>
          <p:nvPr/>
        </p:nvSpPr>
        <p:spPr>
          <a:xfrm>
            <a:off x="502920" y="1060704"/>
            <a:ext cx="8138160" cy="384048"/>
          </a:xfrm>
          <a:prstGeom prst="rect">
            <a:avLst/>
          </a:prstGeom>
          <a:noFill/>
          <a:ln/>
        </p:spPr>
        <p:txBody>
          <a:bodyPr wrap="square" lIns="0" tIns="0" rIns="0" bIns="0" rtlCol="0" anchor="ctr"/>
          <a:lstStyle/>
          <a:p>
            <a:pPr marL="0" indent="0">
              <a:buNone/>
            </a:pPr>
            <a:r>
              <a:rPr lang="en-US" sz="1300" b="1" dirty="0">
                <a:solidFill>
                  <a:srgbClr val="57E3D8"/>
                </a:solidFill>
                <a:latin typeface="Calibri" pitchFamily="34" charset="0"/>
                <a:ea typeface="Calibri" pitchFamily="34" charset="-122"/>
                <a:cs typeface="Calibri" pitchFamily="34" charset="-120"/>
              </a:rPr>
              <a:t>Mobile devices</a:t>
            </a:r>
            <a:r>
              <a:rPr lang="en-US" sz="1300" dirty="0">
                <a:solidFill>
                  <a:srgbClr val="EDEDED"/>
                </a:solidFill>
                <a:latin typeface="Calibri" pitchFamily="34" charset="0"/>
                <a:ea typeface="Calibri" pitchFamily="34" charset="-122"/>
                <a:cs typeface="Calibri" pitchFamily="34" charset="-120"/>
              </a:rPr>
              <a:t> such as phones, tablet computers, and MP3 players run operating systems designed </a:t>
            </a:r>
            <a:r>
              <a:rPr lang="en-US" sz="1300" b="1" dirty="0">
                <a:solidFill>
                  <a:srgbClr val="EDEDED"/>
                </a:solidFill>
                <a:latin typeface="Calibri" pitchFamily="34" charset="0"/>
                <a:ea typeface="Calibri" pitchFamily="34" charset="-122"/>
                <a:cs typeface="Calibri" pitchFamily="34" charset="-120"/>
              </a:rPr>
              <a:t>specifically for mobile devices.</a:t>
            </a:r>
            <a:endParaRPr lang="en-US" sz="1300" dirty="0"/>
          </a:p>
        </p:txBody>
      </p:sp>
      <p:sp>
        <p:nvSpPr>
          <p:cNvPr id="8" name="Shape 6">
            <a:extLst>
              <a:ext uri="{FF2B5EF4-FFF2-40B4-BE49-F238E27FC236}">
                <a16:creationId xmlns:a16="http://schemas.microsoft.com/office/drawing/2014/main" id="{15427268-59A4-B0F3-3104-37BD1B04E569}"/>
              </a:ext>
            </a:extLst>
          </p:cNvPr>
          <p:cNvSpPr/>
          <p:nvPr/>
        </p:nvSpPr>
        <p:spPr>
          <a:xfrm>
            <a:off x="347472" y="1572768"/>
            <a:ext cx="4151376" cy="2084832"/>
          </a:xfrm>
          <a:prstGeom prst="roundRect">
            <a:avLst>
              <a:gd name="adj" fmla="val 6140"/>
            </a:avLst>
          </a:prstGeom>
          <a:solidFill>
            <a:srgbClr val="0A2E2E"/>
          </a:solidFill>
          <a:ln w="19050">
            <a:solidFill>
              <a:srgbClr val="57E3D8"/>
            </a:solidFill>
            <a:prstDash val="solid"/>
          </a:ln>
        </p:spPr>
        <p:txBody>
          <a:bodyPr/>
          <a:lstStyle/>
          <a:p>
            <a:endParaRPr lang="en-US"/>
          </a:p>
        </p:txBody>
      </p:sp>
      <p:sp>
        <p:nvSpPr>
          <p:cNvPr id="9" name="Text 7">
            <a:extLst>
              <a:ext uri="{FF2B5EF4-FFF2-40B4-BE49-F238E27FC236}">
                <a16:creationId xmlns:a16="http://schemas.microsoft.com/office/drawing/2014/main" id="{1036217F-B768-63EB-8935-4B365FD2ECB3}"/>
              </a:ext>
            </a:extLst>
          </p:cNvPr>
          <p:cNvSpPr/>
          <p:nvPr/>
        </p:nvSpPr>
        <p:spPr>
          <a:xfrm>
            <a:off x="347472" y="1618488"/>
            <a:ext cx="4151376" cy="457200"/>
          </a:xfrm>
          <a:prstGeom prst="rect">
            <a:avLst/>
          </a:prstGeom>
          <a:noFill/>
          <a:ln/>
        </p:spPr>
        <p:txBody>
          <a:bodyPr wrap="square" rtlCol="0" anchor="ctr"/>
          <a:lstStyle/>
          <a:p>
            <a:pPr marL="0" indent="0" algn="ctr">
              <a:buNone/>
            </a:pPr>
            <a:r>
              <a:rPr lang="en-US" sz="2000" b="1" dirty="0">
                <a:solidFill>
                  <a:srgbClr val="57E3D8"/>
                </a:solidFill>
                <a:latin typeface="Calibri" pitchFamily="34" charset="0"/>
                <a:ea typeface="Calibri" pitchFamily="34" charset="-122"/>
                <a:cs typeface="Calibri" pitchFamily="34" charset="-120"/>
              </a:rPr>
              <a:t>Apple iOS</a:t>
            </a:r>
            <a:endParaRPr lang="en-US" sz="2000" dirty="0"/>
          </a:p>
        </p:txBody>
      </p:sp>
      <p:sp>
        <p:nvSpPr>
          <p:cNvPr id="10" name="Text 8">
            <a:extLst>
              <a:ext uri="{FF2B5EF4-FFF2-40B4-BE49-F238E27FC236}">
                <a16:creationId xmlns:a16="http://schemas.microsoft.com/office/drawing/2014/main" id="{87D72E9D-9BDB-4DA8-A202-810A6FDA5295}"/>
              </a:ext>
            </a:extLst>
          </p:cNvPr>
          <p:cNvSpPr/>
          <p:nvPr/>
        </p:nvSpPr>
        <p:spPr>
          <a:xfrm>
            <a:off x="530352" y="2176272"/>
            <a:ext cx="3803904" cy="1408176"/>
          </a:xfrm>
          <a:prstGeom prst="rect">
            <a:avLst/>
          </a:prstGeom>
          <a:noFill/>
          <a:ln/>
        </p:spPr>
        <p:txBody>
          <a:bodyPr wrap="square" lIns="0" tIns="0" rIns="0" bIns="0" rtlCol="0" anchor="t"/>
          <a:lstStyle/>
          <a:p>
            <a:pPr marL="0" indent="0">
              <a:lnSpc>
                <a:spcPct val="135000"/>
              </a:lnSpc>
              <a:buNone/>
            </a:pPr>
            <a:r>
              <a:rPr lang="en-US" sz="1150" dirty="0">
                <a:solidFill>
                  <a:srgbClr val="EDEDED"/>
                </a:solidFill>
                <a:latin typeface="Calibri" pitchFamily="34" charset="0"/>
                <a:ea typeface="Calibri" pitchFamily="34" charset="-122"/>
                <a:cs typeface="Calibri" pitchFamily="34" charset="-120"/>
              </a:rPr>
              <a:t>Designed by Apple. Runs on iPhones, iPads, and iPod touch. Pre-installed on all Apple mobile devices. Known for its smooth performance and tight integration with the Apple ecosystem.</a:t>
            </a:r>
            <a:endParaRPr lang="en-US" sz="1150" dirty="0"/>
          </a:p>
        </p:txBody>
      </p:sp>
      <p:sp>
        <p:nvSpPr>
          <p:cNvPr id="11" name="Shape 9">
            <a:extLst>
              <a:ext uri="{FF2B5EF4-FFF2-40B4-BE49-F238E27FC236}">
                <a16:creationId xmlns:a16="http://schemas.microsoft.com/office/drawing/2014/main" id="{8AA1839D-3144-1D3F-AAF2-9C1D2F2444E0}"/>
              </a:ext>
            </a:extLst>
          </p:cNvPr>
          <p:cNvSpPr/>
          <p:nvPr/>
        </p:nvSpPr>
        <p:spPr>
          <a:xfrm>
            <a:off x="4773168" y="1572768"/>
            <a:ext cx="4151376" cy="2084832"/>
          </a:xfrm>
          <a:prstGeom prst="roundRect">
            <a:avLst>
              <a:gd name="adj" fmla="val 6140"/>
            </a:avLst>
          </a:prstGeom>
          <a:solidFill>
            <a:srgbClr val="0E1E10"/>
          </a:solidFill>
          <a:ln w="19050">
            <a:solidFill>
              <a:srgbClr val="80D883"/>
            </a:solidFill>
            <a:prstDash val="solid"/>
          </a:ln>
        </p:spPr>
        <p:txBody>
          <a:bodyPr/>
          <a:lstStyle/>
          <a:p>
            <a:endParaRPr lang="en-US"/>
          </a:p>
        </p:txBody>
      </p:sp>
      <p:sp>
        <p:nvSpPr>
          <p:cNvPr id="12" name="Text 10">
            <a:extLst>
              <a:ext uri="{FF2B5EF4-FFF2-40B4-BE49-F238E27FC236}">
                <a16:creationId xmlns:a16="http://schemas.microsoft.com/office/drawing/2014/main" id="{A01E1397-B956-A4DD-F8EE-DD750C49C008}"/>
              </a:ext>
            </a:extLst>
          </p:cNvPr>
          <p:cNvSpPr/>
          <p:nvPr/>
        </p:nvSpPr>
        <p:spPr>
          <a:xfrm>
            <a:off x="4773168" y="1618488"/>
            <a:ext cx="4151376" cy="457200"/>
          </a:xfrm>
          <a:prstGeom prst="rect">
            <a:avLst/>
          </a:prstGeom>
          <a:noFill/>
          <a:ln/>
        </p:spPr>
        <p:txBody>
          <a:bodyPr wrap="square" rtlCol="0" anchor="ctr"/>
          <a:lstStyle/>
          <a:p>
            <a:pPr marL="0" indent="0" algn="ctr">
              <a:buNone/>
            </a:pPr>
            <a:r>
              <a:rPr lang="en-US" sz="2000" b="1" dirty="0">
                <a:solidFill>
                  <a:srgbClr val="80D883"/>
                </a:solidFill>
                <a:latin typeface="Calibri" pitchFamily="34" charset="0"/>
                <a:ea typeface="Calibri" pitchFamily="34" charset="-122"/>
                <a:cs typeface="Calibri" pitchFamily="34" charset="-120"/>
              </a:rPr>
              <a:t>Google Android</a:t>
            </a:r>
            <a:endParaRPr lang="en-US" sz="2000" dirty="0"/>
          </a:p>
        </p:txBody>
      </p:sp>
      <p:sp>
        <p:nvSpPr>
          <p:cNvPr id="13" name="Text 11">
            <a:extLst>
              <a:ext uri="{FF2B5EF4-FFF2-40B4-BE49-F238E27FC236}">
                <a16:creationId xmlns:a16="http://schemas.microsoft.com/office/drawing/2014/main" id="{75967F9D-D979-F60F-7376-C398D4B946A2}"/>
              </a:ext>
            </a:extLst>
          </p:cNvPr>
          <p:cNvSpPr/>
          <p:nvPr/>
        </p:nvSpPr>
        <p:spPr>
          <a:xfrm>
            <a:off x="4956048" y="2176272"/>
            <a:ext cx="3803904" cy="1408176"/>
          </a:xfrm>
          <a:prstGeom prst="rect">
            <a:avLst/>
          </a:prstGeom>
          <a:noFill/>
          <a:ln/>
        </p:spPr>
        <p:txBody>
          <a:bodyPr wrap="square" lIns="0" tIns="0" rIns="0" bIns="0" rtlCol="0" anchor="t"/>
          <a:lstStyle/>
          <a:p>
            <a:pPr marL="0" indent="0">
              <a:lnSpc>
                <a:spcPct val="135000"/>
              </a:lnSpc>
              <a:buNone/>
            </a:pPr>
            <a:r>
              <a:rPr lang="en-US" sz="1150" dirty="0">
                <a:solidFill>
                  <a:srgbClr val="EDEDED"/>
                </a:solidFill>
                <a:latin typeface="Calibri" pitchFamily="34" charset="0"/>
                <a:ea typeface="Calibri" pitchFamily="34" charset="-122"/>
                <a:cs typeface="Calibri" pitchFamily="34" charset="-120"/>
              </a:rPr>
              <a:t>An open-source mobile OS developed by Google. Runs on the vast majority of smartphones worldwide. Highly customizable — used by Samsung, Google, and many other manufacturers.</a:t>
            </a:r>
            <a:endParaRPr lang="en-US" sz="1150" dirty="0"/>
          </a:p>
        </p:txBody>
      </p:sp>
      <p:sp>
        <p:nvSpPr>
          <p:cNvPr id="14" name="Shape 12">
            <a:extLst>
              <a:ext uri="{FF2B5EF4-FFF2-40B4-BE49-F238E27FC236}">
                <a16:creationId xmlns:a16="http://schemas.microsoft.com/office/drawing/2014/main" id="{2EBC3E55-3B2B-8F6C-DFE6-24567282732F}"/>
              </a:ext>
            </a:extLst>
          </p:cNvPr>
          <p:cNvSpPr/>
          <p:nvPr/>
        </p:nvSpPr>
        <p:spPr>
          <a:xfrm>
            <a:off x="502920" y="3749040"/>
            <a:ext cx="8138160" cy="0"/>
          </a:xfrm>
          <a:prstGeom prst="line">
            <a:avLst/>
          </a:prstGeom>
          <a:noFill/>
          <a:ln w="6350">
            <a:solidFill>
              <a:srgbClr val="2A1A5E"/>
            </a:solidFill>
            <a:prstDash val="solid"/>
          </a:ln>
        </p:spPr>
        <p:txBody>
          <a:bodyPr/>
          <a:lstStyle/>
          <a:p>
            <a:endParaRPr lang="en-US"/>
          </a:p>
        </p:txBody>
      </p:sp>
      <p:sp>
        <p:nvSpPr>
          <p:cNvPr id="15" name="Shape 13">
            <a:extLst>
              <a:ext uri="{FF2B5EF4-FFF2-40B4-BE49-F238E27FC236}">
                <a16:creationId xmlns:a16="http://schemas.microsoft.com/office/drawing/2014/main" id="{795E44FF-A541-26A2-450F-379F35225999}"/>
              </a:ext>
            </a:extLst>
          </p:cNvPr>
          <p:cNvSpPr/>
          <p:nvPr/>
        </p:nvSpPr>
        <p:spPr>
          <a:xfrm>
            <a:off x="475488" y="3803904"/>
            <a:ext cx="54864" cy="585216"/>
          </a:xfrm>
          <a:prstGeom prst="rect">
            <a:avLst/>
          </a:prstGeom>
          <a:solidFill>
            <a:srgbClr val="57E3D8"/>
          </a:solidFill>
          <a:ln w="12700">
            <a:solidFill>
              <a:srgbClr val="57E3D8"/>
            </a:solidFill>
            <a:prstDash val="solid"/>
          </a:ln>
        </p:spPr>
        <p:txBody>
          <a:bodyPr/>
          <a:lstStyle/>
          <a:p>
            <a:endParaRPr lang="en-US"/>
          </a:p>
        </p:txBody>
      </p:sp>
      <p:sp>
        <p:nvSpPr>
          <p:cNvPr id="16" name="Text 14">
            <a:extLst>
              <a:ext uri="{FF2B5EF4-FFF2-40B4-BE49-F238E27FC236}">
                <a16:creationId xmlns:a16="http://schemas.microsoft.com/office/drawing/2014/main" id="{09FC21C6-A4D9-37A6-39F4-8FC840ABA593}"/>
              </a:ext>
            </a:extLst>
          </p:cNvPr>
          <p:cNvSpPr/>
          <p:nvPr/>
        </p:nvSpPr>
        <p:spPr>
          <a:xfrm>
            <a:off x="621792" y="3822192"/>
            <a:ext cx="2560320" cy="237744"/>
          </a:xfrm>
          <a:prstGeom prst="rect">
            <a:avLst/>
          </a:prstGeom>
          <a:noFill/>
          <a:ln/>
        </p:spPr>
        <p:txBody>
          <a:bodyPr wrap="square" lIns="0" tIns="0" rIns="0" bIns="0" rtlCol="0" anchor="ctr"/>
          <a:lstStyle/>
          <a:p>
            <a:pPr marL="0" indent="0">
              <a:buNone/>
            </a:pPr>
            <a:r>
              <a:rPr lang="en-US" sz="1000" b="1" dirty="0">
                <a:solidFill>
                  <a:srgbClr val="EDEDED"/>
                </a:solidFill>
                <a:latin typeface="Calibri" pitchFamily="34" charset="0"/>
                <a:ea typeface="Calibri" pitchFamily="34" charset="-122"/>
                <a:cs typeface="Calibri" pitchFamily="34" charset="-120"/>
              </a:rPr>
              <a:t>Fewer features</a:t>
            </a:r>
            <a:endParaRPr lang="en-US" sz="1000" dirty="0"/>
          </a:p>
        </p:txBody>
      </p:sp>
      <p:sp>
        <p:nvSpPr>
          <p:cNvPr id="17" name="Text 15">
            <a:extLst>
              <a:ext uri="{FF2B5EF4-FFF2-40B4-BE49-F238E27FC236}">
                <a16:creationId xmlns:a16="http://schemas.microsoft.com/office/drawing/2014/main" id="{24D7077A-6BA1-B3CA-EA7B-22C8BA14DF3D}"/>
              </a:ext>
            </a:extLst>
          </p:cNvPr>
          <p:cNvSpPr/>
          <p:nvPr/>
        </p:nvSpPr>
        <p:spPr>
          <a:xfrm>
            <a:off x="621792" y="4078224"/>
            <a:ext cx="2560320" cy="237744"/>
          </a:xfrm>
          <a:prstGeom prst="rect">
            <a:avLst/>
          </a:prstGeom>
          <a:noFill/>
          <a:ln/>
        </p:spPr>
        <p:txBody>
          <a:bodyPr wrap="square" lIns="0" tIns="0" rIns="0" bIns="0" rtlCol="0" anchor="ctr"/>
          <a:lstStyle/>
          <a:p>
            <a:pPr marL="0" indent="0">
              <a:buNone/>
            </a:pPr>
            <a:r>
              <a:rPr lang="en-US" sz="950" dirty="0">
                <a:solidFill>
                  <a:srgbClr val="888888"/>
                </a:solidFill>
                <a:latin typeface="Calibri" pitchFamily="34" charset="0"/>
                <a:ea typeface="Calibri" pitchFamily="34" charset="-122"/>
                <a:cs typeface="Calibri" pitchFamily="34" charset="-120"/>
              </a:rPr>
              <a:t>Mobile OSes aren't as fully featured as desktop OSes</a:t>
            </a:r>
            <a:endParaRPr lang="en-US" sz="950" dirty="0"/>
          </a:p>
        </p:txBody>
      </p:sp>
      <p:sp>
        <p:nvSpPr>
          <p:cNvPr id="18" name="Shape 16">
            <a:extLst>
              <a:ext uri="{FF2B5EF4-FFF2-40B4-BE49-F238E27FC236}">
                <a16:creationId xmlns:a16="http://schemas.microsoft.com/office/drawing/2014/main" id="{98D835F2-E7EB-DD91-BBBB-9CFD73144792}"/>
              </a:ext>
            </a:extLst>
          </p:cNvPr>
          <p:cNvSpPr/>
          <p:nvPr/>
        </p:nvSpPr>
        <p:spPr>
          <a:xfrm>
            <a:off x="3291840" y="3803904"/>
            <a:ext cx="54864" cy="585216"/>
          </a:xfrm>
          <a:prstGeom prst="rect">
            <a:avLst/>
          </a:prstGeom>
          <a:solidFill>
            <a:srgbClr val="A380FF"/>
          </a:solidFill>
          <a:ln w="12700">
            <a:solidFill>
              <a:srgbClr val="A380FF"/>
            </a:solidFill>
            <a:prstDash val="solid"/>
          </a:ln>
        </p:spPr>
        <p:txBody>
          <a:bodyPr/>
          <a:lstStyle/>
          <a:p>
            <a:endParaRPr lang="en-US"/>
          </a:p>
        </p:txBody>
      </p:sp>
      <p:sp>
        <p:nvSpPr>
          <p:cNvPr id="19" name="Text 17">
            <a:extLst>
              <a:ext uri="{FF2B5EF4-FFF2-40B4-BE49-F238E27FC236}">
                <a16:creationId xmlns:a16="http://schemas.microsoft.com/office/drawing/2014/main" id="{F98E0DC7-6D6E-2CF7-471D-3DC7F9364BF6}"/>
              </a:ext>
            </a:extLst>
          </p:cNvPr>
          <p:cNvSpPr/>
          <p:nvPr/>
        </p:nvSpPr>
        <p:spPr>
          <a:xfrm>
            <a:off x="3438144" y="3822192"/>
            <a:ext cx="2560320" cy="237744"/>
          </a:xfrm>
          <a:prstGeom prst="rect">
            <a:avLst/>
          </a:prstGeom>
          <a:noFill/>
          <a:ln/>
        </p:spPr>
        <p:txBody>
          <a:bodyPr wrap="square" lIns="0" tIns="0" rIns="0" bIns="0" rtlCol="0" anchor="ctr"/>
          <a:lstStyle/>
          <a:p>
            <a:pPr marL="0" indent="0">
              <a:buNone/>
            </a:pPr>
            <a:r>
              <a:rPr lang="en-US" sz="1000" b="1" dirty="0">
                <a:solidFill>
                  <a:srgbClr val="EDEDED"/>
                </a:solidFill>
                <a:latin typeface="Calibri" pitchFamily="34" charset="0"/>
                <a:ea typeface="Calibri" pitchFamily="34" charset="-122"/>
                <a:cs typeface="Calibri" pitchFamily="34" charset="-120"/>
              </a:rPr>
              <a:t>Limited software</a:t>
            </a:r>
            <a:endParaRPr lang="en-US" sz="1000" dirty="0"/>
          </a:p>
        </p:txBody>
      </p:sp>
      <p:sp>
        <p:nvSpPr>
          <p:cNvPr id="20" name="Text 18">
            <a:extLst>
              <a:ext uri="{FF2B5EF4-FFF2-40B4-BE49-F238E27FC236}">
                <a16:creationId xmlns:a16="http://schemas.microsoft.com/office/drawing/2014/main" id="{0CB82E09-F78D-2F54-8D0F-75F7EC9EAC56}"/>
              </a:ext>
            </a:extLst>
          </p:cNvPr>
          <p:cNvSpPr/>
          <p:nvPr/>
        </p:nvSpPr>
        <p:spPr>
          <a:xfrm>
            <a:off x="3438144" y="4078224"/>
            <a:ext cx="2560320" cy="237744"/>
          </a:xfrm>
          <a:prstGeom prst="rect">
            <a:avLst/>
          </a:prstGeom>
          <a:noFill/>
          <a:ln/>
        </p:spPr>
        <p:txBody>
          <a:bodyPr wrap="square" lIns="0" tIns="0" rIns="0" bIns="0" rtlCol="0" anchor="ctr"/>
          <a:lstStyle/>
          <a:p>
            <a:pPr marL="0" indent="0">
              <a:buNone/>
            </a:pPr>
            <a:r>
              <a:rPr lang="en-US" sz="950" dirty="0">
                <a:solidFill>
                  <a:srgbClr val="888888"/>
                </a:solidFill>
                <a:latin typeface="Calibri" pitchFamily="34" charset="0"/>
                <a:ea typeface="Calibri" pitchFamily="34" charset="-122"/>
                <a:cs typeface="Calibri" pitchFamily="34" charset="-120"/>
              </a:rPr>
              <a:t>Can't run all the same programs as desktop computers</a:t>
            </a:r>
            <a:endParaRPr lang="en-US" sz="950" dirty="0"/>
          </a:p>
        </p:txBody>
      </p:sp>
      <p:sp>
        <p:nvSpPr>
          <p:cNvPr id="21" name="Shape 19">
            <a:extLst>
              <a:ext uri="{FF2B5EF4-FFF2-40B4-BE49-F238E27FC236}">
                <a16:creationId xmlns:a16="http://schemas.microsoft.com/office/drawing/2014/main" id="{F4796C7A-AE20-30DD-D7C2-7C5F13847EF6}"/>
              </a:ext>
            </a:extLst>
          </p:cNvPr>
          <p:cNvSpPr/>
          <p:nvPr/>
        </p:nvSpPr>
        <p:spPr>
          <a:xfrm>
            <a:off x="6108192" y="3803904"/>
            <a:ext cx="54864" cy="585216"/>
          </a:xfrm>
          <a:prstGeom prst="rect">
            <a:avLst/>
          </a:prstGeom>
          <a:solidFill>
            <a:srgbClr val="F4A664"/>
          </a:solidFill>
          <a:ln w="12700">
            <a:solidFill>
              <a:srgbClr val="F4A664"/>
            </a:solidFill>
            <a:prstDash val="solid"/>
          </a:ln>
        </p:spPr>
        <p:txBody>
          <a:bodyPr/>
          <a:lstStyle/>
          <a:p>
            <a:endParaRPr lang="en-US"/>
          </a:p>
        </p:txBody>
      </p:sp>
      <p:sp>
        <p:nvSpPr>
          <p:cNvPr id="22" name="Text 20">
            <a:extLst>
              <a:ext uri="{FF2B5EF4-FFF2-40B4-BE49-F238E27FC236}">
                <a16:creationId xmlns:a16="http://schemas.microsoft.com/office/drawing/2014/main" id="{59152997-3838-5115-E5FA-CAA8A240A13F}"/>
              </a:ext>
            </a:extLst>
          </p:cNvPr>
          <p:cNvSpPr/>
          <p:nvPr/>
        </p:nvSpPr>
        <p:spPr>
          <a:xfrm>
            <a:off x="6254496" y="3822192"/>
            <a:ext cx="2560320" cy="237744"/>
          </a:xfrm>
          <a:prstGeom prst="rect">
            <a:avLst/>
          </a:prstGeom>
          <a:noFill/>
          <a:ln/>
        </p:spPr>
        <p:txBody>
          <a:bodyPr wrap="square" lIns="0" tIns="0" rIns="0" bIns="0" rtlCol="0" anchor="ctr"/>
          <a:lstStyle/>
          <a:p>
            <a:pPr marL="0" indent="0">
              <a:buNone/>
            </a:pPr>
            <a:r>
              <a:rPr lang="en-US" sz="1000" b="1" dirty="0">
                <a:solidFill>
                  <a:srgbClr val="EDEDED"/>
                </a:solidFill>
                <a:latin typeface="Calibri" pitchFamily="34" charset="0"/>
                <a:ea typeface="Calibri" pitchFamily="34" charset="-122"/>
                <a:cs typeface="Calibri" pitchFamily="34" charset="-120"/>
              </a:rPr>
              <a:t>Still very capable</a:t>
            </a:r>
            <a:endParaRPr lang="en-US" sz="1000" dirty="0"/>
          </a:p>
        </p:txBody>
      </p:sp>
      <p:sp>
        <p:nvSpPr>
          <p:cNvPr id="23" name="Text 21">
            <a:extLst>
              <a:ext uri="{FF2B5EF4-FFF2-40B4-BE49-F238E27FC236}">
                <a16:creationId xmlns:a16="http://schemas.microsoft.com/office/drawing/2014/main" id="{BFD4C6BE-C6A5-98D7-119C-A595BBC8C754}"/>
              </a:ext>
            </a:extLst>
          </p:cNvPr>
          <p:cNvSpPr/>
          <p:nvPr/>
        </p:nvSpPr>
        <p:spPr>
          <a:xfrm>
            <a:off x="6254496" y="4078224"/>
            <a:ext cx="2560320" cy="237744"/>
          </a:xfrm>
          <a:prstGeom prst="rect">
            <a:avLst/>
          </a:prstGeom>
          <a:noFill/>
          <a:ln/>
        </p:spPr>
        <p:txBody>
          <a:bodyPr wrap="square" lIns="0" tIns="0" rIns="0" bIns="0" rtlCol="0" anchor="ctr"/>
          <a:lstStyle/>
          <a:p>
            <a:pPr marL="0" indent="0">
              <a:buNone/>
            </a:pPr>
            <a:r>
              <a:rPr lang="en-US" sz="950" dirty="0">
                <a:solidFill>
                  <a:srgbClr val="888888"/>
                </a:solidFill>
                <a:latin typeface="Calibri" pitchFamily="34" charset="0"/>
                <a:ea typeface="Calibri" pitchFamily="34" charset="-122"/>
                <a:cs typeface="Calibri" pitchFamily="34" charset="-120"/>
              </a:rPr>
              <a:t>Watch movies, browse the Web, manage calendars, play games</a:t>
            </a:r>
            <a:endParaRPr lang="en-US" sz="950" dirty="0"/>
          </a:p>
        </p:txBody>
      </p:sp>
    </p:spTree>
    <p:extLst>
      <p:ext uri="{BB962C8B-B14F-4D97-AF65-F5344CB8AC3E}">
        <p14:creationId xmlns:p14="http://schemas.microsoft.com/office/powerpoint/2010/main" val="16257416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Shape 76">
          <a:extLst>
            <a:ext uri="{FF2B5EF4-FFF2-40B4-BE49-F238E27FC236}">
              <a16:creationId xmlns:a16="http://schemas.microsoft.com/office/drawing/2014/main" id="{67E7A1E3-A543-8BE6-F2F7-46DDFC0E611F}"/>
            </a:ext>
          </a:extLst>
        </p:cNvPr>
        <p:cNvGrpSpPr/>
        <p:nvPr/>
      </p:nvGrpSpPr>
      <p:grpSpPr>
        <a:xfrm>
          <a:off x="0" y="0"/>
          <a:ext cx="0" cy="0"/>
          <a:chOff x="0" y="0"/>
          <a:chExt cx="0" cy="0"/>
        </a:xfrm>
      </p:grpSpPr>
      <p:sp>
        <p:nvSpPr>
          <p:cNvPr id="60" name="Shape 1">
            <a:extLst>
              <a:ext uri="{FF2B5EF4-FFF2-40B4-BE49-F238E27FC236}">
                <a16:creationId xmlns:a16="http://schemas.microsoft.com/office/drawing/2014/main" id="{1B08139B-E6D3-F862-7147-3E3B0F5894E8}"/>
              </a:ext>
            </a:extLst>
          </p:cNvPr>
          <p:cNvSpPr/>
          <p:nvPr/>
        </p:nvSpPr>
        <p:spPr>
          <a:xfrm>
            <a:off x="0" y="73152"/>
            <a:ext cx="9144000" cy="841248"/>
          </a:xfrm>
          <a:prstGeom prst="rect">
            <a:avLst/>
          </a:prstGeom>
          <a:solidFill>
            <a:srgbClr val="262626"/>
          </a:solidFill>
          <a:ln w="12700">
            <a:solidFill>
              <a:srgbClr val="262626"/>
            </a:solidFill>
            <a:prstDash val="solid"/>
          </a:ln>
        </p:spPr>
        <p:txBody>
          <a:bodyPr/>
          <a:lstStyle/>
          <a:p>
            <a:endParaRPr lang="en-US"/>
          </a:p>
        </p:txBody>
      </p:sp>
      <p:sp>
        <p:nvSpPr>
          <p:cNvPr id="2" name="Shape 0">
            <a:extLst>
              <a:ext uri="{FF2B5EF4-FFF2-40B4-BE49-F238E27FC236}">
                <a16:creationId xmlns:a16="http://schemas.microsoft.com/office/drawing/2014/main" id="{36AB523D-D286-0D36-36F4-F617E2643A46}"/>
              </a:ext>
            </a:extLst>
          </p:cNvPr>
          <p:cNvSpPr/>
          <p:nvPr/>
        </p:nvSpPr>
        <p:spPr>
          <a:xfrm>
            <a:off x="0" y="0"/>
            <a:ext cx="9144000" cy="54864"/>
          </a:xfrm>
          <a:prstGeom prst="rect">
            <a:avLst/>
          </a:prstGeom>
          <a:solidFill>
            <a:srgbClr val="57E3D8"/>
          </a:solidFill>
          <a:ln w="12700">
            <a:solidFill>
              <a:srgbClr val="57E3D8"/>
            </a:solidFill>
            <a:prstDash val="solid"/>
          </a:ln>
        </p:spPr>
        <p:txBody>
          <a:bodyPr/>
          <a:lstStyle/>
          <a:p>
            <a:endParaRPr lang="en-US"/>
          </a:p>
        </p:txBody>
      </p:sp>
      <p:sp>
        <p:nvSpPr>
          <p:cNvPr id="3" name="Shape 1">
            <a:extLst>
              <a:ext uri="{FF2B5EF4-FFF2-40B4-BE49-F238E27FC236}">
                <a16:creationId xmlns:a16="http://schemas.microsoft.com/office/drawing/2014/main" id="{96E2A5D1-669D-2D64-D734-7763B1DABBBF}"/>
              </a:ext>
            </a:extLst>
          </p:cNvPr>
          <p:cNvSpPr/>
          <p:nvPr/>
        </p:nvSpPr>
        <p:spPr>
          <a:xfrm>
            <a:off x="0" y="5088636"/>
            <a:ext cx="9144000" cy="54864"/>
          </a:xfrm>
          <a:prstGeom prst="rect">
            <a:avLst/>
          </a:prstGeom>
          <a:solidFill>
            <a:srgbClr val="4F29B7"/>
          </a:solidFill>
          <a:ln w="12700">
            <a:solidFill>
              <a:srgbClr val="4F29B7"/>
            </a:solidFill>
            <a:prstDash val="solid"/>
          </a:ln>
        </p:spPr>
        <p:txBody>
          <a:bodyPr/>
          <a:lstStyle/>
          <a:p>
            <a:endParaRPr lang="en-US"/>
          </a:p>
        </p:txBody>
      </p:sp>
      <p:sp>
        <p:nvSpPr>
          <p:cNvPr id="4" name="Text 2">
            <a:extLst>
              <a:ext uri="{FF2B5EF4-FFF2-40B4-BE49-F238E27FC236}">
                <a16:creationId xmlns:a16="http://schemas.microsoft.com/office/drawing/2014/main" id="{94F68E73-7C67-8C4B-94D3-86BAF3646AF3}"/>
              </a:ext>
            </a:extLst>
          </p:cNvPr>
          <p:cNvSpPr/>
          <p:nvPr/>
        </p:nvSpPr>
        <p:spPr>
          <a:xfrm>
            <a:off x="347472" y="164592"/>
            <a:ext cx="8449056" cy="475488"/>
          </a:xfrm>
          <a:prstGeom prst="rect">
            <a:avLst/>
          </a:prstGeom>
          <a:noFill/>
          <a:ln/>
        </p:spPr>
        <p:txBody>
          <a:bodyPr wrap="square" rtlCol="0" anchor="ctr"/>
          <a:lstStyle/>
          <a:p>
            <a:pPr marL="0" indent="0">
              <a:buNone/>
            </a:pPr>
            <a:r>
              <a:rPr lang="en-US" sz="2800" b="1" dirty="0">
                <a:solidFill>
                  <a:srgbClr val="57E3D8"/>
                </a:solidFill>
                <a:latin typeface="Calibri" pitchFamily="34" charset="0"/>
                <a:ea typeface="Calibri" pitchFamily="34" charset="-122"/>
                <a:cs typeface="Calibri" pitchFamily="34" charset="-120"/>
              </a:rPr>
              <a:t>Comparing the three major operating systems</a:t>
            </a:r>
            <a:endParaRPr lang="en-US" sz="2800" dirty="0"/>
          </a:p>
        </p:txBody>
      </p:sp>
      <p:sp>
        <p:nvSpPr>
          <p:cNvPr id="5" name="Text 3">
            <a:extLst>
              <a:ext uri="{FF2B5EF4-FFF2-40B4-BE49-F238E27FC236}">
                <a16:creationId xmlns:a16="http://schemas.microsoft.com/office/drawing/2014/main" id="{B0544E3C-EA5C-AE66-3D74-449FAE81DEA2}"/>
              </a:ext>
            </a:extLst>
          </p:cNvPr>
          <p:cNvSpPr/>
          <p:nvPr/>
        </p:nvSpPr>
        <p:spPr>
          <a:xfrm>
            <a:off x="347472" y="621792"/>
            <a:ext cx="8449056" cy="256032"/>
          </a:xfrm>
          <a:prstGeom prst="rect">
            <a:avLst/>
          </a:prstGeom>
          <a:noFill/>
          <a:ln/>
        </p:spPr>
        <p:txBody>
          <a:bodyPr wrap="square" rtlCol="0" anchor="ctr"/>
          <a:lstStyle/>
          <a:p>
            <a:pPr marL="0" indent="0">
              <a:buNone/>
            </a:pPr>
            <a:r>
              <a:rPr lang="en-US" sz="1300" i="1" dirty="0">
                <a:solidFill>
                  <a:srgbClr val="EDEDED"/>
                </a:solidFill>
                <a:latin typeface="Calibri" pitchFamily="34" charset="0"/>
                <a:ea typeface="Calibri" pitchFamily="34" charset="-122"/>
                <a:cs typeface="Calibri" pitchFamily="34" charset="-120"/>
              </a:rPr>
              <a:t>Windows · macOS · Linux</a:t>
            </a:r>
            <a:endParaRPr lang="en-US" sz="1300" dirty="0"/>
          </a:p>
        </p:txBody>
      </p:sp>
      <p:sp>
        <p:nvSpPr>
          <p:cNvPr id="6" name="Shape 4">
            <a:extLst>
              <a:ext uri="{FF2B5EF4-FFF2-40B4-BE49-F238E27FC236}">
                <a16:creationId xmlns:a16="http://schemas.microsoft.com/office/drawing/2014/main" id="{0620B4A6-1285-10D5-B7E1-D15AEF559736}"/>
              </a:ext>
            </a:extLst>
          </p:cNvPr>
          <p:cNvSpPr/>
          <p:nvPr/>
        </p:nvSpPr>
        <p:spPr>
          <a:xfrm>
            <a:off x="256032" y="987552"/>
            <a:ext cx="2779776" cy="4041648"/>
          </a:xfrm>
          <a:prstGeom prst="roundRect">
            <a:avLst>
              <a:gd name="adj" fmla="val 4605"/>
            </a:avLst>
          </a:prstGeom>
          <a:solidFill>
            <a:srgbClr val="1E0F40"/>
          </a:solidFill>
          <a:ln w="19050">
            <a:solidFill>
              <a:srgbClr val="4F29B7"/>
            </a:solidFill>
            <a:prstDash val="solid"/>
          </a:ln>
        </p:spPr>
        <p:txBody>
          <a:bodyPr/>
          <a:lstStyle/>
          <a:p>
            <a:endParaRPr lang="en-US"/>
          </a:p>
        </p:txBody>
      </p:sp>
      <p:sp>
        <p:nvSpPr>
          <p:cNvPr id="7" name="Text 5">
            <a:extLst>
              <a:ext uri="{FF2B5EF4-FFF2-40B4-BE49-F238E27FC236}">
                <a16:creationId xmlns:a16="http://schemas.microsoft.com/office/drawing/2014/main" id="{09026CF8-B1DC-8B2E-83F5-9A0B426D2580}"/>
              </a:ext>
            </a:extLst>
          </p:cNvPr>
          <p:cNvSpPr/>
          <p:nvPr/>
        </p:nvSpPr>
        <p:spPr>
          <a:xfrm>
            <a:off x="256032" y="1033272"/>
            <a:ext cx="2779776" cy="457200"/>
          </a:xfrm>
          <a:prstGeom prst="rect">
            <a:avLst/>
          </a:prstGeom>
          <a:noFill/>
          <a:ln/>
        </p:spPr>
        <p:txBody>
          <a:bodyPr wrap="square" rtlCol="0" anchor="ctr"/>
          <a:lstStyle/>
          <a:p>
            <a:pPr marL="0" indent="0" algn="ctr">
              <a:buNone/>
            </a:pPr>
            <a:r>
              <a:rPr lang="en-US" sz="2000" b="1" dirty="0">
                <a:solidFill>
                  <a:srgbClr val="4F29B7"/>
                </a:solidFill>
                <a:latin typeface="Calibri" pitchFamily="34" charset="0"/>
                <a:ea typeface="Calibri" pitchFamily="34" charset="-122"/>
                <a:cs typeface="Calibri" pitchFamily="34" charset="-120"/>
              </a:rPr>
              <a:t>Microsoft Windows</a:t>
            </a:r>
            <a:endParaRPr lang="en-US" sz="2000" dirty="0"/>
          </a:p>
        </p:txBody>
      </p:sp>
      <p:sp>
        <p:nvSpPr>
          <p:cNvPr id="8" name="Text 6">
            <a:extLst>
              <a:ext uri="{FF2B5EF4-FFF2-40B4-BE49-F238E27FC236}">
                <a16:creationId xmlns:a16="http://schemas.microsoft.com/office/drawing/2014/main" id="{4D3D41A9-4F3D-397F-A9C4-61A6A930AF77}"/>
              </a:ext>
            </a:extLst>
          </p:cNvPr>
          <p:cNvSpPr/>
          <p:nvPr/>
        </p:nvSpPr>
        <p:spPr>
          <a:xfrm>
            <a:off x="256032" y="1463040"/>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Desktop OS  ·  80%+ of users</a:t>
            </a:r>
            <a:endParaRPr lang="en-US" sz="1000" dirty="0"/>
          </a:p>
        </p:txBody>
      </p:sp>
      <p:sp>
        <p:nvSpPr>
          <p:cNvPr id="9" name="Shape 7">
            <a:extLst>
              <a:ext uri="{FF2B5EF4-FFF2-40B4-BE49-F238E27FC236}">
                <a16:creationId xmlns:a16="http://schemas.microsoft.com/office/drawing/2014/main" id="{6F286425-02A2-36F1-AD2F-8D132EFF3265}"/>
              </a:ext>
            </a:extLst>
          </p:cNvPr>
          <p:cNvSpPr/>
          <p:nvPr/>
        </p:nvSpPr>
        <p:spPr>
          <a:xfrm>
            <a:off x="384048" y="1901952"/>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10" name="Text 8">
            <a:extLst>
              <a:ext uri="{FF2B5EF4-FFF2-40B4-BE49-F238E27FC236}">
                <a16:creationId xmlns:a16="http://schemas.microsoft.com/office/drawing/2014/main" id="{E3CCCA66-CDB9-37CF-7D8A-7918BF601DCD}"/>
              </a:ext>
            </a:extLst>
          </p:cNvPr>
          <p:cNvSpPr/>
          <p:nvPr/>
        </p:nvSpPr>
        <p:spPr>
          <a:xfrm>
            <a:off x="457200" y="1938528"/>
            <a:ext cx="2377440" cy="201168"/>
          </a:xfrm>
          <a:prstGeom prst="rect">
            <a:avLst/>
          </a:prstGeom>
          <a:noFill/>
          <a:ln/>
        </p:spPr>
        <p:txBody>
          <a:bodyPr wrap="square" lIns="0" tIns="0" rIns="0" bIns="0" rtlCol="0" anchor="ctr"/>
          <a:lstStyle/>
          <a:p>
            <a:pPr marL="0" indent="0">
              <a:buNone/>
            </a:pPr>
            <a:r>
              <a:rPr lang="en-US" sz="800" b="1" dirty="0">
                <a:solidFill>
                  <a:srgbClr val="4F29B7"/>
                </a:solidFill>
                <a:latin typeface="Calibri" pitchFamily="34" charset="0"/>
                <a:ea typeface="Calibri" pitchFamily="34" charset="-122"/>
                <a:cs typeface="Calibri" pitchFamily="34" charset="-120"/>
              </a:rPr>
              <a:t>Creator</a:t>
            </a:r>
            <a:endParaRPr lang="en-US" sz="800" dirty="0"/>
          </a:p>
        </p:txBody>
      </p:sp>
      <p:sp>
        <p:nvSpPr>
          <p:cNvPr id="11" name="Text 9">
            <a:extLst>
              <a:ext uri="{FF2B5EF4-FFF2-40B4-BE49-F238E27FC236}">
                <a16:creationId xmlns:a16="http://schemas.microsoft.com/office/drawing/2014/main" id="{5DBA05D7-435E-9CC8-C1F8-1F4D7C558FB6}"/>
              </a:ext>
            </a:extLst>
          </p:cNvPr>
          <p:cNvSpPr/>
          <p:nvPr/>
        </p:nvSpPr>
        <p:spPr>
          <a:xfrm>
            <a:off x="457200" y="2157984"/>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Microsoft Corporation</a:t>
            </a:r>
            <a:endParaRPr lang="en-US" sz="1000" dirty="0"/>
          </a:p>
        </p:txBody>
      </p:sp>
      <p:sp>
        <p:nvSpPr>
          <p:cNvPr id="12" name="Shape 10">
            <a:extLst>
              <a:ext uri="{FF2B5EF4-FFF2-40B4-BE49-F238E27FC236}">
                <a16:creationId xmlns:a16="http://schemas.microsoft.com/office/drawing/2014/main" id="{6D9A7D8D-F20F-F17A-CA44-E30DA6E443DE}"/>
              </a:ext>
            </a:extLst>
          </p:cNvPr>
          <p:cNvSpPr/>
          <p:nvPr/>
        </p:nvSpPr>
        <p:spPr>
          <a:xfrm>
            <a:off x="384048" y="2505456"/>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13" name="Text 11">
            <a:extLst>
              <a:ext uri="{FF2B5EF4-FFF2-40B4-BE49-F238E27FC236}">
                <a16:creationId xmlns:a16="http://schemas.microsoft.com/office/drawing/2014/main" id="{F18D6611-CA0F-6B2E-017D-756FEF7CEFD5}"/>
              </a:ext>
            </a:extLst>
          </p:cNvPr>
          <p:cNvSpPr/>
          <p:nvPr/>
        </p:nvSpPr>
        <p:spPr>
          <a:xfrm>
            <a:off x="457200" y="2542032"/>
            <a:ext cx="2377440" cy="201168"/>
          </a:xfrm>
          <a:prstGeom prst="rect">
            <a:avLst/>
          </a:prstGeom>
          <a:noFill/>
          <a:ln/>
        </p:spPr>
        <p:txBody>
          <a:bodyPr wrap="square" lIns="0" tIns="0" rIns="0" bIns="0" rtlCol="0" anchor="ctr"/>
          <a:lstStyle/>
          <a:p>
            <a:pPr marL="0" indent="0">
              <a:buNone/>
            </a:pPr>
            <a:r>
              <a:rPr lang="en-US" sz="800" b="1" dirty="0">
                <a:solidFill>
                  <a:srgbClr val="4F29B7"/>
                </a:solidFill>
                <a:latin typeface="Calibri" pitchFamily="34" charset="0"/>
                <a:ea typeface="Calibri" pitchFamily="34" charset="-122"/>
                <a:cs typeface="Calibri" pitchFamily="34" charset="-120"/>
              </a:rPr>
              <a:t>First released</a:t>
            </a:r>
            <a:endParaRPr lang="en-US" sz="800" dirty="0"/>
          </a:p>
        </p:txBody>
      </p:sp>
      <p:sp>
        <p:nvSpPr>
          <p:cNvPr id="14" name="Text 12">
            <a:extLst>
              <a:ext uri="{FF2B5EF4-FFF2-40B4-BE49-F238E27FC236}">
                <a16:creationId xmlns:a16="http://schemas.microsoft.com/office/drawing/2014/main" id="{D77B5AAC-9204-5CA5-F374-0C161542F61F}"/>
              </a:ext>
            </a:extLst>
          </p:cNvPr>
          <p:cNvSpPr/>
          <p:nvPr/>
        </p:nvSpPr>
        <p:spPr>
          <a:xfrm>
            <a:off x="457200" y="2761488"/>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1985</a:t>
            </a:r>
            <a:endParaRPr lang="en-US" sz="1000" dirty="0"/>
          </a:p>
        </p:txBody>
      </p:sp>
      <p:sp>
        <p:nvSpPr>
          <p:cNvPr id="15" name="Shape 13">
            <a:extLst>
              <a:ext uri="{FF2B5EF4-FFF2-40B4-BE49-F238E27FC236}">
                <a16:creationId xmlns:a16="http://schemas.microsoft.com/office/drawing/2014/main" id="{C41D8654-471B-E1B5-2246-47BEE515918D}"/>
              </a:ext>
            </a:extLst>
          </p:cNvPr>
          <p:cNvSpPr/>
          <p:nvPr/>
        </p:nvSpPr>
        <p:spPr>
          <a:xfrm>
            <a:off x="384048" y="3108960"/>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16" name="Text 14">
            <a:extLst>
              <a:ext uri="{FF2B5EF4-FFF2-40B4-BE49-F238E27FC236}">
                <a16:creationId xmlns:a16="http://schemas.microsoft.com/office/drawing/2014/main" id="{5BFDBB1E-9225-A8E1-1205-7B7E0637227B}"/>
              </a:ext>
            </a:extLst>
          </p:cNvPr>
          <p:cNvSpPr/>
          <p:nvPr/>
        </p:nvSpPr>
        <p:spPr>
          <a:xfrm>
            <a:off x="457200" y="3145536"/>
            <a:ext cx="2377440" cy="201168"/>
          </a:xfrm>
          <a:prstGeom prst="rect">
            <a:avLst/>
          </a:prstGeom>
          <a:noFill/>
          <a:ln/>
        </p:spPr>
        <p:txBody>
          <a:bodyPr wrap="square" lIns="0" tIns="0" rIns="0" bIns="0" rtlCol="0" anchor="ctr"/>
          <a:lstStyle/>
          <a:p>
            <a:pPr marL="0" indent="0">
              <a:buNone/>
            </a:pPr>
            <a:r>
              <a:rPr lang="en-US" sz="800" b="1" dirty="0">
                <a:solidFill>
                  <a:srgbClr val="4F29B7"/>
                </a:solidFill>
                <a:latin typeface="Calibri" pitchFamily="34" charset="0"/>
                <a:ea typeface="Calibri" pitchFamily="34" charset="-122"/>
                <a:cs typeface="Calibri" pitchFamily="34" charset="-120"/>
              </a:rPr>
              <a:t>Latest version</a:t>
            </a:r>
            <a:endParaRPr lang="en-US" sz="800" dirty="0"/>
          </a:p>
        </p:txBody>
      </p:sp>
      <p:sp>
        <p:nvSpPr>
          <p:cNvPr id="17" name="Text 15">
            <a:extLst>
              <a:ext uri="{FF2B5EF4-FFF2-40B4-BE49-F238E27FC236}">
                <a16:creationId xmlns:a16="http://schemas.microsoft.com/office/drawing/2014/main" id="{BE4CBAA0-1DD8-C300-54C8-98269928DCB6}"/>
              </a:ext>
            </a:extLst>
          </p:cNvPr>
          <p:cNvSpPr/>
          <p:nvPr/>
        </p:nvSpPr>
        <p:spPr>
          <a:xfrm>
            <a:off x="457200" y="3364992"/>
            <a:ext cx="2377440" cy="201168"/>
          </a:xfrm>
          <a:prstGeom prst="rect">
            <a:avLst/>
          </a:prstGeom>
          <a:noFill/>
          <a:ln/>
        </p:spPr>
        <p:txBody>
          <a:bodyPr wrap="square" lIns="0" tIns="0" rIns="0" bIns="0" rtlCol="0" anchor="ctr"/>
          <a:lstStyle/>
          <a:p>
            <a:r>
              <a:rPr lang="en-US" sz="1000" dirty="0">
                <a:solidFill>
                  <a:srgbClr val="EDEDED"/>
                </a:solidFill>
                <a:latin typeface="Calibri" pitchFamily="34" charset="0"/>
                <a:ea typeface="Calibri" pitchFamily="34" charset="-122"/>
                <a:cs typeface="Calibri" pitchFamily="34" charset="-120"/>
              </a:rPr>
              <a:t>Windows 11 (version 25H2, 2025)</a:t>
            </a:r>
          </a:p>
        </p:txBody>
      </p:sp>
      <p:sp>
        <p:nvSpPr>
          <p:cNvPr id="18" name="Shape 16">
            <a:extLst>
              <a:ext uri="{FF2B5EF4-FFF2-40B4-BE49-F238E27FC236}">
                <a16:creationId xmlns:a16="http://schemas.microsoft.com/office/drawing/2014/main" id="{2F063973-CA98-3791-04FD-D91B4BFEBE96}"/>
              </a:ext>
            </a:extLst>
          </p:cNvPr>
          <p:cNvSpPr/>
          <p:nvPr/>
        </p:nvSpPr>
        <p:spPr>
          <a:xfrm>
            <a:off x="384048" y="3712464"/>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19" name="Text 17">
            <a:extLst>
              <a:ext uri="{FF2B5EF4-FFF2-40B4-BE49-F238E27FC236}">
                <a16:creationId xmlns:a16="http://schemas.microsoft.com/office/drawing/2014/main" id="{4A354414-8980-435D-357F-D4B467A84BCA}"/>
              </a:ext>
            </a:extLst>
          </p:cNvPr>
          <p:cNvSpPr/>
          <p:nvPr/>
        </p:nvSpPr>
        <p:spPr>
          <a:xfrm>
            <a:off x="457200" y="3749040"/>
            <a:ext cx="2377440" cy="201168"/>
          </a:xfrm>
          <a:prstGeom prst="rect">
            <a:avLst/>
          </a:prstGeom>
          <a:noFill/>
          <a:ln/>
        </p:spPr>
        <p:txBody>
          <a:bodyPr wrap="square" lIns="0" tIns="0" rIns="0" bIns="0" rtlCol="0" anchor="ctr"/>
          <a:lstStyle/>
          <a:p>
            <a:pPr marL="0" indent="0">
              <a:buNone/>
            </a:pPr>
            <a:r>
              <a:rPr lang="en-US" sz="800" b="1" dirty="0">
                <a:solidFill>
                  <a:srgbClr val="4F29B7"/>
                </a:solidFill>
                <a:latin typeface="Calibri" pitchFamily="34" charset="0"/>
                <a:ea typeface="Calibri" pitchFamily="34" charset="-122"/>
                <a:cs typeface="Calibri" pitchFamily="34" charset="-120"/>
              </a:rPr>
              <a:t>Pre-loaded on</a:t>
            </a:r>
            <a:endParaRPr lang="en-US" sz="800" dirty="0"/>
          </a:p>
        </p:txBody>
      </p:sp>
      <p:sp>
        <p:nvSpPr>
          <p:cNvPr id="20" name="Text 18">
            <a:extLst>
              <a:ext uri="{FF2B5EF4-FFF2-40B4-BE49-F238E27FC236}">
                <a16:creationId xmlns:a16="http://schemas.microsoft.com/office/drawing/2014/main" id="{10988D5E-7783-F62D-3D58-985154F9F681}"/>
              </a:ext>
            </a:extLst>
          </p:cNvPr>
          <p:cNvSpPr/>
          <p:nvPr/>
        </p:nvSpPr>
        <p:spPr>
          <a:xfrm>
            <a:off x="457200" y="3968496"/>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Most new PCs</a:t>
            </a:r>
            <a:endParaRPr lang="en-US" sz="1000" dirty="0"/>
          </a:p>
        </p:txBody>
      </p:sp>
      <p:sp>
        <p:nvSpPr>
          <p:cNvPr id="21" name="Shape 19">
            <a:extLst>
              <a:ext uri="{FF2B5EF4-FFF2-40B4-BE49-F238E27FC236}">
                <a16:creationId xmlns:a16="http://schemas.microsoft.com/office/drawing/2014/main" id="{6B229D71-6A56-AE58-3983-D7ECD4AE715E}"/>
              </a:ext>
            </a:extLst>
          </p:cNvPr>
          <p:cNvSpPr/>
          <p:nvPr/>
        </p:nvSpPr>
        <p:spPr>
          <a:xfrm>
            <a:off x="384048" y="4315968"/>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22" name="Text 20">
            <a:extLst>
              <a:ext uri="{FF2B5EF4-FFF2-40B4-BE49-F238E27FC236}">
                <a16:creationId xmlns:a16="http://schemas.microsoft.com/office/drawing/2014/main" id="{45F3FB27-EDB2-C24A-106E-053C8980AE8E}"/>
              </a:ext>
            </a:extLst>
          </p:cNvPr>
          <p:cNvSpPr/>
          <p:nvPr/>
        </p:nvSpPr>
        <p:spPr>
          <a:xfrm>
            <a:off x="457200" y="4352544"/>
            <a:ext cx="2377440" cy="201168"/>
          </a:xfrm>
          <a:prstGeom prst="rect">
            <a:avLst/>
          </a:prstGeom>
          <a:noFill/>
          <a:ln/>
        </p:spPr>
        <p:txBody>
          <a:bodyPr wrap="square" lIns="0" tIns="0" rIns="0" bIns="0" rtlCol="0" anchor="ctr"/>
          <a:lstStyle/>
          <a:p>
            <a:pPr marL="0" indent="0">
              <a:buNone/>
            </a:pPr>
            <a:r>
              <a:rPr lang="en-US" sz="800" b="1" dirty="0">
                <a:solidFill>
                  <a:srgbClr val="4F29B7"/>
                </a:solidFill>
                <a:latin typeface="Calibri" pitchFamily="34" charset="0"/>
                <a:ea typeface="Calibri" pitchFamily="34" charset="-122"/>
                <a:cs typeface="Calibri" pitchFamily="34" charset="-120"/>
              </a:rPr>
              <a:t>Cost</a:t>
            </a:r>
            <a:endParaRPr lang="en-US" sz="800" dirty="0"/>
          </a:p>
        </p:txBody>
      </p:sp>
      <p:sp>
        <p:nvSpPr>
          <p:cNvPr id="23" name="Text 21">
            <a:extLst>
              <a:ext uri="{FF2B5EF4-FFF2-40B4-BE49-F238E27FC236}">
                <a16:creationId xmlns:a16="http://schemas.microsoft.com/office/drawing/2014/main" id="{5CA971F4-B0DF-8B96-0DC6-6F777F3A889A}"/>
              </a:ext>
            </a:extLst>
          </p:cNvPr>
          <p:cNvSpPr/>
          <p:nvPr/>
        </p:nvSpPr>
        <p:spPr>
          <a:xfrm>
            <a:off x="457200" y="4572000"/>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Paid (included with PC)</a:t>
            </a:r>
            <a:endParaRPr lang="en-US" sz="1000" dirty="0"/>
          </a:p>
        </p:txBody>
      </p:sp>
      <p:sp>
        <p:nvSpPr>
          <p:cNvPr id="24" name="Shape 22">
            <a:extLst>
              <a:ext uri="{FF2B5EF4-FFF2-40B4-BE49-F238E27FC236}">
                <a16:creationId xmlns:a16="http://schemas.microsoft.com/office/drawing/2014/main" id="{BD48AD9D-5621-E7F3-EC42-8BA9A0AFAFB7}"/>
              </a:ext>
            </a:extLst>
          </p:cNvPr>
          <p:cNvSpPr/>
          <p:nvPr/>
        </p:nvSpPr>
        <p:spPr>
          <a:xfrm>
            <a:off x="3163824" y="987552"/>
            <a:ext cx="2779776" cy="4041648"/>
          </a:xfrm>
          <a:prstGeom prst="roundRect">
            <a:avLst>
              <a:gd name="adj" fmla="val 4605"/>
            </a:avLst>
          </a:prstGeom>
          <a:solidFill>
            <a:srgbClr val="110A2E"/>
          </a:solidFill>
          <a:ln w="19050">
            <a:solidFill>
              <a:srgbClr val="A380FF"/>
            </a:solidFill>
            <a:prstDash val="solid"/>
          </a:ln>
        </p:spPr>
        <p:txBody>
          <a:bodyPr/>
          <a:lstStyle/>
          <a:p>
            <a:endParaRPr lang="en-US"/>
          </a:p>
        </p:txBody>
      </p:sp>
      <p:sp>
        <p:nvSpPr>
          <p:cNvPr id="25" name="Text 23">
            <a:extLst>
              <a:ext uri="{FF2B5EF4-FFF2-40B4-BE49-F238E27FC236}">
                <a16:creationId xmlns:a16="http://schemas.microsoft.com/office/drawing/2014/main" id="{2A2AE263-E84F-29F5-59D7-0A4B5C3EDF8B}"/>
              </a:ext>
            </a:extLst>
          </p:cNvPr>
          <p:cNvSpPr/>
          <p:nvPr/>
        </p:nvSpPr>
        <p:spPr>
          <a:xfrm>
            <a:off x="3163824" y="1033272"/>
            <a:ext cx="2779776" cy="457200"/>
          </a:xfrm>
          <a:prstGeom prst="rect">
            <a:avLst/>
          </a:prstGeom>
          <a:noFill/>
          <a:ln/>
        </p:spPr>
        <p:txBody>
          <a:bodyPr wrap="square" rtlCol="0" anchor="ctr"/>
          <a:lstStyle/>
          <a:p>
            <a:pPr marL="0" indent="0" algn="ctr">
              <a:buNone/>
            </a:pPr>
            <a:r>
              <a:rPr lang="en-US" sz="2000" b="1" dirty="0">
                <a:solidFill>
                  <a:srgbClr val="A380FF"/>
                </a:solidFill>
                <a:latin typeface="Calibri" pitchFamily="34" charset="0"/>
                <a:ea typeface="Calibri" pitchFamily="34" charset="-122"/>
                <a:cs typeface="Calibri" pitchFamily="34" charset="-120"/>
              </a:rPr>
              <a:t>macOS</a:t>
            </a:r>
            <a:endParaRPr lang="en-US" sz="2000" dirty="0"/>
          </a:p>
        </p:txBody>
      </p:sp>
      <p:sp>
        <p:nvSpPr>
          <p:cNvPr id="26" name="Text 24">
            <a:extLst>
              <a:ext uri="{FF2B5EF4-FFF2-40B4-BE49-F238E27FC236}">
                <a16:creationId xmlns:a16="http://schemas.microsoft.com/office/drawing/2014/main" id="{F014DDB2-FE98-268C-10BC-7AFC14ECC9A2}"/>
              </a:ext>
            </a:extLst>
          </p:cNvPr>
          <p:cNvSpPr/>
          <p:nvPr/>
        </p:nvSpPr>
        <p:spPr>
          <a:xfrm>
            <a:off x="3163824" y="1463040"/>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Desktop OS  ·  &lt;10% of users</a:t>
            </a:r>
            <a:endParaRPr lang="en-US" sz="1000" dirty="0"/>
          </a:p>
        </p:txBody>
      </p:sp>
      <p:sp>
        <p:nvSpPr>
          <p:cNvPr id="27" name="Shape 25">
            <a:extLst>
              <a:ext uri="{FF2B5EF4-FFF2-40B4-BE49-F238E27FC236}">
                <a16:creationId xmlns:a16="http://schemas.microsoft.com/office/drawing/2014/main" id="{A05F0EF5-72AD-AB9A-BBF5-81CE3F4341A6}"/>
              </a:ext>
            </a:extLst>
          </p:cNvPr>
          <p:cNvSpPr/>
          <p:nvPr/>
        </p:nvSpPr>
        <p:spPr>
          <a:xfrm>
            <a:off x="3291840" y="1901952"/>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28" name="Text 26">
            <a:extLst>
              <a:ext uri="{FF2B5EF4-FFF2-40B4-BE49-F238E27FC236}">
                <a16:creationId xmlns:a16="http://schemas.microsoft.com/office/drawing/2014/main" id="{083A298E-36BD-B8BD-C903-2E6D89F08F9D}"/>
              </a:ext>
            </a:extLst>
          </p:cNvPr>
          <p:cNvSpPr/>
          <p:nvPr/>
        </p:nvSpPr>
        <p:spPr>
          <a:xfrm>
            <a:off x="3364992" y="1938528"/>
            <a:ext cx="2377440" cy="201168"/>
          </a:xfrm>
          <a:prstGeom prst="rect">
            <a:avLst/>
          </a:prstGeom>
          <a:noFill/>
          <a:ln/>
        </p:spPr>
        <p:txBody>
          <a:bodyPr wrap="square" lIns="0" tIns="0" rIns="0" bIns="0" rtlCol="0" anchor="ctr"/>
          <a:lstStyle/>
          <a:p>
            <a:pPr marL="0" indent="0">
              <a:buNone/>
            </a:pPr>
            <a:r>
              <a:rPr lang="en-US" sz="800" b="1" dirty="0">
                <a:solidFill>
                  <a:srgbClr val="A380FF"/>
                </a:solidFill>
                <a:latin typeface="Calibri" pitchFamily="34" charset="0"/>
                <a:ea typeface="Calibri" pitchFamily="34" charset="-122"/>
                <a:cs typeface="Calibri" pitchFamily="34" charset="-120"/>
              </a:rPr>
              <a:t>Creator</a:t>
            </a:r>
            <a:endParaRPr lang="en-US" sz="800" dirty="0"/>
          </a:p>
        </p:txBody>
      </p:sp>
      <p:sp>
        <p:nvSpPr>
          <p:cNvPr id="29" name="Text 27">
            <a:extLst>
              <a:ext uri="{FF2B5EF4-FFF2-40B4-BE49-F238E27FC236}">
                <a16:creationId xmlns:a16="http://schemas.microsoft.com/office/drawing/2014/main" id="{B10E638F-8073-CA1D-CF8D-6A0034C827F0}"/>
              </a:ext>
            </a:extLst>
          </p:cNvPr>
          <p:cNvSpPr/>
          <p:nvPr/>
        </p:nvSpPr>
        <p:spPr>
          <a:xfrm>
            <a:off x="3364992" y="2157984"/>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Apple Inc.</a:t>
            </a:r>
            <a:endParaRPr lang="en-US" sz="1000" dirty="0"/>
          </a:p>
        </p:txBody>
      </p:sp>
      <p:sp>
        <p:nvSpPr>
          <p:cNvPr id="30" name="Shape 28">
            <a:extLst>
              <a:ext uri="{FF2B5EF4-FFF2-40B4-BE49-F238E27FC236}">
                <a16:creationId xmlns:a16="http://schemas.microsoft.com/office/drawing/2014/main" id="{1115F7D5-AB59-4793-3017-56977D651FA9}"/>
              </a:ext>
            </a:extLst>
          </p:cNvPr>
          <p:cNvSpPr/>
          <p:nvPr/>
        </p:nvSpPr>
        <p:spPr>
          <a:xfrm>
            <a:off x="3291840" y="2505456"/>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31" name="Text 29">
            <a:extLst>
              <a:ext uri="{FF2B5EF4-FFF2-40B4-BE49-F238E27FC236}">
                <a16:creationId xmlns:a16="http://schemas.microsoft.com/office/drawing/2014/main" id="{6073D696-90F9-5831-A9FA-CEB3FFD55143}"/>
              </a:ext>
            </a:extLst>
          </p:cNvPr>
          <p:cNvSpPr/>
          <p:nvPr/>
        </p:nvSpPr>
        <p:spPr>
          <a:xfrm>
            <a:off x="3364992" y="2542032"/>
            <a:ext cx="2377440" cy="201168"/>
          </a:xfrm>
          <a:prstGeom prst="rect">
            <a:avLst/>
          </a:prstGeom>
          <a:noFill/>
          <a:ln/>
        </p:spPr>
        <p:txBody>
          <a:bodyPr wrap="square" lIns="0" tIns="0" rIns="0" bIns="0" rtlCol="0" anchor="ctr"/>
          <a:lstStyle/>
          <a:p>
            <a:pPr marL="0" indent="0">
              <a:buNone/>
            </a:pPr>
            <a:r>
              <a:rPr lang="en-US" sz="800" b="1" dirty="0">
                <a:solidFill>
                  <a:srgbClr val="A380FF"/>
                </a:solidFill>
                <a:latin typeface="Calibri" pitchFamily="34" charset="0"/>
                <a:ea typeface="Calibri" pitchFamily="34" charset="-122"/>
                <a:cs typeface="Calibri" pitchFamily="34" charset="-120"/>
              </a:rPr>
              <a:t>First released</a:t>
            </a:r>
            <a:endParaRPr lang="en-US" sz="800" dirty="0"/>
          </a:p>
        </p:txBody>
      </p:sp>
      <p:sp>
        <p:nvSpPr>
          <p:cNvPr id="32" name="Text 30">
            <a:extLst>
              <a:ext uri="{FF2B5EF4-FFF2-40B4-BE49-F238E27FC236}">
                <a16:creationId xmlns:a16="http://schemas.microsoft.com/office/drawing/2014/main" id="{338F6E8F-D4EE-58E6-AB3E-E676EB6B9BC9}"/>
              </a:ext>
            </a:extLst>
          </p:cNvPr>
          <p:cNvSpPr/>
          <p:nvPr/>
        </p:nvSpPr>
        <p:spPr>
          <a:xfrm>
            <a:off x="3364992" y="2761488"/>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1984 (as Mac OS)</a:t>
            </a:r>
            <a:endParaRPr lang="en-US" sz="1000" dirty="0"/>
          </a:p>
        </p:txBody>
      </p:sp>
      <p:sp>
        <p:nvSpPr>
          <p:cNvPr id="33" name="Shape 31">
            <a:extLst>
              <a:ext uri="{FF2B5EF4-FFF2-40B4-BE49-F238E27FC236}">
                <a16:creationId xmlns:a16="http://schemas.microsoft.com/office/drawing/2014/main" id="{90BAC11F-E1A8-35E9-18F1-62E05E2CCAC8}"/>
              </a:ext>
            </a:extLst>
          </p:cNvPr>
          <p:cNvSpPr/>
          <p:nvPr/>
        </p:nvSpPr>
        <p:spPr>
          <a:xfrm>
            <a:off x="3291840" y="3108960"/>
            <a:ext cx="2523744" cy="512064"/>
          </a:xfrm>
          <a:prstGeom prst="roundRect">
            <a:avLst>
              <a:gd name="adj" fmla="val 12500"/>
            </a:avLst>
          </a:prstGeom>
          <a:solidFill>
            <a:srgbClr val="1E1040"/>
          </a:solidFill>
          <a:ln w="12700">
            <a:solidFill>
              <a:srgbClr val="1E1040"/>
            </a:solidFill>
            <a:prstDash val="solid"/>
          </a:ln>
        </p:spPr>
        <p:txBody>
          <a:bodyPr/>
          <a:lstStyle/>
          <a:p>
            <a:endParaRPr lang="en-US" dirty="0"/>
          </a:p>
        </p:txBody>
      </p:sp>
      <p:sp>
        <p:nvSpPr>
          <p:cNvPr id="34" name="Text 32">
            <a:extLst>
              <a:ext uri="{FF2B5EF4-FFF2-40B4-BE49-F238E27FC236}">
                <a16:creationId xmlns:a16="http://schemas.microsoft.com/office/drawing/2014/main" id="{C0F462FF-7F1E-5DB8-413D-E855FFD315EE}"/>
              </a:ext>
            </a:extLst>
          </p:cNvPr>
          <p:cNvSpPr/>
          <p:nvPr/>
        </p:nvSpPr>
        <p:spPr>
          <a:xfrm>
            <a:off x="3364992" y="3145536"/>
            <a:ext cx="2377440" cy="201168"/>
          </a:xfrm>
          <a:prstGeom prst="rect">
            <a:avLst/>
          </a:prstGeom>
          <a:noFill/>
          <a:ln/>
        </p:spPr>
        <p:txBody>
          <a:bodyPr wrap="square" lIns="0" tIns="0" rIns="0" bIns="0" rtlCol="0" anchor="ctr"/>
          <a:lstStyle/>
          <a:p>
            <a:pPr marL="0" indent="0">
              <a:buNone/>
            </a:pPr>
            <a:r>
              <a:rPr lang="en-US" sz="800" b="1" dirty="0">
                <a:solidFill>
                  <a:srgbClr val="A380FF"/>
                </a:solidFill>
                <a:latin typeface="Calibri" pitchFamily="34" charset="0"/>
                <a:ea typeface="Calibri" pitchFamily="34" charset="-122"/>
                <a:cs typeface="Calibri" pitchFamily="34" charset="-120"/>
              </a:rPr>
              <a:t>Latest version</a:t>
            </a:r>
            <a:endParaRPr lang="en-US" sz="800" dirty="0"/>
          </a:p>
        </p:txBody>
      </p:sp>
      <p:sp>
        <p:nvSpPr>
          <p:cNvPr id="35" name="Text 33">
            <a:extLst>
              <a:ext uri="{FF2B5EF4-FFF2-40B4-BE49-F238E27FC236}">
                <a16:creationId xmlns:a16="http://schemas.microsoft.com/office/drawing/2014/main" id="{431CD1D4-728D-D439-8C9C-8F258123E6FF}"/>
              </a:ext>
            </a:extLst>
          </p:cNvPr>
          <p:cNvSpPr/>
          <p:nvPr/>
        </p:nvSpPr>
        <p:spPr>
          <a:xfrm>
            <a:off x="3364992" y="3364992"/>
            <a:ext cx="2377440" cy="201168"/>
          </a:xfrm>
          <a:prstGeom prst="rect">
            <a:avLst/>
          </a:prstGeom>
          <a:noFill/>
          <a:ln/>
        </p:spPr>
        <p:txBody>
          <a:bodyPr wrap="square" lIns="0" tIns="0" rIns="0" bIns="0" rtlCol="0" anchor="ctr"/>
          <a:lstStyle/>
          <a:p>
            <a:r>
              <a:rPr lang="en-US" sz="1000" dirty="0">
                <a:solidFill>
                  <a:srgbClr val="EDEDED"/>
                </a:solidFill>
                <a:latin typeface="Calibri" pitchFamily="34" charset="0"/>
                <a:ea typeface="Calibri" pitchFamily="34" charset="-122"/>
                <a:cs typeface="Calibri" pitchFamily="34" charset="-120"/>
              </a:rPr>
              <a:t>macOS 26 Tahoe (2025)</a:t>
            </a:r>
          </a:p>
        </p:txBody>
      </p:sp>
      <p:sp>
        <p:nvSpPr>
          <p:cNvPr id="36" name="Shape 34">
            <a:extLst>
              <a:ext uri="{FF2B5EF4-FFF2-40B4-BE49-F238E27FC236}">
                <a16:creationId xmlns:a16="http://schemas.microsoft.com/office/drawing/2014/main" id="{1CB16C89-C1B7-CE23-A8E7-A5BD72507E34}"/>
              </a:ext>
            </a:extLst>
          </p:cNvPr>
          <p:cNvSpPr/>
          <p:nvPr/>
        </p:nvSpPr>
        <p:spPr>
          <a:xfrm>
            <a:off x="3291840" y="3712464"/>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37" name="Text 35">
            <a:extLst>
              <a:ext uri="{FF2B5EF4-FFF2-40B4-BE49-F238E27FC236}">
                <a16:creationId xmlns:a16="http://schemas.microsoft.com/office/drawing/2014/main" id="{CAAECD9B-B974-69AF-96E1-1ED6A15A2AC6}"/>
              </a:ext>
            </a:extLst>
          </p:cNvPr>
          <p:cNvSpPr/>
          <p:nvPr/>
        </p:nvSpPr>
        <p:spPr>
          <a:xfrm>
            <a:off x="3364992" y="3749040"/>
            <a:ext cx="2377440" cy="201168"/>
          </a:xfrm>
          <a:prstGeom prst="rect">
            <a:avLst/>
          </a:prstGeom>
          <a:noFill/>
          <a:ln/>
        </p:spPr>
        <p:txBody>
          <a:bodyPr wrap="square" lIns="0" tIns="0" rIns="0" bIns="0" rtlCol="0" anchor="ctr"/>
          <a:lstStyle/>
          <a:p>
            <a:pPr marL="0" indent="0">
              <a:buNone/>
            </a:pPr>
            <a:r>
              <a:rPr lang="en-US" sz="800" b="1" dirty="0">
                <a:solidFill>
                  <a:srgbClr val="A380FF"/>
                </a:solidFill>
                <a:latin typeface="Calibri" pitchFamily="34" charset="0"/>
                <a:ea typeface="Calibri" pitchFamily="34" charset="-122"/>
                <a:cs typeface="Calibri" pitchFamily="34" charset="-120"/>
              </a:rPr>
              <a:t>Pre-loaded on</a:t>
            </a:r>
            <a:endParaRPr lang="en-US" sz="800" dirty="0"/>
          </a:p>
        </p:txBody>
      </p:sp>
      <p:sp>
        <p:nvSpPr>
          <p:cNvPr id="38" name="Text 36">
            <a:extLst>
              <a:ext uri="{FF2B5EF4-FFF2-40B4-BE49-F238E27FC236}">
                <a16:creationId xmlns:a16="http://schemas.microsoft.com/office/drawing/2014/main" id="{C69C938C-3E85-8060-A306-4D527DF6A6C0}"/>
              </a:ext>
            </a:extLst>
          </p:cNvPr>
          <p:cNvSpPr/>
          <p:nvPr/>
        </p:nvSpPr>
        <p:spPr>
          <a:xfrm>
            <a:off x="3364992" y="3968496"/>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All Apple Mac computers</a:t>
            </a:r>
            <a:endParaRPr lang="en-US" sz="1000" dirty="0"/>
          </a:p>
        </p:txBody>
      </p:sp>
      <p:sp>
        <p:nvSpPr>
          <p:cNvPr id="39" name="Shape 37">
            <a:extLst>
              <a:ext uri="{FF2B5EF4-FFF2-40B4-BE49-F238E27FC236}">
                <a16:creationId xmlns:a16="http://schemas.microsoft.com/office/drawing/2014/main" id="{3DF86B9F-C390-852B-54F8-32B4EAAF6A7E}"/>
              </a:ext>
            </a:extLst>
          </p:cNvPr>
          <p:cNvSpPr/>
          <p:nvPr/>
        </p:nvSpPr>
        <p:spPr>
          <a:xfrm>
            <a:off x="3291840" y="4315968"/>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40" name="Text 38">
            <a:extLst>
              <a:ext uri="{FF2B5EF4-FFF2-40B4-BE49-F238E27FC236}">
                <a16:creationId xmlns:a16="http://schemas.microsoft.com/office/drawing/2014/main" id="{A66CDEBF-5B8A-A325-4EDA-D77297C625E7}"/>
              </a:ext>
            </a:extLst>
          </p:cNvPr>
          <p:cNvSpPr/>
          <p:nvPr/>
        </p:nvSpPr>
        <p:spPr>
          <a:xfrm>
            <a:off x="3364992" y="4352544"/>
            <a:ext cx="2377440" cy="201168"/>
          </a:xfrm>
          <a:prstGeom prst="rect">
            <a:avLst/>
          </a:prstGeom>
          <a:noFill/>
          <a:ln/>
        </p:spPr>
        <p:txBody>
          <a:bodyPr wrap="square" lIns="0" tIns="0" rIns="0" bIns="0" rtlCol="0" anchor="ctr"/>
          <a:lstStyle/>
          <a:p>
            <a:pPr marL="0" indent="0">
              <a:buNone/>
            </a:pPr>
            <a:r>
              <a:rPr lang="en-US" sz="800" b="1" dirty="0">
                <a:solidFill>
                  <a:srgbClr val="A380FF"/>
                </a:solidFill>
                <a:latin typeface="Calibri" pitchFamily="34" charset="0"/>
                <a:ea typeface="Calibri" pitchFamily="34" charset="-122"/>
                <a:cs typeface="Calibri" pitchFamily="34" charset="-120"/>
              </a:rPr>
              <a:t>Cost</a:t>
            </a:r>
            <a:endParaRPr lang="en-US" sz="800" dirty="0"/>
          </a:p>
        </p:txBody>
      </p:sp>
      <p:sp>
        <p:nvSpPr>
          <p:cNvPr id="41" name="Text 39">
            <a:extLst>
              <a:ext uri="{FF2B5EF4-FFF2-40B4-BE49-F238E27FC236}">
                <a16:creationId xmlns:a16="http://schemas.microsoft.com/office/drawing/2014/main" id="{70C90110-7151-0F5E-7B75-4281C7115836}"/>
              </a:ext>
            </a:extLst>
          </p:cNvPr>
          <p:cNvSpPr/>
          <p:nvPr/>
        </p:nvSpPr>
        <p:spPr>
          <a:xfrm>
            <a:off x="3364992" y="4572000"/>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Free upgrade for Mac users</a:t>
            </a:r>
            <a:endParaRPr lang="en-US" sz="1000" dirty="0"/>
          </a:p>
        </p:txBody>
      </p:sp>
      <p:sp>
        <p:nvSpPr>
          <p:cNvPr id="42" name="Shape 40">
            <a:extLst>
              <a:ext uri="{FF2B5EF4-FFF2-40B4-BE49-F238E27FC236}">
                <a16:creationId xmlns:a16="http://schemas.microsoft.com/office/drawing/2014/main" id="{23D47241-34CE-835E-D9B3-5DF3E9C86A4D}"/>
              </a:ext>
            </a:extLst>
          </p:cNvPr>
          <p:cNvSpPr/>
          <p:nvPr/>
        </p:nvSpPr>
        <p:spPr>
          <a:xfrm>
            <a:off x="6071616" y="987552"/>
            <a:ext cx="2779776" cy="4041648"/>
          </a:xfrm>
          <a:prstGeom prst="roundRect">
            <a:avLst>
              <a:gd name="adj" fmla="val 4605"/>
            </a:avLst>
          </a:prstGeom>
          <a:solidFill>
            <a:srgbClr val="0A2E2E"/>
          </a:solidFill>
          <a:ln w="19050">
            <a:solidFill>
              <a:srgbClr val="57E3D8"/>
            </a:solidFill>
            <a:prstDash val="solid"/>
          </a:ln>
        </p:spPr>
        <p:txBody>
          <a:bodyPr/>
          <a:lstStyle/>
          <a:p>
            <a:endParaRPr lang="en-US"/>
          </a:p>
        </p:txBody>
      </p:sp>
      <p:sp>
        <p:nvSpPr>
          <p:cNvPr id="43" name="Text 41">
            <a:extLst>
              <a:ext uri="{FF2B5EF4-FFF2-40B4-BE49-F238E27FC236}">
                <a16:creationId xmlns:a16="http://schemas.microsoft.com/office/drawing/2014/main" id="{160F8E2C-8366-D789-0BA3-8DA4032B4304}"/>
              </a:ext>
            </a:extLst>
          </p:cNvPr>
          <p:cNvSpPr/>
          <p:nvPr/>
        </p:nvSpPr>
        <p:spPr>
          <a:xfrm>
            <a:off x="6071616" y="1033272"/>
            <a:ext cx="2779776" cy="457200"/>
          </a:xfrm>
          <a:prstGeom prst="rect">
            <a:avLst/>
          </a:prstGeom>
          <a:noFill/>
          <a:ln/>
        </p:spPr>
        <p:txBody>
          <a:bodyPr wrap="square" rtlCol="0" anchor="ctr"/>
          <a:lstStyle/>
          <a:p>
            <a:pPr marL="0" indent="0" algn="ctr">
              <a:buNone/>
            </a:pPr>
            <a:r>
              <a:rPr lang="en-US" sz="2000" b="1" dirty="0">
                <a:solidFill>
                  <a:srgbClr val="57E3D8"/>
                </a:solidFill>
                <a:latin typeface="Calibri" pitchFamily="34" charset="0"/>
                <a:ea typeface="Calibri" pitchFamily="34" charset="-122"/>
                <a:cs typeface="Calibri" pitchFamily="34" charset="-120"/>
              </a:rPr>
              <a:t>Linux</a:t>
            </a:r>
            <a:endParaRPr lang="en-US" sz="2000" dirty="0"/>
          </a:p>
        </p:txBody>
      </p:sp>
      <p:sp>
        <p:nvSpPr>
          <p:cNvPr id="44" name="Text 42">
            <a:extLst>
              <a:ext uri="{FF2B5EF4-FFF2-40B4-BE49-F238E27FC236}">
                <a16:creationId xmlns:a16="http://schemas.microsoft.com/office/drawing/2014/main" id="{400A9794-536B-5ED1-EAE6-B302049B104A}"/>
              </a:ext>
            </a:extLst>
          </p:cNvPr>
          <p:cNvSpPr/>
          <p:nvPr/>
        </p:nvSpPr>
        <p:spPr>
          <a:xfrm>
            <a:off x="6071616" y="1463040"/>
            <a:ext cx="2779776" cy="256032"/>
          </a:xfrm>
          <a:prstGeom prst="rect">
            <a:avLst/>
          </a:prstGeom>
          <a:noFill/>
          <a:ln/>
        </p:spPr>
        <p:txBody>
          <a:bodyPr wrap="square" rtlCol="0" anchor="ctr"/>
          <a:lstStyle/>
          <a:p>
            <a:pPr marL="0" indent="0" algn="ctr">
              <a:buNone/>
            </a:pPr>
            <a:r>
              <a:rPr lang="en-US" sz="1000" i="1" dirty="0">
                <a:solidFill>
                  <a:srgbClr val="EDEDED"/>
                </a:solidFill>
                <a:latin typeface="Calibri" pitchFamily="34" charset="0"/>
                <a:ea typeface="Calibri" pitchFamily="34" charset="-122"/>
                <a:cs typeface="Calibri" pitchFamily="34" charset="-120"/>
              </a:rPr>
              <a:t>Desktop OS  ·  &lt;2% of users</a:t>
            </a:r>
            <a:endParaRPr lang="en-US" sz="1000" dirty="0"/>
          </a:p>
        </p:txBody>
      </p:sp>
      <p:sp>
        <p:nvSpPr>
          <p:cNvPr id="45" name="Shape 43">
            <a:extLst>
              <a:ext uri="{FF2B5EF4-FFF2-40B4-BE49-F238E27FC236}">
                <a16:creationId xmlns:a16="http://schemas.microsoft.com/office/drawing/2014/main" id="{17BB9C3C-FBE9-5806-C1E4-F9F0239F94FD}"/>
              </a:ext>
            </a:extLst>
          </p:cNvPr>
          <p:cNvSpPr/>
          <p:nvPr/>
        </p:nvSpPr>
        <p:spPr>
          <a:xfrm>
            <a:off x="6199632" y="1901952"/>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46" name="Text 44">
            <a:extLst>
              <a:ext uri="{FF2B5EF4-FFF2-40B4-BE49-F238E27FC236}">
                <a16:creationId xmlns:a16="http://schemas.microsoft.com/office/drawing/2014/main" id="{1934E9C9-C2E5-4054-607E-4F78E6D73CD6}"/>
              </a:ext>
            </a:extLst>
          </p:cNvPr>
          <p:cNvSpPr/>
          <p:nvPr/>
        </p:nvSpPr>
        <p:spPr>
          <a:xfrm>
            <a:off x="6272784" y="1938528"/>
            <a:ext cx="2377440" cy="201168"/>
          </a:xfrm>
          <a:prstGeom prst="rect">
            <a:avLst/>
          </a:prstGeom>
          <a:noFill/>
          <a:ln/>
        </p:spPr>
        <p:txBody>
          <a:bodyPr wrap="square" lIns="0" tIns="0" rIns="0" bIns="0"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Creator</a:t>
            </a:r>
            <a:endParaRPr lang="en-US" sz="800" dirty="0"/>
          </a:p>
        </p:txBody>
      </p:sp>
      <p:sp>
        <p:nvSpPr>
          <p:cNvPr id="47" name="Text 45">
            <a:extLst>
              <a:ext uri="{FF2B5EF4-FFF2-40B4-BE49-F238E27FC236}">
                <a16:creationId xmlns:a16="http://schemas.microsoft.com/office/drawing/2014/main" id="{BC2E8DD9-F45B-A649-12EE-B4F1127DA68F}"/>
              </a:ext>
            </a:extLst>
          </p:cNvPr>
          <p:cNvSpPr/>
          <p:nvPr/>
        </p:nvSpPr>
        <p:spPr>
          <a:xfrm>
            <a:off x="6272784" y="2157984"/>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Open-source community</a:t>
            </a:r>
            <a:endParaRPr lang="en-US" sz="1000" dirty="0"/>
          </a:p>
        </p:txBody>
      </p:sp>
      <p:sp>
        <p:nvSpPr>
          <p:cNvPr id="48" name="Shape 46">
            <a:extLst>
              <a:ext uri="{FF2B5EF4-FFF2-40B4-BE49-F238E27FC236}">
                <a16:creationId xmlns:a16="http://schemas.microsoft.com/office/drawing/2014/main" id="{CD98D845-A5B7-CD8A-6A17-A786BC952BFB}"/>
              </a:ext>
            </a:extLst>
          </p:cNvPr>
          <p:cNvSpPr/>
          <p:nvPr/>
        </p:nvSpPr>
        <p:spPr>
          <a:xfrm>
            <a:off x="6199632" y="2505456"/>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49" name="Text 47">
            <a:extLst>
              <a:ext uri="{FF2B5EF4-FFF2-40B4-BE49-F238E27FC236}">
                <a16:creationId xmlns:a16="http://schemas.microsoft.com/office/drawing/2014/main" id="{E4E004CF-D99A-D43E-DEBD-62A9A585E8BC}"/>
              </a:ext>
            </a:extLst>
          </p:cNvPr>
          <p:cNvSpPr/>
          <p:nvPr/>
        </p:nvSpPr>
        <p:spPr>
          <a:xfrm>
            <a:off x="6272784" y="2542032"/>
            <a:ext cx="2377440" cy="201168"/>
          </a:xfrm>
          <a:prstGeom prst="rect">
            <a:avLst/>
          </a:prstGeom>
          <a:noFill/>
          <a:ln/>
        </p:spPr>
        <p:txBody>
          <a:bodyPr wrap="square" lIns="0" tIns="0" rIns="0" bIns="0"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First released</a:t>
            </a:r>
            <a:endParaRPr lang="en-US" sz="800" dirty="0"/>
          </a:p>
        </p:txBody>
      </p:sp>
      <p:sp>
        <p:nvSpPr>
          <p:cNvPr id="50" name="Text 48">
            <a:extLst>
              <a:ext uri="{FF2B5EF4-FFF2-40B4-BE49-F238E27FC236}">
                <a16:creationId xmlns:a16="http://schemas.microsoft.com/office/drawing/2014/main" id="{E1C58A4B-FE46-1795-D7D0-944949F52C8B}"/>
              </a:ext>
            </a:extLst>
          </p:cNvPr>
          <p:cNvSpPr/>
          <p:nvPr/>
        </p:nvSpPr>
        <p:spPr>
          <a:xfrm>
            <a:off x="6272784" y="2761488"/>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1991</a:t>
            </a:r>
            <a:endParaRPr lang="en-US" sz="1000" dirty="0"/>
          </a:p>
        </p:txBody>
      </p:sp>
      <p:sp>
        <p:nvSpPr>
          <p:cNvPr id="51" name="Shape 49">
            <a:extLst>
              <a:ext uri="{FF2B5EF4-FFF2-40B4-BE49-F238E27FC236}">
                <a16:creationId xmlns:a16="http://schemas.microsoft.com/office/drawing/2014/main" id="{A4F5B864-A547-85E2-687E-468DA9810227}"/>
              </a:ext>
            </a:extLst>
          </p:cNvPr>
          <p:cNvSpPr/>
          <p:nvPr/>
        </p:nvSpPr>
        <p:spPr>
          <a:xfrm>
            <a:off x="6199632" y="3108960"/>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52" name="Text 50">
            <a:extLst>
              <a:ext uri="{FF2B5EF4-FFF2-40B4-BE49-F238E27FC236}">
                <a16:creationId xmlns:a16="http://schemas.microsoft.com/office/drawing/2014/main" id="{47875D30-CA79-24B3-8B55-3CA6B7546DD1}"/>
              </a:ext>
            </a:extLst>
          </p:cNvPr>
          <p:cNvSpPr/>
          <p:nvPr/>
        </p:nvSpPr>
        <p:spPr>
          <a:xfrm>
            <a:off x="6272784" y="3145536"/>
            <a:ext cx="2377440" cy="201168"/>
          </a:xfrm>
          <a:prstGeom prst="rect">
            <a:avLst/>
          </a:prstGeom>
          <a:noFill/>
          <a:ln/>
        </p:spPr>
        <p:txBody>
          <a:bodyPr wrap="square" lIns="0" tIns="0" rIns="0" bIns="0"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Latest version</a:t>
            </a:r>
            <a:endParaRPr lang="en-US" sz="800" dirty="0"/>
          </a:p>
        </p:txBody>
      </p:sp>
      <p:sp>
        <p:nvSpPr>
          <p:cNvPr id="53" name="Text 51">
            <a:extLst>
              <a:ext uri="{FF2B5EF4-FFF2-40B4-BE49-F238E27FC236}">
                <a16:creationId xmlns:a16="http://schemas.microsoft.com/office/drawing/2014/main" id="{15E016C0-85D1-360B-6E43-07A7D50C7823}"/>
              </a:ext>
            </a:extLst>
          </p:cNvPr>
          <p:cNvSpPr/>
          <p:nvPr/>
        </p:nvSpPr>
        <p:spPr>
          <a:xfrm>
            <a:off x="6272784" y="3364992"/>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Many distributions</a:t>
            </a:r>
            <a:endParaRPr lang="en-US" sz="1000" dirty="0"/>
          </a:p>
        </p:txBody>
      </p:sp>
      <p:sp>
        <p:nvSpPr>
          <p:cNvPr id="54" name="Shape 52">
            <a:extLst>
              <a:ext uri="{FF2B5EF4-FFF2-40B4-BE49-F238E27FC236}">
                <a16:creationId xmlns:a16="http://schemas.microsoft.com/office/drawing/2014/main" id="{4180C4C0-6012-AC85-4B17-3AFA774A2271}"/>
              </a:ext>
            </a:extLst>
          </p:cNvPr>
          <p:cNvSpPr/>
          <p:nvPr/>
        </p:nvSpPr>
        <p:spPr>
          <a:xfrm>
            <a:off x="6199632" y="3712464"/>
            <a:ext cx="2523744" cy="512064"/>
          </a:xfrm>
          <a:prstGeom prst="roundRect">
            <a:avLst>
              <a:gd name="adj" fmla="val 12500"/>
            </a:avLst>
          </a:prstGeom>
          <a:solidFill>
            <a:srgbClr val="250F50"/>
          </a:solidFill>
          <a:ln w="12700">
            <a:solidFill>
              <a:srgbClr val="250F50"/>
            </a:solidFill>
            <a:prstDash val="solid"/>
          </a:ln>
        </p:spPr>
        <p:txBody>
          <a:bodyPr/>
          <a:lstStyle/>
          <a:p>
            <a:endParaRPr lang="en-US"/>
          </a:p>
        </p:txBody>
      </p:sp>
      <p:sp>
        <p:nvSpPr>
          <p:cNvPr id="55" name="Text 53">
            <a:extLst>
              <a:ext uri="{FF2B5EF4-FFF2-40B4-BE49-F238E27FC236}">
                <a16:creationId xmlns:a16="http://schemas.microsoft.com/office/drawing/2014/main" id="{6F0CCA05-6F6B-73EB-BB3E-40FF49D41D8D}"/>
              </a:ext>
            </a:extLst>
          </p:cNvPr>
          <p:cNvSpPr/>
          <p:nvPr/>
        </p:nvSpPr>
        <p:spPr>
          <a:xfrm>
            <a:off x="6272784" y="3749040"/>
            <a:ext cx="2377440" cy="201168"/>
          </a:xfrm>
          <a:prstGeom prst="rect">
            <a:avLst/>
          </a:prstGeom>
          <a:noFill/>
          <a:ln/>
        </p:spPr>
        <p:txBody>
          <a:bodyPr wrap="square" lIns="0" tIns="0" rIns="0" bIns="0"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Pre-loaded on</a:t>
            </a:r>
            <a:endParaRPr lang="en-US" sz="800" dirty="0"/>
          </a:p>
        </p:txBody>
      </p:sp>
      <p:sp>
        <p:nvSpPr>
          <p:cNvPr id="56" name="Text 54">
            <a:extLst>
              <a:ext uri="{FF2B5EF4-FFF2-40B4-BE49-F238E27FC236}">
                <a16:creationId xmlns:a16="http://schemas.microsoft.com/office/drawing/2014/main" id="{1B5A695C-4E1C-1D37-4C84-4CC97C0EF229}"/>
              </a:ext>
            </a:extLst>
          </p:cNvPr>
          <p:cNvSpPr/>
          <p:nvPr/>
        </p:nvSpPr>
        <p:spPr>
          <a:xfrm>
            <a:off x="6272784" y="3968496"/>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Servers, custom devices</a:t>
            </a:r>
            <a:endParaRPr lang="en-US" sz="1000" dirty="0"/>
          </a:p>
        </p:txBody>
      </p:sp>
      <p:sp>
        <p:nvSpPr>
          <p:cNvPr id="57" name="Shape 55">
            <a:extLst>
              <a:ext uri="{FF2B5EF4-FFF2-40B4-BE49-F238E27FC236}">
                <a16:creationId xmlns:a16="http://schemas.microsoft.com/office/drawing/2014/main" id="{9479889D-FE47-827C-03B8-A090B2C69810}"/>
              </a:ext>
            </a:extLst>
          </p:cNvPr>
          <p:cNvSpPr/>
          <p:nvPr/>
        </p:nvSpPr>
        <p:spPr>
          <a:xfrm>
            <a:off x="6199632" y="4315968"/>
            <a:ext cx="2523744" cy="512064"/>
          </a:xfrm>
          <a:prstGeom prst="roundRect">
            <a:avLst>
              <a:gd name="adj" fmla="val 12500"/>
            </a:avLst>
          </a:prstGeom>
          <a:solidFill>
            <a:srgbClr val="1E1040"/>
          </a:solidFill>
          <a:ln w="12700">
            <a:solidFill>
              <a:srgbClr val="1E1040"/>
            </a:solidFill>
            <a:prstDash val="solid"/>
          </a:ln>
        </p:spPr>
        <p:txBody>
          <a:bodyPr/>
          <a:lstStyle/>
          <a:p>
            <a:endParaRPr lang="en-US"/>
          </a:p>
        </p:txBody>
      </p:sp>
      <p:sp>
        <p:nvSpPr>
          <p:cNvPr id="58" name="Text 56">
            <a:extLst>
              <a:ext uri="{FF2B5EF4-FFF2-40B4-BE49-F238E27FC236}">
                <a16:creationId xmlns:a16="http://schemas.microsoft.com/office/drawing/2014/main" id="{30B55CAD-3273-8860-07F1-9A86A45AE431}"/>
              </a:ext>
            </a:extLst>
          </p:cNvPr>
          <p:cNvSpPr/>
          <p:nvPr/>
        </p:nvSpPr>
        <p:spPr>
          <a:xfrm>
            <a:off x="6272784" y="4352544"/>
            <a:ext cx="2377440" cy="201168"/>
          </a:xfrm>
          <a:prstGeom prst="rect">
            <a:avLst/>
          </a:prstGeom>
          <a:noFill/>
          <a:ln/>
        </p:spPr>
        <p:txBody>
          <a:bodyPr wrap="square" lIns="0" tIns="0" rIns="0" bIns="0" rtlCol="0" anchor="ctr"/>
          <a:lstStyle/>
          <a:p>
            <a:pPr marL="0" indent="0">
              <a:buNone/>
            </a:pPr>
            <a:r>
              <a:rPr lang="en-US" sz="800" b="1" dirty="0">
                <a:solidFill>
                  <a:srgbClr val="57E3D8"/>
                </a:solidFill>
                <a:latin typeface="Calibri" pitchFamily="34" charset="0"/>
                <a:ea typeface="Calibri" pitchFamily="34" charset="-122"/>
                <a:cs typeface="Calibri" pitchFamily="34" charset="-120"/>
              </a:rPr>
              <a:t>Cost</a:t>
            </a:r>
            <a:endParaRPr lang="en-US" sz="800" dirty="0"/>
          </a:p>
        </p:txBody>
      </p:sp>
      <p:sp>
        <p:nvSpPr>
          <p:cNvPr id="59" name="Text 57">
            <a:extLst>
              <a:ext uri="{FF2B5EF4-FFF2-40B4-BE49-F238E27FC236}">
                <a16:creationId xmlns:a16="http://schemas.microsoft.com/office/drawing/2014/main" id="{0270D8ED-165B-1400-E041-17FA430DE5B7}"/>
              </a:ext>
            </a:extLst>
          </p:cNvPr>
          <p:cNvSpPr/>
          <p:nvPr/>
        </p:nvSpPr>
        <p:spPr>
          <a:xfrm>
            <a:off x="6272784" y="4572000"/>
            <a:ext cx="2377440" cy="201168"/>
          </a:xfrm>
          <a:prstGeom prst="rect">
            <a:avLst/>
          </a:prstGeom>
          <a:noFill/>
          <a:ln/>
        </p:spPr>
        <p:txBody>
          <a:bodyPr wrap="square" lIns="0" tIns="0" rIns="0" bIns="0" rtlCol="0" anchor="ctr"/>
          <a:lstStyle/>
          <a:p>
            <a:pPr marL="0" indent="0">
              <a:buNone/>
            </a:pPr>
            <a:r>
              <a:rPr lang="en-US" sz="1000" dirty="0">
                <a:solidFill>
                  <a:srgbClr val="EDEDED"/>
                </a:solidFill>
                <a:latin typeface="Calibri" pitchFamily="34" charset="0"/>
                <a:ea typeface="Calibri" pitchFamily="34" charset="-122"/>
                <a:cs typeface="Calibri" pitchFamily="34" charset="-120"/>
              </a:rPr>
              <a:t>Free — open-source</a:t>
            </a:r>
            <a:endParaRPr lang="en-US" sz="1000" dirty="0"/>
          </a:p>
        </p:txBody>
      </p:sp>
    </p:spTree>
    <p:extLst>
      <p:ext uri="{BB962C8B-B14F-4D97-AF65-F5344CB8AC3E}">
        <p14:creationId xmlns:p14="http://schemas.microsoft.com/office/powerpoint/2010/main" val="8345557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Shape 2"/>
          <p:cNvSpPr/>
          <p:nvPr/>
        </p:nvSpPr>
        <p:spPr>
          <a:xfrm>
            <a:off x="548640" y="548640"/>
            <a:ext cx="8046720" cy="3657600"/>
          </a:xfrm>
          <a:prstGeom prst="rect">
            <a:avLst/>
          </a:prstGeom>
          <a:solidFill>
            <a:srgbClr val="161B26"/>
          </a:solidFill>
          <a:ln w="1905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5" name="Shape 3"/>
          <p:cNvSpPr/>
          <p:nvPr/>
        </p:nvSpPr>
        <p:spPr>
          <a:xfrm>
            <a:off x="914400" y="91440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6" name="Shape 4"/>
          <p:cNvSpPr/>
          <p:nvPr/>
        </p:nvSpPr>
        <p:spPr>
          <a:xfrm>
            <a:off x="914400" y="78638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7" name="Shape 5"/>
          <p:cNvSpPr/>
          <p:nvPr/>
        </p:nvSpPr>
        <p:spPr>
          <a:xfrm>
            <a:off x="2011680" y="77724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8" name="Shape 6"/>
          <p:cNvSpPr/>
          <p:nvPr/>
        </p:nvSpPr>
        <p:spPr>
          <a:xfrm>
            <a:off x="2011680" y="64922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9" name="Shape 7"/>
          <p:cNvSpPr/>
          <p:nvPr/>
        </p:nvSpPr>
        <p:spPr>
          <a:xfrm>
            <a:off x="3291840" y="100584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10" name="Shape 8"/>
          <p:cNvSpPr/>
          <p:nvPr/>
        </p:nvSpPr>
        <p:spPr>
          <a:xfrm>
            <a:off x="3291840" y="87782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11" name="Shape 9"/>
          <p:cNvSpPr/>
          <p:nvPr/>
        </p:nvSpPr>
        <p:spPr>
          <a:xfrm>
            <a:off x="4572000" y="82296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12" name="Shape 10"/>
          <p:cNvSpPr/>
          <p:nvPr/>
        </p:nvSpPr>
        <p:spPr>
          <a:xfrm>
            <a:off x="4572000" y="69494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13" name="Shape 11"/>
          <p:cNvSpPr/>
          <p:nvPr/>
        </p:nvSpPr>
        <p:spPr>
          <a:xfrm>
            <a:off x="5852160" y="91440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14" name="Shape 12"/>
          <p:cNvSpPr/>
          <p:nvPr/>
        </p:nvSpPr>
        <p:spPr>
          <a:xfrm>
            <a:off x="5852160" y="78638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15" name="Shape 13"/>
          <p:cNvSpPr/>
          <p:nvPr/>
        </p:nvSpPr>
        <p:spPr>
          <a:xfrm>
            <a:off x="6949440" y="777240"/>
            <a:ext cx="822960" cy="594360"/>
          </a:xfrm>
          <a:prstGeom prst="rect">
            <a:avLst/>
          </a:prstGeom>
          <a:solidFill>
            <a:srgbClr val="3FD9C4">
              <a:alpha val="12000"/>
            </a:srgbClr>
          </a:solidFill>
          <a:ln w="12700">
            <a:solidFill>
              <a:srgbClr val="3FD9C4">
                <a:alpha val="30000"/>
              </a:srgbClr>
            </a:solidFill>
            <a:prstDash val="solid"/>
          </a:ln>
        </p:spPr>
        <p:txBody>
          <a:bodyPr/>
          <a:lstStyle/>
          <a:p>
            <a:endParaRPr lang="en-US"/>
          </a:p>
        </p:txBody>
      </p:sp>
      <p:sp>
        <p:nvSpPr>
          <p:cNvPr id="16" name="Shape 14"/>
          <p:cNvSpPr/>
          <p:nvPr/>
        </p:nvSpPr>
        <p:spPr>
          <a:xfrm>
            <a:off x="6949440" y="649224"/>
            <a:ext cx="329184" cy="164592"/>
          </a:xfrm>
          <a:prstGeom prst="rect">
            <a:avLst/>
          </a:prstGeom>
          <a:solidFill>
            <a:srgbClr val="3FD9C4">
              <a:alpha val="20000"/>
            </a:srgbClr>
          </a:solidFill>
          <a:ln w="12700">
            <a:solidFill>
              <a:srgbClr val="3FD9C4">
                <a:alpha val="35000"/>
              </a:srgbClr>
            </a:solidFill>
            <a:prstDash val="solid"/>
          </a:ln>
        </p:spPr>
        <p:txBody>
          <a:bodyPr/>
          <a:lstStyle/>
          <a:p>
            <a:endParaRPr lang="en-US"/>
          </a:p>
        </p:txBody>
      </p:sp>
      <p:sp>
        <p:nvSpPr>
          <p:cNvPr id="17" name="Text 15"/>
          <p:cNvSpPr/>
          <p:nvPr/>
        </p:nvSpPr>
        <p:spPr>
          <a:xfrm>
            <a:off x="548640" y="1417320"/>
            <a:ext cx="8046720" cy="777240"/>
          </a:xfrm>
          <a:prstGeom prst="rect">
            <a:avLst/>
          </a:prstGeom>
          <a:noFill/>
          <a:ln/>
        </p:spPr>
        <p:txBody>
          <a:bodyPr wrap="square" lIns="0" tIns="0" rIns="0" bIns="0" rtlCol="0" anchor="ctr"/>
          <a:lstStyle/>
          <a:p>
            <a:pPr marL="0" indent="0" algn="ctr">
              <a:buNone/>
            </a:pPr>
            <a:r>
              <a:rPr lang="en-US" sz="5200" b="1" dirty="0">
                <a:solidFill>
                  <a:srgbClr val="F0F6FC"/>
                </a:solidFill>
                <a:latin typeface="Calibri" pitchFamily="34" charset="0"/>
                <a:ea typeface="Calibri" pitchFamily="34" charset="-122"/>
                <a:cs typeface="Calibri" pitchFamily="34" charset="-120"/>
              </a:rPr>
              <a:t>How Computers</a:t>
            </a:r>
            <a:endParaRPr lang="en-US" sz="5200" dirty="0"/>
          </a:p>
        </p:txBody>
      </p:sp>
      <p:sp>
        <p:nvSpPr>
          <p:cNvPr id="18" name="Text 16"/>
          <p:cNvSpPr/>
          <p:nvPr/>
        </p:nvSpPr>
        <p:spPr>
          <a:xfrm>
            <a:off x="548640" y="2121408"/>
            <a:ext cx="8046720" cy="777240"/>
          </a:xfrm>
          <a:prstGeom prst="rect">
            <a:avLst/>
          </a:prstGeom>
          <a:noFill/>
          <a:ln/>
        </p:spPr>
        <p:txBody>
          <a:bodyPr wrap="square" lIns="0" tIns="0" rIns="0" bIns="0" rtlCol="0" anchor="ctr"/>
          <a:lstStyle/>
          <a:p>
            <a:pPr marL="0" indent="0" algn="ctr">
              <a:buNone/>
            </a:pPr>
            <a:r>
              <a:rPr lang="en-US" sz="5200" b="1" dirty="0">
                <a:solidFill>
                  <a:srgbClr val="3FD9C4"/>
                </a:solidFill>
                <a:latin typeface="Calibri" pitchFamily="34" charset="0"/>
                <a:ea typeface="Calibri" pitchFamily="34" charset="-122"/>
                <a:cs typeface="Calibri" pitchFamily="34" charset="-120"/>
              </a:rPr>
              <a:t>Handle Files</a:t>
            </a:r>
            <a:endParaRPr lang="en-US" sz="5200" dirty="0"/>
          </a:p>
        </p:txBody>
      </p:sp>
      <p:sp>
        <p:nvSpPr>
          <p:cNvPr id="19" name="Text 17"/>
          <p:cNvSpPr/>
          <p:nvPr/>
        </p:nvSpPr>
        <p:spPr>
          <a:xfrm>
            <a:off x="548640" y="2944368"/>
            <a:ext cx="8046720" cy="329184"/>
          </a:xfrm>
          <a:prstGeom prst="rect">
            <a:avLst/>
          </a:prstGeom>
          <a:noFill/>
          <a:ln/>
        </p:spPr>
        <p:txBody>
          <a:bodyPr wrap="square" lIns="0" tIns="0" rIns="0" bIns="0" rtlCol="0" anchor="ctr"/>
          <a:lstStyle/>
          <a:p>
            <a:pPr marL="0" indent="0" algn="ctr">
              <a:buNone/>
            </a:pPr>
            <a:r>
              <a:rPr lang="en-US" sz="1500" i="1" dirty="0">
                <a:solidFill>
                  <a:srgbClr val="8B949E"/>
                </a:solidFill>
                <a:latin typeface="Calibri" pitchFamily="34" charset="0"/>
                <a:ea typeface="Calibri" pitchFamily="34" charset="-122"/>
                <a:cs typeface="Calibri" pitchFamily="34" charset="-120"/>
              </a:rPr>
              <a:t>Storage · Retrieval · Editing · Deletion · File Systems</a:t>
            </a:r>
            <a:endParaRPr lang="en-US" sz="1500" dirty="0"/>
          </a:p>
        </p:txBody>
      </p:sp>
      <p:sp>
        <p:nvSpPr>
          <p:cNvPr id="20" name="Shape 18"/>
          <p:cNvSpPr/>
          <p:nvPr/>
        </p:nvSpPr>
        <p:spPr>
          <a:xfrm>
            <a:off x="2468880" y="3401568"/>
            <a:ext cx="274320" cy="274320"/>
          </a:xfrm>
          <a:prstGeom prst="ellipse">
            <a:avLst/>
          </a:prstGeom>
          <a:solidFill>
            <a:srgbClr val="3FD9C4"/>
          </a:solidFill>
          <a:ln w="12700">
            <a:solidFill>
              <a:srgbClr val="3FD9C4"/>
            </a:solidFill>
            <a:prstDash val="solid"/>
          </a:ln>
        </p:spPr>
        <p:txBody>
          <a:bodyPr/>
          <a:lstStyle/>
          <a:p>
            <a:endParaRPr lang="en-US"/>
          </a:p>
        </p:txBody>
      </p:sp>
      <p:sp>
        <p:nvSpPr>
          <p:cNvPr id="21" name="Shape 19"/>
          <p:cNvSpPr/>
          <p:nvPr/>
        </p:nvSpPr>
        <p:spPr>
          <a:xfrm>
            <a:off x="3090672" y="3401568"/>
            <a:ext cx="274320" cy="274320"/>
          </a:xfrm>
          <a:prstGeom prst="ellipse">
            <a:avLst/>
          </a:prstGeom>
          <a:solidFill>
            <a:srgbClr val="58A6FF"/>
          </a:solidFill>
          <a:ln w="12700">
            <a:solidFill>
              <a:srgbClr val="58A6FF"/>
            </a:solidFill>
            <a:prstDash val="solid"/>
          </a:ln>
        </p:spPr>
        <p:txBody>
          <a:bodyPr/>
          <a:lstStyle/>
          <a:p>
            <a:endParaRPr lang="en-US"/>
          </a:p>
        </p:txBody>
      </p:sp>
      <p:sp>
        <p:nvSpPr>
          <p:cNvPr id="22" name="Shape 20"/>
          <p:cNvSpPr/>
          <p:nvPr/>
        </p:nvSpPr>
        <p:spPr>
          <a:xfrm>
            <a:off x="3712464" y="3401568"/>
            <a:ext cx="274320" cy="274320"/>
          </a:xfrm>
          <a:prstGeom prst="ellipse">
            <a:avLst/>
          </a:prstGeom>
          <a:solidFill>
            <a:srgbClr val="BC8CFF"/>
          </a:solidFill>
          <a:ln w="12700">
            <a:solidFill>
              <a:srgbClr val="BC8CFF"/>
            </a:solidFill>
            <a:prstDash val="solid"/>
          </a:ln>
        </p:spPr>
        <p:txBody>
          <a:bodyPr/>
          <a:lstStyle/>
          <a:p>
            <a:endParaRPr lang="en-US"/>
          </a:p>
        </p:txBody>
      </p:sp>
      <p:sp>
        <p:nvSpPr>
          <p:cNvPr id="23" name="Shape 21"/>
          <p:cNvSpPr/>
          <p:nvPr/>
        </p:nvSpPr>
        <p:spPr>
          <a:xfrm>
            <a:off x="4334256" y="3401568"/>
            <a:ext cx="274320" cy="274320"/>
          </a:xfrm>
          <a:prstGeom prst="ellipse">
            <a:avLst/>
          </a:prstGeom>
          <a:solidFill>
            <a:srgbClr val="FFA657"/>
          </a:solidFill>
          <a:ln w="12700">
            <a:solidFill>
              <a:srgbClr val="FFA657"/>
            </a:solidFill>
            <a:prstDash val="solid"/>
          </a:ln>
        </p:spPr>
        <p:txBody>
          <a:bodyPr/>
          <a:lstStyle/>
          <a:p>
            <a:endParaRPr lang="en-US"/>
          </a:p>
        </p:txBody>
      </p:sp>
      <p:sp>
        <p:nvSpPr>
          <p:cNvPr id="24" name="Shape 22"/>
          <p:cNvSpPr/>
          <p:nvPr/>
        </p:nvSpPr>
        <p:spPr>
          <a:xfrm>
            <a:off x="4956048" y="3401568"/>
            <a:ext cx="274320" cy="274320"/>
          </a:xfrm>
          <a:prstGeom prst="ellipse">
            <a:avLst/>
          </a:prstGeom>
          <a:solidFill>
            <a:srgbClr val="3FB950"/>
          </a:solidFill>
          <a:ln w="12700">
            <a:solidFill>
              <a:srgbClr val="3FB950"/>
            </a:solidFill>
            <a:prstDash val="solid"/>
          </a:ln>
        </p:spPr>
        <p:txBody>
          <a:bodyPr/>
          <a:lstStyle/>
          <a:p>
            <a:endParaRPr lang="en-US"/>
          </a:p>
        </p:txBody>
      </p:sp>
      <p:sp>
        <p:nvSpPr>
          <p:cNvPr id="25" name="Shape 23"/>
          <p:cNvSpPr/>
          <p:nvPr/>
        </p:nvSpPr>
        <p:spPr>
          <a:xfrm>
            <a:off x="5577840" y="3401568"/>
            <a:ext cx="274320" cy="274320"/>
          </a:xfrm>
          <a:prstGeom prst="ellipse">
            <a:avLst/>
          </a:prstGeom>
          <a:solidFill>
            <a:srgbClr val="F778BA"/>
          </a:solidFill>
          <a:ln w="12700">
            <a:solidFill>
              <a:srgbClr val="F778BA"/>
            </a:solidFill>
            <a:prstDash val="solid"/>
          </a:ln>
        </p:spPr>
        <p:txBody>
          <a:bodyPr/>
          <a:lstStyle/>
          <a:p>
            <a:endParaRPr lang="en-US"/>
          </a:p>
        </p:txBody>
      </p:sp>
      <p:sp>
        <p:nvSpPr>
          <p:cNvPr id="26" name="Text 24"/>
          <p:cNvSpPr/>
          <p:nvPr/>
        </p:nvSpPr>
        <p:spPr>
          <a:xfrm>
            <a:off x="0" y="4526280"/>
            <a:ext cx="9144000" cy="292608"/>
          </a:xfrm>
          <a:prstGeom prst="rect">
            <a:avLst/>
          </a:prstGeom>
          <a:noFill/>
          <a:ln/>
        </p:spPr>
        <p:txBody>
          <a:bodyPr wrap="square" lIns="0" tIns="0" rIns="0" bIns="0" rtlCol="0" anchor="ctr"/>
          <a:lstStyle/>
          <a:p>
            <a:pPr marL="0" indent="0" algn="ctr">
              <a:buNone/>
            </a:pPr>
            <a:r>
              <a:rPr lang="en-US" sz="1000" dirty="0">
                <a:solidFill>
                  <a:srgbClr val="3D444D"/>
                </a:solidFill>
                <a:latin typeface="Calibri" pitchFamily="34" charset="0"/>
                <a:ea typeface="Calibri" pitchFamily="34" charset="-122"/>
                <a:cs typeface="Calibri" pitchFamily="34" charset="-120"/>
              </a:rPr>
              <a:t>Foundation Bootcamp · Computer Science Fundamentals</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FOUNDATIONS</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What Is a File?</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At its core, every file is just a sequence of bytes stored on a device</a:t>
            </a:r>
            <a:endParaRPr lang="en-US" sz="1300" dirty="0"/>
          </a:p>
        </p:txBody>
      </p:sp>
      <p:sp>
        <p:nvSpPr>
          <p:cNvPr id="7" name="Shape 5"/>
          <p:cNvSpPr/>
          <p:nvPr/>
        </p:nvSpPr>
        <p:spPr>
          <a:xfrm>
            <a:off x="411480" y="1170432"/>
            <a:ext cx="8321040" cy="91440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8" name="Text 6"/>
          <p:cNvSpPr/>
          <p:nvPr/>
        </p:nvSpPr>
        <p:spPr>
          <a:xfrm>
            <a:off x="594360" y="1243584"/>
            <a:ext cx="7955280" cy="749808"/>
          </a:xfrm>
          <a:prstGeom prst="rect">
            <a:avLst/>
          </a:prstGeom>
          <a:noFill/>
          <a:ln/>
        </p:spPr>
        <p:txBody>
          <a:bodyPr wrap="square" lIns="0" tIns="0" rIns="0" bIns="0" rtlCol="0" anchor="ctr"/>
          <a:lstStyle/>
          <a:p>
            <a:pPr marL="0" indent="0">
              <a:buNone/>
            </a:pPr>
            <a:r>
              <a:rPr lang="en-US" sz="1300" b="1" dirty="0">
                <a:solidFill>
                  <a:srgbClr val="3FD9C4"/>
                </a:solidFill>
                <a:latin typeface="Calibri" pitchFamily="34" charset="0"/>
                <a:ea typeface="Calibri" pitchFamily="34" charset="-122"/>
                <a:cs typeface="Calibri" pitchFamily="34" charset="-120"/>
              </a:rPr>
              <a:t>A file  </a:t>
            </a:r>
            <a:r>
              <a:rPr lang="en-US" sz="1300" dirty="0">
                <a:solidFill>
                  <a:srgbClr val="F0F6FC"/>
                </a:solidFill>
                <a:latin typeface="Calibri" pitchFamily="34" charset="0"/>
                <a:ea typeface="Calibri" pitchFamily="34" charset="-122"/>
                <a:cs typeface="Calibri" pitchFamily="34" charset="-120"/>
              </a:rPr>
              <a:t>is a named, ordered collection of </a:t>
            </a:r>
            <a:r>
              <a:rPr lang="en-US" sz="1300" b="1" dirty="0">
                <a:solidFill>
                  <a:srgbClr val="E3B341"/>
                </a:solidFill>
                <a:latin typeface="Calibri" pitchFamily="34" charset="0"/>
                <a:ea typeface="Calibri" pitchFamily="34" charset="-122"/>
                <a:cs typeface="Calibri" pitchFamily="34" charset="-120"/>
              </a:rPr>
              <a:t>bytes </a:t>
            </a:r>
            <a:r>
              <a:rPr lang="en-US" sz="1300" dirty="0">
                <a:solidFill>
                  <a:srgbClr val="F0F6FC"/>
                </a:solidFill>
                <a:latin typeface="Calibri" pitchFamily="34" charset="0"/>
                <a:ea typeface="Calibri" pitchFamily="34" charset="-122"/>
                <a:cs typeface="Calibri" pitchFamily="34" charset="-120"/>
              </a:rPr>
              <a:t>stored on a storage device. The computer does not inherently know if those bytes represent a photo, a song, or source code — </a:t>
            </a:r>
            <a:r>
              <a:rPr lang="en-US" sz="1300" dirty="0">
                <a:solidFill>
                  <a:srgbClr val="8B949E"/>
                </a:solidFill>
                <a:latin typeface="Calibri" pitchFamily="34" charset="0"/>
                <a:ea typeface="Calibri" pitchFamily="34" charset="-122"/>
                <a:cs typeface="Calibri" pitchFamily="34" charset="-120"/>
              </a:rPr>
              <a:t>the file extension and metadata tell software how to interpret them.</a:t>
            </a:r>
            <a:endParaRPr lang="en-US" sz="1300" dirty="0"/>
          </a:p>
        </p:txBody>
      </p:sp>
      <p:sp>
        <p:nvSpPr>
          <p:cNvPr id="9" name="Shape 7"/>
          <p:cNvSpPr/>
          <p:nvPr/>
        </p:nvSpPr>
        <p:spPr>
          <a:xfrm>
            <a:off x="411480" y="2212848"/>
            <a:ext cx="1993392" cy="214884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10" name="Shape 8"/>
          <p:cNvSpPr/>
          <p:nvPr/>
        </p:nvSpPr>
        <p:spPr>
          <a:xfrm>
            <a:off x="411480" y="2212848"/>
            <a:ext cx="1993392"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11" name="Text 9"/>
          <p:cNvSpPr/>
          <p:nvPr/>
        </p:nvSpPr>
        <p:spPr>
          <a:xfrm>
            <a:off x="521208" y="2249424"/>
            <a:ext cx="1773936" cy="256032"/>
          </a:xfrm>
          <a:prstGeom prst="rect">
            <a:avLst/>
          </a:prstGeom>
          <a:noFill/>
          <a:ln/>
        </p:spPr>
        <p:txBody>
          <a:bodyPr wrap="square" lIns="0" tIns="0" rIns="0" bIns="0" rtlCol="0" anchor="ctr"/>
          <a:lstStyle/>
          <a:p>
            <a:pPr marL="0" indent="0">
              <a:buNone/>
            </a:pPr>
            <a:r>
              <a:rPr lang="en-US" sz="1100" b="1" dirty="0">
                <a:solidFill>
                  <a:srgbClr val="3FD9C4"/>
                </a:solidFill>
                <a:latin typeface="Calibri" pitchFamily="34" charset="0"/>
                <a:ea typeface="Calibri" pitchFamily="34" charset="-122"/>
                <a:cs typeface="Calibri" pitchFamily="34" charset="-120"/>
              </a:rPr>
              <a:t>📛  Name</a:t>
            </a:r>
            <a:endParaRPr lang="en-US" sz="1100" dirty="0"/>
          </a:p>
        </p:txBody>
      </p:sp>
      <p:sp>
        <p:nvSpPr>
          <p:cNvPr id="12" name="Text 10"/>
          <p:cNvSpPr/>
          <p:nvPr/>
        </p:nvSpPr>
        <p:spPr>
          <a:xfrm>
            <a:off x="521208" y="2578608"/>
            <a:ext cx="1773936" cy="1673352"/>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Human-readable label</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e.g.  "report.pdf"</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Stored in the directory,</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not inside the file</a:t>
            </a:r>
            <a:endParaRPr lang="en-US" sz="1100" dirty="0"/>
          </a:p>
        </p:txBody>
      </p:sp>
      <p:sp>
        <p:nvSpPr>
          <p:cNvPr id="13" name="Shape 11"/>
          <p:cNvSpPr/>
          <p:nvPr/>
        </p:nvSpPr>
        <p:spPr>
          <a:xfrm>
            <a:off x="2532888" y="2212848"/>
            <a:ext cx="1993392" cy="214884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14" name="Shape 12"/>
          <p:cNvSpPr/>
          <p:nvPr/>
        </p:nvSpPr>
        <p:spPr>
          <a:xfrm>
            <a:off x="2532888" y="2212848"/>
            <a:ext cx="1993392"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15" name="Text 13"/>
          <p:cNvSpPr/>
          <p:nvPr/>
        </p:nvSpPr>
        <p:spPr>
          <a:xfrm>
            <a:off x="2642616" y="2249424"/>
            <a:ext cx="1773936" cy="256032"/>
          </a:xfrm>
          <a:prstGeom prst="rect">
            <a:avLst/>
          </a:prstGeom>
          <a:noFill/>
          <a:ln/>
        </p:spPr>
        <p:txBody>
          <a:bodyPr wrap="square" lIns="0" tIns="0" rIns="0" bIns="0" rtlCol="0" anchor="ctr"/>
          <a:lstStyle/>
          <a:p>
            <a:pPr marL="0" indent="0">
              <a:buNone/>
            </a:pPr>
            <a:r>
              <a:rPr lang="en-US" sz="1100" b="1" dirty="0">
                <a:solidFill>
                  <a:srgbClr val="58A6FF"/>
                </a:solidFill>
                <a:latin typeface="Calibri" pitchFamily="34" charset="0"/>
                <a:ea typeface="Calibri" pitchFamily="34" charset="-122"/>
                <a:cs typeface="Calibri" pitchFamily="34" charset="-120"/>
              </a:rPr>
              <a:t>📍  Location</a:t>
            </a:r>
            <a:endParaRPr lang="en-US" sz="1100" dirty="0"/>
          </a:p>
        </p:txBody>
      </p:sp>
      <p:sp>
        <p:nvSpPr>
          <p:cNvPr id="16" name="Text 14"/>
          <p:cNvSpPr/>
          <p:nvPr/>
        </p:nvSpPr>
        <p:spPr>
          <a:xfrm>
            <a:off x="2642616" y="2578608"/>
            <a:ext cx="1773936" cy="1673352"/>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Path on the file system</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e.g.  C:\Users\Ahmed\</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Documents\report.pdf</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Points to data on disk</a:t>
            </a:r>
            <a:endParaRPr lang="en-US" sz="1100" dirty="0"/>
          </a:p>
        </p:txBody>
      </p:sp>
      <p:sp>
        <p:nvSpPr>
          <p:cNvPr id="17" name="Shape 15"/>
          <p:cNvSpPr/>
          <p:nvPr/>
        </p:nvSpPr>
        <p:spPr>
          <a:xfrm>
            <a:off x="4654296" y="2212848"/>
            <a:ext cx="1993392" cy="2148840"/>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18" name="Shape 16"/>
          <p:cNvSpPr/>
          <p:nvPr/>
        </p:nvSpPr>
        <p:spPr>
          <a:xfrm>
            <a:off x="4654296" y="2212848"/>
            <a:ext cx="1993392"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19" name="Text 17"/>
          <p:cNvSpPr/>
          <p:nvPr/>
        </p:nvSpPr>
        <p:spPr>
          <a:xfrm>
            <a:off x="4764024" y="2249424"/>
            <a:ext cx="1773936" cy="256032"/>
          </a:xfrm>
          <a:prstGeom prst="rect">
            <a:avLst/>
          </a:prstGeom>
          <a:noFill/>
          <a:ln/>
        </p:spPr>
        <p:txBody>
          <a:bodyPr wrap="square" lIns="0" tIns="0" rIns="0" bIns="0" rtlCol="0" anchor="ctr"/>
          <a:lstStyle/>
          <a:p>
            <a:pPr marL="0" indent="0">
              <a:buNone/>
            </a:pPr>
            <a:r>
              <a:rPr lang="en-US" sz="1100" b="1" dirty="0">
                <a:solidFill>
                  <a:srgbClr val="BC8CFF"/>
                </a:solidFill>
                <a:latin typeface="Calibri" pitchFamily="34" charset="0"/>
                <a:ea typeface="Calibri" pitchFamily="34" charset="-122"/>
                <a:cs typeface="Calibri" pitchFamily="34" charset="-120"/>
              </a:rPr>
              <a:t>📦  Content</a:t>
            </a:r>
            <a:endParaRPr lang="en-US" sz="1100" dirty="0"/>
          </a:p>
        </p:txBody>
      </p:sp>
      <p:sp>
        <p:nvSpPr>
          <p:cNvPr id="20" name="Text 18"/>
          <p:cNvSpPr/>
          <p:nvPr/>
        </p:nvSpPr>
        <p:spPr>
          <a:xfrm>
            <a:off x="4764024" y="2578608"/>
            <a:ext cx="1773936" cy="1673352"/>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The actual bytes of data</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Text → ASCII/UTF-8 codes</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Image → pixel colour values</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Binary → raw binary data</a:t>
            </a:r>
            <a:endParaRPr lang="en-US" sz="1100" dirty="0"/>
          </a:p>
        </p:txBody>
      </p:sp>
      <p:sp>
        <p:nvSpPr>
          <p:cNvPr id="21" name="Shape 19"/>
          <p:cNvSpPr/>
          <p:nvPr/>
        </p:nvSpPr>
        <p:spPr>
          <a:xfrm>
            <a:off x="6775704" y="2212848"/>
            <a:ext cx="1993392" cy="2148840"/>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22" name="Shape 20"/>
          <p:cNvSpPr/>
          <p:nvPr/>
        </p:nvSpPr>
        <p:spPr>
          <a:xfrm>
            <a:off x="6775704" y="2212848"/>
            <a:ext cx="1993392"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23" name="Text 21"/>
          <p:cNvSpPr/>
          <p:nvPr/>
        </p:nvSpPr>
        <p:spPr>
          <a:xfrm>
            <a:off x="6885432" y="2249424"/>
            <a:ext cx="1773936" cy="256032"/>
          </a:xfrm>
          <a:prstGeom prst="rect">
            <a:avLst/>
          </a:prstGeom>
          <a:noFill/>
          <a:ln/>
        </p:spPr>
        <p:txBody>
          <a:bodyPr wrap="square" lIns="0" tIns="0" rIns="0" bIns="0" rtlCol="0" anchor="ctr"/>
          <a:lstStyle/>
          <a:p>
            <a:pPr marL="0" indent="0">
              <a:buNone/>
            </a:pPr>
            <a:r>
              <a:rPr lang="en-US" sz="1100" b="1" dirty="0">
                <a:solidFill>
                  <a:srgbClr val="FFA657"/>
                </a:solidFill>
                <a:latin typeface="Calibri" pitchFamily="34" charset="0"/>
                <a:ea typeface="Calibri" pitchFamily="34" charset="-122"/>
                <a:cs typeface="Calibri" pitchFamily="34" charset="-120"/>
              </a:rPr>
              <a:t>🏷️  Metadata</a:t>
            </a:r>
            <a:endParaRPr lang="en-US" sz="1100" dirty="0"/>
          </a:p>
        </p:txBody>
      </p:sp>
      <p:sp>
        <p:nvSpPr>
          <p:cNvPr id="24" name="Text 22"/>
          <p:cNvSpPr/>
          <p:nvPr/>
        </p:nvSpPr>
        <p:spPr>
          <a:xfrm>
            <a:off x="6885432" y="2578608"/>
            <a:ext cx="1773936" cy="1673352"/>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Data about the file:</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 Size in bytes</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 Created / Modified dates</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 Owner &amp; permissions</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 Type / Extension</a:t>
            </a:r>
            <a:endParaRPr lang="en-US" sz="1100" dirty="0"/>
          </a:p>
        </p:txBody>
      </p:sp>
      <p:sp>
        <p:nvSpPr>
          <p:cNvPr id="25" name="Shape 23"/>
          <p:cNvSpPr/>
          <p:nvPr/>
        </p:nvSpPr>
        <p:spPr>
          <a:xfrm>
            <a:off x="365760" y="4572000"/>
            <a:ext cx="8412480" cy="384048"/>
          </a:xfrm>
          <a:prstGeom prst="rect">
            <a:avLst/>
          </a:prstGeom>
          <a:solidFill>
            <a:srgbClr val="0A1020"/>
          </a:solidFill>
          <a:ln w="12700">
            <a:solidFill>
              <a:srgbClr val="E3B341"/>
            </a:solidFill>
            <a:prstDash val="solid"/>
          </a:ln>
        </p:spPr>
        <p:txBody>
          <a:bodyPr/>
          <a:lstStyle/>
          <a:p>
            <a:endParaRPr lang="en-US"/>
          </a:p>
        </p:txBody>
      </p:sp>
      <p:sp>
        <p:nvSpPr>
          <p:cNvPr id="26" name="Text 24"/>
          <p:cNvSpPr/>
          <p:nvPr/>
        </p:nvSpPr>
        <p:spPr>
          <a:xfrm>
            <a:off x="502920" y="4599432"/>
            <a:ext cx="8229600" cy="310896"/>
          </a:xfrm>
          <a:prstGeom prst="rect">
            <a:avLst/>
          </a:prstGeom>
          <a:noFill/>
          <a:ln/>
        </p:spPr>
        <p:txBody>
          <a:bodyPr wrap="square" lIns="0" tIns="0" rIns="0" bIns="0" rtlCol="0" anchor="ctr"/>
          <a:lstStyle/>
          <a:p>
            <a:pPr marL="0" indent="0">
              <a:buNone/>
            </a:pPr>
            <a:r>
              <a:rPr lang="en-US" sz="1100" b="1" dirty="0">
                <a:solidFill>
                  <a:srgbClr val="E3B341"/>
                </a:solidFill>
                <a:latin typeface="Calibri" pitchFamily="34" charset="0"/>
                <a:ea typeface="Calibri" pitchFamily="34" charset="-122"/>
                <a:cs typeface="Calibri" pitchFamily="34" charset="-120"/>
              </a:rPr>
              <a:t>Key insight:  </a:t>
            </a:r>
            <a:r>
              <a:rPr lang="en-US" sz="1100" dirty="0">
                <a:solidFill>
                  <a:srgbClr val="F0F6FC"/>
                </a:solidFill>
                <a:latin typeface="Calibri" pitchFamily="34" charset="0"/>
                <a:ea typeface="Calibri" pitchFamily="34" charset="-122"/>
                <a:cs typeface="Calibri" pitchFamily="34" charset="-120"/>
              </a:rPr>
              <a:t>Delete a file → the content bytes stay on disk until overwritten. Only the directory entry (name + pointer) is removed. This is why file recovery software works.</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REPRESENTATION</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Files Are Just Bytes</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Every type of file — text, image, video, code — is stored as binary data</a:t>
            </a:r>
            <a:endParaRPr lang="en-US" sz="1300" dirty="0"/>
          </a:p>
        </p:txBody>
      </p:sp>
      <p:sp>
        <p:nvSpPr>
          <p:cNvPr id="7" name="Shape 5"/>
          <p:cNvSpPr/>
          <p:nvPr/>
        </p:nvSpPr>
        <p:spPr>
          <a:xfrm>
            <a:off x="411480" y="1170432"/>
            <a:ext cx="3931920" cy="324612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3931920"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9" name="Text 7"/>
          <p:cNvSpPr/>
          <p:nvPr/>
        </p:nvSpPr>
        <p:spPr>
          <a:xfrm>
            <a:off x="548640" y="1216152"/>
            <a:ext cx="3657600" cy="256032"/>
          </a:xfrm>
          <a:prstGeom prst="rect">
            <a:avLst/>
          </a:prstGeom>
          <a:noFill/>
          <a:ln/>
        </p:spPr>
        <p:txBody>
          <a:bodyPr wrap="square" lIns="0" tIns="0" rIns="0" bIns="0" rtlCol="0" anchor="ctr"/>
          <a:lstStyle/>
          <a:p>
            <a:pPr marL="0" indent="0">
              <a:buNone/>
            </a:pPr>
            <a:r>
              <a:rPr lang="en-US" sz="1100" b="1" dirty="0">
                <a:solidFill>
                  <a:srgbClr val="58A6FF"/>
                </a:solidFill>
                <a:latin typeface="Calibri" pitchFamily="34" charset="0"/>
                <a:ea typeface="Calibri" pitchFamily="34" charset="-122"/>
                <a:cs typeface="Calibri" pitchFamily="34" charset="-120"/>
              </a:rPr>
              <a:t>🔢  From Bits to Files</a:t>
            </a:r>
            <a:endParaRPr lang="en-US" sz="1100" dirty="0"/>
          </a:p>
        </p:txBody>
      </p:sp>
      <p:sp>
        <p:nvSpPr>
          <p:cNvPr id="10" name="Shape 8"/>
          <p:cNvSpPr/>
          <p:nvPr/>
        </p:nvSpPr>
        <p:spPr>
          <a:xfrm>
            <a:off x="548640" y="1600200"/>
            <a:ext cx="777240" cy="329184"/>
          </a:xfrm>
          <a:prstGeom prst="rect">
            <a:avLst/>
          </a:prstGeom>
          <a:solidFill>
            <a:srgbClr val="3FD9C4">
              <a:alpha val="30000"/>
            </a:srgbClr>
          </a:solidFill>
          <a:ln w="12700">
            <a:solidFill>
              <a:srgbClr val="3FD9C4"/>
            </a:solidFill>
            <a:prstDash val="solid"/>
          </a:ln>
        </p:spPr>
        <p:txBody>
          <a:bodyPr/>
          <a:lstStyle/>
          <a:p>
            <a:endParaRPr lang="en-US"/>
          </a:p>
        </p:txBody>
      </p:sp>
      <p:sp>
        <p:nvSpPr>
          <p:cNvPr id="11" name="Text 9"/>
          <p:cNvSpPr/>
          <p:nvPr/>
        </p:nvSpPr>
        <p:spPr>
          <a:xfrm>
            <a:off x="548640" y="1600200"/>
            <a:ext cx="777240" cy="329184"/>
          </a:xfrm>
          <a:prstGeom prst="rect">
            <a:avLst/>
          </a:prstGeom>
          <a:noFill/>
          <a:ln/>
        </p:spPr>
        <p:txBody>
          <a:bodyPr wrap="square" lIns="0" tIns="0" rIns="0" bIns="0" rtlCol="0" anchor="ctr"/>
          <a:lstStyle/>
          <a:p>
            <a:pPr marL="0" indent="0" algn="ctr">
              <a:buNone/>
            </a:pPr>
            <a:r>
              <a:rPr lang="en-US" sz="950" b="1" dirty="0">
                <a:solidFill>
                  <a:srgbClr val="3FD9C4"/>
                </a:solidFill>
                <a:latin typeface="Consolas" pitchFamily="34" charset="0"/>
                <a:ea typeface="Consolas" pitchFamily="34" charset="-122"/>
                <a:cs typeface="Consolas" pitchFamily="34" charset="-120"/>
              </a:rPr>
              <a:t>Bit</a:t>
            </a:r>
            <a:endParaRPr lang="en-US" sz="950" dirty="0"/>
          </a:p>
        </p:txBody>
      </p:sp>
      <p:sp>
        <p:nvSpPr>
          <p:cNvPr id="12" name="Text 10"/>
          <p:cNvSpPr/>
          <p:nvPr/>
        </p:nvSpPr>
        <p:spPr>
          <a:xfrm>
            <a:off x="1389888" y="16184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0 or 1</a:t>
            </a:r>
            <a:endParaRPr lang="en-US" sz="1100" dirty="0"/>
          </a:p>
        </p:txBody>
      </p:sp>
      <p:sp>
        <p:nvSpPr>
          <p:cNvPr id="13" name="Text 11"/>
          <p:cNvSpPr/>
          <p:nvPr/>
        </p:nvSpPr>
        <p:spPr>
          <a:xfrm>
            <a:off x="1389888" y="18013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Smallest unit of data</a:t>
            </a:r>
            <a:endParaRPr lang="en-US" sz="900" dirty="0"/>
          </a:p>
        </p:txBody>
      </p:sp>
      <p:sp>
        <p:nvSpPr>
          <p:cNvPr id="14" name="Shape 12"/>
          <p:cNvSpPr/>
          <p:nvPr/>
        </p:nvSpPr>
        <p:spPr>
          <a:xfrm>
            <a:off x="548640" y="2057400"/>
            <a:ext cx="777240" cy="329184"/>
          </a:xfrm>
          <a:prstGeom prst="rect">
            <a:avLst/>
          </a:prstGeom>
          <a:solidFill>
            <a:srgbClr val="58A6FF">
              <a:alpha val="30000"/>
            </a:srgbClr>
          </a:solidFill>
          <a:ln w="12700">
            <a:solidFill>
              <a:srgbClr val="58A6FF"/>
            </a:solidFill>
            <a:prstDash val="solid"/>
          </a:ln>
        </p:spPr>
        <p:txBody>
          <a:bodyPr/>
          <a:lstStyle/>
          <a:p>
            <a:endParaRPr lang="en-US"/>
          </a:p>
        </p:txBody>
      </p:sp>
      <p:sp>
        <p:nvSpPr>
          <p:cNvPr id="15" name="Text 13"/>
          <p:cNvSpPr/>
          <p:nvPr/>
        </p:nvSpPr>
        <p:spPr>
          <a:xfrm>
            <a:off x="548640" y="2057400"/>
            <a:ext cx="777240" cy="329184"/>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Nibble</a:t>
            </a:r>
            <a:endParaRPr lang="en-US" sz="950" dirty="0"/>
          </a:p>
        </p:txBody>
      </p:sp>
      <p:sp>
        <p:nvSpPr>
          <p:cNvPr id="16" name="Text 14"/>
          <p:cNvSpPr/>
          <p:nvPr/>
        </p:nvSpPr>
        <p:spPr>
          <a:xfrm>
            <a:off x="1389888" y="20756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4 bits</a:t>
            </a:r>
            <a:endParaRPr lang="en-US" sz="1100" dirty="0"/>
          </a:p>
        </p:txBody>
      </p:sp>
      <p:sp>
        <p:nvSpPr>
          <p:cNvPr id="17" name="Text 15"/>
          <p:cNvSpPr/>
          <p:nvPr/>
        </p:nvSpPr>
        <p:spPr>
          <a:xfrm>
            <a:off x="1389888" y="22585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Half a byte  (e.g. 1010)</a:t>
            </a:r>
            <a:endParaRPr lang="en-US" sz="900" dirty="0"/>
          </a:p>
        </p:txBody>
      </p:sp>
      <p:sp>
        <p:nvSpPr>
          <p:cNvPr id="18" name="Shape 16"/>
          <p:cNvSpPr/>
          <p:nvPr/>
        </p:nvSpPr>
        <p:spPr>
          <a:xfrm>
            <a:off x="548640" y="2514600"/>
            <a:ext cx="777240" cy="329184"/>
          </a:xfrm>
          <a:prstGeom prst="rect">
            <a:avLst/>
          </a:prstGeom>
          <a:solidFill>
            <a:srgbClr val="BC8CFF">
              <a:alpha val="30000"/>
            </a:srgbClr>
          </a:solidFill>
          <a:ln w="12700">
            <a:solidFill>
              <a:srgbClr val="BC8CFF"/>
            </a:solidFill>
            <a:prstDash val="solid"/>
          </a:ln>
        </p:spPr>
        <p:txBody>
          <a:bodyPr/>
          <a:lstStyle/>
          <a:p>
            <a:endParaRPr lang="en-US"/>
          </a:p>
        </p:txBody>
      </p:sp>
      <p:sp>
        <p:nvSpPr>
          <p:cNvPr id="19" name="Text 17"/>
          <p:cNvSpPr/>
          <p:nvPr/>
        </p:nvSpPr>
        <p:spPr>
          <a:xfrm>
            <a:off x="548640" y="2514600"/>
            <a:ext cx="777240" cy="329184"/>
          </a:xfrm>
          <a:prstGeom prst="rect">
            <a:avLst/>
          </a:prstGeom>
          <a:noFill/>
          <a:ln/>
        </p:spPr>
        <p:txBody>
          <a:bodyPr wrap="square" lIns="0" tIns="0" rIns="0" bIns="0" rtlCol="0" anchor="ctr"/>
          <a:lstStyle/>
          <a:p>
            <a:pPr marL="0" indent="0" algn="ctr">
              <a:buNone/>
            </a:pPr>
            <a:r>
              <a:rPr lang="en-US" sz="950" b="1" dirty="0">
                <a:solidFill>
                  <a:srgbClr val="BC8CFF"/>
                </a:solidFill>
                <a:latin typeface="Consolas" pitchFamily="34" charset="0"/>
                <a:ea typeface="Consolas" pitchFamily="34" charset="-122"/>
                <a:cs typeface="Consolas" pitchFamily="34" charset="-120"/>
              </a:rPr>
              <a:t>Byte</a:t>
            </a:r>
            <a:endParaRPr lang="en-US" sz="950" dirty="0"/>
          </a:p>
        </p:txBody>
      </p:sp>
      <p:sp>
        <p:nvSpPr>
          <p:cNvPr id="20" name="Text 18"/>
          <p:cNvSpPr/>
          <p:nvPr/>
        </p:nvSpPr>
        <p:spPr>
          <a:xfrm>
            <a:off x="1389888" y="25328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8 bits  = 1 char</a:t>
            </a:r>
            <a:endParaRPr lang="en-US" sz="1100" dirty="0"/>
          </a:p>
        </p:txBody>
      </p:sp>
      <p:sp>
        <p:nvSpPr>
          <p:cNvPr id="21" name="Text 19"/>
          <p:cNvSpPr/>
          <p:nvPr/>
        </p:nvSpPr>
        <p:spPr>
          <a:xfrm>
            <a:off x="1389888" y="27157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Stores one ASCII character</a:t>
            </a:r>
            <a:endParaRPr lang="en-US" sz="900" dirty="0"/>
          </a:p>
        </p:txBody>
      </p:sp>
      <p:sp>
        <p:nvSpPr>
          <p:cNvPr id="22" name="Shape 20"/>
          <p:cNvSpPr/>
          <p:nvPr/>
        </p:nvSpPr>
        <p:spPr>
          <a:xfrm>
            <a:off x="548640" y="2971800"/>
            <a:ext cx="777240" cy="329184"/>
          </a:xfrm>
          <a:prstGeom prst="rect">
            <a:avLst/>
          </a:prstGeom>
          <a:solidFill>
            <a:srgbClr val="FFA657">
              <a:alpha val="30000"/>
            </a:srgbClr>
          </a:solidFill>
          <a:ln w="12700">
            <a:solidFill>
              <a:srgbClr val="FFA657"/>
            </a:solidFill>
            <a:prstDash val="solid"/>
          </a:ln>
        </p:spPr>
        <p:txBody>
          <a:bodyPr/>
          <a:lstStyle/>
          <a:p>
            <a:endParaRPr lang="en-US"/>
          </a:p>
        </p:txBody>
      </p:sp>
      <p:sp>
        <p:nvSpPr>
          <p:cNvPr id="23" name="Text 21"/>
          <p:cNvSpPr/>
          <p:nvPr/>
        </p:nvSpPr>
        <p:spPr>
          <a:xfrm>
            <a:off x="548640" y="2971800"/>
            <a:ext cx="777240" cy="329184"/>
          </a:xfrm>
          <a:prstGeom prst="rect">
            <a:avLst/>
          </a:prstGeom>
          <a:noFill/>
          <a:ln/>
        </p:spPr>
        <p:txBody>
          <a:bodyPr wrap="square" lIns="0" tIns="0" rIns="0" bIns="0" rtlCol="0" anchor="ctr"/>
          <a:lstStyle/>
          <a:p>
            <a:pPr marL="0" indent="0" algn="ctr">
              <a:buNone/>
            </a:pPr>
            <a:r>
              <a:rPr lang="en-US" sz="950" b="1" dirty="0">
                <a:solidFill>
                  <a:srgbClr val="FFA657"/>
                </a:solidFill>
                <a:latin typeface="Consolas" pitchFamily="34" charset="0"/>
                <a:ea typeface="Consolas" pitchFamily="34" charset="-122"/>
                <a:cs typeface="Consolas" pitchFamily="34" charset="-120"/>
              </a:rPr>
              <a:t>Kilobyte</a:t>
            </a:r>
            <a:endParaRPr lang="en-US" sz="950" dirty="0"/>
          </a:p>
        </p:txBody>
      </p:sp>
      <p:sp>
        <p:nvSpPr>
          <p:cNvPr id="24" name="Text 22"/>
          <p:cNvSpPr/>
          <p:nvPr/>
        </p:nvSpPr>
        <p:spPr>
          <a:xfrm>
            <a:off x="1389888" y="29900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1,024 bytes</a:t>
            </a:r>
            <a:endParaRPr lang="en-US" sz="1100" dirty="0"/>
          </a:p>
        </p:txBody>
      </p:sp>
      <p:sp>
        <p:nvSpPr>
          <p:cNvPr id="25" name="Text 23"/>
          <p:cNvSpPr/>
          <p:nvPr/>
        </p:nvSpPr>
        <p:spPr>
          <a:xfrm>
            <a:off x="1389888" y="31729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~500 words of plain text</a:t>
            </a:r>
            <a:endParaRPr lang="en-US" sz="900" dirty="0"/>
          </a:p>
        </p:txBody>
      </p:sp>
      <p:sp>
        <p:nvSpPr>
          <p:cNvPr id="26" name="Shape 24"/>
          <p:cNvSpPr/>
          <p:nvPr/>
        </p:nvSpPr>
        <p:spPr>
          <a:xfrm>
            <a:off x="548640" y="3429000"/>
            <a:ext cx="777240" cy="329184"/>
          </a:xfrm>
          <a:prstGeom prst="rect">
            <a:avLst/>
          </a:prstGeom>
          <a:solidFill>
            <a:srgbClr val="E3B341">
              <a:alpha val="30000"/>
            </a:srgbClr>
          </a:solidFill>
          <a:ln w="12700">
            <a:solidFill>
              <a:srgbClr val="E3B341"/>
            </a:solidFill>
            <a:prstDash val="solid"/>
          </a:ln>
        </p:spPr>
        <p:txBody>
          <a:bodyPr/>
          <a:lstStyle/>
          <a:p>
            <a:endParaRPr lang="en-US"/>
          </a:p>
        </p:txBody>
      </p:sp>
      <p:sp>
        <p:nvSpPr>
          <p:cNvPr id="27" name="Text 25"/>
          <p:cNvSpPr/>
          <p:nvPr/>
        </p:nvSpPr>
        <p:spPr>
          <a:xfrm>
            <a:off x="548640" y="3429000"/>
            <a:ext cx="777240" cy="329184"/>
          </a:xfrm>
          <a:prstGeom prst="rect">
            <a:avLst/>
          </a:prstGeom>
          <a:noFill/>
          <a:ln/>
        </p:spPr>
        <p:txBody>
          <a:bodyPr wrap="square" lIns="0" tIns="0" rIns="0" bIns="0" rtlCol="0" anchor="ctr"/>
          <a:lstStyle/>
          <a:p>
            <a:pPr marL="0" indent="0" algn="ctr">
              <a:buNone/>
            </a:pPr>
            <a:r>
              <a:rPr lang="en-US" sz="950" b="1" dirty="0">
                <a:solidFill>
                  <a:srgbClr val="E3B341"/>
                </a:solidFill>
                <a:latin typeface="Consolas" pitchFamily="34" charset="0"/>
                <a:ea typeface="Consolas" pitchFamily="34" charset="-122"/>
                <a:cs typeface="Consolas" pitchFamily="34" charset="-120"/>
              </a:rPr>
              <a:t>Megabyte</a:t>
            </a:r>
            <a:endParaRPr lang="en-US" sz="950" dirty="0"/>
          </a:p>
        </p:txBody>
      </p:sp>
      <p:sp>
        <p:nvSpPr>
          <p:cNvPr id="28" name="Text 26"/>
          <p:cNvSpPr/>
          <p:nvPr/>
        </p:nvSpPr>
        <p:spPr>
          <a:xfrm>
            <a:off x="1389888" y="34472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1,024 KB</a:t>
            </a:r>
            <a:endParaRPr lang="en-US" sz="1100" dirty="0"/>
          </a:p>
        </p:txBody>
      </p:sp>
      <p:sp>
        <p:nvSpPr>
          <p:cNvPr id="29" name="Text 27"/>
          <p:cNvSpPr/>
          <p:nvPr/>
        </p:nvSpPr>
        <p:spPr>
          <a:xfrm>
            <a:off x="1389888" y="36301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~1 minute of MP3 audio</a:t>
            </a:r>
            <a:endParaRPr lang="en-US" sz="900" dirty="0"/>
          </a:p>
        </p:txBody>
      </p:sp>
      <p:sp>
        <p:nvSpPr>
          <p:cNvPr id="30" name="Shape 28"/>
          <p:cNvSpPr/>
          <p:nvPr/>
        </p:nvSpPr>
        <p:spPr>
          <a:xfrm>
            <a:off x="548640" y="3886200"/>
            <a:ext cx="777240" cy="329184"/>
          </a:xfrm>
          <a:prstGeom prst="rect">
            <a:avLst/>
          </a:prstGeom>
          <a:solidFill>
            <a:srgbClr val="3FB950">
              <a:alpha val="30000"/>
            </a:srgbClr>
          </a:solidFill>
          <a:ln w="12700">
            <a:solidFill>
              <a:srgbClr val="3FB950"/>
            </a:solidFill>
            <a:prstDash val="solid"/>
          </a:ln>
        </p:spPr>
        <p:txBody>
          <a:bodyPr/>
          <a:lstStyle/>
          <a:p>
            <a:endParaRPr lang="en-US"/>
          </a:p>
        </p:txBody>
      </p:sp>
      <p:sp>
        <p:nvSpPr>
          <p:cNvPr id="31" name="Text 29"/>
          <p:cNvSpPr/>
          <p:nvPr/>
        </p:nvSpPr>
        <p:spPr>
          <a:xfrm>
            <a:off x="548640" y="3886200"/>
            <a:ext cx="777240" cy="329184"/>
          </a:xfrm>
          <a:prstGeom prst="rect">
            <a:avLst/>
          </a:prstGeom>
          <a:noFill/>
          <a:ln/>
        </p:spPr>
        <p:txBody>
          <a:bodyPr wrap="square" lIns="0" tIns="0" rIns="0" bIns="0" rtlCol="0" anchor="ctr"/>
          <a:lstStyle/>
          <a:p>
            <a:pPr marL="0" indent="0" algn="ctr">
              <a:buNone/>
            </a:pPr>
            <a:r>
              <a:rPr lang="en-US" sz="950" b="1" dirty="0">
                <a:solidFill>
                  <a:srgbClr val="3FB950"/>
                </a:solidFill>
                <a:latin typeface="Consolas" pitchFamily="34" charset="0"/>
                <a:ea typeface="Consolas" pitchFamily="34" charset="-122"/>
                <a:cs typeface="Consolas" pitchFamily="34" charset="-120"/>
              </a:rPr>
              <a:t>Gigabyte</a:t>
            </a:r>
            <a:endParaRPr lang="en-US" sz="950" dirty="0"/>
          </a:p>
        </p:txBody>
      </p:sp>
      <p:sp>
        <p:nvSpPr>
          <p:cNvPr id="32" name="Text 30"/>
          <p:cNvSpPr/>
          <p:nvPr/>
        </p:nvSpPr>
        <p:spPr>
          <a:xfrm>
            <a:off x="1389888" y="3904488"/>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onsolas" pitchFamily="34" charset="0"/>
                <a:ea typeface="Consolas" pitchFamily="34" charset="-122"/>
                <a:cs typeface="Consolas" pitchFamily="34" charset="-120"/>
              </a:rPr>
              <a:t>1,024 MB</a:t>
            </a:r>
            <a:endParaRPr lang="en-US" sz="1100" dirty="0"/>
          </a:p>
        </p:txBody>
      </p:sp>
      <p:sp>
        <p:nvSpPr>
          <p:cNvPr id="33" name="Text 31"/>
          <p:cNvSpPr/>
          <p:nvPr/>
        </p:nvSpPr>
        <p:spPr>
          <a:xfrm>
            <a:off x="1389888" y="4087368"/>
            <a:ext cx="2651760" cy="182880"/>
          </a:xfrm>
          <a:prstGeom prst="rect">
            <a:avLst/>
          </a:prstGeom>
          <a:noFill/>
          <a:ln/>
        </p:spPr>
        <p:txBody>
          <a:bodyPr wrap="square" lIns="0" tIns="0" rIns="0" bIns="0" rtlCol="0" anchor="ctr"/>
          <a:lstStyle/>
          <a:p>
            <a:pPr marL="0" indent="0">
              <a:buNone/>
            </a:pPr>
            <a:r>
              <a:rPr lang="en-US" sz="900" dirty="0">
                <a:solidFill>
                  <a:srgbClr val="8B949E"/>
                </a:solidFill>
                <a:latin typeface="Calibri" pitchFamily="34" charset="0"/>
                <a:ea typeface="Calibri" pitchFamily="34" charset="-122"/>
                <a:cs typeface="Calibri" pitchFamily="34" charset="-120"/>
              </a:rPr>
              <a:t>~250 photos at 4 MB each</a:t>
            </a:r>
            <a:endParaRPr lang="en-US" sz="900" dirty="0"/>
          </a:p>
        </p:txBody>
      </p:sp>
      <p:sp>
        <p:nvSpPr>
          <p:cNvPr id="34" name="Shape 32"/>
          <p:cNvSpPr/>
          <p:nvPr/>
        </p:nvSpPr>
        <p:spPr>
          <a:xfrm>
            <a:off x="4480560" y="1170432"/>
            <a:ext cx="4251960" cy="1536192"/>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35" name="Shape 33"/>
          <p:cNvSpPr/>
          <p:nvPr/>
        </p:nvSpPr>
        <p:spPr>
          <a:xfrm>
            <a:off x="4480560" y="1170432"/>
            <a:ext cx="4251960"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36" name="Text 34"/>
          <p:cNvSpPr/>
          <p:nvPr/>
        </p:nvSpPr>
        <p:spPr>
          <a:xfrm>
            <a:off x="4617720" y="1216152"/>
            <a:ext cx="3977640" cy="256032"/>
          </a:xfrm>
          <a:prstGeom prst="rect">
            <a:avLst/>
          </a:prstGeom>
          <a:noFill/>
          <a:ln/>
        </p:spPr>
        <p:txBody>
          <a:bodyPr wrap="square" lIns="0" tIns="0" rIns="0" bIns="0" rtlCol="0" anchor="ctr"/>
          <a:lstStyle/>
          <a:p>
            <a:pPr marL="0" indent="0">
              <a:buNone/>
            </a:pPr>
            <a:r>
              <a:rPr lang="en-US" sz="1100" b="1" dirty="0">
                <a:solidFill>
                  <a:srgbClr val="3FD9C4"/>
                </a:solidFill>
                <a:latin typeface="Calibri" pitchFamily="34" charset="0"/>
                <a:ea typeface="Calibri" pitchFamily="34" charset="-122"/>
                <a:cs typeface="Calibri" pitchFamily="34" charset="-120"/>
              </a:rPr>
              <a:t>📄  Text Encoding  (ASCII / UTF-8)</a:t>
            </a:r>
            <a:endParaRPr lang="en-US" sz="1100" dirty="0"/>
          </a:p>
        </p:txBody>
      </p:sp>
      <p:sp>
        <p:nvSpPr>
          <p:cNvPr id="37" name="Text 35"/>
          <p:cNvSpPr/>
          <p:nvPr/>
        </p:nvSpPr>
        <p:spPr>
          <a:xfrm>
            <a:off x="4617720" y="1572768"/>
            <a:ext cx="3977640" cy="237744"/>
          </a:xfrm>
          <a:prstGeom prst="rect">
            <a:avLst/>
          </a:prstGeom>
          <a:noFill/>
          <a:ln/>
        </p:spPr>
        <p:txBody>
          <a:bodyPr wrap="square" lIns="0" tIns="0" rIns="0" bIns="0" rtlCol="0" anchor="ctr"/>
          <a:lstStyle/>
          <a:p>
            <a:pPr marL="0" indent="0">
              <a:buNone/>
            </a:pPr>
            <a:r>
              <a:rPr lang="en-US" sz="1050" dirty="0">
                <a:solidFill>
                  <a:srgbClr val="F0F6FC"/>
                </a:solidFill>
                <a:latin typeface="Consolas" pitchFamily="34" charset="0"/>
                <a:ea typeface="Consolas" pitchFamily="34" charset="-122"/>
                <a:cs typeface="Consolas" pitchFamily="34" charset="-120"/>
              </a:rPr>
              <a:t>The letter  "A"  →  decimal 65  →  binary 01000001  →  hex 0x41</a:t>
            </a:r>
            <a:endParaRPr lang="en-US" sz="1050" dirty="0"/>
          </a:p>
        </p:txBody>
      </p:sp>
      <p:sp>
        <p:nvSpPr>
          <p:cNvPr id="38" name="Text 36"/>
          <p:cNvSpPr/>
          <p:nvPr/>
        </p:nvSpPr>
        <p:spPr>
          <a:xfrm>
            <a:off x="4617720" y="1819656"/>
            <a:ext cx="3977640" cy="219456"/>
          </a:xfrm>
          <a:prstGeom prst="rect">
            <a:avLst/>
          </a:prstGeom>
          <a:noFill/>
          <a:ln/>
        </p:spPr>
        <p:txBody>
          <a:bodyPr wrap="square" lIns="0" tIns="0" rIns="0" bIns="0" rtlCol="0" anchor="ctr"/>
          <a:lstStyle/>
          <a:p>
            <a:pPr marL="0" indent="0">
              <a:buNone/>
            </a:pPr>
            <a:r>
              <a:rPr lang="en-US" sz="1050" dirty="0">
                <a:solidFill>
                  <a:srgbClr val="8B949E"/>
                </a:solidFill>
                <a:latin typeface="Consolas" pitchFamily="34" charset="0"/>
                <a:ea typeface="Consolas" pitchFamily="34" charset="-122"/>
                <a:cs typeface="Consolas" pitchFamily="34" charset="-120"/>
              </a:rPr>
              <a:t>The word  "Hi"  →  48 69  (two bytes, one per character)</a:t>
            </a:r>
            <a:endParaRPr lang="en-US" sz="1050" dirty="0"/>
          </a:p>
        </p:txBody>
      </p:sp>
      <p:sp>
        <p:nvSpPr>
          <p:cNvPr id="39" name="Shape 37"/>
          <p:cNvSpPr/>
          <p:nvPr/>
        </p:nvSpPr>
        <p:spPr>
          <a:xfrm>
            <a:off x="4617720" y="2139696"/>
            <a:ext cx="457200" cy="274320"/>
          </a:xfrm>
          <a:prstGeom prst="rect">
            <a:avLst/>
          </a:prstGeom>
          <a:solidFill>
            <a:srgbClr val="3FD9C4">
              <a:alpha val="22000"/>
            </a:srgbClr>
          </a:solidFill>
          <a:ln w="12700">
            <a:solidFill>
              <a:srgbClr val="3FD9C4"/>
            </a:solidFill>
            <a:prstDash val="solid"/>
          </a:ln>
        </p:spPr>
        <p:txBody>
          <a:bodyPr/>
          <a:lstStyle/>
          <a:p>
            <a:endParaRPr lang="en-US"/>
          </a:p>
        </p:txBody>
      </p:sp>
      <p:sp>
        <p:nvSpPr>
          <p:cNvPr id="40" name="Text 38"/>
          <p:cNvSpPr/>
          <p:nvPr/>
        </p:nvSpPr>
        <p:spPr>
          <a:xfrm>
            <a:off x="4617720" y="2139696"/>
            <a:ext cx="457200" cy="274320"/>
          </a:xfrm>
          <a:prstGeom prst="rect">
            <a:avLst/>
          </a:prstGeom>
          <a:noFill/>
          <a:ln/>
        </p:spPr>
        <p:txBody>
          <a:bodyPr wrap="square" lIns="0" tIns="0" rIns="0" bIns="0" rtlCol="0" anchor="ctr"/>
          <a:lstStyle/>
          <a:p>
            <a:pPr marL="0" indent="0" algn="ctr">
              <a:buNone/>
            </a:pPr>
            <a:r>
              <a:rPr lang="en-US" sz="950" b="1" dirty="0">
                <a:solidFill>
                  <a:srgbClr val="3FD9C4"/>
                </a:solidFill>
                <a:latin typeface="Consolas" pitchFamily="34" charset="0"/>
                <a:ea typeface="Consolas" pitchFamily="34" charset="-122"/>
                <a:cs typeface="Consolas" pitchFamily="34" charset="-120"/>
              </a:rPr>
              <a:t>48</a:t>
            </a:r>
            <a:endParaRPr lang="en-US" sz="950" dirty="0"/>
          </a:p>
        </p:txBody>
      </p:sp>
      <p:sp>
        <p:nvSpPr>
          <p:cNvPr id="41" name="Shape 39"/>
          <p:cNvSpPr/>
          <p:nvPr/>
        </p:nvSpPr>
        <p:spPr>
          <a:xfrm>
            <a:off x="5148072" y="2139696"/>
            <a:ext cx="457200" cy="274320"/>
          </a:xfrm>
          <a:prstGeom prst="rect">
            <a:avLst/>
          </a:prstGeom>
          <a:solidFill>
            <a:srgbClr val="3FD9C4">
              <a:alpha val="22000"/>
            </a:srgbClr>
          </a:solidFill>
          <a:ln w="12700">
            <a:solidFill>
              <a:srgbClr val="3FD9C4"/>
            </a:solidFill>
            <a:prstDash val="solid"/>
          </a:ln>
        </p:spPr>
        <p:txBody>
          <a:bodyPr/>
          <a:lstStyle/>
          <a:p>
            <a:endParaRPr lang="en-US"/>
          </a:p>
        </p:txBody>
      </p:sp>
      <p:sp>
        <p:nvSpPr>
          <p:cNvPr id="42" name="Text 40"/>
          <p:cNvSpPr/>
          <p:nvPr/>
        </p:nvSpPr>
        <p:spPr>
          <a:xfrm>
            <a:off x="5148072" y="2139696"/>
            <a:ext cx="457200" cy="274320"/>
          </a:xfrm>
          <a:prstGeom prst="rect">
            <a:avLst/>
          </a:prstGeom>
          <a:noFill/>
          <a:ln/>
        </p:spPr>
        <p:txBody>
          <a:bodyPr wrap="square" lIns="0" tIns="0" rIns="0" bIns="0" rtlCol="0" anchor="ctr"/>
          <a:lstStyle/>
          <a:p>
            <a:pPr marL="0" indent="0" algn="ctr">
              <a:buNone/>
            </a:pPr>
            <a:r>
              <a:rPr lang="en-US" sz="950" b="1" dirty="0">
                <a:solidFill>
                  <a:srgbClr val="3FD9C4"/>
                </a:solidFill>
                <a:latin typeface="Consolas" pitchFamily="34" charset="0"/>
                <a:ea typeface="Consolas" pitchFamily="34" charset="-122"/>
                <a:cs typeface="Consolas" pitchFamily="34" charset="-120"/>
              </a:rPr>
              <a:t>69</a:t>
            </a:r>
            <a:endParaRPr lang="en-US" sz="950" dirty="0"/>
          </a:p>
        </p:txBody>
      </p:sp>
      <p:sp>
        <p:nvSpPr>
          <p:cNvPr id="43" name="Shape 41"/>
          <p:cNvSpPr/>
          <p:nvPr/>
        </p:nvSpPr>
        <p:spPr>
          <a:xfrm>
            <a:off x="5678424"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44" name="Text 42"/>
          <p:cNvSpPr/>
          <p:nvPr/>
        </p:nvSpPr>
        <p:spPr>
          <a:xfrm>
            <a:off x="5678424"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20</a:t>
            </a:r>
            <a:endParaRPr lang="en-US" sz="950" dirty="0"/>
          </a:p>
        </p:txBody>
      </p:sp>
      <p:sp>
        <p:nvSpPr>
          <p:cNvPr id="45" name="Shape 43"/>
          <p:cNvSpPr/>
          <p:nvPr/>
        </p:nvSpPr>
        <p:spPr>
          <a:xfrm>
            <a:off x="6208776"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46" name="Text 44"/>
          <p:cNvSpPr/>
          <p:nvPr/>
        </p:nvSpPr>
        <p:spPr>
          <a:xfrm>
            <a:off x="6208776"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77</a:t>
            </a:r>
            <a:endParaRPr lang="en-US" sz="950" dirty="0"/>
          </a:p>
        </p:txBody>
      </p:sp>
      <p:sp>
        <p:nvSpPr>
          <p:cNvPr id="47" name="Shape 45"/>
          <p:cNvSpPr/>
          <p:nvPr/>
        </p:nvSpPr>
        <p:spPr>
          <a:xfrm>
            <a:off x="6739128"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48" name="Text 46"/>
          <p:cNvSpPr/>
          <p:nvPr/>
        </p:nvSpPr>
        <p:spPr>
          <a:xfrm>
            <a:off x="6739128"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6F</a:t>
            </a:r>
            <a:endParaRPr lang="en-US" sz="950" dirty="0"/>
          </a:p>
        </p:txBody>
      </p:sp>
      <p:sp>
        <p:nvSpPr>
          <p:cNvPr id="49" name="Shape 47"/>
          <p:cNvSpPr/>
          <p:nvPr/>
        </p:nvSpPr>
        <p:spPr>
          <a:xfrm>
            <a:off x="7269480"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50" name="Text 48"/>
          <p:cNvSpPr/>
          <p:nvPr/>
        </p:nvSpPr>
        <p:spPr>
          <a:xfrm>
            <a:off x="7269480"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72</a:t>
            </a:r>
            <a:endParaRPr lang="en-US" sz="950" dirty="0"/>
          </a:p>
        </p:txBody>
      </p:sp>
      <p:sp>
        <p:nvSpPr>
          <p:cNvPr id="51" name="Shape 49"/>
          <p:cNvSpPr/>
          <p:nvPr/>
        </p:nvSpPr>
        <p:spPr>
          <a:xfrm>
            <a:off x="7799832"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52" name="Text 50"/>
          <p:cNvSpPr/>
          <p:nvPr/>
        </p:nvSpPr>
        <p:spPr>
          <a:xfrm>
            <a:off x="7799832"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6C</a:t>
            </a:r>
            <a:endParaRPr lang="en-US" sz="950" dirty="0"/>
          </a:p>
        </p:txBody>
      </p:sp>
      <p:sp>
        <p:nvSpPr>
          <p:cNvPr id="53" name="Shape 51"/>
          <p:cNvSpPr/>
          <p:nvPr/>
        </p:nvSpPr>
        <p:spPr>
          <a:xfrm>
            <a:off x="8330184" y="2139696"/>
            <a:ext cx="457200" cy="274320"/>
          </a:xfrm>
          <a:prstGeom prst="rect">
            <a:avLst/>
          </a:prstGeom>
          <a:solidFill>
            <a:srgbClr val="58A6FF">
              <a:alpha val="22000"/>
            </a:srgbClr>
          </a:solidFill>
          <a:ln w="12700">
            <a:solidFill>
              <a:srgbClr val="58A6FF"/>
            </a:solidFill>
            <a:prstDash val="solid"/>
          </a:ln>
        </p:spPr>
        <p:txBody>
          <a:bodyPr/>
          <a:lstStyle/>
          <a:p>
            <a:endParaRPr lang="en-US"/>
          </a:p>
        </p:txBody>
      </p:sp>
      <p:sp>
        <p:nvSpPr>
          <p:cNvPr id="54" name="Text 52"/>
          <p:cNvSpPr/>
          <p:nvPr/>
        </p:nvSpPr>
        <p:spPr>
          <a:xfrm>
            <a:off x="8330184" y="2139696"/>
            <a:ext cx="457200" cy="274320"/>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64</a:t>
            </a:r>
            <a:endParaRPr lang="en-US" sz="950" dirty="0"/>
          </a:p>
        </p:txBody>
      </p:sp>
      <p:sp>
        <p:nvSpPr>
          <p:cNvPr id="55" name="Text 53"/>
          <p:cNvSpPr/>
          <p:nvPr/>
        </p:nvSpPr>
        <p:spPr>
          <a:xfrm>
            <a:off x="4617720" y="2450592"/>
            <a:ext cx="3977640" cy="201168"/>
          </a:xfrm>
          <a:prstGeom prst="rect">
            <a:avLst/>
          </a:prstGeom>
          <a:noFill/>
          <a:ln/>
        </p:spPr>
        <p:txBody>
          <a:bodyPr wrap="square" lIns="0" tIns="0" rIns="0" bIns="0" rtlCol="0" anchor="ctr"/>
          <a:lstStyle/>
          <a:p>
            <a:pPr marL="0" indent="0">
              <a:buNone/>
            </a:pPr>
            <a:r>
              <a:rPr lang="en-US" sz="850" dirty="0">
                <a:solidFill>
                  <a:srgbClr val="8B949E"/>
                </a:solidFill>
                <a:latin typeface="Consolas" pitchFamily="34" charset="0"/>
                <a:ea typeface="Consolas" pitchFamily="34" charset="-122"/>
                <a:cs typeface="Consolas" pitchFamily="34" charset="-120"/>
              </a:rPr>
              <a:t>"H"    "i"    " "    "w"    "o"    "r"    "l"    "d"</a:t>
            </a:r>
            <a:endParaRPr lang="en-US" sz="850" dirty="0"/>
          </a:p>
        </p:txBody>
      </p:sp>
      <p:sp>
        <p:nvSpPr>
          <p:cNvPr id="56" name="Shape 54"/>
          <p:cNvSpPr/>
          <p:nvPr/>
        </p:nvSpPr>
        <p:spPr>
          <a:xfrm>
            <a:off x="4480560" y="2834640"/>
            <a:ext cx="4251960" cy="1581912"/>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57" name="Shape 55"/>
          <p:cNvSpPr/>
          <p:nvPr/>
        </p:nvSpPr>
        <p:spPr>
          <a:xfrm>
            <a:off x="4480560" y="2834640"/>
            <a:ext cx="4251960"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58" name="Text 56"/>
          <p:cNvSpPr/>
          <p:nvPr/>
        </p:nvSpPr>
        <p:spPr>
          <a:xfrm>
            <a:off x="4617720" y="2880360"/>
            <a:ext cx="3977640" cy="256032"/>
          </a:xfrm>
          <a:prstGeom prst="rect">
            <a:avLst/>
          </a:prstGeom>
          <a:noFill/>
          <a:ln/>
        </p:spPr>
        <p:txBody>
          <a:bodyPr wrap="square" lIns="0" tIns="0" rIns="0" bIns="0" rtlCol="0" anchor="ctr"/>
          <a:lstStyle/>
          <a:p>
            <a:pPr marL="0" indent="0">
              <a:buNone/>
            </a:pPr>
            <a:r>
              <a:rPr lang="en-US" sz="1100" b="1" dirty="0">
                <a:solidFill>
                  <a:srgbClr val="BC8CFF"/>
                </a:solidFill>
                <a:latin typeface="Calibri" pitchFamily="34" charset="0"/>
                <a:ea typeface="Calibri" pitchFamily="34" charset="-122"/>
                <a:cs typeface="Calibri" pitchFamily="34" charset="-120"/>
              </a:rPr>
              <a:t>🖼️  Image Encoding  (pixels → bytes)</a:t>
            </a:r>
            <a:endParaRPr lang="en-US" sz="1100" dirty="0"/>
          </a:p>
        </p:txBody>
      </p:sp>
      <p:sp>
        <p:nvSpPr>
          <p:cNvPr id="59" name="Shape 57"/>
          <p:cNvSpPr/>
          <p:nvPr/>
        </p:nvSpPr>
        <p:spPr>
          <a:xfrm>
            <a:off x="4617720" y="3246120"/>
            <a:ext cx="438912" cy="310896"/>
          </a:xfrm>
          <a:prstGeom prst="rect">
            <a:avLst/>
          </a:prstGeom>
          <a:solidFill>
            <a:srgbClr val="F85149"/>
          </a:solidFill>
          <a:ln w="6350">
            <a:solidFill>
              <a:srgbClr val="000000"/>
            </a:solidFill>
            <a:prstDash val="solid"/>
          </a:ln>
        </p:spPr>
        <p:txBody>
          <a:bodyPr/>
          <a:lstStyle/>
          <a:p>
            <a:endParaRPr lang="en-US"/>
          </a:p>
        </p:txBody>
      </p:sp>
      <p:sp>
        <p:nvSpPr>
          <p:cNvPr id="60" name="Shape 58"/>
          <p:cNvSpPr/>
          <p:nvPr/>
        </p:nvSpPr>
        <p:spPr>
          <a:xfrm>
            <a:off x="5093208" y="3246120"/>
            <a:ext cx="438912" cy="310896"/>
          </a:xfrm>
          <a:prstGeom prst="rect">
            <a:avLst/>
          </a:prstGeom>
          <a:solidFill>
            <a:srgbClr val="F5A623"/>
          </a:solidFill>
          <a:ln w="6350">
            <a:solidFill>
              <a:srgbClr val="000000"/>
            </a:solidFill>
            <a:prstDash val="solid"/>
          </a:ln>
        </p:spPr>
        <p:txBody>
          <a:bodyPr/>
          <a:lstStyle/>
          <a:p>
            <a:endParaRPr lang="en-US"/>
          </a:p>
        </p:txBody>
      </p:sp>
      <p:sp>
        <p:nvSpPr>
          <p:cNvPr id="61" name="Shape 59"/>
          <p:cNvSpPr/>
          <p:nvPr/>
        </p:nvSpPr>
        <p:spPr>
          <a:xfrm>
            <a:off x="5568696" y="3246120"/>
            <a:ext cx="438912" cy="310896"/>
          </a:xfrm>
          <a:prstGeom prst="rect">
            <a:avLst/>
          </a:prstGeom>
          <a:solidFill>
            <a:srgbClr val="27C93F"/>
          </a:solidFill>
          <a:ln w="6350">
            <a:solidFill>
              <a:srgbClr val="000000"/>
            </a:solidFill>
            <a:prstDash val="solid"/>
          </a:ln>
        </p:spPr>
        <p:txBody>
          <a:bodyPr/>
          <a:lstStyle/>
          <a:p>
            <a:endParaRPr lang="en-US"/>
          </a:p>
        </p:txBody>
      </p:sp>
      <p:sp>
        <p:nvSpPr>
          <p:cNvPr id="62" name="Shape 60"/>
          <p:cNvSpPr/>
          <p:nvPr/>
        </p:nvSpPr>
        <p:spPr>
          <a:xfrm>
            <a:off x="6044184" y="3246120"/>
            <a:ext cx="438912" cy="310896"/>
          </a:xfrm>
          <a:prstGeom prst="rect">
            <a:avLst/>
          </a:prstGeom>
          <a:solidFill>
            <a:srgbClr val="58A6FF"/>
          </a:solidFill>
          <a:ln w="6350">
            <a:solidFill>
              <a:srgbClr val="000000"/>
            </a:solidFill>
            <a:prstDash val="solid"/>
          </a:ln>
        </p:spPr>
        <p:txBody>
          <a:bodyPr/>
          <a:lstStyle/>
          <a:p>
            <a:endParaRPr lang="en-US"/>
          </a:p>
        </p:txBody>
      </p:sp>
      <p:sp>
        <p:nvSpPr>
          <p:cNvPr id="63" name="Shape 61"/>
          <p:cNvSpPr/>
          <p:nvPr/>
        </p:nvSpPr>
        <p:spPr>
          <a:xfrm>
            <a:off x="6519672" y="3246120"/>
            <a:ext cx="438912" cy="310896"/>
          </a:xfrm>
          <a:prstGeom prst="rect">
            <a:avLst/>
          </a:prstGeom>
          <a:solidFill>
            <a:srgbClr val="BC8CFF"/>
          </a:solidFill>
          <a:ln w="6350">
            <a:solidFill>
              <a:srgbClr val="000000"/>
            </a:solidFill>
            <a:prstDash val="solid"/>
          </a:ln>
        </p:spPr>
        <p:txBody>
          <a:bodyPr/>
          <a:lstStyle/>
          <a:p>
            <a:endParaRPr lang="en-US"/>
          </a:p>
        </p:txBody>
      </p:sp>
      <p:sp>
        <p:nvSpPr>
          <p:cNvPr id="64" name="Shape 62"/>
          <p:cNvSpPr/>
          <p:nvPr/>
        </p:nvSpPr>
        <p:spPr>
          <a:xfrm>
            <a:off x="6995160" y="3246120"/>
            <a:ext cx="438912" cy="310896"/>
          </a:xfrm>
          <a:prstGeom prst="rect">
            <a:avLst/>
          </a:prstGeom>
          <a:solidFill>
            <a:srgbClr val="3FD9C4"/>
          </a:solidFill>
          <a:ln w="6350">
            <a:solidFill>
              <a:srgbClr val="000000"/>
            </a:solidFill>
            <a:prstDash val="solid"/>
          </a:ln>
        </p:spPr>
        <p:txBody>
          <a:bodyPr/>
          <a:lstStyle/>
          <a:p>
            <a:endParaRPr lang="en-US"/>
          </a:p>
        </p:txBody>
      </p:sp>
      <p:sp>
        <p:nvSpPr>
          <p:cNvPr id="65" name="Shape 63"/>
          <p:cNvSpPr/>
          <p:nvPr/>
        </p:nvSpPr>
        <p:spPr>
          <a:xfrm>
            <a:off x="7470648" y="3246120"/>
            <a:ext cx="438912" cy="310896"/>
          </a:xfrm>
          <a:prstGeom prst="rect">
            <a:avLst/>
          </a:prstGeom>
          <a:solidFill>
            <a:srgbClr val="FFA657"/>
          </a:solidFill>
          <a:ln w="6350">
            <a:solidFill>
              <a:srgbClr val="000000"/>
            </a:solidFill>
            <a:prstDash val="solid"/>
          </a:ln>
        </p:spPr>
        <p:txBody>
          <a:bodyPr/>
          <a:lstStyle/>
          <a:p>
            <a:endParaRPr lang="en-US"/>
          </a:p>
        </p:txBody>
      </p:sp>
      <p:sp>
        <p:nvSpPr>
          <p:cNvPr id="66" name="Shape 64"/>
          <p:cNvSpPr/>
          <p:nvPr/>
        </p:nvSpPr>
        <p:spPr>
          <a:xfrm>
            <a:off x="7946136" y="3246120"/>
            <a:ext cx="438912" cy="310896"/>
          </a:xfrm>
          <a:prstGeom prst="rect">
            <a:avLst/>
          </a:prstGeom>
          <a:solidFill>
            <a:srgbClr val="F778BA"/>
          </a:solidFill>
          <a:ln w="6350">
            <a:solidFill>
              <a:srgbClr val="000000"/>
            </a:solidFill>
            <a:prstDash val="solid"/>
          </a:ln>
        </p:spPr>
        <p:txBody>
          <a:bodyPr/>
          <a:lstStyle/>
          <a:p>
            <a:endParaRPr lang="en-US"/>
          </a:p>
        </p:txBody>
      </p:sp>
      <p:sp>
        <p:nvSpPr>
          <p:cNvPr id="67" name="Shape 65"/>
          <p:cNvSpPr/>
          <p:nvPr/>
        </p:nvSpPr>
        <p:spPr>
          <a:xfrm>
            <a:off x="4617720" y="3593592"/>
            <a:ext cx="438912" cy="310896"/>
          </a:xfrm>
          <a:prstGeom prst="rect">
            <a:avLst/>
          </a:prstGeom>
          <a:solidFill>
            <a:srgbClr val="F85149"/>
          </a:solidFill>
          <a:ln w="6350">
            <a:solidFill>
              <a:srgbClr val="000000"/>
            </a:solidFill>
            <a:prstDash val="solid"/>
          </a:ln>
        </p:spPr>
        <p:txBody>
          <a:bodyPr/>
          <a:lstStyle/>
          <a:p>
            <a:endParaRPr lang="en-US"/>
          </a:p>
        </p:txBody>
      </p:sp>
      <p:sp>
        <p:nvSpPr>
          <p:cNvPr id="68" name="Shape 66"/>
          <p:cNvSpPr/>
          <p:nvPr/>
        </p:nvSpPr>
        <p:spPr>
          <a:xfrm>
            <a:off x="5093208" y="3593592"/>
            <a:ext cx="438912" cy="310896"/>
          </a:xfrm>
          <a:prstGeom prst="rect">
            <a:avLst/>
          </a:prstGeom>
          <a:solidFill>
            <a:srgbClr val="F5A623"/>
          </a:solidFill>
          <a:ln w="6350">
            <a:solidFill>
              <a:srgbClr val="000000"/>
            </a:solidFill>
            <a:prstDash val="solid"/>
          </a:ln>
        </p:spPr>
        <p:txBody>
          <a:bodyPr/>
          <a:lstStyle/>
          <a:p>
            <a:endParaRPr lang="en-US"/>
          </a:p>
        </p:txBody>
      </p:sp>
      <p:sp>
        <p:nvSpPr>
          <p:cNvPr id="69" name="Shape 67"/>
          <p:cNvSpPr/>
          <p:nvPr/>
        </p:nvSpPr>
        <p:spPr>
          <a:xfrm>
            <a:off x="5568696" y="3593592"/>
            <a:ext cx="438912" cy="310896"/>
          </a:xfrm>
          <a:prstGeom prst="rect">
            <a:avLst/>
          </a:prstGeom>
          <a:solidFill>
            <a:srgbClr val="27C93F"/>
          </a:solidFill>
          <a:ln w="6350">
            <a:solidFill>
              <a:srgbClr val="000000"/>
            </a:solidFill>
            <a:prstDash val="solid"/>
          </a:ln>
        </p:spPr>
        <p:txBody>
          <a:bodyPr/>
          <a:lstStyle/>
          <a:p>
            <a:endParaRPr lang="en-US"/>
          </a:p>
        </p:txBody>
      </p:sp>
      <p:sp>
        <p:nvSpPr>
          <p:cNvPr id="70" name="Shape 68"/>
          <p:cNvSpPr/>
          <p:nvPr/>
        </p:nvSpPr>
        <p:spPr>
          <a:xfrm>
            <a:off x="6044184" y="3593592"/>
            <a:ext cx="438912" cy="310896"/>
          </a:xfrm>
          <a:prstGeom prst="rect">
            <a:avLst/>
          </a:prstGeom>
          <a:solidFill>
            <a:srgbClr val="58A6FF"/>
          </a:solidFill>
          <a:ln w="6350">
            <a:solidFill>
              <a:srgbClr val="000000"/>
            </a:solidFill>
            <a:prstDash val="solid"/>
          </a:ln>
        </p:spPr>
        <p:txBody>
          <a:bodyPr/>
          <a:lstStyle/>
          <a:p>
            <a:endParaRPr lang="en-US"/>
          </a:p>
        </p:txBody>
      </p:sp>
      <p:sp>
        <p:nvSpPr>
          <p:cNvPr id="71" name="Shape 69"/>
          <p:cNvSpPr/>
          <p:nvPr/>
        </p:nvSpPr>
        <p:spPr>
          <a:xfrm>
            <a:off x="6519672" y="3593592"/>
            <a:ext cx="438912" cy="310896"/>
          </a:xfrm>
          <a:prstGeom prst="rect">
            <a:avLst/>
          </a:prstGeom>
          <a:solidFill>
            <a:srgbClr val="BC8CFF"/>
          </a:solidFill>
          <a:ln w="6350">
            <a:solidFill>
              <a:srgbClr val="000000"/>
            </a:solidFill>
            <a:prstDash val="solid"/>
          </a:ln>
        </p:spPr>
        <p:txBody>
          <a:bodyPr/>
          <a:lstStyle/>
          <a:p>
            <a:endParaRPr lang="en-US"/>
          </a:p>
        </p:txBody>
      </p:sp>
      <p:sp>
        <p:nvSpPr>
          <p:cNvPr id="72" name="Shape 70"/>
          <p:cNvSpPr/>
          <p:nvPr/>
        </p:nvSpPr>
        <p:spPr>
          <a:xfrm>
            <a:off x="6995160" y="3593592"/>
            <a:ext cx="438912" cy="310896"/>
          </a:xfrm>
          <a:prstGeom prst="rect">
            <a:avLst/>
          </a:prstGeom>
          <a:solidFill>
            <a:srgbClr val="3FD9C4"/>
          </a:solidFill>
          <a:ln w="6350">
            <a:solidFill>
              <a:srgbClr val="000000"/>
            </a:solidFill>
            <a:prstDash val="solid"/>
          </a:ln>
        </p:spPr>
        <p:txBody>
          <a:bodyPr/>
          <a:lstStyle/>
          <a:p>
            <a:endParaRPr lang="en-US"/>
          </a:p>
        </p:txBody>
      </p:sp>
      <p:sp>
        <p:nvSpPr>
          <p:cNvPr id="73" name="Shape 71"/>
          <p:cNvSpPr/>
          <p:nvPr/>
        </p:nvSpPr>
        <p:spPr>
          <a:xfrm>
            <a:off x="7470648" y="3593592"/>
            <a:ext cx="438912" cy="310896"/>
          </a:xfrm>
          <a:prstGeom prst="rect">
            <a:avLst/>
          </a:prstGeom>
          <a:solidFill>
            <a:srgbClr val="FFA657"/>
          </a:solidFill>
          <a:ln w="6350">
            <a:solidFill>
              <a:srgbClr val="000000"/>
            </a:solidFill>
            <a:prstDash val="solid"/>
          </a:ln>
        </p:spPr>
        <p:txBody>
          <a:bodyPr/>
          <a:lstStyle/>
          <a:p>
            <a:endParaRPr lang="en-US"/>
          </a:p>
        </p:txBody>
      </p:sp>
      <p:sp>
        <p:nvSpPr>
          <p:cNvPr id="74" name="Shape 72"/>
          <p:cNvSpPr/>
          <p:nvPr/>
        </p:nvSpPr>
        <p:spPr>
          <a:xfrm>
            <a:off x="7946136" y="3593592"/>
            <a:ext cx="438912" cy="310896"/>
          </a:xfrm>
          <a:prstGeom prst="rect">
            <a:avLst/>
          </a:prstGeom>
          <a:solidFill>
            <a:srgbClr val="F778BA"/>
          </a:solidFill>
          <a:ln w="6350">
            <a:solidFill>
              <a:srgbClr val="000000"/>
            </a:solidFill>
            <a:prstDash val="solid"/>
          </a:ln>
        </p:spPr>
        <p:txBody>
          <a:bodyPr/>
          <a:lstStyle/>
          <a:p>
            <a:endParaRPr lang="en-US"/>
          </a:p>
        </p:txBody>
      </p:sp>
      <p:sp>
        <p:nvSpPr>
          <p:cNvPr id="75" name="Text 73"/>
          <p:cNvSpPr/>
          <p:nvPr/>
        </p:nvSpPr>
        <p:spPr>
          <a:xfrm>
            <a:off x="4617720" y="3977640"/>
            <a:ext cx="3977640" cy="329184"/>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Each pixel = 3 bytes  (R, G, B)  ·  1920×1080 image = ~6 MB raw</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FILE SYSTEM</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The File System</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The layer between you and the raw storage device — it organises everything</a:t>
            </a:r>
            <a:endParaRPr lang="en-US" sz="1300" dirty="0"/>
          </a:p>
        </p:txBody>
      </p:sp>
      <p:sp>
        <p:nvSpPr>
          <p:cNvPr id="7" name="Shape 5"/>
          <p:cNvSpPr/>
          <p:nvPr/>
        </p:nvSpPr>
        <p:spPr>
          <a:xfrm>
            <a:off x="411480" y="1170432"/>
            <a:ext cx="8321040" cy="676656"/>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8" name="Text 6"/>
          <p:cNvSpPr/>
          <p:nvPr/>
        </p:nvSpPr>
        <p:spPr>
          <a:xfrm>
            <a:off x="594360" y="1216152"/>
            <a:ext cx="7955280" cy="548640"/>
          </a:xfrm>
          <a:prstGeom prst="rect">
            <a:avLst/>
          </a:prstGeom>
          <a:noFill/>
          <a:ln/>
        </p:spPr>
        <p:txBody>
          <a:bodyPr wrap="square" lIns="0" tIns="0" rIns="0" bIns="0" rtlCol="0" anchor="ctr"/>
          <a:lstStyle/>
          <a:p>
            <a:pPr marL="0" indent="0">
              <a:buNone/>
            </a:pPr>
            <a:r>
              <a:rPr lang="en-US" sz="1250" b="1" dirty="0">
                <a:solidFill>
                  <a:srgbClr val="FFA657"/>
                </a:solidFill>
                <a:latin typeface="Calibri" pitchFamily="34" charset="0"/>
                <a:ea typeface="Calibri" pitchFamily="34" charset="-122"/>
                <a:cs typeface="Calibri" pitchFamily="34" charset="-120"/>
              </a:rPr>
              <a:t>File System:  </a:t>
            </a:r>
            <a:r>
              <a:rPr lang="en-US" sz="1250" dirty="0">
                <a:solidFill>
                  <a:srgbClr val="F0F6FC"/>
                </a:solidFill>
                <a:latin typeface="Calibri" pitchFamily="34" charset="0"/>
                <a:ea typeface="Calibri" pitchFamily="34" charset="-122"/>
                <a:cs typeface="Calibri" pitchFamily="34" charset="-120"/>
              </a:rPr>
              <a:t>software layer that manages how files are stored, organised, named, and retrieved on a storage device. Without it, data on a disk is just an unstructured stream of bytes with no way to find anything.</a:t>
            </a:r>
            <a:endParaRPr lang="en-US" sz="1250" dirty="0"/>
          </a:p>
        </p:txBody>
      </p:sp>
      <p:sp>
        <p:nvSpPr>
          <p:cNvPr id="9" name="Shape 7"/>
          <p:cNvSpPr/>
          <p:nvPr/>
        </p:nvSpPr>
        <p:spPr>
          <a:xfrm>
            <a:off x="411480" y="1965960"/>
            <a:ext cx="2697480" cy="2487168"/>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10" name="Shape 8"/>
          <p:cNvSpPr/>
          <p:nvPr/>
        </p:nvSpPr>
        <p:spPr>
          <a:xfrm>
            <a:off x="411480" y="1965960"/>
            <a:ext cx="2697480"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11" name="Shape 9"/>
          <p:cNvSpPr/>
          <p:nvPr/>
        </p:nvSpPr>
        <p:spPr>
          <a:xfrm>
            <a:off x="521208" y="2011680"/>
            <a:ext cx="347472" cy="347472"/>
          </a:xfrm>
          <a:prstGeom prst="ellipse">
            <a:avLst/>
          </a:prstGeom>
          <a:solidFill>
            <a:srgbClr val="3FD9C4">
              <a:alpha val="80000"/>
            </a:srgbClr>
          </a:solidFill>
          <a:ln w="19050">
            <a:solidFill>
              <a:srgbClr val="3FD9C4"/>
            </a:solidFill>
            <a:prstDash val="solid"/>
          </a:ln>
        </p:spPr>
        <p:txBody>
          <a:bodyPr/>
          <a:lstStyle/>
          <a:p>
            <a:endParaRPr lang="en-US"/>
          </a:p>
        </p:txBody>
      </p:sp>
      <p:sp>
        <p:nvSpPr>
          <p:cNvPr id="12" name="Text 10"/>
          <p:cNvSpPr/>
          <p:nvPr/>
        </p:nvSpPr>
        <p:spPr>
          <a:xfrm>
            <a:off x="521208" y="2011680"/>
            <a:ext cx="347472" cy="347472"/>
          </a:xfrm>
          <a:prstGeom prst="rect">
            <a:avLst/>
          </a:prstGeom>
          <a:noFill/>
          <a:ln/>
        </p:spPr>
        <p:txBody>
          <a:bodyPr wrap="square" lIns="0" tIns="0" rIns="0" bIns="0" rtlCol="0" anchor="ctr"/>
          <a:lstStyle/>
          <a:p>
            <a:pPr marL="0" indent="0" algn="ctr">
              <a:buNone/>
            </a:pPr>
            <a:r>
              <a:rPr lang="en-US" sz="1400" b="1" dirty="0">
                <a:solidFill>
                  <a:srgbClr val="3FD9C4"/>
                </a:solidFill>
                <a:latin typeface="Calibri" pitchFamily="34" charset="0"/>
                <a:ea typeface="Calibri" pitchFamily="34" charset="-122"/>
                <a:cs typeface="Calibri" pitchFamily="34" charset="-120"/>
              </a:rPr>
              <a:t>1</a:t>
            </a:r>
            <a:endParaRPr lang="en-US" sz="1400" dirty="0"/>
          </a:p>
        </p:txBody>
      </p:sp>
      <p:sp>
        <p:nvSpPr>
          <p:cNvPr id="13" name="Text 11"/>
          <p:cNvSpPr/>
          <p:nvPr/>
        </p:nvSpPr>
        <p:spPr>
          <a:xfrm>
            <a:off x="960120" y="2029968"/>
            <a:ext cx="2057400" cy="256032"/>
          </a:xfrm>
          <a:prstGeom prst="rect">
            <a:avLst/>
          </a:prstGeom>
          <a:noFill/>
          <a:ln/>
        </p:spPr>
        <p:txBody>
          <a:bodyPr wrap="square" lIns="0" tIns="0" rIns="0" bIns="0" rtlCol="0" anchor="ctr"/>
          <a:lstStyle/>
          <a:p>
            <a:pPr marL="0" indent="0">
              <a:buNone/>
            </a:pPr>
            <a:r>
              <a:rPr lang="en-US" sz="1100" b="1" dirty="0">
                <a:solidFill>
                  <a:srgbClr val="3FD9C4"/>
                </a:solidFill>
                <a:latin typeface="Calibri" pitchFamily="34" charset="0"/>
                <a:ea typeface="Calibri" pitchFamily="34" charset="-122"/>
                <a:cs typeface="Calibri" pitchFamily="34" charset="-120"/>
              </a:rPr>
              <a:t>Directory / Folder Tree</a:t>
            </a:r>
            <a:endParaRPr lang="en-US" sz="1100" dirty="0"/>
          </a:p>
        </p:txBody>
      </p:sp>
      <p:sp>
        <p:nvSpPr>
          <p:cNvPr id="14" name="Text 12"/>
          <p:cNvSpPr/>
          <p:nvPr/>
        </p:nvSpPr>
        <p:spPr>
          <a:xfrm>
            <a:off x="539496" y="2377440"/>
            <a:ext cx="2441448" cy="135331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A hierarchical index of every file and folder. Each directory entry stores: filename, size, dates, and a pointer to where the actual data bytes live on disk.</a:t>
            </a:r>
            <a:endParaRPr lang="en-US" sz="1050" dirty="0"/>
          </a:p>
        </p:txBody>
      </p:sp>
      <p:sp>
        <p:nvSpPr>
          <p:cNvPr id="15" name="Shape 13"/>
          <p:cNvSpPr/>
          <p:nvPr/>
        </p:nvSpPr>
        <p:spPr>
          <a:xfrm>
            <a:off x="539496" y="3767328"/>
            <a:ext cx="2441448" cy="548640"/>
          </a:xfrm>
          <a:prstGeom prst="rect">
            <a:avLst/>
          </a:prstGeom>
          <a:solidFill>
            <a:srgbClr val="1C2333"/>
          </a:solidFill>
          <a:ln w="10160">
            <a:solidFill>
              <a:srgbClr val="3FD9C4"/>
            </a:solidFill>
            <a:prstDash val="solid"/>
          </a:ln>
        </p:spPr>
        <p:txBody>
          <a:bodyPr/>
          <a:lstStyle/>
          <a:p>
            <a:endParaRPr lang="en-US"/>
          </a:p>
        </p:txBody>
      </p:sp>
      <p:sp>
        <p:nvSpPr>
          <p:cNvPr id="16" name="Text 14"/>
          <p:cNvSpPr/>
          <p:nvPr/>
        </p:nvSpPr>
        <p:spPr>
          <a:xfrm>
            <a:off x="594360" y="3822192"/>
            <a:ext cx="2331720" cy="457200"/>
          </a:xfrm>
          <a:prstGeom prst="rect">
            <a:avLst/>
          </a:prstGeom>
          <a:noFill/>
          <a:ln/>
        </p:spPr>
        <p:txBody>
          <a:bodyPr wrap="square" lIns="0" tIns="0" rIns="0" bIns="0" rtlCol="0" anchor="ctr"/>
          <a:lstStyle/>
          <a:p>
            <a:pPr marL="0" indent="0">
              <a:buNone/>
            </a:pPr>
            <a:r>
              <a:rPr lang="en-US" sz="900" dirty="0">
                <a:solidFill>
                  <a:srgbClr val="3FD9C4"/>
                </a:solidFill>
                <a:latin typeface="Consolas" pitchFamily="34" charset="0"/>
                <a:ea typeface="Consolas" pitchFamily="34" charset="-122"/>
                <a:cs typeface="Consolas" pitchFamily="34" charset="-120"/>
              </a:rPr>
              <a:t>C:\Users\Ahmed\Documents\report.pdf</a:t>
            </a:r>
            <a:endParaRPr lang="en-US" sz="900" dirty="0"/>
          </a:p>
        </p:txBody>
      </p:sp>
      <p:sp>
        <p:nvSpPr>
          <p:cNvPr id="17" name="Shape 15"/>
          <p:cNvSpPr/>
          <p:nvPr/>
        </p:nvSpPr>
        <p:spPr>
          <a:xfrm>
            <a:off x="3227832" y="1965960"/>
            <a:ext cx="2697480" cy="2487168"/>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18" name="Shape 16"/>
          <p:cNvSpPr/>
          <p:nvPr/>
        </p:nvSpPr>
        <p:spPr>
          <a:xfrm>
            <a:off x="3227832" y="1965960"/>
            <a:ext cx="2697480"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19" name="Shape 17"/>
          <p:cNvSpPr/>
          <p:nvPr/>
        </p:nvSpPr>
        <p:spPr>
          <a:xfrm>
            <a:off x="3337560" y="2011680"/>
            <a:ext cx="347472" cy="347472"/>
          </a:xfrm>
          <a:prstGeom prst="ellipse">
            <a:avLst/>
          </a:prstGeom>
          <a:solidFill>
            <a:srgbClr val="58A6FF">
              <a:alpha val="80000"/>
            </a:srgbClr>
          </a:solidFill>
          <a:ln w="19050">
            <a:solidFill>
              <a:srgbClr val="58A6FF"/>
            </a:solidFill>
            <a:prstDash val="solid"/>
          </a:ln>
        </p:spPr>
        <p:txBody>
          <a:bodyPr/>
          <a:lstStyle/>
          <a:p>
            <a:endParaRPr lang="en-US"/>
          </a:p>
        </p:txBody>
      </p:sp>
      <p:sp>
        <p:nvSpPr>
          <p:cNvPr id="20" name="Text 18"/>
          <p:cNvSpPr/>
          <p:nvPr/>
        </p:nvSpPr>
        <p:spPr>
          <a:xfrm>
            <a:off x="3337560" y="2011680"/>
            <a:ext cx="347472" cy="347472"/>
          </a:xfrm>
          <a:prstGeom prst="rect">
            <a:avLst/>
          </a:prstGeom>
          <a:noFill/>
          <a:ln/>
        </p:spPr>
        <p:txBody>
          <a:bodyPr wrap="square" lIns="0" tIns="0" rIns="0" bIns="0" rtlCol="0" anchor="ctr"/>
          <a:lstStyle/>
          <a:p>
            <a:pPr marL="0" indent="0" algn="ctr">
              <a:buNone/>
            </a:pPr>
            <a:r>
              <a:rPr lang="en-US" sz="1400" b="1" dirty="0">
                <a:solidFill>
                  <a:srgbClr val="58A6FF"/>
                </a:solidFill>
                <a:latin typeface="Calibri" pitchFamily="34" charset="0"/>
                <a:ea typeface="Calibri" pitchFamily="34" charset="-122"/>
                <a:cs typeface="Calibri" pitchFamily="34" charset="-120"/>
              </a:rPr>
              <a:t>2</a:t>
            </a:r>
            <a:endParaRPr lang="en-US" sz="1400" dirty="0"/>
          </a:p>
        </p:txBody>
      </p:sp>
      <p:sp>
        <p:nvSpPr>
          <p:cNvPr id="21" name="Text 19"/>
          <p:cNvSpPr/>
          <p:nvPr/>
        </p:nvSpPr>
        <p:spPr>
          <a:xfrm>
            <a:off x="3776472" y="2029968"/>
            <a:ext cx="2057400" cy="256032"/>
          </a:xfrm>
          <a:prstGeom prst="rect">
            <a:avLst/>
          </a:prstGeom>
          <a:noFill/>
          <a:ln/>
        </p:spPr>
        <p:txBody>
          <a:bodyPr wrap="square" lIns="0" tIns="0" rIns="0" bIns="0" rtlCol="0" anchor="ctr"/>
          <a:lstStyle/>
          <a:p>
            <a:pPr marL="0" indent="0">
              <a:buNone/>
            </a:pPr>
            <a:r>
              <a:rPr lang="en-US" sz="1100" b="1" dirty="0">
                <a:solidFill>
                  <a:srgbClr val="58A6FF"/>
                </a:solidFill>
                <a:latin typeface="Calibri" pitchFamily="34" charset="0"/>
                <a:ea typeface="Calibri" pitchFamily="34" charset="-122"/>
                <a:cs typeface="Calibri" pitchFamily="34" charset="-120"/>
              </a:rPr>
              <a:t>Inode / MFT Entry</a:t>
            </a:r>
            <a:endParaRPr lang="en-US" sz="1100" dirty="0"/>
          </a:p>
        </p:txBody>
      </p:sp>
      <p:sp>
        <p:nvSpPr>
          <p:cNvPr id="22" name="Text 20"/>
          <p:cNvSpPr/>
          <p:nvPr/>
        </p:nvSpPr>
        <p:spPr>
          <a:xfrm>
            <a:off x="3355848" y="2377440"/>
            <a:ext cx="2441448" cy="135331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The metadata record for each file. Contains permissions, timestamps, owner, file size, and a list of disk block addresses where the content is stored. The filename is NOT stored here.</a:t>
            </a:r>
            <a:endParaRPr lang="en-US" sz="1050" dirty="0"/>
          </a:p>
        </p:txBody>
      </p:sp>
      <p:sp>
        <p:nvSpPr>
          <p:cNvPr id="23" name="Shape 21"/>
          <p:cNvSpPr/>
          <p:nvPr/>
        </p:nvSpPr>
        <p:spPr>
          <a:xfrm>
            <a:off x="3355848" y="3767328"/>
            <a:ext cx="2441448" cy="548640"/>
          </a:xfrm>
          <a:prstGeom prst="rect">
            <a:avLst/>
          </a:prstGeom>
          <a:solidFill>
            <a:srgbClr val="1C2333"/>
          </a:solidFill>
          <a:ln w="10160">
            <a:solidFill>
              <a:srgbClr val="58A6FF"/>
            </a:solidFill>
            <a:prstDash val="solid"/>
          </a:ln>
        </p:spPr>
        <p:txBody>
          <a:bodyPr/>
          <a:lstStyle/>
          <a:p>
            <a:endParaRPr lang="en-US"/>
          </a:p>
        </p:txBody>
      </p:sp>
      <p:sp>
        <p:nvSpPr>
          <p:cNvPr id="24" name="Text 22"/>
          <p:cNvSpPr/>
          <p:nvPr/>
        </p:nvSpPr>
        <p:spPr>
          <a:xfrm>
            <a:off x="3410712" y="3822192"/>
            <a:ext cx="2331720" cy="457200"/>
          </a:xfrm>
          <a:prstGeom prst="rect">
            <a:avLst/>
          </a:prstGeom>
          <a:noFill/>
          <a:ln/>
        </p:spPr>
        <p:txBody>
          <a:bodyPr wrap="square" lIns="0" tIns="0" rIns="0" bIns="0" rtlCol="0" anchor="ctr"/>
          <a:lstStyle/>
          <a:p>
            <a:pPr marL="0" indent="0">
              <a:buNone/>
            </a:pPr>
            <a:r>
              <a:rPr lang="en-US" sz="900" dirty="0">
                <a:solidFill>
                  <a:srgbClr val="58A6FF"/>
                </a:solidFill>
                <a:latin typeface="Consolas" pitchFamily="34" charset="0"/>
                <a:ea typeface="Consolas" pitchFamily="34" charset="-122"/>
                <a:cs typeface="Consolas" pitchFamily="34" charset="-120"/>
              </a:rPr>
              <a:t>inode #2847 → blocks [12,13,14,90]</a:t>
            </a:r>
            <a:endParaRPr lang="en-US" sz="900" dirty="0"/>
          </a:p>
        </p:txBody>
      </p:sp>
      <p:sp>
        <p:nvSpPr>
          <p:cNvPr id="25" name="Shape 23"/>
          <p:cNvSpPr/>
          <p:nvPr/>
        </p:nvSpPr>
        <p:spPr>
          <a:xfrm>
            <a:off x="6044184" y="1965960"/>
            <a:ext cx="2697480" cy="2487168"/>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26" name="Shape 24"/>
          <p:cNvSpPr/>
          <p:nvPr/>
        </p:nvSpPr>
        <p:spPr>
          <a:xfrm>
            <a:off x="6044184" y="1965960"/>
            <a:ext cx="2697480"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27" name="Shape 25"/>
          <p:cNvSpPr/>
          <p:nvPr/>
        </p:nvSpPr>
        <p:spPr>
          <a:xfrm>
            <a:off x="6153912" y="2011680"/>
            <a:ext cx="347472" cy="347472"/>
          </a:xfrm>
          <a:prstGeom prst="ellipse">
            <a:avLst/>
          </a:prstGeom>
          <a:solidFill>
            <a:srgbClr val="BC8CFF">
              <a:alpha val="80000"/>
            </a:srgbClr>
          </a:solidFill>
          <a:ln w="19050">
            <a:solidFill>
              <a:srgbClr val="BC8CFF"/>
            </a:solidFill>
            <a:prstDash val="solid"/>
          </a:ln>
        </p:spPr>
        <p:txBody>
          <a:bodyPr/>
          <a:lstStyle/>
          <a:p>
            <a:endParaRPr lang="en-US"/>
          </a:p>
        </p:txBody>
      </p:sp>
      <p:sp>
        <p:nvSpPr>
          <p:cNvPr id="28" name="Text 26"/>
          <p:cNvSpPr/>
          <p:nvPr/>
        </p:nvSpPr>
        <p:spPr>
          <a:xfrm>
            <a:off x="6153912" y="2011680"/>
            <a:ext cx="347472" cy="347472"/>
          </a:xfrm>
          <a:prstGeom prst="rect">
            <a:avLst/>
          </a:prstGeom>
          <a:noFill/>
          <a:ln/>
        </p:spPr>
        <p:txBody>
          <a:bodyPr wrap="square" lIns="0" tIns="0" rIns="0" bIns="0" rtlCol="0" anchor="ctr"/>
          <a:lstStyle/>
          <a:p>
            <a:pPr marL="0" indent="0" algn="ctr">
              <a:buNone/>
            </a:pPr>
            <a:r>
              <a:rPr lang="en-US" sz="1400" b="1" dirty="0">
                <a:solidFill>
                  <a:srgbClr val="BC8CFF"/>
                </a:solidFill>
                <a:latin typeface="Calibri" pitchFamily="34" charset="0"/>
                <a:ea typeface="Calibri" pitchFamily="34" charset="-122"/>
                <a:cs typeface="Calibri" pitchFamily="34" charset="-120"/>
              </a:rPr>
              <a:t>3</a:t>
            </a:r>
            <a:endParaRPr lang="en-US" sz="1400" dirty="0"/>
          </a:p>
        </p:txBody>
      </p:sp>
      <p:sp>
        <p:nvSpPr>
          <p:cNvPr id="29" name="Text 27"/>
          <p:cNvSpPr/>
          <p:nvPr/>
        </p:nvSpPr>
        <p:spPr>
          <a:xfrm>
            <a:off x="6592824" y="2029968"/>
            <a:ext cx="2057400" cy="256032"/>
          </a:xfrm>
          <a:prstGeom prst="rect">
            <a:avLst/>
          </a:prstGeom>
          <a:noFill/>
          <a:ln/>
        </p:spPr>
        <p:txBody>
          <a:bodyPr wrap="square" lIns="0" tIns="0" rIns="0" bIns="0" rtlCol="0" anchor="ctr"/>
          <a:lstStyle/>
          <a:p>
            <a:pPr marL="0" indent="0">
              <a:buNone/>
            </a:pPr>
            <a:r>
              <a:rPr lang="en-US" sz="1100" b="1" dirty="0">
                <a:solidFill>
                  <a:srgbClr val="BC8CFF"/>
                </a:solidFill>
                <a:latin typeface="Calibri" pitchFamily="34" charset="0"/>
                <a:ea typeface="Calibri" pitchFamily="34" charset="-122"/>
                <a:cs typeface="Calibri" pitchFamily="34" charset="-120"/>
              </a:rPr>
              <a:t>Data Blocks</a:t>
            </a:r>
            <a:endParaRPr lang="en-US" sz="1100" dirty="0"/>
          </a:p>
        </p:txBody>
      </p:sp>
      <p:sp>
        <p:nvSpPr>
          <p:cNvPr id="30" name="Text 28"/>
          <p:cNvSpPr/>
          <p:nvPr/>
        </p:nvSpPr>
        <p:spPr>
          <a:xfrm>
            <a:off x="6172200" y="2377440"/>
            <a:ext cx="2441448" cy="135331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The actual storage units on the disk. Files are split across fixed-size blocks (e.g. 4 KB each). A 10 KB file occupies 3 blocks. Blocks may not be contiguous — fragmentation occurs.</a:t>
            </a:r>
            <a:endParaRPr lang="en-US" sz="1050" dirty="0"/>
          </a:p>
        </p:txBody>
      </p:sp>
      <p:sp>
        <p:nvSpPr>
          <p:cNvPr id="31" name="Shape 29"/>
          <p:cNvSpPr/>
          <p:nvPr/>
        </p:nvSpPr>
        <p:spPr>
          <a:xfrm>
            <a:off x="6172200" y="3767328"/>
            <a:ext cx="2441448" cy="548640"/>
          </a:xfrm>
          <a:prstGeom prst="rect">
            <a:avLst/>
          </a:prstGeom>
          <a:solidFill>
            <a:srgbClr val="1C2333"/>
          </a:solidFill>
          <a:ln w="10160">
            <a:solidFill>
              <a:srgbClr val="BC8CFF"/>
            </a:solidFill>
            <a:prstDash val="solid"/>
          </a:ln>
        </p:spPr>
        <p:txBody>
          <a:bodyPr/>
          <a:lstStyle/>
          <a:p>
            <a:endParaRPr lang="en-US"/>
          </a:p>
        </p:txBody>
      </p:sp>
      <p:sp>
        <p:nvSpPr>
          <p:cNvPr id="32" name="Text 30"/>
          <p:cNvSpPr/>
          <p:nvPr/>
        </p:nvSpPr>
        <p:spPr>
          <a:xfrm>
            <a:off x="6227064" y="3822192"/>
            <a:ext cx="2331720" cy="457200"/>
          </a:xfrm>
          <a:prstGeom prst="rect">
            <a:avLst/>
          </a:prstGeom>
          <a:noFill/>
          <a:ln/>
        </p:spPr>
        <p:txBody>
          <a:bodyPr wrap="square" lIns="0" tIns="0" rIns="0" bIns="0" rtlCol="0" anchor="ctr"/>
          <a:lstStyle/>
          <a:p>
            <a:pPr marL="0" indent="0">
              <a:buNone/>
            </a:pPr>
            <a:r>
              <a:rPr lang="en-US" sz="900" dirty="0">
                <a:solidFill>
                  <a:srgbClr val="BC8CFF"/>
                </a:solidFill>
                <a:latin typeface="Consolas" pitchFamily="34" charset="0"/>
                <a:ea typeface="Consolas" pitchFamily="34" charset="-122"/>
                <a:cs typeface="Consolas" pitchFamily="34" charset="-120"/>
              </a:rPr>
              <a:t>Block 12 | Block 13 | Block 14 | Block 90</a:t>
            </a:r>
            <a:endParaRPr lang="en-US" sz="900" dirty="0"/>
          </a:p>
        </p:txBody>
      </p:sp>
      <p:sp>
        <p:nvSpPr>
          <p:cNvPr id="33" name="Shape 31"/>
          <p:cNvSpPr/>
          <p:nvPr/>
        </p:nvSpPr>
        <p:spPr>
          <a:xfrm>
            <a:off x="411480" y="4407408"/>
            <a:ext cx="8321040" cy="457200"/>
          </a:xfrm>
          <a:prstGeom prst="rect">
            <a:avLst/>
          </a:prstGeom>
          <a:solidFill>
            <a:srgbClr val="161B26"/>
          </a:solidFill>
          <a:ln w="15240">
            <a:solidFill>
              <a:srgbClr val="3D444D"/>
            </a:solidFill>
            <a:prstDash val="solid"/>
          </a:ln>
          <a:effectLst>
            <a:outerShdw blurRad="177800" dist="38100" dir="8100000" algn="bl" rotWithShape="0">
              <a:srgbClr val="000000">
                <a:alpha val="35000"/>
              </a:srgbClr>
            </a:outerShdw>
          </a:effectLst>
        </p:spPr>
        <p:txBody>
          <a:bodyPr/>
          <a:lstStyle/>
          <a:p>
            <a:endParaRPr lang="en-US"/>
          </a:p>
        </p:txBody>
      </p:sp>
      <p:sp>
        <p:nvSpPr>
          <p:cNvPr id="34" name="Text 32"/>
          <p:cNvSpPr/>
          <p:nvPr/>
        </p:nvSpPr>
        <p:spPr>
          <a:xfrm>
            <a:off x="594360" y="4462272"/>
            <a:ext cx="1828800" cy="292608"/>
          </a:xfrm>
          <a:prstGeom prst="rect">
            <a:avLst/>
          </a:prstGeom>
          <a:noFill/>
          <a:ln/>
        </p:spPr>
        <p:txBody>
          <a:bodyPr wrap="square" lIns="0" tIns="0" rIns="0" bIns="0" rtlCol="0" anchor="ctr"/>
          <a:lstStyle/>
          <a:p>
            <a:pPr marL="0" indent="0">
              <a:buNone/>
            </a:pPr>
            <a:r>
              <a:rPr lang="en-US" sz="1000" b="1" dirty="0">
                <a:solidFill>
                  <a:srgbClr val="8B949E"/>
                </a:solidFill>
                <a:latin typeface="Calibri" pitchFamily="34" charset="0"/>
                <a:ea typeface="Calibri" pitchFamily="34" charset="-122"/>
                <a:cs typeface="Calibri" pitchFamily="34" charset="-120"/>
              </a:rPr>
              <a:t>Common file systems:</a:t>
            </a:r>
            <a:endParaRPr lang="en-US" sz="1000" dirty="0"/>
          </a:p>
        </p:txBody>
      </p:sp>
      <p:sp>
        <p:nvSpPr>
          <p:cNvPr id="35" name="Shape 33"/>
          <p:cNvSpPr/>
          <p:nvPr/>
        </p:nvSpPr>
        <p:spPr>
          <a:xfrm>
            <a:off x="2560320" y="4471416"/>
            <a:ext cx="969264" cy="320040"/>
          </a:xfrm>
          <a:prstGeom prst="rect">
            <a:avLst/>
          </a:prstGeom>
          <a:solidFill>
            <a:srgbClr val="58A6FF">
              <a:alpha val="22000"/>
            </a:srgbClr>
          </a:solidFill>
          <a:ln w="12700">
            <a:solidFill>
              <a:srgbClr val="58A6FF"/>
            </a:solidFill>
            <a:prstDash val="solid"/>
          </a:ln>
        </p:spPr>
        <p:txBody>
          <a:bodyPr/>
          <a:lstStyle/>
          <a:p>
            <a:endParaRPr lang="en-US"/>
          </a:p>
        </p:txBody>
      </p:sp>
      <p:sp>
        <p:nvSpPr>
          <p:cNvPr id="36" name="Text 34"/>
          <p:cNvSpPr/>
          <p:nvPr/>
        </p:nvSpPr>
        <p:spPr>
          <a:xfrm>
            <a:off x="2560320" y="4471416"/>
            <a:ext cx="969264" cy="320040"/>
          </a:xfrm>
          <a:prstGeom prst="rect">
            <a:avLst/>
          </a:prstGeom>
          <a:noFill/>
          <a:ln/>
        </p:spPr>
        <p:txBody>
          <a:bodyPr wrap="square" lIns="0" tIns="0" rIns="0" bIns="0" rtlCol="0" anchor="ctr"/>
          <a:lstStyle/>
          <a:p>
            <a:pPr marL="0" indent="0" algn="ctr">
              <a:buNone/>
            </a:pPr>
            <a:r>
              <a:rPr lang="en-US" sz="800" b="1" dirty="0">
                <a:solidFill>
                  <a:srgbClr val="58A6FF"/>
                </a:solidFill>
                <a:latin typeface="Consolas" pitchFamily="34" charset="0"/>
                <a:ea typeface="Consolas" pitchFamily="34" charset="-122"/>
                <a:cs typeface="Consolas" pitchFamily="34" charset="-120"/>
              </a:rPr>
              <a:t>NTFS</a:t>
            </a:r>
            <a:endParaRPr lang="en-US" sz="800" dirty="0"/>
          </a:p>
          <a:p>
            <a:pPr marL="0" indent="0" algn="ctr">
              <a:buNone/>
            </a:pPr>
            <a:r>
              <a:rPr lang="en-US" sz="800" b="1" dirty="0">
                <a:solidFill>
                  <a:srgbClr val="58A6FF"/>
                </a:solidFill>
                <a:latin typeface="Consolas" pitchFamily="34" charset="0"/>
                <a:ea typeface="Consolas" pitchFamily="34" charset="-122"/>
                <a:cs typeface="Consolas" pitchFamily="34" charset="-120"/>
              </a:rPr>
              <a:t>Windows</a:t>
            </a:r>
            <a:endParaRPr lang="en-US" sz="800" dirty="0"/>
          </a:p>
        </p:txBody>
      </p:sp>
      <p:sp>
        <p:nvSpPr>
          <p:cNvPr id="37" name="Shape 35"/>
          <p:cNvSpPr/>
          <p:nvPr/>
        </p:nvSpPr>
        <p:spPr>
          <a:xfrm>
            <a:off x="3602736" y="4471416"/>
            <a:ext cx="969264" cy="320040"/>
          </a:xfrm>
          <a:prstGeom prst="rect">
            <a:avLst/>
          </a:prstGeom>
          <a:solidFill>
            <a:srgbClr val="8B949E">
              <a:alpha val="22000"/>
            </a:srgbClr>
          </a:solidFill>
          <a:ln w="12700">
            <a:solidFill>
              <a:srgbClr val="8B949E"/>
            </a:solidFill>
            <a:prstDash val="solid"/>
          </a:ln>
        </p:spPr>
        <p:txBody>
          <a:bodyPr/>
          <a:lstStyle/>
          <a:p>
            <a:endParaRPr lang="en-US"/>
          </a:p>
        </p:txBody>
      </p:sp>
      <p:sp>
        <p:nvSpPr>
          <p:cNvPr id="38" name="Text 36"/>
          <p:cNvSpPr/>
          <p:nvPr/>
        </p:nvSpPr>
        <p:spPr>
          <a:xfrm>
            <a:off x="3602736" y="4471416"/>
            <a:ext cx="969264" cy="320040"/>
          </a:xfrm>
          <a:prstGeom prst="rect">
            <a:avLst/>
          </a:prstGeom>
          <a:noFill/>
          <a:ln/>
        </p:spPr>
        <p:txBody>
          <a:bodyPr wrap="square" lIns="0" tIns="0" rIns="0" bIns="0" rtlCol="0" anchor="ctr"/>
          <a:lstStyle/>
          <a:p>
            <a:pPr marL="0" indent="0" algn="ctr">
              <a:buNone/>
            </a:pPr>
            <a:r>
              <a:rPr lang="en-US" sz="800" b="1" dirty="0">
                <a:solidFill>
                  <a:srgbClr val="8B949E"/>
                </a:solidFill>
                <a:latin typeface="Consolas" pitchFamily="34" charset="0"/>
                <a:ea typeface="Consolas" pitchFamily="34" charset="-122"/>
                <a:cs typeface="Consolas" pitchFamily="34" charset="-120"/>
              </a:rPr>
              <a:t>FAT32</a:t>
            </a:r>
            <a:endParaRPr lang="en-US" sz="800" dirty="0"/>
          </a:p>
          <a:p>
            <a:pPr marL="0" indent="0" algn="ctr">
              <a:buNone/>
            </a:pPr>
            <a:r>
              <a:rPr lang="en-US" sz="800" b="1" dirty="0">
                <a:solidFill>
                  <a:srgbClr val="8B949E"/>
                </a:solidFill>
                <a:latin typeface="Consolas" pitchFamily="34" charset="0"/>
                <a:ea typeface="Consolas" pitchFamily="34" charset="-122"/>
                <a:cs typeface="Consolas" pitchFamily="34" charset="-120"/>
              </a:rPr>
              <a:t>USB / Legacy</a:t>
            </a:r>
            <a:endParaRPr lang="en-US" sz="800" dirty="0"/>
          </a:p>
        </p:txBody>
      </p:sp>
      <p:sp>
        <p:nvSpPr>
          <p:cNvPr id="39" name="Shape 37"/>
          <p:cNvSpPr/>
          <p:nvPr/>
        </p:nvSpPr>
        <p:spPr>
          <a:xfrm>
            <a:off x="4645152" y="4471416"/>
            <a:ext cx="969264" cy="320040"/>
          </a:xfrm>
          <a:prstGeom prst="rect">
            <a:avLst/>
          </a:prstGeom>
          <a:solidFill>
            <a:srgbClr val="3FD9C4">
              <a:alpha val="22000"/>
            </a:srgbClr>
          </a:solidFill>
          <a:ln w="12700">
            <a:solidFill>
              <a:srgbClr val="3FD9C4"/>
            </a:solidFill>
            <a:prstDash val="solid"/>
          </a:ln>
        </p:spPr>
        <p:txBody>
          <a:bodyPr/>
          <a:lstStyle/>
          <a:p>
            <a:endParaRPr lang="en-US"/>
          </a:p>
        </p:txBody>
      </p:sp>
      <p:sp>
        <p:nvSpPr>
          <p:cNvPr id="40" name="Text 38"/>
          <p:cNvSpPr/>
          <p:nvPr/>
        </p:nvSpPr>
        <p:spPr>
          <a:xfrm>
            <a:off x="4645152" y="4471416"/>
            <a:ext cx="969264" cy="320040"/>
          </a:xfrm>
          <a:prstGeom prst="rect">
            <a:avLst/>
          </a:prstGeom>
          <a:noFill/>
          <a:ln/>
        </p:spPr>
        <p:txBody>
          <a:bodyPr wrap="square" lIns="0" tIns="0" rIns="0" bIns="0" rtlCol="0" anchor="ctr"/>
          <a:lstStyle/>
          <a:p>
            <a:pPr marL="0" indent="0" algn="ctr">
              <a:buNone/>
            </a:pPr>
            <a:r>
              <a:rPr lang="en-US" sz="800" b="1" dirty="0">
                <a:solidFill>
                  <a:srgbClr val="3FD9C4"/>
                </a:solidFill>
                <a:latin typeface="Consolas" pitchFamily="34" charset="0"/>
                <a:ea typeface="Consolas" pitchFamily="34" charset="-122"/>
                <a:cs typeface="Consolas" pitchFamily="34" charset="-120"/>
              </a:rPr>
              <a:t>exFAT</a:t>
            </a:r>
            <a:endParaRPr lang="en-US" sz="800" dirty="0"/>
          </a:p>
          <a:p>
            <a:pPr marL="0" indent="0" algn="ctr">
              <a:buNone/>
            </a:pPr>
            <a:r>
              <a:rPr lang="en-US" sz="800" b="1" dirty="0">
                <a:solidFill>
                  <a:srgbClr val="3FD9C4"/>
                </a:solidFill>
                <a:latin typeface="Consolas" pitchFamily="34" charset="0"/>
                <a:ea typeface="Consolas" pitchFamily="34" charset="-122"/>
                <a:cs typeface="Consolas" pitchFamily="34" charset="-120"/>
              </a:rPr>
              <a:t>Flash drives</a:t>
            </a:r>
            <a:endParaRPr lang="en-US" sz="800" dirty="0"/>
          </a:p>
        </p:txBody>
      </p:sp>
      <p:sp>
        <p:nvSpPr>
          <p:cNvPr id="41" name="Shape 39"/>
          <p:cNvSpPr/>
          <p:nvPr/>
        </p:nvSpPr>
        <p:spPr>
          <a:xfrm>
            <a:off x="5687568" y="4471416"/>
            <a:ext cx="969264" cy="320040"/>
          </a:xfrm>
          <a:prstGeom prst="rect">
            <a:avLst/>
          </a:prstGeom>
          <a:solidFill>
            <a:srgbClr val="3FB950">
              <a:alpha val="22000"/>
            </a:srgbClr>
          </a:solidFill>
          <a:ln w="12700">
            <a:solidFill>
              <a:srgbClr val="3FB950"/>
            </a:solidFill>
            <a:prstDash val="solid"/>
          </a:ln>
        </p:spPr>
        <p:txBody>
          <a:bodyPr/>
          <a:lstStyle/>
          <a:p>
            <a:endParaRPr lang="en-US"/>
          </a:p>
        </p:txBody>
      </p:sp>
      <p:sp>
        <p:nvSpPr>
          <p:cNvPr id="42" name="Text 40"/>
          <p:cNvSpPr/>
          <p:nvPr/>
        </p:nvSpPr>
        <p:spPr>
          <a:xfrm>
            <a:off x="5687568" y="4471416"/>
            <a:ext cx="969264" cy="320040"/>
          </a:xfrm>
          <a:prstGeom prst="rect">
            <a:avLst/>
          </a:prstGeom>
          <a:noFill/>
          <a:ln/>
        </p:spPr>
        <p:txBody>
          <a:bodyPr wrap="square" lIns="0" tIns="0" rIns="0" bIns="0" rtlCol="0" anchor="ctr"/>
          <a:lstStyle/>
          <a:p>
            <a:pPr marL="0" indent="0" algn="ctr">
              <a:buNone/>
            </a:pPr>
            <a:r>
              <a:rPr lang="en-US" sz="800" b="1" dirty="0">
                <a:solidFill>
                  <a:srgbClr val="3FB950"/>
                </a:solidFill>
                <a:latin typeface="Consolas" pitchFamily="34" charset="0"/>
                <a:ea typeface="Consolas" pitchFamily="34" charset="-122"/>
                <a:cs typeface="Consolas" pitchFamily="34" charset="-120"/>
              </a:rPr>
              <a:t>ext4</a:t>
            </a:r>
            <a:endParaRPr lang="en-US" sz="800" dirty="0"/>
          </a:p>
          <a:p>
            <a:pPr marL="0" indent="0" algn="ctr">
              <a:buNone/>
            </a:pPr>
            <a:r>
              <a:rPr lang="en-US" sz="800" b="1" dirty="0">
                <a:solidFill>
                  <a:srgbClr val="3FB950"/>
                </a:solidFill>
                <a:latin typeface="Consolas" pitchFamily="34" charset="0"/>
                <a:ea typeface="Consolas" pitchFamily="34" charset="-122"/>
                <a:cs typeface="Consolas" pitchFamily="34" charset="-120"/>
              </a:rPr>
              <a:t>Linux</a:t>
            </a:r>
            <a:endParaRPr lang="en-US" sz="800" dirty="0"/>
          </a:p>
        </p:txBody>
      </p:sp>
      <p:sp>
        <p:nvSpPr>
          <p:cNvPr id="43" name="Shape 41"/>
          <p:cNvSpPr/>
          <p:nvPr/>
        </p:nvSpPr>
        <p:spPr>
          <a:xfrm>
            <a:off x="6729984" y="4471416"/>
            <a:ext cx="969264" cy="320040"/>
          </a:xfrm>
          <a:prstGeom prst="rect">
            <a:avLst/>
          </a:prstGeom>
          <a:solidFill>
            <a:srgbClr val="BC8CFF">
              <a:alpha val="22000"/>
            </a:srgbClr>
          </a:solidFill>
          <a:ln w="12700">
            <a:solidFill>
              <a:srgbClr val="BC8CFF"/>
            </a:solidFill>
            <a:prstDash val="solid"/>
          </a:ln>
        </p:spPr>
        <p:txBody>
          <a:bodyPr/>
          <a:lstStyle/>
          <a:p>
            <a:endParaRPr lang="en-US"/>
          </a:p>
        </p:txBody>
      </p:sp>
      <p:sp>
        <p:nvSpPr>
          <p:cNvPr id="44" name="Text 42"/>
          <p:cNvSpPr/>
          <p:nvPr/>
        </p:nvSpPr>
        <p:spPr>
          <a:xfrm>
            <a:off x="6729984" y="4471416"/>
            <a:ext cx="969264" cy="320040"/>
          </a:xfrm>
          <a:prstGeom prst="rect">
            <a:avLst/>
          </a:prstGeom>
          <a:noFill/>
          <a:ln/>
        </p:spPr>
        <p:txBody>
          <a:bodyPr wrap="square" lIns="0" tIns="0" rIns="0" bIns="0" rtlCol="0" anchor="ctr"/>
          <a:lstStyle/>
          <a:p>
            <a:pPr marL="0" indent="0" algn="ctr">
              <a:buNone/>
            </a:pPr>
            <a:r>
              <a:rPr lang="en-US" sz="800" b="1" dirty="0">
                <a:solidFill>
                  <a:srgbClr val="BC8CFF"/>
                </a:solidFill>
                <a:latin typeface="Consolas" pitchFamily="34" charset="0"/>
                <a:ea typeface="Consolas" pitchFamily="34" charset="-122"/>
                <a:cs typeface="Consolas" pitchFamily="34" charset="-120"/>
              </a:rPr>
              <a:t>APFS</a:t>
            </a:r>
            <a:endParaRPr lang="en-US" sz="800" dirty="0"/>
          </a:p>
          <a:p>
            <a:pPr marL="0" indent="0" algn="ctr">
              <a:buNone/>
            </a:pPr>
            <a:r>
              <a:rPr lang="en-US" sz="800" b="1" dirty="0">
                <a:solidFill>
                  <a:srgbClr val="BC8CFF"/>
                </a:solidFill>
                <a:latin typeface="Consolas" pitchFamily="34" charset="0"/>
                <a:ea typeface="Consolas" pitchFamily="34" charset="-122"/>
                <a:cs typeface="Consolas" pitchFamily="34" charset="-120"/>
              </a:rPr>
              <a:t>macOS</a:t>
            </a:r>
            <a:endParaRPr lang="en-US" sz="800" dirty="0"/>
          </a:p>
        </p:txBody>
      </p:sp>
      <p:sp>
        <p:nvSpPr>
          <p:cNvPr id="45" name="Shape 43"/>
          <p:cNvSpPr/>
          <p:nvPr/>
        </p:nvSpPr>
        <p:spPr>
          <a:xfrm>
            <a:off x="7772400" y="4471416"/>
            <a:ext cx="969264" cy="320040"/>
          </a:xfrm>
          <a:prstGeom prst="rect">
            <a:avLst/>
          </a:prstGeom>
          <a:solidFill>
            <a:srgbClr val="FFA657">
              <a:alpha val="22000"/>
            </a:srgbClr>
          </a:solidFill>
          <a:ln w="12700">
            <a:solidFill>
              <a:srgbClr val="FFA657"/>
            </a:solidFill>
            <a:prstDash val="solid"/>
          </a:ln>
        </p:spPr>
        <p:txBody>
          <a:bodyPr/>
          <a:lstStyle/>
          <a:p>
            <a:endParaRPr lang="en-US"/>
          </a:p>
        </p:txBody>
      </p:sp>
      <p:sp>
        <p:nvSpPr>
          <p:cNvPr id="46" name="Text 44"/>
          <p:cNvSpPr/>
          <p:nvPr/>
        </p:nvSpPr>
        <p:spPr>
          <a:xfrm>
            <a:off x="7772400" y="4471416"/>
            <a:ext cx="969264" cy="320040"/>
          </a:xfrm>
          <a:prstGeom prst="rect">
            <a:avLst/>
          </a:prstGeom>
          <a:noFill/>
          <a:ln/>
        </p:spPr>
        <p:txBody>
          <a:bodyPr wrap="square" lIns="0" tIns="0" rIns="0" bIns="0" rtlCol="0" anchor="ctr"/>
          <a:lstStyle/>
          <a:p>
            <a:pPr marL="0" indent="0" algn="ctr">
              <a:buNone/>
            </a:pPr>
            <a:r>
              <a:rPr lang="en-US" sz="800" b="1" dirty="0">
                <a:solidFill>
                  <a:srgbClr val="FFA657"/>
                </a:solidFill>
                <a:latin typeface="Consolas" pitchFamily="34" charset="0"/>
                <a:ea typeface="Consolas" pitchFamily="34" charset="-122"/>
                <a:cs typeface="Consolas" pitchFamily="34" charset="-120"/>
              </a:rPr>
              <a:t>ZFS</a:t>
            </a:r>
            <a:endParaRPr lang="en-US" sz="800" dirty="0"/>
          </a:p>
          <a:p>
            <a:pPr marL="0" indent="0" algn="ctr">
              <a:buNone/>
            </a:pPr>
            <a:r>
              <a:rPr lang="en-US" sz="800" b="1" dirty="0">
                <a:solidFill>
                  <a:srgbClr val="FFA657"/>
                </a:solidFill>
                <a:latin typeface="Consolas" pitchFamily="34" charset="0"/>
                <a:ea typeface="Consolas" pitchFamily="34" charset="-122"/>
                <a:cs typeface="Consolas" pitchFamily="34" charset="-120"/>
              </a:rPr>
              <a:t>Servers</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FILE OPERATIONS</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Storing a File — Step by Step</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What happens when you press Save for the first time</a:t>
            </a:r>
            <a:endParaRPr lang="en-US" sz="1300" dirty="0"/>
          </a:p>
        </p:txBody>
      </p:sp>
      <p:sp>
        <p:nvSpPr>
          <p:cNvPr id="7" name="Shape 5"/>
          <p:cNvSpPr/>
          <p:nvPr/>
        </p:nvSpPr>
        <p:spPr>
          <a:xfrm>
            <a:off x="411480" y="1170432"/>
            <a:ext cx="4206240" cy="109728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4206240"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9" name="Shape 7"/>
          <p:cNvSpPr/>
          <p:nvPr/>
        </p:nvSpPr>
        <p:spPr>
          <a:xfrm>
            <a:off x="521208" y="1207008"/>
            <a:ext cx="347472" cy="347472"/>
          </a:xfrm>
          <a:prstGeom prst="ellipse">
            <a:avLst/>
          </a:prstGeom>
          <a:solidFill>
            <a:srgbClr val="3FD9C4">
              <a:alpha val="80000"/>
            </a:srgbClr>
          </a:solidFill>
          <a:ln w="19050">
            <a:solidFill>
              <a:srgbClr val="3FD9C4"/>
            </a:solidFill>
            <a:prstDash val="solid"/>
          </a:ln>
        </p:spPr>
        <p:txBody>
          <a:bodyPr/>
          <a:lstStyle/>
          <a:p>
            <a:endParaRPr lang="en-US"/>
          </a:p>
        </p:txBody>
      </p:sp>
      <p:sp>
        <p:nvSpPr>
          <p:cNvPr id="10" name="Text 8"/>
          <p:cNvSpPr/>
          <p:nvPr/>
        </p:nvSpPr>
        <p:spPr>
          <a:xfrm>
            <a:off x="521208" y="1207008"/>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1</a:t>
            </a:r>
            <a:endParaRPr lang="en-US" sz="1400" dirty="0">
              <a:solidFill>
                <a:schemeClr val="bg1"/>
              </a:solidFill>
            </a:endParaRPr>
          </a:p>
        </p:txBody>
      </p:sp>
      <p:sp>
        <p:nvSpPr>
          <p:cNvPr id="11" name="Text 9"/>
          <p:cNvSpPr/>
          <p:nvPr/>
        </p:nvSpPr>
        <p:spPr>
          <a:xfrm>
            <a:off x="960120" y="1225296"/>
            <a:ext cx="3529584" cy="219456"/>
          </a:xfrm>
          <a:prstGeom prst="rect">
            <a:avLst/>
          </a:prstGeom>
          <a:noFill/>
          <a:ln/>
        </p:spPr>
        <p:txBody>
          <a:bodyPr wrap="square" lIns="0" tIns="0" rIns="0" bIns="0" rtlCol="0" anchor="ctr"/>
          <a:lstStyle/>
          <a:p>
            <a:pPr marL="0" indent="0">
              <a:buNone/>
            </a:pPr>
            <a:r>
              <a:rPr lang="en-US" sz="1200" b="1" dirty="0">
                <a:solidFill>
                  <a:srgbClr val="3FD9C4"/>
                </a:solidFill>
                <a:latin typeface="Calibri" pitchFamily="34" charset="0"/>
                <a:ea typeface="Calibri" pitchFamily="34" charset="-122"/>
                <a:cs typeface="Calibri" pitchFamily="34" charset="-120"/>
              </a:rPr>
              <a:t>📝  User saves file</a:t>
            </a:r>
            <a:endParaRPr lang="en-US" sz="1200" dirty="0"/>
          </a:p>
        </p:txBody>
      </p:sp>
      <p:sp>
        <p:nvSpPr>
          <p:cNvPr id="12" name="Shape 10"/>
          <p:cNvSpPr/>
          <p:nvPr/>
        </p:nvSpPr>
        <p:spPr>
          <a:xfrm>
            <a:off x="548640" y="1517904"/>
            <a:ext cx="3931920" cy="0"/>
          </a:xfrm>
          <a:prstGeom prst="line">
            <a:avLst/>
          </a:prstGeom>
          <a:noFill/>
          <a:ln w="7620">
            <a:solidFill>
              <a:srgbClr val="3D444D"/>
            </a:solidFill>
            <a:prstDash val="solid"/>
          </a:ln>
        </p:spPr>
        <p:txBody>
          <a:bodyPr/>
          <a:lstStyle/>
          <a:p>
            <a:endParaRPr lang="en-US"/>
          </a:p>
        </p:txBody>
      </p:sp>
      <p:sp>
        <p:nvSpPr>
          <p:cNvPr id="13" name="Text 11"/>
          <p:cNvSpPr/>
          <p:nvPr/>
        </p:nvSpPr>
        <p:spPr>
          <a:xfrm>
            <a:off x="548640" y="1572768"/>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OS receives the save request.</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The file has content bytes</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and a chosen name. The OS</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hands it to the file system.</a:t>
            </a:r>
            <a:endParaRPr lang="en-US" sz="1050" dirty="0"/>
          </a:p>
        </p:txBody>
      </p:sp>
      <p:sp>
        <p:nvSpPr>
          <p:cNvPr id="14" name="Shape 12"/>
          <p:cNvSpPr/>
          <p:nvPr/>
        </p:nvSpPr>
        <p:spPr>
          <a:xfrm>
            <a:off x="411480" y="2386584"/>
            <a:ext cx="4206240" cy="109728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15" name="Shape 13"/>
          <p:cNvSpPr/>
          <p:nvPr/>
        </p:nvSpPr>
        <p:spPr>
          <a:xfrm>
            <a:off x="411480" y="2386584"/>
            <a:ext cx="4206240"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16" name="Shape 14"/>
          <p:cNvSpPr/>
          <p:nvPr/>
        </p:nvSpPr>
        <p:spPr>
          <a:xfrm>
            <a:off x="521208" y="2423160"/>
            <a:ext cx="347472" cy="347472"/>
          </a:xfrm>
          <a:prstGeom prst="ellipse">
            <a:avLst/>
          </a:prstGeom>
          <a:solidFill>
            <a:srgbClr val="58A6FF">
              <a:alpha val="80000"/>
            </a:srgbClr>
          </a:solidFill>
          <a:ln w="19050">
            <a:solidFill>
              <a:srgbClr val="58A6FF"/>
            </a:solidFill>
            <a:prstDash val="solid"/>
          </a:ln>
        </p:spPr>
        <p:txBody>
          <a:bodyPr/>
          <a:lstStyle/>
          <a:p>
            <a:endParaRPr lang="en-US"/>
          </a:p>
        </p:txBody>
      </p:sp>
      <p:sp>
        <p:nvSpPr>
          <p:cNvPr id="17" name="Text 15"/>
          <p:cNvSpPr/>
          <p:nvPr/>
        </p:nvSpPr>
        <p:spPr>
          <a:xfrm>
            <a:off x="521208" y="2423160"/>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2</a:t>
            </a:r>
            <a:endParaRPr lang="en-US" sz="1400" dirty="0">
              <a:solidFill>
                <a:schemeClr val="bg1"/>
              </a:solidFill>
            </a:endParaRPr>
          </a:p>
        </p:txBody>
      </p:sp>
      <p:sp>
        <p:nvSpPr>
          <p:cNvPr id="18" name="Text 16"/>
          <p:cNvSpPr/>
          <p:nvPr/>
        </p:nvSpPr>
        <p:spPr>
          <a:xfrm>
            <a:off x="960120" y="2441448"/>
            <a:ext cx="3529584" cy="219456"/>
          </a:xfrm>
          <a:prstGeom prst="rect">
            <a:avLst/>
          </a:prstGeom>
          <a:noFill/>
          <a:ln/>
        </p:spPr>
        <p:txBody>
          <a:bodyPr wrap="square" lIns="0" tIns="0" rIns="0" bIns="0" rtlCol="0" anchor="ctr"/>
          <a:lstStyle/>
          <a:p>
            <a:pPr marL="0" indent="0">
              <a:buNone/>
            </a:pPr>
            <a:r>
              <a:rPr lang="en-US" sz="1200" b="1" dirty="0">
                <a:solidFill>
                  <a:srgbClr val="58A6FF"/>
                </a:solidFill>
                <a:latin typeface="Calibri" pitchFamily="34" charset="0"/>
                <a:ea typeface="Calibri" pitchFamily="34" charset="-122"/>
                <a:cs typeface="Calibri" pitchFamily="34" charset="-120"/>
              </a:rPr>
              <a:t>🗂️  Directory entry created</a:t>
            </a:r>
            <a:endParaRPr lang="en-US" sz="1200" dirty="0"/>
          </a:p>
        </p:txBody>
      </p:sp>
      <p:sp>
        <p:nvSpPr>
          <p:cNvPr id="19" name="Shape 17"/>
          <p:cNvSpPr/>
          <p:nvPr/>
        </p:nvSpPr>
        <p:spPr>
          <a:xfrm>
            <a:off x="548640" y="2734056"/>
            <a:ext cx="3931920" cy="0"/>
          </a:xfrm>
          <a:prstGeom prst="line">
            <a:avLst/>
          </a:prstGeom>
          <a:noFill/>
          <a:ln w="7620">
            <a:solidFill>
              <a:srgbClr val="3D444D"/>
            </a:solidFill>
            <a:prstDash val="solid"/>
          </a:ln>
        </p:spPr>
        <p:txBody>
          <a:bodyPr/>
          <a:lstStyle/>
          <a:p>
            <a:endParaRPr lang="en-US"/>
          </a:p>
        </p:txBody>
      </p:sp>
      <p:sp>
        <p:nvSpPr>
          <p:cNvPr id="20" name="Text 18"/>
          <p:cNvSpPr/>
          <p:nvPr/>
        </p:nvSpPr>
        <p:spPr>
          <a:xfrm>
            <a:off x="548640" y="2788920"/>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FS creates a new entry in</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the parent directory:</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name, size, timestamps.</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Marked as "in use".</a:t>
            </a:r>
            <a:endParaRPr lang="en-US" sz="1050" dirty="0"/>
          </a:p>
        </p:txBody>
      </p:sp>
      <p:sp>
        <p:nvSpPr>
          <p:cNvPr id="21" name="Shape 19"/>
          <p:cNvSpPr/>
          <p:nvPr/>
        </p:nvSpPr>
        <p:spPr>
          <a:xfrm>
            <a:off x="411480" y="3602736"/>
            <a:ext cx="4206240" cy="1097280"/>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22" name="Shape 20"/>
          <p:cNvSpPr/>
          <p:nvPr/>
        </p:nvSpPr>
        <p:spPr>
          <a:xfrm>
            <a:off x="411480" y="3602736"/>
            <a:ext cx="4206240"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23" name="Shape 21"/>
          <p:cNvSpPr/>
          <p:nvPr/>
        </p:nvSpPr>
        <p:spPr>
          <a:xfrm>
            <a:off x="521208" y="3639312"/>
            <a:ext cx="347472" cy="347472"/>
          </a:xfrm>
          <a:prstGeom prst="ellipse">
            <a:avLst/>
          </a:prstGeom>
          <a:solidFill>
            <a:srgbClr val="BC8CFF">
              <a:alpha val="80000"/>
            </a:srgbClr>
          </a:solidFill>
          <a:ln w="19050">
            <a:solidFill>
              <a:srgbClr val="BC8CFF"/>
            </a:solidFill>
            <a:prstDash val="solid"/>
          </a:ln>
        </p:spPr>
        <p:txBody>
          <a:bodyPr/>
          <a:lstStyle/>
          <a:p>
            <a:endParaRPr lang="en-US"/>
          </a:p>
        </p:txBody>
      </p:sp>
      <p:sp>
        <p:nvSpPr>
          <p:cNvPr id="24" name="Text 22"/>
          <p:cNvSpPr/>
          <p:nvPr/>
        </p:nvSpPr>
        <p:spPr>
          <a:xfrm>
            <a:off x="521208" y="3639312"/>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3</a:t>
            </a:r>
            <a:endParaRPr lang="en-US" sz="1400" dirty="0">
              <a:solidFill>
                <a:schemeClr val="bg1"/>
              </a:solidFill>
            </a:endParaRPr>
          </a:p>
        </p:txBody>
      </p:sp>
      <p:sp>
        <p:nvSpPr>
          <p:cNvPr id="25" name="Text 23"/>
          <p:cNvSpPr/>
          <p:nvPr/>
        </p:nvSpPr>
        <p:spPr>
          <a:xfrm>
            <a:off x="960120" y="3657600"/>
            <a:ext cx="3529584" cy="219456"/>
          </a:xfrm>
          <a:prstGeom prst="rect">
            <a:avLst/>
          </a:prstGeom>
          <a:noFill/>
          <a:ln/>
        </p:spPr>
        <p:txBody>
          <a:bodyPr wrap="square" lIns="0" tIns="0" rIns="0" bIns="0" rtlCol="0" anchor="ctr"/>
          <a:lstStyle/>
          <a:p>
            <a:pPr marL="0" indent="0">
              <a:buNone/>
            </a:pPr>
            <a:r>
              <a:rPr lang="en-US" sz="1200" b="1" dirty="0">
                <a:solidFill>
                  <a:srgbClr val="BC8CFF"/>
                </a:solidFill>
                <a:latin typeface="Calibri" pitchFamily="34" charset="0"/>
                <a:ea typeface="Calibri" pitchFamily="34" charset="-122"/>
                <a:cs typeface="Calibri" pitchFamily="34" charset="-120"/>
              </a:rPr>
              <a:t>📋  Inode/MFT allocated</a:t>
            </a:r>
            <a:endParaRPr lang="en-US" sz="1200" dirty="0"/>
          </a:p>
        </p:txBody>
      </p:sp>
      <p:sp>
        <p:nvSpPr>
          <p:cNvPr id="26" name="Shape 24"/>
          <p:cNvSpPr/>
          <p:nvPr/>
        </p:nvSpPr>
        <p:spPr>
          <a:xfrm>
            <a:off x="548640" y="3950208"/>
            <a:ext cx="3931920" cy="0"/>
          </a:xfrm>
          <a:prstGeom prst="line">
            <a:avLst/>
          </a:prstGeom>
          <a:noFill/>
          <a:ln w="7620">
            <a:solidFill>
              <a:srgbClr val="3D444D"/>
            </a:solidFill>
            <a:prstDash val="solid"/>
          </a:ln>
        </p:spPr>
        <p:txBody>
          <a:bodyPr/>
          <a:lstStyle/>
          <a:p>
            <a:endParaRPr lang="en-US"/>
          </a:p>
        </p:txBody>
      </p:sp>
      <p:sp>
        <p:nvSpPr>
          <p:cNvPr id="27" name="Text 25"/>
          <p:cNvSpPr/>
          <p:nvPr/>
        </p:nvSpPr>
        <p:spPr>
          <a:xfrm>
            <a:off x="548640" y="4005072"/>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FS allocates a metadata</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record (inode or MFT entry)</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with file properties and</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a pointer list.</a:t>
            </a:r>
            <a:endParaRPr lang="en-US" sz="1050" dirty="0"/>
          </a:p>
        </p:txBody>
      </p:sp>
      <p:sp>
        <p:nvSpPr>
          <p:cNvPr id="28" name="Shape 26"/>
          <p:cNvSpPr/>
          <p:nvPr/>
        </p:nvSpPr>
        <p:spPr>
          <a:xfrm>
            <a:off x="4800600" y="1170432"/>
            <a:ext cx="4206240" cy="1097280"/>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29" name="Shape 27"/>
          <p:cNvSpPr/>
          <p:nvPr/>
        </p:nvSpPr>
        <p:spPr>
          <a:xfrm>
            <a:off x="4800600" y="1170432"/>
            <a:ext cx="4206240"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30" name="Shape 28"/>
          <p:cNvSpPr/>
          <p:nvPr/>
        </p:nvSpPr>
        <p:spPr>
          <a:xfrm>
            <a:off x="4910328" y="1207008"/>
            <a:ext cx="347472" cy="347472"/>
          </a:xfrm>
          <a:prstGeom prst="ellipse">
            <a:avLst/>
          </a:prstGeom>
          <a:solidFill>
            <a:srgbClr val="FFA657">
              <a:alpha val="80000"/>
            </a:srgbClr>
          </a:solidFill>
          <a:ln w="19050">
            <a:solidFill>
              <a:srgbClr val="FFA657"/>
            </a:solidFill>
            <a:prstDash val="solid"/>
          </a:ln>
        </p:spPr>
        <p:txBody>
          <a:bodyPr/>
          <a:lstStyle/>
          <a:p>
            <a:endParaRPr lang="en-US"/>
          </a:p>
        </p:txBody>
      </p:sp>
      <p:sp>
        <p:nvSpPr>
          <p:cNvPr id="31" name="Text 29"/>
          <p:cNvSpPr/>
          <p:nvPr/>
        </p:nvSpPr>
        <p:spPr>
          <a:xfrm>
            <a:off x="4910328" y="1207008"/>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4</a:t>
            </a:r>
            <a:endParaRPr lang="en-US" sz="1400" dirty="0">
              <a:solidFill>
                <a:schemeClr val="bg1"/>
              </a:solidFill>
            </a:endParaRPr>
          </a:p>
        </p:txBody>
      </p:sp>
      <p:sp>
        <p:nvSpPr>
          <p:cNvPr id="32" name="Text 30"/>
          <p:cNvSpPr/>
          <p:nvPr/>
        </p:nvSpPr>
        <p:spPr>
          <a:xfrm>
            <a:off x="5349240" y="1225296"/>
            <a:ext cx="3529584" cy="219456"/>
          </a:xfrm>
          <a:prstGeom prst="rect">
            <a:avLst/>
          </a:prstGeom>
          <a:noFill/>
          <a:ln/>
        </p:spPr>
        <p:txBody>
          <a:bodyPr wrap="square" lIns="0" tIns="0" rIns="0" bIns="0" rtlCol="0" anchor="ctr"/>
          <a:lstStyle/>
          <a:p>
            <a:pPr marL="0" indent="0">
              <a:buNone/>
            </a:pPr>
            <a:r>
              <a:rPr lang="en-US" sz="1200" b="1" dirty="0">
                <a:solidFill>
                  <a:srgbClr val="FFA657"/>
                </a:solidFill>
                <a:latin typeface="Calibri" pitchFamily="34" charset="0"/>
                <a:ea typeface="Calibri" pitchFamily="34" charset="-122"/>
                <a:cs typeface="Calibri" pitchFamily="34" charset="-120"/>
              </a:rPr>
              <a:t>🧩  Blocks allocated</a:t>
            </a:r>
            <a:endParaRPr lang="en-US" sz="1200" dirty="0"/>
          </a:p>
        </p:txBody>
      </p:sp>
      <p:sp>
        <p:nvSpPr>
          <p:cNvPr id="33" name="Shape 31"/>
          <p:cNvSpPr/>
          <p:nvPr/>
        </p:nvSpPr>
        <p:spPr>
          <a:xfrm>
            <a:off x="4937760" y="1517904"/>
            <a:ext cx="3931920" cy="0"/>
          </a:xfrm>
          <a:prstGeom prst="line">
            <a:avLst/>
          </a:prstGeom>
          <a:noFill/>
          <a:ln w="7620">
            <a:solidFill>
              <a:srgbClr val="3D444D"/>
            </a:solidFill>
            <a:prstDash val="solid"/>
          </a:ln>
        </p:spPr>
        <p:txBody>
          <a:bodyPr/>
          <a:lstStyle/>
          <a:p>
            <a:endParaRPr lang="en-US"/>
          </a:p>
        </p:txBody>
      </p:sp>
      <p:sp>
        <p:nvSpPr>
          <p:cNvPr id="34" name="Text 32"/>
          <p:cNvSpPr/>
          <p:nvPr/>
        </p:nvSpPr>
        <p:spPr>
          <a:xfrm>
            <a:off x="4937760" y="1572768"/>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FS finds free disk blocks</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(checks the free-block bitmap).</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Large files get multiple blocks.</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Blocks marked "used".</a:t>
            </a:r>
            <a:endParaRPr lang="en-US" sz="1050" dirty="0"/>
          </a:p>
        </p:txBody>
      </p:sp>
      <p:sp>
        <p:nvSpPr>
          <p:cNvPr id="35" name="Shape 33"/>
          <p:cNvSpPr/>
          <p:nvPr/>
        </p:nvSpPr>
        <p:spPr>
          <a:xfrm>
            <a:off x="4800600" y="2386584"/>
            <a:ext cx="4206240" cy="1097280"/>
          </a:xfrm>
          <a:prstGeom prst="rect">
            <a:avLst/>
          </a:prstGeom>
          <a:solidFill>
            <a:srgbClr val="161B26"/>
          </a:solidFill>
          <a:ln w="15240">
            <a:solidFill>
              <a:srgbClr val="E3B341"/>
            </a:solidFill>
            <a:prstDash val="solid"/>
          </a:ln>
          <a:effectLst>
            <a:outerShdw blurRad="177800" dist="38100" dir="8100000" algn="bl" rotWithShape="0">
              <a:srgbClr val="000000">
                <a:alpha val="35000"/>
              </a:srgbClr>
            </a:outerShdw>
          </a:effectLst>
        </p:spPr>
        <p:txBody>
          <a:bodyPr/>
          <a:lstStyle/>
          <a:p>
            <a:endParaRPr lang="en-US"/>
          </a:p>
        </p:txBody>
      </p:sp>
      <p:sp>
        <p:nvSpPr>
          <p:cNvPr id="36" name="Shape 34"/>
          <p:cNvSpPr/>
          <p:nvPr/>
        </p:nvSpPr>
        <p:spPr>
          <a:xfrm>
            <a:off x="4800600" y="2386584"/>
            <a:ext cx="4206240" cy="329184"/>
          </a:xfrm>
          <a:prstGeom prst="rect">
            <a:avLst/>
          </a:prstGeom>
          <a:solidFill>
            <a:srgbClr val="E3B341">
              <a:alpha val="78000"/>
            </a:srgbClr>
          </a:solidFill>
          <a:ln w="12700">
            <a:solidFill>
              <a:srgbClr val="E3B341"/>
            </a:solidFill>
            <a:prstDash val="solid"/>
          </a:ln>
        </p:spPr>
        <p:txBody>
          <a:bodyPr/>
          <a:lstStyle/>
          <a:p>
            <a:endParaRPr lang="en-US"/>
          </a:p>
        </p:txBody>
      </p:sp>
      <p:sp>
        <p:nvSpPr>
          <p:cNvPr id="37" name="Shape 35"/>
          <p:cNvSpPr/>
          <p:nvPr/>
        </p:nvSpPr>
        <p:spPr>
          <a:xfrm>
            <a:off x="4910328" y="2423160"/>
            <a:ext cx="347472" cy="347472"/>
          </a:xfrm>
          <a:prstGeom prst="ellipse">
            <a:avLst/>
          </a:prstGeom>
          <a:solidFill>
            <a:srgbClr val="E3B341">
              <a:alpha val="80000"/>
            </a:srgbClr>
          </a:solidFill>
          <a:ln w="19050">
            <a:solidFill>
              <a:srgbClr val="E3B341"/>
            </a:solidFill>
            <a:prstDash val="solid"/>
          </a:ln>
        </p:spPr>
        <p:txBody>
          <a:bodyPr/>
          <a:lstStyle/>
          <a:p>
            <a:endParaRPr lang="en-US"/>
          </a:p>
        </p:txBody>
      </p:sp>
      <p:sp>
        <p:nvSpPr>
          <p:cNvPr id="38" name="Text 36"/>
          <p:cNvSpPr/>
          <p:nvPr/>
        </p:nvSpPr>
        <p:spPr>
          <a:xfrm>
            <a:off x="4910328" y="2423160"/>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5</a:t>
            </a:r>
            <a:endParaRPr lang="en-US" sz="1400" dirty="0">
              <a:solidFill>
                <a:schemeClr val="bg1"/>
              </a:solidFill>
            </a:endParaRPr>
          </a:p>
        </p:txBody>
      </p:sp>
      <p:sp>
        <p:nvSpPr>
          <p:cNvPr id="39" name="Text 37"/>
          <p:cNvSpPr/>
          <p:nvPr/>
        </p:nvSpPr>
        <p:spPr>
          <a:xfrm>
            <a:off x="5349240" y="2441448"/>
            <a:ext cx="3529584" cy="219456"/>
          </a:xfrm>
          <a:prstGeom prst="rect">
            <a:avLst/>
          </a:prstGeom>
          <a:noFill/>
          <a:ln/>
        </p:spPr>
        <p:txBody>
          <a:bodyPr wrap="square" lIns="0" tIns="0" rIns="0" bIns="0" rtlCol="0" anchor="ctr"/>
          <a:lstStyle/>
          <a:p>
            <a:pPr marL="0" indent="0">
              <a:buNone/>
            </a:pPr>
            <a:r>
              <a:rPr lang="en-US" sz="1200" b="1" dirty="0">
                <a:solidFill>
                  <a:srgbClr val="E3B341"/>
                </a:solidFill>
                <a:latin typeface="Calibri" pitchFamily="34" charset="0"/>
                <a:ea typeface="Calibri" pitchFamily="34" charset="-122"/>
                <a:cs typeface="Calibri" pitchFamily="34" charset="-120"/>
              </a:rPr>
              <a:t>💾  Bytes written to disk</a:t>
            </a:r>
            <a:endParaRPr lang="en-US" sz="1200" dirty="0"/>
          </a:p>
        </p:txBody>
      </p:sp>
      <p:sp>
        <p:nvSpPr>
          <p:cNvPr id="40" name="Shape 38"/>
          <p:cNvSpPr/>
          <p:nvPr/>
        </p:nvSpPr>
        <p:spPr>
          <a:xfrm>
            <a:off x="4937760" y="2734056"/>
            <a:ext cx="3931920" cy="0"/>
          </a:xfrm>
          <a:prstGeom prst="line">
            <a:avLst/>
          </a:prstGeom>
          <a:noFill/>
          <a:ln w="7620">
            <a:solidFill>
              <a:srgbClr val="3D444D"/>
            </a:solidFill>
            <a:prstDash val="solid"/>
          </a:ln>
        </p:spPr>
        <p:txBody>
          <a:bodyPr/>
          <a:lstStyle/>
          <a:p>
            <a:endParaRPr lang="en-US"/>
          </a:p>
        </p:txBody>
      </p:sp>
      <p:sp>
        <p:nvSpPr>
          <p:cNvPr id="41" name="Text 39"/>
          <p:cNvSpPr/>
          <p:nvPr/>
        </p:nvSpPr>
        <p:spPr>
          <a:xfrm>
            <a:off x="4937760" y="2788920"/>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Content bytes are written</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to allocated blocks. Inode</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updated with block addresses.</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Disk cache flushed.</a:t>
            </a:r>
            <a:endParaRPr lang="en-US" sz="1050" dirty="0"/>
          </a:p>
        </p:txBody>
      </p:sp>
      <p:sp>
        <p:nvSpPr>
          <p:cNvPr id="42" name="Shape 40"/>
          <p:cNvSpPr/>
          <p:nvPr/>
        </p:nvSpPr>
        <p:spPr>
          <a:xfrm>
            <a:off x="4800600" y="3602736"/>
            <a:ext cx="4206240" cy="1097280"/>
          </a:xfrm>
          <a:prstGeom prst="rect">
            <a:avLst/>
          </a:prstGeom>
          <a:solidFill>
            <a:srgbClr val="161B26"/>
          </a:solidFill>
          <a:ln w="15240">
            <a:solidFill>
              <a:srgbClr val="3FB950"/>
            </a:solidFill>
            <a:prstDash val="solid"/>
          </a:ln>
          <a:effectLst>
            <a:outerShdw blurRad="177800" dist="38100" dir="8100000" algn="bl" rotWithShape="0">
              <a:srgbClr val="000000">
                <a:alpha val="35000"/>
              </a:srgbClr>
            </a:outerShdw>
          </a:effectLst>
        </p:spPr>
        <p:txBody>
          <a:bodyPr/>
          <a:lstStyle/>
          <a:p>
            <a:endParaRPr lang="en-US"/>
          </a:p>
        </p:txBody>
      </p:sp>
      <p:sp>
        <p:nvSpPr>
          <p:cNvPr id="43" name="Shape 41"/>
          <p:cNvSpPr/>
          <p:nvPr/>
        </p:nvSpPr>
        <p:spPr>
          <a:xfrm>
            <a:off x="4800600" y="3602736"/>
            <a:ext cx="4206240" cy="329184"/>
          </a:xfrm>
          <a:prstGeom prst="rect">
            <a:avLst/>
          </a:prstGeom>
          <a:solidFill>
            <a:srgbClr val="3FB950">
              <a:alpha val="78000"/>
            </a:srgbClr>
          </a:solidFill>
          <a:ln w="12700">
            <a:solidFill>
              <a:srgbClr val="3FB950"/>
            </a:solidFill>
            <a:prstDash val="solid"/>
          </a:ln>
        </p:spPr>
        <p:txBody>
          <a:bodyPr/>
          <a:lstStyle/>
          <a:p>
            <a:endParaRPr lang="en-US"/>
          </a:p>
        </p:txBody>
      </p:sp>
      <p:sp>
        <p:nvSpPr>
          <p:cNvPr id="44" name="Shape 42"/>
          <p:cNvSpPr/>
          <p:nvPr/>
        </p:nvSpPr>
        <p:spPr>
          <a:xfrm>
            <a:off x="4910328" y="3639312"/>
            <a:ext cx="347472" cy="347472"/>
          </a:xfrm>
          <a:prstGeom prst="ellipse">
            <a:avLst/>
          </a:prstGeom>
          <a:solidFill>
            <a:srgbClr val="3FB950">
              <a:alpha val="80000"/>
            </a:srgbClr>
          </a:solidFill>
          <a:ln w="19050">
            <a:solidFill>
              <a:srgbClr val="3FB950"/>
            </a:solidFill>
            <a:prstDash val="solid"/>
          </a:ln>
        </p:spPr>
        <p:txBody>
          <a:bodyPr/>
          <a:lstStyle/>
          <a:p>
            <a:endParaRPr lang="en-US"/>
          </a:p>
        </p:txBody>
      </p:sp>
      <p:sp>
        <p:nvSpPr>
          <p:cNvPr id="45" name="Text 43"/>
          <p:cNvSpPr/>
          <p:nvPr/>
        </p:nvSpPr>
        <p:spPr>
          <a:xfrm>
            <a:off x="4910328" y="3639312"/>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6</a:t>
            </a:r>
            <a:endParaRPr lang="en-US" sz="1400" dirty="0">
              <a:solidFill>
                <a:schemeClr val="bg1"/>
              </a:solidFill>
            </a:endParaRPr>
          </a:p>
        </p:txBody>
      </p:sp>
      <p:sp>
        <p:nvSpPr>
          <p:cNvPr id="46" name="Text 44"/>
          <p:cNvSpPr/>
          <p:nvPr/>
        </p:nvSpPr>
        <p:spPr>
          <a:xfrm>
            <a:off x="5349240" y="3657600"/>
            <a:ext cx="3529584" cy="219456"/>
          </a:xfrm>
          <a:prstGeom prst="rect">
            <a:avLst/>
          </a:prstGeom>
          <a:noFill/>
          <a:ln/>
        </p:spPr>
        <p:txBody>
          <a:bodyPr wrap="square" lIns="0" tIns="0" rIns="0" bIns="0" rtlCol="0" anchor="ctr"/>
          <a:lstStyle/>
          <a:p>
            <a:pPr marL="0" indent="0">
              <a:buNone/>
            </a:pPr>
            <a:r>
              <a:rPr lang="en-US" sz="1200" b="1" dirty="0">
                <a:solidFill>
                  <a:srgbClr val="3FB950"/>
                </a:solidFill>
                <a:latin typeface="Calibri" pitchFamily="34" charset="0"/>
                <a:ea typeface="Calibri" pitchFamily="34" charset="-122"/>
                <a:cs typeface="Calibri" pitchFamily="34" charset="-120"/>
              </a:rPr>
              <a:t>✅  Journal updated</a:t>
            </a:r>
            <a:endParaRPr lang="en-US" sz="1200" dirty="0"/>
          </a:p>
        </p:txBody>
      </p:sp>
      <p:sp>
        <p:nvSpPr>
          <p:cNvPr id="47" name="Shape 45"/>
          <p:cNvSpPr/>
          <p:nvPr/>
        </p:nvSpPr>
        <p:spPr>
          <a:xfrm>
            <a:off x="4937760" y="3950208"/>
            <a:ext cx="3931920" cy="0"/>
          </a:xfrm>
          <a:prstGeom prst="line">
            <a:avLst/>
          </a:prstGeom>
          <a:noFill/>
          <a:ln w="7620">
            <a:solidFill>
              <a:srgbClr val="3D444D"/>
            </a:solidFill>
            <a:prstDash val="solid"/>
          </a:ln>
        </p:spPr>
        <p:txBody>
          <a:bodyPr/>
          <a:lstStyle/>
          <a:p>
            <a:endParaRPr lang="en-US"/>
          </a:p>
        </p:txBody>
      </p:sp>
      <p:sp>
        <p:nvSpPr>
          <p:cNvPr id="48" name="Text 46"/>
          <p:cNvSpPr/>
          <p:nvPr/>
        </p:nvSpPr>
        <p:spPr>
          <a:xfrm>
            <a:off x="4937760" y="4005072"/>
            <a:ext cx="3931920" cy="621792"/>
          </a:xfrm>
          <a:prstGeom prst="rect">
            <a:avLst/>
          </a:prstGeom>
          <a:noFill/>
          <a:ln/>
        </p:spPr>
        <p:txBody>
          <a:bodyPr wrap="square" lIns="0" tIns="0" rIns="0" bIns="0" rtlCol="0" anchor="t"/>
          <a:lstStyle/>
          <a:p>
            <a:pPr marL="0" indent="0" algn="l">
              <a:buNone/>
            </a:pPr>
            <a:r>
              <a:rPr lang="en-US" sz="1050" dirty="0">
                <a:solidFill>
                  <a:srgbClr val="F0F6FC"/>
                </a:solidFill>
                <a:latin typeface="Calibri" pitchFamily="34" charset="0"/>
                <a:ea typeface="Calibri" pitchFamily="34" charset="-122"/>
                <a:cs typeface="Calibri" pitchFamily="34" charset="-120"/>
              </a:rPr>
              <a:t>Journalling FS logs the</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operation as "committed".</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If power fails mid-write,</a:t>
            </a:r>
            <a:endParaRPr lang="en-US" sz="1050" dirty="0"/>
          </a:p>
          <a:p>
            <a:pPr marL="0" indent="0" algn="l">
              <a:buNone/>
            </a:pPr>
            <a:r>
              <a:rPr lang="en-US" sz="1050" dirty="0">
                <a:solidFill>
                  <a:srgbClr val="F0F6FC"/>
                </a:solidFill>
                <a:latin typeface="Calibri" pitchFamily="34" charset="0"/>
                <a:ea typeface="Calibri" pitchFamily="34" charset="-122"/>
                <a:cs typeface="Calibri" pitchFamily="34" charset="-120"/>
              </a:rPr>
              <a:t>journal enables recovery.</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FILE OPERATIONS</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Retrieving a File — Reading from Disk</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What happens when you open "report.pdf"</a:t>
            </a:r>
            <a:endParaRPr lang="en-US" sz="1300" dirty="0"/>
          </a:p>
        </p:txBody>
      </p:sp>
      <p:sp>
        <p:nvSpPr>
          <p:cNvPr id="7" name="Shape 5"/>
          <p:cNvSpPr/>
          <p:nvPr/>
        </p:nvSpPr>
        <p:spPr>
          <a:xfrm>
            <a:off x="411480" y="1170432"/>
            <a:ext cx="8321040" cy="137160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8321040"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9" name="Text 7"/>
          <p:cNvSpPr/>
          <p:nvPr/>
        </p:nvSpPr>
        <p:spPr>
          <a:xfrm>
            <a:off x="548640" y="1216152"/>
            <a:ext cx="8046720" cy="256032"/>
          </a:xfrm>
          <a:prstGeom prst="rect">
            <a:avLst/>
          </a:prstGeom>
          <a:noFill/>
          <a:ln/>
        </p:spPr>
        <p:txBody>
          <a:bodyPr wrap="square" lIns="0" tIns="0" rIns="0" bIns="0" rtlCol="0" anchor="ctr"/>
          <a:lstStyle/>
          <a:p>
            <a:pPr marL="0" indent="0">
              <a:buNone/>
            </a:pPr>
            <a:r>
              <a:rPr lang="en-US" sz="1100" b="1" dirty="0">
                <a:solidFill>
                  <a:srgbClr val="3FD9C4"/>
                </a:solidFill>
                <a:latin typeface="Calibri" pitchFamily="34" charset="0"/>
                <a:ea typeface="Calibri" pitchFamily="34" charset="-122"/>
                <a:cs typeface="Calibri" pitchFamily="34" charset="-120"/>
              </a:rPr>
              <a:t>📂  Read Request Pipeline</a:t>
            </a:r>
            <a:endParaRPr lang="en-US" sz="1100" dirty="0"/>
          </a:p>
        </p:txBody>
      </p:sp>
      <p:sp>
        <p:nvSpPr>
          <p:cNvPr id="10" name="Shape 8"/>
          <p:cNvSpPr/>
          <p:nvPr/>
        </p:nvSpPr>
        <p:spPr>
          <a:xfrm>
            <a:off x="548640" y="1591056"/>
            <a:ext cx="1261872" cy="658368"/>
          </a:xfrm>
          <a:prstGeom prst="rect">
            <a:avLst/>
          </a:prstGeom>
          <a:solidFill>
            <a:srgbClr val="3FD9C4">
              <a:alpha val="28000"/>
            </a:srgbClr>
          </a:solidFill>
          <a:ln w="15240">
            <a:solidFill>
              <a:srgbClr val="3FD9C4"/>
            </a:solidFill>
            <a:prstDash val="solid"/>
          </a:ln>
        </p:spPr>
        <p:txBody>
          <a:bodyPr/>
          <a:lstStyle/>
          <a:p>
            <a:endParaRPr lang="en-US"/>
          </a:p>
        </p:txBody>
      </p:sp>
      <p:sp>
        <p:nvSpPr>
          <p:cNvPr id="11" name="Text 9"/>
          <p:cNvSpPr/>
          <p:nvPr/>
        </p:nvSpPr>
        <p:spPr>
          <a:xfrm>
            <a:off x="548640" y="1591056"/>
            <a:ext cx="1261872" cy="658368"/>
          </a:xfrm>
          <a:prstGeom prst="rect">
            <a:avLst/>
          </a:prstGeom>
          <a:noFill/>
          <a:ln/>
        </p:spPr>
        <p:txBody>
          <a:bodyPr wrap="square" lIns="0" tIns="0" rIns="0" bIns="0" rtlCol="0" anchor="ctr"/>
          <a:lstStyle/>
          <a:p>
            <a:pPr marL="0" indent="0" algn="ctr">
              <a:buNone/>
            </a:pPr>
            <a:r>
              <a:rPr lang="en-US" sz="950" b="1" dirty="0">
                <a:solidFill>
                  <a:srgbClr val="3FD9C4"/>
                </a:solidFill>
                <a:latin typeface="Calibri" pitchFamily="34" charset="0"/>
                <a:ea typeface="Calibri" pitchFamily="34" charset="-122"/>
                <a:cs typeface="Calibri" pitchFamily="34" charset="-120"/>
              </a:rPr>
              <a:t>App Request</a:t>
            </a:r>
            <a:endParaRPr lang="en-US" sz="950" dirty="0"/>
          </a:p>
        </p:txBody>
      </p:sp>
      <p:sp>
        <p:nvSpPr>
          <p:cNvPr id="12" name="Shape 10"/>
          <p:cNvSpPr/>
          <p:nvPr/>
        </p:nvSpPr>
        <p:spPr>
          <a:xfrm>
            <a:off x="1810512" y="1847088"/>
            <a:ext cx="128016" cy="146304"/>
          </a:xfrm>
          <a:prstGeom prst="rect">
            <a:avLst/>
          </a:prstGeom>
          <a:solidFill>
            <a:srgbClr val="F0F6FC">
              <a:alpha val="60000"/>
            </a:srgbClr>
          </a:solidFill>
          <a:ln w="12700">
            <a:solidFill>
              <a:srgbClr val="F0F6FC">
                <a:alpha val="60000"/>
              </a:srgbClr>
            </a:solidFill>
            <a:prstDash val="solid"/>
          </a:ln>
        </p:spPr>
        <p:txBody>
          <a:bodyPr/>
          <a:lstStyle/>
          <a:p>
            <a:endParaRPr lang="en-US"/>
          </a:p>
        </p:txBody>
      </p:sp>
      <p:sp>
        <p:nvSpPr>
          <p:cNvPr id="13" name="Shape 11"/>
          <p:cNvSpPr/>
          <p:nvPr/>
        </p:nvSpPr>
        <p:spPr>
          <a:xfrm>
            <a:off x="1938528" y="1591056"/>
            <a:ext cx="1261872" cy="658368"/>
          </a:xfrm>
          <a:prstGeom prst="rect">
            <a:avLst/>
          </a:prstGeom>
          <a:solidFill>
            <a:srgbClr val="58A6FF">
              <a:alpha val="28000"/>
            </a:srgbClr>
          </a:solidFill>
          <a:ln w="15240">
            <a:solidFill>
              <a:srgbClr val="58A6FF"/>
            </a:solidFill>
            <a:prstDash val="solid"/>
          </a:ln>
        </p:spPr>
        <p:txBody>
          <a:bodyPr/>
          <a:lstStyle/>
          <a:p>
            <a:endParaRPr lang="en-US"/>
          </a:p>
        </p:txBody>
      </p:sp>
      <p:sp>
        <p:nvSpPr>
          <p:cNvPr id="14" name="Text 12"/>
          <p:cNvSpPr/>
          <p:nvPr/>
        </p:nvSpPr>
        <p:spPr>
          <a:xfrm>
            <a:off x="1938528" y="1591056"/>
            <a:ext cx="1261872" cy="658368"/>
          </a:xfrm>
          <a:prstGeom prst="rect">
            <a:avLst/>
          </a:prstGeom>
          <a:noFill/>
          <a:ln/>
        </p:spPr>
        <p:txBody>
          <a:bodyPr wrap="square" lIns="0" tIns="0" rIns="0" bIns="0" rtlCol="0" anchor="ctr"/>
          <a:lstStyle/>
          <a:p>
            <a:pPr marL="0" indent="0" algn="ctr">
              <a:buNone/>
            </a:pPr>
            <a:r>
              <a:rPr lang="en-US" sz="950" b="1" dirty="0">
                <a:solidFill>
                  <a:srgbClr val="58A6FF"/>
                </a:solidFill>
                <a:latin typeface="Calibri" pitchFamily="34" charset="0"/>
                <a:ea typeface="Calibri" pitchFamily="34" charset="-122"/>
                <a:cs typeface="Calibri" pitchFamily="34" charset="-120"/>
              </a:rPr>
              <a:t>OS / VFS</a:t>
            </a:r>
            <a:endParaRPr lang="en-US" sz="950" dirty="0"/>
          </a:p>
        </p:txBody>
      </p:sp>
      <p:sp>
        <p:nvSpPr>
          <p:cNvPr id="15" name="Shape 13"/>
          <p:cNvSpPr/>
          <p:nvPr/>
        </p:nvSpPr>
        <p:spPr>
          <a:xfrm>
            <a:off x="3200400" y="1847088"/>
            <a:ext cx="128016" cy="146304"/>
          </a:xfrm>
          <a:prstGeom prst="rect">
            <a:avLst/>
          </a:prstGeom>
          <a:solidFill>
            <a:srgbClr val="F0F6FC">
              <a:alpha val="60000"/>
            </a:srgbClr>
          </a:solidFill>
          <a:ln w="12700">
            <a:solidFill>
              <a:srgbClr val="F0F6FC">
                <a:alpha val="60000"/>
              </a:srgbClr>
            </a:solidFill>
            <a:prstDash val="solid"/>
          </a:ln>
        </p:spPr>
        <p:txBody>
          <a:bodyPr/>
          <a:lstStyle/>
          <a:p>
            <a:endParaRPr lang="en-US"/>
          </a:p>
        </p:txBody>
      </p:sp>
      <p:sp>
        <p:nvSpPr>
          <p:cNvPr id="16" name="Shape 14"/>
          <p:cNvSpPr/>
          <p:nvPr/>
        </p:nvSpPr>
        <p:spPr>
          <a:xfrm>
            <a:off x="3328416" y="1591056"/>
            <a:ext cx="1261872" cy="658368"/>
          </a:xfrm>
          <a:prstGeom prst="rect">
            <a:avLst/>
          </a:prstGeom>
          <a:solidFill>
            <a:srgbClr val="BC8CFF">
              <a:alpha val="28000"/>
            </a:srgbClr>
          </a:solidFill>
          <a:ln w="15240">
            <a:solidFill>
              <a:srgbClr val="BC8CFF"/>
            </a:solidFill>
            <a:prstDash val="solid"/>
          </a:ln>
        </p:spPr>
        <p:txBody>
          <a:bodyPr/>
          <a:lstStyle/>
          <a:p>
            <a:endParaRPr lang="en-US"/>
          </a:p>
        </p:txBody>
      </p:sp>
      <p:sp>
        <p:nvSpPr>
          <p:cNvPr id="17" name="Text 15"/>
          <p:cNvSpPr/>
          <p:nvPr/>
        </p:nvSpPr>
        <p:spPr>
          <a:xfrm>
            <a:off x="3328416" y="1591056"/>
            <a:ext cx="1261872" cy="658368"/>
          </a:xfrm>
          <a:prstGeom prst="rect">
            <a:avLst/>
          </a:prstGeom>
          <a:noFill/>
          <a:ln/>
        </p:spPr>
        <p:txBody>
          <a:bodyPr wrap="square" lIns="0" tIns="0" rIns="0" bIns="0" rtlCol="0" anchor="ctr"/>
          <a:lstStyle/>
          <a:p>
            <a:pPr marL="0" indent="0" algn="ctr">
              <a:buNone/>
            </a:pPr>
            <a:r>
              <a:rPr lang="en-US" sz="950" b="1" dirty="0">
                <a:solidFill>
                  <a:srgbClr val="BC8CFF"/>
                </a:solidFill>
                <a:latin typeface="Calibri" pitchFamily="34" charset="0"/>
                <a:ea typeface="Calibri" pitchFamily="34" charset="-122"/>
                <a:cs typeface="Calibri" pitchFamily="34" charset="-120"/>
              </a:rPr>
              <a:t>File System</a:t>
            </a:r>
            <a:endParaRPr lang="en-US" sz="950" dirty="0"/>
          </a:p>
        </p:txBody>
      </p:sp>
      <p:sp>
        <p:nvSpPr>
          <p:cNvPr id="18" name="Shape 16"/>
          <p:cNvSpPr/>
          <p:nvPr/>
        </p:nvSpPr>
        <p:spPr>
          <a:xfrm>
            <a:off x="4590288" y="1847088"/>
            <a:ext cx="128016" cy="146304"/>
          </a:xfrm>
          <a:prstGeom prst="rect">
            <a:avLst/>
          </a:prstGeom>
          <a:solidFill>
            <a:srgbClr val="F0F6FC">
              <a:alpha val="60000"/>
            </a:srgbClr>
          </a:solidFill>
          <a:ln w="12700">
            <a:solidFill>
              <a:srgbClr val="F0F6FC">
                <a:alpha val="60000"/>
              </a:srgbClr>
            </a:solidFill>
            <a:prstDash val="solid"/>
          </a:ln>
        </p:spPr>
        <p:txBody>
          <a:bodyPr/>
          <a:lstStyle/>
          <a:p>
            <a:endParaRPr lang="en-US"/>
          </a:p>
        </p:txBody>
      </p:sp>
      <p:sp>
        <p:nvSpPr>
          <p:cNvPr id="19" name="Shape 17"/>
          <p:cNvSpPr/>
          <p:nvPr/>
        </p:nvSpPr>
        <p:spPr>
          <a:xfrm>
            <a:off x="4718304" y="1591056"/>
            <a:ext cx="1261872" cy="658368"/>
          </a:xfrm>
          <a:prstGeom prst="rect">
            <a:avLst/>
          </a:prstGeom>
          <a:solidFill>
            <a:srgbClr val="FFA657">
              <a:alpha val="28000"/>
            </a:srgbClr>
          </a:solidFill>
          <a:ln w="15240">
            <a:solidFill>
              <a:srgbClr val="FFA657"/>
            </a:solidFill>
            <a:prstDash val="solid"/>
          </a:ln>
        </p:spPr>
        <p:txBody>
          <a:bodyPr/>
          <a:lstStyle/>
          <a:p>
            <a:endParaRPr lang="en-US"/>
          </a:p>
        </p:txBody>
      </p:sp>
      <p:sp>
        <p:nvSpPr>
          <p:cNvPr id="20" name="Text 18"/>
          <p:cNvSpPr/>
          <p:nvPr/>
        </p:nvSpPr>
        <p:spPr>
          <a:xfrm>
            <a:off x="4718304" y="1591056"/>
            <a:ext cx="1261872" cy="658368"/>
          </a:xfrm>
          <a:prstGeom prst="rect">
            <a:avLst/>
          </a:prstGeom>
          <a:noFill/>
          <a:ln/>
        </p:spPr>
        <p:txBody>
          <a:bodyPr wrap="square" lIns="0" tIns="0" rIns="0" bIns="0" rtlCol="0" anchor="ctr"/>
          <a:lstStyle/>
          <a:p>
            <a:pPr marL="0" indent="0" algn="ctr">
              <a:buNone/>
            </a:pPr>
            <a:r>
              <a:rPr lang="en-US" sz="950" b="1" dirty="0">
                <a:solidFill>
                  <a:srgbClr val="FFA657"/>
                </a:solidFill>
                <a:latin typeface="Calibri" pitchFamily="34" charset="0"/>
                <a:ea typeface="Calibri" pitchFamily="34" charset="-122"/>
                <a:cs typeface="Calibri" pitchFamily="34" charset="-120"/>
              </a:rPr>
              <a:t>Disk Cache?</a:t>
            </a:r>
            <a:endParaRPr lang="en-US" sz="950" dirty="0"/>
          </a:p>
        </p:txBody>
      </p:sp>
      <p:sp>
        <p:nvSpPr>
          <p:cNvPr id="21" name="Shape 19"/>
          <p:cNvSpPr/>
          <p:nvPr/>
        </p:nvSpPr>
        <p:spPr>
          <a:xfrm>
            <a:off x="5980176" y="1847088"/>
            <a:ext cx="128016" cy="146304"/>
          </a:xfrm>
          <a:prstGeom prst="rect">
            <a:avLst/>
          </a:prstGeom>
          <a:solidFill>
            <a:srgbClr val="F0F6FC">
              <a:alpha val="60000"/>
            </a:srgbClr>
          </a:solidFill>
          <a:ln w="12700">
            <a:solidFill>
              <a:srgbClr val="F0F6FC">
                <a:alpha val="60000"/>
              </a:srgbClr>
            </a:solidFill>
            <a:prstDash val="solid"/>
          </a:ln>
        </p:spPr>
        <p:txBody>
          <a:bodyPr/>
          <a:lstStyle/>
          <a:p>
            <a:endParaRPr lang="en-US"/>
          </a:p>
        </p:txBody>
      </p:sp>
      <p:sp>
        <p:nvSpPr>
          <p:cNvPr id="22" name="Shape 20"/>
          <p:cNvSpPr/>
          <p:nvPr/>
        </p:nvSpPr>
        <p:spPr>
          <a:xfrm>
            <a:off x="6108192" y="1591056"/>
            <a:ext cx="1261872" cy="658368"/>
          </a:xfrm>
          <a:prstGeom prst="rect">
            <a:avLst/>
          </a:prstGeom>
          <a:solidFill>
            <a:srgbClr val="E3B341">
              <a:alpha val="28000"/>
            </a:srgbClr>
          </a:solidFill>
          <a:ln w="15240">
            <a:solidFill>
              <a:srgbClr val="E3B341"/>
            </a:solidFill>
            <a:prstDash val="solid"/>
          </a:ln>
        </p:spPr>
        <p:txBody>
          <a:bodyPr/>
          <a:lstStyle/>
          <a:p>
            <a:endParaRPr lang="en-US"/>
          </a:p>
        </p:txBody>
      </p:sp>
      <p:sp>
        <p:nvSpPr>
          <p:cNvPr id="23" name="Text 21"/>
          <p:cNvSpPr/>
          <p:nvPr/>
        </p:nvSpPr>
        <p:spPr>
          <a:xfrm>
            <a:off x="6108192" y="1591056"/>
            <a:ext cx="1261872" cy="658368"/>
          </a:xfrm>
          <a:prstGeom prst="rect">
            <a:avLst/>
          </a:prstGeom>
          <a:noFill/>
          <a:ln/>
        </p:spPr>
        <p:txBody>
          <a:bodyPr wrap="square" lIns="0" tIns="0" rIns="0" bIns="0" rtlCol="0" anchor="ctr"/>
          <a:lstStyle/>
          <a:p>
            <a:pPr marL="0" indent="0" algn="ctr">
              <a:buNone/>
            </a:pPr>
            <a:r>
              <a:rPr lang="en-US" sz="950" b="1" dirty="0">
                <a:solidFill>
                  <a:srgbClr val="E3B341"/>
                </a:solidFill>
                <a:latin typeface="Calibri" pitchFamily="34" charset="0"/>
                <a:ea typeface="Calibri" pitchFamily="34" charset="-122"/>
                <a:cs typeface="Calibri" pitchFamily="34" charset="-120"/>
              </a:rPr>
              <a:t>Disk Driver</a:t>
            </a:r>
            <a:endParaRPr lang="en-US" sz="950" dirty="0"/>
          </a:p>
        </p:txBody>
      </p:sp>
      <p:sp>
        <p:nvSpPr>
          <p:cNvPr id="24" name="Shape 22"/>
          <p:cNvSpPr/>
          <p:nvPr/>
        </p:nvSpPr>
        <p:spPr>
          <a:xfrm>
            <a:off x="7370064" y="1847088"/>
            <a:ext cx="128016" cy="146304"/>
          </a:xfrm>
          <a:prstGeom prst="rect">
            <a:avLst/>
          </a:prstGeom>
          <a:solidFill>
            <a:srgbClr val="F0F6FC">
              <a:alpha val="60000"/>
            </a:srgbClr>
          </a:solidFill>
          <a:ln w="12700">
            <a:solidFill>
              <a:srgbClr val="F0F6FC">
                <a:alpha val="60000"/>
              </a:srgbClr>
            </a:solidFill>
            <a:prstDash val="solid"/>
          </a:ln>
        </p:spPr>
        <p:txBody>
          <a:bodyPr/>
          <a:lstStyle/>
          <a:p>
            <a:endParaRPr lang="en-US"/>
          </a:p>
        </p:txBody>
      </p:sp>
      <p:sp>
        <p:nvSpPr>
          <p:cNvPr id="25" name="Shape 23"/>
          <p:cNvSpPr/>
          <p:nvPr/>
        </p:nvSpPr>
        <p:spPr>
          <a:xfrm>
            <a:off x="7498080" y="1591056"/>
            <a:ext cx="1261872" cy="658368"/>
          </a:xfrm>
          <a:prstGeom prst="rect">
            <a:avLst/>
          </a:prstGeom>
          <a:solidFill>
            <a:srgbClr val="3FB950">
              <a:alpha val="28000"/>
            </a:srgbClr>
          </a:solidFill>
          <a:ln w="15240">
            <a:solidFill>
              <a:srgbClr val="3FB950"/>
            </a:solidFill>
            <a:prstDash val="solid"/>
          </a:ln>
        </p:spPr>
        <p:txBody>
          <a:bodyPr/>
          <a:lstStyle/>
          <a:p>
            <a:endParaRPr lang="en-US"/>
          </a:p>
        </p:txBody>
      </p:sp>
      <p:sp>
        <p:nvSpPr>
          <p:cNvPr id="26" name="Text 24"/>
          <p:cNvSpPr/>
          <p:nvPr/>
        </p:nvSpPr>
        <p:spPr>
          <a:xfrm>
            <a:off x="7498080" y="1591056"/>
            <a:ext cx="1261872" cy="658368"/>
          </a:xfrm>
          <a:prstGeom prst="rect">
            <a:avLst/>
          </a:prstGeom>
          <a:noFill/>
          <a:ln/>
        </p:spPr>
        <p:txBody>
          <a:bodyPr wrap="square" lIns="0" tIns="0" rIns="0" bIns="0" rtlCol="0" anchor="ctr"/>
          <a:lstStyle/>
          <a:p>
            <a:pPr marL="0" indent="0" algn="ctr">
              <a:buNone/>
            </a:pPr>
            <a:r>
              <a:rPr lang="en-US" sz="950" b="1" dirty="0">
                <a:solidFill>
                  <a:srgbClr val="3FB950"/>
                </a:solidFill>
                <a:latin typeface="Calibri" pitchFamily="34" charset="0"/>
                <a:ea typeface="Calibri" pitchFamily="34" charset="-122"/>
                <a:cs typeface="Calibri" pitchFamily="34" charset="-120"/>
              </a:rPr>
              <a:t>Storage Hardware</a:t>
            </a:r>
            <a:endParaRPr lang="en-US" sz="950" dirty="0"/>
          </a:p>
        </p:txBody>
      </p:sp>
      <p:sp>
        <p:nvSpPr>
          <p:cNvPr id="27" name="Shape 25"/>
          <p:cNvSpPr/>
          <p:nvPr/>
        </p:nvSpPr>
        <p:spPr>
          <a:xfrm>
            <a:off x="411480" y="2670048"/>
            <a:ext cx="4160520" cy="1755648"/>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28" name="Shape 26"/>
          <p:cNvSpPr/>
          <p:nvPr/>
        </p:nvSpPr>
        <p:spPr>
          <a:xfrm>
            <a:off x="411480" y="2670048"/>
            <a:ext cx="4160520"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29" name="Text 27"/>
          <p:cNvSpPr/>
          <p:nvPr/>
        </p:nvSpPr>
        <p:spPr>
          <a:xfrm>
            <a:off x="548640" y="2715768"/>
            <a:ext cx="3895344" cy="256032"/>
          </a:xfrm>
          <a:prstGeom prst="rect">
            <a:avLst/>
          </a:prstGeom>
          <a:noFill/>
          <a:ln/>
        </p:spPr>
        <p:txBody>
          <a:bodyPr wrap="square" lIns="0" tIns="0" rIns="0" bIns="0" rtlCol="0" anchor="ctr"/>
          <a:lstStyle/>
          <a:p>
            <a:pPr marL="0" indent="0">
              <a:buNone/>
            </a:pPr>
            <a:r>
              <a:rPr lang="en-US" sz="1100" b="1" dirty="0">
                <a:solidFill>
                  <a:srgbClr val="58A6FF"/>
                </a:solidFill>
                <a:latin typeface="Calibri" pitchFamily="34" charset="0"/>
                <a:ea typeface="Calibri" pitchFamily="34" charset="-122"/>
                <a:cs typeface="Calibri" pitchFamily="34" charset="-120"/>
              </a:rPr>
              <a:t>🔍  Path Resolution</a:t>
            </a:r>
            <a:endParaRPr lang="en-US" sz="1100" dirty="0"/>
          </a:p>
        </p:txBody>
      </p:sp>
      <p:sp>
        <p:nvSpPr>
          <p:cNvPr id="30" name="Text 28"/>
          <p:cNvSpPr/>
          <p:nvPr/>
        </p:nvSpPr>
        <p:spPr>
          <a:xfrm>
            <a:off x="548640" y="3017520"/>
            <a:ext cx="3895344" cy="201168"/>
          </a:xfrm>
          <a:prstGeom prst="rect">
            <a:avLst/>
          </a:prstGeom>
          <a:noFill/>
          <a:ln/>
        </p:spPr>
        <p:txBody>
          <a:bodyPr wrap="square" lIns="0" tIns="0" rIns="0" bIns="0" rtlCol="0" anchor="ctr"/>
          <a:lstStyle/>
          <a:p>
            <a:pPr marL="0" indent="0">
              <a:buNone/>
            </a:pPr>
            <a:r>
              <a:rPr lang="en-US" sz="950" dirty="0">
                <a:solidFill>
                  <a:srgbClr val="58A6FF"/>
                </a:solidFill>
                <a:latin typeface="Consolas" pitchFamily="34" charset="0"/>
                <a:ea typeface="Consolas" pitchFamily="34" charset="-122"/>
                <a:cs typeface="Consolas" pitchFamily="34" charset="-120"/>
              </a:rPr>
              <a:t>1. Parse path: C:\Users\Ahmed\Documents\report.pdf</a:t>
            </a:r>
            <a:endParaRPr lang="en-US" sz="950" dirty="0"/>
          </a:p>
        </p:txBody>
      </p:sp>
      <p:sp>
        <p:nvSpPr>
          <p:cNvPr id="31" name="Text 29"/>
          <p:cNvSpPr/>
          <p:nvPr/>
        </p:nvSpPr>
        <p:spPr>
          <a:xfrm>
            <a:off x="548640" y="3223260"/>
            <a:ext cx="3895344"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2. Start at root directory  ( C:\ )</a:t>
            </a:r>
            <a:endParaRPr lang="en-US" sz="950" dirty="0"/>
          </a:p>
        </p:txBody>
      </p:sp>
      <p:sp>
        <p:nvSpPr>
          <p:cNvPr id="32" name="Text 30"/>
          <p:cNvSpPr/>
          <p:nvPr/>
        </p:nvSpPr>
        <p:spPr>
          <a:xfrm>
            <a:off x="548640" y="3429000"/>
            <a:ext cx="3895344"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3. Look up 'Users' → get inode #42</a:t>
            </a:r>
            <a:endParaRPr lang="en-US" sz="950" dirty="0"/>
          </a:p>
        </p:txBody>
      </p:sp>
      <p:sp>
        <p:nvSpPr>
          <p:cNvPr id="33" name="Text 31"/>
          <p:cNvSpPr/>
          <p:nvPr/>
        </p:nvSpPr>
        <p:spPr>
          <a:xfrm>
            <a:off x="548640" y="3634740"/>
            <a:ext cx="3895344"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4. Look up 'Ahmed' → get inode #156</a:t>
            </a:r>
            <a:endParaRPr lang="en-US" sz="950" dirty="0"/>
          </a:p>
        </p:txBody>
      </p:sp>
      <p:sp>
        <p:nvSpPr>
          <p:cNvPr id="34" name="Text 32"/>
          <p:cNvSpPr/>
          <p:nvPr/>
        </p:nvSpPr>
        <p:spPr>
          <a:xfrm>
            <a:off x="548640" y="3840480"/>
            <a:ext cx="3895344"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5. Look up 'Documents' → get inode #891</a:t>
            </a:r>
            <a:endParaRPr lang="en-US" sz="950" dirty="0"/>
          </a:p>
        </p:txBody>
      </p:sp>
      <p:sp>
        <p:nvSpPr>
          <p:cNvPr id="35" name="Text 33"/>
          <p:cNvSpPr/>
          <p:nvPr/>
        </p:nvSpPr>
        <p:spPr>
          <a:xfrm>
            <a:off x="548640" y="4046220"/>
            <a:ext cx="3895344"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6. Look up 'report.pdf' → get inode #2847</a:t>
            </a:r>
            <a:endParaRPr lang="en-US" sz="950" dirty="0"/>
          </a:p>
        </p:txBody>
      </p:sp>
      <p:sp>
        <p:nvSpPr>
          <p:cNvPr id="36" name="Text 34"/>
          <p:cNvSpPr/>
          <p:nvPr/>
        </p:nvSpPr>
        <p:spPr>
          <a:xfrm>
            <a:off x="548640" y="4251960"/>
            <a:ext cx="3895344" cy="201168"/>
          </a:xfrm>
          <a:prstGeom prst="rect">
            <a:avLst/>
          </a:prstGeom>
          <a:noFill/>
          <a:ln/>
        </p:spPr>
        <p:txBody>
          <a:bodyPr wrap="square" lIns="0" tIns="0" rIns="0" bIns="0" rtlCol="0" anchor="ctr"/>
          <a:lstStyle/>
          <a:p>
            <a:pPr marL="0" indent="0">
              <a:buNone/>
            </a:pPr>
            <a:r>
              <a:rPr lang="en-US" sz="950" dirty="0">
                <a:solidFill>
                  <a:srgbClr val="3FD9C4"/>
                </a:solidFill>
                <a:latin typeface="Consolas" pitchFamily="34" charset="0"/>
                <a:ea typeface="Consolas" pitchFamily="34" charset="-122"/>
                <a:cs typeface="Consolas" pitchFamily="34" charset="-120"/>
              </a:rPr>
              <a:t>7. Read inode #2847 → block list [12,13,14,90]</a:t>
            </a:r>
            <a:endParaRPr lang="en-US" sz="950" dirty="0"/>
          </a:p>
        </p:txBody>
      </p:sp>
      <p:sp>
        <p:nvSpPr>
          <p:cNvPr id="37" name="Shape 35"/>
          <p:cNvSpPr/>
          <p:nvPr/>
        </p:nvSpPr>
        <p:spPr>
          <a:xfrm>
            <a:off x="4663440" y="2670048"/>
            <a:ext cx="4069080" cy="1755648"/>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38" name="Shape 36"/>
          <p:cNvSpPr/>
          <p:nvPr/>
        </p:nvSpPr>
        <p:spPr>
          <a:xfrm>
            <a:off x="4663440" y="2670048"/>
            <a:ext cx="4069080"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39" name="Text 37"/>
          <p:cNvSpPr/>
          <p:nvPr/>
        </p:nvSpPr>
        <p:spPr>
          <a:xfrm>
            <a:off x="4800600" y="2715768"/>
            <a:ext cx="3803904" cy="256032"/>
          </a:xfrm>
          <a:prstGeom prst="rect">
            <a:avLst/>
          </a:prstGeom>
          <a:noFill/>
          <a:ln/>
        </p:spPr>
        <p:txBody>
          <a:bodyPr wrap="square" lIns="0" tIns="0" rIns="0" bIns="0" rtlCol="0" anchor="ctr"/>
          <a:lstStyle/>
          <a:p>
            <a:pPr marL="0" indent="0">
              <a:buNone/>
            </a:pPr>
            <a:r>
              <a:rPr lang="en-US" sz="1100" b="1" dirty="0">
                <a:solidFill>
                  <a:srgbClr val="FFA657"/>
                </a:solidFill>
                <a:latin typeface="Calibri" pitchFamily="34" charset="0"/>
                <a:ea typeface="Calibri" pitchFamily="34" charset="-122"/>
                <a:cs typeface="Calibri" pitchFamily="34" charset="-120"/>
              </a:rPr>
              <a:t>⚡  Disk Cache (Buffer Cache)</a:t>
            </a:r>
            <a:endParaRPr lang="en-US" sz="1100" dirty="0"/>
          </a:p>
        </p:txBody>
      </p:sp>
      <p:sp>
        <p:nvSpPr>
          <p:cNvPr id="40" name="Text 38"/>
          <p:cNvSpPr/>
          <p:nvPr/>
        </p:nvSpPr>
        <p:spPr>
          <a:xfrm>
            <a:off x="4800600" y="3017520"/>
            <a:ext cx="3803904" cy="502920"/>
          </a:xfrm>
          <a:prstGeom prst="rect">
            <a:avLst/>
          </a:prstGeom>
          <a:noFill/>
          <a:ln/>
        </p:spPr>
        <p:txBody>
          <a:bodyPr wrap="square" lIns="0" tIns="0" rIns="0" bIns="0" rtlCol="0" anchor="ctr"/>
          <a:lstStyle/>
          <a:p>
            <a:pPr marL="0" indent="0">
              <a:buNone/>
            </a:pPr>
            <a:r>
              <a:rPr lang="en-US" sz="1050" b="1" dirty="0">
                <a:solidFill>
                  <a:srgbClr val="3FB950"/>
                </a:solidFill>
                <a:latin typeface="Calibri" pitchFamily="34" charset="0"/>
                <a:ea typeface="Calibri" pitchFamily="34" charset="-122"/>
                <a:cs typeface="Calibri" pitchFamily="34" charset="-120"/>
              </a:rPr>
              <a:t>Cache HIT:  </a:t>
            </a:r>
            <a:r>
              <a:rPr lang="en-US" sz="1050" dirty="0">
                <a:solidFill>
                  <a:srgbClr val="F0F6FC"/>
                </a:solidFill>
                <a:latin typeface="Calibri" pitchFamily="34" charset="0"/>
                <a:ea typeface="Calibri" pitchFamily="34" charset="-122"/>
                <a:cs typeface="Calibri" pitchFamily="34" charset="-120"/>
              </a:rPr>
              <a:t>Block already in RAM cache → serve instantly. No disk access needed. ~1,000× faster.</a:t>
            </a:r>
            <a:endParaRPr lang="en-US" sz="1050" dirty="0"/>
          </a:p>
        </p:txBody>
      </p:sp>
      <p:sp>
        <p:nvSpPr>
          <p:cNvPr id="41" name="Text 39"/>
          <p:cNvSpPr/>
          <p:nvPr/>
        </p:nvSpPr>
        <p:spPr>
          <a:xfrm>
            <a:off x="4800600" y="3566160"/>
            <a:ext cx="3803904" cy="594360"/>
          </a:xfrm>
          <a:prstGeom prst="rect">
            <a:avLst/>
          </a:prstGeom>
          <a:noFill/>
          <a:ln/>
        </p:spPr>
        <p:txBody>
          <a:bodyPr wrap="square" lIns="0" tIns="0" rIns="0" bIns="0" rtlCol="0" anchor="ctr"/>
          <a:lstStyle/>
          <a:p>
            <a:pPr marL="0" indent="0">
              <a:buNone/>
            </a:pPr>
            <a:r>
              <a:rPr lang="en-US" sz="1050" b="1" dirty="0">
                <a:solidFill>
                  <a:srgbClr val="F85149"/>
                </a:solidFill>
                <a:latin typeface="Calibri" pitchFamily="34" charset="0"/>
                <a:ea typeface="Calibri" pitchFamily="34" charset="-122"/>
                <a:cs typeface="Calibri" pitchFamily="34" charset="-120"/>
              </a:rPr>
              <a:t>Cache MISS:  </a:t>
            </a:r>
            <a:r>
              <a:rPr lang="en-US" sz="1050" dirty="0">
                <a:solidFill>
                  <a:srgbClr val="F0F6FC"/>
                </a:solidFill>
                <a:latin typeface="Calibri" pitchFamily="34" charset="0"/>
                <a:ea typeface="Calibri" pitchFamily="34" charset="-122"/>
                <a:cs typeface="Calibri" pitchFamily="34" charset="-120"/>
              </a:rPr>
              <a:t>Block not in cache → issue disk I/O request. Wait 50–100 μs (SSD) or 5–15 ms (HDD). Copy to cache, serve.</a:t>
            </a:r>
            <a:endParaRPr lang="en-US" sz="1050" dirty="0"/>
          </a:p>
        </p:txBody>
      </p:sp>
      <p:sp>
        <p:nvSpPr>
          <p:cNvPr id="42" name="Text 40"/>
          <p:cNvSpPr/>
          <p:nvPr/>
        </p:nvSpPr>
        <p:spPr>
          <a:xfrm>
            <a:off x="4800600" y="4206240"/>
            <a:ext cx="3803904" cy="18288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HDD access ≈ 10 ms  ·  </a:t>
            </a:r>
            <a:r>
              <a:rPr lang="en-US" sz="1000" dirty="0">
                <a:solidFill>
                  <a:srgbClr val="3FD9C4"/>
                </a:solidFill>
                <a:latin typeface="Calibri" pitchFamily="34" charset="0"/>
                <a:ea typeface="Calibri" pitchFamily="34" charset="-122"/>
                <a:cs typeface="Calibri" pitchFamily="34" charset="-120"/>
              </a:rPr>
              <a:t>SSD access ≈ 0.1 ms  ·  </a:t>
            </a:r>
            <a:r>
              <a:rPr lang="en-US" sz="1000" dirty="0">
                <a:solidFill>
                  <a:srgbClr val="3FB950"/>
                </a:solidFill>
                <a:latin typeface="Calibri" pitchFamily="34" charset="0"/>
                <a:ea typeface="Calibri" pitchFamily="34" charset="-122"/>
                <a:cs typeface="Calibri" pitchFamily="34" charset="-120"/>
              </a:rPr>
              <a:t>RAM cache ≈ 0.0001 ms</a:t>
            </a:r>
            <a:endParaRPr lang="en-US" sz="1000" dirty="0"/>
          </a:p>
        </p:txBody>
      </p:sp>
      <p:sp>
        <p:nvSpPr>
          <p:cNvPr id="43" name="Shape 41"/>
          <p:cNvSpPr/>
          <p:nvPr/>
        </p:nvSpPr>
        <p:spPr>
          <a:xfrm>
            <a:off x="365760" y="4572000"/>
            <a:ext cx="8412480" cy="384048"/>
          </a:xfrm>
          <a:prstGeom prst="rect">
            <a:avLst/>
          </a:prstGeom>
          <a:solidFill>
            <a:srgbClr val="0A1020"/>
          </a:solidFill>
          <a:ln w="12700">
            <a:solidFill>
              <a:srgbClr val="3FD9C4"/>
            </a:solidFill>
            <a:prstDash val="solid"/>
          </a:ln>
        </p:spPr>
        <p:txBody>
          <a:bodyPr/>
          <a:lstStyle/>
          <a:p>
            <a:endParaRPr lang="en-US"/>
          </a:p>
        </p:txBody>
      </p:sp>
      <p:sp>
        <p:nvSpPr>
          <p:cNvPr id="44" name="Text 42"/>
          <p:cNvSpPr/>
          <p:nvPr/>
        </p:nvSpPr>
        <p:spPr>
          <a:xfrm>
            <a:off x="502920" y="4599432"/>
            <a:ext cx="8229600" cy="310896"/>
          </a:xfrm>
          <a:prstGeom prst="rect">
            <a:avLst/>
          </a:prstGeom>
          <a:noFill/>
          <a:ln/>
        </p:spPr>
        <p:txBody>
          <a:bodyPr wrap="square" lIns="0" tIns="0" rIns="0" bIns="0" rtlCol="0" anchor="ctr"/>
          <a:lstStyle/>
          <a:p>
            <a:pPr marL="0" indent="0">
              <a:buNone/>
            </a:pPr>
            <a:r>
              <a:rPr lang="en-US" sz="1100" b="1" dirty="0">
                <a:solidFill>
                  <a:srgbClr val="3FD9C4"/>
                </a:solidFill>
                <a:latin typeface="Calibri" pitchFamily="34" charset="0"/>
                <a:ea typeface="Calibri" pitchFamily="34" charset="-122"/>
                <a:cs typeface="Calibri" pitchFamily="34" charset="-120"/>
              </a:rPr>
              <a:t>How 'recent files' works:  </a:t>
            </a:r>
            <a:r>
              <a:rPr lang="en-US" sz="1100" dirty="0">
                <a:solidFill>
                  <a:srgbClr val="F0F6FC"/>
                </a:solidFill>
                <a:latin typeface="Calibri" pitchFamily="34" charset="0"/>
                <a:ea typeface="Calibri" pitchFamily="34" charset="-122"/>
                <a:cs typeface="Calibri" pitchFamily="34" charset="-120"/>
              </a:rPr>
              <a:t>The OS updates the file's 'last accessed' timestamp in its inode/MFT entry every time the file is read.</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FILE OPERATIONS</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Editing a File</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What happens between opening and saving — nothing touches the disk until you save</a:t>
            </a:r>
            <a:endParaRPr lang="en-US" sz="1300" dirty="0"/>
          </a:p>
        </p:txBody>
      </p:sp>
      <p:sp>
        <p:nvSpPr>
          <p:cNvPr id="7" name="Shape 5"/>
          <p:cNvSpPr/>
          <p:nvPr/>
        </p:nvSpPr>
        <p:spPr>
          <a:xfrm>
            <a:off x="411480" y="1170432"/>
            <a:ext cx="2697480" cy="3273552"/>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2697480"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9" name="Text 7"/>
          <p:cNvSpPr/>
          <p:nvPr/>
        </p:nvSpPr>
        <p:spPr>
          <a:xfrm>
            <a:off x="521208" y="1207008"/>
            <a:ext cx="475488" cy="256032"/>
          </a:xfrm>
          <a:prstGeom prst="rect">
            <a:avLst/>
          </a:prstGeom>
          <a:noFill/>
          <a:ln/>
        </p:spPr>
        <p:txBody>
          <a:bodyPr wrap="square" lIns="0" tIns="0" rIns="0" bIns="0" rtlCol="0" anchor="ctr"/>
          <a:lstStyle/>
          <a:p>
            <a:pPr marL="0" indent="0">
              <a:buNone/>
            </a:pPr>
            <a:r>
              <a:rPr lang="en-US" sz="1400" b="1" dirty="0">
                <a:solidFill>
                  <a:srgbClr val="58A6FF"/>
                </a:solidFill>
                <a:latin typeface="Consolas" pitchFamily="34" charset="0"/>
                <a:ea typeface="Consolas" pitchFamily="34" charset="-122"/>
                <a:cs typeface="Consolas" pitchFamily="34" charset="-120"/>
              </a:rPr>
              <a:t>01</a:t>
            </a:r>
            <a:endParaRPr lang="en-US" sz="1400" dirty="0"/>
          </a:p>
        </p:txBody>
      </p:sp>
      <p:sp>
        <p:nvSpPr>
          <p:cNvPr id="10" name="Text 8"/>
          <p:cNvSpPr/>
          <p:nvPr/>
        </p:nvSpPr>
        <p:spPr>
          <a:xfrm>
            <a:off x="1033272" y="1225296"/>
            <a:ext cx="1965960" cy="219456"/>
          </a:xfrm>
          <a:prstGeom prst="rect">
            <a:avLst/>
          </a:prstGeom>
          <a:noFill/>
          <a:ln/>
        </p:spPr>
        <p:txBody>
          <a:bodyPr wrap="square" lIns="0" tIns="0" rIns="0" bIns="0" rtlCol="0" anchor="ctr"/>
          <a:lstStyle/>
          <a:p>
            <a:pPr marL="0" indent="0">
              <a:buNone/>
            </a:pPr>
            <a:r>
              <a:rPr lang="en-US" sz="1100" b="1" dirty="0">
                <a:solidFill>
                  <a:srgbClr val="58A6FF"/>
                </a:solidFill>
                <a:latin typeface="Calibri" pitchFamily="34" charset="0"/>
                <a:ea typeface="Calibri" pitchFamily="34" charset="-122"/>
                <a:cs typeface="Calibri" pitchFamily="34" charset="-120"/>
              </a:rPr>
              <a:t>Open — Load into RAM</a:t>
            </a:r>
            <a:endParaRPr lang="en-US" sz="1100" dirty="0"/>
          </a:p>
        </p:txBody>
      </p:sp>
      <p:sp>
        <p:nvSpPr>
          <p:cNvPr id="11" name="Text 9"/>
          <p:cNvSpPr/>
          <p:nvPr/>
        </p:nvSpPr>
        <p:spPr>
          <a:xfrm>
            <a:off x="548640" y="1600200"/>
            <a:ext cx="2423160" cy="384048"/>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 OS reads file bytes from disk blocks</a:t>
            </a:r>
            <a:endParaRPr lang="en-US" sz="1100" dirty="0"/>
          </a:p>
        </p:txBody>
      </p:sp>
      <p:sp>
        <p:nvSpPr>
          <p:cNvPr id="12" name="Text 10"/>
          <p:cNvSpPr/>
          <p:nvPr/>
        </p:nvSpPr>
        <p:spPr>
          <a:xfrm>
            <a:off x="548640" y="2029968"/>
            <a:ext cx="2423160" cy="384048"/>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 Copies entire file into RAM (working buffer)</a:t>
            </a:r>
            <a:endParaRPr lang="en-US" sz="1100" dirty="0"/>
          </a:p>
        </p:txBody>
      </p:sp>
      <p:sp>
        <p:nvSpPr>
          <p:cNvPr id="13" name="Text 11"/>
          <p:cNvSpPr/>
          <p:nvPr/>
        </p:nvSpPr>
        <p:spPr>
          <a:xfrm>
            <a:off x="548640" y="2459736"/>
            <a:ext cx="2423160" cy="384048"/>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 Application receives a memory pointer</a:t>
            </a:r>
            <a:endParaRPr lang="en-US" sz="1100" dirty="0"/>
          </a:p>
        </p:txBody>
      </p:sp>
      <p:sp>
        <p:nvSpPr>
          <p:cNvPr id="14" name="Text 12"/>
          <p:cNvSpPr/>
          <p:nvPr/>
        </p:nvSpPr>
        <p:spPr>
          <a:xfrm>
            <a:off x="548640" y="2889504"/>
            <a:ext cx="2423160" cy="384048"/>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 File on disk is UNCHANGED at this point</a:t>
            </a:r>
            <a:endParaRPr lang="en-US" sz="1100" dirty="0"/>
          </a:p>
        </p:txBody>
      </p:sp>
      <p:sp>
        <p:nvSpPr>
          <p:cNvPr id="15" name="Text 13"/>
          <p:cNvSpPr/>
          <p:nvPr/>
        </p:nvSpPr>
        <p:spPr>
          <a:xfrm>
            <a:off x="548640" y="3319272"/>
            <a:ext cx="2423160" cy="384048"/>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 inode 'last accessed' timestamp updated</a:t>
            </a:r>
            <a:endParaRPr lang="en-US" sz="1100" dirty="0"/>
          </a:p>
        </p:txBody>
      </p:sp>
      <p:sp>
        <p:nvSpPr>
          <p:cNvPr id="16" name="Shape 14"/>
          <p:cNvSpPr/>
          <p:nvPr/>
        </p:nvSpPr>
        <p:spPr>
          <a:xfrm>
            <a:off x="3227832" y="1170432"/>
            <a:ext cx="2697480" cy="3273552"/>
          </a:xfrm>
          <a:prstGeom prst="rect">
            <a:avLst/>
          </a:prstGeom>
          <a:solidFill>
            <a:srgbClr val="161B26"/>
          </a:solidFill>
          <a:ln w="15240">
            <a:solidFill>
              <a:srgbClr val="E3B341"/>
            </a:solidFill>
            <a:prstDash val="solid"/>
          </a:ln>
          <a:effectLst>
            <a:outerShdw blurRad="177800" dist="38100" dir="8100000" algn="bl" rotWithShape="0">
              <a:srgbClr val="000000">
                <a:alpha val="35000"/>
              </a:srgbClr>
            </a:outerShdw>
          </a:effectLst>
        </p:spPr>
        <p:txBody>
          <a:bodyPr/>
          <a:lstStyle/>
          <a:p>
            <a:endParaRPr lang="en-US"/>
          </a:p>
        </p:txBody>
      </p:sp>
      <p:sp>
        <p:nvSpPr>
          <p:cNvPr id="17" name="Shape 15"/>
          <p:cNvSpPr/>
          <p:nvPr/>
        </p:nvSpPr>
        <p:spPr>
          <a:xfrm>
            <a:off x="3227832" y="1170432"/>
            <a:ext cx="2697480" cy="329184"/>
          </a:xfrm>
          <a:prstGeom prst="rect">
            <a:avLst/>
          </a:prstGeom>
          <a:solidFill>
            <a:srgbClr val="E3B341">
              <a:alpha val="78000"/>
            </a:srgbClr>
          </a:solidFill>
          <a:ln w="12700">
            <a:solidFill>
              <a:srgbClr val="E3B341"/>
            </a:solidFill>
            <a:prstDash val="solid"/>
          </a:ln>
        </p:spPr>
        <p:txBody>
          <a:bodyPr/>
          <a:lstStyle/>
          <a:p>
            <a:endParaRPr lang="en-US"/>
          </a:p>
        </p:txBody>
      </p:sp>
      <p:sp>
        <p:nvSpPr>
          <p:cNvPr id="18" name="Text 16"/>
          <p:cNvSpPr/>
          <p:nvPr/>
        </p:nvSpPr>
        <p:spPr>
          <a:xfrm>
            <a:off x="3337560" y="1207008"/>
            <a:ext cx="475488" cy="256032"/>
          </a:xfrm>
          <a:prstGeom prst="rect">
            <a:avLst/>
          </a:prstGeom>
          <a:noFill/>
          <a:ln/>
        </p:spPr>
        <p:txBody>
          <a:bodyPr wrap="square" lIns="0" tIns="0" rIns="0" bIns="0" rtlCol="0" anchor="ctr"/>
          <a:lstStyle/>
          <a:p>
            <a:pPr marL="0" indent="0">
              <a:buNone/>
            </a:pPr>
            <a:r>
              <a:rPr lang="en-US" sz="1400" b="1" dirty="0">
                <a:solidFill>
                  <a:srgbClr val="E3B341"/>
                </a:solidFill>
                <a:latin typeface="Consolas" pitchFamily="34" charset="0"/>
                <a:ea typeface="Consolas" pitchFamily="34" charset="-122"/>
                <a:cs typeface="Consolas" pitchFamily="34" charset="-120"/>
              </a:rPr>
              <a:t>02</a:t>
            </a:r>
            <a:endParaRPr lang="en-US" sz="1400" dirty="0"/>
          </a:p>
        </p:txBody>
      </p:sp>
      <p:sp>
        <p:nvSpPr>
          <p:cNvPr id="19" name="Text 17"/>
          <p:cNvSpPr/>
          <p:nvPr/>
        </p:nvSpPr>
        <p:spPr>
          <a:xfrm>
            <a:off x="3849624" y="1225296"/>
            <a:ext cx="1965960" cy="219456"/>
          </a:xfrm>
          <a:prstGeom prst="rect">
            <a:avLst/>
          </a:prstGeom>
          <a:noFill/>
          <a:ln/>
        </p:spPr>
        <p:txBody>
          <a:bodyPr wrap="square" lIns="0" tIns="0" rIns="0" bIns="0" rtlCol="0" anchor="ctr"/>
          <a:lstStyle/>
          <a:p>
            <a:pPr marL="0" indent="0">
              <a:buNone/>
            </a:pPr>
            <a:r>
              <a:rPr lang="en-US" sz="1100" b="1" dirty="0">
                <a:solidFill>
                  <a:srgbClr val="E3B341"/>
                </a:solidFill>
                <a:latin typeface="Calibri" pitchFamily="34" charset="0"/>
                <a:ea typeface="Calibri" pitchFamily="34" charset="-122"/>
                <a:cs typeface="Calibri" pitchFamily="34" charset="-120"/>
              </a:rPr>
              <a:t>Edit — Work in Memory</a:t>
            </a:r>
            <a:endParaRPr lang="en-US" sz="1100" dirty="0"/>
          </a:p>
        </p:txBody>
      </p:sp>
      <p:sp>
        <p:nvSpPr>
          <p:cNvPr id="20" name="Text 18"/>
          <p:cNvSpPr/>
          <p:nvPr/>
        </p:nvSpPr>
        <p:spPr>
          <a:xfrm>
            <a:off x="3364992" y="1600200"/>
            <a:ext cx="2423160" cy="384048"/>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 All changes happen in RAM, not on disk</a:t>
            </a:r>
            <a:endParaRPr lang="en-US" sz="1100" dirty="0"/>
          </a:p>
        </p:txBody>
      </p:sp>
      <p:sp>
        <p:nvSpPr>
          <p:cNvPr id="21" name="Text 19"/>
          <p:cNvSpPr/>
          <p:nvPr/>
        </p:nvSpPr>
        <p:spPr>
          <a:xfrm>
            <a:off x="3364992" y="2029968"/>
            <a:ext cx="2423160" cy="384048"/>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 Undo history = previous RAM states saved</a:t>
            </a:r>
            <a:endParaRPr lang="en-US" sz="1100" dirty="0"/>
          </a:p>
        </p:txBody>
      </p:sp>
      <p:sp>
        <p:nvSpPr>
          <p:cNvPr id="22" name="Text 20"/>
          <p:cNvSpPr/>
          <p:nvPr/>
        </p:nvSpPr>
        <p:spPr>
          <a:xfrm>
            <a:off x="3364992" y="2459736"/>
            <a:ext cx="2423160" cy="384048"/>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 Application marks buffer as 'dirty' (changed)</a:t>
            </a:r>
            <a:endParaRPr lang="en-US" sz="1100" dirty="0"/>
          </a:p>
        </p:txBody>
      </p:sp>
      <p:sp>
        <p:nvSpPr>
          <p:cNvPr id="23" name="Text 21"/>
          <p:cNvSpPr/>
          <p:nvPr/>
        </p:nvSpPr>
        <p:spPr>
          <a:xfrm>
            <a:off x="3364992" y="2889504"/>
            <a:ext cx="2423160" cy="384048"/>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 Disk still holds the original version</a:t>
            </a:r>
            <a:endParaRPr lang="en-US" sz="1100" dirty="0"/>
          </a:p>
        </p:txBody>
      </p:sp>
      <p:sp>
        <p:nvSpPr>
          <p:cNvPr id="24" name="Text 22"/>
          <p:cNvSpPr/>
          <p:nvPr/>
        </p:nvSpPr>
        <p:spPr>
          <a:xfrm>
            <a:off x="3364992" y="3319272"/>
            <a:ext cx="2423160" cy="384048"/>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 Crash now = lose unsaved changes</a:t>
            </a:r>
            <a:endParaRPr lang="en-US" sz="1100" dirty="0"/>
          </a:p>
        </p:txBody>
      </p:sp>
      <p:sp>
        <p:nvSpPr>
          <p:cNvPr id="25" name="Shape 23"/>
          <p:cNvSpPr/>
          <p:nvPr/>
        </p:nvSpPr>
        <p:spPr>
          <a:xfrm>
            <a:off x="6044184" y="1170432"/>
            <a:ext cx="2697480" cy="3273552"/>
          </a:xfrm>
          <a:prstGeom prst="rect">
            <a:avLst/>
          </a:prstGeom>
          <a:solidFill>
            <a:srgbClr val="161B26"/>
          </a:solidFill>
          <a:ln w="15240">
            <a:solidFill>
              <a:srgbClr val="3FB950"/>
            </a:solidFill>
            <a:prstDash val="solid"/>
          </a:ln>
          <a:effectLst>
            <a:outerShdw blurRad="177800" dist="38100" dir="8100000" algn="bl" rotWithShape="0">
              <a:srgbClr val="000000">
                <a:alpha val="35000"/>
              </a:srgbClr>
            </a:outerShdw>
          </a:effectLst>
        </p:spPr>
        <p:txBody>
          <a:bodyPr/>
          <a:lstStyle/>
          <a:p>
            <a:endParaRPr lang="en-US"/>
          </a:p>
        </p:txBody>
      </p:sp>
      <p:sp>
        <p:nvSpPr>
          <p:cNvPr id="26" name="Shape 24"/>
          <p:cNvSpPr/>
          <p:nvPr/>
        </p:nvSpPr>
        <p:spPr>
          <a:xfrm>
            <a:off x="6044184" y="1170432"/>
            <a:ext cx="2697480" cy="329184"/>
          </a:xfrm>
          <a:prstGeom prst="rect">
            <a:avLst/>
          </a:prstGeom>
          <a:solidFill>
            <a:srgbClr val="3FB950">
              <a:alpha val="78000"/>
            </a:srgbClr>
          </a:solidFill>
          <a:ln w="12700">
            <a:solidFill>
              <a:srgbClr val="3FB950"/>
            </a:solidFill>
            <a:prstDash val="solid"/>
          </a:ln>
        </p:spPr>
        <p:txBody>
          <a:bodyPr/>
          <a:lstStyle/>
          <a:p>
            <a:endParaRPr lang="en-US"/>
          </a:p>
        </p:txBody>
      </p:sp>
      <p:sp>
        <p:nvSpPr>
          <p:cNvPr id="27" name="Text 25"/>
          <p:cNvSpPr/>
          <p:nvPr/>
        </p:nvSpPr>
        <p:spPr>
          <a:xfrm>
            <a:off x="6153912" y="1207008"/>
            <a:ext cx="475488" cy="256032"/>
          </a:xfrm>
          <a:prstGeom prst="rect">
            <a:avLst/>
          </a:prstGeom>
          <a:noFill/>
          <a:ln/>
        </p:spPr>
        <p:txBody>
          <a:bodyPr wrap="square" lIns="0" tIns="0" rIns="0" bIns="0" rtlCol="0" anchor="ctr"/>
          <a:lstStyle/>
          <a:p>
            <a:pPr marL="0" indent="0">
              <a:buNone/>
            </a:pPr>
            <a:r>
              <a:rPr lang="en-US" sz="1400" b="1" dirty="0">
                <a:solidFill>
                  <a:srgbClr val="3FB950"/>
                </a:solidFill>
                <a:latin typeface="Consolas" pitchFamily="34" charset="0"/>
                <a:ea typeface="Consolas" pitchFamily="34" charset="-122"/>
                <a:cs typeface="Consolas" pitchFamily="34" charset="-120"/>
              </a:rPr>
              <a:t>03</a:t>
            </a:r>
            <a:endParaRPr lang="en-US" sz="1400" dirty="0"/>
          </a:p>
        </p:txBody>
      </p:sp>
      <p:sp>
        <p:nvSpPr>
          <p:cNvPr id="28" name="Text 26"/>
          <p:cNvSpPr/>
          <p:nvPr/>
        </p:nvSpPr>
        <p:spPr>
          <a:xfrm>
            <a:off x="6665976" y="1225296"/>
            <a:ext cx="1965960" cy="219456"/>
          </a:xfrm>
          <a:prstGeom prst="rect">
            <a:avLst/>
          </a:prstGeom>
          <a:noFill/>
          <a:ln/>
        </p:spPr>
        <p:txBody>
          <a:bodyPr wrap="square" lIns="0" tIns="0" rIns="0" bIns="0" rtlCol="0" anchor="ctr"/>
          <a:lstStyle/>
          <a:p>
            <a:pPr marL="0" indent="0">
              <a:buNone/>
            </a:pPr>
            <a:r>
              <a:rPr lang="en-US" sz="1100" b="1" dirty="0">
                <a:solidFill>
                  <a:srgbClr val="3FB950"/>
                </a:solidFill>
                <a:latin typeface="Calibri" pitchFamily="34" charset="0"/>
                <a:ea typeface="Calibri" pitchFamily="34" charset="-122"/>
                <a:cs typeface="Calibri" pitchFamily="34" charset="-120"/>
              </a:rPr>
              <a:t>Save — Flush to Disk</a:t>
            </a:r>
            <a:endParaRPr lang="en-US" sz="1100" dirty="0"/>
          </a:p>
        </p:txBody>
      </p:sp>
      <p:sp>
        <p:nvSpPr>
          <p:cNvPr id="29" name="Text 27"/>
          <p:cNvSpPr/>
          <p:nvPr/>
        </p:nvSpPr>
        <p:spPr>
          <a:xfrm>
            <a:off x="6181344" y="1600200"/>
            <a:ext cx="2423160" cy="384048"/>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 OS writes modified bytes back to disk blocks</a:t>
            </a:r>
            <a:endParaRPr lang="en-US" sz="1100" dirty="0"/>
          </a:p>
        </p:txBody>
      </p:sp>
      <p:sp>
        <p:nvSpPr>
          <p:cNvPr id="30" name="Text 28"/>
          <p:cNvSpPr/>
          <p:nvPr/>
        </p:nvSpPr>
        <p:spPr>
          <a:xfrm>
            <a:off x="6181344" y="2029968"/>
            <a:ext cx="2423160" cy="384048"/>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 May allocate new blocks if file grew larger</a:t>
            </a:r>
            <a:endParaRPr lang="en-US" sz="1100" dirty="0"/>
          </a:p>
        </p:txBody>
      </p:sp>
      <p:sp>
        <p:nvSpPr>
          <p:cNvPr id="31" name="Text 29"/>
          <p:cNvSpPr/>
          <p:nvPr/>
        </p:nvSpPr>
        <p:spPr>
          <a:xfrm>
            <a:off x="6181344" y="2459736"/>
            <a:ext cx="2423160" cy="384048"/>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 inode updated: new size, modified timestamp</a:t>
            </a:r>
            <a:endParaRPr lang="en-US" sz="1100" dirty="0"/>
          </a:p>
        </p:txBody>
      </p:sp>
      <p:sp>
        <p:nvSpPr>
          <p:cNvPr id="32" name="Text 30"/>
          <p:cNvSpPr/>
          <p:nvPr/>
        </p:nvSpPr>
        <p:spPr>
          <a:xfrm>
            <a:off x="6181344" y="2889504"/>
            <a:ext cx="2423160" cy="384048"/>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 Old blocks freed if file shrank</a:t>
            </a:r>
            <a:endParaRPr lang="en-US" sz="1100" dirty="0"/>
          </a:p>
        </p:txBody>
      </p:sp>
      <p:sp>
        <p:nvSpPr>
          <p:cNvPr id="33" name="Text 31"/>
          <p:cNvSpPr/>
          <p:nvPr/>
        </p:nvSpPr>
        <p:spPr>
          <a:xfrm>
            <a:off x="6181344" y="3319272"/>
            <a:ext cx="2423160" cy="384048"/>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 Journal entry committed</a:t>
            </a:r>
            <a:endParaRPr lang="en-US" sz="1100" dirty="0"/>
          </a:p>
        </p:txBody>
      </p:sp>
      <p:sp>
        <p:nvSpPr>
          <p:cNvPr id="34" name="Shape 32"/>
          <p:cNvSpPr/>
          <p:nvPr/>
        </p:nvSpPr>
        <p:spPr>
          <a:xfrm>
            <a:off x="411480" y="4553712"/>
            <a:ext cx="8321040" cy="402336"/>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35" name="Text 33"/>
          <p:cNvSpPr/>
          <p:nvPr/>
        </p:nvSpPr>
        <p:spPr>
          <a:xfrm>
            <a:off x="548640" y="4590288"/>
            <a:ext cx="8046720" cy="329184"/>
          </a:xfrm>
          <a:prstGeom prst="rect">
            <a:avLst/>
          </a:prstGeom>
          <a:noFill/>
          <a:ln/>
        </p:spPr>
        <p:txBody>
          <a:bodyPr wrap="square" lIns="0" tIns="0" rIns="0" bIns="0" rtlCol="0" anchor="ctr"/>
          <a:lstStyle/>
          <a:p>
            <a:pPr marL="0" indent="0">
              <a:buNone/>
            </a:pPr>
            <a:r>
              <a:rPr lang="en-US" sz="1100" b="1" dirty="0">
                <a:solidFill>
                  <a:srgbClr val="BC8CFF"/>
                </a:solidFill>
                <a:latin typeface="Calibri" pitchFamily="34" charset="0"/>
                <a:ea typeface="Calibri" pitchFamily="34" charset="-122"/>
                <a:cs typeface="Calibri" pitchFamily="34" charset="-120"/>
              </a:rPr>
              <a:t>💡 Auto-save:  </a:t>
            </a:r>
            <a:r>
              <a:rPr lang="en-US" sz="1100" dirty="0">
                <a:solidFill>
                  <a:srgbClr val="F0F6FC"/>
                </a:solidFill>
                <a:latin typeface="Calibri" pitchFamily="34" charset="0"/>
                <a:ea typeface="Calibri" pitchFamily="34" charset="-122"/>
                <a:cs typeface="Calibri" pitchFamily="34" charset="-120"/>
              </a:rPr>
              <a:t>Applications like Word / VS Code periodically flush the RAM buffer to a temp file (e.g. ~$report.docx) so recent changes survive crashes even if you haven't pressed Ctrl+S.</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FILE OPERATIONS</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Deleting a File</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Deletion is deceptive — the data is NOT immediately erased</a:t>
            </a:r>
            <a:endParaRPr lang="en-US" sz="1300" dirty="0"/>
          </a:p>
        </p:txBody>
      </p:sp>
      <p:sp>
        <p:nvSpPr>
          <p:cNvPr id="7" name="Shape 5"/>
          <p:cNvSpPr/>
          <p:nvPr/>
        </p:nvSpPr>
        <p:spPr>
          <a:xfrm>
            <a:off x="411480" y="1170432"/>
            <a:ext cx="8321040" cy="658368"/>
          </a:xfrm>
          <a:prstGeom prst="rect">
            <a:avLst/>
          </a:prstGeom>
          <a:solidFill>
            <a:srgbClr val="161B26"/>
          </a:solidFill>
          <a:ln w="15240">
            <a:solidFill>
              <a:srgbClr val="F85149"/>
            </a:solidFill>
            <a:prstDash val="solid"/>
          </a:ln>
          <a:effectLst>
            <a:outerShdw blurRad="177800" dist="38100" dir="8100000" algn="bl" rotWithShape="0">
              <a:srgbClr val="000000">
                <a:alpha val="35000"/>
              </a:srgbClr>
            </a:outerShdw>
          </a:effectLst>
        </p:spPr>
        <p:txBody>
          <a:bodyPr/>
          <a:lstStyle/>
          <a:p>
            <a:endParaRPr lang="en-US"/>
          </a:p>
        </p:txBody>
      </p:sp>
      <p:sp>
        <p:nvSpPr>
          <p:cNvPr id="8" name="Text 6"/>
          <p:cNvSpPr/>
          <p:nvPr/>
        </p:nvSpPr>
        <p:spPr>
          <a:xfrm>
            <a:off x="594360" y="1216152"/>
            <a:ext cx="7955280" cy="530352"/>
          </a:xfrm>
          <a:prstGeom prst="rect">
            <a:avLst/>
          </a:prstGeom>
          <a:noFill/>
          <a:ln/>
        </p:spPr>
        <p:txBody>
          <a:bodyPr wrap="square" lIns="0" tIns="0" rIns="0" bIns="0" rtlCol="0" anchor="ctr"/>
          <a:lstStyle/>
          <a:p>
            <a:pPr marL="0" indent="0">
              <a:buNone/>
            </a:pPr>
            <a:r>
              <a:rPr lang="en-US" sz="1250" b="1" dirty="0">
                <a:solidFill>
                  <a:srgbClr val="F85149"/>
                </a:solidFill>
                <a:latin typeface="Calibri" pitchFamily="34" charset="0"/>
                <a:ea typeface="Calibri" pitchFamily="34" charset="-122"/>
                <a:cs typeface="Calibri" pitchFamily="34" charset="-120"/>
              </a:rPr>
              <a:t>⚠  Myth:  </a:t>
            </a:r>
            <a:r>
              <a:rPr lang="en-US" sz="1250" b="1" dirty="0">
                <a:solidFill>
                  <a:srgbClr val="F0F6FC"/>
                </a:solidFill>
                <a:latin typeface="Calibri" pitchFamily="34" charset="0"/>
                <a:ea typeface="Calibri" pitchFamily="34" charset="-122"/>
                <a:cs typeface="Calibri" pitchFamily="34" charset="-120"/>
              </a:rPr>
              <a:t>"Deleting a file removes its data."  </a:t>
            </a:r>
            <a:r>
              <a:rPr lang="en-US" sz="1250" dirty="0">
                <a:solidFill>
                  <a:srgbClr val="8B949E"/>
                </a:solidFill>
                <a:latin typeface="Calibri" pitchFamily="34" charset="0"/>
                <a:ea typeface="Calibri" pitchFamily="34" charset="-122"/>
                <a:cs typeface="Calibri" pitchFamily="34" charset="-120"/>
              </a:rPr>
              <a:t>Reality: only the directory entry and inode are marked free. The bytes remain on disk until overwritten.</a:t>
            </a:r>
            <a:endParaRPr lang="en-US" sz="1250" dirty="0"/>
          </a:p>
        </p:txBody>
      </p:sp>
      <p:sp>
        <p:nvSpPr>
          <p:cNvPr id="9" name="Shape 7"/>
          <p:cNvSpPr/>
          <p:nvPr/>
        </p:nvSpPr>
        <p:spPr>
          <a:xfrm>
            <a:off x="411480" y="1920240"/>
            <a:ext cx="2697480" cy="2578608"/>
          </a:xfrm>
          <a:prstGeom prst="rect">
            <a:avLst/>
          </a:prstGeom>
          <a:solidFill>
            <a:srgbClr val="161B26"/>
          </a:solidFill>
          <a:ln w="15240">
            <a:solidFill>
              <a:srgbClr val="E3B341"/>
            </a:solidFill>
            <a:prstDash val="solid"/>
          </a:ln>
          <a:effectLst>
            <a:outerShdw blurRad="177800" dist="38100" dir="8100000" algn="bl" rotWithShape="0">
              <a:srgbClr val="000000">
                <a:alpha val="35000"/>
              </a:srgbClr>
            </a:outerShdw>
          </a:effectLst>
        </p:spPr>
        <p:txBody>
          <a:bodyPr/>
          <a:lstStyle/>
          <a:p>
            <a:endParaRPr lang="en-US"/>
          </a:p>
        </p:txBody>
      </p:sp>
      <p:sp>
        <p:nvSpPr>
          <p:cNvPr id="10" name="Shape 8"/>
          <p:cNvSpPr/>
          <p:nvPr/>
        </p:nvSpPr>
        <p:spPr>
          <a:xfrm>
            <a:off x="411480" y="1920240"/>
            <a:ext cx="2697480" cy="329184"/>
          </a:xfrm>
          <a:prstGeom prst="rect">
            <a:avLst/>
          </a:prstGeom>
          <a:solidFill>
            <a:srgbClr val="E3B341">
              <a:alpha val="78000"/>
            </a:srgbClr>
          </a:solidFill>
          <a:ln w="12700">
            <a:solidFill>
              <a:srgbClr val="E3B341"/>
            </a:solidFill>
            <a:prstDash val="solid"/>
          </a:ln>
        </p:spPr>
        <p:txBody>
          <a:bodyPr/>
          <a:lstStyle/>
          <a:p>
            <a:endParaRPr lang="en-US"/>
          </a:p>
        </p:txBody>
      </p:sp>
      <p:sp>
        <p:nvSpPr>
          <p:cNvPr id="11" name="Text 9"/>
          <p:cNvSpPr/>
          <p:nvPr/>
        </p:nvSpPr>
        <p:spPr>
          <a:xfrm>
            <a:off x="539496" y="1965960"/>
            <a:ext cx="2441448" cy="256032"/>
          </a:xfrm>
          <a:prstGeom prst="rect">
            <a:avLst/>
          </a:prstGeom>
          <a:noFill/>
          <a:ln/>
        </p:spPr>
        <p:txBody>
          <a:bodyPr wrap="square" lIns="0" tIns="0" rIns="0" bIns="0" rtlCol="0" anchor="ctr"/>
          <a:lstStyle/>
          <a:p>
            <a:pPr marL="0" indent="0">
              <a:buNone/>
            </a:pPr>
            <a:r>
              <a:rPr lang="en-US" sz="1100" b="1" dirty="0">
                <a:solidFill>
                  <a:srgbClr val="E3B341"/>
                </a:solidFill>
                <a:latin typeface="Calibri" pitchFamily="34" charset="0"/>
                <a:ea typeface="Calibri" pitchFamily="34" charset="-122"/>
                <a:cs typeface="Calibri" pitchFamily="34" charset="-120"/>
              </a:rPr>
              <a:t>🗑️  Recycle Bin / Trash Delete</a:t>
            </a:r>
            <a:endParaRPr lang="en-US" sz="1100" dirty="0"/>
          </a:p>
        </p:txBody>
      </p:sp>
      <p:sp>
        <p:nvSpPr>
          <p:cNvPr id="12" name="Text 10"/>
          <p:cNvSpPr/>
          <p:nvPr/>
        </p:nvSpPr>
        <p:spPr>
          <a:xfrm>
            <a:off x="539496" y="2331720"/>
            <a:ext cx="2441448" cy="329184"/>
          </a:xfrm>
          <a:prstGeom prst="rect">
            <a:avLst/>
          </a:prstGeom>
          <a:noFill/>
          <a:ln/>
        </p:spPr>
        <p:txBody>
          <a:bodyPr wrap="square" lIns="0" tIns="0" rIns="0" bIns="0" rtlCol="0" anchor="ctr"/>
          <a:lstStyle/>
          <a:p>
            <a:pPr marL="0" indent="0">
              <a:buNone/>
            </a:pPr>
            <a:r>
              <a:rPr lang="en-US" sz="1050" dirty="0">
                <a:solidFill>
                  <a:srgbClr val="F0F6FC"/>
                </a:solidFill>
                <a:latin typeface="Calibri" pitchFamily="34" charset="0"/>
                <a:ea typeface="Calibri" pitchFamily="34" charset="-122"/>
                <a:cs typeface="Calibri" pitchFamily="34" charset="-120"/>
              </a:rPr>
              <a:t>• File moved to Recycle Bin folder</a:t>
            </a:r>
            <a:endParaRPr lang="en-US" sz="1050" dirty="0"/>
          </a:p>
        </p:txBody>
      </p:sp>
      <p:sp>
        <p:nvSpPr>
          <p:cNvPr id="13" name="Text 11"/>
          <p:cNvSpPr/>
          <p:nvPr/>
        </p:nvSpPr>
        <p:spPr>
          <a:xfrm>
            <a:off x="539496" y="2715768"/>
            <a:ext cx="2441448" cy="329184"/>
          </a:xfrm>
          <a:prstGeom prst="rect">
            <a:avLst/>
          </a:prstGeom>
          <a:noFill/>
          <a:ln/>
        </p:spPr>
        <p:txBody>
          <a:bodyPr wrap="square" lIns="0" tIns="0" rIns="0" bIns="0" rtlCol="0" anchor="ctr"/>
          <a:lstStyle/>
          <a:p>
            <a:pPr marL="0" indent="0">
              <a:buNone/>
            </a:pPr>
            <a:r>
              <a:rPr lang="en-US" sz="1050" dirty="0">
                <a:solidFill>
                  <a:srgbClr val="F0F6FC"/>
                </a:solidFill>
                <a:latin typeface="Calibri" pitchFamily="34" charset="0"/>
                <a:ea typeface="Calibri" pitchFamily="34" charset="-122"/>
                <a:cs typeface="Calibri" pitchFamily="34" charset="-120"/>
              </a:rPr>
              <a:t>• Directory entry updated — new path</a:t>
            </a:r>
            <a:endParaRPr lang="en-US" sz="1050" dirty="0"/>
          </a:p>
        </p:txBody>
      </p:sp>
      <p:sp>
        <p:nvSpPr>
          <p:cNvPr id="14" name="Text 12"/>
          <p:cNvSpPr/>
          <p:nvPr/>
        </p:nvSpPr>
        <p:spPr>
          <a:xfrm>
            <a:off x="539496" y="3099816"/>
            <a:ext cx="2441448" cy="329184"/>
          </a:xfrm>
          <a:prstGeom prst="rect">
            <a:avLst/>
          </a:prstGeom>
          <a:noFill/>
          <a:ln/>
        </p:spPr>
        <p:txBody>
          <a:bodyPr wrap="square" lIns="0" tIns="0" rIns="0" bIns="0" rtlCol="0" anchor="ctr"/>
          <a:lstStyle/>
          <a:p>
            <a:pPr marL="0" indent="0">
              <a:buNone/>
            </a:pPr>
            <a:r>
              <a:rPr lang="en-US" sz="1050" dirty="0">
                <a:solidFill>
                  <a:srgbClr val="F0F6FC"/>
                </a:solidFill>
                <a:latin typeface="Calibri" pitchFamily="34" charset="0"/>
                <a:ea typeface="Calibri" pitchFamily="34" charset="-122"/>
                <a:cs typeface="Calibri" pitchFamily="34" charset="-120"/>
              </a:rPr>
              <a:t>• Original data blocks: completely intact</a:t>
            </a:r>
            <a:endParaRPr lang="en-US" sz="1050" dirty="0"/>
          </a:p>
        </p:txBody>
      </p:sp>
      <p:sp>
        <p:nvSpPr>
          <p:cNvPr id="15" name="Text 13"/>
          <p:cNvSpPr/>
          <p:nvPr/>
        </p:nvSpPr>
        <p:spPr>
          <a:xfrm>
            <a:off x="539496" y="3483864"/>
            <a:ext cx="2441448" cy="329184"/>
          </a:xfrm>
          <a:prstGeom prst="rect">
            <a:avLst/>
          </a:prstGeom>
          <a:noFill/>
          <a:ln/>
        </p:spPr>
        <p:txBody>
          <a:bodyPr wrap="square" lIns="0" tIns="0" rIns="0" bIns="0" rtlCol="0" anchor="ctr"/>
          <a:lstStyle/>
          <a:p>
            <a:pPr marL="0" indent="0">
              <a:buNone/>
            </a:pPr>
            <a:r>
              <a:rPr lang="en-US" sz="1050" dirty="0">
                <a:solidFill>
                  <a:srgbClr val="F0F6FC"/>
                </a:solidFill>
                <a:latin typeface="Calibri" pitchFamily="34" charset="0"/>
                <a:ea typeface="Calibri" pitchFamily="34" charset="-122"/>
                <a:cs typeface="Calibri" pitchFamily="34" charset="-120"/>
              </a:rPr>
              <a:t>• Inode: unchanged, still allocated</a:t>
            </a:r>
            <a:endParaRPr lang="en-US" sz="1050" dirty="0"/>
          </a:p>
        </p:txBody>
      </p:sp>
      <p:sp>
        <p:nvSpPr>
          <p:cNvPr id="16" name="Text 14"/>
          <p:cNvSpPr/>
          <p:nvPr/>
        </p:nvSpPr>
        <p:spPr>
          <a:xfrm>
            <a:off x="539496" y="3867912"/>
            <a:ext cx="2441448" cy="329184"/>
          </a:xfrm>
          <a:prstGeom prst="rect">
            <a:avLst/>
          </a:prstGeom>
          <a:noFill/>
          <a:ln/>
        </p:spPr>
        <p:txBody>
          <a:bodyPr wrap="square" lIns="0" tIns="0" rIns="0" bIns="0" rtlCol="0" anchor="ctr"/>
          <a:lstStyle/>
          <a:p>
            <a:pPr marL="0" indent="0">
              <a:buNone/>
            </a:pPr>
            <a:r>
              <a:rPr lang="en-US" sz="1050" b="1" dirty="0">
                <a:solidFill>
                  <a:srgbClr val="E3B341"/>
                </a:solidFill>
                <a:latin typeface="Calibri" pitchFamily="34" charset="0"/>
                <a:ea typeface="Calibri" pitchFamily="34" charset="-122"/>
                <a:cs typeface="Calibri" pitchFamily="34" charset="-120"/>
              </a:rPr>
              <a:t>→ Restoration: reverse the move</a:t>
            </a:r>
            <a:endParaRPr lang="en-US" sz="1050" dirty="0"/>
          </a:p>
        </p:txBody>
      </p:sp>
      <p:sp>
        <p:nvSpPr>
          <p:cNvPr id="17" name="Shape 15"/>
          <p:cNvSpPr/>
          <p:nvPr/>
        </p:nvSpPr>
        <p:spPr>
          <a:xfrm>
            <a:off x="539496" y="4224528"/>
            <a:ext cx="2441448" cy="219456"/>
          </a:xfrm>
          <a:prstGeom prst="rect">
            <a:avLst/>
          </a:prstGeom>
          <a:solidFill>
            <a:srgbClr val="E3B341">
              <a:alpha val="30000"/>
            </a:srgbClr>
          </a:solidFill>
          <a:ln w="12700">
            <a:solidFill>
              <a:srgbClr val="E3B341"/>
            </a:solidFill>
            <a:prstDash val="solid"/>
          </a:ln>
        </p:spPr>
        <p:txBody>
          <a:bodyPr/>
          <a:lstStyle/>
          <a:p>
            <a:endParaRPr lang="en-US"/>
          </a:p>
        </p:txBody>
      </p:sp>
      <p:sp>
        <p:nvSpPr>
          <p:cNvPr id="18" name="Text 16"/>
          <p:cNvSpPr/>
          <p:nvPr/>
        </p:nvSpPr>
        <p:spPr>
          <a:xfrm>
            <a:off x="539496" y="4224528"/>
            <a:ext cx="2441448" cy="219456"/>
          </a:xfrm>
          <a:prstGeom prst="rect">
            <a:avLst/>
          </a:prstGeom>
          <a:noFill/>
          <a:ln/>
        </p:spPr>
        <p:txBody>
          <a:bodyPr wrap="square" lIns="0" tIns="0" rIns="0" bIns="0" rtlCol="0" anchor="ctr"/>
          <a:lstStyle/>
          <a:p>
            <a:pPr marL="0" indent="0" algn="ctr">
              <a:buNone/>
            </a:pPr>
            <a:r>
              <a:rPr lang="en-US" sz="900" b="1" dirty="0">
                <a:solidFill>
                  <a:srgbClr val="E3B341"/>
                </a:solidFill>
                <a:latin typeface="Consolas" pitchFamily="34" charset="0"/>
                <a:ea typeface="Consolas" pitchFamily="34" charset="-122"/>
                <a:cs typeface="Consolas" pitchFamily="34" charset="-120"/>
              </a:rPr>
              <a:t>SAFE — fully reversible</a:t>
            </a:r>
            <a:endParaRPr lang="en-US" sz="900" dirty="0"/>
          </a:p>
        </p:txBody>
      </p:sp>
      <p:sp>
        <p:nvSpPr>
          <p:cNvPr id="19" name="Shape 17"/>
          <p:cNvSpPr/>
          <p:nvPr/>
        </p:nvSpPr>
        <p:spPr>
          <a:xfrm>
            <a:off x="3227832" y="1920240"/>
            <a:ext cx="2697480" cy="2578608"/>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20" name="Shape 18"/>
          <p:cNvSpPr/>
          <p:nvPr/>
        </p:nvSpPr>
        <p:spPr>
          <a:xfrm>
            <a:off x="3227832" y="1920240"/>
            <a:ext cx="2697480"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21" name="Text 19"/>
          <p:cNvSpPr/>
          <p:nvPr/>
        </p:nvSpPr>
        <p:spPr>
          <a:xfrm>
            <a:off x="3355848" y="1965960"/>
            <a:ext cx="2441448" cy="256032"/>
          </a:xfrm>
          <a:prstGeom prst="rect">
            <a:avLst/>
          </a:prstGeom>
          <a:noFill/>
          <a:ln/>
        </p:spPr>
        <p:txBody>
          <a:bodyPr wrap="square" lIns="0" tIns="0" rIns="0" bIns="0" rtlCol="0" anchor="ctr"/>
          <a:lstStyle/>
          <a:p>
            <a:pPr marL="0" indent="0">
              <a:buNone/>
            </a:pPr>
            <a:r>
              <a:rPr lang="en-US" sz="1100" b="1" dirty="0">
                <a:solidFill>
                  <a:srgbClr val="FFA657"/>
                </a:solidFill>
                <a:latin typeface="Calibri" pitchFamily="34" charset="0"/>
                <a:ea typeface="Calibri" pitchFamily="34" charset="-122"/>
                <a:cs typeface="Calibri" pitchFamily="34" charset="-120"/>
              </a:rPr>
              <a:t>💥  Permanent Delete (Shift+Del)</a:t>
            </a:r>
            <a:endParaRPr lang="en-US" sz="1100" dirty="0"/>
          </a:p>
        </p:txBody>
      </p:sp>
      <p:sp>
        <p:nvSpPr>
          <p:cNvPr id="22" name="Text 20"/>
          <p:cNvSpPr/>
          <p:nvPr/>
        </p:nvSpPr>
        <p:spPr>
          <a:xfrm>
            <a:off x="3355848" y="2331720"/>
            <a:ext cx="2441448" cy="329184"/>
          </a:xfrm>
          <a:prstGeom prst="rect">
            <a:avLst/>
          </a:prstGeom>
          <a:noFill/>
          <a:ln/>
        </p:spPr>
        <p:txBody>
          <a:bodyPr wrap="square" lIns="0" tIns="0" rIns="0" bIns="0" rtlCol="0" anchor="ctr"/>
          <a:lstStyle/>
          <a:p>
            <a:pPr marL="0" indent="0">
              <a:buNone/>
            </a:pPr>
            <a:r>
              <a:rPr lang="en-US" sz="1050" dirty="0">
                <a:solidFill>
                  <a:srgbClr val="F0F6FC"/>
                </a:solidFill>
                <a:latin typeface="Calibri" pitchFamily="34" charset="0"/>
                <a:ea typeface="Calibri" pitchFamily="34" charset="-122"/>
                <a:cs typeface="Calibri" pitchFamily="34" charset="-120"/>
              </a:rPr>
              <a:t>• Directory entry removed (filename erased)</a:t>
            </a:r>
            <a:endParaRPr lang="en-US" sz="1050" dirty="0"/>
          </a:p>
        </p:txBody>
      </p:sp>
      <p:sp>
        <p:nvSpPr>
          <p:cNvPr id="23" name="Text 21"/>
          <p:cNvSpPr/>
          <p:nvPr/>
        </p:nvSpPr>
        <p:spPr>
          <a:xfrm>
            <a:off x="3355848" y="2715768"/>
            <a:ext cx="2441448" cy="329184"/>
          </a:xfrm>
          <a:prstGeom prst="rect">
            <a:avLst/>
          </a:prstGeom>
          <a:noFill/>
          <a:ln/>
        </p:spPr>
        <p:txBody>
          <a:bodyPr wrap="square" lIns="0" tIns="0" rIns="0" bIns="0" rtlCol="0" anchor="ctr"/>
          <a:lstStyle/>
          <a:p>
            <a:pPr marL="0" indent="0">
              <a:buNone/>
            </a:pPr>
            <a:r>
              <a:rPr lang="en-US" sz="1050" dirty="0">
                <a:solidFill>
                  <a:srgbClr val="F0F6FC"/>
                </a:solidFill>
                <a:latin typeface="Calibri" pitchFamily="34" charset="0"/>
                <a:ea typeface="Calibri" pitchFamily="34" charset="-122"/>
                <a:cs typeface="Calibri" pitchFamily="34" charset="-120"/>
              </a:rPr>
              <a:t>• Inode marked as 'free' in inode table</a:t>
            </a:r>
            <a:endParaRPr lang="en-US" sz="1050" dirty="0"/>
          </a:p>
        </p:txBody>
      </p:sp>
      <p:sp>
        <p:nvSpPr>
          <p:cNvPr id="24" name="Text 22"/>
          <p:cNvSpPr/>
          <p:nvPr/>
        </p:nvSpPr>
        <p:spPr>
          <a:xfrm>
            <a:off x="3355848" y="3099816"/>
            <a:ext cx="2441448" cy="329184"/>
          </a:xfrm>
          <a:prstGeom prst="rect">
            <a:avLst/>
          </a:prstGeom>
          <a:noFill/>
          <a:ln/>
        </p:spPr>
        <p:txBody>
          <a:bodyPr wrap="square" lIns="0" tIns="0" rIns="0" bIns="0" rtlCol="0" anchor="ctr"/>
          <a:lstStyle/>
          <a:p>
            <a:pPr marL="0" indent="0">
              <a:buNone/>
            </a:pPr>
            <a:r>
              <a:rPr lang="en-US" sz="1050" dirty="0">
                <a:solidFill>
                  <a:srgbClr val="F0F6FC"/>
                </a:solidFill>
                <a:latin typeface="Calibri" pitchFamily="34" charset="0"/>
                <a:ea typeface="Calibri" pitchFamily="34" charset="-122"/>
                <a:cs typeface="Calibri" pitchFamily="34" charset="-120"/>
              </a:rPr>
              <a:t>• Data blocks marked as 'available'</a:t>
            </a:r>
            <a:endParaRPr lang="en-US" sz="1050" dirty="0"/>
          </a:p>
        </p:txBody>
      </p:sp>
      <p:sp>
        <p:nvSpPr>
          <p:cNvPr id="25" name="Text 23"/>
          <p:cNvSpPr/>
          <p:nvPr/>
        </p:nvSpPr>
        <p:spPr>
          <a:xfrm>
            <a:off x="3355848" y="3483864"/>
            <a:ext cx="2441448" cy="329184"/>
          </a:xfrm>
          <a:prstGeom prst="rect">
            <a:avLst/>
          </a:prstGeom>
          <a:noFill/>
          <a:ln/>
        </p:spPr>
        <p:txBody>
          <a:bodyPr wrap="square" lIns="0" tIns="0" rIns="0" bIns="0" rtlCol="0" anchor="ctr"/>
          <a:lstStyle/>
          <a:p>
            <a:pPr marL="0" indent="0">
              <a:buNone/>
            </a:pPr>
            <a:r>
              <a:rPr lang="en-US" sz="1050" dirty="0">
                <a:solidFill>
                  <a:srgbClr val="F0F6FC"/>
                </a:solidFill>
                <a:latin typeface="Calibri" pitchFamily="34" charset="0"/>
                <a:ea typeface="Calibri" pitchFamily="34" charset="-122"/>
                <a:cs typeface="Calibri" pitchFamily="34" charset="-120"/>
              </a:rPr>
              <a:t>• Bytes still physically present on disk!</a:t>
            </a:r>
            <a:endParaRPr lang="en-US" sz="1050" dirty="0"/>
          </a:p>
        </p:txBody>
      </p:sp>
      <p:sp>
        <p:nvSpPr>
          <p:cNvPr id="26" name="Text 24"/>
          <p:cNvSpPr/>
          <p:nvPr/>
        </p:nvSpPr>
        <p:spPr>
          <a:xfrm>
            <a:off x="3355848" y="3867912"/>
            <a:ext cx="2441448" cy="329184"/>
          </a:xfrm>
          <a:prstGeom prst="rect">
            <a:avLst/>
          </a:prstGeom>
          <a:noFill/>
          <a:ln/>
        </p:spPr>
        <p:txBody>
          <a:bodyPr wrap="square" lIns="0" tIns="0" rIns="0" bIns="0" rtlCol="0" anchor="ctr"/>
          <a:lstStyle/>
          <a:p>
            <a:pPr marL="0" indent="0">
              <a:buNone/>
            </a:pPr>
            <a:r>
              <a:rPr lang="en-US" sz="1050" b="1" dirty="0">
                <a:solidFill>
                  <a:srgbClr val="FFA657"/>
                </a:solidFill>
                <a:latin typeface="Calibri" pitchFamily="34" charset="0"/>
                <a:ea typeface="Calibri" pitchFamily="34" charset="-122"/>
                <a:cs typeface="Calibri" pitchFamily="34" charset="-120"/>
              </a:rPr>
              <a:t>→ Restoration: possible until overwritten</a:t>
            </a:r>
            <a:endParaRPr lang="en-US" sz="1050" dirty="0"/>
          </a:p>
        </p:txBody>
      </p:sp>
      <p:sp>
        <p:nvSpPr>
          <p:cNvPr id="27" name="Shape 25"/>
          <p:cNvSpPr/>
          <p:nvPr/>
        </p:nvSpPr>
        <p:spPr>
          <a:xfrm>
            <a:off x="3355848" y="4224528"/>
            <a:ext cx="2441448" cy="219456"/>
          </a:xfrm>
          <a:prstGeom prst="rect">
            <a:avLst/>
          </a:prstGeom>
          <a:solidFill>
            <a:srgbClr val="FFA657">
              <a:alpha val="30000"/>
            </a:srgbClr>
          </a:solidFill>
          <a:ln w="12700">
            <a:solidFill>
              <a:srgbClr val="FFA657"/>
            </a:solidFill>
            <a:prstDash val="solid"/>
          </a:ln>
        </p:spPr>
        <p:txBody>
          <a:bodyPr/>
          <a:lstStyle/>
          <a:p>
            <a:endParaRPr lang="en-US"/>
          </a:p>
        </p:txBody>
      </p:sp>
      <p:sp>
        <p:nvSpPr>
          <p:cNvPr id="28" name="Text 26"/>
          <p:cNvSpPr/>
          <p:nvPr/>
        </p:nvSpPr>
        <p:spPr>
          <a:xfrm>
            <a:off x="3355848" y="4224528"/>
            <a:ext cx="2441448" cy="219456"/>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DANGEROUS — recoverable</a:t>
            </a:r>
            <a:endParaRPr lang="en-US" sz="900" dirty="0"/>
          </a:p>
        </p:txBody>
      </p:sp>
      <p:sp>
        <p:nvSpPr>
          <p:cNvPr id="29" name="Shape 27"/>
          <p:cNvSpPr/>
          <p:nvPr/>
        </p:nvSpPr>
        <p:spPr>
          <a:xfrm>
            <a:off x="6044184" y="1920240"/>
            <a:ext cx="2697480" cy="2578608"/>
          </a:xfrm>
          <a:prstGeom prst="rect">
            <a:avLst/>
          </a:prstGeom>
          <a:solidFill>
            <a:srgbClr val="161B26"/>
          </a:solidFill>
          <a:ln w="15240">
            <a:solidFill>
              <a:srgbClr val="F85149"/>
            </a:solidFill>
            <a:prstDash val="solid"/>
          </a:ln>
          <a:effectLst>
            <a:outerShdw blurRad="177800" dist="38100" dir="8100000" algn="bl" rotWithShape="0">
              <a:srgbClr val="000000">
                <a:alpha val="35000"/>
              </a:srgbClr>
            </a:outerShdw>
          </a:effectLst>
        </p:spPr>
        <p:txBody>
          <a:bodyPr/>
          <a:lstStyle/>
          <a:p>
            <a:endParaRPr lang="en-US"/>
          </a:p>
        </p:txBody>
      </p:sp>
      <p:sp>
        <p:nvSpPr>
          <p:cNvPr id="30" name="Shape 28"/>
          <p:cNvSpPr/>
          <p:nvPr/>
        </p:nvSpPr>
        <p:spPr>
          <a:xfrm>
            <a:off x="6044184" y="1920240"/>
            <a:ext cx="2697480" cy="329184"/>
          </a:xfrm>
          <a:prstGeom prst="rect">
            <a:avLst/>
          </a:prstGeom>
          <a:solidFill>
            <a:srgbClr val="F85149">
              <a:alpha val="78000"/>
            </a:srgbClr>
          </a:solidFill>
          <a:ln w="12700">
            <a:solidFill>
              <a:srgbClr val="F85149"/>
            </a:solidFill>
            <a:prstDash val="solid"/>
          </a:ln>
        </p:spPr>
        <p:txBody>
          <a:bodyPr/>
          <a:lstStyle/>
          <a:p>
            <a:endParaRPr lang="en-US"/>
          </a:p>
        </p:txBody>
      </p:sp>
      <p:sp>
        <p:nvSpPr>
          <p:cNvPr id="31" name="Text 29"/>
          <p:cNvSpPr/>
          <p:nvPr/>
        </p:nvSpPr>
        <p:spPr>
          <a:xfrm>
            <a:off x="6172200" y="1965960"/>
            <a:ext cx="2441448" cy="256032"/>
          </a:xfrm>
          <a:prstGeom prst="rect">
            <a:avLst/>
          </a:prstGeom>
          <a:noFill/>
          <a:ln/>
        </p:spPr>
        <p:txBody>
          <a:bodyPr wrap="square" lIns="0" tIns="0" rIns="0" bIns="0" rtlCol="0" anchor="ctr"/>
          <a:lstStyle/>
          <a:p>
            <a:pPr marL="0" indent="0">
              <a:buNone/>
            </a:pPr>
            <a:r>
              <a:rPr lang="en-US" sz="1100" b="1" dirty="0">
                <a:solidFill>
                  <a:srgbClr val="F85149"/>
                </a:solidFill>
                <a:latin typeface="Calibri" pitchFamily="34" charset="0"/>
                <a:ea typeface="Calibri" pitchFamily="34" charset="-122"/>
                <a:cs typeface="Calibri" pitchFamily="34" charset="-120"/>
              </a:rPr>
              <a:t>🔒  Secure Erase / Shred</a:t>
            </a:r>
            <a:endParaRPr lang="en-US" sz="1100" dirty="0"/>
          </a:p>
        </p:txBody>
      </p:sp>
      <p:sp>
        <p:nvSpPr>
          <p:cNvPr id="32" name="Text 30"/>
          <p:cNvSpPr/>
          <p:nvPr/>
        </p:nvSpPr>
        <p:spPr>
          <a:xfrm>
            <a:off x="6172200" y="2331720"/>
            <a:ext cx="2441448" cy="329184"/>
          </a:xfrm>
          <a:prstGeom prst="rect">
            <a:avLst/>
          </a:prstGeom>
          <a:noFill/>
          <a:ln/>
        </p:spPr>
        <p:txBody>
          <a:bodyPr wrap="square" lIns="0" tIns="0" rIns="0" bIns="0" rtlCol="0" anchor="ctr"/>
          <a:lstStyle/>
          <a:p>
            <a:pPr marL="0" indent="0">
              <a:buNone/>
            </a:pPr>
            <a:r>
              <a:rPr lang="en-US" sz="1050" dirty="0">
                <a:solidFill>
                  <a:srgbClr val="F0F6FC"/>
                </a:solidFill>
                <a:latin typeface="Calibri" pitchFamily="34" charset="0"/>
                <a:ea typeface="Calibri" pitchFamily="34" charset="-122"/>
                <a:cs typeface="Calibri" pitchFamily="34" charset="-120"/>
              </a:rPr>
              <a:t>• Directory entry removed</a:t>
            </a:r>
            <a:endParaRPr lang="en-US" sz="1050" dirty="0"/>
          </a:p>
        </p:txBody>
      </p:sp>
      <p:sp>
        <p:nvSpPr>
          <p:cNvPr id="33" name="Text 31"/>
          <p:cNvSpPr/>
          <p:nvPr/>
        </p:nvSpPr>
        <p:spPr>
          <a:xfrm>
            <a:off x="6172200" y="2715768"/>
            <a:ext cx="2441448" cy="329184"/>
          </a:xfrm>
          <a:prstGeom prst="rect">
            <a:avLst/>
          </a:prstGeom>
          <a:noFill/>
          <a:ln/>
        </p:spPr>
        <p:txBody>
          <a:bodyPr wrap="square" lIns="0" tIns="0" rIns="0" bIns="0" rtlCol="0" anchor="ctr"/>
          <a:lstStyle/>
          <a:p>
            <a:pPr marL="0" indent="0">
              <a:buNone/>
            </a:pPr>
            <a:r>
              <a:rPr lang="en-US" sz="1050" dirty="0">
                <a:solidFill>
                  <a:srgbClr val="F0F6FC"/>
                </a:solidFill>
                <a:latin typeface="Calibri" pitchFamily="34" charset="0"/>
                <a:ea typeface="Calibri" pitchFamily="34" charset="-122"/>
                <a:cs typeface="Calibri" pitchFamily="34" charset="-120"/>
              </a:rPr>
              <a:t>• Inode freed</a:t>
            </a:r>
            <a:endParaRPr lang="en-US" sz="1050" dirty="0"/>
          </a:p>
        </p:txBody>
      </p:sp>
      <p:sp>
        <p:nvSpPr>
          <p:cNvPr id="34" name="Text 32"/>
          <p:cNvSpPr/>
          <p:nvPr/>
        </p:nvSpPr>
        <p:spPr>
          <a:xfrm>
            <a:off x="6172200" y="3099816"/>
            <a:ext cx="2441448" cy="329184"/>
          </a:xfrm>
          <a:prstGeom prst="rect">
            <a:avLst/>
          </a:prstGeom>
          <a:noFill/>
          <a:ln/>
        </p:spPr>
        <p:txBody>
          <a:bodyPr wrap="square" lIns="0" tIns="0" rIns="0" bIns="0" rtlCol="0" anchor="ctr"/>
          <a:lstStyle/>
          <a:p>
            <a:pPr marL="0" indent="0">
              <a:buNone/>
            </a:pPr>
            <a:r>
              <a:rPr lang="en-US" sz="1050" dirty="0">
                <a:solidFill>
                  <a:srgbClr val="F0F6FC"/>
                </a:solidFill>
                <a:latin typeface="Calibri" pitchFamily="34" charset="0"/>
                <a:ea typeface="Calibri" pitchFamily="34" charset="-122"/>
                <a:cs typeface="Calibri" pitchFamily="34" charset="-120"/>
              </a:rPr>
              <a:t>• Data blocks overwritten with zeros or random data</a:t>
            </a:r>
            <a:endParaRPr lang="en-US" sz="1050" dirty="0"/>
          </a:p>
        </p:txBody>
      </p:sp>
      <p:sp>
        <p:nvSpPr>
          <p:cNvPr id="35" name="Text 33"/>
          <p:cNvSpPr/>
          <p:nvPr/>
        </p:nvSpPr>
        <p:spPr>
          <a:xfrm>
            <a:off x="6172200" y="3483864"/>
            <a:ext cx="2441448" cy="329184"/>
          </a:xfrm>
          <a:prstGeom prst="rect">
            <a:avLst/>
          </a:prstGeom>
          <a:noFill/>
          <a:ln/>
        </p:spPr>
        <p:txBody>
          <a:bodyPr wrap="square" lIns="0" tIns="0" rIns="0" bIns="0" rtlCol="0" anchor="ctr"/>
          <a:lstStyle/>
          <a:p>
            <a:pPr marL="0" indent="0">
              <a:buNone/>
            </a:pPr>
            <a:r>
              <a:rPr lang="en-US" sz="1050" dirty="0">
                <a:solidFill>
                  <a:srgbClr val="F0F6FC"/>
                </a:solidFill>
                <a:latin typeface="Calibri" pitchFamily="34" charset="0"/>
                <a:ea typeface="Calibri" pitchFamily="34" charset="-122"/>
                <a:cs typeface="Calibri" pitchFamily="34" charset="-120"/>
              </a:rPr>
              <a:t>• Process repeated multiple times (DoD standard: 7×)</a:t>
            </a:r>
            <a:endParaRPr lang="en-US" sz="1050" dirty="0"/>
          </a:p>
        </p:txBody>
      </p:sp>
      <p:sp>
        <p:nvSpPr>
          <p:cNvPr id="36" name="Text 34"/>
          <p:cNvSpPr/>
          <p:nvPr/>
        </p:nvSpPr>
        <p:spPr>
          <a:xfrm>
            <a:off x="6172200" y="3867912"/>
            <a:ext cx="2441448" cy="329184"/>
          </a:xfrm>
          <a:prstGeom prst="rect">
            <a:avLst/>
          </a:prstGeom>
          <a:noFill/>
          <a:ln/>
        </p:spPr>
        <p:txBody>
          <a:bodyPr wrap="square" lIns="0" tIns="0" rIns="0" bIns="0" rtlCol="0" anchor="ctr"/>
          <a:lstStyle/>
          <a:p>
            <a:pPr marL="0" indent="0">
              <a:buNone/>
            </a:pPr>
            <a:r>
              <a:rPr lang="en-US" sz="1050" b="1" dirty="0">
                <a:solidFill>
                  <a:srgbClr val="F85149"/>
                </a:solidFill>
                <a:latin typeface="Calibri" pitchFamily="34" charset="0"/>
                <a:ea typeface="Calibri" pitchFamily="34" charset="-122"/>
                <a:cs typeface="Calibri" pitchFamily="34" charset="-120"/>
              </a:rPr>
              <a:t>→ Restoration: practically impossible</a:t>
            </a:r>
            <a:endParaRPr lang="en-US" sz="1050" dirty="0"/>
          </a:p>
        </p:txBody>
      </p:sp>
      <p:sp>
        <p:nvSpPr>
          <p:cNvPr id="37" name="Shape 35"/>
          <p:cNvSpPr/>
          <p:nvPr/>
        </p:nvSpPr>
        <p:spPr>
          <a:xfrm>
            <a:off x="6172200" y="4224528"/>
            <a:ext cx="2441448" cy="219456"/>
          </a:xfrm>
          <a:prstGeom prst="rect">
            <a:avLst/>
          </a:prstGeom>
          <a:solidFill>
            <a:srgbClr val="F85149">
              <a:alpha val="30000"/>
            </a:srgbClr>
          </a:solidFill>
          <a:ln w="12700">
            <a:solidFill>
              <a:srgbClr val="F85149"/>
            </a:solidFill>
            <a:prstDash val="solid"/>
          </a:ln>
        </p:spPr>
        <p:txBody>
          <a:bodyPr/>
          <a:lstStyle/>
          <a:p>
            <a:endParaRPr lang="en-US"/>
          </a:p>
        </p:txBody>
      </p:sp>
      <p:sp>
        <p:nvSpPr>
          <p:cNvPr id="38" name="Text 36"/>
          <p:cNvSpPr/>
          <p:nvPr/>
        </p:nvSpPr>
        <p:spPr>
          <a:xfrm>
            <a:off x="6172200" y="4224528"/>
            <a:ext cx="2441448" cy="219456"/>
          </a:xfrm>
          <a:prstGeom prst="rect">
            <a:avLst/>
          </a:prstGeom>
          <a:noFill/>
          <a:ln/>
        </p:spPr>
        <p:txBody>
          <a:bodyPr wrap="square" lIns="0" tIns="0" rIns="0" bIns="0" rtlCol="0" anchor="ctr"/>
          <a:lstStyle/>
          <a:p>
            <a:pPr marL="0" indent="0" algn="ctr">
              <a:buNone/>
            </a:pPr>
            <a:r>
              <a:rPr lang="en-US" sz="900" b="1" dirty="0">
                <a:solidFill>
                  <a:srgbClr val="F85149"/>
                </a:solidFill>
                <a:latin typeface="Consolas" pitchFamily="34" charset="0"/>
                <a:ea typeface="Consolas" pitchFamily="34" charset="-122"/>
                <a:cs typeface="Consolas" pitchFamily="34" charset="-120"/>
              </a:rPr>
              <a:t>PERMANENT — unrecoverable</a:t>
            </a:r>
            <a:endParaRPr lang="en-US" sz="900" dirty="0"/>
          </a:p>
        </p:txBody>
      </p:sp>
      <p:sp>
        <p:nvSpPr>
          <p:cNvPr id="39" name="Shape 37"/>
          <p:cNvSpPr/>
          <p:nvPr/>
        </p:nvSpPr>
        <p:spPr>
          <a:xfrm>
            <a:off x="365760" y="4572000"/>
            <a:ext cx="8412480" cy="384048"/>
          </a:xfrm>
          <a:prstGeom prst="rect">
            <a:avLst/>
          </a:prstGeom>
          <a:solidFill>
            <a:srgbClr val="0A1020"/>
          </a:solidFill>
          <a:ln w="12700">
            <a:solidFill>
              <a:srgbClr val="FFA657"/>
            </a:solidFill>
            <a:prstDash val="solid"/>
          </a:ln>
        </p:spPr>
        <p:txBody>
          <a:bodyPr/>
          <a:lstStyle/>
          <a:p>
            <a:endParaRPr lang="en-US"/>
          </a:p>
        </p:txBody>
      </p:sp>
      <p:sp>
        <p:nvSpPr>
          <p:cNvPr id="40" name="Text 38"/>
          <p:cNvSpPr/>
          <p:nvPr/>
        </p:nvSpPr>
        <p:spPr>
          <a:xfrm>
            <a:off x="502920" y="4599432"/>
            <a:ext cx="8229600" cy="310896"/>
          </a:xfrm>
          <a:prstGeom prst="rect">
            <a:avLst/>
          </a:prstGeom>
          <a:noFill/>
          <a:ln/>
        </p:spPr>
        <p:txBody>
          <a:bodyPr wrap="square" lIns="0" tIns="0" rIns="0" bIns="0" rtlCol="0" anchor="ctr"/>
          <a:lstStyle/>
          <a:p>
            <a:pPr marL="0" indent="0">
              <a:buNone/>
            </a:pPr>
            <a:r>
              <a:rPr lang="en-US" sz="1100" b="1" dirty="0">
                <a:solidFill>
                  <a:srgbClr val="FFA657"/>
                </a:solidFill>
                <a:latin typeface="Calibri" pitchFamily="34" charset="0"/>
                <a:ea typeface="Calibri" pitchFamily="34" charset="-122"/>
                <a:cs typeface="Calibri" pitchFamily="34" charset="-120"/>
              </a:rPr>
              <a:t>Why file recovery software works:  </a:t>
            </a:r>
            <a:r>
              <a:rPr lang="en-US" sz="1100" dirty="0">
                <a:solidFill>
                  <a:srgbClr val="F0F6FC"/>
                </a:solidFill>
                <a:latin typeface="Calibri" pitchFamily="34" charset="0"/>
                <a:ea typeface="Calibri" pitchFamily="34" charset="-122"/>
                <a:cs typeface="Calibri" pitchFamily="34" charset="-120"/>
              </a:rPr>
              <a:t>The bytes are still on disk. Recovery tools scan the free-block list, find intact file signatures (magic bytes), and reconstruct the file.</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FILE OPERATIONS</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Copying vs Moving Files</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Two operations that look similar but work very differently at the OS level</a:t>
            </a:r>
            <a:endParaRPr lang="en-US" sz="1300" dirty="0"/>
          </a:p>
        </p:txBody>
      </p:sp>
      <p:sp>
        <p:nvSpPr>
          <p:cNvPr id="7" name="Shape 5"/>
          <p:cNvSpPr/>
          <p:nvPr/>
        </p:nvSpPr>
        <p:spPr>
          <a:xfrm>
            <a:off x="411480" y="1170432"/>
            <a:ext cx="4206240" cy="3273552"/>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4206240"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9" name="Text 7"/>
          <p:cNvSpPr/>
          <p:nvPr/>
        </p:nvSpPr>
        <p:spPr>
          <a:xfrm>
            <a:off x="548640" y="1216152"/>
            <a:ext cx="3931920" cy="256032"/>
          </a:xfrm>
          <a:prstGeom prst="rect">
            <a:avLst/>
          </a:prstGeom>
          <a:noFill/>
          <a:ln/>
        </p:spPr>
        <p:txBody>
          <a:bodyPr wrap="square" lIns="0" tIns="0" rIns="0" bIns="0" rtlCol="0" anchor="ctr"/>
          <a:lstStyle/>
          <a:p>
            <a:pPr marL="0" indent="0">
              <a:buNone/>
            </a:pPr>
            <a:r>
              <a:rPr lang="en-US" sz="1400" b="1" dirty="0">
                <a:solidFill>
                  <a:srgbClr val="58A6FF"/>
                </a:solidFill>
                <a:latin typeface="Calibri" pitchFamily="34" charset="0"/>
                <a:ea typeface="Calibri" pitchFamily="34" charset="-122"/>
                <a:cs typeface="Calibri" pitchFamily="34" charset="-120"/>
              </a:rPr>
              <a:t>📋  COPY</a:t>
            </a:r>
            <a:endParaRPr lang="en-US" sz="1400" dirty="0"/>
          </a:p>
        </p:txBody>
      </p:sp>
      <p:sp>
        <p:nvSpPr>
          <p:cNvPr id="10" name="Shape 8"/>
          <p:cNvSpPr/>
          <p:nvPr/>
        </p:nvSpPr>
        <p:spPr>
          <a:xfrm>
            <a:off x="548640" y="1609344"/>
            <a:ext cx="347472" cy="347472"/>
          </a:xfrm>
          <a:prstGeom prst="ellipse">
            <a:avLst/>
          </a:prstGeom>
          <a:solidFill>
            <a:srgbClr val="58A6FF">
              <a:alpha val="80000"/>
            </a:srgbClr>
          </a:solidFill>
          <a:ln w="19050">
            <a:solidFill>
              <a:srgbClr val="58A6FF"/>
            </a:solidFill>
            <a:prstDash val="solid"/>
          </a:ln>
        </p:spPr>
        <p:txBody>
          <a:bodyPr/>
          <a:lstStyle/>
          <a:p>
            <a:endParaRPr lang="en-US"/>
          </a:p>
        </p:txBody>
      </p:sp>
      <p:sp>
        <p:nvSpPr>
          <p:cNvPr id="11" name="Text 9"/>
          <p:cNvSpPr/>
          <p:nvPr/>
        </p:nvSpPr>
        <p:spPr>
          <a:xfrm>
            <a:off x="548640" y="1609344"/>
            <a:ext cx="347472" cy="347472"/>
          </a:xfrm>
          <a:prstGeom prst="rect">
            <a:avLst/>
          </a:prstGeom>
          <a:noFill/>
          <a:ln/>
        </p:spPr>
        <p:txBody>
          <a:bodyPr wrap="square" lIns="0" tIns="0" rIns="0" bIns="0" rtlCol="0" anchor="ctr"/>
          <a:lstStyle/>
          <a:p>
            <a:pPr marL="0" indent="0" algn="ctr">
              <a:buNone/>
            </a:pPr>
            <a:r>
              <a:rPr lang="en-US" sz="1400" b="1" dirty="0">
                <a:solidFill>
                  <a:srgbClr val="58A6FF"/>
                </a:solidFill>
                <a:latin typeface="Calibri" pitchFamily="34" charset="0"/>
                <a:ea typeface="Calibri" pitchFamily="34" charset="-122"/>
                <a:cs typeface="Calibri" pitchFamily="34" charset="-120"/>
              </a:rPr>
              <a:t>1</a:t>
            </a:r>
            <a:endParaRPr lang="en-US" sz="1400" dirty="0"/>
          </a:p>
        </p:txBody>
      </p:sp>
      <p:sp>
        <p:nvSpPr>
          <p:cNvPr id="12" name="Text 10"/>
          <p:cNvSpPr/>
          <p:nvPr/>
        </p:nvSpPr>
        <p:spPr>
          <a:xfrm>
            <a:off x="1005840" y="1627632"/>
            <a:ext cx="1828800" cy="219456"/>
          </a:xfrm>
          <a:prstGeom prst="rect">
            <a:avLst/>
          </a:prstGeom>
          <a:noFill/>
          <a:ln/>
        </p:spPr>
        <p:txBody>
          <a:bodyPr wrap="square" lIns="0" tIns="0" rIns="0" bIns="0"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Allocate new inode</a:t>
            </a:r>
            <a:endParaRPr lang="en-US" sz="1100" dirty="0"/>
          </a:p>
        </p:txBody>
      </p:sp>
      <p:sp>
        <p:nvSpPr>
          <p:cNvPr id="13" name="Text 11"/>
          <p:cNvSpPr/>
          <p:nvPr/>
        </p:nvSpPr>
        <p:spPr>
          <a:xfrm>
            <a:off x="1005840" y="1819656"/>
            <a:ext cx="3474720" cy="237744"/>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New metadata record created</a:t>
            </a:r>
            <a:endParaRPr lang="en-US" sz="950" dirty="0"/>
          </a:p>
          <a:p>
            <a:pPr marL="0" indent="0">
              <a:buNone/>
            </a:pPr>
            <a:r>
              <a:rPr lang="en-US" sz="950" dirty="0">
                <a:solidFill>
                  <a:srgbClr val="8B949E"/>
                </a:solidFill>
                <a:latin typeface="Calibri" pitchFamily="34" charset="0"/>
                <a:ea typeface="Calibri" pitchFamily="34" charset="-122"/>
                <a:cs typeface="Calibri" pitchFamily="34" charset="-120"/>
              </a:rPr>
              <a:t>for the destination file</a:t>
            </a:r>
            <a:endParaRPr lang="en-US" sz="950" dirty="0"/>
          </a:p>
        </p:txBody>
      </p:sp>
      <p:sp>
        <p:nvSpPr>
          <p:cNvPr id="14" name="Shape 12"/>
          <p:cNvSpPr/>
          <p:nvPr/>
        </p:nvSpPr>
        <p:spPr>
          <a:xfrm>
            <a:off x="548640" y="2084832"/>
            <a:ext cx="347472" cy="347472"/>
          </a:xfrm>
          <a:prstGeom prst="ellipse">
            <a:avLst/>
          </a:prstGeom>
          <a:solidFill>
            <a:srgbClr val="58A6FF">
              <a:alpha val="80000"/>
            </a:srgbClr>
          </a:solidFill>
          <a:ln w="19050">
            <a:solidFill>
              <a:srgbClr val="58A6FF"/>
            </a:solidFill>
            <a:prstDash val="solid"/>
          </a:ln>
        </p:spPr>
        <p:txBody>
          <a:bodyPr/>
          <a:lstStyle/>
          <a:p>
            <a:endParaRPr lang="en-US"/>
          </a:p>
        </p:txBody>
      </p:sp>
      <p:sp>
        <p:nvSpPr>
          <p:cNvPr id="15" name="Text 13"/>
          <p:cNvSpPr/>
          <p:nvPr/>
        </p:nvSpPr>
        <p:spPr>
          <a:xfrm>
            <a:off x="548640" y="2084832"/>
            <a:ext cx="347472" cy="347472"/>
          </a:xfrm>
          <a:prstGeom prst="rect">
            <a:avLst/>
          </a:prstGeom>
          <a:noFill/>
          <a:ln/>
        </p:spPr>
        <p:txBody>
          <a:bodyPr wrap="square" lIns="0" tIns="0" rIns="0" bIns="0" rtlCol="0" anchor="ctr"/>
          <a:lstStyle/>
          <a:p>
            <a:pPr marL="0" indent="0" algn="ctr">
              <a:buNone/>
            </a:pPr>
            <a:r>
              <a:rPr lang="en-US" sz="1400" b="1" dirty="0">
                <a:solidFill>
                  <a:srgbClr val="58A6FF"/>
                </a:solidFill>
                <a:latin typeface="Calibri" pitchFamily="34" charset="0"/>
                <a:ea typeface="Calibri" pitchFamily="34" charset="-122"/>
                <a:cs typeface="Calibri" pitchFamily="34" charset="-120"/>
              </a:rPr>
              <a:t>2</a:t>
            </a:r>
            <a:endParaRPr lang="en-US" sz="1400" dirty="0"/>
          </a:p>
        </p:txBody>
      </p:sp>
      <p:sp>
        <p:nvSpPr>
          <p:cNvPr id="16" name="Text 14"/>
          <p:cNvSpPr/>
          <p:nvPr/>
        </p:nvSpPr>
        <p:spPr>
          <a:xfrm>
            <a:off x="1005840" y="2103120"/>
            <a:ext cx="1828800" cy="219456"/>
          </a:xfrm>
          <a:prstGeom prst="rect">
            <a:avLst/>
          </a:prstGeom>
          <a:noFill/>
          <a:ln/>
        </p:spPr>
        <p:txBody>
          <a:bodyPr wrap="square" lIns="0" tIns="0" rIns="0" bIns="0"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Allocate new data blocks</a:t>
            </a:r>
            <a:endParaRPr lang="en-US" sz="1100" dirty="0"/>
          </a:p>
        </p:txBody>
      </p:sp>
      <p:sp>
        <p:nvSpPr>
          <p:cNvPr id="17" name="Text 15"/>
          <p:cNvSpPr/>
          <p:nvPr/>
        </p:nvSpPr>
        <p:spPr>
          <a:xfrm>
            <a:off x="1005840" y="2295144"/>
            <a:ext cx="3474720" cy="237744"/>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Fresh disk blocks reserved</a:t>
            </a:r>
            <a:endParaRPr lang="en-US" sz="950" dirty="0"/>
          </a:p>
          <a:p>
            <a:pPr marL="0" indent="0">
              <a:buNone/>
            </a:pPr>
            <a:r>
              <a:rPr lang="en-US" sz="950" dirty="0">
                <a:solidFill>
                  <a:srgbClr val="8B949E"/>
                </a:solidFill>
                <a:latin typeface="Calibri" pitchFamily="34" charset="0"/>
                <a:ea typeface="Calibri" pitchFamily="34" charset="-122"/>
                <a:cs typeface="Calibri" pitchFamily="34" charset="-120"/>
              </a:rPr>
              <a:t>for the copy's content</a:t>
            </a:r>
            <a:endParaRPr lang="en-US" sz="950" dirty="0"/>
          </a:p>
        </p:txBody>
      </p:sp>
      <p:sp>
        <p:nvSpPr>
          <p:cNvPr id="18" name="Shape 16"/>
          <p:cNvSpPr/>
          <p:nvPr/>
        </p:nvSpPr>
        <p:spPr>
          <a:xfrm>
            <a:off x="548640" y="2560320"/>
            <a:ext cx="347472" cy="347472"/>
          </a:xfrm>
          <a:prstGeom prst="ellipse">
            <a:avLst/>
          </a:prstGeom>
          <a:solidFill>
            <a:srgbClr val="58A6FF">
              <a:alpha val="80000"/>
            </a:srgbClr>
          </a:solidFill>
          <a:ln w="19050">
            <a:solidFill>
              <a:srgbClr val="58A6FF"/>
            </a:solidFill>
            <a:prstDash val="solid"/>
          </a:ln>
        </p:spPr>
        <p:txBody>
          <a:bodyPr/>
          <a:lstStyle/>
          <a:p>
            <a:endParaRPr lang="en-US"/>
          </a:p>
        </p:txBody>
      </p:sp>
      <p:sp>
        <p:nvSpPr>
          <p:cNvPr id="19" name="Text 17"/>
          <p:cNvSpPr/>
          <p:nvPr/>
        </p:nvSpPr>
        <p:spPr>
          <a:xfrm>
            <a:off x="548640" y="2560320"/>
            <a:ext cx="347472" cy="347472"/>
          </a:xfrm>
          <a:prstGeom prst="rect">
            <a:avLst/>
          </a:prstGeom>
          <a:noFill/>
          <a:ln/>
        </p:spPr>
        <p:txBody>
          <a:bodyPr wrap="square" lIns="0" tIns="0" rIns="0" bIns="0" rtlCol="0" anchor="ctr"/>
          <a:lstStyle/>
          <a:p>
            <a:pPr marL="0" indent="0" algn="ctr">
              <a:buNone/>
            </a:pPr>
            <a:r>
              <a:rPr lang="en-US" sz="1400" b="1" dirty="0">
                <a:solidFill>
                  <a:srgbClr val="58A6FF"/>
                </a:solidFill>
                <a:latin typeface="Calibri" pitchFamily="34" charset="0"/>
                <a:ea typeface="Calibri" pitchFamily="34" charset="-122"/>
                <a:cs typeface="Calibri" pitchFamily="34" charset="-120"/>
              </a:rPr>
              <a:t>3</a:t>
            </a:r>
            <a:endParaRPr lang="en-US" sz="1400" dirty="0"/>
          </a:p>
        </p:txBody>
      </p:sp>
      <p:sp>
        <p:nvSpPr>
          <p:cNvPr id="20" name="Text 18"/>
          <p:cNvSpPr/>
          <p:nvPr/>
        </p:nvSpPr>
        <p:spPr>
          <a:xfrm>
            <a:off x="1005840" y="2578608"/>
            <a:ext cx="1828800" cy="219456"/>
          </a:xfrm>
          <a:prstGeom prst="rect">
            <a:avLst/>
          </a:prstGeom>
          <a:noFill/>
          <a:ln/>
        </p:spPr>
        <p:txBody>
          <a:bodyPr wrap="square" lIns="0" tIns="0" rIns="0" bIns="0"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Read source blocks</a:t>
            </a:r>
            <a:endParaRPr lang="en-US" sz="1100" dirty="0"/>
          </a:p>
        </p:txBody>
      </p:sp>
      <p:sp>
        <p:nvSpPr>
          <p:cNvPr id="21" name="Text 19"/>
          <p:cNvSpPr/>
          <p:nvPr/>
        </p:nvSpPr>
        <p:spPr>
          <a:xfrm>
            <a:off x="1005840" y="2770632"/>
            <a:ext cx="3474720" cy="237744"/>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Every byte read from the</a:t>
            </a:r>
            <a:endParaRPr lang="en-US" sz="950" dirty="0"/>
          </a:p>
          <a:p>
            <a:pPr marL="0" indent="0">
              <a:buNone/>
            </a:pPr>
            <a:r>
              <a:rPr lang="en-US" sz="950" dirty="0">
                <a:solidFill>
                  <a:srgbClr val="8B949E"/>
                </a:solidFill>
                <a:latin typeface="Calibri" pitchFamily="34" charset="0"/>
                <a:ea typeface="Calibri" pitchFamily="34" charset="-122"/>
                <a:cs typeface="Calibri" pitchFamily="34" charset="-120"/>
              </a:rPr>
              <a:t>original file's blocks</a:t>
            </a:r>
            <a:endParaRPr lang="en-US" sz="950" dirty="0"/>
          </a:p>
        </p:txBody>
      </p:sp>
      <p:sp>
        <p:nvSpPr>
          <p:cNvPr id="22" name="Shape 20"/>
          <p:cNvSpPr/>
          <p:nvPr/>
        </p:nvSpPr>
        <p:spPr>
          <a:xfrm>
            <a:off x="548640" y="3035808"/>
            <a:ext cx="347472" cy="347472"/>
          </a:xfrm>
          <a:prstGeom prst="ellipse">
            <a:avLst/>
          </a:prstGeom>
          <a:solidFill>
            <a:srgbClr val="58A6FF">
              <a:alpha val="80000"/>
            </a:srgbClr>
          </a:solidFill>
          <a:ln w="19050">
            <a:solidFill>
              <a:srgbClr val="58A6FF"/>
            </a:solidFill>
            <a:prstDash val="solid"/>
          </a:ln>
        </p:spPr>
        <p:txBody>
          <a:bodyPr/>
          <a:lstStyle/>
          <a:p>
            <a:endParaRPr lang="en-US"/>
          </a:p>
        </p:txBody>
      </p:sp>
      <p:sp>
        <p:nvSpPr>
          <p:cNvPr id="23" name="Text 21"/>
          <p:cNvSpPr/>
          <p:nvPr/>
        </p:nvSpPr>
        <p:spPr>
          <a:xfrm>
            <a:off x="548640" y="3035808"/>
            <a:ext cx="347472" cy="347472"/>
          </a:xfrm>
          <a:prstGeom prst="rect">
            <a:avLst/>
          </a:prstGeom>
          <a:noFill/>
          <a:ln/>
        </p:spPr>
        <p:txBody>
          <a:bodyPr wrap="square" lIns="0" tIns="0" rIns="0" bIns="0" rtlCol="0" anchor="ctr"/>
          <a:lstStyle/>
          <a:p>
            <a:pPr marL="0" indent="0" algn="ctr">
              <a:buNone/>
            </a:pPr>
            <a:r>
              <a:rPr lang="en-US" sz="1400" b="1" dirty="0">
                <a:solidFill>
                  <a:srgbClr val="58A6FF"/>
                </a:solidFill>
                <a:latin typeface="Calibri" pitchFamily="34" charset="0"/>
                <a:ea typeface="Calibri" pitchFamily="34" charset="-122"/>
                <a:cs typeface="Calibri" pitchFamily="34" charset="-120"/>
              </a:rPr>
              <a:t>4</a:t>
            </a:r>
            <a:endParaRPr lang="en-US" sz="1400" dirty="0"/>
          </a:p>
        </p:txBody>
      </p:sp>
      <p:sp>
        <p:nvSpPr>
          <p:cNvPr id="24" name="Text 22"/>
          <p:cNvSpPr/>
          <p:nvPr/>
        </p:nvSpPr>
        <p:spPr>
          <a:xfrm>
            <a:off x="1005840" y="3054096"/>
            <a:ext cx="1828800" cy="219456"/>
          </a:xfrm>
          <a:prstGeom prst="rect">
            <a:avLst/>
          </a:prstGeom>
          <a:noFill/>
          <a:ln/>
        </p:spPr>
        <p:txBody>
          <a:bodyPr wrap="square" lIns="0" tIns="0" rIns="0" bIns="0"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Write to new blocks</a:t>
            </a:r>
            <a:endParaRPr lang="en-US" sz="1100" dirty="0"/>
          </a:p>
        </p:txBody>
      </p:sp>
      <p:sp>
        <p:nvSpPr>
          <p:cNvPr id="25" name="Text 23"/>
          <p:cNvSpPr/>
          <p:nvPr/>
        </p:nvSpPr>
        <p:spPr>
          <a:xfrm>
            <a:off x="1005840" y="3246120"/>
            <a:ext cx="3474720" cy="237744"/>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All bytes written to the</a:t>
            </a:r>
            <a:endParaRPr lang="en-US" sz="950" dirty="0"/>
          </a:p>
          <a:p>
            <a:pPr marL="0" indent="0">
              <a:buNone/>
            </a:pPr>
            <a:r>
              <a:rPr lang="en-US" sz="950" dirty="0">
                <a:solidFill>
                  <a:srgbClr val="8B949E"/>
                </a:solidFill>
                <a:latin typeface="Calibri" pitchFamily="34" charset="0"/>
                <a:ea typeface="Calibri" pitchFamily="34" charset="-122"/>
                <a:cs typeface="Calibri" pitchFamily="34" charset="-120"/>
              </a:rPr>
              <a:t>newly allocated blocks</a:t>
            </a:r>
            <a:endParaRPr lang="en-US" sz="950" dirty="0"/>
          </a:p>
        </p:txBody>
      </p:sp>
      <p:sp>
        <p:nvSpPr>
          <p:cNvPr id="26" name="Shape 24"/>
          <p:cNvSpPr/>
          <p:nvPr/>
        </p:nvSpPr>
        <p:spPr>
          <a:xfrm>
            <a:off x="548640" y="3511296"/>
            <a:ext cx="347472" cy="347472"/>
          </a:xfrm>
          <a:prstGeom prst="ellipse">
            <a:avLst/>
          </a:prstGeom>
          <a:solidFill>
            <a:srgbClr val="58A6FF">
              <a:alpha val="80000"/>
            </a:srgbClr>
          </a:solidFill>
          <a:ln w="19050">
            <a:solidFill>
              <a:srgbClr val="58A6FF"/>
            </a:solidFill>
            <a:prstDash val="solid"/>
          </a:ln>
        </p:spPr>
        <p:txBody>
          <a:bodyPr/>
          <a:lstStyle/>
          <a:p>
            <a:endParaRPr lang="en-US"/>
          </a:p>
        </p:txBody>
      </p:sp>
      <p:sp>
        <p:nvSpPr>
          <p:cNvPr id="27" name="Text 25"/>
          <p:cNvSpPr/>
          <p:nvPr/>
        </p:nvSpPr>
        <p:spPr>
          <a:xfrm>
            <a:off x="548640" y="3511296"/>
            <a:ext cx="347472" cy="347472"/>
          </a:xfrm>
          <a:prstGeom prst="rect">
            <a:avLst/>
          </a:prstGeom>
          <a:noFill/>
          <a:ln/>
        </p:spPr>
        <p:txBody>
          <a:bodyPr wrap="square" lIns="0" tIns="0" rIns="0" bIns="0" rtlCol="0" anchor="ctr"/>
          <a:lstStyle/>
          <a:p>
            <a:pPr marL="0" indent="0" algn="ctr">
              <a:buNone/>
            </a:pPr>
            <a:r>
              <a:rPr lang="en-US" sz="1400" b="1" dirty="0">
                <a:solidFill>
                  <a:srgbClr val="58A6FF"/>
                </a:solidFill>
                <a:latin typeface="Calibri" pitchFamily="34" charset="0"/>
                <a:ea typeface="Calibri" pitchFamily="34" charset="-122"/>
                <a:cs typeface="Calibri" pitchFamily="34" charset="-120"/>
              </a:rPr>
              <a:t>5</a:t>
            </a:r>
            <a:endParaRPr lang="en-US" sz="1400" dirty="0"/>
          </a:p>
        </p:txBody>
      </p:sp>
      <p:sp>
        <p:nvSpPr>
          <p:cNvPr id="28" name="Text 26"/>
          <p:cNvSpPr/>
          <p:nvPr/>
        </p:nvSpPr>
        <p:spPr>
          <a:xfrm>
            <a:off x="1005840" y="3529584"/>
            <a:ext cx="1828800" cy="219456"/>
          </a:xfrm>
          <a:prstGeom prst="rect">
            <a:avLst/>
          </a:prstGeom>
          <a:noFill/>
          <a:ln/>
        </p:spPr>
        <p:txBody>
          <a:bodyPr wrap="square" lIns="0" tIns="0" rIns="0" bIns="0"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Create directory entry</a:t>
            </a:r>
            <a:endParaRPr lang="en-US" sz="1100" dirty="0"/>
          </a:p>
        </p:txBody>
      </p:sp>
      <p:sp>
        <p:nvSpPr>
          <p:cNvPr id="29" name="Text 27"/>
          <p:cNvSpPr/>
          <p:nvPr/>
        </p:nvSpPr>
        <p:spPr>
          <a:xfrm>
            <a:off x="1005840" y="3721608"/>
            <a:ext cx="3474720" cy="237744"/>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New name added to the</a:t>
            </a:r>
            <a:endParaRPr lang="en-US" sz="950" dirty="0"/>
          </a:p>
          <a:p>
            <a:pPr marL="0" indent="0">
              <a:buNone/>
            </a:pPr>
            <a:r>
              <a:rPr lang="en-US" sz="950" dirty="0">
                <a:solidFill>
                  <a:srgbClr val="8B949E"/>
                </a:solidFill>
                <a:latin typeface="Calibri" pitchFamily="34" charset="0"/>
                <a:ea typeface="Calibri" pitchFamily="34" charset="-122"/>
                <a:cs typeface="Calibri" pitchFamily="34" charset="-120"/>
              </a:rPr>
              <a:t>destination directory</a:t>
            </a:r>
            <a:endParaRPr lang="en-US" sz="950" dirty="0"/>
          </a:p>
        </p:txBody>
      </p:sp>
      <p:sp>
        <p:nvSpPr>
          <p:cNvPr id="30" name="Shape 28"/>
          <p:cNvSpPr/>
          <p:nvPr/>
        </p:nvSpPr>
        <p:spPr>
          <a:xfrm>
            <a:off x="548640" y="4069080"/>
            <a:ext cx="3931920" cy="256032"/>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31" name="Text 29"/>
          <p:cNvSpPr/>
          <p:nvPr/>
        </p:nvSpPr>
        <p:spPr>
          <a:xfrm>
            <a:off x="685800" y="4105656"/>
            <a:ext cx="3657600" cy="182880"/>
          </a:xfrm>
          <a:prstGeom prst="rect">
            <a:avLst/>
          </a:prstGeom>
          <a:noFill/>
          <a:ln/>
        </p:spPr>
        <p:txBody>
          <a:bodyPr wrap="square" lIns="0" tIns="0" rIns="0" bIns="0" rtlCol="0" anchor="ctr"/>
          <a:lstStyle/>
          <a:p>
            <a:pPr marL="0" indent="0">
              <a:buNone/>
            </a:pPr>
            <a:r>
              <a:rPr lang="en-US" sz="950" dirty="0">
                <a:solidFill>
                  <a:srgbClr val="58A6FF"/>
                </a:solidFill>
                <a:latin typeface="Consolas" pitchFamily="34" charset="0"/>
                <a:ea typeface="Consolas" pitchFamily="34" charset="-122"/>
                <a:cs typeface="Consolas" pitchFamily="34" charset="-120"/>
              </a:rPr>
              <a:t>Cost: O(file size) — slow for large files  ·  Uses double the disk space</a:t>
            </a:r>
            <a:endParaRPr lang="en-US" sz="950" dirty="0"/>
          </a:p>
        </p:txBody>
      </p:sp>
      <p:sp>
        <p:nvSpPr>
          <p:cNvPr id="32" name="Shape 30"/>
          <p:cNvSpPr/>
          <p:nvPr/>
        </p:nvSpPr>
        <p:spPr>
          <a:xfrm>
            <a:off x="4709160" y="1170432"/>
            <a:ext cx="4023360" cy="3273552"/>
          </a:xfrm>
          <a:prstGeom prst="rect">
            <a:avLst/>
          </a:prstGeom>
          <a:solidFill>
            <a:srgbClr val="161B26"/>
          </a:solidFill>
          <a:ln w="15240">
            <a:solidFill>
              <a:srgbClr val="3FB950"/>
            </a:solidFill>
            <a:prstDash val="solid"/>
          </a:ln>
          <a:effectLst>
            <a:outerShdw blurRad="177800" dist="38100" dir="8100000" algn="bl" rotWithShape="0">
              <a:srgbClr val="000000">
                <a:alpha val="35000"/>
              </a:srgbClr>
            </a:outerShdw>
          </a:effectLst>
        </p:spPr>
        <p:txBody>
          <a:bodyPr/>
          <a:lstStyle/>
          <a:p>
            <a:endParaRPr lang="en-US"/>
          </a:p>
        </p:txBody>
      </p:sp>
      <p:sp>
        <p:nvSpPr>
          <p:cNvPr id="33" name="Shape 31"/>
          <p:cNvSpPr/>
          <p:nvPr/>
        </p:nvSpPr>
        <p:spPr>
          <a:xfrm>
            <a:off x="4709160" y="1170432"/>
            <a:ext cx="4023360" cy="329184"/>
          </a:xfrm>
          <a:prstGeom prst="rect">
            <a:avLst/>
          </a:prstGeom>
          <a:solidFill>
            <a:srgbClr val="3FB950">
              <a:alpha val="78000"/>
            </a:srgbClr>
          </a:solidFill>
          <a:ln w="12700">
            <a:solidFill>
              <a:srgbClr val="3FB950"/>
            </a:solidFill>
            <a:prstDash val="solid"/>
          </a:ln>
        </p:spPr>
        <p:txBody>
          <a:bodyPr/>
          <a:lstStyle/>
          <a:p>
            <a:endParaRPr lang="en-US"/>
          </a:p>
        </p:txBody>
      </p:sp>
      <p:sp>
        <p:nvSpPr>
          <p:cNvPr id="34" name="Text 32"/>
          <p:cNvSpPr/>
          <p:nvPr/>
        </p:nvSpPr>
        <p:spPr>
          <a:xfrm>
            <a:off x="4846320" y="1216152"/>
            <a:ext cx="3749040" cy="256032"/>
          </a:xfrm>
          <a:prstGeom prst="rect">
            <a:avLst/>
          </a:prstGeom>
          <a:noFill/>
          <a:ln/>
        </p:spPr>
        <p:txBody>
          <a:bodyPr wrap="square" lIns="0" tIns="0" rIns="0" bIns="0" rtlCol="0" anchor="ctr"/>
          <a:lstStyle/>
          <a:p>
            <a:pPr marL="0" indent="0">
              <a:buNone/>
            </a:pPr>
            <a:r>
              <a:rPr lang="en-US" sz="1400" b="1" dirty="0">
                <a:solidFill>
                  <a:srgbClr val="3FB950"/>
                </a:solidFill>
                <a:latin typeface="Calibri" pitchFamily="34" charset="0"/>
                <a:ea typeface="Calibri" pitchFamily="34" charset="-122"/>
                <a:cs typeface="Calibri" pitchFamily="34" charset="-120"/>
              </a:rPr>
              <a:t>✂️  MOVE  (same drive)</a:t>
            </a:r>
            <a:endParaRPr lang="en-US" sz="1400" dirty="0"/>
          </a:p>
        </p:txBody>
      </p:sp>
      <p:sp>
        <p:nvSpPr>
          <p:cNvPr id="35" name="Shape 33"/>
          <p:cNvSpPr/>
          <p:nvPr/>
        </p:nvSpPr>
        <p:spPr>
          <a:xfrm>
            <a:off x="4846320" y="1609344"/>
            <a:ext cx="347472" cy="347472"/>
          </a:xfrm>
          <a:prstGeom prst="ellipse">
            <a:avLst/>
          </a:prstGeom>
          <a:solidFill>
            <a:srgbClr val="3FB950">
              <a:alpha val="80000"/>
            </a:srgbClr>
          </a:solidFill>
          <a:ln w="19050">
            <a:solidFill>
              <a:srgbClr val="3FB950"/>
            </a:solidFill>
            <a:prstDash val="solid"/>
          </a:ln>
        </p:spPr>
        <p:txBody>
          <a:bodyPr/>
          <a:lstStyle/>
          <a:p>
            <a:endParaRPr lang="en-US"/>
          </a:p>
        </p:txBody>
      </p:sp>
      <p:sp>
        <p:nvSpPr>
          <p:cNvPr id="36" name="Text 34"/>
          <p:cNvSpPr/>
          <p:nvPr/>
        </p:nvSpPr>
        <p:spPr>
          <a:xfrm>
            <a:off x="4846320" y="1609344"/>
            <a:ext cx="347472" cy="347472"/>
          </a:xfrm>
          <a:prstGeom prst="rect">
            <a:avLst/>
          </a:prstGeom>
          <a:noFill/>
          <a:ln/>
        </p:spPr>
        <p:txBody>
          <a:bodyPr wrap="square" lIns="0" tIns="0" rIns="0" bIns="0" rtlCol="0" anchor="ctr"/>
          <a:lstStyle/>
          <a:p>
            <a:pPr marL="0" indent="0" algn="ctr">
              <a:buNone/>
            </a:pPr>
            <a:r>
              <a:rPr lang="en-US" sz="1400" b="1" dirty="0">
                <a:solidFill>
                  <a:srgbClr val="3FB950"/>
                </a:solidFill>
                <a:latin typeface="Calibri" pitchFamily="34" charset="0"/>
                <a:ea typeface="Calibri" pitchFamily="34" charset="-122"/>
                <a:cs typeface="Calibri" pitchFamily="34" charset="-120"/>
              </a:rPr>
              <a:t>1</a:t>
            </a:r>
            <a:endParaRPr lang="en-US" sz="1400" dirty="0"/>
          </a:p>
        </p:txBody>
      </p:sp>
      <p:sp>
        <p:nvSpPr>
          <p:cNvPr id="37" name="Text 35"/>
          <p:cNvSpPr/>
          <p:nvPr/>
        </p:nvSpPr>
        <p:spPr>
          <a:xfrm>
            <a:off x="5303520" y="1627632"/>
            <a:ext cx="3291840" cy="219456"/>
          </a:xfrm>
          <a:prstGeom prst="rect">
            <a:avLst/>
          </a:prstGeom>
          <a:noFill/>
          <a:ln/>
        </p:spPr>
        <p:txBody>
          <a:bodyPr wrap="square" lIns="0" tIns="0" rIns="0" bIns="0"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Add new directory entry</a:t>
            </a:r>
            <a:endParaRPr lang="en-US" sz="1100" dirty="0"/>
          </a:p>
        </p:txBody>
      </p:sp>
      <p:sp>
        <p:nvSpPr>
          <p:cNvPr id="38" name="Text 36"/>
          <p:cNvSpPr/>
          <p:nvPr/>
        </p:nvSpPr>
        <p:spPr>
          <a:xfrm>
            <a:off x="5303520" y="1819656"/>
            <a:ext cx="3291840" cy="237744"/>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New name + same inode</a:t>
            </a:r>
            <a:endParaRPr lang="en-US" sz="950" dirty="0"/>
          </a:p>
          <a:p>
            <a:pPr marL="0" indent="0">
              <a:buNone/>
            </a:pPr>
            <a:r>
              <a:rPr lang="en-US" sz="950" dirty="0">
                <a:solidFill>
                  <a:srgbClr val="8B949E"/>
                </a:solidFill>
                <a:latin typeface="Calibri" pitchFamily="34" charset="0"/>
                <a:ea typeface="Calibri" pitchFamily="34" charset="-122"/>
                <a:cs typeface="Calibri" pitchFamily="34" charset="-120"/>
              </a:rPr>
              <a:t>number in destination dir</a:t>
            </a:r>
            <a:endParaRPr lang="en-US" sz="950" dirty="0"/>
          </a:p>
        </p:txBody>
      </p:sp>
      <p:sp>
        <p:nvSpPr>
          <p:cNvPr id="39" name="Shape 37"/>
          <p:cNvSpPr/>
          <p:nvPr/>
        </p:nvSpPr>
        <p:spPr>
          <a:xfrm>
            <a:off x="4846320" y="2203704"/>
            <a:ext cx="347472" cy="347472"/>
          </a:xfrm>
          <a:prstGeom prst="ellipse">
            <a:avLst/>
          </a:prstGeom>
          <a:solidFill>
            <a:srgbClr val="3FB950">
              <a:alpha val="80000"/>
            </a:srgbClr>
          </a:solidFill>
          <a:ln w="19050">
            <a:solidFill>
              <a:srgbClr val="3FB950"/>
            </a:solidFill>
            <a:prstDash val="solid"/>
          </a:ln>
        </p:spPr>
        <p:txBody>
          <a:bodyPr/>
          <a:lstStyle/>
          <a:p>
            <a:endParaRPr lang="en-US"/>
          </a:p>
        </p:txBody>
      </p:sp>
      <p:sp>
        <p:nvSpPr>
          <p:cNvPr id="40" name="Text 38"/>
          <p:cNvSpPr/>
          <p:nvPr/>
        </p:nvSpPr>
        <p:spPr>
          <a:xfrm>
            <a:off x="4846320" y="2203704"/>
            <a:ext cx="347472" cy="347472"/>
          </a:xfrm>
          <a:prstGeom prst="rect">
            <a:avLst/>
          </a:prstGeom>
          <a:noFill/>
          <a:ln/>
        </p:spPr>
        <p:txBody>
          <a:bodyPr wrap="square" lIns="0" tIns="0" rIns="0" bIns="0" rtlCol="0" anchor="ctr"/>
          <a:lstStyle/>
          <a:p>
            <a:pPr marL="0" indent="0" algn="ctr">
              <a:buNone/>
            </a:pPr>
            <a:r>
              <a:rPr lang="en-US" sz="1400" b="1" dirty="0">
                <a:solidFill>
                  <a:srgbClr val="3FB950"/>
                </a:solidFill>
                <a:latin typeface="Calibri" pitchFamily="34" charset="0"/>
                <a:ea typeface="Calibri" pitchFamily="34" charset="-122"/>
                <a:cs typeface="Calibri" pitchFamily="34" charset="-120"/>
              </a:rPr>
              <a:t>2</a:t>
            </a:r>
            <a:endParaRPr lang="en-US" sz="1400" dirty="0"/>
          </a:p>
        </p:txBody>
      </p:sp>
      <p:sp>
        <p:nvSpPr>
          <p:cNvPr id="41" name="Text 39"/>
          <p:cNvSpPr/>
          <p:nvPr/>
        </p:nvSpPr>
        <p:spPr>
          <a:xfrm>
            <a:off x="5303520" y="2221992"/>
            <a:ext cx="3291840" cy="219456"/>
          </a:xfrm>
          <a:prstGeom prst="rect">
            <a:avLst/>
          </a:prstGeom>
          <a:noFill/>
          <a:ln/>
        </p:spPr>
        <p:txBody>
          <a:bodyPr wrap="square" lIns="0" tIns="0" rIns="0" bIns="0"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Remove old entry</a:t>
            </a:r>
            <a:endParaRPr lang="en-US" sz="1100" dirty="0"/>
          </a:p>
        </p:txBody>
      </p:sp>
      <p:sp>
        <p:nvSpPr>
          <p:cNvPr id="42" name="Text 40"/>
          <p:cNvSpPr/>
          <p:nvPr/>
        </p:nvSpPr>
        <p:spPr>
          <a:xfrm>
            <a:off x="5303520" y="2414016"/>
            <a:ext cx="3291840" cy="237744"/>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Source directory entry</a:t>
            </a:r>
            <a:endParaRPr lang="en-US" sz="950" dirty="0"/>
          </a:p>
          <a:p>
            <a:pPr marL="0" indent="0">
              <a:buNone/>
            </a:pPr>
            <a:r>
              <a:rPr lang="en-US" sz="950" dirty="0">
                <a:solidFill>
                  <a:srgbClr val="8B949E"/>
                </a:solidFill>
                <a:latin typeface="Calibri" pitchFamily="34" charset="0"/>
                <a:ea typeface="Calibri" pitchFamily="34" charset="-122"/>
                <a:cs typeface="Calibri" pitchFamily="34" charset="-120"/>
              </a:rPr>
              <a:t>deleted (name unlinked)</a:t>
            </a:r>
            <a:endParaRPr lang="en-US" sz="950" dirty="0"/>
          </a:p>
        </p:txBody>
      </p:sp>
      <p:sp>
        <p:nvSpPr>
          <p:cNvPr id="43" name="Shape 41"/>
          <p:cNvSpPr/>
          <p:nvPr/>
        </p:nvSpPr>
        <p:spPr>
          <a:xfrm>
            <a:off x="4846320" y="2798064"/>
            <a:ext cx="347472" cy="347472"/>
          </a:xfrm>
          <a:prstGeom prst="ellipse">
            <a:avLst/>
          </a:prstGeom>
          <a:solidFill>
            <a:srgbClr val="3FB950">
              <a:alpha val="80000"/>
            </a:srgbClr>
          </a:solidFill>
          <a:ln w="19050">
            <a:solidFill>
              <a:srgbClr val="3FB950"/>
            </a:solidFill>
            <a:prstDash val="solid"/>
          </a:ln>
        </p:spPr>
        <p:txBody>
          <a:bodyPr/>
          <a:lstStyle/>
          <a:p>
            <a:endParaRPr lang="en-US"/>
          </a:p>
        </p:txBody>
      </p:sp>
      <p:sp>
        <p:nvSpPr>
          <p:cNvPr id="44" name="Text 42"/>
          <p:cNvSpPr/>
          <p:nvPr/>
        </p:nvSpPr>
        <p:spPr>
          <a:xfrm>
            <a:off x="4846320" y="2798064"/>
            <a:ext cx="347472" cy="347472"/>
          </a:xfrm>
          <a:prstGeom prst="rect">
            <a:avLst/>
          </a:prstGeom>
          <a:noFill/>
          <a:ln/>
        </p:spPr>
        <p:txBody>
          <a:bodyPr wrap="square" lIns="0" tIns="0" rIns="0" bIns="0" rtlCol="0" anchor="ctr"/>
          <a:lstStyle/>
          <a:p>
            <a:pPr marL="0" indent="0" algn="ctr">
              <a:buNone/>
            </a:pPr>
            <a:r>
              <a:rPr lang="en-US" sz="1400" b="1" dirty="0">
                <a:solidFill>
                  <a:srgbClr val="3FB950"/>
                </a:solidFill>
                <a:latin typeface="Calibri" pitchFamily="34" charset="0"/>
                <a:ea typeface="Calibri" pitchFamily="34" charset="-122"/>
                <a:cs typeface="Calibri" pitchFamily="34" charset="-120"/>
              </a:rPr>
              <a:t>3</a:t>
            </a:r>
            <a:endParaRPr lang="en-US" sz="1400" dirty="0"/>
          </a:p>
        </p:txBody>
      </p:sp>
      <p:sp>
        <p:nvSpPr>
          <p:cNvPr id="45" name="Text 43"/>
          <p:cNvSpPr/>
          <p:nvPr/>
        </p:nvSpPr>
        <p:spPr>
          <a:xfrm>
            <a:off x="5303520" y="2816352"/>
            <a:ext cx="3291840" cy="219456"/>
          </a:xfrm>
          <a:prstGeom prst="rect">
            <a:avLst/>
          </a:prstGeom>
          <a:noFill/>
          <a:ln/>
        </p:spPr>
        <p:txBody>
          <a:bodyPr wrap="square" lIns="0" tIns="0" rIns="0" bIns="0"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Done — no data copied!</a:t>
            </a:r>
            <a:endParaRPr lang="en-US" sz="1100" dirty="0"/>
          </a:p>
        </p:txBody>
      </p:sp>
      <p:sp>
        <p:nvSpPr>
          <p:cNvPr id="46" name="Text 44"/>
          <p:cNvSpPr/>
          <p:nvPr/>
        </p:nvSpPr>
        <p:spPr>
          <a:xfrm>
            <a:off x="5303520" y="3008376"/>
            <a:ext cx="3291840" cy="237744"/>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Inode and data blocks</a:t>
            </a:r>
            <a:endParaRPr lang="en-US" sz="950" dirty="0"/>
          </a:p>
          <a:p>
            <a:pPr marL="0" indent="0">
              <a:buNone/>
            </a:pPr>
            <a:r>
              <a:rPr lang="en-US" sz="950" dirty="0">
                <a:solidFill>
                  <a:srgbClr val="8B949E"/>
                </a:solidFill>
                <a:latin typeface="Calibri" pitchFamily="34" charset="0"/>
                <a:ea typeface="Calibri" pitchFamily="34" charset="-122"/>
                <a:cs typeface="Calibri" pitchFamily="34" charset="-120"/>
              </a:rPr>
              <a:t>are completely unchanged</a:t>
            </a:r>
            <a:endParaRPr lang="en-US" sz="950" dirty="0"/>
          </a:p>
        </p:txBody>
      </p:sp>
      <p:sp>
        <p:nvSpPr>
          <p:cNvPr id="47" name="Shape 45"/>
          <p:cNvSpPr/>
          <p:nvPr/>
        </p:nvSpPr>
        <p:spPr>
          <a:xfrm>
            <a:off x="4846320" y="3429000"/>
            <a:ext cx="3749040" cy="914400"/>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48" name="Text 46"/>
          <p:cNvSpPr/>
          <p:nvPr/>
        </p:nvSpPr>
        <p:spPr>
          <a:xfrm>
            <a:off x="4983480" y="3474720"/>
            <a:ext cx="3474720" cy="219456"/>
          </a:xfrm>
          <a:prstGeom prst="rect">
            <a:avLst/>
          </a:prstGeom>
          <a:noFill/>
          <a:ln/>
        </p:spPr>
        <p:txBody>
          <a:bodyPr wrap="square" lIns="0" tIns="0" rIns="0" bIns="0" rtlCol="0" anchor="ctr"/>
          <a:lstStyle/>
          <a:p>
            <a:pPr marL="0" indent="0">
              <a:buNone/>
            </a:pPr>
            <a:r>
              <a:rPr lang="en-US" sz="1100" b="1" dirty="0">
                <a:solidFill>
                  <a:srgbClr val="FFA657"/>
                </a:solidFill>
                <a:latin typeface="Calibri" pitchFamily="34" charset="0"/>
                <a:ea typeface="Calibri" pitchFamily="34" charset="-122"/>
                <a:cs typeface="Calibri" pitchFamily="34" charset="-120"/>
              </a:rPr>
              <a:t>⚡  Why move is instant:</a:t>
            </a:r>
            <a:endParaRPr lang="en-US" sz="1100" dirty="0"/>
          </a:p>
        </p:txBody>
      </p:sp>
      <p:sp>
        <p:nvSpPr>
          <p:cNvPr id="49" name="Text 47"/>
          <p:cNvSpPr/>
          <p:nvPr/>
        </p:nvSpPr>
        <p:spPr>
          <a:xfrm>
            <a:off x="4983480" y="3721608"/>
            <a:ext cx="3474720" cy="548640"/>
          </a:xfrm>
          <a:prstGeom prst="rect">
            <a:avLst/>
          </a:prstGeom>
          <a:noFill/>
          <a:ln/>
        </p:spPr>
        <p:txBody>
          <a:bodyPr wrap="square" lIns="0" tIns="0" rIns="0" bIns="0" rtlCol="0" anchor="ctr"/>
          <a:lstStyle/>
          <a:p>
            <a:pPr marL="0" indent="0">
              <a:buNone/>
            </a:pPr>
            <a:r>
              <a:rPr lang="en-US" sz="1050" dirty="0">
                <a:solidFill>
                  <a:srgbClr val="F0F6FC"/>
                </a:solidFill>
                <a:latin typeface="Calibri" pitchFamily="34" charset="0"/>
                <a:ea typeface="Calibri" pitchFamily="34" charset="-122"/>
                <a:cs typeface="Calibri" pitchFamily="34" charset="-120"/>
              </a:rPr>
              <a:t>On the same drive, move just updates two directory entries. No bytes are copied. Moving a 50 GB file takes milliseconds.</a:t>
            </a:r>
            <a:endParaRPr lang="en-US" sz="1050" dirty="0"/>
          </a:p>
          <a:p>
            <a:pPr marL="0" indent="0">
              <a:buNone/>
            </a:pPr>
            <a:endParaRPr lang="en-US" sz="1050" dirty="0"/>
          </a:p>
          <a:p>
            <a:pPr marL="0" indent="0">
              <a:buNone/>
            </a:pPr>
            <a:r>
              <a:rPr lang="en-US" sz="1050" dirty="0">
                <a:solidFill>
                  <a:srgbClr val="F0F6FC"/>
                </a:solidFill>
                <a:latin typeface="Calibri" pitchFamily="34" charset="0"/>
                <a:ea typeface="Calibri" pitchFamily="34" charset="-122"/>
                <a:cs typeface="Calibri" pitchFamily="34" charset="-120"/>
              </a:rPr>
              <a:t>Across drives: a copy + delete is performed.</a:t>
            </a:r>
            <a:endParaRPr lang="en-US" sz="1050" dirty="0"/>
          </a:p>
        </p:txBody>
      </p:sp>
      <p:sp>
        <p:nvSpPr>
          <p:cNvPr id="50" name="Shape 48"/>
          <p:cNvSpPr/>
          <p:nvPr/>
        </p:nvSpPr>
        <p:spPr>
          <a:xfrm>
            <a:off x="4846320" y="4069080"/>
            <a:ext cx="3749040" cy="256032"/>
          </a:xfrm>
          <a:prstGeom prst="rect">
            <a:avLst/>
          </a:prstGeom>
          <a:solidFill>
            <a:srgbClr val="161B26"/>
          </a:solidFill>
          <a:ln w="15240">
            <a:solidFill>
              <a:srgbClr val="3FB950"/>
            </a:solidFill>
            <a:prstDash val="solid"/>
          </a:ln>
          <a:effectLst>
            <a:outerShdw blurRad="177800" dist="38100" dir="8100000" algn="bl" rotWithShape="0">
              <a:srgbClr val="000000">
                <a:alpha val="35000"/>
              </a:srgbClr>
            </a:outerShdw>
          </a:effectLst>
        </p:spPr>
        <p:txBody>
          <a:bodyPr/>
          <a:lstStyle/>
          <a:p>
            <a:endParaRPr lang="en-US"/>
          </a:p>
        </p:txBody>
      </p:sp>
      <p:sp>
        <p:nvSpPr>
          <p:cNvPr id="51" name="Text 49"/>
          <p:cNvSpPr/>
          <p:nvPr/>
        </p:nvSpPr>
        <p:spPr>
          <a:xfrm>
            <a:off x="4983480" y="4105656"/>
            <a:ext cx="3474720" cy="182880"/>
          </a:xfrm>
          <a:prstGeom prst="rect">
            <a:avLst/>
          </a:prstGeom>
          <a:noFill/>
          <a:ln/>
        </p:spPr>
        <p:txBody>
          <a:bodyPr wrap="square" lIns="0" tIns="0" rIns="0" bIns="0" rtlCol="0" anchor="ctr"/>
          <a:lstStyle/>
          <a:p>
            <a:pPr marL="0" indent="0">
              <a:buNone/>
            </a:pPr>
            <a:r>
              <a:rPr lang="en-US" sz="950" dirty="0">
                <a:solidFill>
                  <a:srgbClr val="3FB950"/>
                </a:solidFill>
                <a:latin typeface="Consolas" pitchFamily="34" charset="0"/>
                <a:ea typeface="Consolas" pitchFamily="34" charset="-122"/>
                <a:cs typeface="Consolas" pitchFamily="34" charset="-120"/>
              </a:rPr>
              <a:t>Cost: O(1) same drive — constant time regardless of file size!</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SECURITY &amp; ACCESS</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File Permissions &amp; Access Control</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Who can read, write, or execute a file — enforced by the OS</a:t>
            </a:r>
            <a:endParaRPr lang="en-US" sz="1300" dirty="0"/>
          </a:p>
        </p:txBody>
      </p:sp>
      <p:sp>
        <p:nvSpPr>
          <p:cNvPr id="7" name="Shape 5"/>
          <p:cNvSpPr/>
          <p:nvPr/>
        </p:nvSpPr>
        <p:spPr>
          <a:xfrm>
            <a:off x="411480" y="1170432"/>
            <a:ext cx="5029200" cy="2395728"/>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5029200"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9" name="Text 7"/>
          <p:cNvSpPr/>
          <p:nvPr/>
        </p:nvSpPr>
        <p:spPr>
          <a:xfrm>
            <a:off x="548640" y="1216152"/>
            <a:ext cx="4754880" cy="256032"/>
          </a:xfrm>
          <a:prstGeom prst="rect">
            <a:avLst/>
          </a:prstGeom>
          <a:noFill/>
          <a:ln/>
        </p:spPr>
        <p:txBody>
          <a:bodyPr wrap="square" lIns="0" tIns="0" rIns="0" bIns="0" rtlCol="0" anchor="ctr"/>
          <a:lstStyle/>
          <a:p>
            <a:pPr marL="0" indent="0">
              <a:buNone/>
            </a:pPr>
            <a:r>
              <a:rPr lang="en-US" sz="1100" b="1" dirty="0">
                <a:solidFill>
                  <a:srgbClr val="3FD9C4"/>
                </a:solidFill>
                <a:latin typeface="Calibri" pitchFamily="34" charset="0"/>
                <a:ea typeface="Calibri" pitchFamily="34" charset="-122"/>
                <a:cs typeface="Calibri" pitchFamily="34" charset="-120"/>
              </a:rPr>
              <a:t>🐧  Linux / Unix Permissions  (rwxrwxrwx)</a:t>
            </a:r>
            <a:endParaRPr lang="en-US" sz="1100" dirty="0"/>
          </a:p>
        </p:txBody>
      </p:sp>
      <p:sp>
        <p:nvSpPr>
          <p:cNvPr id="10" name="Shape 8"/>
          <p:cNvSpPr/>
          <p:nvPr/>
        </p:nvSpPr>
        <p:spPr>
          <a:xfrm>
            <a:off x="548640" y="1572768"/>
            <a:ext cx="365760" cy="438912"/>
          </a:xfrm>
          <a:prstGeom prst="rect">
            <a:avLst/>
          </a:prstGeom>
          <a:solidFill>
            <a:srgbClr val="3FB950">
              <a:alpha val="28000"/>
            </a:srgbClr>
          </a:solidFill>
          <a:ln w="12700">
            <a:solidFill>
              <a:srgbClr val="3FB950"/>
            </a:solidFill>
            <a:prstDash val="solid"/>
          </a:ln>
        </p:spPr>
        <p:txBody>
          <a:bodyPr/>
          <a:lstStyle/>
          <a:p>
            <a:endParaRPr lang="en-US"/>
          </a:p>
        </p:txBody>
      </p:sp>
      <p:sp>
        <p:nvSpPr>
          <p:cNvPr id="11" name="Text 9"/>
          <p:cNvSpPr/>
          <p:nvPr/>
        </p:nvSpPr>
        <p:spPr>
          <a:xfrm>
            <a:off x="548640" y="1572768"/>
            <a:ext cx="365760" cy="438912"/>
          </a:xfrm>
          <a:prstGeom prst="rect">
            <a:avLst/>
          </a:prstGeom>
          <a:noFill/>
          <a:ln/>
        </p:spPr>
        <p:txBody>
          <a:bodyPr wrap="square" lIns="0" tIns="0" rIns="0" bIns="0" rtlCol="0" anchor="ctr"/>
          <a:lstStyle/>
          <a:p>
            <a:pPr marL="0" indent="0" algn="ctr">
              <a:buNone/>
            </a:pPr>
            <a:r>
              <a:rPr lang="en-US" sz="1800" b="1" dirty="0">
                <a:solidFill>
                  <a:srgbClr val="3FB950"/>
                </a:solidFill>
                <a:latin typeface="Consolas" pitchFamily="34" charset="0"/>
                <a:ea typeface="Consolas" pitchFamily="34" charset="-122"/>
                <a:cs typeface="Consolas" pitchFamily="34" charset="-120"/>
              </a:rPr>
              <a:t>r</a:t>
            </a:r>
            <a:endParaRPr lang="en-US" sz="1800" dirty="0"/>
          </a:p>
        </p:txBody>
      </p:sp>
      <p:sp>
        <p:nvSpPr>
          <p:cNvPr id="12" name="Shape 10"/>
          <p:cNvSpPr/>
          <p:nvPr/>
        </p:nvSpPr>
        <p:spPr>
          <a:xfrm>
            <a:off x="969264" y="1572768"/>
            <a:ext cx="365760" cy="438912"/>
          </a:xfrm>
          <a:prstGeom prst="rect">
            <a:avLst/>
          </a:prstGeom>
          <a:solidFill>
            <a:srgbClr val="E3B341">
              <a:alpha val="28000"/>
            </a:srgbClr>
          </a:solidFill>
          <a:ln w="12700">
            <a:solidFill>
              <a:srgbClr val="E3B341"/>
            </a:solidFill>
            <a:prstDash val="solid"/>
          </a:ln>
        </p:spPr>
        <p:txBody>
          <a:bodyPr/>
          <a:lstStyle/>
          <a:p>
            <a:endParaRPr lang="en-US"/>
          </a:p>
        </p:txBody>
      </p:sp>
      <p:sp>
        <p:nvSpPr>
          <p:cNvPr id="13" name="Text 11"/>
          <p:cNvSpPr/>
          <p:nvPr/>
        </p:nvSpPr>
        <p:spPr>
          <a:xfrm>
            <a:off x="969264" y="1572768"/>
            <a:ext cx="365760" cy="438912"/>
          </a:xfrm>
          <a:prstGeom prst="rect">
            <a:avLst/>
          </a:prstGeom>
          <a:noFill/>
          <a:ln/>
        </p:spPr>
        <p:txBody>
          <a:bodyPr wrap="square" lIns="0" tIns="0" rIns="0" bIns="0" rtlCol="0" anchor="ctr"/>
          <a:lstStyle/>
          <a:p>
            <a:pPr marL="0" indent="0" algn="ctr">
              <a:buNone/>
            </a:pPr>
            <a:r>
              <a:rPr lang="en-US" sz="1800" b="1" dirty="0">
                <a:solidFill>
                  <a:srgbClr val="E3B341"/>
                </a:solidFill>
                <a:latin typeface="Consolas" pitchFamily="34" charset="0"/>
                <a:ea typeface="Consolas" pitchFamily="34" charset="-122"/>
                <a:cs typeface="Consolas" pitchFamily="34" charset="-120"/>
              </a:rPr>
              <a:t>w</a:t>
            </a:r>
            <a:endParaRPr lang="en-US" sz="1800" dirty="0"/>
          </a:p>
        </p:txBody>
      </p:sp>
      <p:sp>
        <p:nvSpPr>
          <p:cNvPr id="14" name="Shape 12"/>
          <p:cNvSpPr/>
          <p:nvPr/>
        </p:nvSpPr>
        <p:spPr>
          <a:xfrm>
            <a:off x="1389888" y="1572768"/>
            <a:ext cx="365760" cy="438912"/>
          </a:xfrm>
          <a:prstGeom prst="rect">
            <a:avLst/>
          </a:prstGeom>
          <a:solidFill>
            <a:srgbClr val="F85149">
              <a:alpha val="28000"/>
            </a:srgbClr>
          </a:solidFill>
          <a:ln w="12700">
            <a:solidFill>
              <a:srgbClr val="F85149"/>
            </a:solidFill>
            <a:prstDash val="solid"/>
          </a:ln>
        </p:spPr>
        <p:txBody>
          <a:bodyPr/>
          <a:lstStyle/>
          <a:p>
            <a:endParaRPr lang="en-US"/>
          </a:p>
        </p:txBody>
      </p:sp>
      <p:sp>
        <p:nvSpPr>
          <p:cNvPr id="15" name="Text 13"/>
          <p:cNvSpPr/>
          <p:nvPr/>
        </p:nvSpPr>
        <p:spPr>
          <a:xfrm>
            <a:off x="1389888" y="1572768"/>
            <a:ext cx="365760" cy="438912"/>
          </a:xfrm>
          <a:prstGeom prst="rect">
            <a:avLst/>
          </a:prstGeom>
          <a:noFill/>
          <a:ln/>
        </p:spPr>
        <p:txBody>
          <a:bodyPr wrap="square" lIns="0" tIns="0" rIns="0" bIns="0" rtlCol="0" anchor="ctr"/>
          <a:lstStyle/>
          <a:p>
            <a:pPr marL="0" indent="0" algn="ctr">
              <a:buNone/>
            </a:pPr>
            <a:r>
              <a:rPr lang="en-US" sz="1800" b="1" dirty="0">
                <a:solidFill>
                  <a:srgbClr val="F85149"/>
                </a:solidFill>
                <a:latin typeface="Consolas" pitchFamily="34" charset="0"/>
                <a:ea typeface="Consolas" pitchFamily="34" charset="-122"/>
                <a:cs typeface="Consolas" pitchFamily="34" charset="-120"/>
              </a:rPr>
              <a:t>x</a:t>
            </a:r>
            <a:endParaRPr lang="en-US" sz="1800" dirty="0"/>
          </a:p>
        </p:txBody>
      </p:sp>
      <p:sp>
        <p:nvSpPr>
          <p:cNvPr id="16" name="Shape 14"/>
          <p:cNvSpPr/>
          <p:nvPr/>
        </p:nvSpPr>
        <p:spPr>
          <a:xfrm>
            <a:off x="1810512" y="1572768"/>
            <a:ext cx="365760" cy="438912"/>
          </a:xfrm>
          <a:prstGeom prst="rect">
            <a:avLst/>
          </a:prstGeom>
          <a:solidFill>
            <a:srgbClr val="8B949E">
              <a:alpha val="0"/>
            </a:srgbClr>
          </a:solidFill>
          <a:ln w="12700">
            <a:solidFill>
              <a:srgbClr val="8B949E"/>
            </a:solidFill>
            <a:prstDash val="solid"/>
          </a:ln>
        </p:spPr>
        <p:txBody>
          <a:bodyPr/>
          <a:lstStyle/>
          <a:p>
            <a:endParaRPr lang="en-US"/>
          </a:p>
        </p:txBody>
      </p:sp>
      <p:sp>
        <p:nvSpPr>
          <p:cNvPr id="17" name="Text 15"/>
          <p:cNvSpPr/>
          <p:nvPr/>
        </p:nvSpPr>
        <p:spPr>
          <a:xfrm>
            <a:off x="1810512" y="1572768"/>
            <a:ext cx="365760" cy="438912"/>
          </a:xfrm>
          <a:prstGeom prst="rect">
            <a:avLst/>
          </a:prstGeom>
          <a:noFill/>
          <a:ln/>
        </p:spPr>
        <p:txBody>
          <a:bodyPr wrap="square" lIns="0" tIns="0" rIns="0" bIns="0" rtlCol="0" anchor="ctr"/>
          <a:lstStyle/>
          <a:p>
            <a:pPr marL="0" indent="0" algn="ctr">
              <a:buNone/>
            </a:pPr>
            <a:r>
              <a:rPr lang="en-US" sz="1800" b="1" dirty="0">
                <a:solidFill>
                  <a:srgbClr val="3D444D"/>
                </a:solidFill>
                <a:latin typeface="Consolas" pitchFamily="34" charset="0"/>
                <a:ea typeface="Consolas" pitchFamily="34" charset="-122"/>
                <a:cs typeface="Consolas" pitchFamily="34" charset="-120"/>
              </a:rPr>
              <a:t>-</a:t>
            </a:r>
            <a:endParaRPr lang="en-US" sz="1800" dirty="0"/>
          </a:p>
        </p:txBody>
      </p:sp>
      <p:sp>
        <p:nvSpPr>
          <p:cNvPr id="18" name="Shape 16"/>
          <p:cNvSpPr/>
          <p:nvPr/>
        </p:nvSpPr>
        <p:spPr>
          <a:xfrm>
            <a:off x="2231136" y="1572768"/>
            <a:ext cx="365760" cy="438912"/>
          </a:xfrm>
          <a:prstGeom prst="rect">
            <a:avLst/>
          </a:prstGeom>
          <a:solidFill>
            <a:srgbClr val="3FB950">
              <a:alpha val="28000"/>
            </a:srgbClr>
          </a:solidFill>
          <a:ln w="12700">
            <a:solidFill>
              <a:srgbClr val="3FB950"/>
            </a:solidFill>
            <a:prstDash val="solid"/>
          </a:ln>
        </p:spPr>
        <p:txBody>
          <a:bodyPr/>
          <a:lstStyle/>
          <a:p>
            <a:endParaRPr lang="en-US"/>
          </a:p>
        </p:txBody>
      </p:sp>
      <p:sp>
        <p:nvSpPr>
          <p:cNvPr id="19" name="Text 17"/>
          <p:cNvSpPr/>
          <p:nvPr/>
        </p:nvSpPr>
        <p:spPr>
          <a:xfrm>
            <a:off x="2231136" y="1572768"/>
            <a:ext cx="365760" cy="438912"/>
          </a:xfrm>
          <a:prstGeom prst="rect">
            <a:avLst/>
          </a:prstGeom>
          <a:noFill/>
          <a:ln/>
        </p:spPr>
        <p:txBody>
          <a:bodyPr wrap="square" lIns="0" tIns="0" rIns="0" bIns="0" rtlCol="0" anchor="ctr"/>
          <a:lstStyle/>
          <a:p>
            <a:pPr marL="0" indent="0" algn="ctr">
              <a:buNone/>
            </a:pPr>
            <a:r>
              <a:rPr lang="en-US" sz="1800" b="1" dirty="0">
                <a:solidFill>
                  <a:srgbClr val="3FB950"/>
                </a:solidFill>
                <a:latin typeface="Consolas" pitchFamily="34" charset="0"/>
                <a:ea typeface="Consolas" pitchFamily="34" charset="-122"/>
                <a:cs typeface="Consolas" pitchFamily="34" charset="-120"/>
              </a:rPr>
              <a:t>r</a:t>
            </a:r>
            <a:endParaRPr lang="en-US" sz="1800" dirty="0"/>
          </a:p>
        </p:txBody>
      </p:sp>
      <p:sp>
        <p:nvSpPr>
          <p:cNvPr id="20" name="Shape 18"/>
          <p:cNvSpPr/>
          <p:nvPr/>
        </p:nvSpPr>
        <p:spPr>
          <a:xfrm>
            <a:off x="2651760" y="1572768"/>
            <a:ext cx="365760" cy="438912"/>
          </a:xfrm>
          <a:prstGeom prst="rect">
            <a:avLst/>
          </a:prstGeom>
          <a:solidFill>
            <a:srgbClr val="8B949E">
              <a:alpha val="28000"/>
            </a:srgbClr>
          </a:solidFill>
          <a:ln w="12700">
            <a:solidFill>
              <a:srgbClr val="8B949E"/>
            </a:solidFill>
            <a:prstDash val="solid"/>
          </a:ln>
        </p:spPr>
        <p:txBody>
          <a:bodyPr/>
          <a:lstStyle/>
          <a:p>
            <a:endParaRPr lang="en-US"/>
          </a:p>
        </p:txBody>
      </p:sp>
      <p:sp>
        <p:nvSpPr>
          <p:cNvPr id="21" name="Text 19"/>
          <p:cNvSpPr/>
          <p:nvPr/>
        </p:nvSpPr>
        <p:spPr>
          <a:xfrm>
            <a:off x="2651760" y="1572768"/>
            <a:ext cx="365760" cy="438912"/>
          </a:xfrm>
          <a:prstGeom prst="rect">
            <a:avLst/>
          </a:prstGeom>
          <a:noFill/>
          <a:ln/>
        </p:spPr>
        <p:txBody>
          <a:bodyPr wrap="square" lIns="0" tIns="0" rIns="0" bIns="0" rtlCol="0" anchor="ctr"/>
          <a:lstStyle/>
          <a:p>
            <a:pPr marL="0" indent="0" algn="ctr">
              <a:buNone/>
            </a:pPr>
            <a:r>
              <a:rPr lang="en-US" sz="1800" b="1" dirty="0">
                <a:solidFill>
                  <a:srgbClr val="3D444D"/>
                </a:solidFill>
                <a:latin typeface="Consolas" pitchFamily="34" charset="0"/>
                <a:ea typeface="Consolas" pitchFamily="34" charset="-122"/>
                <a:cs typeface="Consolas" pitchFamily="34" charset="-120"/>
              </a:rPr>
              <a:t>-</a:t>
            </a:r>
            <a:endParaRPr lang="en-US" sz="1800" dirty="0"/>
          </a:p>
        </p:txBody>
      </p:sp>
      <p:sp>
        <p:nvSpPr>
          <p:cNvPr id="22" name="Shape 20"/>
          <p:cNvSpPr/>
          <p:nvPr/>
        </p:nvSpPr>
        <p:spPr>
          <a:xfrm>
            <a:off x="3072384" y="1572768"/>
            <a:ext cx="365760" cy="438912"/>
          </a:xfrm>
          <a:prstGeom prst="rect">
            <a:avLst/>
          </a:prstGeom>
          <a:solidFill>
            <a:srgbClr val="F85149">
              <a:alpha val="28000"/>
            </a:srgbClr>
          </a:solidFill>
          <a:ln w="12700">
            <a:solidFill>
              <a:srgbClr val="F85149"/>
            </a:solidFill>
            <a:prstDash val="solid"/>
          </a:ln>
        </p:spPr>
        <p:txBody>
          <a:bodyPr/>
          <a:lstStyle/>
          <a:p>
            <a:endParaRPr lang="en-US"/>
          </a:p>
        </p:txBody>
      </p:sp>
      <p:sp>
        <p:nvSpPr>
          <p:cNvPr id="23" name="Text 21"/>
          <p:cNvSpPr/>
          <p:nvPr/>
        </p:nvSpPr>
        <p:spPr>
          <a:xfrm>
            <a:off x="3072384" y="1572768"/>
            <a:ext cx="365760" cy="438912"/>
          </a:xfrm>
          <a:prstGeom prst="rect">
            <a:avLst/>
          </a:prstGeom>
          <a:noFill/>
          <a:ln/>
        </p:spPr>
        <p:txBody>
          <a:bodyPr wrap="square" lIns="0" tIns="0" rIns="0" bIns="0" rtlCol="0" anchor="ctr"/>
          <a:lstStyle/>
          <a:p>
            <a:pPr marL="0" indent="0" algn="ctr">
              <a:buNone/>
            </a:pPr>
            <a:r>
              <a:rPr lang="en-US" sz="1800" b="1" dirty="0">
                <a:solidFill>
                  <a:srgbClr val="F85149"/>
                </a:solidFill>
                <a:latin typeface="Consolas" pitchFamily="34" charset="0"/>
                <a:ea typeface="Consolas" pitchFamily="34" charset="-122"/>
                <a:cs typeface="Consolas" pitchFamily="34" charset="-120"/>
              </a:rPr>
              <a:t>x</a:t>
            </a:r>
            <a:endParaRPr lang="en-US" sz="1800" dirty="0"/>
          </a:p>
        </p:txBody>
      </p:sp>
      <p:sp>
        <p:nvSpPr>
          <p:cNvPr id="24" name="Shape 22"/>
          <p:cNvSpPr/>
          <p:nvPr/>
        </p:nvSpPr>
        <p:spPr>
          <a:xfrm>
            <a:off x="3493008" y="1572768"/>
            <a:ext cx="365760" cy="438912"/>
          </a:xfrm>
          <a:prstGeom prst="rect">
            <a:avLst/>
          </a:prstGeom>
          <a:solidFill>
            <a:srgbClr val="8B949E">
              <a:alpha val="0"/>
            </a:srgbClr>
          </a:solidFill>
          <a:ln w="12700">
            <a:solidFill>
              <a:srgbClr val="8B949E"/>
            </a:solidFill>
            <a:prstDash val="solid"/>
          </a:ln>
        </p:spPr>
        <p:txBody>
          <a:bodyPr/>
          <a:lstStyle/>
          <a:p>
            <a:endParaRPr lang="en-US"/>
          </a:p>
        </p:txBody>
      </p:sp>
      <p:sp>
        <p:nvSpPr>
          <p:cNvPr id="25" name="Text 23"/>
          <p:cNvSpPr/>
          <p:nvPr/>
        </p:nvSpPr>
        <p:spPr>
          <a:xfrm>
            <a:off x="3493008" y="1572768"/>
            <a:ext cx="365760" cy="438912"/>
          </a:xfrm>
          <a:prstGeom prst="rect">
            <a:avLst/>
          </a:prstGeom>
          <a:noFill/>
          <a:ln/>
        </p:spPr>
        <p:txBody>
          <a:bodyPr wrap="square" lIns="0" tIns="0" rIns="0" bIns="0" rtlCol="0" anchor="ctr"/>
          <a:lstStyle/>
          <a:p>
            <a:pPr marL="0" indent="0" algn="ctr">
              <a:buNone/>
            </a:pPr>
            <a:r>
              <a:rPr lang="en-US" sz="1800" b="1" dirty="0">
                <a:solidFill>
                  <a:srgbClr val="3D444D"/>
                </a:solidFill>
                <a:latin typeface="Consolas" pitchFamily="34" charset="0"/>
                <a:ea typeface="Consolas" pitchFamily="34" charset="-122"/>
                <a:cs typeface="Consolas" pitchFamily="34" charset="-120"/>
              </a:rPr>
              <a:t>-</a:t>
            </a:r>
            <a:endParaRPr lang="en-US" sz="1800" dirty="0"/>
          </a:p>
        </p:txBody>
      </p:sp>
      <p:sp>
        <p:nvSpPr>
          <p:cNvPr id="26" name="Shape 24"/>
          <p:cNvSpPr/>
          <p:nvPr/>
        </p:nvSpPr>
        <p:spPr>
          <a:xfrm>
            <a:off x="3913632" y="1572768"/>
            <a:ext cx="365760" cy="438912"/>
          </a:xfrm>
          <a:prstGeom prst="rect">
            <a:avLst/>
          </a:prstGeom>
          <a:solidFill>
            <a:srgbClr val="3FB950">
              <a:alpha val="28000"/>
            </a:srgbClr>
          </a:solidFill>
          <a:ln w="12700">
            <a:solidFill>
              <a:srgbClr val="3FB950"/>
            </a:solidFill>
            <a:prstDash val="solid"/>
          </a:ln>
        </p:spPr>
        <p:txBody>
          <a:bodyPr/>
          <a:lstStyle/>
          <a:p>
            <a:endParaRPr lang="en-US"/>
          </a:p>
        </p:txBody>
      </p:sp>
      <p:sp>
        <p:nvSpPr>
          <p:cNvPr id="27" name="Text 25"/>
          <p:cNvSpPr/>
          <p:nvPr/>
        </p:nvSpPr>
        <p:spPr>
          <a:xfrm>
            <a:off x="3913632" y="1572768"/>
            <a:ext cx="365760" cy="438912"/>
          </a:xfrm>
          <a:prstGeom prst="rect">
            <a:avLst/>
          </a:prstGeom>
          <a:noFill/>
          <a:ln/>
        </p:spPr>
        <p:txBody>
          <a:bodyPr wrap="square" lIns="0" tIns="0" rIns="0" bIns="0" rtlCol="0" anchor="ctr"/>
          <a:lstStyle/>
          <a:p>
            <a:pPr marL="0" indent="0" algn="ctr">
              <a:buNone/>
            </a:pPr>
            <a:r>
              <a:rPr lang="en-US" sz="1800" b="1" dirty="0">
                <a:solidFill>
                  <a:srgbClr val="3FB950"/>
                </a:solidFill>
                <a:latin typeface="Consolas" pitchFamily="34" charset="0"/>
                <a:ea typeface="Consolas" pitchFamily="34" charset="-122"/>
                <a:cs typeface="Consolas" pitchFamily="34" charset="-120"/>
              </a:rPr>
              <a:t>r</a:t>
            </a:r>
            <a:endParaRPr lang="en-US" sz="1800" dirty="0"/>
          </a:p>
        </p:txBody>
      </p:sp>
      <p:sp>
        <p:nvSpPr>
          <p:cNvPr id="28" name="Shape 26"/>
          <p:cNvSpPr/>
          <p:nvPr/>
        </p:nvSpPr>
        <p:spPr>
          <a:xfrm>
            <a:off x="4334256" y="1572768"/>
            <a:ext cx="365760" cy="438912"/>
          </a:xfrm>
          <a:prstGeom prst="rect">
            <a:avLst/>
          </a:prstGeom>
          <a:solidFill>
            <a:srgbClr val="8B949E">
              <a:alpha val="28000"/>
            </a:srgbClr>
          </a:solidFill>
          <a:ln w="12700">
            <a:solidFill>
              <a:srgbClr val="8B949E"/>
            </a:solidFill>
            <a:prstDash val="solid"/>
          </a:ln>
        </p:spPr>
        <p:txBody>
          <a:bodyPr/>
          <a:lstStyle/>
          <a:p>
            <a:endParaRPr lang="en-US"/>
          </a:p>
        </p:txBody>
      </p:sp>
      <p:sp>
        <p:nvSpPr>
          <p:cNvPr id="29" name="Text 27"/>
          <p:cNvSpPr/>
          <p:nvPr/>
        </p:nvSpPr>
        <p:spPr>
          <a:xfrm>
            <a:off x="4334256" y="1572768"/>
            <a:ext cx="365760" cy="438912"/>
          </a:xfrm>
          <a:prstGeom prst="rect">
            <a:avLst/>
          </a:prstGeom>
          <a:noFill/>
          <a:ln/>
        </p:spPr>
        <p:txBody>
          <a:bodyPr wrap="square" lIns="0" tIns="0" rIns="0" bIns="0" rtlCol="0" anchor="ctr"/>
          <a:lstStyle/>
          <a:p>
            <a:pPr marL="0" indent="0" algn="ctr">
              <a:buNone/>
            </a:pPr>
            <a:r>
              <a:rPr lang="en-US" sz="1800" b="1" dirty="0">
                <a:solidFill>
                  <a:srgbClr val="3D444D"/>
                </a:solidFill>
                <a:latin typeface="Consolas" pitchFamily="34" charset="0"/>
                <a:ea typeface="Consolas" pitchFamily="34" charset="-122"/>
                <a:cs typeface="Consolas" pitchFamily="34" charset="-120"/>
              </a:rPr>
              <a:t>-</a:t>
            </a:r>
            <a:endParaRPr lang="en-US" sz="1800" dirty="0"/>
          </a:p>
        </p:txBody>
      </p:sp>
      <p:sp>
        <p:nvSpPr>
          <p:cNvPr id="30" name="Shape 28"/>
          <p:cNvSpPr/>
          <p:nvPr/>
        </p:nvSpPr>
        <p:spPr>
          <a:xfrm>
            <a:off x="4754880" y="1572768"/>
            <a:ext cx="365760" cy="438912"/>
          </a:xfrm>
          <a:prstGeom prst="rect">
            <a:avLst/>
          </a:prstGeom>
          <a:solidFill>
            <a:srgbClr val="8B949E">
              <a:alpha val="28000"/>
            </a:srgbClr>
          </a:solidFill>
          <a:ln w="12700">
            <a:solidFill>
              <a:srgbClr val="8B949E"/>
            </a:solidFill>
            <a:prstDash val="solid"/>
          </a:ln>
        </p:spPr>
        <p:txBody>
          <a:bodyPr/>
          <a:lstStyle/>
          <a:p>
            <a:endParaRPr lang="en-US"/>
          </a:p>
        </p:txBody>
      </p:sp>
      <p:sp>
        <p:nvSpPr>
          <p:cNvPr id="31" name="Text 29"/>
          <p:cNvSpPr/>
          <p:nvPr/>
        </p:nvSpPr>
        <p:spPr>
          <a:xfrm>
            <a:off x="4754880" y="1572768"/>
            <a:ext cx="365760" cy="438912"/>
          </a:xfrm>
          <a:prstGeom prst="rect">
            <a:avLst/>
          </a:prstGeom>
          <a:noFill/>
          <a:ln/>
        </p:spPr>
        <p:txBody>
          <a:bodyPr wrap="square" lIns="0" tIns="0" rIns="0" bIns="0" rtlCol="0" anchor="ctr"/>
          <a:lstStyle/>
          <a:p>
            <a:pPr marL="0" indent="0" algn="ctr">
              <a:buNone/>
            </a:pPr>
            <a:r>
              <a:rPr lang="en-US" sz="1800" b="1" dirty="0">
                <a:solidFill>
                  <a:srgbClr val="3D444D"/>
                </a:solidFill>
                <a:latin typeface="Consolas" pitchFamily="34" charset="0"/>
                <a:ea typeface="Consolas" pitchFamily="34" charset="-122"/>
                <a:cs typeface="Consolas" pitchFamily="34" charset="-120"/>
              </a:rPr>
              <a:t>-</a:t>
            </a:r>
            <a:endParaRPr lang="en-US" sz="1800" dirty="0"/>
          </a:p>
        </p:txBody>
      </p:sp>
      <p:sp>
        <p:nvSpPr>
          <p:cNvPr id="32" name="Text 30"/>
          <p:cNvSpPr/>
          <p:nvPr/>
        </p:nvSpPr>
        <p:spPr>
          <a:xfrm>
            <a:off x="548640" y="2066544"/>
            <a:ext cx="1207008" cy="182880"/>
          </a:xfrm>
          <a:prstGeom prst="rect">
            <a:avLst/>
          </a:prstGeom>
          <a:noFill/>
          <a:ln/>
        </p:spPr>
        <p:txBody>
          <a:bodyPr wrap="square" lIns="0" tIns="0" rIns="0" bIns="0" rtlCol="0" anchor="ctr"/>
          <a:lstStyle/>
          <a:p>
            <a:pPr marL="0" indent="0" algn="ctr">
              <a:buNone/>
            </a:pPr>
            <a:r>
              <a:rPr lang="en-US" sz="950" b="1" dirty="0">
                <a:solidFill>
                  <a:srgbClr val="3FD9C4"/>
                </a:solidFill>
                <a:latin typeface="Calibri" pitchFamily="34" charset="0"/>
                <a:ea typeface="Calibri" pitchFamily="34" charset="-122"/>
                <a:cs typeface="Calibri" pitchFamily="34" charset="-120"/>
              </a:rPr>
              <a:t>Owner</a:t>
            </a:r>
            <a:endParaRPr lang="en-US" sz="950" dirty="0"/>
          </a:p>
        </p:txBody>
      </p:sp>
      <p:sp>
        <p:nvSpPr>
          <p:cNvPr id="33" name="Text 31"/>
          <p:cNvSpPr/>
          <p:nvPr/>
        </p:nvSpPr>
        <p:spPr>
          <a:xfrm>
            <a:off x="1810512" y="2066544"/>
            <a:ext cx="1207008" cy="182880"/>
          </a:xfrm>
          <a:prstGeom prst="rect">
            <a:avLst/>
          </a:prstGeom>
          <a:noFill/>
          <a:ln/>
        </p:spPr>
        <p:txBody>
          <a:bodyPr wrap="square" lIns="0" tIns="0" rIns="0" bIns="0" rtlCol="0" anchor="ctr"/>
          <a:lstStyle/>
          <a:p>
            <a:pPr marL="0" indent="0" algn="ctr">
              <a:buNone/>
            </a:pPr>
            <a:r>
              <a:rPr lang="en-US" sz="950" b="1" dirty="0">
                <a:solidFill>
                  <a:srgbClr val="58A6FF"/>
                </a:solidFill>
                <a:latin typeface="Calibri" pitchFamily="34" charset="0"/>
                <a:ea typeface="Calibri" pitchFamily="34" charset="-122"/>
                <a:cs typeface="Calibri" pitchFamily="34" charset="-120"/>
              </a:rPr>
              <a:t>Group</a:t>
            </a:r>
            <a:endParaRPr lang="en-US" sz="950" dirty="0"/>
          </a:p>
        </p:txBody>
      </p:sp>
      <p:sp>
        <p:nvSpPr>
          <p:cNvPr id="34" name="Text 32"/>
          <p:cNvSpPr/>
          <p:nvPr/>
        </p:nvSpPr>
        <p:spPr>
          <a:xfrm>
            <a:off x="3072384" y="2066544"/>
            <a:ext cx="1207008" cy="182880"/>
          </a:xfrm>
          <a:prstGeom prst="rect">
            <a:avLst/>
          </a:prstGeom>
          <a:noFill/>
          <a:ln/>
        </p:spPr>
        <p:txBody>
          <a:bodyPr wrap="square" lIns="0" tIns="0" rIns="0" bIns="0" rtlCol="0" anchor="ctr"/>
          <a:lstStyle/>
          <a:p>
            <a:pPr marL="0" indent="0" algn="ctr">
              <a:buNone/>
            </a:pPr>
            <a:r>
              <a:rPr lang="en-US" sz="950" b="1" dirty="0">
                <a:solidFill>
                  <a:srgbClr val="BC8CFF"/>
                </a:solidFill>
                <a:latin typeface="Calibri" pitchFamily="34" charset="0"/>
                <a:ea typeface="Calibri" pitchFamily="34" charset="-122"/>
                <a:cs typeface="Calibri" pitchFamily="34" charset="-120"/>
              </a:rPr>
              <a:t>Others</a:t>
            </a:r>
            <a:endParaRPr lang="en-US" sz="950" dirty="0"/>
          </a:p>
        </p:txBody>
      </p:sp>
      <p:sp>
        <p:nvSpPr>
          <p:cNvPr id="35" name="Shape 33"/>
          <p:cNvSpPr/>
          <p:nvPr/>
        </p:nvSpPr>
        <p:spPr>
          <a:xfrm>
            <a:off x="548640" y="2331720"/>
            <a:ext cx="274320" cy="274320"/>
          </a:xfrm>
          <a:prstGeom prst="rect">
            <a:avLst/>
          </a:prstGeom>
          <a:solidFill>
            <a:srgbClr val="3FB950">
              <a:alpha val="40000"/>
            </a:srgbClr>
          </a:solidFill>
          <a:ln w="12700">
            <a:solidFill>
              <a:srgbClr val="3FB950"/>
            </a:solidFill>
            <a:prstDash val="solid"/>
          </a:ln>
        </p:spPr>
        <p:txBody>
          <a:bodyPr/>
          <a:lstStyle/>
          <a:p>
            <a:endParaRPr lang="en-US"/>
          </a:p>
        </p:txBody>
      </p:sp>
      <p:sp>
        <p:nvSpPr>
          <p:cNvPr id="36" name="Text 34"/>
          <p:cNvSpPr/>
          <p:nvPr/>
        </p:nvSpPr>
        <p:spPr>
          <a:xfrm>
            <a:off x="548640" y="2331720"/>
            <a:ext cx="274320" cy="274320"/>
          </a:xfrm>
          <a:prstGeom prst="rect">
            <a:avLst/>
          </a:prstGeom>
          <a:noFill/>
          <a:ln/>
        </p:spPr>
        <p:txBody>
          <a:bodyPr wrap="square" lIns="0" tIns="0" rIns="0" bIns="0" rtlCol="0" anchor="ctr"/>
          <a:lstStyle/>
          <a:p>
            <a:pPr marL="0" indent="0" algn="ctr">
              <a:buNone/>
            </a:pPr>
            <a:r>
              <a:rPr lang="en-US" sz="1300" b="1" dirty="0">
                <a:solidFill>
                  <a:srgbClr val="3FB950"/>
                </a:solidFill>
                <a:latin typeface="Consolas" pitchFamily="34" charset="0"/>
                <a:ea typeface="Consolas" pitchFamily="34" charset="-122"/>
                <a:cs typeface="Consolas" pitchFamily="34" charset="-120"/>
              </a:rPr>
              <a:t>r</a:t>
            </a:r>
            <a:endParaRPr lang="en-US" sz="1300" dirty="0"/>
          </a:p>
        </p:txBody>
      </p:sp>
      <p:sp>
        <p:nvSpPr>
          <p:cNvPr id="37" name="Text 35"/>
          <p:cNvSpPr/>
          <p:nvPr/>
        </p:nvSpPr>
        <p:spPr>
          <a:xfrm>
            <a:off x="842955" y="2340864"/>
            <a:ext cx="1261872" cy="310896"/>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read — View file contents</a:t>
            </a:r>
            <a:endParaRPr lang="en-US" sz="950" dirty="0"/>
          </a:p>
          <a:p>
            <a:pPr marL="0" indent="0">
              <a:buNone/>
            </a:pPr>
            <a:r>
              <a:rPr lang="en-US" sz="950" dirty="0">
                <a:solidFill>
                  <a:srgbClr val="F0F6FC"/>
                </a:solidFill>
                <a:latin typeface="Calibri" pitchFamily="34" charset="0"/>
                <a:ea typeface="Calibri" pitchFamily="34" charset="-122"/>
                <a:cs typeface="Calibri" pitchFamily="34" charset="-120"/>
              </a:rPr>
              <a:t>List directory</a:t>
            </a:r>
            <a:endParaRPr lang="en-US" sz="950" dirty="0"/>
          </a:p>
        </p:txBody>
      </p:sp>
      <p:sp>
        <p:nvSpPr>
          <p:cNvPr id="38" name="Shape 36"/>
          <p:cNvSpPr/>
          <p:nvPr/>
        </p:nvSpPr>
        <p:spPr>
          <a:xfrm>
            <a:off x="2066544" y="2331720"/>
            <a:ext cx="274320" cy="274320"/>
          </a:xfrm>
          <a:prstGeom prst="rect">
            <a:avLst/>
          </a:prstGeom>
          <a:solidFill>
            <a:srgbClr val="E3B341">
              <a:alpha val="40000"/>
            </a:srgbClr>
          </a:solidFill>
          <a:ln w="12700">
            <a:solidFill>
              <a:srgbClr val="E3B341"/>
            </a:solidFill>
            <a:prstDash val="solid"/>
          </a:ln>
        </p:spPr>
        <p:txBody>
          <a:bodyPr/>
          <a:lstStyle/>
          <a:p>
            <a:endParaRPr lang="en-US"/>
          </a:p>
        </p:txBody>
      </p:sp>
      <p:sp>
        <p:nvSpPr>
          <p:cNvPr id="39" name="Text 37"/>
          <p:cNvSpPr/>
          <p:nvPr/>
        </p:nvSpPr>
        <p:spPr>
          <a:xfrm>
            <a:off x="2066544" y="2331720"/>
            <a:ext cx="274320" cy="274320"/>
          </a:xfrm>
          <a:prstGeom prst="rect">
            <a:avLst/>
          </a:prstGeom>
          <a:noFill/>
          <a:ln/>
        </p:spPr>
        <p:txBody>
          <a:bodyPr wrap="square" lIns="0" tIns="0" rIns="0" bIns="0" rtlCol="0" anchor="ctr"/>
          <a:lstStyle/>
          <a:p>
            <a:pPr marL="0" indent="0" algn="ctr">
              <a:buNone/>
            </a:pPr>
            <a:r>
              <a:rPr lang="en-US" sz="1300" b="1" dirty="0">
                <a:solidFill>
                  <a:srgbClr val="E3B341"/>
                </a:solidFill>
                <a:latin typeface="Consolas" pitchFamily="34" charset="0"/>
                <a:ea typeface="Consolas" pitchFamily="34" charset="-122"/>
                <a:cs typeface="Consolas" pitchFamily="34" charset="-120"/>
              </a:rPr>
              <a:t>w</a:t>
            </a:r>
            <a:endParaRPr lang="en-US" sz="1300" dirty="0"/>
          </a:p>
        </p:txBody>
      </p:sp>
      <p:sp>
        <p:nvSpPr>
          <p:cNvPr id="40" name="Text 38"/>
          <p:cNvSpPr/>
          <p:nvPr/>
        </p:nvSpPr>
        <p:spPr>
          <a:xfrm>
            <a:off x="2432304" y="2340864"/>
            <a:ext cx="1371600" cy="310896"/>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write — Modify contents</a:t>
            </a:r>
            <a:endParaRPr lang="en-US" sz="950" dirty="0"/>
          </a:p>
          <a:p>
            <a:pPr marL="0" indent="0">
              <a:buNone/>
            </a:pPr>
            <a:r>
              <a:rPr lang="en-US" sz="950" dirty="0">
                <a:solidFill>
                  <a:srgbClr val="F0F6FC"/>
                </a:solidFill>
                <a:latin typeface="Calibri" pitchFamily="34" charset="0"/>
                <a:ea typeface="Calibri" pitchFamily="34" charset="-122"/>
                <a:cs typeface="Calibri" pitchFamily="34" charset="-120"/>
              </a:rPr>
              <a:t>Create / delete files</a:t>
            </a:r>
            <a:endParaRPr lang="en-US" sz="950" dirty="0"/>
          </a:p>
        </p:txBody>
      </p:sp>
      <p:sp>
        <p:nvSpPr>
          <p:cNvPr id="41" name="Shape 39"/>
          <p:cNvSpPr/>
          <p:nvPr/>
        </p:nvSpPr>
        <p:spPr>
          <a:xfrm>
            <a:off x="3584448" y="2331720"/>
            <a:ext cx="274320" cy="274320"/>
          </a:xfrm>
          <a:prstGeom prst="rect">
            <a:avLst/>
          </a:prstGeom>
          <a:solidFill>
            <a:srgbClr val="F85149">
              <a:alpha val="40000"/>
            </a:srgbClr>
          </a:solidFill>
          <a:ln w="12700">
            <a:solidFill>
              <a:srgbClr val="F85149"/>
            </a:solidFill>
            <a:prstDash val="solid"/>
          </a:ln>
        </p:spPr>
        <p:txBody>
          <a:bodyPr/>
          <a:lstStyle/>
          <a:p>
            <a:endParaRPr lang="en-US"/>
          </a:p>
        </p:txBody>
      </p:sp>
      <p:sp>
        <p:nvSpPr>
          <p:cNvPr id="42" name="Text 40"/>
          <p:cNvSpPr/>
          <p:nvPr/>
        </p:nvSpPr>
        <p:spPr>
          <a:xfrm>
            <a:off x="3584448" y="2331720"/>
            <a:ext cx="274320" cy="274320"/>
          </a:xfrm>
          <a:prstGeom prst="rect">
            <a:avLst/>
          </a:prstGeom>
          <a:noFill/>
          <a:ln/>
        </p:spPr>
        <p:txBody>
          <a:bodyPr wrap="square" lIns="0" tIns="0" rIns="0" bIns="0" rtlCol="0" anchor="ctr"/>
          <a:lstStyle/>
          <a:p>
            <a:pPr marL="0" indent="0" algn="ctr">
              <a:buNone/>
            </a:pPr>
            <a:r>
              <a:rPr lang="en-US" sz="1300" b="1" dirty="0">
                <a:solidFill>
                  <a:srgbClr val="F85149"/>
                </a:solidFill>
                <a:latin typeface="Consolas" pitchFamily="34" charset="0"/>
                <a:ea typeface="Consolas" pitchFamily="34" charset="-122"/>
                <a:cs typeface="Consolas" pitchFamily="34" charset="-120"/>
              </a:rPr>
              <a:t>x</a:t>
            </a:r>
            <a:endParaRPr lang="en-US" sz="1300" dirty="0"/>
          </a:p>
        </p:txBody>
      </p:sp>
      <p:sp>
        <p:nvSpPr>
          <p:cNvPr id="43" name="Text 41"/>
          <p:cNvSpPr/>
          <p:nvPr/>
        </p:nvSpPr>
        <p:spPr>
          <a:xfrm>
            <a:off x="3950208" y="2340864"/>
            <a:ext cx="1371600" cy="310896"/>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execute — Run as a program</a:t>
            </a:r>
            <a:endParaRPr lang="en-US" sz="950" dirty="0"/>
          </a:p>
          <a:p>
            <a:pPr marL="0" indent="0">
              <a:buNone/>
            </a:pPr>
            <a:r>
              <a:rPr lang="en-US" sz="950" dirty="0">
                <a:solidFill>
                  <a:srgbClr val="F0F6FC"/>
                </a:solidFill>
                <a:latin typeface="Calibri" pitchFamily="34" charset="0"/>
                <a:ea typeface="Calibri" pitchFamily="34" charset="-122"/>
                <a:cs typeface="Calibri" pitchFamily="34" charset="-120"/>
              </a:rPr>
              <a:t>Enter a directory</a:t>
            </a:r>
            <a:endParaRPr lang="en-US" sz="950" dirty="0"/>
          </a:p>
        </p:txBody>
      </p:sp>
      <p:sp>
        <p:nvSpPr>
          <p:cNvPr id="44" name="Shape 42"/>
          <p:cNvSpPr/>
          <p:nvPr/>
        </p:nvSpPr>
        <p:spPr>
          <a:xfrm>
            <a:off x="548640" y="2999232"/>
            <a:ext cx="4754880" cy="475488"/>
          </a:xfrm>
          <a:prstGeom prst="rect">
            <a:avLst/>
          </a:prstGeom>
          <a:solidFill>
            <a:srgbClr val="1C2333"/>
          </a:solidFill>
          <a:ln w="10160">
            <a:solidFill>
              <a:srgbClr val="3FD9C4"/>
            </a:solidFill>
            <a:prstDash val="solid"/>
          </a:ln>
        </p:spPr>
        <p:txBody>
          <a:bodyPr/>
          <a:lstStyle/>
          <a:p>
            <a:endParaRPr lang="en-US"/>
          </a:p>
        </p:txBody>
      </p:sp>
      <p:sp>
        <p:nvSpPr>
          <p:cNvPr id="45" name="Text 43"/>
          <p:cNvSpPr/>
          <p:nvPr/>
        </p:nvSpPr>
        <p:spPr>
          <a:xfrm>
            <a:off x="685800" y="3035808"/>
            <a:ext cx="4572000" cy="402336"/>
          </a:xfrm>
          <a:prstGeom prst="rect">
            <a:avLst/>
          </a:prstGeom>
          <a:noFill/>
          <a:ln/>
        </p:spPr>
        <p:txBody>
          <a:bodyPr wrap="square" lIns="0" tIns="0" rIns="0" bIns="0" rtlCol="0" anchor="ctr"/>
          <a:lstStyle/>
          <a:p>
            <a:pPr marL="0" indent="0">
              <a:buNone/>
            </a:pPr>
            <a:r>
              <a:rPr lang="en-US" sz="1000" dirty="0">
                <a:solidFill>
                  <a:srgbClr val="3FD9C4"/>
                </a:solidFill>
                <a:latin typeface="Consolas" pitchFamily="34" charset="0"/>
                <a:ea typeface="Consolas" pitchFamily="34" charset="-122"/>
                <a:cs typeface="Consolas" pitchFamily="34" charset="-120"/>
              </a:rPr>
              <a:t>$ chmod 755 script.py      →   rwxr-xr-x</a:t>
            </a:r>
            <a:endParaRPr lang="en-US" sz="1000" dirty="0"/>
          </a:p>
          <a:p>
            <a:pPr marL="0" indent="0">
              <a:buNone/>
            </a:pPr>
            <a:r>
              <a:rPr lang="en-US" sz="1000" dirty="0">
                <a:solidFill>
                  <a:srgbClr val="3FD9C4"/>
                </a:solidFill>
                <a:latin typeface="Consolas" pitchFamily="34" charset="0"/>
                <a:ea typeface="Consolas" pitchFamily="34" charset="-122"/>
                <a:cs typeface="Consolas" pitchFamily="34" charset="-120"/>
              </a:rPr>
              <a:t>$ chmod 644 document.pdf  →   rw-r--r--</a:t>
            </a:r>
            <a:endParaRPr lang="en-US" sz="1000" dirty="0"/>
          </a:p>
        </p:txBody>
      </p:sp>
      <p:sp>
        <p:nvSpPr>
          <p:cNvPr id="46" name="Shape 44"/>
          <p:cNvSpPr/>
          <p:nvPr/>
        </p:nvSpPr>
        <p:spPr>
          <a:xfrm>
            <a:off x="5577840" y="1170432"/>
            <a:ext cx="3154680" cy="2395728"/>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47" name="Shape 45"/>
          <p:cNvSpPr/>
          <p:nvPr/>
        </p:nvSpPr>
        <p:spPr>
          <a:xfrm>
            <a:off x="5577840" y="1170432"/>
            <a:ext cx="3154680"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48" name="Text 46"/>
          <p:cNvSpPr/>
          <p:nvPr/>
        </p:nvSpPr>
        <p:spPr>
          <a:xfrm>
            <a:off x="5715000" y="1216152"/>
            <a:ext cx="2889504" cy="256032"/>
          </a:xfrm>
          <a:prstGeom prst="rect">
            <a:avLst/>
          </a:prstGeom>
          <a:noFill/>
          <a:ln/>
        </p:spPr>
        <p:txBody>
          <a:bodyPr wrap="square" lIns="0" tIns="0" rIns="0" bIns="0" rtlCol="0" anchor="ctr"/>
          <a:lstStyle/>
          <a:p>
            <a:pPr marL="0" indent="0">
              <a:buNone/>
            </a:pPr>
            <a:r>
              <a:rPr lang="en-US" sz="1100" b="1" dirty="0">
                <a:solidFill>
                  <a:srgbClr val="58A6FF"/>
                </a:solidFill>
                <a:latin typeface="Calibri" pitchFamily="34" charset="0"/>
                <a:ea typeface="Calibri" pitchFamily="34" charset="-122"/>
                <a:cs typeface="Calibri" pitchFamily="34" charset="-120"/>
              </a:rPr>
              <a:t>🪟  Windows NTFS Permissions</a:t>
            </a:r>
            <a:endParaRPr lang="en-US" sz="1100" dirty="0"/>
          </a:p>
        </p:txBody>
      </p:sp>
      <p:sp>
        <p:nvSpPr>
          <p:cNvPr id="49" name="Text 47"/>
          <p:cNvSpPr/>
          <p:nvPr/>
        </p:nvSpPr>
        <p:spPr>
          <a:xfrm>
            <a:off x="5715000" y="1572768"/>
            <a:ext cx="2889504" cy="201168"/>
          </a:xfrm>
          <a:prstGeom prst="rect">
            <a:avLst/>
          </a:prstGeom>
          <a:noFill/>
          <a:ln/>
        </p:spPr>
        <p:txBody>
          <a:bodyPr wrap="square" lIns="0" tIns="0" rIns="0" bIns="0" rtlCol="0" anchor="ctr"/>
          <a:lstStyle/>
          <a:p>
            <a:pPr marL="0" indent="0">
              <a:buNone/>
            </a:pPr>
            <a:r>
              <a:rPr lang="en-US" sz="1000" b="1" dirty="0">
                <a:solidFill>
                  <a:srgbClr val="58A6FF"/>
                </a:solidFill>
                <a:latin typeface="Calibri" pitchFamily="34" charset="0"/>
                <a:ea typeface="Calibri" pitchFamily="34" charset="-122"/>
                <a:cs typeface="Calibri" pitchFamily="34" charset="-120"/>
              </a:rPr>
              <a:t>ACL (Access Control List):</a:t>
            </a:r>
            <a:endParaRPr lang="en-US" sz="1000" dirty="0"/>
          </a:p>
        </p:txBody>
      </p:sp>
      <p:sp>
        <p:nvSpPr>
          <p:cNvPr id="50" name="Shape 48"/>
          <p:cNvSpPr/>
          <p:nvPr/>
        </p:nvSpPr>
        <p:spPr>
          <a:xfrm>
            <a:off x="5715000" y="1810512"/>
            <a:ext cx="603504" cy="256032"/>
          </a:xfrm>
          <a:prstGeom prst="rect">
            <a:avLst/>
          </a:prstGeom>
          <a:solidFill>
            <a:srgbClr val="F85149">
              <a:alpha val="25000"/>
            </a:srgbClr>
          </a:solidFill>
          <a:ln w="12700">
            <a:solidFill>
              <a:srgbClr val="F85149"/>
            </a:solidFill>
            <a:prstDash val="solid"/>
          </a:ln>
        </p:spPr>
        <p:txBody>
          <a:bodyPr/>
          <a:lstStyle/>
          <a:p>
            <a:endParaRPr lang="en-US"/>
          </a:p>
        </p:txBody>
      </p:sp>
      <p:sp>
        <p:nvSpPr>
          <p:cNvPr id="51" name="Text 49"/>
          <p:cNvSpPr/>
          <p:nvPr/>
        </p:nvSpPr>
        <p:spPr>
          <a:xfrm>
            <a:off x="5715000" y="1810512"/>
            <a:ext cx="638175" cy="256032"/>
          </a:xfrm>
          <a:prstGeom prst="rect">
            <a:avLst/>
          </a:prstGeom>
          <a:noFill/>
          <a:ln/>
        </p:spPr>
        <p:txBody>
          <a:bodyPr wrap="square" lIns="0" tIns="0" rIns="0" bIns="0" rtlCol="0" anchor="ctr"/>
          <a:lstStyle/>
          <a:p>
            <a:pPr marL="0" indent="0" algn="ctr">
              <a:buNone/>
            </a:pPr>
            <a:r>
              <a:rPr lang="en-US" sz="900" b="1" dirty="0">
                <a:solidFill>
                  <a:srgbClr val="F85149"/>
                </a:solidFill>
                <a:latin typeface="Consolas" pitchFamily="34" charset="0"/>
                <a:ea typeface="Consolas" pitchFamily="34" charset="-122"/>
                <a:cs typeface="Consolas" pitchFamily="34" charset="-120"/>
              </a:rPr>
              <a:t>Full Co…</a:t>
            </a:r>
            <a:endParaRPr lang="en-US" sz="900" dirty="0"/>
          </a:p>
        </p:txBody>
      </p:sp>
      <p:sp>
        <p:nvSpPr>
          <p:cNvPr id="52" name="Shape 50"/>
          <p:cNvSpPr/>
          <p:nvPr/>
        </p:nvSpPr>
        <p:spPr>
          <a:xfrm>
            <a:off x="6308601" y="1811274"/>
            <a:ext cx="603504" cy="256032"/>
          </a:xfrm>
          <a:prstGeom prst="rect">
            <a:avLst/>
          </a:prstGeom>
          <a:solidFill>
            <a:srgbClr val="FFA657">
              <a:alpha val="25000"/>
            </a:srgbClr>
          </a:solidFill>
          <a:ln w="12700">
            <a:solidFill>
              <a:srgbClr val="FFA657"/>
            </a:solidFill>
            <a:prstDash val="solid"/>
          </a:ln>
        </p:spPr>
        <p:txBody>
          <a:bodyPr/>
          <a:lstStyle/>
          <a:p>
            <a:endParaRPr lang="en-US"/>
          </a:p>
        </p:txBody>
      </p:sp>
      <p:sp>
        <p:nvSpPr>
          <p:cNvPr id="53" name="Text 51"/>
          <p:cNvSpPr/>
          <p:nvPr/>
        </p:nvSpPr>
        <p:spPr>
          <a:xfrm>
            <a:off x="6111812" y="1812417"/>
            <a:ext cx="105156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Modify</a:t>
            </a:r>
            <a:endParaRPr lang="en-US" sz="900" dirty="0"/>
          </a:p>
        </p:txBody>
      </p:sp>
      <p:sp>
        <p:nvSpPr>
          <p:cNvPr id="54" name="Shape 52"/>
          <p:cNvSpPr/>
          <p:nvPr/>
        </p:nvSpPr>
        <p:spPr>
          <a:xfrm>
            <a:off x="6917245" y="1810512"/>
            <a:ext cx="810197" cy="256032"/>
          </a:xfrm>
          <a:prstGeom prst="rect">
            <a:avLst/>
          </a:prstGeom>
          <a:solidFill>
            <a:srgbClr val="3FD9C4">
              <a:alpha val="25000"/>
            </a:srgbClr>
          </a:solidFill>
          <a:ln w="12700">
            <a:solidFill>
              <a:srgbClr val="3FD9C4"/>
            </a:solidFill>
            <a:prstDash val="solid"/>
          </a:ln>
        </p:spPr>
        <p:txBody>
          <a:bodyPr/>
          <a:lstStyle/>
          <a:p>
            <a:endParaRPr lang="en-US" dirty="0"/>
          </a:p>
        </p:txBody>
      </p:sp>
      <p:sp>
        <p:nvSpPr>
          <p:cNvPr id="55" name="Text 53"/>
          <p:cNvSpPr/>
          <p:nvPr/>
        </p:nvSpPr>
        <p:spPr>
          <a:xfrm>
            <a:off x="6798182" y="1810512"/>
            <a:ext cx="1051560" cy="256032"/>
          </a:xfrm>
          <a:prstGeom prst="rect">
            <a:avLst/>
          </a:prstGeom>
          <a:noFill/>
          <a:ln/>
        </p:spPr>
        <p:txBody>
          <a:bodyPr wrap="square" lIns="0" tIns="0" rIns="0" bIns="0" rtlCol="0" anchor="ctr"/>
          <a:lstStyle/>
          <a:p>
            <a:pPr marL="0" indent="0" algn="ctr">
              <a:buNone/>
            </a:pPr>
            <a:r>
              <a:rPr lang="en-US" sz="900" b="1" dirty="0">
                <a:solidFill>
                  <a:srgbClr val="3FD9C4"/>
                </a:solidFill>
                <a:latin typeface="Consolas" pitchFamily="34" charset="0"/>
                <a:ea typeface="Consolas" pitchFamily="34" charset="-122"/>
                <a:cs typeface="Consolas" pitchFamily="34" charset="-120"/>
              </a:rPr>
              <a:t>Read &amp; Write</a:t>
            </a:r>
            <a:endParaRPr lang="en-US" sz="900" dirty="0"/>
          </a:p>
        </p:txBody>
      </p:sp>
      <p:sp>
        <p:nvSpPr>
          <p:cNvPr id="56" name="Shape 54"/>
          <p:cNvSpPr/>
          <p:nvPr/>
        </p:nvSpPr>
        <p:spPr>
          <a:xfrm>
            <a:off x="7736969" y="1810512"/>
            <a:ext cx="514914" cy="256032"/>
          </a:xfrm>
          <a:prstGeom prst="rect">
            <a:avLst/>
          </a:prstGeom>
          <a:solidFill>
            <a:srgbClr val="3FB950">
              <a:alpha val="25000"/>
            </a:srgbClr>
          </a:solidFill>
          <a:ln w="12700">
            <a:solidFill>
              <a:srgbClr val="3FB950"/>
            </a:solidFill>
            <a:prstDash val="solid"/>
          </a:ln>
        </p:spPr>
        <p:txBody>
          <a:bodyPr/>
          <a:lstStyle/>
          <a:p>
            <a:endParaRPr lang="en-US"/>
          </a:p>
        </p:txBody>
      </p:sp>
      <p:sp>
        <p:nvSpPr>
          <p:cNvPr id="57" name="Text 55"/>
          <p:cNvSpPr/>
          <p:nvPr/>
        </p:nvSpPr>
        <p:spPr>
          <a:xfrm>
            <a:off x="7673147" y="1810512"/>
            <a:ext cx="603504"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Read</a:t>
            </a:r>
            <a:endParaRPr lang="en-US" sz="900" dirty="0"/>
          </a:p>
        </p:txBody>
      </p:sp>
      <p:sp>
        <p:nvSpPr>
          <p:cNvPr id="58" name="Shape 56"/>
          <p:cNvSpPr/>
          <p:nvPr/>
        </p:nvSpPr>
        <p:spPr>
          <a:xfrm>
            <a:off x="8247121" y="1810512"/>
            <a:ext cx="485400" cy="256032"/>
          </a:xfrm>
          <a:prstGeom prst="rect">
            <a:avLst/>
          </a:prstGeom>
          <a:solidFill>
            <a:srgbClr val="E3B341">
              <a:alpha val="25000"/>
            </a:srgbClr>
          </a:solidFill>
          <a:ln w="12700">
            <a:solidFill>
              <a:srgbClr val="E3B341"/>
            </a:solidFill>
            <a:prstDash val="solid"/>
          </a:ln>
        </p:spPr>
        <p:txBody>
          <a:bodyPr/>
          <a:lstStyle/>
          <a:p>
            <a:endParaRPr lang="en-US"/>
          </a:p>
        </p:txBody>
      </p:sp>
      <p:sp>
        <p:nvSpPr>
          <p:cNvPr id="59" name="Text 57"/>
          <p:cNvSpPr/>
          <p:nvPr/>
        </p:nvSpPr>
        <p:spPr>
          <a:xfrm>
            <a:off x="7976614" y="1810512"/>
            <a:ext cx="1051560" cy="256032"/>
          </a:xfrm>
          <a:prstGeom prst="rect">
            <a:avLst/>
          </a:prstGeom>
          <a:noFill/>
          <a:ln/>
        </p:spPr>
        <p:txBody>
          <a:bodyPr wrap="square" lIns="0" tIns="0" rIns="0" bIns="0" rtlCol="0" anchor="ctr"/>
          <a:lstStyle/>
          <a:p>
            <a:pPr marL="0" indent="0" algn="ctr">
              <a:buNone/>
            </a:pPr>
            <a:r>
              <a:rPr lang="en-US" sz="900" b="1" dirty="0">
                <a:solidFill>
                  <a:srgbClr val="E3B341"/>
                </a:solidFill>
                <a:latin typeface="Consolas" pitchFamily="34" charset="0"/>
                <a:ea typeface="Consolas" pitchFamily="34" charset="-122"/>
                <a:cs typeface="Consolas" pitchFamily="34" charset="-120"/>
              </a:rPr>
              <a:t>Write</a:t>
            </a:r>
            <a:endParaRPr lang="en-US" sz="900" dirty="0"/>
          </a:p>
        </p:txBody>
      </p:sp>
      <p:sp>
        <p:nvSpPr>
          <p:cNvPr id="60" name="Text 58"/>
          <p:cNvSpPr/>
          <p:nvPr/>
        </p:nvSpPr>
        <p:spPr>
          <a:xfrm>
            <a:off x="5715000" y="2148840"/>
            <a:ext cx="2889504" cy="219456"/>
          </a:xfrm>
          <a:prstGeom prst="rect">
            <a:avLst/>
          </a:prstGeom>
          <a:noFill/>
          <a:ln/>
        </p:spPr>
        <p:txBody>
          <a:bodyPr wrap="square" lIns="0" tIns="0" rIns="0" bIns="0" rtlCol="0" anchor="ctr"/>
          <a:lstStyle/>
          <a:p>
            <a:pPr marL="0" indent="0">
              <a:buNone/>
            </a:pPr>
            <a:r>
              <a:rPr lang="en-US" sz="1000" dirty="0">
                <a:solidFill>
                  <a:srgbClr val="F0F6FC"/>
                </a:solidFill>
                <a:latin typeface="Calibri" pitchFamily="34" charset="0"/>
                <a:ea typeface="Calibri" pitchFamily="34" charset="-122"/>
                <a:cs typeface="Calibri" pitchFamily="34" charset="-120"/>
              </a:rPr>
              <a:t>Users and groups can each have</a:t>
            </a:r>
            <a:endParaRPr lang="en-US" sz="1000" dirty="0"/>
          </a:p>
        </p:txBody>
      </p:sp>
      <p:sp>
        <p:nvSpPr>
          <p:cNvPr id="61" name="Text 59"/>
          <p:cNvSpPr/>
          <p:nvPr/>
        </p:nvSpPr>
        <p:spPr>
          <a:xfrm>
            <a:off x="5715000" y="2377440"/>
            <a:ext cx="2889504" cy="219456"/>
          </a:xfrm>
          <a:prstGeom prst="rect">
            <a:avLst/>
          </a:prstGeom>
          <a:noFill/>
          <a:ln/>
        </p:spPr>
        <p:txBody>
          <a:bodyPr wrap="square" lIns="0" tIns="0" rIns="0" bIns="0" rtlCol="0" anchor="ctr"/>
          <a:lstStyle/>
          <a:p>
            <a:pPr marL="0" indent="0">
              <a:buNone/>
            </a:pPr>
            <a:r>
              <a:rPr lang="en-US" sz="1000" dirty="0">
                <a:solidFill>
                  <a:srgbClr val="F0F6FC"/>
                </a:solidFill>
                <a:latin typeface="Calibri" pitchFamily="34" charset="0"/>
                <a:ea typeface="Calibri" pitchFamily="34" charset="-122"/>
                <a:cs typeface="Calibri" pitchFamily="34" charset="-120"/>
              </a:rPr>
              <a:t>Allow or Deny for each permission.</a:t>
            </a:r>
            <a:endParaRPr lang="en-US" sz="1000" dirty="0"/>
          </a:p>
        </p:txBody>
      </p:sp>
      <p:sp>
        <p:nvSpPr>
          <p:cNvPr id="62" name="Text 60"/>
          <p:cNvSpPr/>
          <p:nvPr/>
        </p:nvSpPr>
        <p:spPr>
          <a:xfrm>
            <a:off x="5715000" y="2606040"/>
            <a:ext cx="2889504" cy="219456"/>
          </a:xfrm>
          <a:prstGeom prst="rect">
            <a:avLst/>
          </a:prstGeom>
          <a:noFill/>
          <a:ln/>
        </p:spPr>
        <p:txBody>
          <a:bodyPr wrap="square" lIns="0" tIns="0" rIns="0" bIns="0" rtlCol="0" anchor="ctr"/>
          <a:lstStyle/>
          <a:p>
            <a:pPr marL="0" indent="0">
              <a:buNone/>
            </a:pPr>
            <a:endParaRPr lang="en-US" sz="1000" dirty="0"/>
          </a:p>
        </p:txBody>
      </p:sp>
      <p:sp>
        <p:nvSpPr>
          <p:cNvPr id="63" name="Text 61"/>
          <p:cNvSpPr/>
          <p:nvPr/>
        </p:nvSpPr>
        <p:spPr>
          <a:xfrm>
            <a:off x="5715000" y="2834640"/>
            <a:ext cx="2889504" cy="219456"/>
          </a:xfrm>
          <a:prstGeom prst="rect">
            <a:avLst/>
          </a:prstGeom>
          <a:noFill/>
          <a:ln/>
        </p:spPr>
        <p:txBody>
          <a:bodyPr wrap="square" lIns="0" tIns="0" rIns="0" bIns="0" rtlCol="0" anchor="ctr"/>
          <a:lstStyle/>
          <a:p>
            <a:pPr marL="0" indent="0">
              <a:buNone/>
            </a:pPr>
            <a:r>
              <a:rPr lang="en-US" sz="1000" dirty="0">
                <a:solidFill>
                  <a:srgbClr val="58A6FF"/>
                </a:solidFill>
                <a:latin typeface="Calibri" pitchFamily="34" charset="0"/>
                <a:ea typeface="Calibri" pitchFamily="34" charset="-122"/>
                <a:cs typeface="Calibri" pitchFamily="34" charset="-120"/>
              </a:rPr>
              <a:t>Right-click → Properties → Security</a:t>
            </a:r>
            <a:endParaRPr lang="en-US" sz="1000" dirty="0"/>
          </a:p>
        </p:txBody>
      </p:sp>
      <p:sp>
        <p:nvSpPr>
          <p:cNvPr id="64" name="Text 62"/>
          <p:cNvSpPr/>
          <p:nvPr/>
        </p:nvSpPr>
        <p:spPr>
          <a:xfrm>
            <a:off x="5715000" y="3063240"/>
            <a:ext cx="2889504" cy="219456"/>
          </a:xfrm>
          <a:prstGeom prst="rect">
            <a:avLst/>
          </a:prstGeom>
          <a:noFill/>
          <a:ln/>
        </p:spPr>
        <p:txBody>
          <a:bodyPr wrap="square" lIns="0" tIns="0" rIns="0" bIns="0" rtlCol="0" anchor="ctr"/>
          <a:lstStyle/>
          <a:p>
            <a:pPr marL="0" indent="0">
              <a:buNone/>
            </a:pPr>
            <a:r>
              <a:rPr lang="en-US" sz="1000" dirty="0">
                <a:solidFill>
                  <a:srgbClr val="F0F6FC"/>
                </a:solidFill>
                <a:latin typeface="Calibri" pitchFamily="34" charset="0"/>
                <a:ea typeface="Calibri" pitchFamily="34" charset="-122"/>
                <a:cs typeface="Calibri" pitchFamily="34" charset="-120"/>
              </a:rPr>
              <a:t>tab to view &amp; edit in Windows.</a:t>
            </a:r>
            <a:endParaRPr lang="en-US" sz="1000" dirty="0"/>
          </a:p>
        </p:txBody>
      </p:sp>
      <p:sp>
        <p:nvSpPr>
          <p:cNvPr id="65" name="Shape 63"/>
          <p:cNvSpPr/>
          <p:nvPr/>
        </p:nvSpPr>
        <p:spPr>
          <a:xfrm>
            <a:off x="411480" y="3584448"/>
            <a:ext cx="8321040" cy="841248"/>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66" name="Shape 64"/>
          <p:cNvSpPr/>
          <p:nvPr/>
        </p:nvSpPr>
        <p:spPr>
          <a:xfrm>
            <a:off x="411480" y="3584448"/>
            <a:ext cx="8321040"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67" name="Text 65"/>
          <p:cNvSpPr/>
          <p:nvPr/>
        </p:nvSpPr>
        <p:spPr>
          <a:xfrm>
            <a:off x="548640" y="3630168"/>
            <a:ext cx="8046720" cy="237744"/>
          </a:xfrm>
          <a:prstGeom prst="rect">
            <a:avLst/>
          </a:prstGeom>
          <a:noFill/>
          <a:ln/>
        </p:spPr>
        <p:txBody>
          <a:bodyPr wrap="square" lIns="0" tIns="0" rIns="0" bIns="0" rtlCol="0" anchor="ctr"/>
          <a:lstStyle/>
          <a:p>
            <a:pPr marL="0" indent="0">
              <a:buNone/>
            </a:pPr>
            <a:r>
              <a:rPr lang="en-US" sz="1100" b="1" dirty="0">
                <a:solidFill>
                  <a:srgbClr val="BC8CFF"/>
                </a:solidFill>
                <a:latin typeface="Calibri" pitchFamily="34" charset="0"/>
                <a:ea typeface="Calibri" pitchFamily="34" charset="-122"/>
                <a:cs typeface="Calibri" pitchFamily="34" charset="-120"/>
              </a:rPr>
              <a:t>⚙️  Special Permission Bits</a:t>
            </a:r>
            <a:endParaRPr lang="en-US" sz="1100" dirty="0"/>
          </a:p>
        </p:txBody>
      </p:sp>
      <p:sp>
        <p:nvSpPr>
          <p:cNvPr id="68" name="Text 66"/>
          <p:cNvSpPr/>
          <p:nvPr/>
        </p:nvSpPr>
        <p:spPr>
          <a:xfrm>
            <a:off x="548640" y="3886200"/>
            <a:ext cx="8046720" cy="475488"/>
          </a:xfrm>
          <a:prstGeom prst="rect">
            <a:avLst/>
          </a:prstGeom>
          <a:noFill/>
          <a:ln/>
        </p:spPr>
        <p:txBody>
          <a:bodyPr wrap="square" lIns="0" tIns="0" rIns="0" bIns="0" rtlCol="0" anchor="ctr"/>
          <a:lstStyle/>
          <a:p>
            <a:pPr marL="0" indent="0">
              <a:buNone/>
            </a:pPr>
            <a:r>
              <a:rPr lang="en-US" sz="1100" b="1" dirty="0">
                <a:solidFill>
                  <a:srgbClr val="F85149"/>
                </a:solidFill>
                <a:latin typeface="Calibri" pitchFamily="34" charset="0"/>
                <a:ea typeface="Calibri" pitchFamily="34" charset="-122"/>
                <a:cs typeface="Calibri" pitchFamily="34" charset="-120"/>
              </a:rPr>
              <a:t>setuid (s):  </a:t>
            </a:r>
            <a:r>
              <a:rPr lang="en-US" sz="1100" dirty="0">
                <a:solidFill>
                  <a:srgbClr val="F0F6FC"/>
                </a:solidFill>
                <a:latin typeface="Calibri" pitchFamily="34" charset="0"/>
                <a:ea typeface="Calibri" pitchFamily="34" charset="-122"/>
                <a:cs typeface="Calibri" pitchFamily="34" charset="-120"/>
              </a:rPr>
              <a:t>Run as file owner (e.g. /usr/bin/passwd runs as root).   </a:t>
            </a:r>
            <a:r>
              <a:rPr lang="en-US" sz="1100" b="1" dirty="0">
                <a:solidFill>
                  <a:srgbClr val="FFA657"/>
                </a:solidFill>
                <a:latin typeface="Calibri" pitchFamily="34" charset="0"/>
                <a:ea typeface="Calibri" pitchFamily="34" charset="-122"/>
                <a:cs typeface="Calibri" pitchFamily="34" charset="-120"/>
              </a:rPr>
              <a:t>setgid (g):  </a:t>
            </a:r>
            <a:r>
              <a:rPr lang="en-US" sz="1100" dirty="0">
                <a:solidFill>
                  <a:srgbClr val="F0F6FC"/>
                </a:solidFill>
                <a:latin typeface="Calibri" pitchFamily="34" charset="0"/>
                <a:ea typeface="Calibri" pitchFamily="34" charset="-122"/>
                <a:cs typeface="Calibri" pitchFamily="34" charset="-120"/>
              </a:rPr>
              <a:t>Run as file group.   </a:t>
            </a:r>
            <a:r>
              <a:rPr lang="en-US" sz="1100" b="1" dirty="0">
                <a:solidFill>
                  <a:srgbClr val="3FD9C4"/>
                </a:solidFill>
                <a:latin typeface="Calibri" pitchFamily="34" charset="0"/>
                <a:ea typeface="Calibri" pitchFamily="34" charset="-122"/>
                <a:cs typeface="Calibri" pitchFamily="34" charset="-120"/>
              </a:rPr>
              <a:t>sticky (t):  </a:t>
            </a:r>
            <a:r>
              <a:rPr lang="en-US" sz="1100" dirty="0">
                <a:solidFill>
                  <a:srgbClr val="F0F6FC"/>
                </a:solidFill>
                <a:latin typeface="Calibri" pitchFamily="34" charset="0"/>
                <a:ea typeface="Calibri" pitchFamily="34" charset="-122"/>
                <a:cs typeface="Calibri" pitchFamily="34" charset="-120"/>
              </a:rPr>
              <a:t>Only owner can delete (e.g. /tmp directory).</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STORAGE INTERNALS</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Fragmentation &amp; Defragmentation</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Why files slow down over time — and how the disk fixes itself</a:t>
            </a:r>
            <a:endParaRPr lang="en-US" sz="1300" dirty="0"/>
          </a:p>
        </p:txBody>
      </p:sp>
      <p:sp>
        <p:nvSpPr>
          <p:cNvPr id="7" name="Shape 5"/>
          <p:cNvSpPr/>
          <p:nvPr/>
        </p:nvSpPr>
        <p:spPr>
          <a:xfrm>
            <a:off x="411480" y="1170432"/>
            <a:ext cx="8321040" cy="1481328"/>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8321040"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9" name="Text 7"/>
          <p:cNvSpPr/>
          <p:nvPr/>
        </p:nvSpPr>
        <p:spPr>
          <a:xfrm>
            <a:off x="548640" y="1216152"/>
            <a:ext cx="8046720" cy="256032"/>
          </a:xfrm>
          <a:prstGeom prst="rect">
            <a:avLst/>
          </a:prstGeom>
          <a:noFill/>
          <a:ln/>
        </p:spPr>
        <p:txBody>
          <a:bodyPr wrap="square" lIns="0" tIns="0" rIns="0" bIns="0" rtlCol="0" anchor="ctr"/>
          <a:lstStyle/>
          <a:p>
            <a:pPr marL="0" indent="0">
              <a:buNone/>
            </a:pPr>
            <a:r>
              <a:rPr lang="en-US" sz="1100" b="1" dirty="0">
                <a:solidFill>
                  <a:srgbClr val="FFA657"/>
                </a:solidFill>
                <a:latin typeface="Calibri" pitchFamily="34" charset="0"/>
                <a:ea typeface="Calibri" pitchFamily="34" charset="-122"/>
                <a:cs typeface="Calibri" pitchFamily="34" charset="-120"/>
              </a:rPr>
              <a:t>📊  Disk Block Map  (each square = one 4 KB block)</a:t>
            </a:r>
            <a:endParaRPr lang="en-US" sz="1100" dirty="0"/>
          </a:p>
        </p:txBody>
      </p:sp>
      <p:sp>
        <p:nvSpPr>
          <p:cNvPr id="10" name="Shape 8"/>
          <p:cNvSpPr/>
          <p:nvPr/>
        </p:nvSpPr>
        <p:spPr>
          <a:xfrm>
            <a:off x="502920" y="1572768"/>
            <a:ext cx="374904" cy="411480"/>
          </a:xfrm>
          <a:prstGeom prst="rect">
            <a:avLst/>
          </a:prstGeom>
          <a:solidFill>
            <a:srgbClr val="3FD9C4">
              <a:alpha val="45000"/>
            </a:srgbClr>
          </a:solidFill>
          <a:ln w="10160">
            <a:solidFill>
              <a:srgbClr val="3FD9C4"/>
            </a:solidFill>
            <a:prstDash val="solid"/>
          </a:ln>
        </p:spPr>
        <p:txBody>
          <a:bodyPr/>
          <a:lstStyle/>
          <a:p>
            <a:endParaRPr lang="en-US"/>
          </a:p>
        </p:txBody>
      </p:sp>
      <p:sp>
        <p:nvSpPr>
          <p:cNvPr id="11" name="Text 9"/>
          <p:cNvSpPr/>
          <p:nvPr/>
        </p:nvSpPr>
        <p:spPr>
          <a:xfrm>
            <a:off x="502920" y="1572768"/>
            <a:ext cx="374904" cy="411480"/>
          </a:xfrm>
          <a:prstGeom prst="rect">
            <a:avLst/>
          </a:prstGeom>
          <a:noFill/>
          <a:ln/>
        </p:spPr>
        <p:txBody>
          <a:bodyPr wrap="square" lIns="0" tIns="0" rIns="0" bIns="0" rtlCol="0" anchor="ctr"/>
          <a:lstStyle/>
          <a:p>
            <a:pPr marL="0" indent="0" algn="ctr">
              <a:buNone/>
            </a:pPr>
            <a:r>
              <a:rPr lang="en-US" sz="1100" b="1" dirty="0">
                <a:solidFill>
                  <a:srgbClr val="3FD9C4"/>
                </a:solidFill>
                <a:latin typeface="Consolas" pitchFamily="34" charset="0"/>
                <a:ea typeface="Consolas" pitchFamily="34" charset="-122"/>
                <a:cs typeface="Consolas" pitchFamily="34" charset="-120"/>
              </a:rPr>
              <a:t>A</a:t>
            </a:r>
            <a:endParaRPr lang="en-US" sz="1100" dirty="0"/>
          </a:p>
        </p:txBody>
      </p:sp>
      <p:sp>
        <p:nvSpPr>
          <p:cNvPr id="12" name="Shape 10"/>
          <p:cNvSpPr/>
          <p:nvPr/>
        </p:nvSpPr>
        <p:spPr>
          <a:xfrm>
            <a:off x="918972" y="1572768"/>
            <a:ext cx="374904" cy="411480"/>
          </a:xfrm>
          <a:prstGeom prst="rect">
            <a:avLst/>
          </a:prstGeom>
          <a:solidFill>
            <a:srgbClr val="3FD9C4">
              <a:alpha val="45000"/>
            </a:srgbClr>
          </a:solidFill>
          <a:ln w="10160">
            <a:solidFill>
              <a:srgbClr val="3FD9C4"/>
            </a:solidFill>
            <a:prstDash val="solid"/>
          </a:ln>
        </p:spPr>
        <p:txBody>
          <a:bodyPr/>
          <a:lstStyle/>
          <a:p>
            <a:endParaRPr lang="en-US"/>
          </a:p>
        </p:txBody>
      </p:sp>
      <p:sp>
        <p:nvSpPr>
          <p:cNvPr id="13" name="Text 11"/>
          <p:cNvSpPr/>
          <p:nvPr/>
        </p:nvSpPr>
        <p:spPr>
          <a:xfrm>
            <a:off x="918972" y="1572768"/>
            <a:ext cx="374904" cy="411480"/>
          </a:xfrm>
          <a:prstGeom prst="rect">
            <a:avLst/>
          </a:prstGeom>
          <a:noFill/>
          <a:ln/>
        </p:spPr>
        <p:txBody>
          <a:bodyPr wrap="square" lIns="0" tIns="0" rIns="0" bIns="0" rtlCol="0" anchor="ctr"/>
          <a:lstStyle/>
          <a:p>
            <a:pPr marL="0" indent="0" algn="ctr">
              <a:buNone/>
            </a:pPr>
            <a:r>
              <a:rPr lang="en-US" sz="1100" b="1" dirty="0">
                <a:solidFill>
                  <a:srgbClr val="3FD9C4"/>
                </a:solidFill>
                <a:latin typeface="Consolas" pitchFamily="34" charset="0"/>
                <a:ea typeface="Consolas" pitchFamily="34" charset="-122"/>
                <a:cs typeface="Consolas" pitchFamily="34" charset="-120"/>
              </a:rPr>
              <a:t>A</a:t>
            </a:r>
            <a:endParaRPr lang="en-US" sz="1100" dirty="0"/>
          </a:p>
        </p:txBody>
      </p:sp>
      <p:sp>
        <p:nvSpPr>
          <p:cNvPr id="14" name="Shape 12"/>
          <p:cNvSpPr/>
          <p:nvPr/>
        </p:nvSpPr>
        <p:spPr>
          <a:xfrm>
            <a:off x="1335024" y="1572768"/>
            <a:ext cx="374904" cy="411480"/>
          </a:xfrm>
          <a:prstGeom prst="rect">
            <a:avLst/>
          </a:prstGeom>
          <a:solidFill>
            <a:srgbClr val="3D444D">
              <a:alpha val="15000"/>
            </a:srgbClr>
          </a:solidFill>
          <a:ln w="12700">
            <a:solidFill>
              <a:srgbClr val="3D444D"/>
            </a:solidFill>
            <a:prstDash val="solid"/>
          </a:ln>
        </p:spPr>
        <p:txBody>
          <a:bodyPr/>
          <a:lstStyle/>
          <a:p>
            <a:endParaRPr lang="en-US"/>
          </a:p>
        </p:txBody>
      </p:sp>
      <p:sp>
        <p:nvSpPr>
          <p:cNvPr id="15" name="Shape 13"/>
          <p:cNvSpPr/>
          <p:nvPr/>
        </p:nvSpPr>
        <p:spPr>
          <a:xfrm>
            <a:off x="1751076" y="1572768"/>
            <a:ext cx="374904" cy="411480"/>
          </a:xfrm>
          <a:prstGeom prst="rect">
            <a:avLst/>
          </a:prstGeom>
          <a:solidFill>
            <a:srgbClr val="BC8CFF">
              <a:alpha val="45000"/>
            </a:srgbClr>
          </a:solidFill>
          <a:ln w="10160">
            <a:solidFill>
              <a:srgbClr val="BC8CFF"/>
            </a:solidFill>
            <a:prstDash val="solid"/>
          </a:ln>
        </p:spPr>
        <p:txBody>
          <a:bodyPr/>
          <a:lstStyle/>
          <a:p>
            <a:endParaRPr lang="en-US"/>
          </a:p>
        </p:txBody>
      </p:sp>
      <p:sp>
        <p:nvSpPr>
          <p:cNvPr id="16" name="Text 14"/>
          <p:cNvSpPr/>
          <p:nvPr/>
        </p:nvSpPr>
        <p:spPr>
          <a:xfrm>
            <a:off x="1751076" y="1572768"/>
            <a:ext cx="374904" cy="411480"/>
          </a:xfrm>
          <a:prstGeom prst="rect">
            <a:avLst/>
          </a:prstGeom>
          <a:noFill/>
          <a:ln/>
        </p:spPr>
        <p:txBody>
          <a:bodyPr wrap="square" lIns="0" tIns="0" rIns="0" bIns="0" rtlCol="0" anchor="ctr"/>
          <a:lstStyle/>
          <a:p>
            <a:pPr marL="0" indent="0" algn="ctr">
              <a:buNone/>
            </a:pPr>
            <a:r>
              <a:rPr lang="en-US" sz="1100" b="1" dirty="0">
                <a:solidFill>
                  <a:srgbClr val="BC8CFF"/>
                </a:solidFill>
                <a:latin typeface="Consolas" pitchFamily="34" charset="0"/>
                <a:ea typeface="Consolas" pitchFamily="34" charset="-122"/>
                <a:cs typeface="Consolas" pitchFamily="34" charset="-120"/>
              </a:rPr>
              <a:t>B</a:t>
            </a:r>
            <a:endParaRPr lang="en-US" sz="1100" dirty="0"/>
          </a:p>
        </p:txBody>
      </p:sp>
      <p:sp>
        <p:nvSpPr>
          <p:cNvPr id="17" name="Shape 15"/>
          <p:cNvSpPr/>
          <p:nvPr/>
        </p:nvSpPr>
        <p:spPr>
          <a:xfrm>
            <a:off x="2167128" y="1572768"/>
            <a:ext cx="374904" cy="411480"/>
          </a:xfrm>
          <a:prstGeom prst="rect">
            <a:avLst/>
          </a:prstGeom>
          <a:solidFill>
            <a:srgbClr val="BC8CFF">
              <a:alpha val="45000"/>
            </a:srgbClr>
          </a:solidFill>
          <a:ln w="10160">
            <a:solidFill>
              <a:srgbClr val="BC8CFF"/>
            </a:solidFill>
            <a:prstDash val="solid"/>
          </a:ln>
        </p:spPr>
        <p:txBody>
          <a:bodyPr/>
          <a:lstStyle/>
          <a:p>
            <a:endParaRPr lang="en-US"/>
          </a:p>
        </p:txBody>
      </p:sp>
      <p:sp>
        <p:nvSpPr>
          <p:cNvPr id="18" name="Text 16"/>
          <p:cNvSpPr/>
          <p:nvPr/>
        </p:nvSpPr>
        <p:spPr>
          <a:xfrm>
            <a:off x="2167128" y="1572768"/>
            <a:ext cx="374904" cy="411480"/>
          </a:xfrm>
          <a:prstGeom prst="rect">
            <a:avLst/>
          </a:prstGeom>
          <a:noFill/>
          <a:ln/>
        </p:spPr>
        <p:txBody>
          <a:bodyPr wrap="square" lIns="0" tIns="0" rIns="0" bIns="0" rtlCol="0" anchor="ctr"/>
          <a:lstStyle/>
          <a:p>
            <a:pPr marL="0" indent="0" algn="ctr">
              <a:buNone/>
            </a:pPr>
            <a:r>
              <a:rPr lang="en-US" sz="1100" b="1" dirty="0">
                <a:solidFill>
                  <a:srgbClr val="BC8CFF"/>
                </a:solidFill>
                <a:latin typeface="Consolas" pitchFamily="34" charset="0"/>
                <a:ea typeface="Consolas" pitchFamily="34" charset="-122"/>
                <a:cs typeface="Consolas" pitchFamily="34" charset="-120"/>
              </a:rPr>
              <a:t>B</a:t>
            </a:r>
            <a:endParaRPr lang="en-US" sz="1100" dirty="0"/>
          </a:p>
        </p:txBody>
      </p:sp>
      <p:sp>
        <p:nvSpPr>
          <p:cNvPr id="19" name="Shape 17"/>
          <p:cNvSpPr/>
          <p:nvPr/>
        </p:nvSpPr>
        <p:spPr>
          <a:xfrm>
            <a:off x="2583180" y="1572768"/>
            <a:ext cx="374904" cy="411480"/>
          </a:xfrm>
          <a:prstGeom prst="rect">
            <a:avLst/>
          </a:prstGeom>
          <a:solidFill>
            <a:srgbClr val="3FD9C4">
              <a:alpha val="45000"/>
            </a:srgbClr>
          </a:solidFill>
          <a:ln w="10160">
            <a:solidFill>
              <a:srgbClr val="3FD9C4"/>
            </a:solidFill>
            <a:prstDash val="solid"/>
          </a:ln>
        </p:spPr>
        <p:txBody>
          <a:bodyPr/>
          <a:lstStyle/>
          <a:p>
            <a:endParaRPr lang="en-US"/>
          </a:p>
        </p:txBody>
      </p:sp>
      <p:sp>
        <p:nvSpPr>
          <p:cNvPr id="20" name="Text 18"/>
          <p:cNvSpPr/>
          <p:nvPr/>
        </p:nvSpPr>
        <p:spPr>
          <a:xfrm>
            <a:off x="2583180" y="1572768"/>
            <a:ext cx="374904" cy="411480"/>
          </a:xfrm>
          <a:prstGeom prst="rect">
            <a:avLst/>
          </a:prstGeom>
          <a:noFill/>
          <a:ln/>
        </p:spPr>
        <p:txBody>
          <a:bodyPr wrap="square" lIns="0" tIns="0" rIns="0" bIns="0" rtlCol="0" anchor="ctr"/>
          <a:lstStyle/>
          <a:p>
            <a:pPr marL="0" indent="0" algn="ctr">
              <a:buNone/>
            </a:pPr>
            <a:r>
              <a:rPr lang="en-US" sz="1100" b="1" dirty="0">
                <a:solidFill>
                  <a:srgbClr val="3FD9C4"/>
                </a:solidFill>
                <a:latin typeface="Consolas" pitchFamily="34" charset="0"/>
                <a:ea typeface="Consolas" pitchFamily="34" charset="-122"/>
                <a:cs typeface="Consolas" pitchFamily="34" charset="-120"/>
              </a:rPr>
              <a:t>A</a:t>
            </a:r>
            <a:endParaRPr lang="en-US" sz="1100" dirty="0"/>
          </a:p>
        </p:txBody>
      </p:sp>
      <p:sp>
        <p:nvSpPr>
          <p:cNvPr id="21" name="Shape 19"/>
          <p:cNvSpPr/>
          <p:nvPr/>
        </p:nvSpPr>
        <p:spPr>
          <a:xfrm>
            <a:off x="2999232" y="1572768"/>
            <a:ext cx="374904" cy="411480"/>
          </a:xfrm>
          <a:prstGeom prst="rect">
            <a:avLst/>
          </a:prstGeom>
          <a:solidFill>
            <a:srgbClr val="3D444D">
              <a:alpha val="15000"/>
            </a:srgbClr>
          </a:solidFill>
          <a:ln w="12700">
            <a:solidFill>
              <a:srgbClr val="3D444D"/>
            </a:solidFill>
            <a:prstDash val="solid"/>
          </a:ln>
        </p:spPr>
        <p:txBody>
          <a:bodyPr/>
          <a:lstStyle/>
          <a:p>
            <a:endParaRPr lang="en-US"/>
          </a:p>
        </p:txBody>
      </p:sp>
      <p:sp>
        <p:nvSpPr>
          <p:cNvPr id="22" name="Shape 20"/>
          <p:cNvSpPr/>
          <p:nvPr/>
        </p:nvSpPr>
        <p:spPr>
          <a:xfrm>
            <a:off x="3415284" y="1572768"/>
            <a:ext cx="374904" cy="411480"/>
          </a:xfrm>
          <a:prstGeom prst="rect">
            <a:avLst/>
          </a:prstGeom>
          <a:solidFill>
            <a:srgbClr val="FFA657">
              <a:alpha val="45000"/>
            </a:srgbClr>
          </a:solidFill>
          <a:ln w="10160">
            <a:solidFill>
              <a:srgbClr val="FFA657"/>
            </a:solidFill>
            <a:prstDash val="solid"/>
          </a:ln>
        </p:spPr>
        <p:txBody>
          <a:bodyPr/>
          <a:lstStyle/>
          <a:p>
            <a:endParaRPr lang="en-US"/>
          </a:p>
        </p:txBody>
      </p:sp>
      <p:sp>
        <p:nvSpPr>
          <p:cNvPr id="23" name="Text 21"/>
          <p:cNvSpPr/>
          <p:nvPr/>
        </p:nvSpPr>
        <p:spPr>
          <a:xfrm>
            <a:off x="3415284" y="1572768"/>
            <a:ext cx="374904" cy="411480"/>
          </a:xfrm>
          <a:prstGeom prst="rect">
            <a:avLst/>
          </a:prstGeom>
          <a:noFill/>
          <a:ln/>
        </p:spPr>
        <p:txBody>
          <a:bodyPr wrap="square" lIns="0" tIns="0" rIns="0" bIns="0" rtlCol="0" anchor="ctr"/>
          <a:lstStyle/>
          <a:p>
            <a:pPr marL="0" indent="0" algn="ctr">
              <a:buNone/>
            </a:pPr>
            <a:r>
              <a:rPr lang="en-US" sz="1100" b="1" dirty="0">
                <a:solidFill>
                  <a:srgbClr val="FFA657"/>
                </a:solidFill>
                <a:latin typeface="Consolas" pitchFamily="34" charset="0"/>
                <a:ea typeface="Consolas" pitchFamily="34" charset="-122"/>
                <a:cs typeface="Consolas" pitchFamily="34" charset="-120"/>
              </a:rPr>
              <a:t>C</a:t>
            </a:r>
            <a:endParaRPr lang="en-US" sz="1100" dirty="0"/>
          </a:p>
        </p:txBody>
      </p:sp>
      <p:sp>
        <p:nvSpPr>
          <p:cNvPr id="24" name="Shape 22"/>
          <p:cNvSpPr/>
          <p:nvPr/>
        </p:nvSpPr>
        <p:spPr>
          <a:xfrm>
            <a:off x="3831336" y="1572768"/>
            <a:ext cx="374904" cy="411480"/>
          </a:xfrm>
          <a:prstGeom prst="rect">
            <a:avLst/>
          </a:prstGeom>
          <a:solidFill>
            <a:srgbClr val="BC8CFF">
              <a:alpha val="45000"/>
            </a:srgbClr>
          </a:solidFill>
          <a:ln w="10160">
            <a:solidFill>
              <a:srgbClr val="BC8CFF"/>
            </a:solidFill>
            <a:prstDash val="solid"/>
          </a:ln>
        </p:spPr>
        <p:txBody>
          <a:bodyPr/>
          <a:lstStyle/>
          <a:p>
            <a:endParaRPr lang="en-US"/>
          </a:p>
        </p:txBody>
      </p:sp>
      <p:sp>
        <p:nvSpPr>
          <p:cNvPr id="25" name="Text 23"/>
          <p:cNvSpPr/>
          <p:nvPr/>
        </p:nvSpPr>
        <p:spPr>
          <a:xfrm>
            <a:off x="3831336" y="1572768"/>
            <a:ext cx="374904" cy="411480"/>
          </a:xfrm>
          <a:prstGeom prst="rect">
            <a:avLst/>
          </a:prstGeom>
          <a:noFill/>
          <a:ln/>
        </p:spPr>
        <p:txBody>
          <a:bodyPr wrap="square" lIns="0" tIns="0" rIns="0" bIns="0" rtlCol="0" anchor="ctr"/>
          <a:lstStyle/>
          <a:p>
            <a:pPr marL="0" indent="0" algn="ctr">
              <a:buNone/>
            </a:pPr>
            <a:r>
              <a:rPr lang="en-US" sz="1100" b="1" dirty="0">
                <a:solidFill>
                  <a:srgbClr val="BC8CFF"/>
                </a:solidFill>
                <a:latin typeface="Consolas" pitchFamily="34" charset="0"/>
                <a:ea typeface="Consolas" pitchFamily="34" charset="-122"/>
                <a:cs typeface="Consolas" pitchFamily="34" charset="-120"/>
              </a:rPr>
              <a:t>B</a:t>
            </a:r>
            <a:endParaRPr lang="en-US" sz="1100" dirty="0"/>
          </a:p>
        </p:txBody>
      </p:sp>
      <p:sp>
        <p:nvSpPr>
          <p:cNvPr id="26" name="Shape 24"/>
          <p:cNvSpPr/>
          <p:nvPr/>
        </p:nvSpPr>
        <p:spPr>
          <a:xfrm>
            <a:off x="4247388" y="1572768"/>
            <a:ext cx="374904" cy="411480"/>
          </a:xfrm>
          <a:prstGeom prst="rect">
            <a:avLst/>
          </a:prstGeom>
          <a:solidFill>
            <a:srgbClr val="3D444D">
              <a:alpha val="15000"/>
            </a:srgbClr>
          </a:solidFill>
          <a:ln w="12700">
            <a:solidFill>
              <a:srgbClr val="3D444D"/>
            </a:solidFill>
            <a:prstDash val="solid"/>
          </a:ln>
        </p:spPr>
        <p:txBody>
          <a:bodyPr/>
          <a:lstStyle/>
          <a:p>
            <a:endParaRPr lang="en-US"/>
          </a:p>
        </p:txBody>
      </p:sp>
      <p:sp>
        <p:nvSpPr>
          <p:cNvPr id="27" name="Shape 25"/>
          <p:cNvSpPr/>
          <p:nvPr/>
        </p:nvSpPr>
        <p:spPr>
          <a:xfrm>
            <a:off x="4663440" y="1572768"/>
            <a:ext cx="374904" cy="411480"/>
          </a:xfrm>
          <a:prstGeom prst="rect">
            <a:avLst/>
          </a:prstGeom>
          <a:solidFill>
            <a:srgbClr val="FFA657">
              <a:alpha val="45000"/>
            </a:srgbClr>
          </a:solidFill>
          <a:ln w="10160">
            <a:solidFill>
              <a:srgbClr val="FFA657"/>
            </a:solidFill>
            <a:prstDash val="solid"/>
          </a:ln>
        </p:spPr>
        <p:txBody>
          <a:bodyPr/>
          <a:lstStyle/>
          <a:p>
            <a:endParaRPr lang="en-US"/>
          </a:p>
        </p:txBody>
      </p:sp>
      <p:sp>
        <p:nvSpPr>
          <p:cNvPr id="28" name="Text 26"/>
          <p:cNvSpPr/>
          <p:nvPr/>
        </p:nvSpPr>
        <p:spPr>
          <a:xfrm>
            <a:off x="4663440" y="1572768"/>
            <a:ext cx="374904" cy="411480"/>
          </a:xfrm>
          <a:prstGeom prst="rect">
            <a:avLst/>
          </a:prstGeom>
          <a:noFill/>
          <a:ln/>
        </p:spPr>
        <p:txBody>
          <a:bodyPr wrap="square" lIns="0" tIns="0" rIns="0" bIns="0" rtlCol="0" anchor="ctr"/>
          <a:lstStyle/>
          <a:p>
            <a:pPr marL="0" indent="0" algn="ctr">
              <a:buNone/>
            </a:pPr>
            <a:r>
              <a:rPr lang="en-US" sz="1100" b="1" dirty="0">
                <a:solidFill>
                  <a:srgbClr val="FFA657"/>
                </a:solidFill>
                <a:latin typeface="Consolas" pitchFamily="34" charset="0"/>
                <a:ea typeface="Consolas" pitchFamily="34" charset="-122"/>
                <a:cs typeface="Consolas" pitchFamily="34" charset="-120"/>
              </a:rPr>
              <a:t>C</a:t>
            </a:r>
            <a:endParaRPr lang="en-US" sz="1100" dirty="0"/>
          </a:p>
        </p:txBody>
      </p:sp>
      <p:sp>
        <p:nvSpPr>
          <p:cNvPr id="29" name="Shape 27"/>
          <p:cNvSpPr/>
          <p:nvPr/>
        </p:nvSpPr>
        <p:spPr>
          <a:xfrm>
            <a:off x="5079492" y="1572768"/>
            <a:ext cx="374904" cy="411480"/>
          </a:xfrm>
          <a:prstGeom prst="rect">
            <a:avLst/>
          </a:prstGeom>
          <a:solidFill>
            <a:srgbClr val="3FB950">
              <a:alpha val="45000"/>
            </a:srgbClr>
          </a:solidFill>
          <a:ln w="10160">
            <a:solidFill>
              <a:srgbClr val="3FB950"/>
            </a:solidFill>
            <a:prstDash val="solid"/>
          </a:ln>
        </p:spPr>
        <p:txBody>
          <a:bodyPr/>
          <a:lstStyle/>
          <a:p>
            <a:endParaRPr lang="en-US"/>
          </a:p>
        </p:txBody>
      </p:sp>
      <p:sp>
        <p:nvSpPr>
          <p:cNvPr id="30" name="Text 28"/>
          <p:cNvSpPr/>
          <p:nvPr/>
        </p:nvSpPr>
        <p:spPr>
          <a:xfrm>
            <a:off x="5079492" y="1572768"/>
            <a:ext cx="374904" cy="411480"/>
          </a:xfrm>
          <a:prstGeom prst="rect">
            <a:avLst/>
          </a:prstGeom>
          <a:noFill/>
          <a:ln/>
        </p:spPr>
        <p:txBody>
          <a:bodyPr wrap="square" lIns="0" tIns="0" rIns="0" bIns="0" rtlCol="0" anchor="ctr"/>
          <a:lstStyle/>
          <a:p>
            <a:pPr marL="0" indent="0" algn="ctr">
              <a:buNone/>
            </a:pPr>
            <a:r>
              <a:rPr lang="en-US" sz="1100" b="1" dirty="0">
                <a:solidFill>
                  <a:srgbClr val="3FB950"/>
                </a:solidFill>
                <a:latin typeface="Consolas" pitchFamily="34" charset="0"/>
                <a:ea typeface="Consolas" pitchFamily="34" charset="-122"/>
                <a:cs typeface="Consolas" pitchFamily="34" charset="-120"/>
              </a:rPr>
              <a:t>D</a:t>
            </a:r>
            <a:endParaRPr lang="en-US" sz="1100" dirty="0"/>
          </a:p>
        </p:txBody>
      </p:sp>
      <p:sp>
        <p:nvSpPr>
          <p:cNvPr id="31" name="Shape 29"/>
          <p:cNvSpPr/>
          <p:nvPr/>
        </p:nvSpPr>
        <p:spPr>
          <a:xfrm>
            <a:off x="5495544" y="1572768"/>
            <a:ext cx="374904" cy="411480"/>
          </a:xfrm>
          <a:prstGeom prst="rect">
            <a:avLst/>
          </a:prstGeom>
          <a:solidFill>
            <a:srgbClr val="3FB950">
              <a:alpha val="45000"/>
            </a:srgbClr>
          </a:solidFill>
          <a:ln w="10160">
            <a:solidFill>
              <a:srgbClr val="3FB950"/>
            </a:solidFill>
            <a:prstDash val="solid"/>
          </a:ln>
        </p:spPr>
        <p:txBody>
          <a:bodyPr/>
          <a:lstStyle/>
          <a:p>
            <a:endParaRPr lang="en-US"/>
          </a:p>
        </p:txBody>
      </p:sp>
      <p:sp>
        <p:nvSpPr>
          <p:cNvPr id="32" name="Text 30"/>
          <p:cNvSpPr/>
          <p:nvPr/>
        </p:nvSpPr>
        <p:spPr>
          <a:xfrm>
            <a:off x="5495544" y="1572768"/>
            <a:ext cx="374904" cy="411480"/>
          </a:xfrm>
          <a:prstGeom prst="rect">
            <a:avLst/>
          </a:prstGeom>
          <a:noFill/>
          <a:ln/>
        </p:spPr>
        <p:txBody>
          <a:bodyPr wrap="square" lIns="0" tIns="0" rIns="0" bIns="0" rtlCol="0" anchor="ctr"/>
          <a:lstStyle/>
          <a:p>
            <a:pPr marL="0" indent="0" algn="ctr">
              <a:buNone/>
            </a:pPr>
            <a:r>
              <a:rPr lang="en-US" sz="1100" b="1" dirty="0">
                <a:solidFill>
                  <a:srgbClr val="3FB950"/>
                </a:solidFill>
                <a:latin typeface="Consolas" pitchFamily="34" charset="0"/>
                <a:ea typeface="Consolas" pitchFamily="34" charset="-122"/>
                <a:cs typeface="Consolas" pitchFamily="34" charset="-120"/>
              </a:rPr>
              <a:t>D</a:t>
            </a:r>
            <a:endParaRPr lang="en-US" sz="1100" dirty="0"/>
          </a:p>
        </p:txBody>
      </p:sp>
      <p:sp>
        <p:nvSpPr>
          <p:cNvPr id="33" name="Shape 31"/>
          <p:cNvSpPr/>
          <p:nvPr/>
        </p:nvSpPr>
        <p:spPr>
          <a:xfrm>
            <a:off x="5911596" y="1572768"/>
            <a:ext cx="374904" cy="411480"/>
          </a:xfrm>
          <a:prstGeom prst="rect">
            <a:avLst/>
          </a:prstGeom>
          <a:solidFill>
            <a:srgbClr val="3D444D">
              <a:alpha val="15000"/>
            </a:srgbClr>
          </a:solidFill>
          <a:ln w="12700">
            <a:solidFill>
              <a:srgbClr val="3D444D"/>
            </a:solidFill>
            <a:prstDash val="solid"/>
          </a:ln>
        </p:spPr>
        <p:txBody>
          <a:bodyPr/>
          <a:lstStyle/>
          <a:p>
            <a:endParaRPr lang="en-US"/>
          </a:p>
        </p:txBody>
      </p:sp>
      <p:sp>
        <p:nvSpPr>
          <p:cNvPr id="34" name="Shape 32"/>
          <p:cNvSpPr/>
          <p:nvPr/>
        </p:nvSpPr>
        <p:spPr>
          <a:xfrm>
            <a:off x="6327648" y="1572768"/>
            <a:ext cx="374904" cy="411480"/>
          </a:xfrm>
          <a:prstGeom prst="rect">
            <a:avLst/>
          </a:prstGeom>
          <a:solidFill>
            <a:srgbClr val="3FD9C4">
              <a:alpha val="45000"/>
            </a:srgbClr>
          </a:solidFill>
          <a:ln w="10160">
            <a:solidFill>
              <a:srgbClr val="3FD9C4"/>
            </a:solidFill>
            <a:prstDash val="solid"/>
          </a:ln>
        </p:spPr>
        <p:txBody>
          <a:bodyPr/>
          <a:lstStyle/>
          <a:p>
            <a:endParaRPr lang="en-US"/>
          </a:p>
        </p:txBody>
      </p:sp>
      <p:sp>
        <p:nvSpPr>
          <p:cNvPr id="35" name="Text 33"/>
          <p:cNvSpPr/>
          <p:nvPr/>
        </p:nvSpPr>
        <p:spPr>
          <a:xfrm>
            <a:off x="6327648" y="1572768"/>
            <a:ext cx="374904" cy="411480"/>
          </a:xfrm>
          <a:prstGeom prst="rect">
            <a:avLst/>
          </a:prstGeom>
          <a:noFill/>
          <a:ln/>
        </p:spPr>
        <p:txBody>
          <a:bodyPr wrap="square" lIns="0" tIns="0" rIns="0" bIns="0" rtlCol="0" anchor="ctr"/>
          <a:lstStyle/>
          <a:p>
            <a:pPr marL="0" indent="0" algn="ctr">
              <a:buNone/>
            </a:pPr>
            <a:r>
              <a:rPr lang="en-US" sz="1100" b="1" dirty="0">
                <a:solidFill>
                  <a:srgbClr val="3FD9C4"/>
                </a:solidFill>
                <a:latin typeface="Consolas" pitchFamily="34" charset="0"/>
                <a:ea typeface="Consolas" pitchFamily="34" charset="-122"/>
                <a:cs typeface="Consolas" pitchFamily="34" charset="-120"/>
              </a:rPr>
              <a:t>A</a:t>
            </a:r>
            <a:endParaRPr lang="en-US" sz="1100" dirty="0"/>
          </a:p>
        </p:txBody>
      </p:sp>
      <p:sp>
        <p:nvSpPr>
          <p:cNvPr id="36" name="Shape 34"/>
          <p:cNvSpPr/>
          <p:nvPr/>
        </p:nvSpPr>
        <p:spPr>
          <a:xfrm>
            <a:off x="6743700" y="1572768"/>
            <a:ext cx="374904" cy="411480"/>
          </a:xfrm>
          <a:prstGeom prst="rect">
            <a:avLst/>
          </a:prstGeom>
          <a:solidFill>
            <a:srgbClr val="3D444D">
              <a:alpha val="15000"/>
            </a:srgbClr>
          </a:solidFill>
          <a:ln w="12700">
            <a:solidFill>
              <a:srgbClr val="3D444D"/>
            </a:solidFill>
            <a:prstDash val="solid"/>
          </a:ln>
        </p:spPr>
        <p:txBody>
          <a:bodyPr/>
          <a:lstStyle/>
          <a:p>
            <a:endParaRPr lang="en-US"/>
          </a:p>
        </p:txBody>
      </p:sp>
      <p:sp>
        <p:nvSpPr>
          <p:cNvPr id="37" name="Shape 35"/>
          <p:cNvSpPr/>
          <p:nvPr/>
        </p:nvSpPr>
        <p:spPr>
          <a:xfrm>
            <a:off x="7159752" y="1572768"/>
            <a:ext cx="374904" cy="411480"/>
          </a:xfrm>
          <a:prstGeom prst="rect">
            <a:avLst/>
          </a:prstGeom>
          <a:solidFill>
            <a:srgbClr val="FFA657">
              <a:alpha val="45000"/>
            </a:srgbClr>
          </a:solidFill>
          <a:ln w="10160">
            <a:solidFill>
              <a:srgbClr val="FFA657"/>
            </a:solidFill>
            <a:prstDash val="solid"/>
          </a:ln>
        </p:spPr>
        <p:txBody>
          <a:bodyPr/>
          <a:lstStyle/>
          <a:p>
            <a:endParaRPr lang="en-US"/>
          </a:p>
        </p:txBody>
      </p:sp>
      <p:sp>
        <p:nvSpPr>
          <p:cNvPr id="38" name="Text 36"/>
          <p:cNvSpPr/>
          <p:nvPr/>
        </p:nvSpPr>
        <p:spPr>
          <a:xfrm>
            <a:off x="7159752" y="1572768"/>
            <a:ext cx="374904" cy="411480"/>
          </a:xfrm>
          <a:prstGeom prst="rect">
            <a:avLst/>
          </a:prstGeom>
          <a:noFill/>
          <a:ln/>
        </p:spPr>
        <p:txBody>
          <a:bodyPr wrap="square" lIns="0" tIns="0" rIns="0" bIns="0" rtlCol="0" anchor="ctr"/>
          <a:lstStyle/>
          <a:p>
            <a:pPr marL="0" indent="0" algn="ctr">
              <a:buNone/>
            </a:pPr>
            <a:r>
              <a:rPr lang="en-US" sz="1100" b="1" dirty="0">
                <a:solidFill>
                  <a:srgbClr val="FFA657"/>
                </a:solidFill>
                <a:latin typeface="Consolas" pitchFamily="34" charset="0"/>
                <a:ea typeface="Consolas" pitchFamily="34" charset="-122"/>
                <a:cs typeface="Consolas" pitchFamily="34" charset="-120"/>
              </a:rPr>
              <a:t>C</a:t>
            </a:r>
            <a:endParaRPr lang="en-US" sz="1100" dirty="0"/>
          </a:p>
        </p:txBody>
      </p:sp>
      <p:sp>
        <p:nvSpPr>
          <p:cNvPr id="39" name="Shape 37"/>
          <p:cNvSpPr/>
          <p:nvPr/>
        </p:nvSpPr>
        <p:spPr>
          <a:xfrm>
            <a:off x="7575804" y="1572768"/>
            <a:ext cx="374904" cy="411480"/>
          </a:xfrm>
          <a:prstGeom prst="rect">
            <a:avLst/>
          </a:prstGeom>
          <a:solidFill>
            <a:srgbClr val="3FB950">
              <a:alpha val="45000"/>
            </a:srgbClr>
          </a:solidFill>
          <a:ln w="10160">
            <a:solidFill>
              <a:srgbClr val="3FB950"/>
            </a:solidFill>
            <a:prstDash val="solid"/>
          </a:ln>
        </p:spPr>
        <p:txBody>
          <a:bodyPr/>
          <a:lstStyle/>
          <a:p>
            <a:endParaRPr lang="en-US"/>
          </a:p>
        </p:txBody>
      </p:sp>
      <p:sp>
        <p:nvSpPr>
          <p:cNvPr id="40" name="Text 38"/>
          <p:cNvSpPr/>
          <p:nvPr/>
        </p:nvSpPr>
        <p:spPr>
          <a:xfrm>
            <a:off x="7575804" y="1572768"/>
            <a:ext cx="374904" cy="411480"/>
          </a:xfrm>
          <a:prstGeom prst="rect">
            <a:avLst/>
          </a:prstGeom>
          <a:noFill/>
          <a:ln/>
        </p:spPr>
        <p:txBody>
          <a:bodyPr wrap="square" lIns="0" tIns="0" rIns="0" bIns="0" rtlCol="0" anchor="ctr"/>
          <a:lstStyle/>
          <a:p>
            <a:pPr marL="0" indent="0" algn="ctr">
              <a:buNone/>
            </a:pPr>
            <a:r>
              <a:rPr lang="en-US" sz="1100" b="1" dirty="0">
                <a:solidFill>
                  <a:srgbClr val="3FB950"/>
                </a:solidFill>
                <a:latin typeface="Consolas" pitchFamily="34" charset="0"/>
                <a:ea typeface="Consolas" pitchFamily="34" charset="-122"/>
                <a:cs typeface="Consolas" pitchFamily="34" charset="-120"/>
              </a:rPr>
              <a:t>D</a:t>
            </a:r>
            <a:endParaRPr lang="en-US" sz="1100" dirty="0"/>
          </a:p>
        </p:txBody>
      </p:sp>
      <p:sp>
        <p:nvSpPr>
          <p:cNvPr id="41" name="Shape 39"/>
          <p:cNvSpPr/>
          <p:nvPr/>
        </p:nvSpPr>
        <p:spPr>
          <a:xfrm>
            <a:off x="7991856" y="1572768"/>
            <a:ext cx="374904" cy="411480"/>
          </a:xfrm>
          <a:prstGeom prst="rect">
            <a:avLst/>
          </a:prstGeom>
          <a:solidFill>
            <a:srgbClr val="3D444D">
              <a:alpha val="15000"/>
            </a:srgbClr>
          </a:solidFill>
          <a:ln w="12700">
            <a:solidFill>
              <a:srgbClr val="3D444D"/>
            </a:solidFill>
            <a:prstDash val="solid"/>
          </a:ln>
        </p:spPr>
        <p:txBody>
          <a:bodyPr/>
          <a:lstStyle/>
          <a:p>
            <a:endParaRPr lang="en-US"/>
          </a:p>
        </p:txBody>
      </p:sp>
      <p:sp>
        <p:nvSpPr>
          <p:cNvPr id="42" name="Shape 40"/>
          <p:cNvSpPr/>
          <p:nvPr/>
        </p:nvSpPr>
        <p:spPr>
          <a:xfrm>
            <a:off x="8407908" y="1572768"/>
            <a:ext cx="374904" cy="411480"/>
          </a:xfrm>
          <a:prstGeom prst="rect">
            <a:avLst/>
          </a:prstGeom>
          <a:solidFill>
            <a:srgbClr val="BC8CFF">
              <a:alpha val="45000"/>
            </a:srgbClr>
          </a:solidFill>
          <a:ln w="10160">
            <a:solidFill>
              <a:srgbClr val="BC8CFF"/>
            </a:solidFill>
            <a:prstDash val="solid"/>
          </a:ln>
        </p:spPr>
        <p:txBody>
          <a:bodyPr/>
          <a:lstStyle/>
          <a:p>
            <a:endParaRPr lang="en-US"/>
          </a:p>
        </p:txBody>
      </p:sp>
      <p:sp>
        <p:nvSpPr>
          <p:cNvPr id="43" name="Text 41"/>
          <p:cNvSpPr/>
          <p:nvPr/>
        </p:nvSpPr>
        <p:spPr>
          <a:xfrm>
            <a:off x="8407908" y="1572768"/>
            <a:ext cx="374904" cy="411480"/>
          </a:xfrm>
          <a:prstGeom prst="rect">
            <a:avLst/>
          </a:prstGeom>
          <a:noFill/>
          <a:ln/>
        </p:spPr>
        <p:txBody>
          <a:bodyPr wrap="square" lIns="0" tIns="0" rIns="0" bIns="0" rtlCol="0" anchor="ctr"/>
          <a:lstStyle/>
          <a:p>
            <a:pPr marL="0" indent="0" algn="ctr">
              <a:buNone/>
            </a:pPr>
            <a:r>
              <a:rPr lang="en-US" sz="1100" b="1" dirty="0">
                <a:solidFill>
                  <a:srgbClr val="BC8CFF"/>
                </a:solidFill>
                <a:latin typeface="Consolas" pitchFamily="34" charset="0"/>
                <a:ea typeface="Consolas" pitchFamily="34" charset="-122"/>
                <a:cs typeface="Consolas" pitchFamily="34" charset="-120"/>
              </a:rPr>
              <a:t>B</a:t>
            </a:r>
            <a:endParaRPr lang="en-US" sz="1100" dirty="0"/>
          </a:p>
        </p:txBody>
      </p:sp>
      <p:sp>
        <p:nvSpPr>
          <p:cNvPr id="44" name="Shape 42"/>
          <p:cNvSpPr/>
          <p:nvPr/>
        </p:nvSpPr>
        <p:spPr>
          <a:xfrm>
            <a:off x="502920" y="2084832"/>
            <a:ext cx="374904" cy="411480"/>
          </a:xfrm>
          <a:prstGeom prst="rect">
            <a:avLst/>
          </a:prstGeom>
          <a:solidFill>
            <a:srgbClr val="3D444D">
              <a:alpha val="15000"/>
            </a:srgbClr>
          </a:solidFill>
          <a:ln w="12700">
            <a:solidFill>
              <a:srgbClr val="3D444D"/>
            </a:solidFill>
            <a:prstDash val="solid"/>
          </a:ln>
        </p:spPr>
        <p:txBody>
          <a:bodyPr/>
          <a:lstStyle/>
          <a:p>
            <a:endParaRPr lang="en-US"/>
          </a:p>
        </p:txBody>
      </p:sp>
      <p:sp>
        <p:nvSpPr>
          <p:cNvPr id="45" name="Shape 43"/>
          <p:cNvSpPr/>
          <p:nvPr/>
        </p:nvSpPr>
        <p:spPr>
          <a:xfrm>
            <a:off x="918972" y="2084832"/>
            <a:ext cx="374904" cy="411480"/>
          </a:xfrm>
          <a:prstGeom prst="rect">
            <a:avLst/>
          </a:prstGeom>
          <a:solidFill>
            <a:srgbClr val="3FB950">
              <a:alpha val="45000"/>
            </a:srgbClr>
          </a:solidFill>
          <a:ln w="10160">
            <a:solidFill>
              <a:srgbClr val="3FB950"/>
            </a:solidFill>
            <a:prstDash val="solid"/>
          </a:ln>
        </p:spPr>
        <p:txBody>
          <a:bodyPr/>
          <a:lstStyle/>
          <a:p>
            <a:endParaRPr lang="en-US"/>
          </a:p>
        </p:txBody>
      </p:sp>
      <p:sp>
        <p:nvSpPr>
          <p:cNvPr id="46" name="Text 44"/>
          <p:cNvSpPr/>
          <p:nvPr/>
        </p:nvSpPr>
        <p:spPr>
          <a:xfrm>
            <a:off x="918972" y="2084832"/>
            <a:ext cx="374904" cy="411480"/>
          </a:xfrm>
          <a:prstGeom prst="rect">
            <a:avLst/>
          </a:prstGeom>
          <a:noFill/>
          <a:ln/>
        </p:spPr>
        <p:txBody>
          <a:bodyPr wrap="square" lIns="0" tIns="0" rIns="0" bIns="0" rtlCol="0" anchor="ctr"/>
          <a:lstStyle/>
          <a:p>
            <a:pPr marL="0" indent="0" algn="ctr">
              <a:buNone/>
            </a:pPr>
            <a:r>
              <a:rPr lang="en-US" sz="1100" b="1" dirty="0">
                <a:solidFill>
                  <a:srgbClr val="3FB950"/>
                </a:solidFill>
                <a:latin typeface="Consolas" pitchFamily="34" charset="0"/>
                <a:ea typeface="Consolas" pitchFamily="34" charset="-122"/>
                <a:cs typeface="Consolas" pitchFamily="34" charset="-120"/>
              </a:rPr>
              <a:t>D</a:t>
            </a:r>
            <a:endParaRPr lang="en-US" sz="1100" dirty="0"/>
          </a:p>
        </p:txBody>
      </p:sp>
      <p:sp>
        <p:nvSpPr>
          <p:cNvPr id="47" name="Shape 45"/>
          <p:cNvSpPr/>
          <p:nvPr/>
        </p:nvSpPr>
        <p:spPr>
          <a:xfrm>
            <a:off x="1335024" y="2084832"/>
            <a:ext cx="374904" cy="411480"/>
          </a:xfrm>
          <a:prstGeom prst="rect">
            <a:avLst/>
          </a:prstGeom>
          <a:solidFill>
            <a:srgbClr val="3D444D">
              <a:alpha val="15000"/>
            </a:srgbClr>
          </a:solidFill>
          <a:ln w="12700">
            <a:solidFill>
              <a:srgbClr val="3D444D"/>
            </a:solidFill>
            <a:prstDash val="solid"/>
          </a:ln>
        </p:spPr>
        <p:txBody>
          <a:bodyPr/>
          <a:lstStyle/>
          <a:p>
            <a:endParaRPr lang="en-US"/>
          </a:p>
        </p:txBody>
      </p:sp>
      <p:sp>
        <p:nvSpPr>
          <p:cNvPr id="48" name="Shape 46"/>
          <p:cNvSpPr/>
          <p:nvPr/>
        </p:nvSpPr>
        <p:spPr>
          <a:xfrm>
            <a:off x="1751076" y="2084832"/>
            <a:ext cx="374904" cy="411480"/>
          </a:xfrm>
          <a:prstGeom prst="rect">
            <a:avLst/>
          </a:prstGeom>
          <a:solidFill>
            <a:srgbClr val="3FD9C4">
              <a:alpha val="45000"/>
            </a:srgbClr>
          </a:solidFill>
          <a:ln w="10160">
            <a:solidFill>
              <a:srgbClr val="3FD9C4"/>
            </a:solidFill>
            <a:prstDash val="solid"/>
          </a:ln>
        </p:spPr>
        <p:txBody>
          <a:bodyPr/>
          <a:lstStyle/>
          <a:p>
            <a:endParaRPr lang="en-US"/>
          </a:p>
        </p:txBody>
      </p:sp>
      <p:sp>
        <p:nvSpPr>
          <p:cNvPr id="49" name="Text 47"/>
          <p:cNvSpPr/>
          <p:nvPr/>
        </p:nvSpPr>
        <p:spPr>
          <a:xfrm>
            <a:off x="1751076" y="2084832"/>
            <a:ext cx="374904" cy="411480"/>
          </a:xfrm>
          <a:prstGeom prst="rect">
            <a:avLst/>
          </a:prstGeom>
          <a:noFill/>
          <a:ln/>
        </p:spPr>
        <p:txBody>
          <a:bodyPr wrap="square" lIns="0" tIns="0" rIns="0" bIns="0" rtlCol="0" anchor="ctr"/>
          <a:lstStyle/>
          <a:p>
            <a:pPr marL="0" indent="0" algn="ctr">
              <a:buNone/>
            </a:pPr>
            <a:r>
              <a:rPr lang="en-US" sz="1100" b="1" dirty="0">
                <a:solidFill>
                  <a:srgbClr val="3FD9C4"/>
                </a:solidFill>
                <a:latin typeface="Consolas" pitchFamily="34" charset="0"/>
                <a:ea typeface="Consolas" pitchFamily="34" charset="-122"/>
                <a:cs typeface="Consolas" pitchFamily="34" charset="-120"/>
              </a:rPr>
              <a:t>A</a:t>
            </a:r>
            <a:endParaRPr lang="en-US" sz="1100" dirty="0"/>
          </a:p>
        </p:txBody>
      </p:sp>
      <p:sp>
        <p:nvSpPr>
          <p:cNvPr id="50" name="Shape 48"/>
          <p:cNvSpPr/>
          <p:nvPr/>
        </p:nvSpPr>
        <p:spPr>
          <a:xfrm>
            <a:off x="2167128" y="2084832"/>
            <a:ext cx="374904" cy="411480"/>
          </a:xfrm>
          <a:prstGeom prst="rect">
            <a:avLst/>
          </a:prstGeom>
          <a:solidFill>
            <a:srgbClr val="FFA657">
              <a:alpha val="45000"/>
            </a:srgbClr>
          </a:solidFill>
          <a:ln w="10160">
            <a:solidFill>
              <a:srgbClr val="FFA657"/>
            </a:solidFill>
            <a:prstDash val="solid"/>
          </a:ln>
        </p:spPr>
        <p:txBody>
          <a:bodyPr/>
          <a:lstStyle/>
          <a:p>
            <a:endParaRPr lang="en-US"/>
          </a:p>
        </p:txBody>
      </p:sp>
      <p:sp>
        <p:nvSpPr>
          <p:cNvPr id="51" name="Text 49"/>
          <p:cNvSpPr/>
          <p:nvPr/>
        </p:nvSpPr>
        <p:spPr>
          <a:xfrm>
            <a:off x="2167128" y="2084832"/>
            <a:ext cx="374904" cy="411480"/>
          </a:xfrm>
          <a:prstGeom prst="rect">
            <a:avLst/>
          </a:prstGeom>
          <a:noFill/>
          <a:ln/>
        </p:spPr>
        <p:txBody>
          <a:bodyPr wrap="square" lIns="0" tIns="0" rIns="0" bIns="0" rtlCol="0" anchor="ctr"/>
          <a:lstStyle/>
          <a:p>
            <a:pPr marL="0" indent="0" algn="ctr">
              <a:buNone/>
            </a:pPr>
            <a:r>
              <a:rPr lang="en-US" sz="1100" b="1" dirty="0">
                <a:solidFill>
                  <a:srgbClr val="FFA657"/>
                </a:solidFill>
                <a:latin typeface="Consolas" pitchFamily="34" charset="0"/>
                <a:ea typeface="Consolas" pitchFamily="34" charset="-122"/>
                <a:cs typeface="Consolas" pitchFamily="34" charset="-120"/>
              </a:rPr>
              <a:t>C</a:t>
            </a:r>
            <a:endParaRPr lang="en-US" sz="1100" dirty="0"/>
          </a:p>
        </p:txBody>
      </p:sp>
      <p:sp>
        <p:nvSpPr>
          <p:cNvPr id="52" name="Shape 50"/>
          <p:cNvSpPr/>
          <p:nvPr/>
        </p:nvSpPr>
        <p:spPr>
          <a:xfrm>
            <a:off x="2583180" y="2084832"/>
            <a:ext cx="374904" cy="411480"/>
          </a:xfrm>
          <a:prstGeom prst="rect">
            <a:avLst/>
          </a:prstGeom>
          <a:solidFill>
            <a:srgbClr val="3D444D">
              <a:alpha val="15000"/>
            </a:srgbClr>
          </a:solidFill>
          <a:ln w="12700">
            <a:solidFill>
              <a:srgbClr val="3D444D"/>
            </a:solidFill>
            <a:prstDash val="solid"/>
          </a:ln>
        </p:spPr>
        <p:txBody>
          <a:bodyPr/>
          <a:lstStyle/>
          <a:p>
            <a:endParaRPr lang="en-US"/>
          </a:p>
        </p:txBody>
      </p:sp>
      <p:sp>
        <p:nvSpPr>
          <p:cNvPr id="53" name="Shape 51"/>
          <p:cNvSpPr/>
          <p:nvPr/>
        </p:nvSpPr>
        <p:spPr>
          <a:xfrm>
            <a:off x="2999232" y="2084832"/>
            <a:ext cx="374904" cy="411480"/>
          </a:xfrm>
          <a:prstGeom prst="rect">
            <a:avLst/>
          </a:prstGeom>
          <a:solidFill>
            <a:srgbClr val="BC8CFF">
              <a:alpha val="45000"/>
            </a:srgbClr>
          </a:solidFill>
          <a:ln w="10160">
            <a:solidFill>
              <a:srgbClr val="BC8CFF"/>
            </a:solidFill>
            <a:prstDash val="solid"/>
          </a:ln>
        </p:spPr>
        <p:txBody>
          <a:bodyPr/>
          <a:lstStyle/>
          <a:p>
            <a:endParaRPr lang="en-US"/>
          </a:p>
        </p:txBody>
      </p:sp>
      <p:sp>
        <p:nvSpPr>
          <p:cNvPr id="54" name="Text 52"/>
          <p:cNvSpPr/>
          <p:nvPr/>
        </p:nvSpPr>
        <p:spPr>
          <a:xfrm>
            <a:off x="2999232" y="2084832"/>
            <a:ext cx="374904" cy="411480"/>
          </a:xfrm>
          <a:prstGeom prst="rect">
            <a:avLst/>
          </a:prstGeom>
          <a:noFill/>
          <a:ln/>
        </p:spPr>
        <p:txBody>
          <a:bodyPr wrap="square" lIns="0" tIns="0" rIns="0" bIns="0" rtlCol="0" anchor="ctr"/>
          <a:lstStyle/>
          <a:p>
            <a:pPr marL="0" indent="0" algn="ctr">
              <a:buNone/>
            </a:pPr>
            <a:r>
              <a:rPr lang="en-US" sz="1100" b="1" dirty="0">
                <a:solidFill>
                  <a:srgbClr val="BC8CFF"/>
                </a:solidFill>
                <a:latin typeface="Consolas" pitchFamily="34" charset="0"/>
                <a:ea typeface="Consolas" pitchFamily="34" charset="-122"/>
                <a:cs typeface="Consolas" pitchFamily="34" charset="-120"/>
              </a:rPr>
              <a:t>B</a:t>
            </a:r>
            <a:endParaRPr lang="en-US" sz="1100" dirty="0"/>
          </a:p>
        </p:txBody>
      </p:sp>
      <p:sp>
        <p:nvSpPr>
          <p:cNvPr id="55" name="Shape 53"/>
          <p:cNvSpPr/>
          <p:nvPr/>
        </p:nvSpPr>
        <p:spPr>
          <a:xfrm>
            <a:off x="3415284" y="2084832"/>
            <a:ext cx="374904" cy="411480"/>
          </a:xfrm>
          <a:prstGeom prst="rect">
            <a:avLst/>
          </a:prstGeom>
          <a:solidFill>
            <a:srgbClr val="3D444D">
              <a:alpha val="15000"/>
            </a:srgbClr>
          </a:solidFill>
          <a:ln w="12700">
            <a:solidFill>
              <a:srgbClr val="3D444D"/>
            </a:solidFill>
            <a:prstDash val="solid"/>
          </a:ln>
        </p:spPr>
        <p:txBody>
          <a:bodyPr/>
          <a:lstStyle/>
          <a:p>
            <a:endParaRPr lang="en-US"/>
          </a:p>
        </p:txBody>
      </p:sp>
      <p:sp>
        <p:nvSpPr>
          <p:cNvPr id="56" name="Shape 54"/>
          <p:cNvSpPr/>
          <p:nvPr/>
        </p:nvSpPr>
        <p:spPr>
          <a:xfrm>
            <a:off x="3831336" y="2084832"/>
            <a:ext cx="374904" cy="411480"/>
          </a:xfrm>
          <a:prstGeom prst="rect">
            <a:avLst/>
          </a:prstGeom>
          <a:solidFill>
            <a:srgbClr val="3FB950">
              <a:alpha val="45000"/>
            </a:srgbClr>
          </a:solidFill>
          <a:ln w="10160">
            <a:solidFill>
              <a:srgbClr val="3FB950"/>
            </a:solidFill>
            <a:prstDash val="solid"/>
          </a:ln>
        </p:spPr>
        <p:txBody>
          <a:bodyPr/>
          <a:lstStyle/>
          <a:p>
            <a:endParaRPr lang="en-US"/>
          </a:p>
        </p:txBody>
      </p:sp>
      <p:sp>
        <p:nvSpPr>
          <p:cNvPr id="57" name="Text 55"/>
          <p:cNvSpPr/>
          <p:nvPr/>
        </p:nvSpPr>
        <p:spPr>
          <a:xfrm>
            <a:off x="3831336" y="2084832"/>
            <a:ext cx="374904" cy="411480"/>
          </a:xfrm>
          <a:prstGeom prst="rect">
            <a:avLst/>
          </a:prstGeom>
          <a:noFill/>
          <a:ln/>
        </p:spPr>
        <p:txBody>
          <a:bodyPr wrap="square" lIns="0" tIns="0" rIns="0" bIns="0" rtlCol="0" anchor="ctr"/>
          <a:lstStyle/>
          <a:p>
            <a:pPr marL="0" indent="0" algn="ctr">
              <a:buNone/>
            </a:pPr>
            <a:r>
              <a:rPr lang="en-US" sz="1100" b="1" dirty="0">
                <a:solidFill>
                  <a:srgbClr val="3FB950"/>
                </a:solidFill>
                <a:latin typeface="Consolas" pitchFamily="34" charset="0"/>
                <a:ea typeface="Consolas" pitchFamily="34" charset="-122"/>
                <a:cs typeface="Consolas" pitchFamily="34" charset="-120"/>
              </a:rPr>
              <a:t>D</a:t>
            </a:r>
            <a:endParaRPr lang="en-US" sz="1100" dirty="0"/>
          </a:p>
        </p:txBody>
      </p:sp>
      <p:sp>
        <p:nvSpPr>
          <p:cNvPr id="58" name="Shape 56"/>
          <p:cNvSpPr/>
          <p:nvPr/>
        </p:nvSpPr>
        <p:spPr>
          <a:xfrm>
            <a:off x="4247388" y="2084832"/>
            <a:ext cx="374904" cy="411480"/>
          </a:xfrm>
          <a:prstGeom prst="rect">
            <a:avLst/>
          </a:prstGeom>
          <a:solidFill>
            <a:srgbClr val="3FD9C4">
              <a:alpha val="45000"/>
            </a:srgbClr>
          </a:solidFill>
          <a:ln w="10160">
            <a:solidFill>
              <a:srgbClr val="3FD9C4"/>
            </a:solidFill>
            <a:prstDash val="solid"/>
          </a:ln>
        </p:spPr>
        <p:txBody>
          <a:bodyPr/>
          <a:lstStyle/>
          <a:p>
            <a:endParaRPr lang="en-US"/>
          </a:p>
        </p:txBody>
      </p:sp>
      <p:sp>
        <p:nvSpPr>
          <p:cNvPr id="59" name="Text 57"/>
          <p:cNvSpPr/>
          <p:nvPr/>
        </p:nvSpPr>
        <p:spPr>
          <a:xfrm>
            <a:off x="4247388" y="2084832"/>
            <a:ext cx="374904" cy="411480"/>
          </a:xfrm>
          <a:prstGeom prst="rect">
            <a:avLst/>
          </a:prstGeom>
          <a:noFill/>
          <a:ln/>
        </p:spPr>
        <p:txBody>
          <a:bodyPr wrap="square" lIns="0" tIns="0" rIns="0" bIns="0" rtlCol="0" anchor="ctr"/>
          <a:lstStyle/>
          <a:p>
            <a:pPr marL="0" indent="0" algn="ctr">
              <a:buNone/>
            </a:pPr>
            <a:r>
              <a:rPr lang="en-US" sz="1100" b="1" dirty="0">
                <a:solidFill>
                  <a:srgbClr val="3FD9C4"/>
                </a:solidFill>
                <a:latin typeface="Consolas" pitchFamily="34" charset="0"/>
                <a:ea typeface="Consolas" pitchFamily="34" charset="-122"/>
                <a:cs typeface="Consolas" pitchFamily="34" charset="-120"/>
              </a:rPr>
              <a:t>A</a:t>
            </a:r>
            <a:endParaRPr lang="en-US" sz="1100" dirty="0"/>
          </a:p>
        </p:txBody>
      </p:sp>
      <p:sp>
        <p:nvSpPr>
          <p:cNvPr id="60" name="Shape 58"/>
          <p:cNvSpPr/>
          <p:nvPr/>
        </p:nvSpPr>
        <p:spPr>
          <a:xfrm>
            <a:off x="4663440" y="2084832"/>
            <a:ext cx="374904" cy="411480"/>
          </a:xfrm>
          <a:prstGeom prst="rect">
            <a:avLst/>
          </a:prstGeom>
          <a:solidFill>
            <a:srgbClr val="3D444D">
              <a:alpha val="15000"/>
            </a:srgbClr>
          </a:solidFill>
          <a:ln w="12700">
            <a:solidFill>
              <a:srgbClr val="3D444D"/>
            </a:solidFill>
            <a:prstDash val="solid"/>
          </a:ln>
        </p:spPr>
        <p:txBody>
          <a:bodyPr/>
          <a:lstStyle/>
          <a:p>
            <a:endParaRPr lang="en-US"/>
          </a:p>
        </p:txBody>
      </p:sp>
      <p:sp>
        <p:nvSpPr>
          <p:cNvPr id="61" name="Shape 59"/>
          <p:cNvSpPr/>
          <p:nvPr/>
        </p:nvSpPr>
        <p:spPr>
          <a:xfrm>
            <a:off x="5079492" y="2084832"/>
            <a:ext cx="374904" cy="411480"/>
          </a:xfrm>
          <a:prstGeom prst="rect">
            <a:avLst/>
          </a:prstGeom>
          <a:solidFill>
            <a:srgbClr val="FFA657">
              <a:alpha val="45000"/>
            </a:srgbClr>
          </a:solidFill>
          <a:ln w="10160">
            <a:solidFill>
              <a:srgbClr val="FFA657"/>
            </a:solidFill>
            <a:prstDash val="solid"/>
          </a:ln>
        </p:spPr>
        <p:txBody>
          <a:bodyPr/>
          <a:lstStyle/>
          <a:p>
            <a:endParaRPr lang="en-US"/>
          </a:p>
        </p:txBody>
      </p:sp>
      <p:sp>
        <p:nvSpPr>
          <p:cNvPr id="62" name="Text 60"/>
          <p:cNvSpPr/>
          <p:nvPr/>
        </p:nvSpPr>
        <p:spPr>
          <a:xfrm>
            <a:off x="5079492" y="2084832"/>
            <a:ext cx="374904" cy="411480"/>
          </a:xfrm>
          <a:prstGeom prst="rect">
            <a:avLst/>
          </a:prstGeom>
          <a:noFill/>
          <a:ln/>
        </p:spPr>
        <p:txBody>
          <a:bodyPr wrap="square" lIns="0" tIns="0" rIns="0" bIns="0" rtlCol="0" anchor="ctr"/>
          <a:lstStyle/>
          <a:p>
            <a:pPr marL="0" indent="0" algn="ctr">
              <a:buNone/>
            </a:pPr>
            <a:r>
              <a:rPr lang="en-US" sz="1100" b="1" dirty="0">
                <a:solidFill>
                  <a:srgbClr val="FFA657"/>
                </a:solidFill>
                <a:latin typeface="Consolas" pitchFamily="34" charset="0"/>
                <a:ea typeface="Consolas" pitchFamily="34" charset="-122"/>
                <a:cs typeface="Consolas" pitchFamily="34" charset="-120"/>
              </a:rPr>
              <a:t>C</a:t>
            </a:r>
            <a:endParaRPr lang="en-US" sz="1100" dirty="0"/>
          </a:p>
        </p:txBody>
      </p:sp>
      <p:sp>
        <p:nvSpPr>
          <p:cNvPr id="63" name="Shape 61"/>
          <p:cNvSpPr/>
          <p:nvPr/>
        </p:nvSpPr>
        <p:spPr>
          <a:xfrm>
            <a:off x="5495544" y="2084832"/>
            <a:ext cx="374904" cy="411480"/>
          </a:xfrm>
          <a:prstGeom prst="rect">
            <a:avLst/>
          </a:prstGeom>
          <a:solidFill>
            <a:srgbClr val="BC8CFF">
              <a:alpha val="45000"/>
            </a:srgbClr>
          </a:solidFill>
          <a:ln w="10160">
            <a:solidFill>
              <a:srgbClr val="BC8CFF"/>
            </a:solidFill>
            <a:prstDash val="solid"/>
          </a:ln>
        </p:spPr>
        <p:txBody>
          <a:bodyPr/>
          <a:lstStyle/>
          <a:p>
            <a:endParaRPr lang="en-US"/>
          </a:p>
        </p:txBody>
      </p:sp>
      <p:sp>
        <p:nvSpPr>
          <p:cNvPr id="64" name="Text 62"/>
          <p:cNvSpPr/>
          <p:nvPr/>
        </p:nvSpPr>
        <p:spPr>
          <a:xfrm>
            <a:off x="5495544" y="2084832"/>
            <a:ext cx="374904" cy="411480"/>
          </a:xfrm>
          <a:prstGeom prst="rect">
            <a:avLst/>
          </a:prstGeom>
          <a:noFill/>
          <a:ln/>
        </p:spPr>
        <p:txBody>
          <a:bodyPr wrap="square" lIns="0" tIns="0" rIns="0" bIns="0" rtlCol="0" anchor="ctr"/>
          <a:lstStyle/>
          <a:p>
            <a:pPr marL="0" indent="0" algn="ctr">
              <a:buNone/>
            </a:pPr>
            <a:r>
              <a:rPr lang="en-US" sz="1100" b="1" dirty="0">
                <a:solidFill>
                  <a:srgbClr val="BC8CFF"/>
                </a:solidFill>
                <a:latin typeface="Consolas" pitchFamily="34" charset="0"/>
                <a:ea typeface="Consolas" pitchFamily="34" charset="-122"/>
                <a:cs typeface="Consolas" pitchFamily="34" charset="-120"/>
              </a:rPr>
              <a:t>B</a:t>
            </a:r>
            <a:endParaRPr lang="en-US" sz="1100" dirty="0"/>
          </a:p>
        </p:txBody>
      </p:sp>
      <p:sp>
        <p:nvSpPr>
          <p:cNvPr id="65" name="Shape 63"/>
          <p:cNvSpPr/>
          <p:nvPr/>
        </p:nvSpPr>
        <p:spPr>
          <a:xfrm>
            <a:off x="5911596" y="2084832"/>
            <a:ext cx="374904" cy="411480"/>
          </a:xfrm>
          <a:prstGeom prst="rect">
            <a:avLst/>
          </a:prstGeom>
          <a:solidFill>
            <a:srgbClr val="3FB950">
              <a:alpha val="45000"/>
            </a:srgbClr>
          </a:solidFill>
          <a:ln w="10160">
            <a:solidFill>
              <a:srgbClr val="3FB950"/>
            </a:solidFill>
            <a:prstDash val="solid"/>
          </a:ln>
        </p:spPr>
        <p:txBody>
          <a:bodyPr/>
          <a:lstStyle/>
          <a:p>
            <a:endParaRPr lang="en-US"/>
          </a:p>
        </p:txBody>
      </p:sp>
      <p:sp>
        <p:nvSpPr>
          <p:cNvPr id="66" name="Text 64"/>
          <p:cNvSpPr/>
          <p:nvPr/>
        </p:nvSpPr>
        <p:spPr>
          <a:xfrm>
            <a:off x="5911596" y="2084832"/>
            <a:ext cx="374904" cy="411480"/>
          </a:xfrm>
          <a:prstGeom prst="rect">
            <a:avLst/>
          </a:prstGeom>
          <a:noFill/>
          <a:ln/>
        </p:spPr>
        <p:txBody>
          <a:bodyPr wrap="square" lIns="0" tIns="0" rIns="0" bIns="0" rtlCol="0" anchor="ctr"/>
          <a:lstStyle/>
          <a:p>
            <a:pPr marL="0" indent="0" algn="ctr">
              <a:buNone/>
            </a:pPr>
            <a:r>
              <a:rPr lang="en-US" sz="1100" b="1" dirty="0">
                <a:solidFill>
                  <a:srgbClr val="3FB950"/>
                </a:solidFill>
                <a:latin typeface="Consolas" pitchFamily="34" charset="0"/>
                <a:ea typeface="Consolas" pitchFamily="34" charset="-122"/>
                <a:cs typeface="Consolas" pitchFamily="34" charset="-120"/>
              </a:rPr>
              <a:t>D</a:t>
            </a:r>
            <a:endParaRPr lang="en-US" sz="1100" dirty="0"/>
          </a:p>
        </p:txBody>
      </p:sp>
      <p:sp>
        <p:nvSpPr>
          <p:cNvPr id="67" name="Shape 65"/>
          <p:cNvSpPr/>
          <p:nvPr/>
        </p:nvSpPr>
        <p:spPr>
          <a:xfrm>
            <a:off x="6327648" y="2084832"/>
            <a:ext cx="374904" cy="411480"/>
          </a:xfrm>
          <a:prstGeom prst="rect">
            <a:avLst/>
          </a:prstGeom>
          <a:solidFill>
            <a:srgbClr val="3D444D">
              <a:alpha val="15000"/>
            </a:srgbClr>
          </a:solidFill>
          <a:ln w="12700">
            <a:solidFill>
              <a:srgbClr val="3D444D"/>
            </a:solidFill>
            <a:prstDash val="solid"/>
          </a:ln>
        </p:spPr>
        <p:txBody>
          <a:bodyPr/>
          <a:lstStyle/>
          <a:p>
            <a:endParaRPr lang="en-US"/>
          </a:p>
        </p:txBody>
      </p:sp>
      <p:sp>
        <p:nvSpPr>
          <p:cNvPr id="68" name="Shape 66"/>
          <p:cNvSpPr/>
          <p:nvPr/>
        </p:nvSpPr>
        <p:spPr>
          <a:xfrm>
            <a:off x="6743700" y="2084832"/>
            <a:ext cx="374904" cy="411480"/>
          </a:xfrm>
          <a:prstGeom prst="rect">
            <a:avLst/>
          </a:prstGeom>
          <a:solidFill>
            <a:srgbClr val="3D444D">
              <a:alpha val="15000"/>
            </a:srgbClr>
          </a:solidFill>
          <a:ln w="12700">
            <a:solidFill>
              <a:srgbClr val="3D444D"/>
            </a:solidFill>
            <a:prstDash val="solid"/>
          </a:ln>
        </p:spPr>
        <p:txBody>
          <a:bodyPr/>
          <a:lstStyle/>
          <a:p>
            <a:endParaRPr lang="en-US"/>
          </a:p>
        </p:txBody>
      </p:sp>
      <p:sp>
        <p:nvSpPr>
          <p:cNvPr id="69" name="Shape 67"/>
          <p:cNvSpPr/>
          <p:nvPr/>
        </p:nvSpPr>
        <p:spPr>
          <a:xfrm>
            <a:off x="7159752" y="2084832"/>
            <a:ext cx="374904" cy="411480"/>
          </a:xfrm>
          <a:prstGeom prst="rect">
            <a:avLst/>
          </a:prstGeom>
          <a:solidFill>
            <a:srgbClr val="3FD9C4">
              <a:alpha val="45000"/>
            </a:srgbClr>
          </a:solidFill>
          <a:ln w="10160">
            <a:solidFill>
              <a:srgbClr val="3FD9C4"/>
            </a:solidFill>
            <a:prstDash val="solid"/>
          </a:ln>
        </p:spPr>
        <p:txBody>
          <a:bodyPr/>
          <a:lstStyle/>
          <a:p>
            <a:endParaRPr lang="en-US"/>
          </a:p>
        </p:txBody>
      </p:sp>
      <p:sp>
        <p:nvSpPr>
          <p:cNvPr id="70" name="Text 68"/>
          <p:cNvSpPr/>
          <p:nvPr/>
        </p:nvSpPr>
        <p:spPr>
          <a:xfrm>
            <a:off x="7159752" y="2084832"/>
            <a:ext cx="374904" cy="411480"/>
          </a:xfrm>
          <a:prstGeom prst="rect">
            <a:avLst/>
          </a:prstGeom>
          <a:noFill/>
          <a:ln/>
        </p:spPr>
        <p:txBody>
          <a:bodyPr wrap="square" lIns="0" tIns="0" rIns="0" bIns="0" rtlCol="0" anchor="ctr"/>
          <a:lstStyle/>
          <a:p>
            <a:pPr marL="0" indent="0" algn="ctr">
              <a:buNone/>
            </a:pPr>
            <a:r>
              <a:rPr lang="en-US" sz="1100" b="1" dirty="0">
                <a:solidFill>
                  <a:srgbClr val="3FD9C4"/>
                </a:solidFill>
                <a:latin typeface="Consolas" pitchFamily="34" charset="0"/>
                <a:ea typeface="Consolas" pitchFamily="34" charset="-122"/>
                <a:cs typeface="Consolas" pitchFamily="34" charset="-120"/>
              </a:rPr>
              <a:t>A</a:t>
            </a:r>
            <a:endParaRPr lang="en-US" sz="1100" dirty="0"/>
          </a:p>
        </p:txBody>
      </p:sp>
      <p:sp>
        <p:nvSpPr>
          <p:cNvPr id="71" name="Shape 69"/>
          <p:cNvSpPr/>
          <p:nvPr/>
        </p:nvSpPr>
        <p:spPr>
          <a:xfrm>
            <a:off x="7575804" y="2084832"/>
            <a:ext cx="374904" cy="411480"/>
          </a:xfrm>
          <a:prstGeom prst="rect">
            <a:avLst/>
          </a:prstGeom>
          <a:solidFill>
            <a:srgbClr val="BC8CFF">
              <a:alpha val="45000"/>
            </a:srgbClr>
          </a:solidFill>
          <a:ln w="10160">
            <a:solidFill>
              <a:srgbClr val="BC8CFF"/>
            </a:solidFill>
            <a:prstDash val="solid"/>
          </a:ln>
        </p:spPr>
        <p:txBody>
          <a:bodyPr/>
          <a:lstStyle/>
          <a:p>
            <a:endParaRPr lang="en-US"/>
          </a:p>
        </p:txBody>
      </p:sp>
      <p:sp>
        <p:nvSpPr>
          <p:cNvPr id="72" name="Text 70"/>
          <p:cNvSpPr/>
          <p:nvPr/>
        </p:nvSpPr>
        <p:spPr>
          <a:xfrm>
            <a:off x="7575804" y="2084832"/>
            <a:ext cx="374904" cy="411480"/>
          </a:xfrm>
          <a:prstGeom prst="rect">
            <a:avLst/>
          </a:prstGeom>
          <a:noFill/>
          <a:ln/>
        </p:spPr>
        <p:txBody>
          <a:bodyPr wrap="square" lIns="0" tIns="0" rIns="0" bIns="0" rtlCol="0" anchor="ctr"/>
          <a:lstStyle/>
          <a:p>
            <a:pPr marL="0" indent="0" algn="ctr">
              <a:buNone/>
            </a:pPr>
            <a:r>
              <a:rPr lang="en-US" sz="1100" b="1" dirty="0">
                <a:solidFill>
                  <a:srgbClr val="BC8CFF"/>
                </a:solidFill>
                <a:latin typeface="Consolas" pitchFamily="34" charset="0"/>
                <a:ea typeface="Consolas" pitchFamily="34" charset="-122"/>
                <a:cs typeface="Consolas" pitchFamily="34" charset="-120"/>
              </a:rPr>
              <a:t>B</a:t>
            </a:r>
            <a:endParaRPr lang="en-US" sz="1100" dirty="0"/>
          </a:p>
        </p:txBody>
      </p:sp>
      <p:sp>
        <p:nvSpPr>
          <p:cNvPr id="73" name="Shape 71"/>
          <p:cNvSpPr/>
          <p:nvPr/>
        </p:nvSpPr>
        <p:spPr>
          <a:xfrm>
            <a:off x="7991856" y="2084832"/>
            <a:ext cx="374904" cy="411480"/>
          </a:xfrm>
          <a:prstGeom prst="rect">
            <a:avLst/>
          </a:prstGeom>
          <a:solidFill>
            <a:srgbClr val="FFA657">
              <a:alpha val="45000"/>
            </a:srgbClr>
          </a:solidFill>
          <a:ln w="10160">
            <a:solidFill>
              <a:srgbClr val="FFA657"/>
            </a:solidFill>
            <a:prstDash val="solid"/>
          </a:ln>
        </p:spPr>
        <p:txBody>
          <a:bodyPr/>
          <a:lstStyle/>
          <a:p>
            <a:endParaRPr lang="en-US"/>
          </a:p>
        </p:txBody>
      </p:sp>
      <p:sp>
        <p:nvSpPr>
          <p:cNvPr id="74" name="Text 72"/>
          <p:cNvSpPr/>
          <p:nvPr/>
        </p:nvSpPr>
        <p:spPr>
          <a:xfrm>
            <a:off x="7991856" y="2084832"/>
            <a:ext cx="374904" cy="411480"/>
          </a:xfrm>
          <a:prstGeom prst="rect">
            <a:avLst/>
          </a:prstGeom>
          <a:noFill/>
          <a:ln/>
        </p:spPr>
        <p:txBody>
          <a:bodyPr wrap="square" lIns="0" tIns="0" rIns="0" bIns="0" rtlCol="0" anchor="ctr"/>
          <a:lstStyle/>
          <a:p>
            <a:pPr marL="0" indent="0" algn="ctr">
              <a:buNone/>
            </a:pPr>
            <a:r>
              <a:rPr lang="en-US" sz="1100" b="1" dirty="0">
                <a:solidFill>
                  <a:srgbClr val="FFA657"/>
                </a:solidFill>
                <a:latin typeface="Consolas" pitchFamily="34" charset="0"/>
                <a:ea typeface="Consolas" pitchFamily="34" charset="-122"/>
                <a:cs typeface="Consolas" pitchFamily="34" charset="-120"/>
              </a:rPr>
              <a:t>C</a:t>
            </a:r>
            <a:endParaRPr lang="en-US" sz="1100" dirty="0"/>
          </a:p>
        </p:txBody>
      </p:sp>
      <p:sp>
        <p:nvSpPr>
          <p:cNvPr id="75" name="Shape 73"/>
          <p:cNvSpPr/>
          <p:nvPr/>
        </p:nvSpPr>
        <p:spPr>
          <a:xfrm>
            <a:off x="8407908" y="2084832"/>
            <a:ext cx="374904" cy="411480"/>
          </a:xfrm>
          <a:prstGeom prst="rect">
            <a:avLst/>
          </a:prstGeom>
          <a:solidFill>
            <a:srgbClr val="3FB950">
              <a:alpha val="45000"/>
            </a:srgbClr>
          </a:solidFill>
          <a:ln w="10160">
            <a:solidFill>
              <a:srgbClr val="3FB950"/>
            </a:solidFill>
            <a:prstDash val="solid"/>
          </a:ln>
        </p:spPr>
        <p:txBody>
          <a:bodyPr/>
          <a:lstStyle/>
          <a:p>
            <a:endParaRPr lang="en-US"/>
          </a:p>
        </p:txBody>
      </p:sp>
      <p:sp>
        <p:nvSpPr>
          <p:cNvPr id="76" name="Text 74"/>
          <p:cNvSpPr/>
          <p:nvPr/>
        </p:nvSpPr>
        <p:spPr>
          <a:xfrm>
            <a:off x="8407908" y="2084832"/>
            <a:ext cx="374904" cy="411480"/>
          </a:xfrm>
          <a:prstGeom prst="rect">
            <a:avLst/>
          </a:prstGeom>
          <a:noFill/>
          <a:ln/>
        </p:spPr>
        <p:txBody>
          <a:bodyPr wrap="square" lIns="0" tIns="0" rIns="0" bIns="0" rtlCol="0" anchor="ctr"/>
          <a:lstStyle/>
          <a:p>
            <a:pPr marL="0" indent="0" algn="ctr">
              <a:buNone/>
            </a:pPr>
            <a:r>
              <a:rPr lang="en-US" sz="1100" b="1" dirty="0">
                <a:solidFill>
                  <a:srgbClr val="3FB950"/>
                </a:solidFill>
                <a:latin typeface="Consolas" pitchFamily="34" charset="0"/>
                <a:ea typeface="Consolas" pitchFamily="34" charset="-122"/>
                <a:cs typeface="Consolas" pitchFamily="34" charset="-120"/>
              </a:rPr>
              <a:t>D</a:t>
            </a:r>
            <a:endParaRPr lang="en-US" sz="1100" dirty="0"/>
          </a:p>
        </p:txBody>
      </p:sp>
      <p:sp>
        <p:nvSpPr>
          <p:cNvPr id="77" name="Shape 75"/>
          <p:cNvSpPr/>
          <p:nvPr/>
        </p:nvSpPr>
        <p:spPr>
          <a:xfrm>
            <a:off x="548640" y="2615184"/>
            <a:ext cx="228600" cy="228600"/>
          </a:xfrm>
          <a:prstGeom prst="rect">
            <a:avLst/>
          </a:prstGeom>
          <a:solidFill>
            <a:srgbClr val="3FD9C4">
              <a:alpha val="50000"/>
            </a:srgbClr>
          </a:solidFill>
          <a:ln w="10160">
            <a:solidFill>
              <a:srgbClr val="3FD9C4"/>
            </a:solidFill>
            <a:prstDash val="solid"/>
          </a:ln>
        </p:spPr>
        <p:txBody>
          <a:bodyPr/>
          <a:lstStyle/>
          <a:p>
            <a:endParaRPr lang="en-US"/>
          </a:p>
        </p:txBody>
      </p:sp>
      <p:sp>
        <p:nvSpPr>
          <p:cNvPr id="78" name="Text 76"/>
          <p:cNvSpPr/>
          <p:nvPr/>
        </p:nvSpPr>
        <p:spPr>
          <a:xfrm>
            <a:off x="822960" y="2624328"/>
            <a:ext cx="914400" cy="201168"/>
          </a:xfrm>
          <a:prstGeom prst="rect">
            <a:avLst/>
          </a:prstGeom>
          <a:noFill/>
          <a:ln/>
        </p:spPr>
        <p:txBody>
          <a:bodyPr wrap="square" lIns="0" tIns="0" rIns="0" bIns="0" rtlCol="0" anchor="ctr"/>
          <a:lstStyle/>
          <a:p>
            <a:pPr marL="0" indent="0">
              <a:buNone/>
            </a:pPr>
            <a:r>
              <a:rPr lang="en-US" sz="950" dirty="0">
                <a:solidFill>
                  <a:srgbClr val="3FD9C4"/>
                </a:solidFill>
                <a:latin typeface="Calibri" pitchFamily="34" charset="0"/>
                <a:ea typeface="Calibri" pitchFamily="34" charset="-122"/>
                <a:cs typeface="Calibri" pitchFamily="34" charset="-120"/>
              </a:rPr>
              <a:t>File A</a:t>
            </a:r>
            <a:endParaRPr lang="en-US" sz="950" dirty="0"/>
          </a:p>
        </p:txBody>
      </p:sp>
      <p:sp>
        <p:nvSpPr>
          <p:cNvPr id="79" name="Shape 77"/>
          <p:cNvSpPr/>
          <p:nvPr/>
        </p:nvSpPr>
        <p:spPr>
          <a:xfrm>
            <a:off x="1828800" y="2615184"/>
            <a:ext cx="228600" cy="228600"/>
          </a:xfrm>
          <a:prstGeom prst="rect">
            <a:avLst/>
          </a:prstGeom>
          <a:solidFill>
            <a:srgbClr val="BC8CFF">
              <a:alpha val="50000"/>
            </a:srgbClr>
          </a:solidFill>
          <a:ln w="10160">
            <a:solidFill>
              <a:srgbClr val="BC8CFF"/>
            </a:solidFill>
            <a:prstDash val="solid"/>
          </a:ln>
        </p:spPr>
        <p:txBody>
          <a:bodyPr/>
          <a:lstStyle/>
          <a:p>
            <a:endParaRPr lang="en-US"/>
          </a:p>
        </p:txBody>
      </p:sp>
      <p:sp>
        <p:nvSpPr>
          <p:cNvPr id="80" name="Text 78"/>
          <p:cNvSpPr/>
          <p:nvPr/>
        </p:nvSpPr>
        <p:spPr>
          <a:xfrm>
            <a:off x="2103120" y="2624328"/>
            <a:ext cx="914400" cy="201168"/>
          </a:xfrm>
          <a:prstGeom prst="rect">
            <a:avLst/>
          </a:prstGeom>
          <a:noFill/>
          <a:ln/>
        </p:spPr>
        <p:txBody>
          <a:bodyPr wrap="square" lIns="0" tIns="0" rIns="0" bIns="0" rtlCol="0" anchor="ctr"/>
          <a:lstStyle/>
          <a:p>
            <a:pPr marL="0" indent="0">
              <a:buNone/>
            </a:pPr>
            <a:r>
              <a:rPr lang="en-US" sz="950" dirty="0">
                <a:solidFill>
                  <a:srgbClr val="BC8CFF"/>
                </a:solidFill>
                <a:latin typeface="Calibri" pitchFamily="34" charset="0"/>
                <a:ea typeface="Calibri" pitchFamily="34" charset="-122"/>
                <a:cs typeface="Calibri" pitchFamily="34" charset="-120"/>
              </a:rPr>
              <a:t>File B</a:t>
            </a:r>
            <a:endParaRPr lang="en-US" sz="950" dirty="0"/>
          </a:p>
        </p:txBody>
      </p:sp>
      <p:sp>
        <p:nvSpPr>
          <p:cNvPr id="81" name="Shape 79"/>
          <p:cNvSpPr/>
          <p:nvPr/>
        </p:nvSpPr>
        <p:spPr>
          <a:xfrm>
            <a:off x="3108960" y="2615184"/>
            <a:ext cx="228600" cy="228600"/>
          </a:xfrm>
          <a:prstGeom prst="rect">
            <a:avLst/>
          </a:prstGeom>
          <a:solidFill>
            <a:srgbClr val="FFA657">
              <a:alpha val="50000"/>
            </a:srgbClr>
          </a:solidFill>
          <a:ln w="10160">
            <a:solidFill>
              <a:srgbClr val="FFA657"/>
            </a:solidFill>
            <a:prstDash val="solid"/>
          </a:ln>
        </p:spPr>
        <p:txBody>
          <a:bodyPr/>
          <a:lstStyle/>
          <a:p>
            <a:endParaRPr lang="en-US"/>
          </a:p>
        </p:txBody>
      </p:sp>
      <p:sp>
        <p:nvSpPr>
          <p:cNvPr id="82" name="Text 80"/>
          <p:cNvSpPr/>
          <p:nvPr/>
        </p:nvSpPr>
        <p:spPr>
          <a:xfrm>
            <a:off x="3383280" y="2624328"/>
            <a:ext cx="914400" cy="201168"/>
          </a:xfrm>
          <a:prstGeom prst="rect">
            <a:avLst/>
          </a:prstGeom>
          <a:noFill/>
          <a:ln/>
        </p:spPr>
        <p:txBody>
          <a:bodyPr wrap="square" lIns="0" tIns="0" rIns="0" bIns="0" rtlCol="0" anchor="ctr"/>
          <a:lstStyle/>
          <a:p>
            <a:pPr marL="0" indent="0">
              <a:buNone/>
            </a:pPr>
            <a:r>
              <a:rPr lang="en-US" sz="950" dirty="0">
                <a:solidFill>
                  <a:srgbClr val="FFA657"/>
                </a:solidFill>
                <a:latin typeface="Calibri" pitchFamily="34" charset="0"/>
                <a:ea typeface="Calibri" pitchFamily="34" charset="-122"/>
                <a:cs typeface="Calibri" pitchFamily="34" charset="-120"/>
              </a:rPr>
              <a:t>File C</a:t>
            </a:r>
            <a:endParaRPr lang="en-US" sz="950" dirty="0"/>
          </a:p>
        </p:txBody>
      </p:sp>
      <p:sp>
        <p:nvSpPr>
          <p:cNvPr id="83" name="Shape 81"/>
          <p:cNvSpPr/>
          <p:nvPr/>
        </p:nvSpPr>
        <p:spPr>
          <a:xfrm>
            <a:off x="4389120" y="2615184"/>
            <a:ext cx="228600" cy="228600"/>
          </a:xfrm>
          <a:prstGeom prst="rect">
            <a:avLst/>
          </a:prstGeom>
          <a:solidFill>
            <a:srgbClr val="3FB950">
              <a:alpha val="50000"/>
            </a:srgbClr>
          </a:solidFill>
          <a:ln w="10160">
            <a:solidFill>
              <a:srgbClr val="3FB950"/>
            </a:solidFill>
            <a:prstDash val="solid"/>
          </a:ln>
        </p:spPr>
        <p:txBody>
          <a:bodyPr/>
          <a:lstStyle/>
          <a:p>
            <a:endParaRPr lang="en-US"/>
          </a:p>
        </p:txBody>
      </p:sp>
      <p:sp>
        <p:nvSpPr>
          <p:cNvPr id="84" name="Text 82"/>
          <p:cNvSpPr/>
          <p:nvPr/>
        </p:nvSpPr>
        <p:spPr>
          <a:xfrm>
            <a:off x="4663440" y="2624328"/>
            <a:ext cx="914400" cy="201168"/>
          </a:xfrm>
          <a:prstGeom prst="rect">
            <a:avLst/>
          </a:prstGeom>
          <a:noFill/>
          <a:ln/>
        </p:spPr>
        <p:txBody>
          <a:bodyPr wrap="square" lIns="0" tIns="0" rIns="0" bIns="0" rtlCol="0" anchor="ctr"/>
          <a:lstStyle/>
          <a:p>
            <a:pPr marL="0" indent="0">
              <a:buNone/>
            </a:pPr>
            <a:r>
              <a:rPr lang="en-US" sz="950" dirty="0">
                <a:solidFill>
                  <a:srgbClr val="3FB950"/>
                </a:solidFill>
                <a:latin typeface="Calibri" pitchFamily="34" charset="0"/>
                <a:ea typeface="Calibri" pitchFamily="34" charset="-122"/>
                <a:cs typeface="Calibri" pitchFamily="34" charset="-120"/>
              </a:rPr>
              <a:t>File D</a:t>
            </a:r>
            <a:endParaRPr lang="en-US" sz="950" dirty="0"/>
          </a:p>
        </p:txBody>
      </p:sp>
      <p:sp>
        <p:nvSpPr>
          <p:cNvPr id="85" name="Shape 83"/>
          <p:cNvSpPr/>
          <p:nvPr/>
        </p:nvSpPr>
        <p:spPr>
          <a:xfrm>
            <a:off x="411480" y="2944368"/>
            <a:ext cx="4160520" cy="1481328"/>
          </a:xfrm>
          <a:prstGeom prst="rect">
            <a:avLst/>
          </a:prstGeom>
          <a:solidFill>
            <a:srgbClr val="161B26"/>
          </a:solidFill>
          <a:ln w="15240">
            <a:solidFill>
              <a:srgbClr val="F85149"/>
            </a:solidFill>
            <a:prstDash val="solid"/>
          </a:ln>
          <a:effectLst>
            <a:outerShdw blurRad="177800" dist="38100" dir="8100000" algn="bl" rotWithShape="0">
              <a:srgbClr val="000000">
                <a:alpha val="35000"/>
              </a:srgbClr>
            </a:outerShdw>
          </a:effectLst>
        </p:spPr>
        <p:txBody>
          <a:bodyPr/>
          <a:lstStyle/>
          <a:p>
            <a:endParaRPr lang="en-US"/>
          </a:p>
        </p:txBody>
      </p:sp>
      <p:sp>
        <p:nvSpPr>
          <p:cNvPr id="86" name="Shape 84"/>
          <p:cNvSpPr/>
          <p:nvPr/>
        </p:nvSpPr>
        <p:spPr>
          <a:xfrm>
            <a:off x="411480" y="2944368"/>
            <a:ext cx="4160520" cy="329184"/>
          </a:xfrm>
          <a:prstGeom prst="rect">
            <a:avLst/>
          </a:prstGeom>
          <a:solidFill>
            <a:srgbClr val="F85149">
              <a:alpha val="78000"/>
            </a:srgbClr>
          </a:solidFill>
          <a:ln w="12700">
            <a:solidFill>
              <a:srgbClr val="F85149"/>
            </a:solidFill>
            <a:prstDash val="solid"/>
          </a:ln>
        </p:spPr>
        <p:txBody>
          <a:bodyPr/>
          <a:lstStyle/>
          <a:p>
            <a:endParaRPr lang="en-US"/>
          </a:p>
        </p:txBody>
      </p:sp>
      <p:sp>
        <p:nvSpPr>
          <p:cNvPr id="87" name="Text 85"/>
          <p:cNvSpPr/>
          <p:nvPr/>
        </p:nvSpPr>
        <p:spPr>
          <a:xfrm>
            <a:off x="548640" y="2990088"/>
            <a:ext cx="3895344" cy="256032"/>
          </a:xfrm>
          <a:prstGeom prst="rect">
            <a:avLst/>
          </a:prstGeom>
          <a:noFill/>
          <a:ln/>
        </p:spPr>
        <p:txBody>
          <a:bodyPr wrap="square" lIns="0" tIns="0" rIns="0" bIns="0" rtlCol="0" anchor="ctr"/>
          <a:lstStyle/>
          <a:p>
            <a:pPr marL="0" indent="0">
              <a:buNone/>
            </a:pPr>
            <a:r>
              <a:rPr lang="en-US" sz="1100" b="1" dirty="0">
                <a:solidFill>
                  <a:srgbClr val="F85149"/>
                </a:solidFill>
                <a:latin typeface="Calibri" pitchFamily="34" charset="0"/>
                <a:ea typeface="Calibri" pitchFamily="34" charset="-122"/>
                <a:cs typeface="Calibri" pitchFamily="34" charset="-120"/>
              </a:rPr>
              <a:t>🐢  Fragmentation</a:t>
            </a:r>
            <a:endParaRPr lang="en-US" sz="1100" dirty="0"/>
          </a:p>
        </p:txBody>
      </p:sp>
      <p:sp>
        <p:nvSpPr>
          <p:cNvPr id="88" name="Text 86"/>
          <p:cNvSpPr/>
          <p:nvPr/>
        </p:nvSpPr>
        <p:spPr>
          <a:xfrm>
            <a:off x="548640" y="3291840"/>
            <a:ext cx="3895344" cy="1078992"/>
          </a:xfrm>
          <a:prstGeom prst="rect">
            <a:avLst/>
          </a:prstGeom>
          <a:noFill/>
          <a:ln/>
        </p:spPr>
        <p:txBody>
          <a:bodyPr wrap="square" lIns="0" tIns="0" rIns="0" bIns="0" rtlCol="0" anchor="ctr"/>
          <a:lstStyle/>
          <a:p>
            <a:pPr marL="0" indent="0">
              <a:buNone/>
            </a:pPr>
            <a:r>
              <a:rPr lang="en-US" sz="1050" b="1" dirty="0">
                <a:solidFill>
                  <a:srgbClr val="F85149"/>
                </a:solidFill>
                <a:latin typeface="Calibri" pitchFamily="34" charset="0"/>
                <a:ea typeface="Calibri" pitchFamily="34" charset="-122"/>
                <a:cs typeface="Calibri" pitchFamily="34" charset="-120"/>
              </a:rPr>
              <a:t>Cause:  </a:t>
            </a:r>
            <a:r>
              <a:rPr lang="en-US" sz="1050" dirty="0">
                <a:solidFill>
                  <a:srgbClr val="F0F6FC"/>
                </a:solidFill>
                <a:latin typeface="Calibri" pitchFamily="34" charset="0"/>
                <a:ea typeface="Calibri" pitchFamily="34" charset="-122"/>
                <a:cs typeface="Calibri" pitchFamily="34" charset="-120"/>
              </a:rPr>
              <a:t>As files are created, edited and deleted, free blocks become scattered. New files fill gaps — their blocks end up non-contiguous.</a:t>
            </a:r>
            <a:endParaRPr lang="en-US" sz="1050" dirty="0"/>
          </a:p>
          <a:p>
            <a:pPr marL="0" indent="0">
              <a:buNone/>
            </a:pPr>
            <a:endParaRPr lang="en-US" sz="1050" dirty="0"/>
          </a:p>
          <a:p>
            <a:pPr marL="0" indent="0">
              <a:buNone/>
            </a:pPr>
            <a:r>
              <a:rPr lang="en-US" sz="1050" b="1" dirty="0">
                <a:solidFill>
                  <a:srgbClr val="F85149"/>
                </a:solidFill>
                <a:latin typeface="Calibri" pitchFamily="34" charset="0"/>
                <a:ea typeface="Calibri" pitchFamily="34" charset="-122"/>
                <a:cs typeface="Calibri" pitchFamily="34" charset="-120"/>
              </a:rPr>
              <a:t>Effect:  </a:t>
            </a:r>
            <a:endParaRPr lang="en-US" sz="1050" dirty="0"/>
          </a:p>
          <a:p>
            <a:pPr marL="0" indent="0">
              <a:buNone/>
            </a:pPr>
            <a:r>
              <a:rPr lang="en-US" sz="1050" dirty="0">
                <a:solidFill>
                  <a:srgbClr val="F0F6FC"/>
                </a:solidFill>
                <a:latin typeface="Calibri" pitchFamily="34" charset="0"/>
                <a:ea typeface="Calibri" pitchFamily="34" charset="-122"/>
                <a:cs typeface="Calibri" pitchFamily="34" charset="-120"/>
              </a:rPr>
              <a:t>Reading one fragmented file requires many disk seeks (especially on HDDs). Each seek = 5–15 ms. 100 fragments = 0.5–1.5 seconds wasted.</a:t>
            </a:r>
            <a:endParaRPr lang="en-US" sz="1050" dirty="0"/>
          </a:p>
        </p:txBody>
      </p:sp>
      <p:sp>
        <p:nvSpPr>
          <p:cNvPr id="89" name="Shape 87"/>
          <p:cNvSpPr/>
          <p:nvPr/>
        </p:nvSpPr>
        <p:spPr>
          <a:xfrm>
            <a:off x="4663440" y="2944368"/>
            <a:ext cx="4069080" cy="1481328"/>
          </a:xfrm>
          <a:prstGeom prst="rect">
            <a:avLst/>
          </a:prstGeom>
          <a:solidFill>
            <a:srgbClr val="161B26"/>
          </a:solidFill>
          <a:ln w="15240">
            <a:solidFill>
              <a:srgbClr val="3FB950"/>
            </a:solidFill>
            <a:prstDash val="solid"/>
          </a:ln>
          <a:effectLst>
            <a:outerShdw blurRad="177800" dist="38100" dir="8100000" algn="bl" rotWithShape="0">
              <a:srgbClr val="000000">
                <a:alpha val="35000"/>
              </a:srgbClr>
            </a:outerShdw>
          </a:effectLst>
        </p:spPr>
        <p:txBody>
          <a:bodyPr/>
          <a:lstStyle/>
          <a:p>
            <a:endParaRPr lang="en-US"/>
          </a:p>
        </p:txBody>
      </p:sp>
      <p:sp>
        <p:nvSpPr>
          <p:cNvPr id="90" name="Shape 88"/>
          <p:cNvSpPr/>
          <p:nvPr/>
        </p:nvSpPr>
        <p:spPr>
          <a:xfrm>
            <a:off x="4663440" y="2944368"/>
            <a:ext cx="4069080" cy="329184"/>
          </a:xfrm>
          <a:prstGeom prst="rect">
            <a:avLst/>
          </a:prstGeom>
          <a:solidFill>
            <a:srgbClr val="3FB950">
              <a:alpha val="78000"/>
            </a:srgbClr>
          </a:solidFill>
          <a:ln w="12700">
            <a:solidFill>
              <a:srgbClr val="3FB950"/>
            </a:solidFill>
            <a:prstDash val="solid"/>
          </a:ln>
        </p:spPr>
        <p:txBody>
          <a:bodyPr/>
          <a:lstStyle/>
          <a:p>
            <a:endParaRPr lang="en-US"/>
          </a:p>
        </p:txBody>
      </p:sp>
      <p:sp>
        <p:nvSpPr>
          <p:cNvPr id="91" name="Text 89"/>
          <p:cNvSpPr/>
          <p:nvPr/>
        </p:nvSpPr>
        <p:spPr>
          <a:xfrm>
            <a:off x="4800600" y="2990088"/>
            <a:ext cx="3803904" cy="256032"/>
          </a:xfrm>
          <a:prstGeom prst="rect">
            <a:avLst/>
          </a:prstGeom>
          <a:noFill/>
          <a:ln/>
        </p:spPr>
        <p:txBody>
          <a:bodyPr wrap="square" lIns="0" tIns="0" rIns="0" bIns="0" rtlCol="0" anchor="ctr"/>
          <a:lstStyle/>
          <a:p>
            <a:pPr marL="0" indent="0">
              <a:buNone/>
            </a:pPr>
            <a:r>
              <a:rPr lang="en-US" sz="1100" b="1" dirty="0">
                <a:solidFill>
                  <a:srgbClr val="3FB950"/>
                </a:solidFill>
                <a:latin typeface="Calibri" pitchFamily="34" charset="0"/>
                <a:ea typeface="Calibri" pitchFamily="34" charset="-122"/>
                <a:cs typeface="Calibri" pitchFamily="34" charset="-120"/>
              </a:rPr>
              <a:t>⚡  Defragmentation</a:t>
            </a:r>
            <a:endParaRPr lang="en-US" sz="1100" dirty="0"/>
          </a:p>
        </p:txBody>
      </p:sp>
      <p:sp>
        <p:nvSpPr>
          <p:cNvPr id="92" name="Text 90"/>
          <p:cNvSpPr/>
          <p:nvPr/>
        </p:nvSpPr>
        <p:spPr>
          <a:xfrm>
            <a:off x="4800600" y="3291840"/>
            <a:ext cx="3803904" cy="1078992"/>
          </a:xfrm>
          <a:prstGeom prst="rect">
            <a:avLst/>
          </a:prstGeom>
          <a:noFill/>
          <a:ln/>
        </p:spPr>
        <p:txBody>
          <a:bodyPr wrap="square" lIns="0" tIns="0" rIns="0" bIns="0" rtlCol="0" anchor="ctr"/>
          <a:lstStyle/>
          <a:p>
            <a:pPr marL="0" indent="0">
              <a:buNone/>
            </a:pPr>
            <a:r>
              <a:rPr lang="en-US" sz="1050" b="1" dirty="0">
                <a:solidFill>
                  <a:srgbClr val="3FB950"/>
                </a:solidFill>
                <a:latin typeface="Calibri" pitchFamily="34" charset="0"/>
                <a:ea typeface="Calibri" pitchFamily="34" charset="-122"/>
                <a:cs typeface="Calibri" pitchFamily="34" charset="-120"/>
              </a:rPr>
              <a:t>How:  </a:t>
            </a:r>
            <a:r>
              <a:rPr lang="en-US" sz="1050" dirty="0">
                <a:solidFill>
                  <a:srgbClr val="F0F6FC"/>
                </a:solidFill>
                <a:latin typeface="Calibri" pitchFamily="34" charset="0"/>
                <a:ea typeface="Calibri" pitchFamily="34" charset="-122"/>
                <a:cs typeface="Calibri" pitchFamily="34" charset="-120"/>
              </a:rPr>
              <a:t>OS reads all fragmented file blocks and rewrites them contiguously. Updates all inode block lists.</a:t>
            </a:r>
            <a:endParaRPr lang="en-US" sz="1050" dirty="0"/>
          </a:p>
          <a:p>
            <a:pPr marL="0" indent="0">
              <a:buNone/>
            </a:pPr>
            <a:endParaRPr lang="en-US" sz="1050" dirty="0"/>
          </a:p>
          <a:p>
            <a:pPr marL="0" indent="0">
              <a:buNone/>
            </a:pPr>
            <a:r>
              <a:rPr lang="en-US" sz="1050" b="1" dirty="0">
                <a:solidFill>
                  <a:srgbClr val="3FD9C4"/>
                </a:solidFill>
                <a:latin typeface="Calibri" pitchFamily="34" charset="0"/>
                <a:ea typeface="Calibri" pitchFamily="34" charset="-122"/>
                <a:cs typeface="Calibri" pitchFamily="34" charset="-120"/>
              </a:rPr>
              <a:t>SSDs:  </a:t>
            </a:r>
            <a:endParaRPr lang="en-US" sz="1050" dirty="0"/>
          </a:p>
          <a:p>
            <a:pPr marL="0" indent="0">
              <a:buNone/>
            </a:pPr>
            <a:r>
              <a:rPr lang="en-US" sz="1050" dirty="0">
                <a:solidFill>
                  <a:srgbClr val="F0F6FC"/>
                </a:solidFill>
                <a:latin typeface="Calibri" pitchFamily="34" charset="0"/>
                <a:ea typeface="Calibri" pitchFamily="34" charset="-122"/>
                <a:cs typeface="Calibri" pitchFamily="34" charset="-120"/>
              </a:rPr>
              <a:t>Don't defragment SSDs. They have no moving parts — fragmentation has minimal impact. Defrag wears out SSD cells. Windows automatically skips SSDs.</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FILE IDENTIFICATION</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File Types &amp; Magic Bytes</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Extensions are just hints — the true type is hidden in the first bytes of the file</a:t>
            </a:r>
            <a:endParaRPr lang="en-US" sz="1300" dirty="0"/>
          </a:p>
        </p:txBody>
      </p:sp>
      <p:sp>
        <p:nvSpPr>
          <p:cNvPr id="7" name="Shape 5"/>
          <p:cNvSpPr/>
          <p:nvPr/>
        </p:nvSpPr>
        <p:spPr>
          <a:xfrm>
            <a:off x="411480" y="1170432"/>
            <a:ext cx="8321040" cy="640080"/>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8" name="Text 6"/>
          <p:cNvSpPr/>
          <p:nvPr/>
        </p:nvSpPr>
        <p:spPr>
          <a:xfrm>
            <a:off x="594360" y="1234440"/>
            <a:ext cx="7955280" cy="512064"/>
          </a:xfrm>
          <a:prstGeom prst="rect">
            <a:avLst/>
          </a:prstGeom>
          <a:noFill/>
          <a:ln/>
        </p:spPr>
        <p:txBody>
          <a:bodyPr wrap="square" lIns="0" tIns="0" rIns="0" bIns="0" rtlCol="0" anchor="ctr"/>
          <a:lstStyle/>
          <a:p>
            <a:pPr marL="0" indent="0">
              <a:buNone/>
            </a:pPr>
            <a:r>
              <a:rPr lang="en-US" sz="1200" b="1" dirty="0">
                <a:solidFill>
                  <a:srgbClr val="FFA657"/>
                </a:solidFill>
                <a:latin typeface="Calibri" pitchFamily="34" charset="0"/>
                <a:ea typeface="Calibri" pitchFamily="34" charset="-122"/>
                <a:cs typeface="Calibri" pitchFamily="34" charset="-120"/>
              </a:rPr>
              <a:t>Extension myth:  </a:t>
            </a:r>
            <a:r>
              <a:rPr lang="en-US" sz="1200" dirty="0">
                <a:solidFill>
                  <a:srgbClr val="F0F6FC"/>
                </a:solidFill>
                <a:latin typeface="Calibri" pitchFamily="34" charset="0"/>
                <a:ea typeface="Calibri" pitchFamily="34" charset="-122"/>
                <a:cs typeface="Calibri" pitchFamily="34" charset="-120"/>
              </a:rPr>
              <a:t>Renaming  </a:t>
            </a:r>
            <a:r>
              <a:rPr lang="en-US" sz="1200" b="1" dirty="0">
                <a:solidFill>
                  <a:srgbClr val="3FD9C4"/>
                </a:solidFill>
                <a:latin typeface="Calibri" pitchFamily="34" charset="0"/>
                <a:ea typeface="Calibri" pitchFamily="34" charset="-122"/>
                <a:cs typeface="Calibri" pitchFamily="34" charset="-120"/>
              </a:rPr>
              <a:t>photo.jpg  </a:t>
            </a:r>
            <a:r>
              <a:rPr lang="en-US" sz="1200" dirty="0">
                <a:solidFill>
                  <a:srgbClr val="F0F6FC"/>
                </a:solidFill>
                <a:latin typeface="Calibri" pitchFamily="34" charset="0"/>
                <a:ea typeface="Calibri" pitchFamily="34" charset="-122"/>
                <a:cs typeface="Calibri" pitchFamily="34" charset="-120"/>
              </a:rPr>
              <a:t>to  </a:t>
            </a:r>
            <a:r>
              <a:rPr lang="en-US" sz="1200" b="1" dirty="0">
                <a:solidFill>
                  <a:srgbClr val="F85149"/>
                </a:solidFill>
                <a:latin typeface="Calibri" pitchFamily="34" charset="0"/>
                <a:ea typeface="Calibri" pitchFamily="34" charset="-122"/>
                <a:cs typeface="Calibri" pitchFamily="34" charset="-120"/>
              </a:rPr>
              <a:t>photo.pdf  </a:t>
            </a:r>
            <a:r>
              <a:rPr lang="en-US" sz="1200" dirty="0">
                <a:solidFill>
                  <a:srgbClr val="8B949E"/>
                </a:solidFill>
                <a:latin typeface="Calibri" pitchFamily="34" charset="0"/>
                <a:ea typeface="Calibri" pitchFamily="34" charset="-122"/>
                <a:cs typeface="Calibri" pitchFamily="34" charset="-120"/>
              </a:rPr>
              <a:t>does NOT convert the file. The bytes inside are still JPEG data. Programs that read the magic bytes will still identify it correctly.</a:t>
            </a:r>
            <a:endParaRPr lang="en-US" sz="1200" dirty="0"/>
          </a:p>
        </p:txBody>
      </p:sp>
      <p:sp>
        <p:nvSpPr>
          <p:cNvPr id="9" name="Shape 7"/>
          <p:cNvSpPr/>
          <p:nvPr/>
        </p:nvSpPr>
        <p:spPr>
          <a:xfrm>
            <a:off x="411480" y="1920240"/>
            <a:ext cx="8321040" cy="2542032"/>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10" name="Shape 8"/>
          <p:cNvSpPr/>
          <p:nvPr/>
        </p:nvSpPr>
        <p:spPr>
          <a:xfrm>
            <a:off x="411480" y="1920240"/>
            <a:ext cx="8321040"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11" name="Text 9"/>
          <p:cNvSpPr/>
          <p:nvPr/>
        </p:nvSpPr>
        <p:spPr>
          <a:xfrm>
            <a:off x="548640" y="1965960"/>
            <a:ext cx="8046720" cy="256032"/>
          </a:xfrm>
          <a:prstGeom prst="rect">
            <a:avLst/>
          </a:prstGeom>
          <a:noFill/>
          <a:ln/>
        </p:spPr>
        <p:txBody>
          <a:bodyPr wrap="square" lIns="0" tIns="0" rIns="0" bIns="0" rtlCol="0" anchor="ctr"/>
          <a:lstStyle/>
          <a:p>
            <a:pPr marL="0" indent="0">
              <a:buNone/>
            </a:pPr>
            <a:r>
              <a:rPr lang="en-US" sz="1100" b="1" dirty="0">
                <a:solidFill>
                  <a:srgbClr val="BC8CFF"/>
                </a:solidFill>
                <a:latin typeface="Calibri" pitchFamily="34" charset="0"/>
                <a:ea typeface="Calibri" pitchFamily="34" charset="-122"/>
                <a:cs typeface="Calibri" pitchFamily="34" charset="-120"/>
              </a:rPr>
              <a:t>🔮  Magic Bytes — File Signatures (first bytes identify the format)</a:t>
            </a:r>
            <a:endParaRPr lang="en-US" sz="1100" dirty="0"/>
          </a:p>
        </p:txBody>
      </p:sp>
      <p:sp>
        <p:nvSpPr>
          <p:cNvPr id="12" name="Text 10"/>
          <p:cNvSpPr/>
          <p:nvPr/>
        </p:nvSpPr>
        <p:spPr>
          <a:xfrm>
            <a:off x="548640" y="2304288"/>
            <a:ext cx="822960" cy="219456"/>
          </a:xfrm>
          <a:prstGeom prst="rect">
            <a:avLst/>
          </a:prstGeom>
          <a:noFill/>
          <a:ln/>
        </p:spPr>
        <p:txBody>
          <a:bodyPr wrap="square" lIns="0" tIns="0" rIns="0" bIns="0" rtlCol="0" anchor="ctr"/>
          <a:lstStyle/>
          <a:p>
            <a:pPr marL="0" indent="0">
              <a:buNone/>
            </a:pPr>
            <a:r>
              <a:rPr lang="en-US" sz="950" b="1" dirty="0">
                <a:solidFill>
                  <a:srgbClr val="BC8CFF"/>
                </a:solidFill>
                <a:latin typeface="Calibri" pitchFamily="34" charset="0"/>
                <a:ea typeface="Calibri" pitchFamily="34" charset="-122"/>
                <a:cs typeface="Calibri" pitchFamily="34" charset="-120"/>
              </a:rPr>
              <a:t>File Type</a:t>
            </a:r>
            <a:endParaRPr lang="en-US" sz="950" dirty="0"/>
          </a:p>
        </p:txBody>
      </p:sp>
      <p:sp>
        <p:nvSpPr>
          <p:cNvPr id="13" name="Text 11"/>
          <p:cNvSpPr/>
          <p:nvPr/>
        </p:nvSpPr>
        <p:spPr>
          <a:xfrm>
            <a:off x="1417320" y="2304288"/>
            <a:ext cx="914400" cy="219456"/>
          </a:xfrm>
          <a:prstGeom prst="rect">
            <a:avLst/>
          </a:prstGeom>
          <a:noFill/>
          <a:ln/>
        </p:spPr>
        <p:txBody>
          <a:bodyPr wrap="square" lIns="0" tIns="0" rIns="0" bIns="0" rtlCol="0" anchor="ctr"/>
          <a:lstStyle/>
          <a:p>
            <a:pPr marL="0" indent="0">
              <a:buNone/>
            </a:pPr>
            <a:r>
              <a:rPr lang="en-US" sz="950" b="1" dirty="0">
                <a:solidFill>
                  <a:srgbClr val="BC8CFF"/>
                </a:solidFill>
                <a:latin typeface="Calibri" pitchFamily="34" charset="0"/>
                <a:ea typeface="Calibri" pitchFamily="34" charset="-122"/>
                <a:cs typeface="Calibri" pitchFamily="34" charset="-120"/>
              </a:rPr>
              <a:t>Extension</a:t>
            </a:r>
            <a:endParaRPr lang="en-US" sz="950" dirty="0"/>
          </a:p>
        </p:txBody>
      </p:sp>
      <p:sp>
        <p:nvSpPr>
          <p:cNvPr id="14" name="Text 12"/>
          <p:cNvSpPr/>
          <p:nvPr/>
        </p:nvSpPr>
        <p:spPr>
          <a:xfrm>
            <a:off x="2377440" y="2304288"/>
            <a:ext cx="1828800" cy="219456"/>
          </a:xfrm>
          <a:prstGeom prst="rect">
            <a:avLst/>
          </a:prstGeom>
          <a:noFill/>
          <a:ln/>
        </p:spPr>
        <p:txBody>
          <a:bodyPr wrap="square" lIns="0" tIns="0" rIns="0" bIns="0" rtlCol="0" anchor="ctr"/>
          <a:lstStyle/>
          <a:p>
            <a:pPr marL="0" indent="0">
              <a:buNone/>
            </a:pPr>
            <a:r>
              <a:rPr lang="en-US" sz="950" b="1" dirty="0">
                <a:solidFill>
                  <a:srgbClr val="BC8CFF"/>
                </a:solidFill>
                <a:latin typeface="Calibri" pitchFamily="34" charset="0"/>
                <a:ea typeface="Calibri" pitchFamily="34" charset="-122"/>
                <a:cs typeface="Calibri" pitchFamily="34" charset="-120"/>
              </a:rPr>
              <a:t>Magic Bytes (Hex)</a:t>
            </a:r>
            <a:endParaRPr lang="en-US" sz="950" dirty="0"/>
          </a:p>
        </p:txBody>
      </p:sp>
      <p:sp>
        <p:nvSpPr>
          <p:cNvPr id="15" name="Text 13"/>
          <p:cNvSpPr/>
          <p:nvPr/>
        </p:nvSpPr>
        <p:spPr>
          <a:xfrm>
            <a:off x="4251960" y="2304288"/>
            <a:ext cx="1645920" cy="219456"/>
          </a:xfrm>
          <a:prstGeom prst="rect">
            <a:avLst/>
          </a:prstGeom>
          <a:noFill/>
          <a:ln/>
        </p:spPr>
        <p:txBody>
          <a:bodyPr wrap="square" lIns="0" tIns="0" rIns="0" bIns="0" rtlCol="0" anchor="ctr"/>
          <a:lstStyle/>
          <a:p>
            <a:pPr marL="0" indent="0">
              <a:buNone/>
            </a:pPr>
            <a:r>
              <a:rPr lang="en-US" sz="950" b="1" dirty="0">
                <a:solidFill>
                  <a:srgbClr val="BC8CFF"/>
                </a:solidFill>
                <a:latin typeface="Calibri" pitchFamily="34" charset="0"/>
                <a:ea typeface="Calibri" pitchFamily="34" charset="-122"/>
                <a:cs typeface="Calibri" pitchFamily="34" charset="-120"/>
              </a:rPr>
              <a:t>Magic Bytes (ASCII)</a:t>
            </a:r>
            <a:endParaRPr lang="en-US" sz="950" dirty="0"/>
          </a:p>
        </p:txBody>
      </p:sp>
      <p:sp>
        <p:nvSpPr>
          <p:cNvPr id="16" name="Text 14"/>
          <p:cNvSpPr/>
          <p:nvPr/>
        </p:nvSpPr>
        <p:spPr>
          <a:xfrm>
            <a:off x="5943600" y="2304288"/>
            <a:ext cx="2743200" cy="219456"/>
          </a:xfrm>
          <a:prstGeom prst="rect">
            <a:avLst/>
          </a:prstGeom>
          <a:noFill/>
          <a:ln/>
        </p:spPr>
        <p:txBody>
          <a:bodyPr wrap="square" lIns="0" tIns="0" rIns="0" bIns="0" rtlCol="0" anchor="ctr"/>
          <a:lstStyle/>
          <a:p>
            <a:pPr marL="0" indent="0">
              <a:buNone/>
            </a:pPr>
            <a:r>
              <a:rPr lang="en-US" sz="950" b="1" dirty="0">
                <a:solidFill>
                  <a:srgbClr val="BC8CFF"/>
                </a:solidFill>
                <a:latin typeface="Calibri" pitchFamily="34" charset="0"/>
                <a:ea typeface="Calibri" pitchFamily="34" charset="-122"/>
                <a:cs typeface="Calibri" pitchFamily="34" charset="-120"/>
              </a:rPr>
              <a:t>Description</a:t>
            </a:r>
            <a:endParaRPr lang="en-US" sz="950" dirty="0"/>
          </a:p>
        </p:txBody>
      </p:sp>
      <p:sp>
        <p:nvSpPr>
          <p:cNvPr id="17" name="Shape 15"/>
          <p:cNvSpPr/>
          <p:nvPr/>
        </p:nvSpPr>
        <p:spPr>
          <a:xfrm>
            <a:off x="548640" y="2542032"/>
            <a:ext cx="8046720" cy="0"/>
          </a:xfrm>
          <a:prstGeom prst="line">
            <a:avLst/>
          </a:prstGeom>
          <a:noFill/>
          <a:ln w="10160">
            <a:solidFill>
              <a:srgbClr val="BC8CFF"/>
            </a:solidFill>
            <a:prstDash val="solid"/>
          </a:ln>
        </p:spPr>
        <p:txBody>
          <a:bodyPr/>
          <a:lstStyle/>
          <a:p>
            <a:endParaRPr lang="en-US"/>
          </a:p>
        </p:txBody>
      </p:sp>
      <p:sp>
        <p:nvSpPr>
          <p:cNvPr id="18" name="Shape 16"/>
          <p:cNvSpPr/>
          <p:nvPr/>
        </p:nvSpPr>
        <p:spPr>
          <a:xfrm>
            <a:off x="502920" y="2587752"/>
            <a:ext cx="8138160" cy="256032"/>
          </a:xfrm>
          <a:prstGeom prst="rect">
            <a:avLst/>
          </a:prstGeom>
          <a:solidFill>
            <a:srgbClr val="1C2333"/>
          </a:solidFill>
          <a:ln w="12700">
            <a:solidFill>
              <a:srgbClr val="1C2333"/>
            </a:solidFill>
            <a:prstDash val="solid"/>
          </a:ln>
        </p:spPr>
        <p:txBody>
          <a:bodyPr/>
          <a:lstStyle/>
          <a:p>
            <a:endParaRPr lang="en-US"/>
          </a:p>
        </p:txBody>
      </p:sp>
      <p:sp>
        <p:nvSpPr>
          <p:cNvPr id="19" name="Text 17"/>
          <p:cNvSpPr/>
          <p:nvPr/>
        </p:nvSpPr>
        <p:spPr>
          <a:xfrm>
            <a:off x="548640" y="2606040"/>
            <a:ext cx="822960" cy="219456"/>
          </a:xfrm>
          <a:prstGeom prst="rect">
            <a:avLst/>
          </a:prstGeom>
          <a:noFill/>
          <a:ln/>
        </p:spPr>
        <p:txBody>
          <a:bodyPr wrap="square" lIns="0" tIns="0" rIns="0" bIns="0" rtlCol="0" anchor="ctr"/>
          <a:lstStyle/>
          <a:p>
            <a:pPr marL="0" indent="0">
              <a:buNone/>
            </a:pPr>
            <a:r>
              <a:rPr lang="en-US" sz="950" b="1" dirty="0">
                <a:solidFill>
                  <a:srgbClr val="FFA657"/>
                </a:solidFill>
                <a:latin typeface="Consolas" pitchFamily="34" charset="0"/>
                <a:ea typeface="Consolas" pitchFamily="34" charset="-122"/>
                <a:cs typeface="Consolas" pitchFamily="34" charset="-120"/>
              </a:rPr>
              <a:t>JPEG</a:t>
            </a:r>
            <a:endParaRPr lang="en-US" sz="950" dirty="0"/>
          </a:p>
        </p:txBody>
      </p:sp>
      <p:sp>
        <p:nvSpPr>
          <p:cNvPr id="20" name="Text 18"/>
          <p:cNvSpPr/>
          <p:nvPr/>
        </p:nvSpPr>
        <p:spPr>
          <a:xfrm>
            <a:off x="1417320" y="2606040"/>
            <a:ext cx="914400" cy="219456"/>
          </a:xfrm>
          <a:prstGeom prst="rect">
            <a:avLst/>
          </a:prstGeom>
          <a:noFill/>
          <a:ln/>
        </p:spPr>
        <p:txBody>
          <a:bodyPr wrap="square" lIns="0" tIns="0" rIns="0" bIns="0" rtlCol="0" anchor="ctr"/>
          <a:lstStyle/>
          <a:p>
            <a:pPr marL="0" indent="0">
              <a:buNone/>
            </a:pPr>
            <a:r>
              <a:rPr lang="en-US" sz="950" dirty="0">
                <a:solidFill>
                  <a:srgbClr val="8B949E"/>
                </a:solidFill>
                <a:latin typeface="Consolas" pitchFamily="34" charset="0"/>
                <a:ea typeface="Consolas" pitchFamily="34" charset="-122"/>
                <a:cs typeface="Consolas" pitchFamily="34" charset="-120"/>
              </a:rPr>
              <a:t>.jpg</a:t>
            </a:r>
            <a:endParaRPr lang="en-US" sz="950" dirty="0"/>
          </a:p>
        </p:txBody>
      </p:sp>
      <p:sp>
        <p:nvSpPr>
          <p:cNvPr id="21" name="Text 19"/>
          <p:cNvSpPr/>
          <p:nvPr/>
        </p:nvSpPr>
        <p:spPr>
          <a:xfrm>
            <a:off x="2377440" y="2606040"/>
            <a:ext cx="1828800" cy="219456"/>
          </a:xfrm>
          <a:prstGeom prst="rect">
            <a:avLst/>
          </a:prstGeom>
          <a:noFill/>
          <a:ln/>
        </p:spPr>
        <p:txBody>
          <a:bodyPr wrap="square" lIns="0" tIns="0" rIns="0" bIns="0" rtlCol="0" anchor="ctr"/>
          <a:lstStyle/>
          <a:p>
            <a:pPr marL="0" indent="0">
              <a:buNone/>
            </a:pPr>
            <a:r>
              <a:rPr lang="en-US" sz="950" dirty="0">
                <a:solidFill>
                  <a:srgbClr val="3FD9C4"/>
                </a:solidFill>
                <a:latin typeface="Consolas" pitchFamily="34" charset="0"/>
                <a:ea typeface="Consolas" pitchFamily="34" charset="-122"/>
                <a:cs typeface="Consolas" pitchFamily="34" charset="-120"/>
              </a:rPr>
              <a:t>FF D8 FF E0</a:t>
            </a:r>
            <a:endParaRPr lang="en-US" sz="950" dirty="0"/>
          </a:p>
        </p:txBody>
      </p:sp>
      <p:sp>
        <p:nvSpPr>
          <p:cNvPr id="22" name="Text 20"/>
          <p:cNvSpPr/>
          <p:nvPr/>
        </p:nvSpPr>
        <p:spPr>
          <a:xfrm>
            <a:off x="4251960" y="2606040"/>
            <a:ext cx="1645920" cy="219456"/>
          </a:xfrm>
          <a:prstGeom prst="rect">
            <a:avLst/>
          </a:prstGeom>
          <a:noFill/>
          <a:ln/>
        </p:spPr>
        <p:txBody>
          <a:bodyPr wrap="square" lIns="0" tIns="0" rIns="0" bIns="0" rtlCol="0" anchor="ctr"/>
          <a:lstStyle/>
          <a:p>
            <a:pPr marL="0" indent="0">
              <a:buNone/>
            </a:pPr>
            <a:r>
              <a:rPr lang="en-US" sz="950" dirty="0">
                <a:solidFill>
                  <a:srgbClr val="FFA657"/>
                </a:solidFill>
                <a:latin typeface="Consolas" pitchFamily="34" charset="0"/>
                <a:ea typeface="Consolas" pitchFamily="34" charset="-122"/>
                <a:cs typeface="Consolas" pitchFamily="34" charset="-120"/>
              </a:rPr>
              <a:t>ÿØÿà</a:t>
            </a:r>
            <a:endParaRPr lang="en-US" sz="950" dirty="0"/>
          </a:p>
        </p:txBody>
      </p:sp>
      <p:sp>
        <p:nvSpPr>
          <p:cNvPr id="23" name="Text 21"/>
          <p:cNvSpPr/>
          <p:nvPr/>
        </p:nvSpPr>
        <p:spPr>
          <a:xfrm>
            <a:off x="5943600" y="2606040"/>
            <a:ext cx="2743200" cy="219456"/>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JPEG image — used in photos, web images</a:t>
            </a:r>
            <a:endParaRPr lang="en-US" sz="950" dirty="0"/>
          </a:p>
        </p:txBody>
      </p:sp>
      <p:sp>
        <p:nvSpPr>
          <p:cNvPr id="24" name="Shape 22"/>
          <p:cNvSpPr/>
          <p:nvPr/>
        </p:nvSpPr>
        <p:spPr>
          <a:xfrm>
            <a:off x="502920" y="2852928"/>
            <a:ext cx="8138160" cy="256032"/>
          </a:xfrm>
          <a:prstGeom prst="rect">
            <a:avLst/>
          </a:prstGeom>
          <a:solidFill>
            <a:srgbClr val="161B26"/>
          </a:solidFill>
          <a:ln w="12700">
            <a:solidFill>
              <a:srgbClr val="161B26"/>
            </a:solidFill>
            <a:prstDash val="solid"/>
          </a:ln>
        </p:spPr>
        <p:txBody>
          <a:bodyPr/>
          <a:lstStyle/>
          <a:p>
            <a:endParaRPr lang="en-US"/>
          </a:p>
        </p:txBody>
      </p:sp>
      <p:sp>
        <p:nvSpPr>
          <p:cNvPr id="25" name="Text 23"/>
          <p:cNvSpPr/>
          <p:nvPr/>
        </p:nvSpPr>
        <p:spPr>
          <a:xfrm>
            <a:off x="548640" y="2871216"/>
            <a:ext cx="822960" cy="219456"/>
          </a:xfrm>
          <a:prstGeom prst="rect">
            <a:avLst/>
          </a:prstGeom>
          <a:noFill/>
          <a:ln/>
        </p:spPr>
        <p:txBody>
          <a:bodyPr wrap="square" lIns="0" tIns="0" rIns="0" bIns="0" rtlCol="0" anchor="ctr"/>
          <a:lstStyle/>
          <a:p>
            <a:pPr marL="0" indent="0">
              <a:buNone/>
            </a:pPr>
            <a:r>
              <a:rPr lang="en-US" sz="950" b="1" dirty="0">
                <a:solidFill>
                  <a:srgbClr val="58A6FF"/>
                </a:solidFill>
                <a:latin typeface="Consolas" pitchFamily="34" charset="0"/>
                <a:ea typeface="Consolas" pitchFamily="34" charset="-122"/>
                <a:cs typeface="Consolas" pitchFamily="34" charset="-120"/>
              </a:rPr>
              <a:t>PNG</a:t>
            </a:r>
            <a:endParaRPr lang="en-US" sz="950" dirty="0"/>
          </a:p>
        </p:txBody>
      </p:sp>
      <p:sp>
        <p:nvSpPr>
          <p:cNvPr id="26" name="Text 24"/>
          <p:cNvSpPr/>
          <p:nvPr/>
        </p:nvSpPr>
        <p:spPr>
          <a:xfrm>
            <a:off x="1417320" y="2871216"/>
            <a:ext cx="914400" cy="219456"/>
          </a:xfrm>
          <a:prstGeom prst="rect">
            <a:avLst/>
          </a:prstGeom>
          <a:noFill/>
          <a:ln/>
        </p:spPr>
        <p:txBody>
          <a:bodyPr wrap="square" lIns="0" tIns="0" rIns="0" bIns="0" rtlCol="0" anchor="ctr"/>
          <a:lstStyle/>
          <a:p>
            <a:pPr marL="0" indent="0">
              <a:buNone/>
            </a:pPr>
            <a:r>
              <a:rPr lang="en-US" sz="950" dirty="0">
                <a:solidFill>
                  <a:srgbClr val="8B949E"/>
                </a:solidFill>
                <a:latin typeface="Consolas" pitchFamily="34" charset="0"/>
                <a:ea typeface="Consolas" pitchFamily="34" charset="-122"/>
                <a:cs typeface="Consolas" pitchFamily="34" charset="-120"/>
              </a:rPr>
              <a:t>.png</a:t>
            </a:r>
            <a:endParaRPr lang="en-US" sz="950" dirty="0"/>
          </a:p>
        </p:txBody>
      </p:sp>
      <p:sp>
        <p:nvSpPr>
          <p:cNvPr id="27" name="Text 25"/>
          <p:cNvSpPr/>
          <p:nvPr/>
        </p:nvSpPr>
        <p:spPr>
          <a:xfrm>
            <a:off x="2377440" y="2871216"/>
            <a:ext cx="1828800" cy="219456"/>
          </a:xfrm>
          <a:prstGeom prst="rect">
            <a:avLst/>
          </a:prstGeom>
          <a:noFill/>
          <a:ln/>
        </p:spPr>
        <p:txBody>
          <a:bodyPr wrap="square" lIns="0" tIns="0" rIns="0" bIns="0" rtlCol="0" anchor="ctr"/>
          <a:lstStyle/>
          <a:p>
            <a:pPr marL="0" indent="0">
              <a:buNone/>
            </a:pPr>
            <a:r>
              <a:rPr lang="en-US" sz="950" dirty="0">
                <a:solidFill>
                  <a:srgbClr val="3FD9C4"/>
                </a:solidFill>
                <a:latin typeface="Consolas" pitchFamily="34" charset="0"/>
                <a:ea typeface="Consolas" pitchFamily="34" charset="-122"/>
                <a:cs typeface="Consolas" pitchFamily="34" charset="-120"/>
              </a:rPr>
              <a:t>89 50 4E 47</a:t>
            </a:r>
            <a:endParaRPr lang="en-US" sz="950" dirty="0"/>
          </a:p>
        </p:txBody>
      </p:sp>
      <p:sp>
        <p:nvSpPr>
          <p:cNvPr id="28" name="Text 26"/>
          <p:cNvSpPr/>
          <p:nvPr/>
        </p:nvSpPr>
        <p:spPr>
          <a:xfrm>
            <a:off x="4251960" y="2871216"/>
            <a:ext cx="1645920" cy="219456"/>
          </a:xfrm>
          <a:prstGeom prst="rect">
            <a:avLst/>
          </a:prstGeom>
          <a:noFill/>
          <a:ln/>
        </p:spPr>
        <p:txBody>
          <a:bodyPr wrap="square" lIns="0" tIns="0" rIns="0" bIns="0" rtlCol="0" anchor="ctr"/>
          <a:lstStyle/>
          <a:p>
            <a:pPr marL="0" indent="0">
              <a:buNone/>
            </a:pPr>
            <a:r>
              <a:rPr lang="en-US" sz="950" dirty="0">
                <a:solidFill>
                  <a:srgbClr val="58A6FF"/>
                </a:solidFill>
                <a:latin typeface="Consolas" pitchFamily="34" charset="0"/>
                <a:ea typeface="Consolas" pitchFamily="34" charset="-122"/>
                <a:cs typeface="Consolas" pitchFamily="34" charset="-120"/>
              </a:rPr>
              <a:t>‰PNG</a:t>
            </a:r>
            <a:endParaRPr lang="en-US" sz="950" dirty="0"/>
          </a:p>
        </p:txBody>
      </p:sp>
      <p:sp>
        <p:nvSpPr>
          <p:cNvPr id="29" name="Text 27"/>
          <p:cNvSpPr/>
          <p:nvPr/>
        </p:nvSpPr>
        <p:spPr>
          <a:xfrm>
            <a:off x="5943600" y="2871216"/>
            <a:ext cx="2743200" cy="219456"/>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PNG image — supports transparency</a:t>
            </a:r>
            <a:endParaRPr lang="en-US" sz="950" dirty="0"/>
          </a:p>
        </p:txBody>
      </p:sp>
      <p:sp>
        <p:nvSpPr>
          <p:cNvPr id="30" name="Shape 28"/>
          <p:cNvSpPr/>
          <p:nvPr/>
        </p:nvSpPr>
        <p:spPr>
          <a:xfrm>
            <a:off x="502920" y="3118104"/>
            <a:ext cx="8138160" cy="256032"/>
          </a:xfrm>
          <a:prstGeom prst="rect">
            <a:avLst/>
          </a:prstGeom>
          <a:solidFill>
            <a:srgbClr val="1C2333"/>
          </a:solidFill>
          <a:ln w="12700">
            <a:solidFill>
              <a:srgbClr val="1C2333"/>
            </a:solidFill>
            <a:prstDash val="solid"/>
          </a:ln>
        </p:spPr>
        <p:txBody>
          <a:bodyPr/>
          <a:lstStyle/>
          <a:p>
            <a:endParaRPr lang="en-US"/>
          </a:p>
        </p:txBody>
      </p:sp>
      <p:sp>
        <p:nvSpPr>
          <p:cNvPr id="31" name="Text 29"/>
          <p:cNvSpPr/>
          <p:nvPr/>
        </p:nvSpPr>
        <p:spPr>
          <a:xfrm>
            <a:off x="548640" y="3136392"/>
            <a:ext cx="822960" cy="219456"/>
          </a:xfrm>
          <a:prstGeom prst="rect">
            <a:avLst/>
          </a:prstGeom>
          <a:noFill/>
          <a:ln/>
        </p:spPr>
        <p:txBody>
          <a:bodyPr wrap="square" lIns="0" tIns="0" rIns="0" bIns="0" rtlCol="0" anchor="ctr"/>
          <a:lstStyle/>
          <a:p>
            <a:pPr marL="0" indent="0">
              <a:buNone/>
            </a:pPr>
            <a:r>
              <a:rPr lang="en-US" sz="950" b="1" dirty="0">
                <a:solidFill>
                  <a:srgbClr val="F85149"/>
                </a:solidFill>
                <a:latin typeface="Consolas" pitchFamily="34" charset="0"/>
                <a:ea typeface="Consolas" pitchFamily="34" charset="-122"/>
                <a:cs typeface="Consolas" pitchFamily="34" charset="-120"/>
              </a:rPr>
              <a:t>PDF</a:t>
            </a:r>
            <a:endParaRPr lang="en-US" sz="950" dirty="0"/>
          </a:p>
        </p:txBody>
      </p:sp>
      <p:sp>
        <p:nvSpPr>
          <p:cNvPr id="32" name="Text 30"/>
          <p:cNvSpPr/>
          <p:nvPr/>
        </p:nvSpPr>
        <p:spPr>
          <a:xfrm>
            <a:off x="1417320" y="3136392"/>
            <a:ext cx="914400" cy="219456"/>
          </a:xfrm>
          <a:prstGeom prst="rect">
            <a:avLst/>
          </a:prstGeom>
          <a:noFill/>
          <a:ln/>
        </p:spPr>
        <p:txBody>
          <a:bodyPr wrap="square" lIns="0" tIns="0" rIns="0" bIns="0" rtlCol="0" anchor="ctr"/>
          <a:lstStyle/>
          <a:p>
            <a:pPr marL="0" indent="0">
              <a:buNone/>
            </a:pPr>
            <a:r>
              <a:rPr lang="en-US" sz="950" dirty="0">
                <a:solidFill>
                  <a:srgbClr val="8B949E"/>
                </a:solidFill>
                <a:latin typeface="Consolas" pitchFamily="34" charset="0"/>
                <a:ea typeface="Consolas" pitchFamily="34" charset="-122"/>
                <a:cs typeface="Consolas" pitchFamily="34" charset="-120"/>
              </a:rPr>
              <a:t>.pdf</a:t>
            </a:r>
            <a:endParaRPr lang="en-US" sz="950" dirty="0"/>
          </a:p>
        </p:txBody>
      </p:sp>
      <p:sp>
        <p:nvSpPr>
          <p:cNvPr id="33" name="Text 31"/>
          <p:cNvSpPr/>
          <p:nvPr/>
        </p:nvSpPr>
        <p:spPr>
          <a:xfrm>
            <a:off x="2377440" y="3136392"/>
            <a:ext cx="1828800" cy="219456"/>
          </a:xfrm>
          <a:prstGeom prst="rect">
            <a:avLst/>
          </a:prstGeom>
          <a:noFill/>
          <a:ln/>
        </p:spPr>
        <p:txBody>
          <a:bodyPr wrap="square" lIns="0" tIns="0" rIns="0" bIns="0" rtlCol="0" anchor="ctr"/>
          <a:lstStyle/>
          <a:p>
            <a:pPr marL="0" indent="0">
              <a:buNone/>
            </a:pPr>
            <a:r>
              <a:rPr lang="en-US" sz="950" dirty="0">
                <a:solidFill>
                  <a:srgbClr val="3FD9C4"/>
                </a:solidFill>
                <a:latin typeface="Consolas" pitchFamily="34" charset="0"/>
                <a:ea typeface="Consolas" pitchFamily="34" charset="-122"/>
                <a:cs typeface="Consolas" pitchFamily="34" charset="-120"/>
              </a:rPr>
              <a:t>25 50 44 46</a:t>
            </a:r>
            <a:endParaRPr lang="en-US" sz="950" dirty="0"/>
          </a:p>
        </p:txBody>
      </p:sp>
      <p:sp>
        <p:nvSpPr>
          <p:cNvPr id="34" name="Text 32"/>
          <p:cNvSpPr/>
          <p:nvPr/>
        </p:nvSpPr>
        <p:spPr>
          <a:xfrm>
            <a:off x="4251960" y="3136392"/>
            <a:ext cx="1645920" cy="219456"/>
          </a:xfrm>
          <a:prstGeom prst="rect">
            <a:avLst/>
          </a:prstGeom>
          <a:noFill/>
          <a:ln/>
        </p:spPr>
        <p:txBody>
          <a:bodyPr wrap="square" lIns="0" tIns="0" rIns="0" bIns="0" rtlCol="0" anchor="ctr"/>
          <a:lstStyle/>
          <a:p>
            <a:pPr marL="0" indent="0">
              <a:buNone/>
            </a:pPr>
            <a:r>
              <a:rPr lang="en-US" sz="950" dirty="0">
                <a:solidFill>
                  <a:srgbClr val="F85149"/>
                </a:solidFill>
                <a:latin typeface="Consolas" pitchFamily="34" charset="0"/>
                <a:ea typeface="Consolas" pitchFamily="34" charset="-122"/>
                <a:cs typeface="Consolas" pitchFamily="34" charset="-120"/>
              </a:rPr>
              <a:t>%PDF</a:t>
            </a:r>
            <a:endParaRPr lang="en-US" sz="950" dirty="0"/>
          </a:p>
        </p:txBody>
      </p:sp>
      <p:sp>
        <p:nvSpPr>
          <p:cNvPr id="35" name="Text 33"/>
          <p:cNvSpPr/>
          <p:nvPr/>
        </p:nvSpPr>
        <p:spPr>
          <a:xfrm>
            <a:off x="5943600" y="3136392"/>
            <a:ext cx="2743200" cy="219456"/>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PDF document — Adobe format</a:t>
            </a:r>
            <a:endParaRPr lang="en-US" sz="950" dirty="0"/>
          </a:p>
        </p:txBody>
      </p:sp>
      <p:sp>
        <p:nvSpPr>
          <p:cNvPr id="36" name="Shape 34"/>
          <p:cNvSpPr/>
          <p:nvPr/>
        </p:nvSpPr>
        <p:spPr>
          <a:xfrm>
            <a:off x="502920" y="3383280"/>
            <a:ext cx="8138160" cy="256032"/>
          </a:xfrm>
          <a:prstGeom prst="rect">
            <a:avLst/>
          </a:prstGeom>
          <a:solidFill>
            <a:srgbClr val="161B26"/>
          </a:solidFill>
          <a:ln w="12700">
            <a:solidFill>
              <a:srgbClr val="161B26"/>
            </a:solidFill>
            <a:prstDash val="solid"/>
          </a:ln>
        </p:spPr>
        <p:txBody>
          <a:bodyPr/>
          <a:lstStyle/>
          <a:p>
            <a:endParaRPr lang="en-US"/>
          </a:p>
        </p:txBody>
      </p:sp>
      <p:sp>
        <p:nvSpPr>
          <p:cNvPr id="37" name="Text 35"/>
          <p:cNvSpPr/>
          <p:nvPr/>
        </p:nvSpPr>
        <p:spPr>
          <a:xfrm>
            <a:off x="548640" y="3401568"/>
            <a:ext cx="822960" cy="219456"/>
          </a:xfrm>
          <a:prstGeom prst="rect">
            <a:avLst/>
          </a:prstGeom>
          <a:noFill/>
          <a:ln/>
        </p:spPr>
        <p:txBody>
          <a:bodyPr wrap="square" lIns="0" tIns="0" rIns="0" bIns="0" rtlCol="0" anchor="ctr"/>
          <a:lstStyle/>
          <a:p>
            <a:pPr marL="0" indent="0">
              <a:buNone/>
            </a:pPr>
            <a:r>
              <a:rPr lang="en-US" sz="950" b="1" dirty="0">
                <a:solidFill>
                  <a:srgbClr val="3FB950"/>
                </a:solidFill>
                <a:latin typeface="Consolas" pitchFamily="34" charset="0"/>
                <a:ea typeface="Consolas" pitchFamily="34" charset="-122"/>
                <a:cs typeface="Consolas" pitchFamily="34" charset="-120"/>
              </a:rPr>
              <a:t>ZIP</a:t>
            </a:r>
            <a:endParaRPr lang="en-US" sz="950" dirty="0"/>
          </a:p>
        </p:txBody>
      </p:sp>
      <p:sp>
        <p:nvSpPr>
          <p:cNvPr id="38" name="Text 36"/>
          <p:cNvSpPr/>
          <p:nvPr/>
        </p:nvSpPr>
        <p:spPr>
          <a:xfrm>
            <a:off x="1417320" y="3401568"/>
            <a:ext cx="914400" cy="219456"/>
          </a:xfrm>
          <a:prstGeom prst="rect">
            <a:avLst/>
          </a:prstGeom>
          <a:noFill/>
          <a:ln/>
        </p:spPr>
        <p:txBody>
          <a:bodyPr wrap="square" lIns="0" tIns="0" rIns="0" bIns="0" rtlCol="0" anchor="ctr"/>
          <a:lstStyle/>
          <a:p>
            <a:pPr marL="0" indent="0">
              <a:buNone/>
            </a:pPr>
            <a:r>
              <a:rPr lang="en-US" sz="950" dirty="0">
                <a:solidFill>
                  <a:srgbClr val="8B949E"/>
                </a:solidFill>
                <a:latin typeface="Consolas" pitchFamily="34" charset="0"/>
                <a:ea typeface="Consolas" pitchFamily="34" charset="-122"/>
                <a:cs typeface="Consolas" pitchFamily="34" charset="-120"/>
              </a:rPr>
              <a:t>.zip</a:t>
            </a:r>
            <a:endParaRPr lang="en-US" sz="950" dirty="0"/>
          </a:p>
        </p:txBody>
      </p:sp>
      <p:sp>
        <p:nvSpPr>
          <p:cNvPr id="39" name="Text 37"/>
          <p:cNvSpPr/>
          <p:nvPr/>
        </p:nvSpPr>
        <p:spPr>
          <a:xfrm>
            <a:off x="2377440" y="3401568"/>
            <a:ext cx="1828800" cy="219456"/>
          </a:xfrm>
          <a:prstGeom prst="rect">
            <a:avLst/>
          </a:prstGeom>
          <a:noFill/>
          <a:ln/>
        </p:spPr>
        <p:txBody>
          <a:bodyPr wrap="square" lIns="0" tIns="0" rIns="0" bIns="0" rtlCol="0" anchor="ctr"/>
          <a:lstStyle/>
          <a:p>
            <a:pPr marL="0" indent="0">
              <a:buNone/>
            </a:pPr>
            <a:r>
              <a:rPr lang="en-US" sz="950" dirty="0">
                <a:solidFill>
                  <a:srgbClr val="3FD9C4"/>
                </a:solidFill>
                <a:latin typeface="Consolas" pitchFamily="34" charset="0"/>
                <a:ea typeface="Consolas" pitchFamily="34" charset="-122"/>
                <a:cs typeface="Consolas" pitchFamily="34" charset="-120"/>
              </a:rPr>
              <a:t>50 4B 03 04</a:t>
            </a:r>
            <a:endParaRPr lang="en-US" sz="950" dirty="0"/>
          </a:p>
        </p:txBody>
      </p:sp>
      <p:sp>
        <p:nvSpPr>
          <p:cNvPr id="40" name="Text 38"/>
          <p:cNvSpPr/>
          <p:nvPr/>
        </p:nvSpPr>
        <p:spPr>
          <a:xfrm>
            <a:off x="4251960" y="3401568"/>
            <a:ext cx="1645920" cy="219456"/>
          </a:xfrm>
          <a:prstGeom prst="rect">
            <a:avLst/>
          </a:prstGeom>
          <a:noFill/>
          <a:ln/>
        </p:spPr>
        <p:txBody>
          <a:bodyPr wrap="square" lIns="0" tIns="0" rIns="0" bIns="0" rtlCol="0" anchor="ctr"/>
          <a:lstStyle/>
          <a:p>
            <a:pPr marL="0" indent="0">
              <a:buNone/>
            </a:pPr>
            <a:r>
              <a:rPr lang="en-US" sz="950" dirty="0">
                <a:solidFill>
                  <a:srgbClr val="3FB950"/>
                </a:solidFill>
                <a:latin typeface="Consolas" pitchFamily="34" charset="0"/>
                <a:ea typeface="Consolas" pitchFamily="34" charset="-122"/>
                <a:cs typeface="Consolas" pitchFamily="34" charset="-120"/>
              </a:rPr>
              <a:t>PK♥♦</a:t>
            </a:r>
            <a:endParaRPr lang="en-US" sz="950" dirty="0"/>
          </a:p>
        </p:txBody>
      </p:sp>
      <p:sp>
        <p:nvSpPr>
          <p:cNvPr id="41" name="Text 39"/>
          <p:cNvSpPr/>
          <p:nvPr/>
        </p:nvSpPr>
        <p:spPr>
          <a:xfrm>
            <a:off x="5943600" y="3401568"/>
            <a:ext cx="2743200" cy="219456"/>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ZIP archive — also .docx .xlsx .jar</a:t>
            </a:r>
            <a:endParaRPr lang="en-US" sz="950" dirty="0"/>
          </a:p>
        </p:txBody>
      </p:sp>
      <p:sp>
        <p:nvSpPr>
          <p:cNvPr id="42" name="Shape 40"/>
          <p:cNvSpPr/>
          <p:nvPr/>
        </p:nvSpPr>
        <p:spPr>
          <a:xfrm>
            <a:off x="502920" y="3648456"/>
            <a:ext cx="8138160" cy="256032"/>
          </a:xfrm>
          <a:prstGeom prst="rect">
            <a:avLst/>
          </a:prstGeom>
          <a:solidFill>
            <a:srgbClr val="1C2333"/>
          </a:solidFill>
          <a:ln w="12700">
            <a:solidFill>
              <a:srgbClr val="1C2333"/>
            </a:solidFill>
            <a:prstDash val="solid"/>
          </a:ln>
        </p:spPr>
        <p:txBody>
          <a:bodyPr/>
          <a:lstStyle/>
          <a:p>
            <a:endParaRPr lang="en-US"/>
          </a:p>
        </p:txBody>
      </p:sp>
      <p:sp>
        <p:nvSpPr>
          <p:cNvPr id="43" name="Text 41"/>
          <p:cNvSpPr/>
          <p:nvPr/>
        </p:nvSpPr>
        <p:spPr>
          <a:xfrm>
            <a:off x="548640" y="3666744"/>
            <a:ext cx="822960" cy="219456"/>
          </a:xfrm>
          <a:prstGeom prst="rect">
            <a:avLst/>
          </a:prstGeom>
          <a:noFill/>
          <a:ln/>
        </p:spPr>
        <p:txBody>
          <a:bodyPr wrap="square" lIns="0" tIns="0" rIns="0" bIns="0" rtlCol="0" anchor="ctr"/>
          <a:lstStyle/>
          <a:p>
            <a:pPr marL="0" indent="0">
              <a:buNone/>
            </a:pPr>
            <a:r>
              <a:rPr lang="en-US" sz="950" b="1" dirty="0">
                <a:solidFill>
                  <a:srgbClr val="3FD9C4"/>
                </a:solidFill>
                <a:latin typeface="Consolas" pitchFamily="34" charset="0"/>
                <a:ea typeface="Consolas" pitchFamily="34" charset="-122"/>
                <a:cs typeface="Consolas" pitchFamily="34" charset="-120"/>
              </a:rPr>
              <a:t>ELF</a:t>
            </a:r>
            <a:endParaRPr lang="en-US" sz="950" dirty="0"/>
          </a:p>
        </p:txBody>
      </p:sp>
      <p:sp>
        <p:nvSpPr>
          <p:cNvPr id="44" name="Text 42"/>
          <p:cNvSpPr/>
          <p:nvPr/>
        </p:nvSpPr>
        <p:spPr>
          <a:xfrm>
            <a:off x="1417320" y="3666744"/>
            <a:ext cx="914400" cy="219456"/>
          </a:xfrm>
          <a:prstGeom prst="rect">
            <a:avLst/>
          </a:prstGeom>
          <a:noFill/>
          <a:ln/>
        </p:spPr>
        <p:txBody>
          <a:bodyPr wrap="square" lIns="0" tIns="0" rIns="0" bIns="0" rtlCol="0" anchor="ctr"/>
          <a:lstStyle/>
          <a:p>
            <a:pPr marL="0" indent="0">
              <a:buNone/>
            </a:pPr>
            <a:r>
              <a:rPr lang="en-US" sz="950" dirty="0">
                <a:solidFill>
                  <a:srgbClr val="8B949E"/>
                </a:solidFill>
                <a:latin typeface="Consolas" pitchFamily="34" charset="0"/>
                <a:ea typeface="Consolas" pitchFamily="34" charset="-122"/>
                <a:cs typeface="Consolas" pitchFamily="34" charset="-120"/>
              </a:rPr>
              <a:t>(none)</a:t>
            </a:r>
            <a:endParaRPr lang="en-US" sz="950" dirty="0"/>
          </a:p>
        </p:txBody>
      </p:sp>
      <p:sp>
        <p:nvSpPr>
          <p:cNvPr id="45" name="Text 43"/>
          <p:cNvSpPr/>
          <p:nvPr/>
        </p:nvSpPr>
        <p:spPr>
          <a:xfrm>
            <a:off x="2377440" y="3666744"/>
            <a:ext cx="1828800" cy="219456"/>
          </a:xfrm>
          <a:prstGeom prst="rect">
            <a:avLst/>
          </a:prstGeom>
          <a:noFill/>
          <a:ln/>
        </p:spPr>
        <p:txBody>
          <a:bodyPr wrap="square" lIns="0" tIns="0" rIns="0" bIns="0" rtlCol="0" anchor="ctr"/>
          <a:lstStyle/>
          <a:p>
            <a:pPr marL="0" indent="0">
              <a:buNone/>
            </a:pPr>
            <a:r>
              <a:rPr lang="en-US" sz="950" dirty="0">
                <a:solidFill>
                  <a:srgbClr val="3FD9C4"/>
                </a:solidFill>
                <a:latin typeface="Consolas" pitchFamily="34" charset="0"/>
                <a:ea typeface="Consolas" pitchFamily="34" charset="-122"/>
                <a:cs typeface="Consolas" pitchFamily="34" charset="-120"/>
              </a:rPr>
              <a:t>7F 45 4C 46</a:t>
            </a:r>
            <a:endParaRPr lang="en-US" sz="950" dirty="0"/>
          </a:p>
        </p:txBody>
      </p:sp>
      <p:sp>
        <p:nvSpPr>
          <p:cNvPr id="46" name="Text 44"/>
          <p:cNvSpPr/>
          <p:nvPr/>
        </p:nvSpPr>
        <p:spPr>
          <a:xfrm>
            <a:off x="4251960" y="3666744"/>
            <a:ext cx="1645920" cy="219456"/>
          </a:xfrm>
          <a:prstGeom prst="rect">
            <a:avLst/>
          </a:prstGeom>
          <a:noFill/>
          <a:ln/>
        </p:spPr>
        <p:txBody>
          <a:bodyPr wrap="square" lIns="0" tIns="0" rIns="0" bIns="0" rtlCol="0" anchor="ctr"/>
          <a:lstStyle/>
          <a:p>
            <a:pPr marL="0" indent="0">
              <a:buNone/>
            </a:pPr>
            <a:r>
              <a:rPr lang="en-US" sz="950" dirty="0">
                <a:solidFill>
                  <a:srgbClr val="3FD9C4"/>
                </a:solidFill>
                <a:latin typeface="Consolas" pitchFamily="34" charset="0"/>
                <a:ea typeface="Consolas" pitchFamily="34" charset="-122"/>
                <a:cs typeface="Consolas" pitchFamily="34" charset="-120"/>
              </a:rPr>
              <a:t>ÿELF</a:t>
            </a:r>
            <a:endParaRPr lang="en-US" sz="950" dirty="0"/>
          </a:p>
        </p:txBody>
      </p:sp>
      <p:sp>
        <p:nvSpPr>
          <p:cNvPr id="47" name="Text 45"/>
          <p:cNvSpPr/>
          <p:nvPr/>
        </p:nvSpPr>
        <p:spPr>
          <a:xfrm>
            <a:off x="5943600" y="3666744"/>
            <a:ext cx="2743200" cy="219456"/>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Linux executable/library</a:t>
            </a:r>
            <a:endParaRPr lang="en-US" sz="950" dirty="0"/>
          </a:p>
        </p:txBody>
      </p:sp>
      <p:sp>
        <p:nvSpPr>
          <p:cNvPr id="48" name="Shape 46"/>
          <p:cNvSpPr/>
          <p:nvPr/>
        </p:nvSpPr>
        <p:spPr>
          <a:xfrm>
            <a:off x="502920" y="3913632"/>
            <a:ext cx="8138160" cy="256032"/>
          </a:xfrm>
          <a:prstGeom prst="rect">
            <a:avLst/>
          </a:prstGeom>
          <a:solidFill>
            <a:srgbClr val="161B26"/>
          </a:solidFill>
          <a:ln w="12700">
            <a:solidFill>
              <a:srgbClr val="161B26"/>
            </a:solidFill>
            <a:prstDash val="solid"/>
          </a:ln>
        </p:spPr>
        <p:txBody>
          <a:bodyPr/>
          <a:lstStyle/>
          <a:p>
            <a:endParaRPr lang="en-US"/>
          </a:p>
        </p:txBody>
      </p:sp>
      <p:sp>
        <p:nvSpPr>
          <p:cNvPr id="49" name="Text 47"/>
          <p:cNvSpPr/>
          <p:nvPr/>
        </p:nvSpPr>
        <p:spPr>
          <a:xfrm>
            <a:off x="548640" y="3931920"/>
            <a:ext cx="822960" cy="219456"/>
          </a:xfrm>
          <a:prstGeom prst="rect">
            <a:avLst/>
          </a:prstGeom>
          <a:noFill/>
          <a:ln/>
        </p:spPr>
        <p:txBody>
          <a:bodyPr wrap="square" lIns="0" tIns="0" rIns="0" bIns="0" rtlCol="0" anchor="ctr"/>
          <a:lstStyle/>
          <a:p>
            <a:pPr marL="0" indent="0">
              <a:buNone/>
            </a:pPr>
            <a:r>
              <a:rPr lang="en-US" sz="950" b="1" dirty="0">
                <a:solidFill>
                  <a:srgbClr val="E3B341"/>
                </a:solidFill>
                <a:latin typeface="Consolas" pitchFamily="34" charset="0"/>
                <a:ea typeface="Consolas" pitchFamily="34" charset="-122"/>
                <a:cs typeface="Consolas" pitchFamily="34" charset="-120"/>
              </a:rPr>
              <a:t>MP3</a:t>
            </a:r>
            <a:endParaRPr lang="en-US" sz="950" dirty="0"/>
          </a:p>
        </p:txBody>
      </p:sp>
      <p:sp>
        <p:nvSpPr>
          <p:cNvPr id="50" name="Text 48"/>
          <p:cNvSpPr/>
          <p:nvPr/>
        </p:nvSpPr>
        <p:spPr>
          <a:xfrm>
            <a:off x="1417320" y="3931920"/>
            <a:ext cx="914400" cy="219456"/>
          </a:xfrm>
          <a:prstGeom prst="rect">
            <a:avLst/>
          </a:prstGeom>
          <a:noFill/>
          <a:ln/>
        </p:spPr>
        <p:txBody>
          <a:bodyPr wrap="square" lIns="0" tIns="0" rIns="0" bIns="0" rtlCol="0" anchor="ctr"/>
          <a:lstStyle/>
          <a:p>
            <a:pPr marL="0" indent="0">
              <a:buNone/>
            </a:pPr>
            <a:r>
              <a:rPr lang="en-US" sz="950" dirty="0">
                <a:solidFill>
                  <a:srgbClr val="8B949E"/>
                </a:solidFill>
                <a:latin typeface="Consolas" pitchFamily="34" charset="0"/>
                <a:ea typeface="Consolas" pitchFamily="34" charset="-122"/>
                <a:cs typeface="Consolas" pitchFamily="34" charset="-120"/>
              </a:rPr>
              <a:t>.mp3</a:t>
            </a:r>
            <a:endParaRPr lang="en-US" sz="950" dirty="0"/>
          </a:p>
        </p:txBody>
      </p:sp>
      <p:sp>
        <p:nvSpPr>
          <p:cNvPr id="51" name="Text 49"/>
          <p:cNvSpPr/>
          <p:nvPr/>
        </p:nvSpPr>
        <p:spPr>
          <a:xfrm>
            <a:off x="2377440" y="3931920"/>
            <a:ext cx="1828800" cy="219456"/>
          </a:xfrm>
          <a:prstGeom prst="rect">
            <a:avLst/>
          </a:prstGeom>
          <a:noFill/>
          <a:ln/>
        </p:spPr>
        <p:txBody>
          <a:bodyPr wrap="square" lIns="0" tIns="0" rIns="0" bIns="0" rtlCol="0" anchor="ctr"/>
          <a:lstStyle/>
          <a:p>
            <a:pPr marL="0" indent="0">
              <a:buNone/>
            </a:pPr>
            <a:r>
              <a:rPr lang="en-US" sz="950" dirty="0">
                <a:solidFill>
                  <a:srgbClr val="3FD9C4"/>
                </a:solidFill>
                <a:latin typeface="Consolas" pitchFamily="34" charset="0"/>
                <a:ea typeface="Consolas" pitchFamily="34" charset="-122"/>
                <a:cs typeface="Consolas" pitchFamily="34" charset="-120"/>
              </a:rPr>
              <a:t>FF FB / ID3</a:t>
            </a:r>
            <a:endParaRPr lang="en-US" sz="950" dirty="0"/>
          </a:p>
        </p:txBody>
      </p:sp>
      <p:sp>
        <p:nvSpPr>
          <p:cNvPr id="52" name="Text 50"/>
          <p:cNvSpPr/>
          <p:nvPr/>
        </p:nvSpPr>
        <p:spPr>
          <a:xfrm>
            <a:off x="4251960" y="3931920"/>
            <a:ext cx="1645920" cy="219456"/>
          </a:xfrm>
          <a:prstGeom prst="rect">
            <a:avLst/>
          </a:prstGeom>
          <a:noFill/>
          <a:ln/>
        </p:spPr>
        <p:txBody>
          <a:bodyPr wrap="square" lIns="0" tIns="0" rIns="0" bIns="0" rtlCol="0" anchor="ctr"/>
          <a:lstStyle/>
          <a:p>
            <a:pPr marL="0" indent="0">
              <a:buNone/>
            </a:pPr>
            <a:r>
              <a:rPr lang="en-US" sz="950" dirty="0">
                <a:solidFill>
                  <a:srgbClr val="E3B341"/>
                </a:solidFill>
                <a:latin typeface="Consolas" pitchFamily="34" charset="0"/>
                <a:ea typeface="Consolas" pitchFamily="34" charset="-122"/>
                <a:cs typeface="Consolas" pitchFamily="34" charset="-120"/>
              </a:rPr>
              <a:t>ID3</a:t>
            </a:r>
            <a:endParaRPr lang="en-US" sz="950" dirty="0"/>
          </a:p>
        </p:txBody>
      </p:sp>
      <p:sp>
        <p:nvSpPr>
          <p:cNvPr id="53" name="Text 51"/>
          <p:cNvSpPr/>
          <p:nvPr/>
        </p:nvSpPr>
        <p:spPr>
          <a:xfrm>
            <a:off x="5943600" y="3931920"/>
            <a:ext cx="2743200" cy="219456"/>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MP3 audio — ID3 tag at start</a:t>
            </a:r>
            <a:endParaRPr lang="en-US" sz="950" dirty="0"/>
          </a:p>
        </p:txBody>
      </p:sp>
      <p:sp>
        <p:nvSpPr>
          <p:cNvPr id="54" name="Shape 52"/>
          <p:cNvSpPr/>
          <p:nvPr/>
        </p:nvSpPr>
        <p:spPr>
          <a:xfrm>
            <a:off x="502920" y="4178808"/>
            <a:ext cx="8138160" cy="256032"/>
          </a:xfrm>
          <a:prstGeom prst="rect">
            <a:avLst/>
          </a:prstGeom>
          <a:solidFill>
            <a:srgbClr val="1C2333"/>
          </a:solidFill>
          <a:ln w="12700">
            <a:solidFill>
              <a:srgbClr val="1C2333"/>
            </a:solidFill>
            <a:prstDash val="solid"/>
          </a:ln>
        </p:spPr>
        <p:txBody>
          <a:bodyPr/>
          <a:lstStyle/>
          <a:p>
            <a:endParaRPr lang="en-US"/>
          </a:p>
        </p:txBody>
      </p:sp>
      <p:sp>
        <p:nvSpPr>
          <p:cNvPr id="55" name="Text 53"/>
          <p:cNvSpPr/>
          <p:nvPr/>
        </p:nvSpPr>
        <p:spPr>
          <a:xfrm>
            <a:off x="548640" y="4197096"/>
            <a:ext cx="822960" cy="219456"/>
          </a:xfrm>
          <a:prstGeom prst="rect">
            <a:avLst/>
          </a:prstGeom>
          <a:noFill/>
          <a:ln/>
        </p:spPr>
        <p:txBody>
          <a:bodyPr wrap="square" lIns="0" tIns="0" rIns="0" bIns="0" rtlCol="0" anchor="ctr"/>
          <a:lstStyle/>
          <a:p>
            <a:pPr marL="0" indent="0">
              <a:buNone/>
            </a:pPr>
            <a:r>
              <a:rPr lang="en-US" sz="950" b="1" dirty="0">
                <a:solidFill>
                  <a:srgbClr val="F778BA"/>
                </a:solidFill>
                <a:latin typeface="Consolas" pitchFamily="34" charset="0"/>
                <a:ea typeface="Consolas" pitchFamily="34" charset="-122"/>
                <a:cs typeface="Consolas" pitchFamily="34" charset="-120"/>
              </a:rPr>
              <a:t>SQLite</a:t>
            </a:r>
            <a:endParaRPr lang="en-US" sz="950" dirty="0"/>
          </a:p>
        </p:txBody>
      </p:sp>
      <p:sp>
        <p:nvSpPr>
          <p:cNvPr id="56" name="Text 54"/>
          <p:cNvSpPr/>
          <p:nvPr/>
        </p:nvSpPr>
        <p:spPr>
          <a:xfrm>
            <a:off x="1417320" y="4197096"/>
            <a:ext cx="914400" cy="219456"/>
          </a:xfrm>
          <a:prstGeom prst="rect">
            <a:avLst/>
          </a:prstGeom>
          <a:noFill/>
          <a:ln/>
        </p:spPr>
        <p:txBody>
          <a:bodyPr wrap="square" lIns="0" tIns="0" rIns="0" bIns="0" rtlCol="0" anchor="ctr"/>
          <a:lstStyle/>
          <a:p>
            <a:pPr marL="0" indent="0">
              <a:buNone/>
            </a:pPr>
            <a:r>
              <a:rPr lang="en-US" sz="950" dirty="0">
                <a:solidFill>
                  <a:srgbClr val="8B949E"/>
                </a:solidFill>
                <a:latin typeface="Consolas" pitchFamily="34" charset="0"/>
                <a:ea typeface="Consolas" pitchFamily="34" charset="-122"/>
                <a:cs typeface="Consolas" pitchFamily="34" charset="-120"/>
              </a:rPr>
              <a:t>.db</a:t>
            </a:r>
            <a:endParaRPr lang="en-US" sz="950" dirty="0"/>
          </a:p>
        </p:txBody>
      </p:sp>
      <p:sp>
        <p:nvSpPr>
          <p:cNvPr id="57" name="Text 55"/>
          <p:cNvSpPr/>
          <p:nvPr/>
        </p:nvSpPr>
        <p:spPr>
          <a:xfrm>
            <a:off x="2377440" y="4197096"/>
            <a:ext cx="1828800" cy="219456"/>
          </a:xfrm>
          <a:prstGeom prst="rect">
            <a:avLst/>
          </a:prstGeom>
          <a:noFill/>
          <a:ln/>
        </p:spPr>
        <p:txBody>
          <a:bodyPr wrap="square" lIns="0" tIns="0" rIns="0" bIns="0" rtlCol="0" anchor="ctr"/>
          <a:lstStyle/>
          <a:p>
            <a:pPr marL="0" indent="0">
              <a:buNone/>
            </a:pPr>
            <a:r>
              <a:rPr lang="en-US" sz="950" dirty="0">
                <a:solidFill>
                  <a:srgbClr val="3FD9C4"/>
                </a:solidFill>
                <a:latin typeface="Consolas" pitchFamily="34" charset="0"/>
                <a:ea typeface="Consolas" pitchFamily="34" charset="-122"/>
                <a:cs typeface="Consolas" pitchFamily="34" charset="-120"/>
              </a:rPr>
              <a:t>53 51 4C 69</a:t>
            </a:r>
            <a:endParaRPr lang="en-US" sz="950" dirty="0"/>
          </a:p>
        </p:txBody>
      </p:sp>
      <p:sp>
        <p:nvSpPr>
          <p:cNvPr id="58" name="Text 56"/>
          <p:cNvSpPr/>
          <p:nvPr/>
        </p:nvSpPr>
        <p:spPr>
          <a:xfrm>
            <a:off x="4251960" y="4197096"/>
            <a:ext cx="1645920" cy="219456"/>
          </a:xfrm>
          <a:prstGeom prst="rect">
            <a:avLst/>
          </a:prstGeom>
          <a:noFill/>
          <a:ln/>
        </p:spPr>
        <p:txBody>
          <a:bodyPr wrap="square" lIns="0" tIns="0" rIns="0" bIns="0" rtlCol="0" anchor="ctr"/>
          <a:lstStyle/>
          <a:p>
            <a:pPr marL="0" indent="0">
              <a:buNone/>
            </a:pPr>
            <a:r>
              <a:rPr lang="en-US" sz="950" dirty="0">
                <a:solidFill>
                  <a:srgbClr val="F778BA"/>
                </a:solidFill>
                <a:latin typeface="Consolas" pitchFamily="34" charset="0"/>
                <a:ea typeface="Consolas" pitchFamily="34" charset="-122"/>
                <a:cs typeface="Consolas" pitchFamily="34" charset="-120"/>
              </a:rPr>
              <a:t>SQLi</a:t>
            </a:r>
            <a:endParaRPr lang="en-US" sz="950" dirty="0"/>
          </a:p>
        </p:txBody>
      </p:sp>
      <p:sp>
        <p:nvSpPr>
          <p:cNvPr id="59" name="Text 57"/>
          <p:cNvSpPr/>
          <p:nvPr/>
        </p:nvSpPr>
        <p:spPr>
          <a:xfrm>
            <a:off x="5943600" y="4197096"/>
            <a:ext cx="2743200" cy="219456"/>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SQLite database file</a:t>
            </a:r>
            <a:endParaRPr lang="en-US" sz="950" dirty="0"/>
          </a:p>
        </p:txBody>
      </p:sp>
      <p:sp>
        <p:nvSpPr>
          <p:cNvPr id="60" name="Shape 58"/>
          <p:cNvSpPr/>
          <p:nvPr/>
        </p:nvSpPr>
        <p:spPr>
          <a:xfrm>
            <a:off x="365760" y="4572000"/>
            <a:ext cx="8412480" cy="384048"/>
          </a:xfrm>
          <a:prstGeom prst="rect">
            <a:avLst/>
          </a:prstGeom>
          <a:solidFill>
            <a:srgbClr val="0A1020"/>
          </a:solidFill>
          <a:ln w="12700">
            <a:solidFill>
              <a:srgbClr val="BC8CFF"/>
            </a:solidFill>
            <a:prstDash val="solid"/>
          </a:ln>
        </p:spPr>
        <p:txBody>
          <a:bodyPr/>
          <a:lstStyle/>
          <a:p>
            <a:endParaRPr lang="en-US"/>
          </a:p>
        </p:txBody>
      </p:sp>
      <p:sp>
        <p:nvSpPr>
          <p:cNvPr id="61" name="Text 59"/>
          <p:cNvSpPr/>
          <p:nvPr/>
        </p:nvSpPr>
        <p:spPr>
          <a:xfrm>
            <a:off x="502920" y="4599432"/>
            <a:ext cx="8229600" cy="310896"/>
          </a:xfrm>
          <a:prstGeom prst="rect">
            <a:avLst/>
          </a:prstGeom>
          <a:noFill/>
          <a:ln/>
        </p:spPr>
        <p:txBody>
          <a:bodyPr wrap="square" lIns="0" tIns="0" rIns="0" bIns="0" rtlCol="0" anchor="ctr"/>
          <a:lstStyle/>
          <a:p>
            <a:pPr marL="0" indent="0">
              <a:buNone/>
            </a:pPr>
            <a:r>
              <a:rPr lang="en-US" sz="1100" b="1" dirty="0">
                <a:solidFill>
                  <a:srgbClr val="BC8CFF"/>
                </a:solidFill>
                <a:latin typeface="Calibri" pitchFamily="34" charset="0"/>
                <a:ea typeface="Calibri" pitchFamily="34" charset="-122"/>
                <a:cs typeface="Calibri" pitchFamily="34" charset="-120"/>
              </a:rPr>
              <a:t>Linux file command:  </a:t>
            </a:r>
            <a:r>
              <a:rPr lang="en-US" sz="1100" dirty="0">
                <a:solidFill>
                  <a:srgbClr val="3FD9C4"/>
                </a:solidFill>
                <a:latin typeface="Calibri" pitchFamily="34" charset="0"/>
                <a:ea typeface="Calibri" pitchFamily="34" charset="-122"/>
                <a:cs typeface="Calibri" pitchFamily="34" charset="-120"/>
              </a:rPr>
              <a:t>$ file document.pdf   →   PDF document, version 1.7  </a:t>
            </a:r>
            <a:r>
              <a:rPr lang="en-US" sz="1100" dirty="0">
                <a:solidFill>
                  <a:srgbClr val="8B949E"/>
                </a:solidFill>
                <a:latin typeface="Calibri" pitchFamily="34" charset="0"/>
                <a:ea typeface="Calibri" pitchFamily="34" charset="-122"/>
                <a:cs typeface="Calibri" pitchFamily="34" charset="-120"/>
              </a:rPr>
              <a:t>reads magic bytes, not the extension.</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SUMMARY</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Key Concepts — Quick Reference</a:t>
            </a:r>
            <a:endParaRPr lang="en-US" sz="2800" dirty="0"/>
          </a:p>
        </p:txBody>
      </p:sp>
      <p:sp>
        <p:nvSpPr>
          <p:cNvPr id="6" name="Text 4"/>
          <p:cNvSpPr/>
          <p:nvPr/>
        </p:nvSpPr>
        <p:spPr>
          <a:xfrm>
            <a:off x="457200" y="868680"/>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Everything in one place</a:t>
            </a:r>
            <a:endParaRPr lang="en-US" sz="1300" dirty="0"/>
          </a:p>
        </p:txBody>
      </p:sp>
      <p:sp>
        <p:nvSpPr>
          <p:cNvPr id="7" name="Shape 5"/>
          <p:cNvSpPr/>
          <p:nvPr/>
        </p:nvSpPr>
        <p:spPr>
          <a:xfrm>
            <a:off x="411480" y="1170432"/>
            <a:ext cx="2048256" cy="178308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2048256"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9" name="Text 7"/>
          <p:cNvSpPr/>
          <p:nvPr/>
        </p:nvSpPr>
        <p:spPr>
          <a:xfrm>
            <a:off x="521208" y="1216152"/>
            <a:ext cx="1828800" cy="237744"/>
          </a:xfrm>
          <a:prstGeom prst="rect">
            <a:avLst/>
          </a:prstGeom>
          <a:noFill/>
          <a:ln/>
        </p:spPr>
        <p:txBody>
          <a:bodyPr wrap="square" lIns="0" tIns="0" rIns="0" bIns="0" rtlCol="0" anchor="ctr"/>
          <a:lstStyle/>
          <a:p>
            <a:pPr marL="0" indent="0">
              <a:buNone/>
            </a:pPr>
            <a:r>
              <a:rPr lang="en-US" sz="1100" b="1" dirty="0">
                <a:solidFill>
                  <a:srgbClr val="3FD9C4"/>
                </a:solidFill>
                <a:latin typeface="Calibri" pitchFamily="34" charset="0"/>
                <a:ea typeface="Calibri" pitchFamily="34" charset="-122"/>
                <a:cs typeface="Calibri" pitchFamily="34" charset="-120"/>
              </a:rPr>
              <a:t>📁  File</a:t>
            </a:r>
            <a:endParaRPr lang="en-US" sz="1100" dirty="0"/>
          </a:p>
        </p:txBody>
      </p:sp>
      <p:sp>
        <p:nvSpPr>
          <p:cNvPr id="10" name="Text 8"/>
          <p:cNvSpPr/>
          <p:nvPr/>
        </p:nvSpPr>
        <p:spPr>
          <a:xfrm>
            <a:off x="521208" y="1517904"/>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Named sequence of bytes.</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Directory entry holds the name.</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Inode holds the metadata.</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Data blocks hold the content.</a:t>
            </a:r>
            <a:endParaRPr lang="en-US" sz="1000" dirty="0"/>
          </a:p>
        </p:txBody>
      </p:sp>
      <p:sp>
        <p:nvSpPr>
          <p:cNvPr id="11" name="Shape 9"/>
          <p:cNvSpPr/>
          <p:nvPr/>
        </p:nvSpPr>
        <p:spPr>
          <a:xfrm>
            <a:off x="2587752" y="1170432"/>
            <a:ext cx="2048256" cy="178308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12" name="Shape 10"/>
          <p:cNvSpPr/>
          <p:nvPr/>
        </p:nvSpPr>
        <p:spPr>
          <a:xfrm>
            <a:off x="2587752" y="1170432"/>
            <a:ext cx="2048256"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13" name="Text 11"/>
          <p:cNvSpPr/>
          <p:nvPr/>
        </p:nvSpPr>
        <p:spPr>
          <a:xfrm>
            <a:off x="2697480" y="1216152"/>
            <a:ext cx="1828800" cy="237744"/>
          </a:xfrm>
          <a:prstGeom prst="rect">
            <a:avLst/>
          </a:prstGeom>
          <a:noFill/>
          <a:ln/>
        </p:spPr>
        <p:txBody>
          <a:bodyPr wrap="square" lIns="0" tIns="0" rIns="0" bIns="0" rtlCol="0" anchor="ctr"/>
          <a:lstStyle/>
          <a:p>
            <a:pPr marL="0" indent="0">
              <a:buNone/>
            </a:pPr>
            <a:r>
              <a:rPr lang="en-US" sz="1100" b="1" dirty="0">
                <a:solidFill>
                  <a:srgbClr val="58A6FF"/>
                </a:solidFill>
                <a:latin typeface="Calibri" pitchFamily="34" charset="0"/>
                <a:ea typeface="Calibri" pitchFamily="34" charset="-122"/>
                <a:cs typeface="Calibri" pitchFamily="34" charset="-120"/>
              </a:rPr>
              <a:t>🗄️  File System</a:t>
            </a:r>
            <a:endParaRPr lang="en-US" sz="1100" dirty="0"/>
          </a:p>
        </p:txBody>
      </p:sp>
      <p:sp>
        <p:nvSpPr>
          <p:cNvPr id="14" name="Text 12"/>
          <p:cNvSpPr/>
          <p:nvPr/>
        </p:nvSpPr>
        <p:spPr>
          <a:xfrm>
            <a:off x="2697480" y="1517904"/>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NTFS (Windows), ext4 (Linux),</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APFS (macOS). Manages the</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directory tree, inodes, and</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free-block allocation.</a:t>
            </a:r>
            <a:endParaRPr lang="en-US" sz="1000" dirty="0"/>
          </a:p>
        </p:txBody>
      </p:sp>
      <p:sp>
        <p:nvSpPr>
          <p:cNvPr id="15" name="Shape 13"/>
          <p:cNvSpPr/>
          <p:nvPr/>
        </p:nvSpPr>
        <p:spPr>
          <a:xfrm>
            <a:off x="4764024" y="1170432"/>
            <a:ext cx="2048256" cy="1783080"/>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16" name="Shape 14"/>
          <p:cNvSpPr/>
          <p:nvPr/>
        </p:nvSpPr>
        <p:spPr>
          <a:xfrm>
            <a:off x="4764024" y="1170432"/>
            <a:ext cx="2048256"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17" name="Text 15"/>
          <p:cNvSpPr/>
          <p:nvPr/>
        </p:nvSpPr>
        <p:spPr>
          <a:xfrm>
            <a:off x="4873752" y="1216152"/>
            <a:ext cx="1828800" cy="237744"/>
          </a:xfrm>
          <a:prstGeom prst="rect">
            <a:avLst/>
          </a:prstGeom>
          <a:noFill/>
          <a:ln/>
        </p:spPr>
        <p:txBody>
          <a:bodyPr wrap="square" lIns="0" tIns="0" rIns="0" bIns="0" rtlCol="0" anchor="ctr"/>
          <a:lstStyle/>
          <a:p>
            <a:pPr marL="0" indent="0">
              <a:buNone/>
            </a:pPr>
            <a:r>
              <a:rPr lang="en-US" sz="1100" b="1" dirty="0">
                <a:solidFill>
                  <a:srgbClr val="BC8CFF"/>
                </a:solidFill>
                <a:latin typeface="Calibri" pitchFamily="34" charset="0"/>
                <a:ea typeface="Calibri" pitchFamily="34" charset="-122"/>
                <a:cs typeface="Calibri" pitchFamily="34" charset="-120"/>
              </a:rPr>
              <a:t>💾  Store</a:t>
            </a:r>
            <a:endParaRPr lang="en-US" sz="1100" dirty="0"/>
          </a:p>
        </p:txBody>
      </p:sp>
      <p:sp>
        <p:nvSpPr>
          <p:cNvPr id="18" name="Text 16"/>
          <p:cNvSpPr/>
          <p:nvPr/>
        </p:nvSpPr>
        <p:spPr>
          <a:xfrm>
            <a:off x="4873752" y="1517904"/>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Allocate inode + blocks.</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Write bytes to blocks.</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Create directory entry.</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Update journal.</a:t>
            </a:r>
            <a:endParaRPr lang="en-US" sz="1000" dirty="0"/>
          </a:p>
        </p:txBody>
      </p:sp>
      <p:sp>
        <p:nvSpPr>
          <p:cNvPr id="19" name="Shape 17"/>
          <p:cNvSpPr/>
          <p:nvPr/>
        </p:nvSpPr>
        <p:spPr>
          <a:xfrm>
            <a:off x="6940296" y="1170432"/>
            <a:ext cx="2048256" cy="1783080"/>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20" name="Shape 18"/>
          <p:cNvSpPr/>
          <p:nvPr/>
        </p:nvSpPr>
        <p:spPr>
          <a:xfrm>
            <a:off x="6940296" y="1170432"/>
            <a:ext cx="2048256"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21" name="Text 19"/>
          <p:cNvSpPr/>
          <p:nvPr/>
        </p:nvSpPr>
        <p:spPr>
          <a:xfrm>
            <a:off x="7050024" y="1216152"/>
            <a:ext cx="1828800" cy="237744"/>
          </a:xfrm>
          <a:prstGeom prst="rect">
            <a:avLst/>
          </a:prstGeom>
          <a:noFill/>
          <a:ln/>
        </p:spPr>
        <p:txBody>
          <a:bodyPr wrap="square" lIns="0" tIns="0" rIns="0" bIns="0" rtlCol="0" anchor="ctr"/>
          <a:lstStyle/>
          <a:p>
            <a:pPr marL="0" indent="0">
              <a:buNone/>
            </a:pPr>
            <a:r>
              <a:rPr lang="en-US" sz="1100" b="1" dirty="0">
                <a:solidFill>
                  <a:srgbClr val="FFA657"/>
                </a:solidFill>
                <a:latin typeface="Calibri" pitchFamily="34" charset="0"/>
                <a:ea typeface="Calibri" pitchFamily="34" charset="-122"/>
                <a:cs typeface="Calibri" pitchFamily="34" charset="-120"/>
              </a:rPr>
              <a:t>📂  Retrieve</a:t>
            </a:r>
            <a:endParaRPr lang="en-US" sz="1100" dirty="0"/>
          </a:p>
        </p:txBody>
      </p:sp>
      <p:sp>
        <p:nvSpPr>
          <p:cNvPr id="22" name="Text 20"/>
          <p:cNvSpPr/>
          <p:nvPr/>
        </p:nvSpPr>
        <p:spPr>
          <a:xfrm>
            <a:off x="7050024" y="1517904"/>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Walk directory tree.</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Read inode → get block list.</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Check cache first.</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Read blocks from disk.</a:t>
            </a:r>
            <a:endParaRPr lang="en-US" sz="1000" dirty="0"/>
          </a:p>
        </p:txBody>
      </p:sp>
      <p:sp>
        <p:nvSpPr>
          <p:cNvPr id="23" name="Shape 21"/>
          <p:cNvSpPr/>
          <p:nvPr/>
        </p:nvSpPr>
        <p:spPr>
          <a:xfrm>
            <a:off x="411480" y="3072384"/>
            <a:ext cx="2048256" cy="1783080"/>
          </a:xfrm>
          <a:prstGeom prst="rect">
            <a:avLst/>
          </a:prstGeom>
          <a:solidFill>
            <a:srgbClr val="161B26"/>
          </a:solidFill>
          <a:ln w="15240">
            <a:solidFill>
              <a:srgbClr val="E3B341"/>
            </a:solidFill>
            <a:prstDash val="solid"/>
          </a:ln>
          <a:effectLst>
            <a:outerShdw blurRad="177800" dist="38100" dir="8100000" algn="bl" rotWithShape="0">
              <a:srgbClr val="000000">
                <a:alpha val="35000"/>
              </a:srgbClr>
            </a:outerShdw>
          </a:effectLst>
        </p:spPr>
        <p:txBody>
          <a:bodyPr/>
          <a:lstStyle/>
          <a:p>
            <a:endParaRPr lang="en-US"/>
          </a:p>
        </p:txBody>
      </p:sp>
      <p:sp>
        <p:nvSpPr>
          <p:cNvPr id="24" name="Shape 22"/>
          <p:cNvSpPr/>
          <p:nvPr/>
        </p:nvSpPr>
        <p:spPr>
          <a:xfrm>
            <a:off x="411480" y="3072384"/>
            <a:ext cx="2048256" cy="329184"/>
          </a:xfrm>
          <a:prstGeom prst="rect">
            <a:avLst/>
          </a:prstGeom>
          <a:solidFill>
            <a:srgbClr val="E3B341">
              <a:alpha val="78000"/>
            </a:srgbClr>
          </a:solidFill>
          <a:ln w="12700">
            <a:solidFill>
              <a:srgbClr val="E3B341"/>
            </a:solidFill>
            <a:prstDash val="solid"/>
          </a:ln>
        </p:spPr>
        <p:txBody>
          <a:bodyPr/>
          <a:lstStyle/>
          <a:p>
            <a:endParaRPr lang="en-US"/>
          </a:p>
        </p:txBody>
      </p:sp>
      <p:sp>
        <p:nvSpPr>
          <p:cNvPr id="25" name="Text 23"/>
          <p:cNvSpPr/>
          <p:nvPr/>
        </p:nvSpPr>
        <p:spPr>
          <a:xfrm>
            <a:off x="521208" y="3118104"/>
            <a:ext cx="1828800" cy="237744"/>
          </a:xfrm>
          <a:prstGeom prst="rect">
            <a:avLst/>
          </a:prstGeom>
          <a:noFill/>
          <a:ln/>
        </p:spPr>
        <p:txBody>
          <a:bodyPr wrap="square" lIns="0" tIns="0" rIns="0" bIns="0" rtlCol="0" anchor="ctr"/>
          <a:lstStyle/>
          <a:p>
            <a:pPr marL="0" indent="0">
              <a:buNone/>
            </a:pPr>
            <a:r>
              <a:rPr lang="en-US" sz="1100" b="1" dirty="0">
                <a:solidFill>
                  <a:srgbClr val="E3B341"/>
                </a:solidFill>
                <a:latin typeface="Calibri" pitchFamily="34" charset="0"/>
                <a:ea typeface="Calibri" pitchFamily="34" charset="-122"/>
                <a:cs typeface="Calibri" pitchFamily="34" charset="-120"/>
              </a:rPr>
              <a:t>✏️  Edit</a:t>
            </a:r>
            <a:endParaRPr lang="en-US" sz="1100" dirty="0"/>
          </a:p>
        </p:txBody>
      </p:sp>
      <p:sp>
        <p:nvSpPr>
          <p:cNvPr id="26" name="Text 24"/>
          <p:cNvSpPr/>
          <p:nvPr/>
        </p:nvSpPr>
        <p:spPr>
          <a:xfrm>
            <a:off x="521208" y="3419856"/>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Load into RAM buffer.</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All edits are in memory.</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Save = flush RAM to disk.</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Crash before save = data loss.</a:t>
            </a:r>
            <a:endParaRPr lang="en-US" sz="1000" dirty="0"/>
          </a:p>
        </p:txBody>
      </p:sp>
      <p:sp>
        <p:nvSpPr>
          <p:cNvPr id="27" name="Shape 25"/>
          <p:cNvSpPr/>
          <p:nvPr/>
        </p:nvSpPr>
        <p:spPr>
          <a:xfrm>
            <a:off x="2587752" y="3072384"/>
            <a:ext cx="2048256" cy="1783080"/>
          </a:xfrm>
          <a:prstGeom prst="rect">
            <a:avLst/>
          </a:prstGeom>
          <a:solidFill>
            <a:srgbClr val="161B26"/>
          </a:solidFill>
          <a:ln w="15240">
            <a:solidFill>
              <a:srgbClr val="F85149"/>
            </a:solidFill>
            <a:prstDash val="solid"/>
          </a:ln>
          <a:effectLst>
            <a:outerShdw blurRad="177800" dist="38100" dir="8100000" algn="bl" rotWithShape="0">
              <a:srgbClr val="000000">
                <a:alpha val="35000"/>
              </a:srgbClr>
            </a:outerShdw>
          </a:effectLst>
        </p:spPr>
        <p:txBody>
          <a:bodyPr/>
          <a:lstStyle/>
          <a:p>
            <a:endParaRPr lang="en-US"/>
          </a:p>
        </p:txBody>
      </p:sp>
      <p:sp>
        <p:nvSpPr>
          <p:cNvPr id="28" name="Shape 26"/>
          <p:cNvSpPr/>
          <p:nvPr/>
        </p:nvSpPr>
        <p:spPr>
          <a:xfrm>
            <a:off x="2587752" y="3072384"/>
            <a:ext cx="2048256" cy="329184"/>
          </a:xfrm>
          <a:prstGeom prst="rect">
            <a:avLst/>
          </a:prstGeom>
          <a:solidFill>
            <a:srgbClr val="F85149">
              <a:alpha val="78000"/>
            </a:srgbClr>
          </a:solidFill>
          <a:ln w="12700">
            <a:solidFill>
              <a:srgbClr val="F85149"/>
            </a:solidFill>
            <a:prstDash val="solid"/>
          </a:ln>
        </p:spPr>
        <p:txBody>
          <a:bodyPr/>
          <a:lstStyle/>
          <a:p>
            <a:endParaRPr lang="en-US"/>
          </a:p>
        </p:txBody>
      </p:sp>
      <p:sp>
        <p:nvSpPr>
          <p:cNvPr id="29" name="Text 27"/>
          <p:cNvSpPr/>
          <p:nvPr/>
        </p:nvSpPr>
        <p:spPr>
          <a:xfrm>
            <a:off x="2697480" y="3118104"/>
            <a:ext cx="1828800" cy="237744"/>
          </a:xfrm>
          <a:prstGeom prst="rect">
            <a:avLst/>
          </a:prstGeom>
          <a:noFill/>
          <a:ln/>
        </p:spPr>
        <p:txBody>
          <a:bodyPr wrap="square" lIns="0" tIns="0" rIns="0" bIns="0" rtlCol="0" anchor="ctr"/>
          <a:lstStyle/>
          <a:p>
            <a:pPr marL="0" indent="0">
              <a:buNone/>
            </a:pPr>
            <a:r>
              <a:rPr lang="en-US" sz="1100" b="1" dirty="0">
                <a:solidFill>
                  <a:srgbClr val="F85149"/>
                </a:solidFill>
                <a:latin typeface="Calibri" pitchFamily="34" charset="0"/>
                <a:ea typeface="Calibri" pitchFamily="34" charset="-122"/>
                <a:cs typeface="Calibri" pitchFamily="34" charset="-120"/>
              </a:rPr>
              <a:t>🗑️  Delete</a:t>
            </a:r>
            <a:endParaRPr lang="en-US" sz="1100" dirty="0"/>
          </a:p>
        </p:txBody>
      </p:sp>
      <p:sp>
        <p:nvSpPr>
          <p:cNvPr id="30" name="Text 28"/>
          <p:cNvSpPr/>
          <p:nvPr/>
        </p:nvSpPr>
        <p:spPr>
          <a:xfrm>
            <a:off x="2697480" y="3419856"/>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Remove directory entry.</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Free inode + blocks.</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Bytes remain until overwritten.</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Recovery possible until then.</a:t>
            </a:r>
            <a:endParaRPr lang="en-US" sz="1000" dirty="0"/>
          </a:p>
        </p:txBody>
      </p:sp>
      <p:sp>
        <p:nvSpPr>
          <p:cNvPr id="31" name="Shape 29"/>
          <p:cNvSpPr/>
          <p:nvPr/>
        </p:nvSpPr>
        <p:spPr>
          <a:xfrm>
            <a:off x="4764024" y="3072384"/>
            <a:ext cx="2048256" cy="1783080"/>
          </a:xfrm>
          <a:prstGeom prst="rect">
            <a:avLst/>
          </a:prstGeom>
          <a:solidFill>
            <a:srgbClr val="161B26"/>
          </a:solidFill>
          <a:ln w="15240">
            <a:solidFill>
              <a:srgbClr val="3FB950"/>
            </a:solidFill>
            <a:prstDash val="solid"/>
          </a:ln>
          <a:effectLst>
            <a:outerShdw blurRad="177800" dist="38100" dir="8100000" algn="bl" rotWithShape="0">
              <a:srgbClr val="000000">
                <a:alpha val="35000"/>
              </a:srgbClr>
            </a:outerShdw>
          </a:effectLst>
        </p:spPr>
        <p:txBody>
          <a:bodyPr/>
          <a:lstStyle/>
          <a:p>
            <a:endParaRPr lang="en-US"/>
          </a:p>
        </p:txBody>
      </p:sp>
      <p:sp>
        <p:nvSpPr>
          <p:cNvPr id="32" name="Shape 30"/>
          <p:cNvSpPr/>
          <p:nvPr/>
        </p:nvSpPr>
        <p:spPr>
          <a:xfrm>
            <a:off x="4764024" y="3072384"/>
            <a:ext cx="2048256" cy="329184"/>
          </a:xfrm>
          <a:prstGeom prst="rect">
            <a:avLst/>
          </a:prstGeom>
          <a:solidFill>
            <a:srgbClr val="3FB950">
              <a:alpha val="78000"/>
            </a:srgbClr>
          </a:solidFill>
          <a:ln w="12700">
            <a:solidFill>
              <a:srgbClr val="3FB950"/>
            </a:solidFill>
            <a:prstDash val="solid"/>
          </a:ln>
        </p:spPr>
        <p:txBody>
          <a:bodyPr/>
          <a:lstStyle/>
          <a:p>
            <a:endParaRPr lang="en-US"/>
          </a:p>
        </p:txBody>
      </p:sp>
      <p:sp>
        <p:nvSpPr>
          <p:cNvPr id="33" name="Text 31"/>
          <p:cNvSpPr/>
          <p:nvPr/>
        </p:nvSpPr>
        <p:spPr>
          <a:xfrm>
            <a:off x="4873752" y="3118104"/>
            <a:ext cx="1828800" cy="237744"/>
          </a:xfrm>
          <a:prstGeom prst="rect">
            <a:avLst/>
          </a:prstGeom>
          <a:noFill/>
          <a:ln/>
        </p:spPr>
        <p:txBody>
          <a:bodyPr wrap="square" lIns="0" tIns="0" rIns="0" bIns="0" rtlCol="0" anchor="ctr"/>
          <a:lstStyle/>
          <a:p>
            <a:pPr marL="0" indent="0">
              <a:buNone/>
            </a:pPr>
            <a:r>
              <a:rPr lang="en-US" sz="1100" b="1" dirty="0">
                <a:solidFill>
                  <a:srgbClr val="3FB950"/>
                </a:solidFill>
                <a:latin typeface="Calibri" pitchFamily="34" charset="0"/>
                <a:ea typeface="Calibri" pitchFamily="34" charset="-122"/>
                <a:cs typeface="Calibri" pitchFamily="34" charset="-120"/>
              </a:rPr>
              <a:t>📋  Copy</a:t>
            </a:r>
            <a:endParaRPr lang="en-US" sz="1100" dirty="0"/>
          </a:p>
        </p:txBody>
      </p:sp>
      <p:sp>
        <p:nvSpPr>
          <p:cNvPr id="34" name="Text 32"/>
          <p:cNvSpPr/>
          <p:nvPr/>
        </p:nvSpPr>
        <p:spPr>
          <a:xfrm>
            <a:off x="4873752" y="3419856"/>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Allocate new inode + blocks.</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Read all bytes from source.</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Write to new blocks. Slow — O(n).</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Doubles disk usage.</a:t>
            </a:r>
            <a:endParaRPr lang="en-US" sz="1000" dirty="0"/>
          </a:p>
        </p:txBody>
      </p:sp>
      <p:sp>
        <p:nvSpPr>
          <p:cNvPr id="35" name="Shape 33"/>
          <p:cNvSpPr/>
          <p:nvPr/>
        </p:nvSpPr>
        <p:spPr>
          <a:xfrm>
            <a:off x="6940296" y="3072384"/>
            <a:ext cx="2048256" cy="1783080"/>
          </a:xfrm>
          <a:prstGeom prst="rect">
            <a:avLst/>
          </a:prstGeom>
          <a:solidFill>
            <a:srgbClr val="161B26"/>
          </a:solidFill>
          <a:ln w="15240">
            <a:solidFill>
              <a:srgbClr val="F778BA"/>
            </a:solidFill>
            <a:prstDash val="solid"/>
          </a:ln>
          <a:effectLst>
            <a:outerShdw blurRad="177800" dist="38100" dir="8100000" algn="bl" rotWithShape="0">
              <a:srgbClr val="000000">
                <a:alpha val="35000"/>
              </a:srgbClr>
            </a:outerShdw>
          </a:effectLst>
        </p:spPr>
        <p:txBody>
          <a:bodyPr/>
          <a:lstStyle/>
          <a:p>
            <a:endParaRPr lang="en-US"/>
          </a:p>
        </p:txBody>
      </p:sp>
      <p:sp>
        <p:nvSpPr>
          <p:cNvPr id="36" name="Shape 34"/>
          <p:cNvSpPr/>
          <p:nvPr/>
        </p:nvSpPr>
        <p:spPr>
          <a:xfrm>
            <a:off x="6940296" y="3072384"/>
            <a:ext cx="2048256" cy="329184"/>
          </a:xfrm>
          <a:prstGeom prst="rect">
            <a:avLst/>
          </a:prstGeom>
          <a:solidFill>
            <a:srgbClr val="F778BA">
              <a:alpha val="78000"/>
            </a:srgbClr>
          </a:solidFill>
          <a:ln w="12700">
            <a:solidFill>
              <a:srgbClr val="F778BA"/>
            </a:solidFill>
            <a:prstDash val="solid"/>
          </a:ln>
        </p:spPr>
        <p:txBody>
          <a:bodyPr/>
          <a:lstStyle/>
          <a:p>
            <a:endParaRPr lang="en-US"/>
          </a:p>
        </p:txBody>
      </p:sp>
      <p:sp>
        <p:nvSpPr>
          <p:cNvPr id="37" name="Text 35"/>
          <p:cNvSpPr/>
          <p:nvPr/>
        </p:nvSpPr>
        <p:spPr>
          <a:xfrm>
            <a:off x="7050024" y="3118104"/>
            <a:ext cx="1828800" cy="237744"/>
          </a:xfrm>
          <a:prstGeom prst="rect">
            <a:avLst/>
          </a:prstGeom>
          <a:noFill/>
          <a:ln/>
        </p:spPr>
        <p:txBody>
          <a:bodyPr wrap="square" lIns="0" tIns="0" rIns="0" bIns="0" rtlCol="0" anchor="ctr"/>
          <a:lstStyle/>
          <a:p>
            <a:pPr marL="0" indent="0">
              <a:buNone/>
            </a:pPr>
            <a:r>
              <a:rPr lang="en-US" sz="1100" b="1" dirty="0">
                <a:solidFill>
                  <a:srgbClr val="F778BA"/>
                </a:solidFill>
                <a:latin typeface="Calibri" pitchFamily="34" charset="0"/>
                <a:ea typeface="Calibri" pitchFamily="34" charset="-122"/>
                <a:cs typeface="Calibri" pitchFamily="34" charset="-120"/>
              </a:rPr>
              <a:t>✂️  Move (same drive)</a:t>
            </a:r>
            <a:endParaRPr lang="en-US" sz="1100" dirty="0"/>
          </a:p>
        </p:txBody>
      </p:sp>
      <p:sp>
        <p:nvSpPr>
          <p:cNvPr id="38" name="Text 36"/>
          <p:cNvSpPr/>
          <p:nvPr/>
        </p:nvSpPr>
        <p:spPr>
          <a:xfrm>
            <a:off x="7050024" y="3419856"/>
            <a:ext cx="1828800" cy="1353312"/>
          </a:xfrm>
          <a:prstGeom prst="rect">
            <a:avLst/>
          </a:prstGeom>
          <a:noFill/>
          <a:ln/>
        </p:spPr>
        <p:txBody>
          <a:bodyPr wrap="square" lIns="0" tIns="0" rIns="0" bIns="0" rtlCol="0" anchor="t"/>
          <a:lstStyle/>
          <a:p>
            <a:pPr marL="0" indent="0" algn="l">
              <a:buNone/>
            </a:pPr>
            <a:r>
              <a:rPr lang="en-US" sz="1000" dirty="0">
                <a:solidFill>
                  <a:srgbClr val="F0F6FC"/>
                </a:solidFill>
                <a:latin typeface="Calibri" pitchFamily="34" charset="0"/>
                <a:ea typeface="Calibri" pitchFamily="34" charset="-122"/>
                <a:cs typeface="Calibri" pitchFamily="34" charset="-120"/>
              </a:rPr>
              <a:t>Update directory entries.</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Inode unchanged.</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No bytes copied. O(1).</a:t>
            </a:r>
            <a:endParaRPr lang="en-US" sz="1000" dirty="0"/>
          </a:p>
          <a:p>
            <a:pPr marL="0" indent="0" algn="l">
              <a:buNone/>
            </a:pPr>
            <a:r>
              <a:rPr lang="en-US" sz="1000" dirty="0">
                <a:solidFill>
                  <a:srgbClr val="F0F6FC"/>
                </a:solidFill>
                <a:latin typeface="Calibri" pitchFamily="34" charset="0"/>
                <a:ea typeface="Calibri" pitchFamily="34" charset="-122"/>
                <a:cs typeface="Calibri" pitchFamily="34" charset="-120"/>
              </a:rPr>
              <a:t>Instant regardless of file size.</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Shape 2"/>
          <p:cNvSpPr/>
          <p:nvPr/>
        </p:nvSpPr>
        <p:spPr>
          <a:xfrm>
            <a:off x="548640" y="548640"/>
            <a:ext cx="8046720" cy="3657600"/>
          </a:xfrm>
          <a:prstGeom prst="rect">
            <a:avLst/>
          </a:prstGeom>
          <a:solidFill>
            <a:srgbClr val="161B26"/>
          </a:solidFill>
          <a:ln w="1905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5" name="Text 3"/>
          <p:cNvSpPr/>
          <p:nvPr/>
        </p:nvSpPr>
        <p:spPr>
          <a:xfrm>
            <a:off x="914400" y="841248"/>
            <a:ext cx="274320" cy="384048"/>
          </a:xfrm>
          <a:prstGeom prst="rect">
            <a:avLst/>
          </a:prstGeom>
          <a:noFill/>
          <a:ln/>
        </p:spPr>
        <p:txBody>
          <a:bodyPr wrap="square" lIns="0" tIns="0" rIns="0" bIns="0" rtlCol="0" anchor="ctr"/>
          <a:lstStyle/>
          <a:p>
            <a:pPr marL="0" indent="0" algn="ctr">
              <a:buNone/>
            </a:pPr>
            <a:r>
              <a:rPr lang="en-US" sz="1600" b="1" dirty="0">
                <a:solidFill>
                  <a:srgbClr val="FFA657"/>
                </a:solidFill>
                <a:latin typeface="Consolas" pitchFamily="34" charset="0"/>
                <a:ea typeface="Consolas" pitchFamily="34" charset="-122"/>
                <a:cs typeface="Consolas" pitchFamily="34" charset="-120"/>
              </a:rPr>
              <a:t>C</a:t>
            </a:r>
            <a:endParaRPr lang="en-US" sz="1600" dirty="0"/>
          </a:p>
        </p:txBody>
      </p:sp>
      <p:sp>
        <p:nvSpPr>
          <p:cNvPr id="6" name="Text 4"/>
          <p:cNvSpPr/>
          <p:nvPr/>
        </p:nvSpPr>
        <p:spPr>
          <a:xfrm>
            <a:off x="1197864" y="841248"/>
            <a:ext cx="274320" cy="384048"/>
          </a:xfrm>
          <a:prstGeom prst="rect">
            <a:avLst/>
          </a:prstGeom>
          <a:noFill/>
          <a:ln/>
        </p:spPr>
        <p:txBody>
          <a:bodyPr wrap="square" lIns="0" tIns="0" rIns="0" bIns="0" rtlCol="0" anchor="ctr"/>
          <a:lstStyle/>
          <a:p>
            <a:pPr marL="0" indent="0" algn="ctr">
              <a:buNone/>
            </a:pPr>
            <a:r>
              <a:rPr lang="en-US" sz="1600" b="1" dirty="0">
                <a:solidFill>
                  <a:srgbClr val="FFA657"/>
                </a:solidFill>
                <a:latin typeface="Consolas" pitchFamily="34" charset="0"/>
                <a:ea typeface="Consolas" pitchFamily="34" charset="-122"/>
                <a:cs typeface="Consolas" pitchFamily="34" charset="-120"/>
              </a:rPr>
              <a:t>:</a:t>
            </a:r>
            <a:endParaRPr lang="en-US" sz="1600" dirty="0"/>
          </a:p>
        </p:txBody>
      </p:sp>
      <p:sp>
        <p:nvSpPr>
          <p:cNvPr id="7" name="Text 5"/>
          <p:cNvSpPr/>
          <p:nvPr/>
        </p:nvSpPr>
        <p:spPr>
          <a:xfrm>
            <a:off x="1481328" y="841248"/>
            <a:ext cx="274320" cy="384048"/>
          </a:xfrm>
          <a:prstGeom prst="rect">
            <a:avLst/>
          </a:prstGeom>
          <a:noFill/>
          <a:ln/>
        </p:spPr>
        <p:txBody>
          <a:bodyPr wrap="square" lIns="0" tIns="0" rIns="0" bIns="0" rtlCol="0" anchor="ctr"/>
          <a:lstStyle/>
          <a:p>
            <a:pPr marL="0" indent="0" algn="ctr">
              <a:buNone/>
            </a:pPr>
            <a:r>
              <a:rPr lang="en-US" sz="1600" b="1" dirty="0">
                <a:solidFill>
                  <a:srgbClr val="3D444D"/>
                </a:solidFill>
                <a:latin typeface="Consolas" pitchFamily="34" charset="0"/>
                <a:ea typeface="Consolas" pitchFamily="34" charset="-122"/>
                <a:cs typeface="Consolas" pitchFamily="34" charset="-120"/>
              </a:rPr>
              <a:t>\</a:t>
            </a:r>
            <a:endParaRPr lang="en-US" sz="1600" dirty="0"/>
          </a:p>
        </p:txBody>
      </p:sp>
      <p:sp>
        <p:nvSpPr>
          <p:cNvPr id="8" name="Text 6"/>
          <p:cNvSpPr/>
          <p:nvPr/>
        </p:nvSpPr>
        <p:spPr>
          <a:xfrm>
            <a:off x="1764792" y="841248"/>
            <a:ext cx="274320" cy="384048"/>
          </a:xfrm>
          <a:prstGeom prst="rect">
            <a:avLst/>
          </a:prstGeom>
          <a:noFill/>
          <a:ln/>
        </p:spPr>
        <p:txBody>
          <a:bodyPr wrap="square" lIns="0" tIns="0" rIns="0" bIns="0" rtlCol="0" anchor="ctr"/>
          <a:lstStyle/>
          <a:p>
            <a:pPr marL="0" indent="0" algn="ctr">
              <a:buNone/>
            </a:pPr>
            <a:r>
              <a:rPr lang="en-US" sz="1600" b="1" dirty="0">
                <a:solidFill>
                  <a:srgbClr val="3FD9C4"/>
                </a:solidFill>
                <a:latin typeface="Consolas" pitchFamily="34" charset="0"/>
                <a:ea typeface="Consolas" pitchFamily="34" charset="-122"/>
                <a:cs typeface="Consolas" pitchFamily="34" charset="-120"/>
              </a:rPr>
              <a:t>U</a:t>
            </a:r>
            <a:endParaRPr lang="en-US" sz="1600" dirty="0"/>
          </a:p>
        </p:txBody>
      </p:sp>
      <p:sp>
        <p:nvSpPr>
          <p:cNvPr id="9" name="Text 7"/>
          <p:cNvSpPr/>
          <p:nvPr/>
        </p:nvSpPr>
        <p:spPr>
          <a:xfrm>
            <a:off x="2048256" y="841248"/>
            <a:ext cx="274320" cy="384048"/>
          </a:xfrm>
          <a:prstGeom prst="rect">
            <a:avLst/>
          </a:prstGeom>
          <a:noFill/>
          <a:ln/>
        </p:spPr>
        <p:txBody>
          <a:bodyPr wrap="square" lIns="0" tIns="0" rIns="0" bIns="0" rtlCol="0" anchor="ctr"/>
          <a:lstStyle/>
          <a:p>
            <a:pPr marL="0" indent="0" algn="ctr">
              <a:buNone/>
            </a:pPr>
            <a:r>
              <a:rPr lang="en-US" sz="1600" b="1" dirty="0">
                <a:solidFill>
                  <a:srgbClr val="3FD9C4"/>
                </a:solidFill>
                <a:latin typeface="Consolas" pitchFamily="34" charset="0"/>
                <a:ea typeface="Consolas" pitchFamily="34" charset="-122"/>
                <a:cs typeface="Consolas" pitchFamily="34" charset="-120"/>
              </a:rPr>
              <a:t>s</a:t>
            </a:r>
            <a:endParaRPr lang="en-US" sz="1600" dirty="0"/>
          </a:p>
        </p:txBody>
      </p:sp>
      <p:sp>
        <p:nvSpPr>
          <p:cNvPr id="10" name="Text 8"/>
          <p:cNvSpPr/>
          <p:nvPr/>
        </p:nvSpPr>
        <p:spPr>
          <a:xfrm>
            <a:off x="2331720" y="841248"/>
            <a:ext cx="274320" cy="384048"/>
          </a:xfrm>
          <a:prstGeom prst="rect">
            <a:avLst/>
          </a:prstGeom>
          <a:noFill/>
          <a:ln/>
        </p:spPr>
        <p:txBody>
          <a:bodyPr wrap="square" lIns="0" tIns="0" rIns="0" bIns="0" rtlCol="0" anchor="ctr"/>
          <a:lstStyle/>
          <a:p>
            <a:pPr marL="0" indent="0" algn="ctr">
              <a:buNone/>
            </a:pPr>
            <a:r>
              <a:rPr lang="en-US" sz="1600" b="1" dirty="0">
                <a:solidFill>
                  <a:srgbClr val="3FD9C4"/>
                </a:solidFill>
                <a:latin typeface="Consolas" pitchFamily="34" charset="0"/>
                <a:ea typeface="Consolas" pitchFamily="34" charset="-122"/>
                <a:cs typeface="Consolas" pitchFamily="34" charset="-120"/>
              </a:rPr>
              <a:t>e</a:t>
            </a:r>
            <a:endParaRPr lang="en-US" sz="1600" dirty="0"/>
          </a:p>
        </p:txBody>
      </p:sp>
      <p:sp>
        <p:nvSpPr>
          <p:cNvPr id="11" name="Text 9"/>
          <p:cNvSpPr/>
          <p:nvPr/>
        </p:nvSpPr>
        <p:spPr>
          <a:xfrm>
            <a:off x="2615184" y="841248"/>
            <a:ext cx="274320" cy="384048"/>
          </a:xfrm>
          <a:prstGeom prst="rect">
            <a:avLst/>
          </a:prstGeom>
          <a:noFill/>
          <a:ln/>
        </p:spPr>
        <p:txBody>
          <a:bodyPr wrap="square" lIns="0" tIns="0" rIns="0" bIns="0" rtlCol="0" anchor="ctr"/>
          <a:lstStyle/>
          <a:p>
            <a:pPr marL="0" indent="0" algn="ctr">
              <a:buNone/>
            </a:pPr>
            <a:r>
              <a:rPr lang="en-US" sz="1600" b="1" dirty="0">
                <a:solidFill>
                  <a:srgbClr val="3FD9C4"/>
                </a:solidFill>
                <a:latin typeface="Consolas" pitchFamily="34" charset="0"/>
                <a:ea typeface="Consolas" pitchFamily="34" charset="-122"/>
                <a:cs typeface="Consolas" pitchFamily="34" charset="-120"/>
              </a:rPr>
              <a:t>r</a:t>
            </a:r>
            <a:endParaRPr lang="en-US" sz="1600" dirty="0"/>
          </a:p>
        </p:txBody>
      </p:sp>
      <p:sp>
        <p:nvSpPr>
          <p:cNvPr id="12" name="Text 10"/>
          <p:cNvSpPr/>
          <p:nvPr/>
        </p:nvSpPr>
        <p:spPr>
          <a:xfrm>
            <a:off x="2898648" y="841248"/>
            <a:ext cx="274320" cy="384048"/>
          </a:xfrm>
          <a:prstGeom prst="rect">
            <a:avLst/>
          </a:prstGeom>
          <a:noFill/>
          <a:ln/>
        </p:spPr>
        <p:txBody>
          <a:bodyPr wrap="square" lIns="0" tIns="0" rIns="0" bIns="0" rtlCol="0" anchor="ctr"/>
          <a:lstStyle/>
          <a:p>
            <a:pPr marL="0" indent="0" algn="ctr">
              <a:buNone/>
            </a:pPr>
            <a:r>
              <a:rPr lang="en-US" sz="1600" b="1" dirty="0">
                <a:solidFill>
                  <a:srgbClr val="3FD9C4"/>
                </a:solidFill>
                <a:latin typeface="Consolas" pitchFamily="34" charset="0"/>
                <a:ea typeface="Consolas" pitchFamily="34" charset="-122"/>
                <a:cs typeface="Consolas" pitchFamily="34" charset="-120"/>
              </a:rPr>
              <a:t>s</a:t>
            </a:r>
            <a:endParaRPr lang="en-US" sz="1600" dirty="0"/>
          </a:p>
        </p:txBody>
      </p:sp>
      <p:sp>
        <p:nvSpPr>
          <p:cNvPr id="13" name="Text 11"/>
          <p:cNvSpPr/>
          <p:nvPr/>
        </p:nvSpPr>
        <p:spPr>
          <a:xfrm>
            <a:off x="3182112" y="841248"/>
            <a:ext cx="274320" cy="384048"/>
          </a:xfrm>
          <a:prstGeom prst="rect">
            <a:avLst/>
          </a:prstGeom>
          <a:noFill/>
          <a:ln/>
        </p:spPr>
        <p:txBody>
          <a:bodyPr wrap="square" lIns="0" tIns="0" rIns="0" bIns="0" rtlCol="0" anchor="ctr"/>
          <a:lstStyle/>
          <a:p>
            <a:pPr marL="0" indent="0" algn="ctr">
              <a:buNone/>
            </a:pPr>
            <a:r>
              <a:rPr lang="en-US" sz="1600" b="1" dirty="0">
                <a:solidFill>
                  <a:srgbClr val="3D444D"/>
                </a:solidFill>
                <a:latin typeface="Consolas" pitchFamily="34" charset="0"/>
                <a:ea typeface="Consolas" pitchFamily="34" charset="-122"/>
                <a:cs typeface="Consolas" pitchFamily="34" charset="-120"/>
              </a:rPr>
              <a:t>\</a:t>
            </a:r>
            <a:endParaRPr lang="en-US" sz="1600" dirty="0"/>
          </a:p>
        </p:txBody>
      </p:sp>
      <p:sp>
        <p:nvSpPr>
          <p:cNvPr id="14" name="Text 12"/>
          <p:cNvSpPr/>
          <p:nvPr/>
        </p:nvSpPr>
        <p:spPr>
          <a:xfrm>
            <a:off x="3465576" y="841248"/>
            <a:ext cx="274320" cy="384048"/>
          </a:xfrm>
          <a:prstGeom prst="rect">
            <a:avLst/>
          </a:prstGeom>
          <a:noFill/>
          <a:ln/>
        </p:spPr>
        <p:txBody>
          <a:bodyPr wrap="square" lIns="0" tIns="0" rIns="0" bIns="0" rtlCol="0" anchor="ctr"/>
          <a:lstStyle/>
          <a:p>
            <a:pPr marL="0" indent="0" algn="ctr">
              <a:buNone/>
            </a:pPr>
            <a:r>
              <a:rPr lang="en-US" sz="1600" b="1" dirty="0">
                <a:solidFill>
                  <a:srgbClr val="58A6FF"/>
                </a:solidFill>
                <a:latin typeface="Consolas" pitchFamily="34" charset="0"/>
                <a:ea typeface="Consolas" pitchFamily="34" charset="-122"/>
                <a:cs typeface="Consolas" pitchFamily="34" charset="-120"/>
              </a:rPr>
              <a:t>A</a:t>
            </a:r>
            <a:endParaRPr lang="en-US" sz="1600" dirty="0"/>
          </a:p>
        </p:txBody>
      </p:sp>
      <p:sp>
        <p:nvSpPr>
          <p:cNvPr id="15" name="Text 13"/>
          <p:cNvSpPr/>
          <p:nvPr/>
        </p:nvSpPr>
        <p:spPr>
          <a:xfrm>
            <a:off x="3749040" y="841248"/>
            <a:ext cx="274320" cy="384048"/>
          </a:xfrm>
          <a:prstGeom prst="rect">
            <a:avLst/>
          </a:prstGeom>
          <a:noFill/>
          <a:ln/>
        </p:spPr>
        <p:txBody>
          <a:bodyPr wrap="square" lIns="0" tIns="0" rIns="0" bIns="0" rtlCol="0" anchor="ctr"/>
          <a:lstStyle/>
          <a:p>
            <a:pPr marL="0" indent="0" algn="ctr">
              <a:buNone/>
            </a:pPr>
            <a:r>
              <a:rPr lang="en-US" sz="1600" b="1" dirty="0">
                <a:solidFill>
                  <a:srgbClr val="58A6FF"/>
                </a:solidFill>
                <a:latin typeface="Consolas" pitchFamily="34" charset="0"/>
                <a:ea typeface="Consolas" pitchFamily="34" charset="-122"/>
                <a:cs typeface="Consolas" pitchFamily="34" charset="-120"/>
              </a:rPr>
              <a:t>h</a:t>
            </a:r>
            <a:endParaRPr lang="en-US" sz="1600" dirty="0"/>
          </a:p>
        </p:txBody>
      </p:sp>
      <p:sp>
        <p:nvSpPr>
          <p:cNvPr id="16" name="Text 14"/>
          <p:cNvSpPr/>
          <p:nvPr/>
        </p:nvSpPr>
        <p:spPr>
          <a:xfrm>
            <a:off x="4032504" y="841248"/>
            <a:ext cx="274320" cy="384048"/>
          </a:xfrm>
          <a:prstGeom prst="rect">
            <a:avLst/>
          </a:prstGeom>
          <a:noFill/>
          <a:ln/>
        </p:spPr>
        <p:txBody>
          <a:bodyPr wrap="square" lIns="0" tIns="0" rIns="0" bIns="0" rtlCol="0" anchor="ctr"/>
          <a:lstStyle/>
          <a:p>
            <a:pPr marL="0" indent="0" algn="ctr">
              <a:buNone/>
            </a:pPr>
            <a:r>
              <a:rPr lang="en-US" sz="1600" b="1" dirty="0">
                <a:solidFill>
                  <a:srgbClr val="58A6FF"/>
                </a:solidFill>
                <a:latin typeface="Consolas" pitchFamily="34" charset="0"/>
                <a:ea typeface="Consolas" pitchFamily="34" charset="-122"/>
                <a:cs typeface="Consolas" pitchFamily="34" charset="-120"/>
              </a:rPr>
              <a:t>m</a:t>
            </a:r>
            <a:endParaRPr lang="en-US" sz="1600" dirty="0"/>
          </a:p>
        </p:txBody>
      </p:sp>
      <p:sp>
        <p:nvSpPr>
          <p:cNvPr id="17" name="Text 15"/>
          <p:cNvSpPr/>
          <p:nvPr/>
        </p:nvSpPr>
        <p:spPr>
          <a:xfrm>
            <a:off x="4315968" y="841248"/>
            <a:ext cx="274320" cy="384048"/>
          </a:xfrm>
          <a:prstGeom prst="rect">
            <a:avLst/>
          </a:prstGeom>
          <a:noFill/>
          <a:ln/>
        </p:spPr>
        <p:txBody>
          <a:bodyPr wrap="square" lIns="0" tIns="0" rIns="0" bIns="0" rtlCol="0" anchor="ctr"/>
          <a:lstStyle/>
          <a:p>
            <a:pPr marL="0" indent="0" algn="ctr">
              <a:buNone/>
            </a:pPr>
            <a:r>
              <a:rPr lang="en-US" sz="1600" b="1" dirty="0">
                <a:solidFill>
                  <a:srgbClr val="58A6FF"/>
                </a:solidFill>
                <a:latin typeface="Consolas" pitchFamily="34" charset="0"/>
                <a:ea typeface="Consolas" pitchFamily="34" charset="-122"/>
                <a:cs typeface="Consolas" pitchFamily="34" charset="-120"/>
              </a:rPr>
              <a:t>e</a:t>
            </a:r>
            <a:endParaRPr lang="en-US" sz="1600" dirty="0"/>
          </a:p>
        </p:txBody>
      </p:sp>
      <p:sp>
        <p:nvSpPr>
          <p:cNvPr id="18" name="Text 16"/>
          <p:cNvSpPr/>
          <p:nvPr/>
        </p:nvSpPr>
        <p:spPr>
          <a:xfrm>
            <a:off x="4599432" y="841248"/>
            <a:ext cx="274320" cy="384048"/>
          </a:xfrm>
          <a:prstGeom prst="rect">
            <a:avLst/>
          </a:prstGeom>
          <a:noFill/>
          <a:ln/>
        </p:spPr>
        <p:txBody>
          <a:bodyPr wrap="square" lIns="0" tIns="0" rIns="0" bIns="0" rtlCol="0" anchor="ctr"/>
          <a:lstStyle/>
          <a:p>
            <a:pPr marL="0" indent="0" algn="ctr">
              <a:buNone/>
            </a:pPr>
            <a:r>
              <a:rPr lang="en-US" sz="1600" b="1" dirty="0">
                <a:solidFill>
                  <a:srgbClr val="58A6FF"/>
                </a:solidFill>
                <a:latin typeface="Consolas" pitchFamily="34" charset="0"/>
                <a:ea typeface="Consolas" pitchFamily="34" charset="-122"/>
                <a:cs typeface="Consolas" pitchFamily="34" charset="-120"/>
              </a:rPr>
              <a:t>d</a:t>
            </a:r>
            <a:endParaRPr lang="en-US" sz="1600" dirty="0"/>
          </a:p>
        </p:txBody>
      </p:sp>
      <p:sp>
        <p:nvSpPr>
          <p:cNvPr id="19" name="Text 17"/>
          <p:cNvSpPr/>
          <p:nvPr/>
        </p:nvSpPr>
        <p:spPr>
          <a:xfrm>
            <a:off x="4882896" y="841248"/>
            <a:ext cx="274320" cy="384048"/>
          </a:xfrm>
          <a:prstGeom prst="rect">
            <a:avLst/>
          </a:prstGeom>
          <a:noFill/>
          <a:ln/>
        </p:spPr>
        <p:txBody>
          <a:bodyPr wrap="square" lIns="0" tIns="0" rIns="0" bIns="0" rtlCol="0" anchor="ctr"/>
          <a:lstStyle/>
          <a:p>
            <a:pPr marL="0" indent="0" algn="ctr">
              <a:buNone/>
            </a:pPr>
            <a:r>
              <a:rPr lang="en-US" sz="1600" b="1" dirty="0">
                <a:solidFill>
                  <a:srgbClr val="3D444D"/>
                </a:solidFill>
                <a:latin typeface="Consolas" pitchFamily="34" charset="0"/>
                <a:ea typeface="Consolas" pitchFamily="34" charset="-122"/>
                <a:cs typeface="Consolas" pitchFamily="34" charset="-120"/>
              </a:rPr>
              <a:t>\</a:t>
            </a:r>
            <a:endParaRPr lang="en-US" sz="1600" dirty="0"/>
          </a:p>
        </p:txBody>
      </p:sp>
      <p:sp>
        <p:nvSpPr>
          <p:cNvPr id="20" name="Text 18"/>
          <p:cNvSpPr/>
          <p:nvPr/>
        </p:nvSpPr>
        <p:spPr>
          <a:xfrm>
            <a:off x="5166360" y="841248"/>
            <a:ext cx="274320" cy="384048"/>
          </a:xfrm>
          <a:prstGeom prst="rect">
            <a:avLst/>
          </a:prstGeom>
          <a:noFill/>
          <a:ln/>
        </p:spPr>
        <p:txBody>
          <a:bodyPr wrap="square" lIns="0" tIns="0" rIns="0" bIns="0" rtlCol="0" anchor="ctr"/>
          <a:lstStyle/>
          <a:p>
            <a:pPr marL="0" indent="0" algn="ctr">
              <a:buNone/>
            </a:pPr>
            <a:r>
              <a:rPr lang="en-US" sz="1600" b="1" dirty="0">
                <a:solidFill>
                  <a:srgbClr val="BC8CFF"/>
                </a:solidFill>
                <a:latin typeface="Consolas" pitchFamily="34" charset="0"/>
                <a:ea typeface="Consolas" pitchFamily="34" charset="-122"/>
                <a:cs typeface="Consolas" pitchFamily="34" charset="-120"/>
              </a:rPr>
              <a:t>D</a:t>
            </a:r>
            <a:endParaRPr lang="en-US" sz="1600" dirty="0"/>
          </a:p>
        </p:txBody>
      </p:sp>
      <p:sp>
        <p:nvSpPr>
          <p:cNvPr id="21" name="Text 19"/>
          <p:cNvSpPr/>
          <p:nvPr/>
        </p:nvSpPr>
        <p:spPr>
          <a:xfrm>
            <a:off x="5449824" y="841248"/>
            <a:ext cx="274320" cy="384048"/>
          </a:xfrm>
          <a:prstGeom prst="rect">
            <a:avLst/>
          </a:prstGeom>
          <a:noFill/>
          <a:ln/>
        </p:spPr>
        <p:txBody>
          <a:bodyPr wrap="square" lIns="0" tIns="0" rIns="0" bIns="0" rtlCol="0" anchor="ctr"/>
          <a:lstStyle/>
          <a:p>
            <a:pPr marL="0" indent="0" algn="ctr">
              <a:buNone/>
            </a:pPr>
            <a:r>
              <a:rPr lang="en-US" sz="1600" b="1" dirty="0">
                <a:solidFill>
                  <a:srgbClr val="BC8CFF"/>
                </a:solidFill>
                <a:latin typeface="Consolas" pitchFamily="34" charset="0"/>
                <a:ea typeface="Consolas" pitchFamily="34" charset="-122"/>
                <a:cs typeface="Consolas" pitchFamily="34" charset="-120"/>
              </a:rPr>
              <a:t>o</a:t>
            </a:r>
            <a:endParaRPr lang="en-US" sz="1600" dirty="0"/>
          </a:p>
        </p:txBody>
      </p:sp>
      <p:sp>
        <p:nvSpPr>
          <p:cNvPr id="22" name="Text 20"/>
          <p:cNvSpPr/>
          <p:nvPr/>
        </p:nvSpPr>
        <p:spPr>
          <a:xfrm>
            <a:off x="5733288" y="841248"/>
            <a:ext cx="274320" cy="384048"/>
          </a:xfrm>
          <a:prstGeom prst="rect">
            <a:avLst/>
          </a:prstGeom>
          <a:noFill/>
          <a:ln/>
        </p:spPr>
        <p:txBody>
          <a:bodyPr wrap="square" lIns="0" tIns="0" rIns="0" bIns="0" rtlCol="0" anchor="ctr"/>
          <a:lstStyle/>
          <a:p>
            <a:pPr marL="0" indent="0" algn="ctr">
              <a:buNone/>
            </a:pPr>
            <a:r>
              <a:rPr lang="en-US" sz="1600" b="1" dirty="0">
                <a:solidFill>
                  <a:srgbClr val="BC8CFF"/>
                </a:solidFill>
                <a:latin typeface="Consolas" pitchFamily="34" charset="0"/>
                <a:ea typeface="Consolas" pitchFamily="34" charset="-122"/>
                <a:cs typeface="Consolas" pitchFamily="34" charset="-120"/>
              </a:rPr>
              <a:t>c</a:t>
            </a:r>
            <a:endParaRPr lang="en-US" sz="1600" dirty="0"/>
          </a:p>
        </p:txBody>
      </p:sp>
      <p:sp>
        <p:nvSpPr>
          <p:cNvPr id="23" name="Text 21"/>
          <p:cNvSpPr/>
          <p:nvPr/>
        </p:nvSpPr>
        <p:spPr>
          <a:xfrm>
            <a:off x="6016752" y="841248"/>
            <a:ext cx="274320" cy="384048"/>
          </a:xfrm>
          <a:prstGeom prst="rect">
            <a:avLst/>
          </a:prstGeom>
          <a:noFill/>
          <a:ln/>
        </p:spPr>
        <p:txBody>
          <a:bodyPr wrap="square" lIns="0" tIns="0" rIns="0" bIns="0" rtlCol="0" anchor="ctr"/>
          <a:lstStyle/>
          <a:p>
            <a:pPr marL="0" indent="0" algn="ctr">
              <a:buNone/>
            </a:pPr>
            <a:r>
              <a:rPr lang="en-US" sz="1600" b="1" dirty="0">
                <a:solidFill>
                  <a:srgbClr val="BC8CFF"/>
                </a:solidFill>
                <a:latin typeface="Consolas" pitchFamily="34" charset="0"/>
                <a:ea typeface="Consolas" pitchFamily="34" charset="-122"/>
                <a:cs typeface="Consolas" pitchFamily="34" charset="-120"/>
              </a:rPr>
              <a:t>s</a:t>
            </a:r>
            <a:endParaRPr lang="en-US" sz="1600" dirty="0"/>
          </a:p>
        </p:txBody>
      </p:sp>
      <p:sp>
        <p:nvSpPr>
          <p:cNvPr id="24" name="Text 22"/>
          <p:cNvSpPr/>
          <p:nvPr/>
        </p:nvSpPr>
        <p:spPr>
          <a:xfrm>
            <a:off x="6300216" y="841248"/>
            <a:ext cx="274320" cy="384048"/>
          </a:xfrm>
          <a:prstGeom prst="rect">
            <a:avLst/>
          </a:prstGeom>
          <a:noFill/>
          <a:ln/>
        </p:spPr>
        <p:txBody>
          <a:bodyPr wrap="square" lIns="0" tIns="0" rIns="0" bIns="0" rtlCol="0" anchor="ctr"/>
          <a:lstStyle/>
          <a:p>
            <a:pPr marL="0" indent="0" algn="ctr">
              <a:buNone/>
            </a:pPr>
            <a:r>
              <a:rPr lang="en-US" sz="1600" b="1" dirty="0">
                <a:solidFill>
                  <a:srgbClr val="3D444D"/>
                </a:solidFill>
                <a:latin typeface="Consolas" pitchFamily="34" charset="0"/>
                <a:ea typeface="Consolas" pitchFamily="34" charset="-122"/>
                <a:cs typeface="Consolas" pitchFamily="34" charset="-120"/>
              </a:rPr>
              <a:t>\</a:t>
            </a:r>
            <a:endParaRPr lang="en-US" sz="1600" dirty="0"/>
          </a:p>
        </p:txBody>
      </p:sp>
      <p:sp>
        <p:nvSpPr>
          <p:cNvPr id="25" name="Text 23"/>
          <p:cNvSpPr/>
          <p:nvPr/>
        </p:nvSpPr>
        <p:spPr>
          <a:xfrm>
            <a:off x="6583680" y="841248"/>
            <a:ext cx="274320" cy="384048"/>
          </a:xfrm>
          <a:prstGeom prst="rect">
            <a:avLst/>
          </a:prstGeom>
          <a:noFill/>
          <a:ln/>
        </p:spPr>
        <p:txBody>
          <a:bodyPr wrap="square" lIns="0" tIns="0" rIns="0" bIns="0" rtlCol="0" anchor="ctr"/>
          <a:lstStyle/>
          <a:p>
            <a:pPr marL="0" indent="0" algn="ctr">
              <a:buNone/>
            </a:pPr>
            <a:r>
              <a:rPr lang="en-US" sz="1600" b="1" dirty="0">
                <a:solidFill>
                  <a:srgbClr val="F0F6FC"/>
                </a:solidFill>
                <a:latin typeface="Consolas" pitchFamily="34" charset="0"/>
                <a:ea typeface="Consolas" pitchFamily="34" charset="-122"/>
                <a:cs typeface="Consolas" pitchFamily="34" charset="-120"/>
              </a:rPr>
              <a:t>f</a:t>
            </a:r>
            <a:endParaRPr lang="en-US" sz="1600" dirty="0"/>
          </a:p>
        </p:txBody>
      </p:sp>
      <p:sp>
        <p:nvSpPr>
          <p:cNvPr id="26" name="Text 24"/>
          <p:cNvSpPr/>
          <p:nvPr/>
        </p:nvSpPr>
        <p:spPr>
          <a:xfrm>
            <a:off x="6867144" y="841248"/>
            <a:ext cx="274320" cy="384048"/>
          </a:xfrm>
          <a:prstGeom prst="rect">
            <a:avLst/>
          </a:prstGeom>
          <a:noFill/>
          <a:ln/>
        </p:spPr>
        <p:txBody>
          <a:bodyPr wrap="square" lIns="0" tIns="0" rIns="0" bIns="0" rtlCol="0" anchor="ctr"/>
          <a:lstStyle/>
          <a:p>
            <a:pPr marL="0" indent="0" algn="ctr">
              <a:buNone/>
            </a:pPr>
            <a:r>
              <a:rPr lang="en-US" sz="1600" b="1" dirty="0">
                <a:solidFill>
                  <a:srgbClr val="F0F6FC"/>
                </a:solidFill>
                <a:latin typeface="Consolas" pitchFamily="34" charset="0"/>
                <a:ea typeface="Consolas" pitchFamily="34" charset="-122"/>
                <a:cs typeface="Consolas" pitchFamily="34" charset="-120"/>
              </a:rPr>
              <a:t>i</a:t>
            </a:r>
            <a:endParaRPr lang="en-US" sz="1600" dirty="0"/>
          </a:p>
        </p:txBody>
      </p:sp>
      <p:sp>
        <p:nvSpPr>
          <p:cNvPr id="27" name="Text 25"/>
          <p:cNvSpPr/>
          <p:nvPr/>
        </p:nvSpPr>
        <p:spPr>
          <a:xfrm>
            <a:off x="7150608" y="841248"/>
            <a:ext cx="274320" cy="384048"/>
          </a:xfrm>
          <a:prstGeom prst="rect">
            <a:avLst/>
          </a:prstGeom>
          <a:noFill/>
          <a:ln/>
        </p:spPr>
        <p:txBody>
          <a:bodyPr wrap="square" lIns="0" tIns="0" rIns="0" bIns="0" rtlCol="0" anchor="ctr"/>
          <a:lstStyle/>
          <a:p>
            <a:pPr marL="0" indent="0" algn="ctr">
              <a:buNone/>
            </a:pPr>
            <a:r>
              <a:rPr lang="en-US" sz="1600" b="1" dirty="0">
                <a:solidFill>
                  <a:srgbClr val="F0F6FC"/>
                </a:solidFill>
                <a:latin typeface="Consolas" pitchFamily="34" charset="0"/>
                <a:ea typeface="Consolas" pitchFamily="34" charset="-122"/>
                <a:cs typeface="Consolas" pitchFamily="34" charset="-120"/>
              </a:rPr>
              <a:t>l</a:t>
            </a:r>
            <a:endParaRPr lang="en-US" sz="1600" dirty="0"/>
          </a:p>
        </p:txBody>
      </p:sp>
      <p:sp>
        <p:nvSpPr>
          <p:cNvPr id="28" name="Text 26"/>
          <p:cNvSpPr/>
          <p:nvPr/>
        </p:nvSpPr>
        <p:spPr>
          <a:xfrm>
            <a:off x="7434072" y="841248"/>
            <a:ext cx="274320" cy="384048"/>
          </a:xfrm>
          <a:prstGeom prst="rect">
            <a:avLst/>
          </a:prstGeom>
          <a:noFill/>
          <a:ln/>
        </p:spPr>
        <p:txBody>
          <a:bodyPr wrap="square" lIns="0" tIns="0" rIns="0" bIns="0" rtlCol="0" anchor="ctr"/>
          <a:lstStyle/>
          <a:p>
            <a:pPr marL="0" indent="0" algn="ctr">
              <a:buNone/>
            </a:pPr>
            <a:r>
              <a:rPr lang="en-US" sz="1600" b="1" dirty="0">
                <a:solidFill>
                  <a:srgbClr val="F0F6FC"/>
                </a:solidFill>
                <a:latin typeface="Consolas" pitchFamily="34" charset="0"/>
                <a:ea typeface="Consolas" pitchFamily="34" charset="-122"/>
                <a:cs typeface="Consolas" pitchFamily="34" charset="-120"/>
              </a:rPr>
              <a:t>e</a:t>
            </a:r>
            <a:endParaRPr lang="en-US" sz="1600" dirty="0"/>
          </a:p>
        </p:txBody>
      </p:sp>
      <p:sp>
        <p:nvSpPr>
          <p:cNvPr id="29" name="Text 27"/>
          <p:cNvSpPr/>
          <p:nvPr/>
        </p:nvSpPr>
        <p:spPr>
          <a:xfrm>
            <a:off x="7717536" y="841248"/>
            <a:ext cx="274320" cy="384048"/>
          </a:xfrm>
          <a:prstGeom prst="rect">
            <a:avLst/>
          </a:prstGeom>
          <a:noFill/>
          <a:ln/>
        </p:spPr>
        <p:txBody>
          <a:bodyPr wrap="square" lIns="0" tIns="0" rIns="0" bIns="0" rtlCol="0" anchor="ctr"/>
          <a:lstStyle/>
          <a:p>
            <a:pPr marL="0" indent="0" algn="ctr">
              <a:buNone/>
            </a:pPr>
            <a:r>
              <a:rPr lang="en-US" sz="1600" b="1" dirty="0">
                <a:solidFill>
                  <a:srgbClr val="E3B341"/>
                </a:solidFill>
                <a:latin typeface="Consolas" pitchFamily="34" charset="0"/>
                <a:ea typeface="Consolas" pitchFamily="34" charset="-122"/>
                <a:cs typeface="Consolas" pitchFamily="34" charset="-120"/>
              </a:rPr>
              <a:t>.</a:t>
            </a:r>
            <a:endParaRPr lang="en-US" sz="1600" dirty="0"/>
          </a:p>
        </p:txBody>
      </p:sp>
      <p:sp>
        <p:nvSpPr>
          <p:cNvPr id="30" name="Text 28"/>
          <p:cNvSpPr/>
          <p:nvPr/>
        </p:nvSpPr>
        <p:spPr>
          <a:xfrm>
            <a:off x="8001000" y="841248"/>
            <a:ext cx="274320" cy="384048"/>
          </a:xfrm>
          <a:prstGeom prst="rect">
            <a:avLst/>
          </a:prstGeom>
          <a:noFill/>
          <a:ln/>
        </p:spPr>
        <p:txBody>
          <a:bodyPr wrap="square" lIns="0" tIns="0" rIns="0" bIns="0" rtlCol="0" anchor="ctr"/>
          <a:lstStyle/>
          <a:p>
            <a:pPr marL="0" indent="0" algn="ctr">
              <a:buNone/>
            </a:pPr>
            <a:r>
              <a:rPr lang="en-US" sz="1600" b="1" dirty="0">
                <a:solidFill>
                  <a:srgbClr val="3FB950"/>
                </a:solidFill>
                <a:latin typeface="Consolas" pitchFamily="34" charset="0"/>
                <a:ea typeface="Consolas" pitchFamily="34" charset="-122"/>
                <a:cs typeface="Consolas" pitchFamily="34" charset="-120"/>
              </a:rPr>
              <a:t>p</a:t>
            </a:r>
            <a:endParaRPr lang="en-US" sz="1600" dirty="0"/>
          </a:p>
        </p:txBody>
      </p:sp>
      <p:sp>
        <p:nvSpPr>
          <p:cNvPr id="31" name="Text 29"/>
          <p:cNvSpPr/>
          <p:nvPr/>
        </p:nvSpPr>
        <p:spPr>
          <a:xfrm>
            <a:off x="8284464" y="841248"/>
            <a:ext cx="274320" cy="384048"/>
          </a:xfrm>
          <a:prstGeom prst="rect">
            <a:avLst/>
          </a:prstGeom>
          <a:noFill/>
          <a:ln/>
        </p:spPr>
        <p:txBody>
          <a:bodyPr wrap="square" lIns="0" tIns="0" rIns="0" bIns="0" rtlCol="0" anchor="ctr"/>
          <a:lstStyle/>
          <a:p>
            <a:pPr marL="0" indent="0" algn="ctr">
              <a:buNone/>
            </a:pPr>
            <a:r>
              <a:rPr lang="en-US" sz="1600" b="1" dirty="0">
                <a:solidFill>
                  <a:srgbClr val="3FB950"/>
                </a:solidFill>
                <a:latin typeface="Consolas" pitchFamily="34" charset="0"/>
                <a:ea typeface="Consolas" pitchFamily="34" charset="-122"/>
                <a:cs typeface="Consolas" pitchFamily="34" charset="-120"/>
              </a:rPr>
              <a:t>y</a:t>
            </a:r>
            <a:endParaRPr lang="en-US" sz="1600" dirty="0"/>
          </a:p>
        </p:txBody>
      </p:sp>
      <p:sp>
        <p:nvSpPr>
          <p:cNvPr id="32" name="Text 30"/>
          <p:cNvSpPr/>
          <p:nvPr/>
        </p:nvSpPr>
        <p:spPr>
          <a:xfrm>
            <a:off x="548640" y="1417320"/>
            <a:ext cx="8046720" cy="804672"/>
          </a:xfrm>
          <a:prstGeom prst="rect">
            <a:avLst/>
          </a:prstGeom>
          <a:noFill/>
          <a:ln/>
        </p:spPr>
        <p:txBody>
          <a:bodyPr wrap="square" lIns="0" tIns="0" rIns="0" bIns="0" rtlCol="0" anchor="ctr"/>
          <a:lstStyle/>
          <a:p>
            <a:pPr marL="0" indent="0" algn="ctr">
              <a:buNone/>
            </a:pPr>
            <a:r>
              <a:rPr lang="en-US" sz="5200" b="1" dirty="0">
                <a:solidFill>
                  <a:srgbClr val="F0F6FC"/>
                </a:solidFill>
                <a:latin typeface="Calibri" pitchFamily="34" charset="0"/>
                <a:ea typeface="Calibri" pitchFamily="34" charset="-122"/>
                <a:cs typeface="Calibri" pitchFamily="34" charset="-120"/>
              </a:rPr>
              <a:t>File Extensions</a:t>
            </a:r>
            <a:endParaRPr lang="en-US" sz="5200" dirty="0"/>
          </a:p>
        </p:txBody>
      </p:sp>
      <p:sp>
        <p:nvSpPr>
          <p:cNvPr id="33" name="Text 31"/>
          <p:cNvSpPr/>
          <p:nvPr/>
        </p:nvSpPr>
        <p:spPr>
          <a:xfrm>
            <a:off x="548640" y="2148840"/>
            <a:ext cx="8046720" cy="804672"/>
          </a:xfrm>
          <a:prstGeom prst="rect">
            <a:avLst/>
          </a:prstGeom>
          <a:noFill/>
          <a:ln/>
        </p:spPr>
        <p:txBody>
          <a:bodyPr wrap="square" lIns="0" tIns="0" rIns="0" bIns="0" rtlCol="0" anchor="ctr"/>
          <a:lstStyle/>
          <a:p>
            <a:pPr marL="0" indent="0" algn="ctr">
              <a:buNone/>
            </a:pPr>
            <a:r>
              <a:rPr lang="en-US" sz="5200" b="1" dirty="0">
                <a:solidFill>
                  <a:srgbClr val="3FD9C4"/>
                </a:solidFill>
                <a:latin typeface="Calibri" pitchFamily="34" charset="0"/>
                <a:ea typeface="Calibri" pitchFamily="34" charset="-122"/>
                <a:cs typeface="Calibri" pitchFamily="34" charset="-120"/>
              </a:rPr>
              <a:t>&amp; File Paths</a:t>
            </a:r>
            <a:endParaRPr lang="en-US" sz="5200" dirty="0"/>
          </a:p>
        </p:txBody>
      </p:sp>
      <p:sp>
        <p:nvSpPr>
          <p:cNvPr id="34" name="Text 32"/>
          <p:cNvSpPr/>
          <p:nvPr/>
        </p:nvSpPr>
        <p:spPr>
          <a:xfrm>
            <a:off x="548640" y="2999232"/>
            <a:ext cx="8046720" cy="329184"/>
          </a:xfrm>
          <a:prstGeom prst="rect">
            <a:avLst/>
          </a:prstGeom>
          <a:noFill/>
          <a:ln/>
        </p:spPr>
        <p:txBody>
          <a:bodyPr wrap="square" lIns="0" tIns="0" rIns="0" bIns="0" rtlCol="0" anchor="ctr"/>
          <a:lstStyle/>
          <a:p>
            <a:pPr marL="0" indent="0" algn="ctr">
              <a:buNone/>
            </a:pPr>
            <a:r>
              <a:rPr lang="en-US" sz="1500" i="1" dirty="0">
                <a:solidFill>
                  <a:srgbClr val="8B949E"/>
                </a:solidFill>
                <a:latin typeface="Calibri" pitchFamily="34" charset="0"/>
                <a:ea typeface="Calibri" pitchFamily="34" charset="-122"/>
                <a:cs typeface="Calibri" pitchFamily="34" charset="-120"/>
              </a:rPr>
              <a:t>What they mean · How they work · Windows vs Linux</a:t>
            </a:r>
            <a:endParaRPr lang="en-US" sz="1500" dirty="0"/>
          </a:p>
        </p:txBody>
      </p:sp>
      <p:sp>
        <p:nvSpPr>
          <p:cNvPr id="35" name="Shape 33"/>
          <p:cNvSpPr/>
          <p:nvPr/>
        </p:nvSpPr>
        <p:spPr>
          <a:xfrm>
            <a:off x="2468880" y="3401568"/>
            <a:ext cx="274320" cy="274320"/>
          </a:xfrm>
          <a:prstGeom prst="ellipse">
            <a:avLst/>
          </a:prstGeom>
          <a:solidFill>
            <a:srgbClr val="3FD9C4"/>
          </a:solidFill>
          <a:ln w="12700">
            <a:solidFill>
              <a:srgbClr val="3FD9C4"/>
            </a:solidFill>
            <a:prstDash val="solid"/>
          </a:ln>
        </p:spPr>
        <p:txBody>
          <a:bodyPr/>
          <a:lstStyle/>
          <a:p>
            <a:endParaRPr lang="en-US"/>
          </a:p>
        </p:txBody>
      </p:sp>
      <p:sp>
        <p:nvSpPr>
          <p:cNvPr id="36" name="Shape 34"/>
          <p:cNvSpPr/>
          <p:nvPr/>
        </p:nvSpPr>
        <p:spPr>
          <a:xfrm>
            <a:off x="3090672" y="3401568"/>
            <a:ext cx="274320" cy="274320"/>
          </a:xfrm>
          <a:prstGeom prst="ellipse">
            <a:avLst/>
          </a:prstGeom>
          <a:solidFill>
            <a:srgbClr val="58A6FF"/>
          </a:solidFill>
          <a:ln w="12700">
            <a:solidFill>
              <a:srgbClr val="58A6FF"/>
            </a:solidFill>
            <a:prstDash val="solid"/>
          </a:ln>
        </p:spPr>
        <p:txBody>
          <a:bodyPr/>
          <a:lstStyle/>
          <a:p>
            <a:endParaRPr lang="en-US"/>
          </a:p>
        </p:txBody>
      </p:sp>
      <p:sp>
        <p:nvSpPr>
          <p:cNvPr id="37" name="Shape 35"/>
          <p:cNvSpPr/>
          <p:nvPr/>
        </p:nvSpPr>
        <p:spPr>
          <a:xfrm>
            <a:off x="3712464" y="3401568"/>
            <a:ext cx="274320" cy="274320"/>
          </a:xfrm>
          <a:prstGeom prst="ellipse">
            <a:avLst/>
          </a:prstGeom>
          <a:solidFill>
            <a:srgbClr val="BC8CFF"/>
          </a:solidFill>
          <a:ln w="12700">
            <a:solidFill>
              <a:srgbClr val="BC8CFF"/>
            </a:solidFill>
            <a:prstDash val="solid"/>
          </a:ln>
        </p:spPr>
        <p:txBody>
          <a:bodyPr/>
          <a:lstStyle/>
          <a:p>
            <a:endParaRPr lang="en-US"/>
          </a:p>
        </p:txBody>
      </p:sp>
      <p:sp>
        <p:nvSpPr>
          <p:cNvPr id="38" name="Shape 36"/>
          <p:cNvSpPr/>
          <p:nvPr/>
        </p:nvSpPr>
        <p:spPr>
          <a:xfrm>
            <a:off x="4334256" y="3401568"/>
            <a:ext cx="274320" cy="274320"/>
          </a:xfrm>
          <a:prstGeom prst="ellipse">
            <a:avLst/>
          </a:prstGeom>
          <a:solidFill>
            <a:srgbClr val="FFA657"/>
          </a:solidFill>
          <a:ln w="12700">
            <a:solidFill>
              <a:srgbClr val="FFA657"/>
            </a:solidFill>
            <a:prstDash val="solid"/>
          </a:ln>
        </p:spPr>
        <p:txBody>
          <a:bodyPr/>
          <a:lstStyle/>
          <a:p>
            <a:endParaRPr lang="en-US"/>
          </a:p>
        </p:txBody>
      </p:sp>
      <p:sp>
        <p:nvSpPr>
          <p:cNvPr id="39" name="Shape 37"/>
          <p:cNvSpPr/>
          <p:nvPr/>
        </p:nvSpPr>
        <p:spPr>
          <a:xfrm>
            <a:off x="4956048" y="3401568"/>
            <a:ext cx="274320" cy="274320"/>
          </a:xfrm>
          <a:prstGeom prst="ellipse">
            <a:avLst/>
          </a:prstGeom>
          <a:solidFill>
            <a:srgbClr val="3FB950"/>
          </a:solidFill>
          <a:ln w="12700">
            <a:solidFill>
              <a:srgbClr val="3FB950"/>
            </a:solidFill>
            <a:prstDash val="solid"/>
          </a:ln>
        </p:spPr>
        <p:txBody>
          <a:bodyPr/>
          <a:lstStyle/>
          <a:p>
            <a:endParaRPr lang="en-US"/>
          </a:p>
        </p:txBody>
      </p:sp>
      <p:sp>
        <p:nvSpPr>
          <p:cNvPr id="40" name="Shape 38"/>
          <p:cNvSpPr/>
          <p:nvPr/>
        </p:nvSpPr>
        <p:spPr>
          <a:xfrm>
            <a:off x="5577840" y="3401568"/>
            <a:ext cx="274320" cy="274320"/>
          </a:xfrm>
          <a:prstGeom prst="ellipse">
            <a:avLst/>
          </a:prstGeom>
          <a:solidFill>
            <a:srgbClr val="F778BA"/>
          </a:solidFill>
          <a:ln w="12700">
            <a:solidFill>
              <a:srgbClr val="F778BA"/>
            </a:solidFill>
            <a:prstDash val="solid"/>
          </a:ln>
        </p:spPr>
        <p:txBody>
          <a:bodyPr/>
          <a:lstStyle/>
          <a:p>
            <a:endParaRPr lang="en-US"/>
          </a:p>
        </p:txBody>
      </p:sp>
      <p:sp>
        <p:nvSpPr>
          <p:cNvPr id="41" name="Text 39"/>
          <p:cNvSpPr/>
          <p:nvPr/>
        </p:nvSpPr>
        <p:spPr>
          <a:xfrm>
            <a:off x="0" y="4526280"/>
            <a:ext cx="9144000" cy="292608"/>
          </a:xfrm>
          <a:prstGeom prst="rect">
            <a:avLst/>
          </a:prstGeom>
          <a:noFill/>
          <a:ln/>
        </p:spPr>
        <p:txBody>
          <a:bodyPr wrap="square" lIns="0" tIns="0" rIns="0" bIns="0" rtlCol="0" anchor="ctr"/>
          <a:lstStyle/>
          <a:p>
            <a:pPr marL="0" indent="0" algn="ctr">
              <a:buNone/>
            </a:pPr>
            <a:r>
              <a:rPr lang="en-US" sz="1000" dirty="0">
                <a:solidFill>
                  <a:srgbClr val="3D444D"/>
                </a:solidFill>
                <a:latin typeface="Calibri" pitchFamily="34" charset="0"/>
                <a:ea typeface="Calibri" pitchFamily="34" charset="-122"/>
                <a:cs typeface="Calibri" pitchFamily="34" charset="-120"/>
              </a:rPr>
              <a:t>Foundation Bootcamp · Computer Science Fundamentals</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FILE EXTENSIONS</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What Is a File Extension?</a:t>
            </a:r>
            <a:endParaRPr lang="en-US" sz="2800" dirty="0"/>
          </a:p>
        </p:txBody>
      </p:sp>
      <p:sp>
        <p:nvSpPr>
          <p:cNvPr id="6" name="Text 4"/>
          <p:cNvSpPr/>
          <p:nvPr/>
        </p:nvSpPr>
        <p:spPr>
          <a:xfrm>
            <a:off x="457200" y="877824"/>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The suffix after the last dot in a filename — a hint to software about the file's format</a:t>
            </a:r>
            <a:endParaRPr lang="en-US" sz="1300" dirty="0"/>
          </a:p>
        </p:txBody>
      </p:sp>
      <p:sp>
        <p:nvSpPr>
          <p:cNvPr id="7" name="Shape 5"/>
          <p:cNvSpPr/>
          <p:nvPr/>
        </p:nvSpPr>
        <p:spPr>
          <a:xfrm>
            <a:off x="411480" y="1170432"/>
            <a:ext cx="8321040" cy="1261872"/>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8321040"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9" name="Text 7"/>
          <p:cNvSpPr/>
          <p:nvPr/>
        </p:nvSpPr>
        <p:spPr>
          <a:xfrm>
            <a:off x="548640" y="1216152"/>
            <a:ext cx="8046720" cy="256032"/>
          </a:xfrm>
          <a:prstGeom prst="rect">
            <a:avLst/>
          </a:prstGeom>
          <a:noFill/>
          <a:ln/>
        </p:spPr>
        <p:txBody>
          <a:bodyPr wrap="square" lIns="0" tIns="0" rIns="0" bIns="0" rtlCol="0" anchor="ctr"/>
          <a:lstStyle/>
          <a:p>
            <a:pPr marL="0" indent="0">
              <a:buNone/>
            </a:pPr>
            <a:r>
              <a:rPr lang="en-US" sz="1100" b="1" dirty="0">
                <a:solidFill>
                  <a:srgbClr val="3FD9C4"/>
                </a:solidFill>
                <a:latin typeface="Calibri" pitchFamily="34" charset="0"/>
                <a:ea typeface="Calibri" pitchFamily="34" charset="-122"/>
                <a:cs typeface="Calibri" pitchFamily="34" charset="-120"/>
              </a:rPr>
              <a:t>🔬  Anatomy of a Filename</a:t>
            </a:r>
            <a:endParaRPr lang="en-US" sz="1100" dirty="0"/>
          </a:p>
        </p:txBody>
      </p:sp>
      <p:sp>
        <p:nvSpPr>
          <p:cNvPr id="10" name="Shape 8"/>
          <p:cNvSpPr/>
          <p:nvPr/>
        </p:nvSpPr>
        <p:spPr>
          <a:xfrm>
            <a:off x="914400" y="1609344"/>
            <a:ext cx="877824" cy="420624"/>
          </a:xfrm>
          <a:prstGeom prst="rect">
            <a:avLst/>
          </a:prstGeom>
          <a:solidFill>
            <a:srgbClr val="58A6FF">
              <a:alpha val="28000"/>
            </a:srgbClr>
          </a:solidFill>
          <a:ln w="19050">
            <a:solidFill>
              <a:srgbClr val="58A6FF"/>
            </a:solidFill>
            <a:prstDash val="solid"/>
          </a:ln>
        </p:spPr>
        <p:txBody>
          <a:bodyPr/>
          <a:lstStyle/>
          <a:p>
            <a:endParaRPr lang="en-US"/>
          </a:p>
        </p:txBody>
      </p:sp>
      <p:sp>
        <p:nvSpPr>
          <p:cNvPr id="11" name="Text 9"/>
          <p:cNvSpPr/>
          <p:nvPr/>
        </p:nvSpPr>
        <p:spPr>
          <a:xfrm>
            <a:off x="914400" y="1609344"/>
            <a:ext cx="877824" cy="420624"/>
          </a:xfrm>
          <a:prstGeom prst="rect">
            <a:avLst/>
          </a:prstGeom>
          <a:noFill/>
          <a:ln/>
        </p:spPr>
        <p:txBody>
          <a:bodyPr wrap="square" lIns="0" tIns="0" rIns="0" bIns="0" rtlCol="0" anchor="ctr"/>
          <a:lstStyle/>
          <a:p>
            <a:pPr marL="0" indent="0" algn="ctr">
              <a:buNone/>
            </a:pPr>
            <a:r>
              <a:rPr lang="en-US" sz="1400" b="1" dirty="0">
                <a:solidFill>
                  <a:srgbClr val="58A6FF"/>
                </a:solidFill>
                <a:latin typeface="Consolas" pitchFamily="34" charset="0"/>
                <a:ea typeface="Consolas" pitchFamily="34" charset="-122"/>
                <a:cs typeface="Consolas" pitchFamily="34" charset="-120"/>
              </a:rPr>
              <a:t>report</a:t>
            </a:r>
            <a:endParaRPr lang="en-US" sz="1400" dirty="0"/>
          </a:p>
        </p:txBody>
      </p:sp>
      <p:sp>
        <p:nvSpPr>
          <p:cNvPr id="12" name="Text 10"/>
          <p:cNvSpPr/>
          <p:nvPr/>
        </p:nvSpPr>
        <p:spPr>
          <a:xfrm>
            <a:off x="914400" y="2066544"/>
            <a:ext cx="877824" cy="201168"/>
          </a:xfrm>
          <a:prstGeom prst="rect">
            <a:avLst/>
          </a:prstGeom>
          <a:noFill/>
          <a:ln/>
        </p:spPr>
        <p:txBody>
          <a:bodyPr wrap="square" lIns="0" tIns="0" rIns="0" bIns="0" rtlCol="0" anchor="ctr"/>
          <a:lstStyle/>
          <a:p>
            <a:pPr marL="0" indent="0" algn="ctr">
              <a:buNone/>
            </a:pPr>
            <a:r>
              <a:rPr lang="en-US" sz="850" dirty="0">
                <a:solidFill>
                  <a:srgbClr val="58A6FF"/>
                </a:solidFill>
                <a:latin typeface="Calibri" pitchFamily="34" charset="0"/>
                <a:ea typeface="Calibri" pitchFamily="34" charset="-122"/>
                <a:cs typeface="Calibri" pitchFamily="34" charset="-120"/>
              </a:rPr>
              <a:t>Name / Stem</a:t>
            </a:r>
            <a:endParaRPr lang="en-US" sz="850" dirty="0"/>
          </a:p>
        </p:txBody>
      </p:sp>
      <p:sp>
        <p:nvSpPr>
          <p:cNvPr id="13" name="Text 11"/>
          <p:cNvSpPr/>
          <p:nvPr/>
        </p:nvSpPr>
        <p:spPr>
          <a:xfrm>
            <a:off x="1801368" y="1609344"/>
            <a:ext cx="201168" cy="420624"/>
          </a:xfrm>
          <a:prstGeom prst="rect">
            <a:avLst/>
          </a:prstGeom>
          <a:noFill/>
          <a:ln/>
        </p:spPr>
        <p:txBody>
          <a:bodyPr wrap="square" lIns="0" tIns="0" rIns="0" bIns="0" rtlCol="0" anchor="ctr"/>
          <a:lstStyle/>
          <a:p>
            <a:pPr marL="0" indent="0" algn="ctr">
              <a:buNone/>
            </a:pPr>
            <a:r>
              <a:rPr lang="en-US" sz="2200" b="1" dirty="0">
                <a:solidFill>
                  <a:srgbClr val="F0F6FC"/>
                </a:solidFill>
                <a:latin typeface="Consolas" pitchFamily="34" charset="0"/>
                <a:ea typeface="Consolas" pitchFamily="34" charset="-122"/>
                <a:cs typeface="Consolas" pitchFamily="34" charset="-120"/>
              </a:rPr>
              <a:t>.</a:t>
            </a:r>
            <a:endParaRPr lang="en-US" sz="2200" dirty="0"/>
          </a:p>
        </p:txBody>
      </p:sp>
      <p:sp>
        <p:nvSpPr>
          <p:cNvPr id="14" name="Shape 12"/>
          <p:cNvSpPr/>
          <p:nvPr/>
        </p:nvSpPr>
        <p:spPr>
          <a:xfrm>
            <a:off x="1993392" y="1609344"/>
            <a:ext cx="576072" cy="420624"/>
          </a:xfrm>
          <a:prstGeom prst="rect">
            <a:avLst/>
          </a:prstGeom>
          <a:solidFill>
            <a:srgbClr val="FFA657">
              <a:alpha val="28000"/>
            </a:srgbClr>
          </a:solidFill>
          <a:ln w="19050">
            <a:solidFill>
              <a:srgbClr val="FFA657"/>
            </a:solidFill>
            <a:prstDash val="solid"/>
          </a:ln>
        </p:spPr>
        <p:txBody>
          <a:bodyPr/>
          <a:lstStyle/>
          <a:p>
            <a:endParaRPr lang="en-US"/>
          </a:p>
        </p:txBody>
      </p:sp>
      <p:sp>
        <p:nvSpPr>
          <p:cNvPr id="15" name="Text 13"/>
          <p:cNvSpPr/>
          <p:nvPr/>
        </p:nvSpPr>
        <p:spPr>
          <a:xfrm>
            <a:off x="1993392" y="1609344"/>
            <a:ext cx="576072" cy="420624"/>
          </a:xfrm>
          <a:prstGeom prst="rect">
            <a:avLst/>
          </a:prstGeom>
          <a:noFill/>
          <a:ln/>
        </p:spPr>
        <p:txBody>
          <a:bodyPr wrap="square" lIns="0" tIns="0" rIns="0" bIns="0" rtlCol="0" anchor="ctr"/>
          <a:lstStyle/>
          <a:p>
            <a:pPr marL="0" indent="0" algn="ctr">
              <a:buNone/>
            </a:pPr>
            <a:r>
              <a:rPr lang="en-US" sz="1400" b="1" dirty="0">
                <a:solidFill>
                  <a:srgbClr val="FFA657"/>
                </a:solidFill>
                <a:latin typeface="Consolas" pitchFamily="34" charset="0"/>
                <a:ea typeface="Consolas" pitchFamily="34" charset="-122"/>
                <a:cs typeface="Consolas" pitchFamily="34" charset="-120"/>
              </a:rPr>
              <a:t>pdf</a:t>
            </a:r>
            <a:endParaRPr lang="en-US" sz="1400" dirty="0"/>
          </a:p>
        </p:txBody>
      </p:sp>
      <p:sp>
        <p:nvSpPr>
          <p:cNvPr id="16" name="Text 14"/>
          <p:cNvSpPr/>
          <p:nvPr/>
        </p:nvSpPr>
        <p:spPr>
          <a:xfrm>
            <a:off x="1993392" y="2066544"/>
            <a:ext cx="576072" cy="201168"/>
          </a:xfrm>
          <a:prstGeom prst="rect">
            <a:avLst/>
          </a:prstGeom>
          <a:noFill/>
          <a:ln/>
        </p:spPr>
        <p:txBody>
          <a:bodyPr wrap="square" lIns="0" tIns="0" rIns="0" bIns="0" rtlCol="0" anchor="ctr"/>
          <a:lstStyle/>
          <a:p>
            <a:pPr marL="0" indent="0" algn="ctr">
              <a:buNone/>
            </a:pPr>
            <a:r>
              <a:rPr lang="en-US" sz="850" dirty="0">
                <a:solidFill>
                  <a:srgbClr val="FFA657"/>
                </a:solidFill>
                <a:latin typeface="Calibri" pitchFamily="34" charset="0"/>
                <a:ea typeface="Calibri" pitchFamily="34" charset="-122"/>
                <a:cs typeface="Calibri" pitchFamily="34" charset="-120"/>
              </a:rPr>
              <a:t>Extension</a:t>
            </a:r>
            <a:endParaRPr lang="en-US" sz="850" dirty="0"/>
          </a:p>
        </p:txBody>
      </p:sp>
      <p:sp>
        <p:nvSpPr>
          <p:cNvPr id="17" name="Text 15"/>
          <p:cNvSpPr/>
          <p:nvPr/>
        </p:nvSpPr>
        <p:spPr>
          <a:xfrm>
            <a:off x="914400" y="2286000"/>
            <a:ext cx="1060704" cy="201168"/>
          </a:xfrm>
          <a:prstGeom prst="rect">
            <a:avLst/>
          </a:prstGeom>
          <a:noFill/>
          <a:ln/>
        </p:spPr>
        <p:txBody>
          <a:bodyPr wrap="square" lIns="0" tIns="0" rIns="0" bIns="0" rtlCol="0" anchor="ctr"/>
          <a:lstStyle/>
          <a:p>
            <a:pPr marL="0" indent="0" algn="ctr">
              <a:buNone/>
            </a:pPr>
            <a:r>
              <a:rPr lang="en-US" sz="850" dirty="0">
                <a:solidFill>
                  <a:srgbClr val="58A6FF"/>
                </a:solidFill>
                <a:latin typeface="Calibri" pitchFamily="34" charset="0"/>
                <a:ea typeface="Calibri" pitchFamily="34" charset="-122"/>
                <a:cs typeface="Calibri" pitchFamily="34" charset="-120"/>
              </a:rPr>
              <a:t>←  File name  →</a:t>
            </a:r>
            <a:endParaRPr lang="en-US" sz="850" dirty="0"/>
          </a:p>
        </p:txBody>
      </p:sp>
      <p:sp>
        <p:nvSpPr>
          <p:cNvPr id="18" name="Text 16"/>
          <p:cNvSpPr/>
          <p:nvPr/>
        </p:nvSpPr>
        <p:spPr>
          <a:xfrm>
            <a:off x="1801368" y="2286000"/>
            <a:ext cx="201168" cy="201168"/>
          </a:xfrm>
          <a:prstGeom prst="rect">
            <a:avLst/>
          </a:prstGeom>
          <a:noFill/>
          <a:ln/>
        </p:spPr>
        <p:txBody>
          <a:bodyPr wrap="square" lIns="0" tIns="0" rIns="0" bIns="0" rtlCol="0" anchor="ctr"/>
          <a:lstStyle/>
          <a:p>
            <a:pPr marL="0" indent="0" algn="ctr">
              <a:buNone/>
            </a:pPr>
            <a:r>
              <a:rPr lang="en-US" sz="700" dirty="0">
                <a:solidFill>
                  <a:srgbClr val="3D444D"/>
                </a:solidFill>
                <a:latin typeface="Calibri" pitchFamily="34" charset="0"/>
                <a:ea typeface="Calibri" pitchFamily="34" charset="-122"/>
                <a:cs typeface="Calibri" pitchFamily="34" charset="-120"/>
              </a:rPr>
              <a:t>←  separator  →</a:t>
            </a:r>
            <a:endParaRPr lang="en-US" sz="700" dirty="0"/>
          </a:p>
        </p:txBody>
      </p:sp>
      <p:sp>
        <p:nvSpPr>
          <p:cNvPr id="19" name="Text 17"/>
          <p:cNvSpPr/>
          <p:nvPr/>
        </p:nvSpPr>
        <p:spPr>
          <a:xfrm>
            <a:off x="1993392" y="2286000"/>
            <a:ext cx="594360" cy="201168"/>
          </a:xfrm>
          <a:prstGeom prst="rect">
            <a:avLst/>
          </a:prstGeom>
          <a:noFill/>
          <a:ln/>
        </p:spPr>
        <p:txBody>
          <a:bodyPr wrap="square" lIns="0" tIns="0" rIns="0" bIns="0" rtlCol="0" anchor="ctr"/>
          <a:lstStyle/>
          <a:p>
            <a:pPr marL="0" indent="0" algn="ctr">
              <a:buNone/>
            </a:pPr>
            <a:r>
              <a:rPr lang="en-US" sz="850" dirty="0">
                <a:solidFill>
                  <a:srgbClr val="FFA657"/>
                </a:solidFill>
                <a:latin typeface="Calibri" pitchFamily="34" charset="0"/>
                <a:ea typeface="Calibri" pitchFamily="34" charset="-122"/>
                <a:cs typeface="Calibri" pitchFamily="34" charset="-120"/>
              </a:rPr>
              <a:t>←  extension  →</a:t>
            </a:r>
            <a:endParaRPr lang="en-US" sz="850" dirty="0"/>
          </a:p>
        </p:txBody>
      </p:sp>
      <p:sp>
        <p:nvSpPr>
          <p:cNvPr id="20" name="Text 18"/>
          <p:cNvSpPr/>
          <p:nvPr/>
        </p:nvSpPr>
        <p:spPr>
          <a:xfrm>
            <a:off x="3291840" y="1572768"/>
            <a:ext cx="5212080" cy="914400"/>
          </a:xfrm>
          <a:prstGeom prst="rect">
            <a:avLst/>
          </a:prstGeom>
          <a:noFill/>
          <a:ln/>
        </p:spPr>
        <p:txBody>
          <a:bodyPr wrap="square" lIns="0" tIns="0" rIns="0" bIns="0" rtlCol="0" anchor="ctr"/>
          <a:lstStyle/>
          <a:p>
            <a:pPr marL="0" indent="0">
              <a:buNone/>
            </a:pPr>
            <a:r>
              <a:rPr lang="en-US" sz="1200" dirty="0">
                <a:solidFill>
                  <a:srgbClr val="F0F6FC"/>
                </a:solidFill>
                <a:latin typeface="Calibri" pitchFamily="34" charset="0"/>
                <a:ea typeface="Calibri" pitchFamily="34" charset="-122"/>
                <a:cs typeface="Calibri" pitchFamily="34" charset="-120"/>
              </a:rPr>
              <a:t>The extension</a:t>
            </a:r>
            <a:r>
              <a:rPr lang="en-US" sz="1200" dirty="0">
                <a:solidFill>
                  <a:srgbClr val="8B949E"/>
                </a:solidFill>
                <a:latin typeface="Calibri" pitchFamily="34" charset="0"/>
                <a:ea typeface="Calibri" pitchFamily="34" charset="-122"/>
                <a:cs typeface="Calibri" pitchFamily="34" charset="-120"/>
              </a:rPr>
              <a:t> tells the OS and applications </a:t>
            </a:r>
            <a:r>
              <a:rPr lang="en-US" sz="1200" b="1" dirty="0">
                <a:solidFill>
                  <a:srgbClr val="3FD9C4"/>
                </a:solidFill>
                <a:latin typeface="Calibri" pitchFamily="34" charset="0"/>
                <a:ea typeface="Calibri" pitchFamily="34" charset="-122"/>
                <a:cs typeface="Calibri" pitchFamily="34" charset="-120"/>
              </a:rPr>
              <a:t>what program to open the file with</a:t>
            </a:r>
            <a:r>
              <a:rPr lang="en-US" sz="1200" dirty="0">
                <a:solidFill>
                  <a:srgbClr val="8B949E"/>
                </a:solidFill>
                <a:latin typeface="Calibri" pitchFamily="34" charset="0"/>
                <a:ea typeface="Calibri" pitchFamily="34" charset="-122"/>
                <a:cs typeface="Calibri" pitchFamily="34" charset="-120"/>
              </a:rPr>
              <a:t> and how to interpret its bytes.</a:t>
            </a:r>
            <a:endParaRPr lang="en-US" sz="1200" dirty="0"/>
          </a:p>
          <a:p>
            <a:pPr marL="0" indent="0">
              <a:buNone/>
            </a:pPr>
            <a:r>
              <a:rPr lang="en-US" sz="1200" dirty="0">
                <a:solidFill>
                  <a:srgbClr val="8B949E"/>
                </a:solidFill>
                <a:latin typeface="Calibri" pitchFamily="34" charset="0"/>
                <a:ea typeface="Calibri" pitchFamily="34" charset="-122"/>
                <a:cs typeface="Calibri" pitchFamily="34" charset="-120"/>
              </a:rPr>
              <a:t>It is just part of the filename — changing the extension does </a:t>
            </a:r>
            <a:endParaRPr lang="en-US" sz="1200" dirty="0"/>
          </a:p>
          <a:p>
            <a:pPr marL="0" indent="0">
              <a:buNone/>
            </a:pPr>
            <a:r>
              <a:rPr lang="en-US" sz="1200" b="1" dirty="0">
                <a:solidFill>
                  <a:srgbClr val="F85149"/>
                </a:solidFill>
                <a:latin typeface="Calibri" pitchFamily="34" charset="0"/>
                <a:ea typeface="Calibri" pitchFamily="34" charset="-122"/>
                <a:cs typeface="Calibri" pitchFamily="34" charset="-120"/>
              </a:rPr>
              <a:t>not </a:t>
            </a:r>
            <a:r>
              <a:rPr lang="en-US" sz="1200" dirty="0">
                <a:solidFill>
                  <a:srgbClr val="8B949E"/>
                </a:solidFill>
                <a:latin typeface="Calibri" pitchFamily="34" charset="0"/>
                <a:ea typeface="Calibri" pitchFamily="34" charset="-122"/>
                <a:cs typeface="Calibri" pitchFamily="34" charset="-120"/>
              </a:rPr>
              <a:t>convert the file.</a:t>
            </a:r>
            <a:endParaRPr lang="en-US" sz="1200" dirty="0"/>
          </a:p>
        </p:txBody>
      </p:sp>
      <p:sp>
        <p:nvSpPr>
          <p:cNvPr id="21" name="Shape 19"/>
          <p:cNvSpPr/>
          <p:nvPr/>
        </p:nvSpPr>
        <p:spPr>
          <a:xfrm>
            <a:off x="411480" y="2578608"/>
            <a:ext cx="1993392" cy="182880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22" name="Shape 20"/>
          <p:cNvSpPr/>
          <p:nvPr/>
        </p:nvSpPr>
        <p:spPr>
          <a:xfrm>
            <a:off x="411480" y="2578608"/>
            <a:ext cx="1993392"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23" name="Text 21"/>
          <p:cNvSpPr/>
          <p:nvPr/>
        </p:nvSpPr>
        <p:spPr>
          <a:xfrm>
            <a:off x="521208" y="2615184"/>
            <a:ext cx="1773936" cy="256032"/>
          </a:xfrm>
          <a:prstGeom prst="rect">
            <a:avLst/>
          </a:prstGeom>
          <a:noFill/>
          <a:ln/>
        </p:spPr>
        <p:txBody>
          <a:bodyPr wrap="square" lIns="0" tIns="0" rIns="0" bIns="0" rtlCol="0" anchor="ctr"/>
          <a:lstStyle/>
          <a:p>
            <a:pPr marL="0" indent="0">
              <a:buNone/>
            </a:pPr>
            <a:r>
              <a:rPr lang="en-US" sz="1100" b="1" dirty="0">
                <a:solidFill>
                  <a:srgbClr val="58A6FF"/>
                </a:solidFill>
                <a:latin typeface="Calibri" pitchFamily="34" charset="0"/>
                <a:ea typeface="Calibri" pitchFamily="34" charset="-122"/>
                <a:cs typeface="Calibri" pitchFamily="34" charset="-120"/>
              </a:rPr>
              <a:t>🔤  Always after last dot</a:t>
            </a:r>
            <a:endParaRPr lang="en-US" sz="1100" dirty="0"/>
          </a:p>
        </p:txBody>
      </p:sp>
      <p:sp>
        <p:nvSpPr>
          <p:cNvPr id="24" name="Text 22"/>
          <p:cNvSpPr/>
          <p:nvPr/>
        </p:nvSpPr>
        <p:spPr>
          <a:xfrm>
            <a:off x="521208" y="2944368"/>
            <a:ext cx="1773936" cy="1353312"/>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logo.min.js → extension is .js</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archive.tar.gz → extension is .gz</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The part after the LAST dot.</a:t>
            </a:r>
            <a:endParaRPr lang="en-US" sz="1100" dirty="0"/>
          </a:p>
        </p:txBody>
      </p:sp>
      <p:sp>
        <p:nvSpPr>
          <p:cNvPr id="25" name="Shape 23"/>
          <p:cNvSpPr/>
          <p:nvPr/>
        </p:nvSpPr>
        <p:spPr>
          <a:xfrm>
            <a:off x="2532888" y="2578608"/>
            <a:ext cx="1993392" cy="1828800"/>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26" name="Shape 24"/>
          <p:cNvSpPr/>
          <p:nvPr/>
        </p:nvSpPr>
        <p:spPr>
          <a:xfrm>
            <a:off x="2532888" y="2578608"/>
            <a:ext cx="1993392"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27" name="Text 25"/>
          <p:cNvSpPr/>
          <p:nvPr/>
        </p:nvSpPr>
        <p:spPr>
          <a:xfrm>
            <a:off x="2642616" y="2615184"/>
            <a:ext cx="1773936" cy="256032"/>
          </a:xfrm>
          <a:prstGeom prst="rect">
            <a:avLst/>
          </a:prstGeom>
          <a:noFill/>
          <a:ln/>
        </p:spPr>
        <p:txBody>
          <a:bodyPr wrap="square" lIns="0" tIns="0" rIns="0" bIns="0" rtlCol="0" anchor="ctr"/>
          <a:lstStyle/>
          <a:p>
            <a:pPr marL="0" indent="0">
              <a:buNone/>
            </a:pPr>
            <a:r>
              <a:rPr lang="en-US" sz="1100" b="1" dirty="0">
                <a:solidFill>
                  <a:srgbClr val="BC8CFF"/>
                </a:solidFill>
                <a:latin typeface="Calibri" pitchFamily="34" charset="0"/>
                <a:ea typeface="Calibri" pitchFamily="34" charset="-122"/>
                <a:cs typeface="Calibri" pitchFamily="34" charset="-120"/>
              </a:rPr>
              <a:t>👁️  Usually 2–4 characters</a:t>
            </a:r>
            <a:endParaRPr lang="en-US" sz="1100" dirty="0"/>
          </a:p>
        </p:txBody>
      </p:sp>
      <p:sp>
        <p:nvSpPr>
          <p:cNvPr id="28" name="Text 26"/>
          <p:cNvSpPr/>
          <p:nvPr/>
        </p:nvSpPr>
        <p:spPr>
          <a:xfrm>
            <a:off x="2642616" y="2944368"/>
            <a:ext cx="1773936" cy="1353312"/>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Most extensions are short:</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.py  .js  .txt  .html  .json</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Some longer: .docx  .pptx</a:t>
            </a:r>
            <a:endParaRPr lang="en-US" sz="1100" dirty="0"/>
          </a:p>
        </p:txBody>
      </p:sp>
      <p:sp>
        <p:nvSpPr>
          <p:cNvPr id="29" name="Shape 27"/>
          <p:cNvSpPr/>
          <p:nvPr/>
        </p:nvSpPr>
        <p:spPr>
          <a:xfrm>
            <a:off x="4654296" y="2578608"/>
            <a:ext cx="1993392" cy="1828800"/>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30" name="Shape 28"/>
          <p:cNvSpPr/>
          <p:nvPr/>
        </p:nvSpPr>
        <p:spPr>
          <a:xfrm>
            <a:off x="4654296" y="2578608"/>
            <a:ext cx="1993392"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31" name="Text 29"/>
          <p:cNvSpPr/>
          <p:nvPr/>
        </p:nvSpPr>
        <p:spPr>
          <a:xfrm>
            <a:off x="4764024" y="2615184"/>
            <a:ext cx="1773936" cy="256032"/>
          </a:xfrm>
          <a:prstGeom prst="rect">
            <a:avLst/>
          </a:prstGeom>
          <a:noFill/>
          <a:ln/>
        </p:spPr>
        <p:txBody>
          <a:bodyPr wrap="square" lIns="0" tIns="0" rIns="0" bIns="0" rtlCol="0" anchor="ctr"/>
          <a:lstStyle/>
          <a:p>
            <a:pPr marL="0" indent="0">
              <a:buNone/>
            </a:pPr>
            <a:r>
              <a:rPr lang="en-US" sz="1100" b="1" dirty="0">
                <a:solidFill>
                  <a:srgbClr val="FFA657"/>
                </a:solidFill>
                <a:latin typeface="Calibri" pitchFamily="34" charset="0"/>
                <a:ea typeface="Calibri" pitchFamily="34" charset="-122"/>
                <a:cs typeface="Calibri" pitchFamily="34" charset="-120"/>
              </a:rPr>
              <a:t>💡  Just a hint — not enforced</a:t>
            </a:r>
            <a:endParaRPr lang="en-US" sz="1100" dirty="0"/>
          </a:p>
        </p:txBody>
      </p:sp>
      <p:sp>
        <p:nvSpPr>
          <p:cNvPr id="32" name="Text 30"/>
          <p:cNvSpPr/>
          <p:nvPr/>
        </p:nvSpPr>
        <p:spPr>
          <a:xfrm>
            <a:off x="4764024" y="2944368"/>
            <a:ext cx="1773936" cy="1353312"/>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The OS trusts the extension.</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A .jpg renamed to .txt still</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contains image bytes inside.</a:t>
            </a:r>
            <a:endParaRPr lang="en-US" sz="1100" dirty="0"/>
          </a:p>
        </p:txBody>
      </p:sp>
      <p:sp>
        <p:nvSpPr>
          <p:cNvPr id="33" name="Shape 31"/>
          <p:cNvSpPr/>
          <p:nvPr/>
        </p:nvSpPr>
        <p:spPr>
          <a:xfrm>
            <a:off x="6775704" y="2578608"/>
            <a:ext cx="1993392" cy="1828800"/>
          </a:xfrm>
          <a:prstGeom prst="rect">
            <a:avLst/>
          </a:prstGeom>
          <a:solidFill>
            <a:srgbClr val="161B26"/>
          </a:solidFill>
          <a:ln w="15240">
            <a:solidFill>
              <a:srgbClr val="3FB950"/>
            </a:solidFill>
            <a:prstDash val="solid"/>
          </a:ln>
          <a:effectLst>
            <a:outerShdw blurRad="177800" dist="38100" dir="8100000" algn="bl" rotWithShape="0">
              <a:srgbClr val="000000">
                <a:alpha val="35000"/>
              </a:srgbClr>
            </a:outerShdw>
          </a:effectLst>
        </p:spPr>
        <p:txBody>
          <a:bodyPr/>
          <a:lstStyle/>
          <a:p>
            <a:endParaRPr lang="en-US"/>
          </a:p>
        </p:txBody>
      </p:sp>
      <p:sp>
        <p:nvSpPr>
          <p:cNvPr id="34" name="Shape 32"/>
          <p:cNvSpPr/>
          <p:nvPr/>
        </p:nvSpPr>
        <p:spPr>
          <a:xfrm>
            <a:off x="6775704" y="2578608"/>
            <a:ext cx="1993392" cy="329184"/>
          </a:xfrm>
          <a:prstGeom prst="rect">
            <a:avLst/>
          </a:prstGeom>
          <a:solidFill>
            <a:srgbClr val="3FB950">
              <a:alpha val="78000"/>
            </a:srgbClr>
          </a:solidFill>
          <a:ln w="12700">
            <a:solidFill>
              <a:srgbClr val="3FB950"/>
            </a:solidFill>
            <a:prstDash val="solid"/>
          </a:ln>
        </p:spPr>
        <p:txBody>
          <a:bodyPr/>
          <a:lstStyle/>
          <a:p>
            <a:endParaRPr lang="en-US"/>
          </a:p>
        </p:txBody>
      </p:sp>
      <p:sp>
        <p:nvSpPr>
          <p:cNvPr id="35" name="Text 33"/>
          <p:cNvSpPr/>
          <p:nvPr/>
        </p:nvSpPr>
        <p:spPr>
          <a:xfrm>
            <a:off x="6885432" y="2615184"/>
            <a:ext cx="1773936" cy="256032"/>
          </a:xfrm>
          <a:prstGeom prst="rect">
            <a:avLst/>
          </a:prstGeom>
          <a:noFill/>
          <a:ln/>
        </p:spPr>
        <p:txBody>
          <a:bodyPr wrap="square" lIns="0" tIns="0" rIns="0" bIns="0" rtlCol="0" anchor="ctr"/>
          <a:lstStyle/>
          <a:p>
            <a:pPr marL="0" indent="0">
              <a:buNone/>
            </a:pPr>
            <a:r>
              <a:rPr lang="en-US" sz="1100" b="1" dirty="0">
                <a:solidFill>
                  <a:srgbClr val="3FB950"/>
                </a:solidFill>
                <a:latin typeface="Calibri" pitchFamily="34" charset="0"/>
                <a:ea typeface="Calibri" pitchFamily="34" charset="-122"/>
                <a:cs typeface="Calibri" pitchFamily="34" charset="-120"/>
              </a:rPr>
              <a:t>🐧  Optional on Linux/macOS</a:t>
            </a:r>
            <a:endParaRPr lang="en-US" sz="1100" dirty="0"/>
          </a:p>
        </p:txBody>
      </p:sp>
      <p:sp>
        <p:nvSpPr>
          <p:cNvPr id="36" name="Text 34"/>
          <p:cNvSpPr/>
          <p:nvPr/>
        </p:nvSpPr>
        <p:spPr>
          <a:xfrm>
            <a:off x="6885432" y="2944368"/>
            <a:ext cx="1773936" cy="1353312"/>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Linux ignores extensions.</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Files are identified by magic bytes.</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Extensions are for human convenience.</a:t>
            </a:r>
            <a:endParaRPr lang="en-US" sz="1100" dirty="0"/>
          </a:p>
        </p:txBody>
      </p:sp>
      <p:sp>
        <p:nvSpPr>
          <p:cNvPr id="37" name="Shape 35"/>
          <p:cNvSpPr/>
          <p:nvPr/>
        </p:nvSpPr>
        <p:spPr>
          <a:xfrm>
            <a:off x="365760" y="4572000"/>
            <a:ext cx="8412480" cy="384048"/>
          </a:xfrm>
          <a:prstGeom prst="rect">
            <a:avLst/>
          </a:prstGeom>
          <a:solidFill>
            <a:srgbClr val="0A1020"/>
          </a:solidFill>
          <a:ln w="12700">
            <a:solidFill>
              <a:srgbClr val="FFA657"/>
            </a:solidFill>
            <a:prstDash val="solid"/>
          </a:ln>
        </p:spPr>
        <p:txBody>
          <a:bodyPr/>
          <a:lstStyle/>
          <a:p>
            <a:endParaRPr lang="en-US"/>
          </a:p>
        </p:txBody>
      </p:sp>
      <p:sp>
        <p:nvSpPr>
          <p:cNvPr id="38" name="Text 36"/>
          <p:cNvSpPr/>
          <p:nvPr/>
        </p:nvSpPr>
        <p:spPr>
          <a:xfrm>
            <a:off x="502920" y="4599432"/>
            <a:ext cx="8229600" cy="310896"/>
          </a:xfrm>
          <a:prstGeom prst="rect">
            <a:avLst/>
          </a:prstGeom>
          <a:noFill/>
          <a:ln/>
        </p:spPr>
        <p:txBody>
          <a:bodyPr wrap="square" lIns="0" tIns="0" rIns="0" bIns="0" rtlCol="0" anchor="ctr"/>
          <a:lstStyle/>
          <a:p>
            <a:pPr marL="0" indent="0">
              <a:buNone/>
            </a:pPr>
            <a:r>
              <a:rPr lang="en-US" sz="1100" b="1" dirty="0">
                <a:solidFill>
                  <a:srgbClr val="FFA657"/>
                </a:solidFill>
                <a:latin typeface="Calibri" pitchFamily="34" charset="0"/>
                <a:ea typeface="Calibri" pitchFamily="34" charset="-122"/>
                <a:cs typeface="Calibri" pitchFamily="34" charset="-120"/>
              </a:rPr>
              <a:t>Windows tip:  </a:t>
            </a:r>
            <a:r>
              <a:rPr lang="en-US" sz="1100" dirty="0">
                <a:solidFill>
                  <a:srgbClr val="F0F6FC"/>
                </a:solidFill>
                <a:latin typeface="Calibri" pitchFamily="34" charset="0"/>
                <a:ea typeface="Calibri" pitchFamily="34" charset="-122"/>
                <a:cs typeface="Calibri" pitchFamily="34" charset="-120"/>
              </a:rPr>
              <a:t>Explorer hides extensions by default. Enable them: View → Show → File name extensions. Always turn this on — "document" could be "document.exe" (malware)!</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FILE EXTENSIONS</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Common Extensions by Category</a:t>
            </a:r>
            <a:endParaRPr lang="en-US" sz="2800" dirty="0"/>
          </a:p>
        </p:txBody>
      </p:sp>
      <p:sp>
        <p:nvSpPr>
          <p:cNvPr id="6" name="Text 4"/>
          <p:cNvSpPr/>
          <p:nvPr/>
        </p:nvSpPr>
        <p:spPr>
          <a:xfrm>
            <a:off x="457200" y="877824"/>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Every developer should recognise these at a glance</a:t>
            </a:r>
            <a:endParaRPr lang="en-US" sz="1300" dirty="0"/>
          </a:p>
        </p:txBody>
      </p:sp>
      <p:sp>
        <p:nvSpPr>
          <p:cNvPr id="7" name="Shape 5"/>
          <p:cNvSpPr/>
          <p:nvPr/>
        </p:nvSpPr>
        <p:spPr>
          <a:xfrm>
            <a:off x="411480" y="1170432"/>
            <a:ext cx="2048256" cy="374904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2048256"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9" name="Text 7"/>
          <p:cNvSpPr/>
          <p:nvPr/>
        </p:nvSpPr>
        <p:spPr>
          <a:xfrm>
            <a:off x="502920" y="1207008"/>
            <a:ext cx="1865376" cy="256032"/>
          </a:xfrm>
          <a:prstGeom prst="rect">
            <a:avLst/>
          </a:prstGeom>
          <a:noFill/>
          <a:ln/>
        </p:spPr>
        <p:txBody>
          <a:bodyPr wrap="square" lIns="0" tIns="0" rIns="0" bIns="0" rtlCol="0" anchor="ctr"/>
          <a:lstStyle/>
          <a:p>
            <a:pPr marL="0" indent="0">
              <a:buNone/>
            </a:pPr>
            <a:r>
              <a:rPr lang="en-US" sz="1000" b="1" dirty="0">
                <a:solidFill>
                  <a:srgbClr val="58A6FF"/>
                </a:solidFill>
                <a:latin typeface="Calibri" pitchFamily="34" charset="0"/>
                <a:ea typeface="Calibri" pitchFamily="34" charset="-122"/>
                <a:cs typeface="Calibri" pitchFamily="34" charset="-120"/>
              </a:rPr>
              <a:t>📄  Documents &amp; Text</a:t>
            </a:r>
            <a:endParaRPr lang="en-US" sz="1000" dirty="0"/>
          </a:p>
        </p:txBody>
      </p:sp>
      <p:sp>
        <p:nvSpPr>
          <p:cNvPr id="10" name="Shape 8"/>
          <p:cNvSpPr/>
          <p:nvPr/>
        </p:nvSpPr>
        <p:spPr>
          <a:xfrm>
            <a:off x="502920" y="1572768"/>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11" name="Text 9"/>
          <p:cNvSpPr/>
          <p:nvPr/>
        </p:nvSpPr>
        <p:spPr>
          <a:xfrm>
            <a:off x="502920" y="1572768"/>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.txt</a:t>
            </a:r>
            <a:endParaRPr lang="en-US" sz="900" dirty="0"/>
          </a:p>
        </p:txBody>
      </p:sp>
      <p:sp>
        <p:nvSpPr>
          <p:cNvPr id="12" name="Text 10"/>
          <p:cNvSpPr/>
          <p:nvPr/>
        </p:nvSpPr>
        <p:spPr>
          <a:xfrm>
            <a:off x="1014984" y="160020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Plain text — no formatting</a:t>
            </a:r>
            <a:endParaRPr lang="en-US" sz="950" dirty="0"/>
          </a:p>
        </p:txBody>
      </p:sp>
      <p:sp>
        <p:nvSpPr>
          <p:cNvPr id="13" name="Shape 11"/>
          <p:cNvSpPr/>
          <p:nvPr/>
        </p:nvSpPr>
        <p:spPr>
          <a:xfrm>
            <a:off x="502920" y="1965960"/>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14" name="Text 12"/>
          <p:cNvSpPr/>
          <p:nvPr/>
        </p:nvSpPr>
        <p:spPr>
          <a:xfrm>
            <a:off x="502920" y="1965960"/>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.pdf</a:t>
            </a:r>
            <a:endParaRPr lang="en-US" sz="900" dirty="0"/>
          </a:p>
        </p:txBody>
      </p:sp>
      <p:sp>
        <p:nvSpPr>
          <p:cNvPr id="15" name="Text 13"/>
          <p:cNvSpPr/>
          <p:nvPr/>
        </p:nvSpPr>
        <p:spPr>
          <a:xfrm>
            <a:off x="1014984" y="199339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Portable Document Format</a:t>
            </a:r>
            <a:endParaRPr lang="en-US" sz="950" dirty="0"/>
          </a:p>
        </p:txBody>
      </p:sp>
      <p:sp>
        <p:nvSpPr>
          <p:cNvPr id="16" name="Shape 14"/>
          <p:cNvSpPr/>
          <p:nvPr/>
        </p:nvSpPr>
        <p:spPr>
          <a:xfrm>
            <a:off x="502920" y="2359152"/>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17" name="Text 15"/>
          <p:cNvSpPr/>
          <p:nvPr/>
        </p:nvSpPr>
        <p:spPr>
          <a:xfrm>
            <a:off x="502920" y="2359152"/>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.docx</a:t>
            </a:r>
            <a:endParaRPr lang="en-US" sz="900" dirty="0"/>
          </a:p>
        </p:txBody>
      </p:sp>
      <p:sp>
        <p:nvSpPr>
          <p:cNvPr id="18" name="Text 16"/>
          <p:cNvSpPr/>
          <p:nvPr/>
        </p:nvSpPr>
        <p:spPr>
          <a:xfrm>
            <a:off x="1014984" y="238658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Microsoft Word document</a:t>
            </a:r>
            <a:endParaRPr lang="en-US" sz="950" dirty="0"/>
          </a:p>
        </p:txBody>
      </p:sp>
      <p:sp>
        <p:nvSpPr>
          <p:cNvPr id="19" name="Shape 17"/>
          <p:cNvSpPr/>
          <p:nvPr/>
        </p:nvSpPr>
        <p:spPr>
          <a:xfrm>
            <a:off x="502920" y="2752344"/>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20" name="Text 18"/>
          <p:cNvSpPr/>
          <p:nvPr/>
        </p:nvSpPr>
        <p:spPr>
          <a:xfrm>
            <a:off x="502920" y="2752344"/>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.md</a:t>
            </a:r>
            <a:endParaRPr lang="en-US" sz="900" dirty="0"/>
          </a:p>
        </p:txBody>
      </p:sp>
      <p:sp>
        <p:nvSpPr>
          <p:cNvPr id="21" name="Text 19"/>
          <p:cNvSpPr/>
          <p:nvPr/>
        </p:nvSpPr>
        <p:spPr>
          <a:xfrm>
            <a:off x="1014984" y="2779776"/>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Markdown — formatted text</a:t>
            </a:r>
            <a:endParaRPr lang="en-US" sz="950" dirty="0"/>
          </a:p>
        </p:txBody>
      </p:sp>
      <p:sp>
        <p:nvSpPr>
          <p:cNvPr id="22" name="Shape 20"/>
          <p:cNvSpPr/>
          <p:nvPr/>
        </p:nvSpPr>
        <p:spPr>
          <a:xfrm>
            <a:off x="502920" y="3145536"/>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23" name="Text 21"/>
          <p:cNvSpPr/>
          <p:nvPr/>
        </p:nvSpPr>
        <p:spPr>
          <a:xfrm>
            <a:off x="502920" y="3145536"/>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.csv</a:t>
            </a:r>
            <a:endParaRPr lang="en-US" sz="900" dirty="0"/>
          </a:p>
        </p:txBody>
      </p:sp>
      <p:sp>
        <p:nvSpPr>
          <p:cNvPr id="24" name="Text 22"/>
          <p:cNvSpPr/>
          <p:nvPr/>
        </p:nvSpPr>
        <p:spPr>
          <a:xfrm>
            <a:off x="1014984" y="3172968"/>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Comma-Separated Values</a:t>
            </a:r>
            <a:endParaRPr lang="en-US" sz="950" dirty="0"/>
          </a:p>
        </p:txBody>
      </p:sp>
      <p:sp>
        <p:nvSpPr>
          <p:cNvPr id="25" name="Shape 23"/>
          <p:cNvSpPr/>
          <p:nvPr/>
        </p:nvSpPr>
        <p:spPr>
          <a:xfrm>
            <a:off x="502920" y="3538728"/>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26" name="Text 24"/>
          <p:cNvSpPr/>
          <p:nvPr/>
        </p:nvSpPr>
        <p:spPr>
          <a:xfrm>
            <a:off x="502920" y="3538728"/>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.json</a:t>
            </a:r>
            <a:endParaRPr lang="en-US" sz="900" dirty="0"/>
          </a:p>
        </p:txBody>
      </p:sp>
      <p:sp>
        <p:nvSpPr>
          <p:cNvPr id="27" name="Text 25"/>
          <p:cNvSpPr/>
          <p:nvPr/>
        </p:nvSpPr>
        <p:spPr>
          <a:xfrm>
            <a:off x="1014984" y="356616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JavaScript Object Notation</a:t>
            </a:r>
            <a:endParaRPr lang="en-US" sz="950" dirty="0"/>
          </a:p>
        </p:txBody>
      </p:sp>
      <p:sp>
        <p:nvSpPr>
          <p:cNvPr id="28" name="Shape 26"/>
          <p:cNvSpPr/>
          <p:nvPr/>
        </p:nvSpPr>
        <p:spPr>
          <a:xfrm>
            <a:off x="502920" y="3931920"/>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29" name="Text 27"/>
          <p:cNvSpPr/>
          <p:nvPr/>
        </p:nvSpPr>
        <p:spPr>
          <a:xfrm>
            <a:off x="502920" y="3931920"/>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.xml</a:t>
            </a:r>
            <a:endParaRPr lang="en-US" sz="900" dirty="0"/>
          </a:p>
        </p:txBody>
      </p:sp>
      <p:sp>
        <p:nvSpPr>
          <p:cNvPr id="30" name="Text 28"/>
          <p:cNvSpPr/>
          <p:nvPr/>
        </p:nvSpPr>
        <p:spPr>
          <a:xfrm>
            <a:off x="1014984" y="395935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Extensible Markup Language</a:t>
            </a:r>
            <a:endParaRPr lang="en-US" sz="950" dirty="0"/>
          </a:p>
        </p:txBody>
      </p:sp>
      <p:sp>
        <p:nvSpPr>
          <p:cNvPr id="31" name="Shape 29"/>
          <p:cNvSpPr/>
          <p:nvPr/>
        </p:nvSpPr>
        <p:spPr>
          <a:xfrm>
            <a:off x="502920" y="4325112"/>
            <a:ext cx="457200"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32" name="Text 30"/>
          <p:cNvSpPr/>
          <p:nvPr/>
        </p:nvSpPr>
        <p:spPr>
          <a:xfrm>
            <a:off x="502920" y="4325112"/>
            <a:ext cx="457200" cy="256032"/>
          </a:xfrm>
          <a:prstGeom prst="rect">
            <a:avLst/>
          </a:prstGeom>
          <a:noFill/>
          <a:ln/>
        </p:spPr>
        <p:txBody>
          <a:bodyPr wrap="square" lIns="0" tIns="0" rIns="0" bIns="0" rtlCol="0" anchor="ctr"/>
          <a:lstStyle/>
          <a:p>
            <a:pPr marL="0" indent="0" algn="ctr">
              <a:buNone/>
            </a:pPr>
            <a:r>
              <a:rPr lang="en-US" sz="900" b="1" dirty="0">
                <a:solidFill>
                  <a:srgbClr val="58A6FF"/>
                </a:solidFill>
                <a:latin typeface="Consolas" pitchFamily="34" charset="0"/>
                <a:ea typeface="Consolas" pitchFamily="34" charset="-122"/>
                <a:cs typeface="Consolas" pitchFamily="34" charset="-120"/>
              </a:rPr>
              <a:t>.yaml</a:t>
            </a:r>
            <a:endParaRPr lang="en-US" sz="900" dirty="0"/>
          </a:p>
        </p:txBody>
      </p:sp>
      <p:sp>
        <p:nvSpPr>
          <p:cNvPr id="33" name="Text 31"/>
          <p:cNvSpPr/>
          <p:nvPr/>
        </p:nvSpPr>
        <p:spPr>
          <a:xfrm>
            <a:off x="1014984" y="435254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Config / data files</a:t>
            </a:r>
            <a:endParaRPr lang="en-US" sz="950" dirty="0"/>
          </a:p>
        </p:txBody>
      </p:sp>
      <p:sp>
        <p:nvSpPr>
          <p:cNvPr id="34" name="Shape 32"/>
          <p:cNvSpPr/>
          <p:nvPr/>
        </p:nvSpPr>
        <p:spPr>
          <a:xfrm>
            <a:off x="2587752" y="1170432"/>
            <a:ext cx="2048256" cy="3749040"/>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35" name="Shape 33"/>
          <p:cNvSpPr/>
          <p:nvPr/>
        </p:nvSpPr>
        <p:spPr>
          <a:xfrm>
            <a:off x="2587752" y="1170432"/>
            <a:ext cx="2048256"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36" name="Text 34"/>
          <p:cNvSpPr/>
          <p:nvPr/>
        </p:nvSpPr>
        <p:spPr>
          <a:xfrm>
            <a:off x="2679192" y="1207008"/>
            <a:ext cx="1865376" cy="256032"/>
          </a:xfrm>
          <a:prstGeom prst="rect">
            <a:avLst/>
          </a:prstGeom>
          <a:noFill/>
          <a:ln/>
        </p:spPr>
        <p:txBody>
          <a:bodyPr wrap="square" lIns="0" tIns="0" rIns="0" bIns="0" rtlCol="0" anchor="ctr"/>
          <a:lstStyle/>
          <a:p>
            <a:pPr marL="0" indent="0">
              <a:buNone/>
            </a:pPr>
            <a:r>
              <a:rPr lang="en-US" sz="1000" b="1" dirty="0">
                <a:solidFill>
                  <a:srgbClr val="BC8CFF"/>
                </a:solidFill>
                <a:latin typeface="Calibri" pitchFamily="34" charset="0"/>
                <a:ea typeface="Calibri" pitchFamily="34" charset="-122"/>
                <a:cs typeface="Calibri" pitchFamily="34" charset="-120"/>
              </a:rPr>
              <a:t>💻  Code &amp; Web</a:t>
            </a:r>
            <a:endParaRPr lang="en-US" sz="1000" dirty="0"/>
          </a:p>
        </p:txBody>
      </p:sp>
      <p:sp>
        <p:nvSpPr>
          <p:cNvPr id="37" name="Shape 35"/>
          <p:cNvSpPr/>
          <p:nvPr/>
        </p:nvSpPr>
        <p:spPr>
          <a:xfrm>
            <a:off x="2679192" y="1572768"/>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38" name="Text 36"/>
          <p:cNvSpPr/>
          <p:nvPr/>
        </p:nvSpPr>
        <p:spPr>
          <a:xfrm>
            <a:off x="2679192" y="1572768"/>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.py</a:t>
            </a:r>
            <a:endParaRPr lang="en-US" sz="900" dirty="0"/>
          </a:p>
        </p:txBody>
      </p:sp>
      <p:sp>
        <p:nvSpPr>
          <p:cNvPr id="39" name="Text 37"/>
          <p:cNvSpPr/>
          <p:nvPr/>
        </p:nvSpPr>
        <p:spPr>
          <a:xfrm>
            <a:off x="3191256" y="160020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Python source code</a:t>
            </a:r>
            <a:endParaRPr lang="en-US" sz="950" dirty="0"/>
          </a:p>
        </p:txBody>
      </p:sp>
      <p:sp>
        <p:nvSpPr>
          <p:cNvPr id="40" name="Shape 38"/>
          <p:cNvSpPr/>
          <p:nvPr/>
        </p:nvSpPr>
        <p:spPr>
          <a:xfrm>
            <a:off x="2679192" y="1965960"/>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41" name="Text 39"/>
          <p:cNvSpPr/>
          <p:nvPr/>
        </p:nvSpPr>
        <p:spPr>
          <a:xfrm>
            <a:off x="2679192" y="1965960"/>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.js</a:t>
            </a:r>
            <a:endParaRPr lang="en-US" sz="900" dirty="0"/>
          </a:p>
        </p:txBody>
      </p:sp>
      <p:sp>
        <p:nvSpPr>
          <p:cNvPr id="42" name="Text 40"/>
          <p:cNvSpPr/>
          <p:nvPr/>
        </p:nvSpPr>
        <p:spPr>
          <a:xfrm>
            <a:off x="3191256" y="199339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JavaScript</a:t>
            </a:r>
            <a:endParaRPr lang="en-US" sz="950" dirty="0"/>
          </a:p>
        </p:txBody>
      </p:sp>
      <p:sp>
        <p:nvSpPr>
          <p:cNvPr id="43" name="Shape 41"/>
          <p:cNvSpPr/>
          <p:nvPr/>
        </p:nvSpPr>
        <p:spPr>
          <a:xfrm>
            <a:off x="2679192" y="2359152"/>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44" name="Text 42"/>
          <p:cNvSpPr/>
          <p:nvPr/>
        </p:nvSpPr>
        <p:spPr>
          <a:xfrm>
            <a:off x="2679192" y="2359152"/>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.ts</a:t>
            </a:r>
            <a:endParaRPr lang="en-US" sz="900" dirty="0"/>
          </a:p>
        </p:txBody>
      </p:sp>
      <p:sp>
        <p:nvSpPr>
          <p:cNvPr id="45" name="Text 43"/>
          <p:cNvSpPr/>
          <p:nvPr/>
        </p:nvSpPr>
        <p:spPr>
          <a:xfrm>
            <a:off x="3191256" y="238658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TypeScript</a:t>
            </a:r>
            <a:endParaRPr lang="en-US" sz="950" dirty="0"/>
          </a:p>
        </p:txBody>
      </p:sp>
      <p:sp>
        <p:nvSpPr>
          <p:cNvPr id="46" name="Shape 44"/>
          <p:cNvSpPr/>
          <p:nvPr/>
        </p:nvSpPr>
        <p:spPr>
          <a:xfrm>
            <a:off x="2679192" y="2752344"/>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47" name="Text 45"/>
          <p:cNvSpPr/>
          <p:nvPr/>
        </p:nvSpPr>
        <p:spPr>
          <a:xfrm>
            <a:off x="2679192" y="2752344"/>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.html</a:t>
            </a:r>
            <a:endParaRPr lang="en-US" sz="900" dirty="0"/>
          </a:p>
        </p:txBody>
      </p:sp>
      <p:sp>
        <p:nvSpPr>
          <p:cNvPr id="48" name="Text 46"/>
          <p:cNvSpPr/>
          <p:nvPr/>
        </p:nvSpPr>
        <p:spPr>
          <a:xfrm>
            <a:off x="3191256" y="2779776"/>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Web page structure</a:t>
            </a:r>
            <a:endParaRPr lang="en-US" sz="950" dirty="0"/>
          </a:p>
        </p:txBody>
      </p:sp>
      <p:sp>
        <p:nvSpPr>
          <p:cNvPr id="49" name="Shape 47"/>
          <p:cNvSpPr/>
          <p:nvPr/>
        </p:nvSpPr>
        <p:spPr>
          <a:xfrm>
            <a:off x="2679192" y="3145536"/>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50" name="Text 48"/>
          <p:cNvSpPr/>
          <p:nvPr/>
        </p:nvSpPr>
        <p:spPr>
          <a:xfrm>
            <a:off x="2679192" y="3145536"/>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.css</a:t>
            </a:r>
            <a:endParaRPr lang="en-US" sz="900" dirty="0"/>
          </a:p>
        </p:txBody>
      </p:sp>
      <p:sp>
        <p:nvSpPr>
          <p:cNvPr id="51" name="Text 49"/>
          <p:cNvSpPr/>
          <p:nvPr/>
        </p:nvSpPr>
        <p:spPr>
          <a:xfrm>
            <a:off x="3191256" y="3172968"/>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Web page styling</a:t>
            </a:r>
            <a:endParaRPr lang="en-US" sz="950" dirty="0"/>
          </a:p>
        </p:txBody>
      </p:sp>
      <p:sp>
        <p:nvSpPr>
          <p:cNvPr id="52" name="Shape 50"/>
          <p:cNvSpPr/>
          <p:nvPr/>
        </p:nvSpPr>
        <p:spPr>
          <a:xfrm>
            <a:off x="2679192" y="3538728"/>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53" name="Text 51"/>
          <p:cNvSpPr/>
          <p:nvPr/>
        </p:nvSpPr>
        <p:spPr>
          <a:xfrm>
            <a:off x="2679192" y="3538728"/>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.sql</a:t>
            </a:r>
            <a:endParaRPr lang="en-US" sz="900" dirty="0"/>
          </a:p>
        </p:txBody>
      </p:sp>
      <p:sp>
        <p:nvSpPr>
          <p:cNvPr id="54" name="Text 52"/>
          <p:cNvSpPr/>
          <p:nvPr/>
        </p:nvSpPr>
        <p:spPr>
          <a:xfrm>
            <a:off x="3191256" y="356616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Database query</a:t>
            </a:r>
            <a:endParaRPr lang="en-US" sz="950" dirty="0"/>
          </a:p>
        </p:txBody>
      </p:sp>
      <p:sp>
        <p:nvSpPr>
          <p:cNvPr id="55" name="Shape 53"/>
          <p:cNvSpPr/>
          <p:nvPr/>
        </p:nvSpPr>
        <p:spPr>
          <a:xfrm>
            <a:off x="2679192" y="3931920"/>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56" name="Text 54"/>
          <p:cNvSpPr/>
          <p:nvPr/>
        </p:nvSpPr>
        <p:spPr>
          <a:xfrm>
            <a:off x="2679192" y="3931920"/>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.sh</a:t>
            </a:r>
            <a:endParaRPr lang="en-US" sz="900" dirty="0"/>
          </a:p>
        </p:txBody>
      </p:sp>
      <p:sp>
        <p:nvSpPr>
          <p:cNvPr id="57" name="Text 55"/>
          <p:cNvSpPr/>
          <p:nvPr/>
        </p:nvSpPr>
        <p:spPr>
          <a:xfrm>
            <a:off x="3191256" y="395935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Shell / Bash script</a:t>
            </a:r>
            <a:endParaRPr lang="en-US" sz="950" dirty="0"/>
          </a:p>
        </p:txBody>
      </p:sp>
      <p:sp>
        <p:nvSpPr>
          <p:cNvPr id="58" name="Shape 56"/>
          <p:cNvSpPr/>
          <p:nvPr/>
        </p:nvSpPr>
        <p:spPr>
          <a:xfrm>
            <a:off x="2679192" y="4325112"/>
            <a:ext cx="457200" cy="256032"/>
          </a:xfrm>
          <a:prstGeom prst="rect">
            <a:avLst/>
          </a:prstGeom>
          <a:solidFill>
            <a:srgbClr val="BC8CFF">
              <a:alpha val="28000"/>
            </a:srgbClr>
          </a:solidFill>
          <a:ln w="10160">
            <a:solidFill>
              <a:srgbClr val="BC8CFF"/>
            </a:solidFill>
            <a:prstDash val="solid"/>
          </a:ln>
        </p:spPr>
        <p:txBody>
          <a:bodyPr/>
          <a:lstStyle/>
          <a:p>
            <a:endParaRPr lang="en-US"/>
          </a:p>
        </p:txBody>
      </p:sp>
      <p:sp>
        <p:nvSpPr>
          <p:cNvPr id="59" name="Text 57"/>
          <p:cNvSpPr/>
          <p:nvPr/>
        </p:nvSpPr>
        <p:spPr>
          <a:xfrm>
            <a:off x="2679192" y="4325112"/>
            <a:ext cx="457200" cy="256032"/>
          </a:xfrm>
          <a:prstGeom prst="rect">
            <a:avLst/>
          </a:prstGeom>
          <a:noFill/>
          <a:ln/>
        </p:spPr>
        <p:txBody>
          <a:bodyPr wrap="square" lIns="0" tIns="0" rIns="0" bIns="0" rtlCol="0" anchor="ctr"/>
          <a:lstStyle/>
          <a:p>
            <a:pPr marL="0" indent="0" algn="ctr">
              <a:buNone/>
            </a:pPr>
            <a:r>
              <a:rPr lang="en-US" sz="900" b="1" dirty="0">
                <a:solidFill>
                  <a:srgbClr val="BC8CFF"/>
                </a:solidFill>
                <a:latin typeface="Consolas" pitchFamily="34" charset="0"/>
                <a:ea typeface="Consolas" pitchFamily="34" charset="-122"/>
                <a:cs typeface="Consolas" pitchFamily="34" charset="-120"/>
              </a:rPr>
              <a:t>.c</a:t>
            </a:r>
            <a:endParaRPr lang="en-US" sz="900" dirty="0"/>
          </a:p>
        </p:txBody>
      </p:sp>
      <p:sp>
        <p:nvSpPr>
          <p:cNvPr id="60" name="Text 58"/>
          <p:cNvSpPr/>
          <p:nvPr/>
        </p:nvSpPr>
        <p:spPr>
          <a:xfrm>
            <a:off x="3191256" y="435254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C language source</a:t>
            </a:r>
            <a:endParaRPr lang="en-US" sz="950" dirty="0"/>
          </a:p>
        </p:txBody>
      </p:sp>
      <p:sp>
        <p:nvSpPr>
          <p:cNvPr id="61" name="Shape 59"/>
          <p:cNvSpPr/>
          <p:nvPr/>
        </p:nvSpPr>
        <p:spPr>
          <a:xfrm>
            <a:off x="4764024" y="1170432"/>
            <a:ext cx="2048256" cy="3749040"/>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62" name="Shape 60"/>
          <p:cNvSpPr/>
          <p:nvPr/>
        </p:nvSpPr>
        <p:spPr>
          <a:xfrm>
            <a:off x="4764024" y="1170432"/>
            <a:ext cx="2048256"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63" name="Text 61"/>
          <p:cNvSpPr/>
          <p:nvPr/>
        </p:nvSpPr>
        <p:spPr>
          <a:xfrm>
            <a:off x="4855464" y="1207008"/>
            <a:ext cx="1865376" cy="256032"/>
          </a:xfrm>
          <a:prstGeom prst="rect">
            <a:avLst/>
          </a:prstGeom>
          <a:noFill/>
          <a:ln/>
        </p:spPr>
        <p:txBody>
          <a:bodyPr wrap="square" lIns="0" tIns="0" rIns="0" bIns="0" rtlCol="0" anchor="ctr"/>
          <a:lstStyle/>
          <a:p>
            <a:pPr marL="0" indent="0">
              <a:buNone/>
            </a:pPr>
            <a:r>
              <a:rPr lang="en-US" sz="1000" b="1" dirty="0">
                <a:solidFill>
                  <a:srgbClr val="FFA657"/>
                </a:solidFill>
                <a:latin typeface="Calibri" pitchFamily="34" charset="0"/>
                <a:ea typeface="Calibri" pitchFamily="34" charset="-122"/>
                <a:cs typeface="Calibri" pitchFamily="34" charset="-120"/>
              </a:rPr>
              <a:t>🖼️  Images &amp; Media</a:t>
            </a:r>
            <a:endParaRPr lang="en-US" sz="1000" dirty="0"/>
          </a:p>
        </p:txBody>
      </p:sp>
      <p:sp>
        <p:nvSpPr>
          <p:cNvPr id="64" name="Shape 62"/>
          <p:cNvSpPr/>
          <p:nvPr/>
        </p:nvSpPr>
        <p:spPr>
          <a:xfrm>
            <a:off x="4855464" y="1572768"/>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65" name="Text 63"/>
          <p:cNvSpPr/>
          <p:nvPr/>
        </p:nvSpPr>
        <p:spPr>
          <a:xfrm>
            <a:off x="4855464" y="1572768"/>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.jpg</a:t>
            </a:r>
            <a:endParaRPr lang="en-US" sz="900" dirty="0"/>
          </a:p>
        </p:txBody>
      </p:sp>
      <p:sp>
        <p:nvSpPr>
          <p:cNvPr id="66" name="Text 64"/>
          <p:cNvSpPr/>
          <p:nvPr/>
        </p:nvSpPr>
        <p:spPr>
          <a:xfrm>
            <a:off x="5367528" y="160020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JPEG photo — compressed</a:t>
            </a:r>
            <a:endParaRPr lang="en-US" sz="950" dirty="0"/>
          </a:p>
        </p:txBody>
      </p:sp>
      <p:sp>
        <p:nvSpPr>
          <p:cNvPr id="67" name="Shape 65"/>
          <p:cNvSpPr/>
          <p:nvPr/>
        </p:nvSpPr>
        <p:spPr>
          <a:xfrm>
            <a:off x="4855464" y="1965960"/>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68" name="Text 66"/>
          <p:cNvSpPr/>
          <p:nvPr/>
        </p:nvSpPr>
        <p:spPr>
          <a:xfrm>
            <a:off x="4855464" y="1965960"/>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.png</a:t>
            </a:r>
            <a:endParaRPr lang="en-US" sz="900" dirty="0"/>
          </a:p>
        </p:txBody>
      </p:sp>
      <p:sp>
        <p:nvSpPr>
          <p:cNvPr id="69" name="Text 67"/>
          <p:cNvSpPr/>
          <p:nvPr/>
        </p:nvSpPr>
        <p:spPr>
          <a:xfrm>
            <a:off x="5367528" y="199339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PNG — supports transparency</a:t>
            </a:r>
            <a:endParaRPr lang="en-US" sz="950" dirty="0"/>
          </a:p>
        </p:txBody>
      </p:sp>
      <p:sp>
        <p:nvSpPr>
          <p:cNvPr id="70" name="Shape 68"/>
          <p:cNvSpPr/>
          <p:nvPr/>
        </p:nvSpPr>
        <p:spPr>
          <a:xfrm>
            <a:off x="4855464" y="2359152"/>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71" name="Text 69"/>
          <p:cNvSpPr/>
          <p:nvPr/>
        </p:nvSpPr>
        <p:spPr>
          <a:xfrm>
            <a:off x="4855464" y="2359152"/>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.gif</a:t>
            </a:r>
            <a:endParaRPr lang="en-US" sz="900" dirty="0"/>
          </a:p>
        </p:txBody>
      </p:sp>
      <p:sp>
        <p:nvSpPr>
          <p:cNvPr id="72" name="Text 70"/>
          <p:cNvSpPr/>
          <p:nvPr/>
        </p:nvSpPr>
        <p:spPr>
          <a:xfrm>
            <a:off x="5367528" y="238658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Animated image</a:t>
            </a:r>
            <a:endParaRPr lang="en-US" sz="950" dirty="0"/>
          </a:p>
        </p:txBody>
      </p:sp>
      <p:sp>
        <p:nvSpPr>
          <p:cNvPr id="73" name="Shape 71"/>
          <p:cNvSpPr/>
          <p:nvPr/>
        </p:nvSpPr>
        <p:spPr>
          <a:xfrm>
            <a:off x="4855464" y="2752344"/>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74" name="Text 72"/>
          <p:cNvSpPr/>
          <p:nvPr/>
        </p:nvSpPr>
        <p:spPr>
          <a:xfrm>
            <a:off x="4855464" y="2752344"/>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.svg</a:t>
            </a:r>
            <a:endParaRPr lang="en-US" sz="900" dirty="0"/>
          </a:p>
        </p:txBody>
      </p:sp>
      <p:sp>
        <p:nvSpPr>
          <p:cNvPr id="75" name="Text 73"/>
          <p:cNvSpPr/>
          <p:nvPr/>
        </p:nvSpPr>
        <p:spPr>
          <a:xfrm>
            <a:off x="5367528" y="2779776"/>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Vector graphic (XML)</a:t>
            </a:r>
            <a:endParaRPr lang="en-US" sz="950" dirty="0"/>
          </a:p>
        </p:txBody>
      </p:sp>
      <p:sp>
        <p:nvSpPr>
          <p:cNvPr id="76" name="Shape 74"/>
          <p:cNvSpPr/>
          <p:nvPr/>
        </p:nvSpPr>
        <p:spPr>
          <a:xfrm>
            <a:off x="4855464" y="3145536"/>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77" name="Text 75"/>
          <p:cNvSpPr/>
          <p:nvPr/>
        </p:nvSpPr>
        <p:spPr>
          <a:xfrm>
            <a:off x="4855464" y="3145536"/>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.mp4</a:t>
            </a:r>
            <a:endParaRPr lang="en-US" sz="900" dirty="0"/>
          </a:p>
        </p:txBody>
      </p:sp>
      <p:sp>
        <p:nvSpPr>
          <p:cNvPr id="78" name="Text 76"/>
          <p:cNvSpPr/>
          <p:nvPr/>
        </p:nvSpPr>
        <p:spPr>
          <a:xfrm>
            <a:off x="5367528" y="3172968"/>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Video — H.264/H.265</a:t>
            </a:r>
            <a:endParaRPr lang="en-US" sz="950" dirty="0"/>
          </a:p>
        </p:txBody>
      </p:sp>
      <p:sp>
        <p:nvSpPr>
          <p:cNvPr id="79" name="Shape 77"/>
          <p:cNvSpPr/>
          <p:nvPr/>
        </p:nvSpPr>
        <p:spPr>
          <a:xfrm>
            <a:off x="4855464" y="3538728"/>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80" name="Text 78"/>
          <p:cNvSpPr/>
          <p:nvPr/>
        </p:nvSpPr>
        <p:spPr>
          <a:xfrm>
            <a:off x="4855464" y="3538728"/>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.mp3</a:t>
            </a:r>
            <a:endParaRPr lang="en-US" sz="900" dirty="0"/>
          </a:p>
        </p:txBody>
      </p:sp>
      <p:sp>
        <p:nvSpPr>
          <p:cNvPr id="81" name="Text 79"/>
          <p:cNvSpPr/>
          <p:nvPr/>
        </p:nvSpPr>
        <p:spPr>
          <a:xfrm>
            <a:off x="5367528" y="356616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Audio — compressed</a:t>
            </a:r>
            <a:endParaRPr lang="en-US" sz="950" dirty="0"/>
          </a:p>
        </p:txBody>
      </p:sp>
      <p:sp>
        <p:nvSpPr>
          <p:cNvPr id="82" name="Shape 80"/>
          <p:cNvSpPr/>
          <p:nvPr/>
        </p:nvSpPr>
        <p:spPr>
          <a:xfrm>
            <a:off x="4855464" y="3931920"/>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83" name="Text 81"/>
          <p:cNvSpPr/>
          <p:nvPr/>
        </p:nvSpPr>
        <p:spPr>
          <a:xfrm>
            <a:off x="4855464" y="3931920"/>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.wav</a:t>
            </a:r>
            <a:endParaRPr lang="en-US" sz="900" dirty="0"/>
          </a:p>
        </p:txBody>
      </p:sp>
      <p:sp>
        <p:nvSpPr>
          <p:cNvPr id="84" name="Text 82"/>
          <p:cNvSpPr/>
          <p:nvPr/>
        </p:nvSpPr>
        <p:spPr>
          <a:xfrm>
            <a:off x="5367528" y="395935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Audio — uncompressed</a:t>
            </a:r>
            <a:endParaRPr lang="en-US" sz="950" dirty="0"/>
          </a:p>
        </p:txBody>
      </p:sp>
      <p:sp>
        <p:nvSpPr>
          <p:cNvPr id="85" name="Shape 83"/>
          <p:cNvSpPr/>
          <p:nvPr/>
        </p:nvSpPr>
        <p:spPr>
          <a:xfrm>
            <a:off x="4855464" y="4325112"/>
            <a:ext cx="457200"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86" name="Text 84"/>
          <p:cNvSpPr/>
          <p:nvPr/>
        </p:nvSpPr>
        <p:spPr>
          <a:xfrm>
            <a:off x="4855464" y="4325112"/>
            <a:ext cx="457200" cy="256032"/>
          </a:xfrm>
          <a:prstGeom prst="rect">
            <a:avLst/>
          </a:prstGeom>
          <a:noFill/>
          <a:ln/>
        </p:spPr>
        <p:txBody>
          <a:bodyPr wrap="square" lIns="0" tIns="0" rIns="0" bIns="0" rtlCol="0" anchor="ctr"/>
          <a:lstStyle/>
          <a:p>
            <a:pPr marL="0" indent="0" algn="ctr">
              <a:buNone/>
            </a:pPr>
            <a:r>
              <a:rPr lang="en-US" sz="900" b="1" dirty="0">
                <a:solidFill>
                  <a:srgbClr val="FFA657"/>
                </a:solidFill>
                <a:latin typeface="Consolas" pitchFamily="34" charset="0"/>
                <a:ea typeface="Consolas" pitchFamily="34" charset="-122"/>
                <a:cs typeface="Consolas" pitchFamily="34" charset="-120"/>
              </a:rPr>
              <a:t>.webp</a:t>
            </a:r>
            <a:endParaRPr lang="en-US" sz="900" dirty="0"/>
          </a:p>
        </p:txBody>
      </p:sp>
      <p:sp>
        <p:nvSpPr>
          <p:cNvPr id="87" name="Text 85"/>
          <p:cNvSpPr/>
          <p:nvPr/>
        </p:nvSpPr>
        <p:spPr>
          <a:xfrm>
            <a:off x="5367528" y="435254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Modern web image format</a:t>
            </a:r>
            <a:endParaRPr lang="en-US" sz="950" dirty="0"/>
          </a:p>
        </p:txBody>
      </p:sp>
      <p:sp>
        <p:nvSpPr>
          <p:cNvPr id="88" name="Shape 86"/>
          <p:cNvSpPr/>
          <p:nvPr/>
        </p:nvSpPr>
        <p:spPr>
          <a:xfrm>
            <a:off x="6940296" y="1170432"/>
            <a:ext cx="2048256" cy="3749040"/>
          </a:xfrm>
          <a:prstGeom prst="rect">
            <a:avLst/>
          </a:prstGeom>
          <a:solidFill>
            <a:srgbClr val="161B26"/>
          </a:solidFill>
          <a:ln w="15240">
            <a:solidFill>
              <a:srgbClr val="3FB950"/>
            </a:solidFill>
            <a:prstDash val="solid"/>
          </a:ln>
          <a:effectLst>
            <a:outerShdw blurRad="177800" dist="38100" dir="8100000" algn="bl" rotWithShape="0">
              <a:srgbClr val="000000">
                <a:alpha val="35000"/>
              </a:srgbClr>
            </a:outerShdw>
          </a:effectLst>
        </p:spPr>
        <p:txBody>
          <a:bodyPr/>
          <a:lstStyle/>
          <a:p>
            <a:endParaRPr lang="en-US"/>
          </a:p>
        </p:txBody>
      </p:sp>
      <p:sp>
        <p:nvSpPr>
          <p:cNvPr id="89" name="Shape 87"/>
          <p:cNvSpPr/>
          <p:nvPr/>
        </p:nvSpPr>
        <p:spPr>
          <a:xfrm>
            <a:off x="6940296" y="1170432"/>
            <a:ext cx="2048256" cy="329184"/>
          </a:xfrm>
          <a:prstGeom prst="rect">
            <a:avLst/>
          </a:prstGeom>
          <a:solidFill>
            <a:srgbClr val="3FB950">
              <a:alpha val="78000"/>
            </a:srgbClr>
          </a:solidFill>
          <a:ln w="12700">
            <a:solidFill>
              <a:srgbClr val="3FB950"/>
            </a:solidFill>
            <a:prstDash val="solid"/>
          </a:ln>
        </p:spPr>
        <p:txBody>
          <a:bodyPr/>
          <a:lstStyle/>
          <a:p>
            <a:endParaRPr lang="en-US"/>
          </a:p>
        </p:txBody>
      </p:sp>
      <p:sp>
        <p:nvSpPr>
          <p:cNvPr id="90" name="Text 88"/>
          <p:cNvSpPr/>
          <p:nvPr/>
        </p:nvSpPr>
        <p:spPr>
          <a:xfrm>
            <a:off x="7031736" y="1207008"/>
            <a:ext cx="1865376" cy="256032"/>
          </a:xfrm>
          <a:prstGeom prst="rect">
            <a:avLst/>
          </a:prstGeom>
          <a:noFill/>
          <a:ln/>
        </p:spPr>
        <p:txBody>
          <a:bodyPr wrap="square" lIns="0" tIns="0" rIns="0" bIns="0" rtlCol="0" anchor="ctr"/>
          <a:lstStyle/>
          <a:p>
            <a:pPr marL="0" indent="0">
              <a:buNone/>
            </a:pPr>
            <a:r>
              <a:rPr lang="en-US" sz="1000" b="1" dirty="0">
                <a:solidFill>
                  <a:srgbClr val="3FB950"/>
                </a:solidFill>
                <a:latin typeface="Calibri" pitchFamily="34" charset="0"/>
                <a:ea typeface="Calibri" pitchFamily="34" charset="-122"/>
                <a:cs typeface="Calibri" pitchFamily="34" charset="-120"/>
              </a:rPr>
              <a:t>📦  Archives &amp; System</a:t>
            </a:r>
            <a:endParaRPr lang="en-US" sz="1000" dirty="0"/>
          </a:p>
        </p:txBody>
      </p:sp>
      <p:sp>
        <p:nvSpPr>
          <p:cNvPr id="91" name="Shape 89"/>
          <p:cNvSpPr/>
          <p:nvPr/>
        </p:nvSpPr>
        <p:spPr>
          <a:xfrm>
            <a:off x="7031736" y="1572768"/>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92" name="Text 90"/>
          <p:cNvSpPr/>
          <p:nvPr/>
        </p:nvSpPr>
        <p:spPr>
          <a:xfrm>
            <a:off x="7031736" y="1572768"/>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.zip</a:t>
            </a:r>
            <a:endParaRPr lang="en-US" sz="900" dirty="0"/>
          </a:p>
        </p:txBody>
      </p:sp>
      <p:sp>
        <p:nvSpPr>
          <p:cNvPr id="93" name="Text 91"/>
          <p:cNvSpPr/>
          <p:nvPr/>
        </p:nvSpPr>
        <p:spPr>
          <a:xfrm>
            <a:off x="7543800" y="160020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Compressed archive</a:t>
            </a:r>
            <a:endParaRPr lang="en-US" sz="950" dirty="0"/>
          </a:p>
        </p:txBody>
      </p:sp>
      <p:sp>
        <p:nvSpPr>
          <p:cNvPr id="94" name="Shape 92"/>
          <p:cNvSpPr/>
          <p:nvPr/>
        </p:nvSpPr>
        <p:spPr>
          <a:xfrm>
            <a:off x="7031736" y="1965960"/>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95" name="Text 93"/>
          <p:cNvSpPr/>
          <p:nvPr/>
        </p:nvSpPr>
        <p:spPr>
          <a:xfrm>
            <a:off x="7031736" y="1965960"/>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.tar</a:t>
            </a:r>
            <a:endParaRPr lang="en-US" sz="900" dirty="0"/>
          </a:p>
        </p:txBody>
      </p:sp>
      <p:sp>
        <p:nvSpPr>
          <p:cNvPr id="96" name="Text 94"/>
          <p:cNvSpPr/>
          <p:nvPr/>
        </p:nvSpPr>
        <p:spPr>
          <a:xfrm>
            <a:off x="7543800" y="199339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Linux archive (no compress)</a:t>
            </a:r>
            <a:endParaRPr lang="en-US" sz="950" dirty="0"/>
          </a:p>
        </p:txBody>
      </p:sp>
      <p:sp>
        <p:nvSpPr>
          <p:cNvPr id="97" name="Shape 95"/>
          <p:cNvSpPr/>
          <p:nvPr/>
        </p:nvSpPr>
        <p:spPr>
          <a:xfrm>
            <a:off x="7031736" y="2359152"/>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98" name="Text 96"/>
          <p:cNvSpPr/>
          <p:nvPr/>
        </p:nvSpPr>
        <p:spPr>
          <a:xfrm>
            <a:off x="7031736" y="2359152"/>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.gz</a:t>
            </a:r>
            <a:endParaRPr lang="en-US" sz="900" dirty="0"/>
          </a:p>
        </p:txBody>
      </p:sp>
      <p:sp>
        <p:nvSpPr>
          <p:cNvPr id="99" name="Text 97"/>
          <p:cNvSpPr/>
          <p:nvPr/>
        </p:nvSpPr>
        <p:spPr>
          <a:xfrm>
            <a:off x="7543800" y="238658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Gzip compressed file</a:t>
            </a:r>
            <a:endParaRPr lang="en-US" sz="950" dirty="0"/>
          </a:p>
        </p:txBody>
      </p:sp>
      <p:sp>
        <p:nvSpPr>
          <p:cNvPr id="100" name="Shape 98"/>
          <p:cNvSpPr/>
          <p:nvPr/>
        </p:nvSpPr>
        <p:spPr>
          <a:xfrm>
            <a:off x="7031736" y="2752344"/>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101" name="Text 99"/>
          <p:cNvSpPr/>
          <p:nvPr/>
        </p:nvSpPr>
        <p:spPr>
          <a:xfrm>
            <a:off x="7031736" y="2752344"/>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.exe</a:t>
            </a:r>
            <a:endParaRPr lang="en-US" sz="900" dirty="0"/>
          </a:p>
        </p:txBody>
      </p:sp>
      <p:sp>
        <p:nvSpPr>
          <p:cNvPr id="102" name="Text 100"/>
          <p:cNvSpPr/>
          <p:nvPr/>
        </p:nvSpPr>
        <p:spPr>
          <a:xfrm>
            <a:off x="7543800" y="2779776"/>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Windows executable</a:t>
            </a:r>
            <a:endParaRPr lang="en-US" sz="950" dirty="0"/>
          </a:p>
        </p:txBody>
      </p:sp>
      <p:sp>
        <p:nvSpPr>
          <p:cNvPr id="103" name="Shape 101"/>
          <p:cNvSpPr/>
          <p:nvPr/>
        </p:nvSpPr>
        <p:spPr>
          <a:xfrm>
            <a:off x="7031736" y="3145536"/>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104" name="Text 102"/>
          <p:cNvSpPr/>
          <p:nvPr/>
        </p:nvSpPr>
        <p:spPr>
          <a:xfrm>
            <a:off x="7031736" y="3145536"/>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.dll</a:t>
            </a:r>
            <a:endParaRPr lang="en-US" sz="900" dirty="0"/>
          </a:p>
        </p:txBody>
      </p:sp>
      <p:sp>
        <p:nvSpPr>
          <p:cNvPr id="105" name="Text 103"/>
          <p:cNvSpPr/>
          <p:nvPr/>
        </p:nvSpPr>
        <p:spPr>
          <a:xfrm>
            <a:off x="7543800" y="3172968"/>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Windows shared library</a:t>
            </a:r>
            <a:endParaRPr lang="en-US" sz="950" dirty="0"/>
          </a:p>
        </p:txBody>
      </p:sp>
      <p:sp>
        <p:nvSpPr>
          <p:cNvPr id="106" name="Shape 104"/>
          <p:cNvSpPr/>
          <p:nvPr/>
        </p:nvSpPr>
        <p:spPr>
          <a:xfrm>
            <a:off x="7031736" y="3538728"/>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107" name="Text 105"/>
          <p:cNvSpPr/>
          <p:nvPr/>
        </p:nvSpPr>
        <p:spPr>
          <a:xfrm>
            <a:off x="7031736" y="3538728"/>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.so</a:t>
            </a:r>
            <a:endParaRPr lang="en-US" sz="900" dirty="0"/>
          </a:p>
        </p:txBody>
      </p:sp>
      <p:sp>
        <p:nvSpPr>
          <p:cNvPr id="108" name="Text 106"/>
          <p:cNvSpPr/>
          <p:nvPr/>
        </p:nvSpPr>
        <p:spPr>
          <a:xfrm>
            <a:off x="7543800" y="3566160"/>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Linux shared library</a:t>
            </a:r>
            <a:endParaRPr lang="en-US" sz="950" dirty="0"/>
          </a:p>
        </p:txBody>
      </p:sp>
      <p:sp>
        <p:nvSpPr>
          <p:cNvPr id="109" name="Shape 107"/>
          <p:cNvSpPr/>
          <p:nvPr/>
        </p:nvSpPr>
        <p:spPr>
          <a:xfrm>
            <a:off x="7031736" y="3931920"/>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110" name="Text 108"/>
          <p:cNvSpPr/>
          <p:nvPr/>
        </p:nvSpPr>
        <p:spPr>
          <a:xfrm>
            <a:off x="7031736" y="3931920"/>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.db</a:t>
            </a:r>
            <a:endParaRPr lang="en-US" sz="900" dirty="0"/>
          </a:p>
        </p:txBody>
      </p:sp>
      <p:sp>
        <p:nvSpPr>
          <p:cNvPr id="111" name="Text 109"/>
          <p:cNvSpPr/>
          <p:nvPr/>
        </p:nvSpPr>
        <p:spPr>
          <a:xfrm>
            <a:off x="7543800" y="3959352"/>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Database file (SQLite etc.)</a:t>
            </a:r>
            <a:endParaRPr lang="en-US" sz="950" dirty="0"/>
          </a:p>
        </p:txBody>
      </p:sp>
      <p:sp>
        <p:nvSpPr>
          <p:cNvPr id="112" name="Shape 110"/>
          <p:cNvSpPr/>
          <p:nvPr/>
        </p:nvSpPr>
        <p:spPr>
          <a:xfrm>
            <a:off x="7031736" y="4325112"/>
            <a:ext cx="457200" cy="256032"/>
          </a:xfrm>
          <a:prstGeom prst="rect">
            <a:avLst/>
          </a:prstGeom>
          <a:solidFill>
            <a:srgbClr val="3FB950">
              <a:alpha val="28000"/>
            </a:srgbClr>
          </a:solidFill>
          <a:ln w="10160">
            <a:solidFill>
              <a:srgbClr val="3FB950"/>
            </a:solidFill>
            <a:prstDash val="solid"/>
          </a:ln>
        </p:spPr>
        <p:txBody>
          <a:bodyPr/>
          <a:lstStyle/>
          <a:p>
            <a:endParaRPr lang="en-US"/>
          </a:p>
        </p:txBody>
      </p:sp>
      <p:sp>
        <p:nvSpPr>
          <p:cNvPr id="113" name="Text 111"/>
          <p:cNvSpPr/>
          <p:nvPr/>
        </p:nvSpPr>
        <p:spPr>
          <a:xfrm>
            <a:off x="7031736" y="4325112"/>
            <a:ext cx="457200" cy="256032"/>
          </a:xfrm>
          <a:prstGeom prst="rect">
            <a:avLst/>
          </a:prstGeom>
          <a:noFill/>
          <a:ln/>
        </p:spPr>
        <p:txBody>
          <a:bodyPr wrap="square" lIns="0" tIns="0" rIns="0" bIns="0" rtlCol="0" anchor="ctr"/>
          <a:lstStyle/>
          <a:p>
            <a:pPr marL="0" indent="0" algn="ctr">
              <a:buNone/>
            </a:pPr>
            <a:r>
              <a:rPr lang="en-US" sz="900" b="1" dirty="0">
                <a:solidFill>
                  <a:srgbClr val="3FB950"/>
                </a:solidFill>
                <a:latin typeface="Consolas" pitchFamily="34" charset="0"/>
                <a:ea typeface="Consolas" pitchFamily="34" charset="-122"/>
                <a:cs typeface="Consolas" pitchFamily="34" charset="-120"/>
              </a:rPr>
              <a:t>.log</a:t>
            </a:r>
            <a:endParaRPr lang="en-US" sz="900" dirty="0"/>
          </a:p>
        </p:txBody>
      </p:sp>
      <p:sp>
        <p:nvSpPr>
          <p:cNvPr id="114" name="Text 112"/>
          <p:cNvSpPr/>
          <p:nvPr/>
        </p:nvSpPr>
        <p:spPr>
          <a:xfrm>
            <a:off x="7543800" y="4352544"/>
            <a:ext cx="137160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Log file — plain text</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FILE EXTENSIONS</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File Associations — How the OS Opens Files</a:t>
            </a:r>
            <a:endParaRPr lang="en-US" sz="2800" dirty="0"/>
          </a:p>
        </p:txBody>
      </p:sp>
      <p:sp>
        <p:nvSpPr>
          <p:cNvPr id="6" name="Text 4"/>
          <p:cNvSpPr/>
          <p:nvPr/>
        </p:nvSpPr>
        <p:spPr>
          <a:xfrm>
            <a:off x="457200" y="877824"/>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The OS maintains a table linking extensions to default programs</a:t>
            </a:r>
            <a:endParaRPr lang="en-US" sz="1300" dirty="0"/>
          </a:p>
        </p:txBody>
      </p:sp>
      <p:sp>
        <p:nvSpPr>
          <p:cNvPr id="7" name="Shape 5"/>
          <p:cNvSpPr/>
          <p:nvPr/>
        </p:nvSpPr>
        <p:spPr>
          <a:xfrm>
            <a:off x="411480" y="1170432"/>
            <a:ext cx="8321040" cy="1115568"/>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8321040"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9" name="Text 7"/>
          <p:cNvSpPr/>
          <p:nvPr/>
        </p:nvSpPr>
        <p:spPr>
          <a:xfrm>
            <a:off x="548640" y="1216152"/>
            <a:ext cx="8046720" cy="256032"/>
          </a:xfrm>
          <a:prstGeom prst="rect">
            <a:avLst/>
          </a:prstGeom>
          <a:noFill/>
          <a:ln/>
        </p:spPr>
        <p:txBody>
          <a:bodyPr wrap="square" lIns="0" tIns="0" rIns="0" bIns="0" rtlCol="0" anchor="ctr"/>
          <a:lstStyle/>
          <a:p>
            <a:pPr marL="0" indent="0">
              <a:buNone/>
            </a:pPr>
            <a:r>
              <a:rPr lang="en-US" sz="1100" b="1" dirty="0">
                <a:solidFill>
                  <a:srgbClr val="58A6FF"/>
                </a:solidFill>
                <a:latin typeface="Calibri" pitchFamily="34" charset="0"/>
                <a:ea typeface="Calibri" pitchFamily="34" charset="-122"/>
                <a:cs typeface="Calibri" pitchFamily="34" charset="-120"/>
              </a:rPr>
              <a:t>🖱️  Double-click Flow</a:t>
            </a:r>
            <a:endParaRPr lang="en-US" sz="1100" dirty="0"/>
          </a:p>
        </p:txBody>
      </p:sp>
      <p:sp>
        <p:nvSpPr>
          <p:cNvPr id="10" name="Shape 8"/>
          <p:cNvSpPr/>
          <p:nvPr/>
        </p:nvSpPr>
        <p:spPr>
          <a:xfrm>
            <a:off x="548640" y="1554480"/>
            <a:ext cx="1481328" cy="594360"/>
          </a:xfrm>
          <a:prstGeom prst="rect">
            <a:avLst/>
          </a:prstGeom>
          <a:solidFill>
            <a:srgbClr val="3FD9C4">
              <a:alpha val="28000"/>
            </a:srgbClr>
          </a:solidFill>
          <a:ln w="15240">
            <a:solidFill>
              <a:srgbClr val="3FD9C4"/>
            </a:solidFill>
            <a:prstDash val="solid"/>
          </a:ln>
        </p:spPr>
        <p:txBody>
          <a:bodyPr/>
          <a:lstStyle/>
          <a:p>
            <a:endParaRPr lang="en-US"/>
          </a:p>
        </p:txBody>
      </p:sp>
      <p:sp>
        <p:nvSpPr>
          <p:cNvPr id="11" name="Text 9"/>
          <p:cNvSpPr/>
          <p:nvPr/>
        </p:nvSpPr>
        <p:spPr>
          <a:xfrm>
            <a:off x="548640" y="1554480"/>
            <a:ext cx="1481328" cy="594360"/>
          </a:xfrm>
          <a:prstGeom prst="rect">
            <a:avLst/>
          </a:prstGeom>
          <a:noFill/>
          <a:ln/>
        </p:spPr>
        <p:txBody>
          <a:bodyPr wrap="square" lIns="0" tIns="0" rIns="0" bIns="0" rtlCol="0" anchor="ctr"/>
          <a:lstStyle/>
          <a:p>
            <a:pPr marL="0" indent="0" algn="ctr">
              <a:buNone/>
            </a:pPr>
            <a:r>
              <a:rPr lang="en-US" sz="1000" b="1" dirty="0">
                <a:solidFill>
                  <a:srgbClr val="3FD9C4"/>
                </a:solidFill>
                <a:latin typeface="Calibri" pitchFamily="34" charset="0"/>
                <a:ea typeface="Calibri" pitchFamily="34" charset="-122"/>
                <a:cs typeface="Calibri" pitchFamily="34" charset="-120"/>
              </a:rPr>
              <a:t>Double-click</a:t>
            </a:r>
            <a:endParaRPr lang="en-US" sz="1000" dirty="0"/>
          </a:p>
          <a:p>
            <a:pPr marL="0" indent="0" algn="ctr">
              <a:buNone/>
            </a:pPr>
            <a:r>
              <a:rPr lang="en-US" sz="1000" b="1" dirty="0">
                <a:solidFill>
                  <a:srgbClr val="3FD9C4"/>
                </a:solidFill>
                <a:latin typeface="Calibri" pitchFamily="34" charset="0"/>
                <a:ea typeface="Calibri" pitchFamily="34" charset="-122"/>
                <a:cs typeface="Calibri" pitchFamily="34" charset="-120"/>
              </a:rPr>
              <a:t>report.pdf</a:t>
            </a:r>
            <a:endParaRPr lang="en-US" sz="1000" dirty="0"/>
          </a:p>
        </p:txBody>
      </p:sp>
      <p:sp>
        <p:nvSpPr>
          <p:cNvPr id="12" name="Shape 10"/>
          <p:cNvSpPr/>
          <p:nvPr/>
        </p:nvSpPr>
        <p:spPr>
          <a:xfrm>
            <a:off x="2029968" y="1810512"/>
            <a:ext cx="146304" cy="109728"/>
          </a:xfrm>
          <a:prstGeom prst="rect">
            <a:avLst/>
          </a:prstGeom>
          <a:solidFill>
            <a:srgbClr val="F0F6FC">
              <a:alpha val="50000"/>
            </a:srgbClr>
          </a:solidFill>
          <a:ln w="12700">
            <a:solidFill>
              <a:srgbClr val="F0F6FC">
                <a:alpha val="50000"/>
              </a:srgbClr>
            </a:solidFill>
            <a:prstDash val="solid"/>
          </a:ln>
        </p:spPr>
        <p:txBody>
          <a:bodyPr/>
          <a:lstStyle/>
          <a:p>
            <a:endParaRPr lang="en-US"/>
          </a:p>
        </p:txBody>
      </p:sp>
      <p:sp>
        <p:nvSpPr>
          <p:cNvPr id="13" name="Shape 11"/>
          <p:cNvSpPr/>
          <p:nvPr/>
        </p:nvSpPr>
        <p:spPr>
          <a:xfrm>
            <a:off x="2176272" y="1554480"/>
            <a:ext cx="1481328" cy="594360"/>
          </a:xfrm>
          <a:prstGeom prst="rect">
            <a:avLst/>
          </a:prstGeom>
          <a:solidFill>
            <a:srgbClr val="58A6FF">
              <a:alpha val="28000"/>
            </a:srgbClr>
          </a:solidFill>
          <a:ln w="15240">
            <a:solidFill>
              <a:srgbClr val="58A6FF"/>
            </a:solidFill>
            <a:prstDash val="solid"/>
          </a:ln>
        </p:spPr>
        <p:txBody>
          <a:bodyPr/>
          <a:lstStyle/>
          <a:p>
            <a:endParaRPr lang="en-US"/>
          </a:p>
        </p:txBody>
      </p:sp>
      <p:sp>
        <p:nvSpPr>
          <p:cNvPr id="14" name="Text 12"/>
          <p:cNvSpPr/>
          <p:nvPr/>
        </p:nvSpPr>
        <p:spPr>
          <a:xfrm>
            <a:off x="2176272" y="1554480"/>
            <a:ext cx="1481328" cy="594360"/>
          </a:xfrm>
          <a:prstGeom prst="rect">
            <a:avLst/>
          </a:prstGeom>
          <a:noFill/>
          <a:ln/>
        </p:spPr>
        <p:txBody>
          <a:bodyPr wrap="square" lIns="0" tIns="0" rIns="0" bIns="0" rtlCol="0" anchor="ctr"/>
          <a:lstStyle/>
          <a:p>
            <a:pPr marL="0" indent="0" algn="ctr">
              <a:buNone/>
            </a:pPr>
            <a:r>
              <a:rPr lang="en-US" sz="1000" b="1" dirty="0">
                <a:solidFill>
                  <a:srgbClr val="58A6FF"/>
                </a:solidFill>
                <a:latin typeface="Calibri" pitchFamily="34" charset="0"/>
                <a:ea typeface="Calibri" pitchFamily="34" charset="-122"/>
                <a:cs typeface="Calibri" pitchFamily="34" charset="-120"/>
              </a:rPr>
              <a:t>OS reads</a:t>
            </a:r>
            <a:endParaRPr lang="en-US" sz="1000" dirty="0"/>
          </a:p>
          <a:p>
            <a:pPr marL="0" indent="0" algn="ctr">
              <a:buNone/>
            </a:pPr>
            <a:r>
              <a:rPr lang="en-US" sz="1000" b="1" dirty="0">
                <a:solidFill>
                  <a:srgbClr val="58A6FF"/>
                </a:solidFill>
                <a:latin typeface="Calibri" pitchFamily="34" charset="0"/>
                <a:ea typeface="Calibri" pitchFamily="34" charset="-122"/>
                <a:cs typeface="Calibri" pitchFamily="34" charset="-120"/>
              </a:rPr>
              <a:t>extension: .pdf</a:t>
            </a:r>
            <a:endParaRPr lang="en-US" sz="1000" dirty="0"/>
          </a:p>
        </p:txBody>
      </p:sp>
      <p:sp>
        <p:nvSpPr>
          <p:cNvPr id="15" name="Shape 13"/>
          <p:cNvSpPr/>
          <p:nvPr/>
        </p:nvSpPr>
        <p:spPr>
          <a:xfrm>
            <a:off x="3657600" y="1810512"/>
            <a:ext cx="146304" cy="109728"/>
          </a:xfrm>
          <a:prstGeom prst="rect">
            <a:avLst/>
          </a:prstGeom>
          <a:solidFill>
            <a:srgbClr val="F0F6FC">
              <a:alpha val="50000"/>
            </a:srgbClr>
          </a:solidFill>
          <a:ln w="12700">
            <a:solidFill>
              <a:srgbClr val="F0F6FC">
                <a:alpha val="50000"/>
              </a:srgbClr>
            </a:solidFill>
            <a:prstDash val="solid"/>
          </a:ln>
        </p:spPr>
        <p:txBody>
          <a:bodyPr/>
          <a:lstStyle/>
          <a:p>
            <a:endParaRPr lang="en-US"/>
          </a:p>
        </p:txBody>
      </p:sp>
      <p:sp>
        <p:nvSpPr>
          <p:cNvPr id="16" name="Shape 14"/>
          <p:cNvSpPr/>
          <p:nvPr/>
        </p:nvSpPr>
        <p:spPr>
          <a:xfrm>
            <a:off x="3803904" y="1554480"/>
            <a:ext cx="1481328" cy="594360"/>
          </a:xfrm>
          <a:prstGeom prst="rect">
            <a:avLst/>
          </a:prstGeom>
          <a:solidFill>
            <a:srgbClr val="BC8CFF">
              <a:alpha val="28000"/>
            </a:srgbClr>
          </a:solidFill>
          <a:ln w="15240">
            <a:solidFill>
              <a:srgbClr val="BC8CFF"/>
            </a:solidFill>
            <a:prstDash val="solid"/>
          </a:ln>
        </p:spPr>
        <p:txBody>
          <a:bodyPr/>
          <a:lstStyle/>
          <a:p>
            <a:endParaRPr lang="en-US"/>
          </a:p>
        </p:txBody>
      </p:sp>
      <p:sp>
        <p:nvSpPr>
          <p:cNvPr id="17" name="Text 15"/>
          <p:cNvSpPr/>
          <p:nvPr/>
        </p:nvSpPr>
        <p:spPr>
          <a:xfrm>
            <a:off x="3803904" y="1554480"/>
            <a:ext cx="1481328" cy="594360"/>
          </a:xfrm>
          <a:prstGeom prst="rect">
            <a:avLst/>
          </a:prstGeom>
          <a:noFill/>
          <a:ln/>
        </p:spPr>
        <p:txBody>
          <a:bodyPr wrap="square" lIns="0" tIns="0" rIns="0" bIns="0" rtlCol="0" anchor="ctr"/>
          <a:lstStyle/>
          <a:p>
            <a:pPr marL="0" indent="0" algn="ctr">
              <a:buNone/>
            </a:pPr>
            <a:r>
              <a:rPr lang="en-US" sz="1000" b="1" dirty="0">
                <a:solidFill>
                  <a:srgbClr val="BC8CFF"/>
                </a:solidFill>
                <a:latin typeface="Calibri" pitchFamily="34" charset="0"/>
                <a:ea typeface="Calibri" pitchFamily="34" charset="-122"/>
                <a:cs typeface="Calibri" pitchFamily="34" charset="-120"/>
              </a:rPr>
              <a:t>Lookup</a:t>
            </a:r>
            <a:endParaRPr lang="en-US" sz="1000" dirty="0"/>
          </a:p>
          <a:p>
            <a:pPr marL="0" indent="0" algn="ctr">
              <a:buNone/>
            </a:pPr>
            <a:r>
              <a:rPr lang="en-US" sz="1000" b="1" dirty="0">
                <a:solidFill>
                  <a:srgbClr val="BC8CFF"/>
                </a:solidFill>
                <a:latin typeface="Calibri" pitchFamily="34" charset="0"/>
                <a:ea typeface="Calibri" pitchFamily="34" charset="-122"/>
                <a:cs typeface="Calibri" pitchFamily="34" charset="-120"/>
              </a:rPr>
              <a:t>association table</a:t>
            </a:r>
            <a:endParaRPr lang="en-US" sz="1000" dirty="0"/>
          </a:p>
        </p:txBody>
      </p:sp>
      <p:sp>
        <p:nvSpPr>
          <p:cNvPr id="18" name="Shape 16"/>
          <p:cNvSpPr/>
          <p:nvPr/>
        </p:nvSpPr>
        <p:spPr>
          <a:xfrm>
            <a:off x="5285232" y="1810512"/>
            <a:ext cx="146304" cy="109728"/>
          </a:xfrm>
          <a:prstGeom prst="rect">
            <a:avLst/>
          </a:prstGeom>
          <a:solidFill>
            <a:srgbClr val="F0F6FC">
              <a:alpha val="50000"/>
            </a:srgbClr>
          </a:solidFill>
          <a:ln w="12700">
            <a:solidFill>
              <a:srgbClr val="F0F6FC">
                <a:alpha val="50000"/>
              </a:srgbClr>
            </a:solidFill>
            <a:prstDash val="solid"/>
          </a:ln>
        </p:spPr>
        <p:txBody>
          <a:bodyPr/>
          <a:lstStyle/>
          <a:p>
            <a:endParaRPr lang="en-US"/>
          </a:p>
        </p:txBody>
      </p:sp>
      <p:sp>
        <p:nvSpPr>
          <p:cNvPr id="19" name="Shape 17"/>
          <p:cNvSpPr/>
          <p:nvPr/>
        </p:nvSpPr>
        <p:spPr>
          <a:xfrm>
            <a:off x="5431536" y="1554480"/>
            <a:ext cx="1481328" cy="594360"/>
          </a:xfrm>
          <a:prstGeom prst="rect">
            <a:avLst/>
          </a:prstGeom>
          <a:solidFill>
            <a:srgbClr val="FFA657">
              <a:alpha val="28000"/>
            </a:srgbClr>
          </a:solidFill>
          <a:ln w="15240">
            <a:solidFill>
              <a:srgbClr val="FFA657"/>
            </a:solidFill>
            <a:prstDash val="solid"/>
          </a:ln>
        </p:spPr>
        <p:txBody>
          <a:bodyPr/>
          <a:lstStyle/>
          <a:p>
            <a:endParaRPr lang="en-US"/>
          </a:p>
        </p:txBody>
      </p:sp>
      <p:sp>
        <p:nvSpPr>
          <p:cNvPr id="20" name="Text 18"/>
          <p:cNvSpPr/>
          <p:nvPr/>
        </p:nvSpPr>
        <p:spPr>
          <a:xfrm>
            <a:off x="5431536" y="1554480"/>
            <a:ext cx="1481328" cy="594360"/>
          </a:xfrm>
          <a:prstGeom prst="rect">
            <a:avLst/>
          </a:prstGeom>
          <a:noFill/>
          <a:ln/>
        </p:spPr>
        <p:txBody>
          <a:bodyPr wrap="square" lIns="0" tIns="0" rIns="0" bIns="0" rtlCol="0" anchor="ctr"/>
          <a:lstStyle/>
          <a:p>
            <a:pPr marL="0" indent="0" algn="ctr">
              <a:buNone/>
            </a:pPr>
            <a:r>
              <a:rPr lang="en-US" sz="1000" b="1" dirty="0">
                <a:solidFill>
                  <a:srgbClr val="FFA657"/>
                </a:solidFill>
                <a:latin typeface="Calibri" pitchFamily="34" charset="0"/>
                <a:ea typeface="Calibri" pitchFamily="34" charset="-122"/>
                <a:cs typeface="Calibri" pitchFamily="34" charset="-120"/>
              </a:rPr>
              <a:t>Launch</a:t>
            </a:r>
            <a:endParaRPr lang="en-US" sz="1000" dirty="0"/>
          </a:p>
          <a:p>
            <a:pPr marL="0" indent="0" algn="ctr">
              <a:buNone/>
            </a:pPr>
            <a:r>
              <a:rPr lang="en-US" sz="1000" b="1" dirty="0">
                <a:solidFill>
                  <a:srgbClr val="FFA657"/>
                </a:solidFill>
                <a:latin typeface="Calibri" pitchFamily="34" charset="0"/>
                <a:ea typeface="Calibri" pitchFamily="34" charset="-122"/>
                <a:cs typeface="Calibri" pitchFamily="34" charset="-120"/>
              </a:rPr>
              <a:t>default program</a:t>
            </a:r>
            <a:endParaRPr lang="en-US" sz="1000" dirty="0"/>
          </a:p>
        </p:txBody>
      </p:sp>
      <p:sp>
        <p:nvSpPr>
          <p:cNvPr id="21" name="Shape 19"/>
          <p:cNvSpPr/>
          <p:nvPr/>
        </p:nvSpPr>
        <p:spPr>
          <a:xfrm>
            <a:off x="6912864" y="1810512"/>
            <a:ext cx="146304" cy="109728"/>
          </a:xfrm>
          <a:prstGeom prst="rect">
            <a:avLst/>
          </a:prstGeom>
          <a:solidFill>
            <a:srgbClr val="F0F6FC">
              <a:alpha val="50000"/>
            </a:srgbClr>
          </a:solidFill>
          <a:ln w="12700">
            <a:solidFill>
              <a:srgbClr val="F0F6FC">
                <a:alpha val="50000"/>
              </a:srgbClr>
            </a:solidFill>
            <a:prstDash val="solid"/>
          </a:ln>
        </p:spPr>
        <p:txBody>
          <a:bodyPr/>
          <a:lstStyle/>
          <a:p>
            <a:endParaRPr lang="en-US"/>
          </a:p>
        </p:txBody>
      </p:sp>
      <p:sp>
        <p:nvSpPr>
          <p:cNvPr id="22" name="Shape 20"/>
          <p:cNvSpPr/>
          <p:nvPr/>
        </p:nvSpPr>
        <p:spPr>
          <a:xfrm>
            <a:off x="7059168" y="1554480"/>
            <a:ext cx="1481328" cy="594360"/>
          </a:xfrm>
          <a:prstGeom prst="rect">
            <a:avLst/>
          </a:prstGeom>
          <a:solidFill>
            <a:srgbClr val="3FB950">
              <a:alpha val="28000"/>
            </a:srgbClr>
          </a:solidFill>
          <a:ln w="15240">
            <a:solidFill>
              <a:srgbClr val="3FB950"/>
            </a:solidFill>
            <a:prstDash val="solid"/>
          </a:ln>
        </p:spPr>
        <p:txBody>
          <a:bodyPr/>
          <a:lstStyle/>
          <a:p>
            <a:endParaRPr lang="en-US"/>
          </a:p>
        </p:txBody>
      </p:sp>
      <p:sp>
        <p:nvSpPr>
          <p:cNvPr id="23" name="Text 21"/>
          <p:cNvSpPr/>
          <p:nvPr/>
        </p:nvSpPr>
        <p:spPr>
          <a:xfrm>
            <a:off x="7059168" y="1554480"/>
            <a:ext cx="1481328" cy="594360"/>
          </a:xfrm>
          <a:prstGeom prst="rect">
            <a:avLst/>
          </a:prstGeom>
          <a:noFill/>
          <a:ln/>
        </p:spPr>
        <p:txBody>
          <a:bodyPr wrap="square" lIns="0" tIns="0" rIns="0" bIns="0" rtlCol="0" anchor="ctr"/>
          <a:lstStyle/>
          <a:p>
            <a:pPr marL="0" indent="0" algn="ctr">
              <a:buNone/>
            </a:pPr>
            <a:r>
              <a:rPr lang="en-US" sz="1000" b="1" dirty="0">
                <a:solidFill>
                  <a:srgbClr val="3FB950"/>
                </a:solidFill>
                <a:latin typeface="Calibri" pitchFamily="34" charset="0"/>
                <a:ea typeface="Calibri" pitchFamily="34" charset="-122"/>
                <a:cs typeface="Calibri" pitchFamily="34" charset="-120"/>
              </a:rPr>
              <a:t>Program reads</a:t>
            </a:r>
            <a:endParaRPr lang="en-US" sz="1000" dirty="0"/>
          </a:p>
          <a:p>
            <a:pPr marL="0" indent="0" algn="ctr">
              <a:buNone/>
            </a:pPr>
            <a:r>
              <a:rPr lang="en-US" sz="1000" b="1" dirty="0">
                <a:solidFill>
                  <a:srgbClr val="3FB950"/>
                </a:solidFill>
                <a:latin typeface="Calibri" pitchFamily="34" charset="0"/>
                <a:ea typeface="Calibri" pitchFamily="34" charset="-122"/>
                <a:cs typeface="Calibri" pitchFamily="34" charset="-120"/>
              </a:rPr>
              <a:t>file bytes</a:t>
            </a:r>
            <a:endParaRPr lang="en-US" sz="1000" dirty="0"/>
          </a:p>
        </p:txBody>
      </p:sp>
      <p:sp>
        <p:nvSpPr>
          <p:cNvPr id="24" name="Shape 22"/>
          <p:cNvSpPr/>
          <p:nvPr/>
        </p:nvSpPr>
        <p:spPr>
          <a:xfrm>
            <a:off x="411480" y="2359152"/>
            <a:ext cx="4160520" cy="2066544"/>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25" name="Shape 23"/>
          <p:cNvSpPr/>
          <p:nvPr/>
        </p:nvSpPr>
        <p:spPr>
          <a:xfrm>
            <a:off x="411480" y="2359152"/>
            <a:ext cx="4160520"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26" name="Text 24"/>
          <p:cNvSpPr/>
          <p:nvPr/>
        </p:nvSpPr>
        <p:spPr>
          <a:xfrm>
            <a:off x="548640" y="2404872"/>
            <a:ext cx="3895344" cy="256032"/>
          </a:xfrm>
          <a:prstGeom prst="rect">
            <a:avLst/>
          </a:prstGeom>
          <a:noFill/>
          <a:ln/>
        </p:spPr>
        <p:txBody>
          <a:bodyPr wrap="square" lIns="0" tIns="0" rIns="0" bIns="0" rtlCol="0" anchor="ctr"/>
          <a:lstStyle/>
          <a:p>
            <a:pPr marL="0" indent="0">
              <a:buNone/>
            </a:pPr>
            <a:r>
              <a:rPr lang="en-US" sz="1100" b="1" dirty="0">
                <a:solidFill>
                  <a:srgbClr val="58A6FF"/>
                </a:solidFill>
                <a:latin typeface="Calibri" pitchFamily="34" charset="0"/>
                <a:ea typeface="Calibri" pitchFamily="34" charset="-122"/>
                <a:cs typeface="Calibri" pitchFamily="34" charset="-120"/>
              </a:rPr>
              <a:t>🪟  Windows — Registry</a:t>
            </a:r>
            <a:endParaRPr lang="en-US" sz="1100" dirty="0"/>
          </a:p>
        </p:txBody>
      </p:sp>
      <p:sp>
        <p:nvSpPr>
          <p:cNvPr id="27" name="Shape 25"/>
          <p:cNvSpPr/>
          <p:nvPr/>
        </p:nvSpPr>
        <p:spPr>
          <a:xfrm>
            <a:off x="548640" y="2743200"/>
            <a:ext cx="530352"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28" name="Text 26"/>
          <p:cNvSpPr/>
          <p:nvPr/>
        </p:nvSpPr>
        <p:spPr>
          <a:xfrm>
            <a:off x="548640" y="2743200"/>
            <a:ext cx="530352" cy="256032"/>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.py</a:t>
            </a:r>
            <a:endParaRPr lang="en-US" sz="950" dirty="0"/>
          </a:p>
        </p:txBody>
      </p:sp>
      <p:sp>
        <p:nvSpPr>
          <p:cNvPr id="29" name="Text 27"/>
          <p:cNvSpPr/>
          <p:nvPr/>
        </p:nvSpPr>
        <p:spPr>
          <a:xfrm>
            <a:off x="1133856" y="2779776"/>
            <a:ext cx="3310128" cy="201168"/>
          </a:xfrm>
          <a:prstGeom prst="rect">
            <a:avLst/>
          </a:prstGeom>
          <a:noFill/>
          <a:ln/>
        </p:spPr>
        <p:txBody>
          <a:bodyPr wrap="square" lIns="0" tIns="0" rIns="0" bIns="0" rtlCol="0" anchor="ctr"/>
          <a:lstStyle/>
          <a:p>
            <a:pPr marL="0" indent="0">
              <a:buNone/>
            </a:pPr>
            <a:r>
              <a:rPr lang="en-US" sz="1000" dirty="0">
                <a:solidFill>
                  <a:srgbClr val="F0F6FC"/>
                </a:solidFill>
                <a:latin typeface="Consolas" pitchFamily="34" charset="0"/>
                <a:ea typeface="Consolas" pitchFamily="34" charset="-122"/>
                <a:cs typeface="Consolas" pitchFamily="34" charset="-120"/>
              </a:rPr>
              <a:t>Python  3.12  →  python.exe</a:t>
            </a:r>
            <a:endParaRPr lang="en-US" sz="1000" dirty="0"/>
          </a:p>
        </p:txBody>
      </p:sp>
      <p:sp>
        <p:nvSpPr>
          <p:cNvPr id="30" name="Shape 28"/>
          <p:cNvSpPr/>
          <p:nvPr/>
        </p:nvSpPr>
        <p:spPr>
          <a:xfrm>
            <a:off x="548640" y="3072384"/>
            <a:ext cx="530352"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31" name="Text 29"/>
          <p:cNvSpPr/>
          <p:nvPr/>
        </p:nvSpPr>
        <p:spPr>
          <a:xfrm>
            <a:off x="548640" y="3072384"/>
            <a:ext cx="530352" cy="256032"/>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.pdf</a:t>
            </a:r>
            <a:endParaRPr lang="en-US" sz="950" dirty="0"/>
          </a:p>
        </p:txBody>
      </p:sp>
      <p:sp>
        <p:nvSpPr>
          <p:cNvPr id="32" name="Text 30"/>
          <p:cNvSpPr/>
          <p:nvPr/>
        </p:nvSpPr>
        <p:spPr>
          <a:xfrm>
            <a:off x="1133856" y="3108960"/>
            <a:ext cx="3310128" cy="201168"/>
          </a:xfrm>
          <a:prstGeom prst="rect">
            <a:avLst/>
          </a:prstGeom>
          <a:noFill/>
          <a:ln/>
        </p:spPr>
        <p:txBody>
          <a:bodyPr wrap="square" lIns="0" tIns="0" rIns="0" bIns="0" rtlCol="0" anchor="ctr"/>
          <a:lstStyle/>
          <a:p>
            <a:pPr marL="0" indent="0">
              <a:buNone/>
            </a:pPr>
            <a:r>
              <a:rPr lang="en-US" sz="1000" dirty="0">
                <a:solidFill>
                  <a:srgbClr val="F0F6FC"/>
                </a:solidFill>
                <a:latin typeface="Consolas" pitchFamily="34" charset="0"/>
                <a:ea typeface="Consolas" pitchFamily="34" charset="-122"/>
                <a:cs typeface="Consolas" pitchFamily="34" charset="-120"/>
              </a:rPr>
              <a:t>Adobe Acrobat  →  Acrobat.exe</a:t>
            </a:r>
            <a:endParaRPr lang="en-US" sz="1000" dirty="0"/>
          </a:p>
        </p:txBody>
      </p:sp>
      <p:sp>
        <p:nvSpPr>
          <p:cNvPr id="33" name="Shape 31"/>
          <p:cNvSpPr/>
          <p:nvPr/>
        </p:nvSpPr>
        <p:spPr>
          <a:xfrm>
            <a:off x="548640" y="3401568"/>
            <a:ext cx="530352"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34" name="Text 32"/>
          <p:cNvSpPr/>
          <p:nvPr/>
        </p:nvSpPr>
        <p:spPr>
          <a:xfrm>
            <a:off x="548640" y="3401568"/>
            <a:ext cx="530352" cy="256032"/>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.html</a:t>
            </a:r>
            <a:endParaRPr lang="en-US" sz="950" dirty="0"/>
          </a:p>
        </p:txBody>
      </p:sp>
      <p:sp>
        <p:nvSpPr>
          <p:cNvPr id="35" name="Text 33"/>
          <p:cNvSpPr/>
          <p:nvPr/>
        </p:nvSpPr>
        <p:spPr>
          <a:xfrm>
            <a:off x="1133856" y="3438144"/>
            <a:ext cx="3310128" cy="201168"/>
          </a:xfrm>
          <a:prstGeom prst="rect">
            <a:avLst/>
          </a:prstGeom>
          <a:noFill/>
          <a:ln/>
        </p:spPr>
        <p:txBody>
          <a:bodyPr wrap="square" lIns="0" tIns="0" rIns="0" bIns="0" rtlCol="0" anchor="ctr"/>
          <a:lstStyle/>
          <a:p>
            <a:pPr marL="0" indent="0">
              <a:buNone/>
            </a:pPr>
            <a:r>
              <a:rPr lang="en-US" sz="1000" dirty="0">
                <a:solidFill>
                  <a:srgbClr val="F0F6FC"/>
                </a:solidFill>
                <a:latin typeface="Consolas" pitchFamily="34" charset="0"/>
                <a:ea typeface="Consolas" pitchFamily="34" charset="-122"/>
                <a:cs typeface="Consolas" pitchFamily="34" charset="-120"/>
              </a:rPr>
              <a:t>Chrome  →  chrome.exe</a:t>
            </a:r>
            <a:endParaRPr lang="en-US" sz="1000" dirty="0"/>
          </a:p>
        </p:txBody>
      </p:sp>
      <p:sp>
        <p:nvSpPr>
          <p:cNvPr id="36" name="Shape 34"/>
          <p:cNvSpPr/>
          <p:nvPr/>
        </p:nvSpPr>
        <p:spPr>
          <a:xfrm>
            <a:off x="548640" y="3730752"/>
            <a:ext cx="530352"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37" name="Text 35"/>
          <p:cNvSpPr/>
          <p:nvPr/>
        </p:nvSpPr>
        <p:spPr>
          <a:xfrm>
            <a:off x="548640" y="3730752"/>
            <a:ext cx="530352" cy="256032"/>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.mp4</a:t>
            </a:r>
            <a:endParaRPr lang="en-US" sz="950" dirty="0"/>
          </a:p>
        </p:txBody>
      </p:sp>
      <p:sp>
        <p:nvSpPr>
          <p:cNvPr id="38" name="Text 36"/>
          <p:cNvSpPr/>
          <p:nvPr/>
        </p:nvSpPr>
        <p:spPr>
          <a:xfrm>
            <a:off x="1133856" y="3767328"/>
            <a:ext cx="3310128" cy="201168"/>
          </a:xfrm>
          <a:prstGeom prst="rect">
            <a:avLst/>
          </a:prstGeom>
          <a:noFill/>
          <a:ln/>
        </p:spPr>
        <p:txBody>
          <a:bodyPr wrap="square" lIns="0" tIns="0" rIns="0" bIns="0" rtlCol="0" anchor="ctr"/>
          <a:lstStyle/>
          <a:p>
            <a:pPr marL="0" indent="0">
              <a:buNone/>
            </a:pPr>
            <a:r>
              <a:rPr lang="en-US" sz="1000" dirty="0">
                <a:solidFill>
                  <a:srgbClr val="F0F6FC"/>
                </a:solidFill>
                <a:latin typeface="Consolas" pitchFamily="34" charset="0"/>
                <a:ea typeface="Consolas" pitchFamily="34" charset="-122"/>
                <a:cs typeface="Consolas" pitchFamily="34" charset="-120"/>
              </a:rPr>
              <a:t>VLC  →  vlc.exe</a:t>
            </a:r>
            <a:endParaRPr lang="en-US" sz="1000" dirty="0"/>
          </a:p>
        </p:txBody>
      </p:sp>
      <p:sp>
        <p:nvSpPr>
          <p:cNvPr id="39" name="Shape 37"/>
          <p:cNvSpPr/>
          <p:nvPr/>
        </p:nvSpPr>
        <p:spPr>
          <a:xfrm>
            <a:off x="548640" y="4059936"/>
            <a:ext cx="530352" cy="256032"/>
          </a:xfrm>
          <a:prstGeom prst="rect">
            <a:avLst/>
          </a:prstGeom>
          <a:solidFill>
            <a:srgbClr val="58A6FF">
              <a:alpha val="28000"/>
            </a:srgbClr>
          </a:solidFill>
          <a:ln w="10160">
            <a:solidFill>
              <a:srgbClr val="58A6FF"/>
            </a:solidFill>
            <a:prstDash val="solid"/>
          </a:ln>
        </p:spPr>
        <p:txBody>
          <a:bodyPr/>
          <a:lstStyle/>
          <a:p>
            <a:endParaRPr lang="en-US"/>
          </a:p>
        </p:txBody>
      </p:sp>
      <p:sp>
        <p:nvSpPr>
          <p:cNvPr id="40" name="Text 38"/>
          <p:cNvSpPr/>
          <p:nvPr/>
        </p:nvSpPr>
        <p:spPr>
          <a:xfrm>
            <a:off x="548640" y="4059936"/>
            <a:ext cx="530352" cy="256032"/>
          </a:xfrm>
          <a:prstGeom prst="rect">
            <a:avLst/>
          </a:prstGeom>
          <a:noFill/>
          <a:ln/>
        </p:spPr>
        <p:txBody>
          <a:bodyPr wrap="square" lIns="0" tIns="0" rIns="0" bIns="0" rtlCol="0" anchor="ctr"/>
          <a:lstStyle/>
          <a:p>
            <a:pPr marL="0" indent="0" algn="ctr">
              <a:buNone/>
            </a:pPr>
            <a:r>
              <a:rPr lang="en-US" sz="950" b="1" dirty="0">
                <a:solidFill>
                  <a:srgbClr val="58A6FF"/>
                </a:solidFill>
                <a:latin typeface="Consolas" pitchFamily="34" charset="0"/>
                <a:ea typeface="Consolas" pitchFamily="34" charset="-122"/>
                <a:cs typeface="Consolas" pitchFamily="34" charset="-120"/>
              </a:rPr>
              <a:t>.docx</a:t>
            </a:r>
            <a:endParaRPr lang="en-US" sz="950" dirty="0"/>
          </a:p>
        </p:txBody>
      </p:sp>
      <p:sp>
        <p:nvSpPr>
          <p:cNvPr id="41" name="Text 39"/>
          <p:cNvSpPr/>
          <p:nvPr/>
        </p:nvSpPr>
        <p:spPr>
          <a:xfrm>
            <a:off x="1133856" y="4096512"/>
            <a:ext cx="3310128" cy="201168"/>
          </a:xfrm>
          <a:prstGeom prst="rect">
            <a:avLst/>
          </a:prstGeom>
          <a:noFill/>
          <a:ln/>
        </p:spPr>
        <p:txBody>
          <a:bodyPr wrap="square" lIns="0" tIns="0" rIns="0" bIns="0" rtlCol="0" anchor="ctr"/>
          <a:lstStyle/>
          <a:p>
            <a:pPr marL="0" indent="0">
              <a:buNone/>
            </a:pPr>
            <a:r>
              <a:rPr lang="en-US" sz="1000" dirty="0">
                <a:solidFill>
                  <a:srgbClr val="F0F6FC"/>
                </a:solidFill>
                <a:latin typeface="Consolas" pitchFamily="34" charset="0"/>
                <a:ea typeface="Consolas" pitchFamily="34" charset="-122"/>
                <a:cs typeface="Consolas" pitchFamily="34" charset="-120"/>
              </a:rPr>
              <a:t>Word  →  WINWORD.EXE</a:t>
            </a:r>
            <a:endParaRPr lang="en-US" sz="1000" dirty="0"/>
          </a:p>
        </p:txBody>
      </p:sp>
      <p:sp>
        <p:nvSpPr>
          <p:cNvPr id="42" name="Text 40"/>
          <p:cNvSpPr/>
          <p:nvPr/>
        </p:nvSpPr>
        <p:spPr>
          <a:xfrm>
            <a:off x="548640" y="4370832"/>
            <a:ext cx="3895344" cy="201168"/>
          </a:xfrm>
          <a:prstGeom prst="rect">
            <a:avLst/>
          </a:prstGeom>
          <a:noFill/>
          <a:ln/>
        </p:spPr>
        <p:txBody>
          <a:bodyPr wrap="square" lIns="0" tIns="0" rIns="0" bIns="0" rtlCol="0" anchor="ctr"/>
          <a:lstStyle/>
          <a:p>
            <a:pPr marL="0" indent="0">
              <a:buNone/>
            </a:pPr>
            <a:r>
              <a:rPr lang="en-US" sz="900" dirty="0">
                <a:solidFill>
                  <a:srgbClr val="3D444D"/>
                </a:solidFill>
                <a:latin typeface="Consolas" pitchFamily="34" charset="0"/>
                <a:ea typeface="Consolas" pitchFamily="34" charset="-122"/>
                <a:cs typeface="Consolas" pitchFamily="34" charset="-120"/>
              </a:rPr>
              <a:t>Stored in registry: HKCR\.ext\shell\open\command</a:t>
            </a:r>
            <a:endParaRPr lang="en-US" sz="900" dirty="0"/>
          </a:p>
        </p:txBody>
      </p:sp>
      <p:sp>
        <p:nvSpPr>
          <p:cNvPr id="43" name="Shape 41"/>
          <p:cNvSpPr/>
          <p:nvPr/>
        </p:nvSpPr>
        <p:spPr>
          <a:xfrm>
            <a:off x="4663440" y="2359152"/>
            <a:ext cx="4069080" cy="2066544"/>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44" name="Shape 42"/>
          <p:cNvSpPr/>
          <p:nvPr/>
        </p:nvSpPr>
        <p:spPr>
          <a:xfrm>
            <a:off x="4663440" y="2359152"/>
            <a:ext cx="4069080"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45" name="Text 43"/>
          <p:cNvSpPr/>
          <p:nvPr/>
        </p:nvSpPr>
        <p:spPr>
          <a:xfrm>
            <a:off x="4800600" y="2404872"/>
            <a:ext cx="3803904" cy="256032"/>
          </a:xfrm>
          <a:prstGeom prst="rect">
            <a:avLst/>
          </a:prstGeom>
          <a:noFill/>
          <a:ln/>
        </p:spPr>
        <p:txBody>
          <a:bodyPr wrap="square" lIns="0" tIns="0" rIns="0" bIns="0" rtlCol="0" anchor="ctr"/>
          <a:lstStyle/>
          <a:p>
            <a:pPr marL="0" indent="0">
              <a:buNone/>
            </a:pPr>
            <a:r>
              <a:rPr lang="en-US" sz="1100" b="1" dirty="0">
                <a:solidFill>
                  <a:srgbClr val="3FD9C4"/>
                </a:solidFill>
                <a:latin typeface="Calibri" pitchFamily="34" charset="0"/>
                <a:ea typeface="Calibri" pitchFamily="34" charset="-122"/>
                <a:cs typeface="Calibri" pitchFamily="34" charset="-120"/>
              </a:rPr>
              <a:t>🐧  Linux — MIME Types</a:t>
            </a:r>
            <a:endParaRPr lang="en-US" sz="1100" dirty="0"/>
          </a:p>
        </p:txBody>
      </p:sp>
      <p:sp>
        <p:nvSpPr>
          <p:cNvPr id="46" name="Text 44"/>
          <p:cNvSpPr/>
          <p:nvPr/>
        </p:nvSpPr>
        <p:spPr>
          <a:xfrm>
            <a:off x="4800600" y="2779776"/>
            <a:ext cx="2560320" cy="201168"/>
          </a:xfrm>
          <a:prstGeom prst="rect">
            <a:avLst/>
          </a:prstGeom>
          <a:noFill/>
          <a:ln/>
        </p:spPr>
        <p:txBody>
          <a:bodyPr wrap="square" lIns="0" tIns="0" rIns="0" bIns="0" rtlCol="0" anchor="ctr"/>
          <a:lstStyle/>
          <a:p>
            <a:pPr marL="0" indent="0">
              <a:buNone/>
            </a:pPr>
            <a:r>
              <a:rPr lang="en-US" sz="950" dirty="0">
                <a:solidFill>
                  <a:srgbClr val="3FD9C4"/>
                </a:solidFill>
                <a:latin typeface="Consolas" pitchFamily="34" charset="0"/>
                <a:ea typeface="Consolas" pitchFamily="34" charset="-122"/>
                <a:cs typeface="Consolas" pitchFamily="34" charset="-120"/>
              </a:rPr>
              <a:t>text/x-python</a:t>
            </a:r>
            <a:endParaRPr lang="en-US" sz="950" dirty="0"/>
          </a:p>
        </p:txBody>
      </p:sp>
      <p:sp>
        <p:nvSpPr>
          <p:cNvPr id="47" name="Text 45"/>
          <p:cNvSpPr/>
          <p:nvPr/>
        </p:nvSpPr>
        <p:spPr>
          <a:xfrm>
            <a:off x="7406640" y="2779776"/>
            <a:ext cx="118872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  gedit / vscode</a:t>
            </a:r>
            <a:endParaRPr lang="en-US" sz="950" dirty="0"/>
          </a:p>
        </p:txBody>
      </p:sp>
      <p:sp>
        <p:nvSpPr>
          <p:cNvPr id="48" name="Text 46"/>
          <p:cNvSpPr/>
          <p:nvPr/>
        </p:nvSpPr>
        <p:spPr>
          <a:xfrm>
            <a:off x="4800600" y="3108960"/>
            <a:ext cx="2560320" cy="201168"/>
          </a:xfrm>
          <a:prstGeom prst="rect">
            <a:avLst/>
          </a:prstGeom>
          <a:noFill/>
          <a:ln/>
        </p:spPr>
        <p:txBody>
          <a:bodyPr wrap="square" lIns="0" tIns="0" rIns="0" bIns="0" rtlCol="0" anchor="ctr"/>
          <a:lstStyle/>
          <a:p>
            <a:pPr marL="0" indent="0">
              <a:buNone/>
            </a:pPr>
            <a:r>
              <a:rPr lang="en-US" sz="950" dirty="0">
                <a:solidFill>
                  <a:srgbClr val="3FD9C4"/>
                </a:solidFill>
                <a:latin typeface="Consolas" pitchFamily="34" charset="0"/>
                <a:ea typeface="Consolas" pitchFamily="34" charset="-122"/>
                <a:cs typeface="Consolas" pitchFamily="34" charset="-120"/>
              </a:rPr>
              <a:t>application/pdf</a:t>
            </a:r>
            <a:endParaRPr lang="en-US" sz="950" dirty="0"/>
          </a:p>
        </p:txBody>
      </p:sp>
      <p:sp>
        <p:nvSpPr>
          <p:cNvPr id="49" name="Text 47"/>
          <p:cNvSpPr/>
          <p:nvPr/>
        </p:nvSpPr>
        <p:spPr>
          <a:xfrm>
            <a:off x="7406640" y="3108960"/>
            <a:ext cx="118872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  evince / okular</a:t>
            </a:r>
            <a:endParaRPr lang="en-US" sz="950" dirty="0"/>
          </a:p>
        </p:txBody>
      </p:sp>
      <p:sp>
        <p:nvSpPr>
          <p:cNvPr id="50" name="Text 48"/>
          <p:cNvSpPr/>
          <p:nvPr/>
        </p:nvSpPr>
        <p:spPr>
          <a:xfrm>
            <a:off x="4800600" y="3438144"/>
            <a:ext cx="2560320" cy="201168"/>
          </a:xfrm>
          <a:prstGeom prst="rect">
            <a:avLst/>
          </a:prstGeom>
          <a:noFill/>
          <a:ln/>
        </p:spPr>
        <p:txBody>
          <a:bodyPr wrap="square" lIns="0" tIns="0" rIns="0" bIns="0" rtlCol="0" anchor="ctr"/>
          <a:lstStyle/>
          <a:p>
            <a:pPr marL="0" indent="0">
              <a:buNone/>
            </a:pPr>
            <a:r>
              <a:rPr lang="en-US" sz="950" dirty="0">
                <a:solidFill>
                  <a:srgbClr val="3FD9C4"/>
                </a:solidFill>
                <a:latin typeface="Consolas" pitchFamily="34" charset="0"/>
                <a:ea typeface="Consolas" pitchFamily="34" charset="-122"/>
                <a:cs typeface="Consolas" pitchFamily="34" charset="-120"/>
              </a:rPr>
              <a:t>text/html</a:t>
            </a:r>
            <a:endParaRPr lang="en-US" sz="950" dirty="0"/>
          </a:p>
        </p:txBody>
      </p:sp>
      <p:sp>
        <p:nvSpPr>
          <p:cNvPr id="51" name="Text 49"/>
          <p:cNvSpPr/>
          <p:nvPr/>
        </p:nvSpPr>
        <p:spPr>
          <a:xfrm>
            <a:off x="7406640" y="3438144"/>
            <a:ext cx="118872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  firefox / chrome</a:t>
            </a:r>
            <a:endParaRPr lang="en-US" sz="950" dirty="0"/>
          </a:p>
        </p:txBody>
      </p:sp>
      <p:sp>
        <p:nvSpPr>
          <p:cNvPr id="52" name="Text 50"/>
          <p:cNvSpPr/>
          <p:nvPr/>
        </p:nvSpPr>
        <p:spPr>
          <a:xfrm>
            <a:off x="4800600" y="3767328"/>
            <a:ext cx="2560320" cy="201168"/>
          </a:xfrm>
          <a:prstGeom prst="rect">
            <a:avLst/>
          </a:prstGeom>
          <a:noFill/>
          <a:ln/>
        </p:spPr>
        <p:txBody>
          <a:bodyPr wrap="square" lIns="0" tIns="0" rIns="0" bIns="0" rtlCol="0" anchor="ctr"/>
          <a:lstStyle/>
          <a:p>
            <a:pPr marL="0" indent="0">
              <a:buNone/>
            </a:pPr>
            <a:r>
              <a:rPr lang="en-US" sz="950" dirty="0">
                <a:solidFill>
                  <a:srgbClr val="3FD9C4"/>
                </a:solidFill>
                <a:latin typeface="Consolas" pitchFamily="34" charset="0"/>
                <a:ea typeface="Consolas" pitchFamily="34" charset="-122"/>
                <a:cs typeface="Consolas" pitchFamily="34" charset="-120"/>
              </a:rPr>
              <a:t>video/mp4</a:t>
            </a:r>
            <a:endParaRPr lang="en-US" sz="950" dirty="0"/>
          </a:p>
        </p:txBody>
      </p:sp>
      <p:sp>
        <p:nvSpPr>
          <p:cNvPr id="53" name="Text 51"/>
          <p:cNvSpPr/>
          <p:nvPr/>
        </p:nvSpPr>
        <p:spPr>
          <a:xfrm>
            <a:off x="7406640" y="3767328"/>
            <a:ext cx="118872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  vlc / totem</a:t>
            </a:r>
            <a:endParaRPr lang="en-US" sz="950" dirty="0"/>
          </a:p>
        </p:txBody>
      </p:sp>
      <p:sp>
        <p:nvSpPr>
          <p:cNvPr id="54" name="Text 52"/>
          <p:cNvSpPr/>
          <p:nvPr/>
        </p:nvSpPr>
        <p:spPr>
          <a:xfrm>
            <a:off x="4800600" y="4096512"/>
            <a:ext cx="2560320" cy="201168"/>
          </a:xfrm>
          <a:prstGeom prst="rect">
            <a:avLst/>
          </a:prstGeom>
          <a:noFill/>
          <a:ln/>
        </p:spPr>
        <p:txBody>
          <a:bodyPr wrap="square" lIns="0" tIns="0" rIns="0" bIns="0" rtlCol="0" anchor="ctr"/>
          <a:lstStyle/>
          <a:p>
            <a:pPr marL="0" indent="0">
              <a:buNone/>
            </a:pPr>
            <a:r>
              <a:rPr lang="en-US" sz="950" dirty="0">
                <a:solidFill>
                  <a:srgbClr val="3FD9C4"/>
                </a:solidFill>
                <a:latin typeface="Consolas" pitchFamily="34" charset="0"/>
                <a:ea typeface="Consolas" pitchFamily="34" charset="-122"/>
                <a:cs typeface="Consolas" pitchFamily="34" charset="-120"/>
              </a:rPr>
              <a:t>application/zip</a:t>
            </a:r>
            <a:endParaRPr lang="en-US" sz="950" dirty="0"/>
          </a:p>
        </p:txBody>
      </p:sp>
      <p:sp>
        <p:nvSpPr>
          <p:cNvPr id="55" name="Text 53"/>
          <p:cNvSpPr/>
          <p:nvPr/>
        </p:nvSpPr>
        <p:spPr>
          <a:xfrm>
            <a:off x="7406640" y="4096512"/>
            <a:ext cx="1188720" cy="201168"/>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  file-roller</a:t>
            </a:r>
            <a:endParaRPr lang="en-US" sz="950" dirty="0"/>
          </a:p>
        </p:txBody>
      </p:sp>
      <p:sp>
        <p:nvSpPr>
          <p:cNvPr id="56" name="Text 54"/>
          <p:cNvSpPr/>
          <p:nvPr/>
        </p:nvSpPr>
        <p:spPr>
          <a:xfrm>
            <a:off x="4800600" y="4370832"/>
            <a:ext cx="3803904" cy="201168"/>
          </a:xfrm>
          <a:prstGeom prst="rect">
            <a:avLst/>
          </a:prstGeom>
          <a:noFill/>
          <a:ln/>
        </p:spPr>
        <p:txBody>
          <a:bodyPr wrap="square" lIns="0" tIns="0" rIns="0" bIns="0" rtlCol="0" anchor="ctr"/>
          <a:lstStyle/>
          <a:p>
            <a:pPr marL="0" indent="0">
              <a:buNone/>
            </a:pPr>
            <a:r>
              <a:rPr lang="en-US" sz="850" dirty="0">
                <a:solidFill>
                  <a:srgbClr val="3D444D"/>
                </a:solidFill>
                <a:latin typeface="Consolas" pitchFamily="34" charset="0"/>
                <a:ea typeface="Consolas" pitchFamily="34" charset="-122"/>
                <a:cs typeface="Consolas" pitchFamily="34" charset="-120"/>
              </a:rPr>
              <a:t>Stored in:  ~/.config/mimeapps.list  and  /usr/share/applications/</a:t>
            </a:r>
            <a:endParaRPr lang="en-US" sz="850" dirty="0"/>
          </a:p>
        </p:txBody>
      </p:sp>
      <p:sp>
        <p:nvSpPr>
          <p:cNvPr id="57" name="Shape 55"/>
          <p:cNvSpPr/>
          <p:nvPr/>
        </p:nvSpPr>
        <p:spPr>
          <a:xfrm>
            <a:off x="365760" y="4572000"/>
            <a:ext cx="8412480" cy="384048"/>
          </a:xfrm>
          <a:prstGeom prst="rect">
            <a:avLst/>
          </a:prstGeom>
          <a:solidFill>
            <a:srgbClr val="0A1020"/>
          </a:solidFill>
          <a:ln w="12700">
            <a:solidFill>
              <a:srgbClr val="3FD9C4"/>
            </a:solidFill>
            <a:prstDash val="solid"/>
          </a:ln>
        </p:spPr>
        <p:txBody>
          <a:bodyPr/>
          <a:lstStyle/>
          <a:p>
            <a:endParaRPr lang="en-US"/>
          </a:p>
        </p:txBody>
      </p:sp>
      <p:sp>
        <p:nvSpPr>
          <p:cNvPr id="58" name="Text 56"/>
          <p:cNvSpPr/>
          <p:nvPr/>
        </p:nvSpPr>
        <p:spPr>
          <a:xfrm>
            <a:off x="502920" y="4599432"/>
            <a:ext cx="8229600" cy="310896"/>
          </a:xfrm>
          <a:prstGeom prst="rect">
            <a:avLst/>
          </a:prstGeom>
          <a:noFill/>
          <a:ln/>
        </p:spPr>
        <p:txBody>
          <a:bodyPr wrap="square" lIns="0" tIns="0" rIns="0" bIns="0" rtlCol="0" anchor="ctr"/>
          <a:lstStyle/>
          <a:p>
            <a:pPr marL="0" indent="0">
              <a:buNone/>
            </a:pPr>
            <a:r>
              <a:rPr lang="en-US" sz="1100" b="1" dirty="0">
                <a:solidFill>
                  <a:srgbClr val="3FD9C4"/>
                </a:solidFill>
                <a:latin typeface="Calibri" pitchFamily="34" charset="0"/>
                <a:ea typeface="Calibri" pitchFamily="34" charset="-122"/>
                <a:cs typeface="Calibri" pitchFamily="34" charset="-120"/>
              </a:rPr>
              <a:t>Change default program:  </a:t>
            </a:r>
            <a:r>
              <a:rPr lang="en-US" sz="1100" dirty="0">
                <a:solidFill>
                  <a:srgbClr val="F0F6FC"/>
                </a:solidFill>
                <a:latin typeface="Calibri" pitchFamily="34" charset="0"/>
                <a:ea typeface="Calibri" pitchFamily="34" charset="-122"/>
                <a:cs typeface="Calibri" pitchFamily="34" charset="-120"/>
              </a:rPr>
              <a:t>Windows → Right-click file → Open with → Choose another app → tick 'Always use this app'.  Linux → </a:t>
            </a:r>
            <a:r>
              <a:rPr lang="en-US" sz="1100" dirty="0">
                <a:solidFill>
                  <a:srgbClr val="3FD9C4"/>
                </a:solidFill>
                <a:latin typeface="Calibri" pitchFamily="34" charset="0"/>
                <a:ea typeface="Calibri" pitchFamily="34" charset="-122"/>
                <a:cs typeface="Calibri" pitchFamily="34" charset="-120"/>
              </a:rPr>
              <a:t>xdg-mime default vlc.desktop video/mp4</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FILE PATHS</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What Is a File Path?</a:t>
            </a:r>
            <a:endParaRPr lang="en-US" sz="2800" dirty="0"/>
          </a:p>
        </p:txBody>
      </p:sp>
      <p:sp>
        <p:nvSpPr>
          <p:cNvPr id="6" name="Text 4"/>
          <p:cNvSpPr/>
          <p:nvPr/>
        </p:nvSpPr>
        <p:spPr>
          <a:xfrm>
            <a:off x="457200" y="877824"/>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The complete address that tells the OS exactly where a file lives in the directory tree</a:t>
            </a:r>
            <a:endParaRPr lang="en-US" sz="1300" dirty="0"/>
          </a:p>
        </p:txBody>
      </p:sp>
      <p:sp>
        <p:nvSpPr>
          <p:cNvPr id="7" name="Shape 5"/>
          <p:cNvSpPr/>
          <p:nvPr/>
        </p:nvSpPr>
        <p:spPr>
          <a:xfrm>
            <a:off x="411480" y="1170432"/>
            <a:ext cx="8321040" cy="141732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8321040"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9" name="Text 7"/>
          <p:cNvSpPr/>
          <p:nvPr/>
        </p:nvSpPr>
        <p:spPr>
          <a:xfrm>
            <a:off x="548640" y="1216152"/>
            <a:ext cx="8046720" cy="256032"/>
          </a:xfrm>
          <a:prstGeom prst="rect">
            <a:avLst/>
          </a:prstGeom>
          <a:noFill/>
          <a:ln/>
        </p:spPr>
        <p:txBody>
          <a:bodyPr wrap="square" lIns="0" tIns="0" rIns="0" bIns="0" rtlCol="0" anchor="ctr"/>
          <a:lstStyle/>
          <a:p>
            <a:pPr marL="0" indent="0">
              <a:buNone/>
            </a:pPr>
            <a:r>
              <a:rPr lang="en-US" sz="1100" b="1" dirty="0">
                <a:solidFill>
                  <a:srgbClr val="3FD9C4"/>
                </a:solidFill>
                <a:latin typeface="Calibri" pitchFamily="34" charset="0"/>
                <a:ea typeface="Calibri" pitchFamily="34" charset="-122"/>
                <a:cs typeface="Calibri" pitchFamily="34" charset="-120"/>
              </a:rPr>
              <a:t>📍  Anatomy of a Full File Path</a:t>
            </a:r>
            <a:endParaRPr lang="en-US" sz="1100" dirty="0"/>
          </a:p>
        </p:txBody>
      </p:sp>
      <p:sp>
        <p:nvSpPr>
          <p:cNvPr id="10" name="Shape 8"/>
          <p:cNvSpPr/>
          <p:nvPr/>
        </p:nvSpPr>
        <p:spPr>
          <a:xfrm>
            <a:off x="530352" y="1572768"/>
            <a:ext cx="351130" cy="420624"/>
          </a:xfrm>
          <a:prstGeom prst="rect">
            <a:avLst/>
          </a:prstGeom>
          <a:solidFill>
            <a:srgbClr val="FFA657">
              <a:alpha val="28000"/>
            </a:srgbClr>
          </a:solidFill>
          <a:ln w="15240">
            <a:solidFill>
              <a:srgbClr val="FFA657"/>
            </a:solidFill>
            <a:prstDash val="solid"/>
          </a:ln>
        </p:spPr>
        <p:txBody>
          <a:bodyPr/>
          <a:lstStyle/>
          <a:p>
            <a:endParaRPr lang="en-US"/>
          </a:p>
        </p:txBody>
      </p:sp>
      <p:sp>
        <p:nvSpPr>
          <p:cNvPr id="11" name="Text 9"/>
          <p:cNvSpPr/>
          <p:nvPr/>
        </p:nvSpPr>
        <p:spPr>
          <a:xfrm>
            <a:off x="530352" y="1572768"/>
            <a:ext cx="351130" cy="420624"/>
          </a:xfrm>
          <a:prstGeom prst="rect">
            <a:avLst/>
          </a:prstGeom>
          <a:noFill/>
          <a:ln/>
        </p:spPr>
        <p:txBody>
          <a:bodyPr wrap="square" lIns="0" tIns="0" rIns="0" bIns="0" rtlCol="0" anchor="ctr"/>
          <a:lstStyle/>
          <a:p>
            <a:pPr marL="0" indent="0" algn="ctr">
              <a:buNone/>
            </a:pPr>
            <a:r>
              <a:rPr lang="en-US" sz="1400" b="1" dirty="0">
                <a:solidFill>
                  <a:srgbClr val="FFA657"/>
                </a:solidFill>
                <a:latin typeface="Consolas" pitchFamily="34" charset="0"/>
                <a:ea typeface="Consolas" pitchFamily="34" charset="-122"/>
                <a:cs typeface="Consolas" pitchFamily="34" charset="-120"/>
              </a:rPr>
              <a:t>C:\</a:t>
            </a:r>
            <a:endParaRPr lang="en-US" sz="1400" dirty="0"/>
          </a:p>
        </p:txBody>
      </p:sp>
      <p:sp>
        <p:nvSpPr>
          <p:cNvPr id="12" name="Text 10"/>
          <p:cNvSpPr/>
          <p:nvPr/>
        </p:nvSpPr>
        <p:spPr>
          <a:xfrm>
            <a:off x="530352" y="2029968"/>
            <a:ext cx="351130" cy="182880"/>
          </a:xfrm>
          <a:prstGeom prst="rect">
            <a:avLst/>
          </a:prstGeom>
          <a:noFill/>
          <a:ln/>
        </p:spPr>
        <p:txBody>
          <a:bodyPr wrap="square" lIns="0" tIns="0" rIns="0" bIns="0" rtlCol="0" anchor="ctr"/>
          <a:lstStyle/>
          <a:p>
            <a:pPr marL="0" indent="0" algn="ctr">
              <a:buNone/>
            </a:pPr>
            <a:r>
              <a:rPr lang="en-US" sz="800" dirty="0">
                <a:solidFill>
                  <a:srgbClr val="FFA657"/>
                </a:solidFill>
                <a:latin typeface="Calibri" pitchFamily="34" charset="0"/>
                <a:ea typeface="Calibri" pitchFamily="34" charset="-122"/>
                <a:cs typeface="Calibri" pitchFamily="34" charset="-120"/>
              </a:rPr>
              <a:t>Root / Drive</a:t>
            </a:r>
            <a:endParaRPr lang="en-US" sz="800" dirty="0"/>
          </a:p>
        </p:txBody>
      </p:sp>
      <p:sp>
        <p:nvSpPr>
          <p:cNvPr id="13" name="Shape 11"/>
          <p:cNvSpPr/>
          <p:nvPr/>
        </p:nvSpPr>
        <p:spPr>
          <a:xfrm>
            <a:off x="899770" y="1572768"/>
            <a:ext cx="702259" cy="420624"/>
          </a:xfrm>
          <a:prstGeom prst="rect">
            <a:avLst/>
          </a:prstGeom>
          <a:solidFill>
            <a:srgbClr val="3FD9C4">
              <a:alpha val="28000"/>
            </a:srgbClr>
          </a:solidFill>
          <a:ln w="15240">
            <a:solidFill>
              <a:srgbClr val="3FD9C4"/>
            </a:solidFill>
            <a:prstDash val="solid"/>
          </a:ln>
        </p:spPr>
        <p:txBody>
          <a:bodyPr/>
          <a:lstStyle/>
          <a:p>
            <a:endParaRPr lang="en-US"/>
          </a:p>
        </p:txBody>
      </p:sp>
      <p:sp>
        <p:nvSpPr>
          <p:cNvPr id="14" name="Text 12"/>
          <p:cNvSpPr/>
          <p:nvPr/>
        </p:nvSpPr>
        <p:spPr>
          <a:xfrm>
            <a:off x="899770" y="1572768"/>
            <a:ext cx="702259" cy="420624"/>
          </a:xfrm>
          <a:prstGeom prst="rect">
            <a:avLst/>
          </a:prstGeom>
          <a:noFill/>
          <a:ln/>
        </p:spPr>
        <p:txBody>
          <a:bodyPr wrap="square" lIns="0" tIns="0" rIns="0" bIns="0" rtlCol="0" anchor="ctr"/>
          <a:lstStyle/>
          <a:p>
            <a:pPr marL="0" indent="0" algn="ctr">
              <a:buNone/>
            </a:pPr>
            <a:r>
              <a:rPr lang="en-US" sz="1400" b="1" dirty="0">
                <a:solidFill>
                  <a:srgbClr val="3FD9C4"/>
                </a:solidFill>
                <a:latin typeface="Consolas" pitchFamily="34" charset="0"/>
                <a:ea typeface="Consolas" pitchFamily="34" charset="-122"/>
                <a:cs typeface="Consolas" pitchFamily="34" charset="-120"/>
              </a:rPr>
              <a:t>Users\</a:t>
            </a:r>
            <a:endParaRPr lang="en-US" sz="1400" dirty="0"/>
          </a:p>
        </p:txBody>
      </p:sp>
      <p:sp>
        <p:nvSpPr>
          <p:cNvPr id="15" name="Text 13"/>
          <p:cNvSpPr/>
          <p:nvPr/>
        </p:nvSpPr>
        <p:spPr>
          <a:xfrm>
            <a:off x="899770" y="2029968"/>
            <a:ext cx="702259" cy="182880"/>
          </a:xfrm>
          <a:prstGeom prst="rect">
            <a:avLst/>
          </a:prstGeom>
          <a:noFill/>
          <a:ln/>
        </p:spPr>
        <p:txBody>
          <a:bodyPr wrap="square" lIns="0" tIns="0" rIns="0" bIns="0" rtlCol="0" anchor="ctr"/>
          <a:lstStyle/>
          <a:p>
            <a:pPr marL="0" indent="0" algn="ctr">
              <a:buNone/>
            </a:pPr>
            <a:r>
              <a:rPr lang="en-US" sz="800" dirty="0">
                <a:solidFill>
                  <a:srgbClr val="3FD9C4"/>
                </a:solidFill>
                <a:latin typeface="Calibri" pitchFamily="34" charset="0"/>
                <a:ea typeface="Calibri" pitchFamily="34" charset="-122"/>
                <a:cs typeface="Calibri" pitchFamily="34" charset="-120"/>
              </a:rPr>
              <a:t>Folder</a:t>
            </a:r>
            <a:endParaRPr lang="en-US" sz="800" dirty="0"/>
          </a:p>
        </p:txBody>
      </p:sp>
      <p:sp>
        <p:nvSpPr>
          <p:cNvPr id="16" name="Shape 14"/>
          <p:cNvSpPr/>
          <p:nvPr/>
        </p:nvSpPr>
        <p:spPr>
          <a:xfrm>
            <a:off x="1620317" y="1572768"/>
            <a:ext cx="702259" cy="420624"/>
          </a:xfrm>
          <a:prstGeom prst="rect">
            <a:avLst/>
          </a:prstGeom>
          <a:solidFill>
            <a:srgbClr val="58A6FF">
              <a:alpha val="28000"/>
            </a:srgbClr>
          </a:solidFill>
          <a:ln w="15240">
            <a:solidFill>
              <a:srgbClr val="58A6FF"/>
            </a:solidFill>
            <a:prstDash val="solid"/>
          </a:ln>
        </p:spPr>
        <p:txBody>
          <a:bodyPr/>
          <a:lstStyle/>
          <a:p>
            <a:endParaRPr lang="en-US"/>
          </a:p>
        </p:txBody>
      </p:sp>
      <p:sp>
        <p:nvSpPr>
          <p:cNvPr id="17" name="Text 15"/>
          <p:cNvSpPr/>
          <p:nvPr/>
        </p:nvSpPr>
        <p:spPr>
          <a:xfrm>
            <a:off x="1620317" y="1572768"/>
            <a:ext cx="702259" cy="420624"/>
          </a:xfrm>
          <a:prstGeom prst="rect">
            <a:avLst/>
          </a:prstGeom>
          <a:noFill/>
          <a:ln/>
        </p:spPr>
        <p:txBody>
          <a:bodyPr wrap="square" lIns="0" tIns="0" rIns="0" bIns="0" rtlCol="0" anchor="ctr"/>
          <a:lstStyle/>
          <a:p>
            <a:pPr marL="0" indent="0" algn="ctr">
              <a:buNone/>
            </a:pPr>
            <a:r>
              <a:rPr lang="en-US" sz="1400" b="1" dirty="0">
                <a:solidFill>
                  <a:srgbClr val="58A6FF"/>
                </a:solidFill>
                <a:latin typeface="Consolas" pitchFamily="34" charset="0"/>
                <a:ea typeface="Consolas" pitchFamily="34" charset="-122"/>
                <a:cs typeface="Consolas" pitchFamily="34" charset="-120"/>
              </a:rPr>
              <a:t>Ahmed\</a:t>
            </a:r>
            <a:endParaRPr lang="en-US" sz="1400" dirty="0"/>
          </a:p>
        </p:txBody>
      </p:sp>
      <p:sp>
        <p:nvSpPr>
          <p:cNvPr id="18" name="Text 16"/>
          <p:cNvSpPr/>
          <p:nvPr/>
        </p:nvSpPr>
        <p:spPr>
          <a:xfrm>
            <a:off x="1620317" y="2029968"/>
            <a:ext cx="702259" cy="182880"/>
          </a:xfrm>
          <a:prstGeom prst="rect">
            <a:avLst/>
          </a:prstGeom>
          <a:noFill/>
          <a:ln/>
        </p:spPr>
        <p:txBody>
          <a:bodyPr wrap="square" lIns="0" tIns="0" rIns="0" bIns="0" rtlCol="0" anchor="ctr"/>
          <a:lstStyle/>
          <a:p>
            <a:pPr marL="0" indent="0" algn="ctr">
              <a:buNone/>
            </a:pPr>
            <a:r>
              <a:rPr lang="en-US" sz="800" dirty="0">
                <a:solidFill>
                  <a:srgbClr val="58A6FF"/>
                </a:solidFill>
                <a:latin typeface="Calibri" pitchFamily="34" charset="0"/>
                <a:ea typeface="Calibri" pitchFamily="34" charset="-122"/>
                <a:cs typeface="Calibri" pitchFamily="34" charset="-120"/>
              </a:rPr>
              <a:t>Folder</a:t>
            </a:r>
            <a:endParaRPr lang="en-US" sz="800" dirty="0"/>
          </a:p>
        </p:txBody>
      </p:sp>
      <p:sp>
        <p:nvSpPr>
          <p:cNvPr id="19" name="Shape 17"/>
          <p:cNvSpPr/>
          <p:nvPr/>
        </p:nvSpPr>
        <p:spPr>
          <a:xfrm>
            <a:off x="2340864" y="1572768"/>
            <a:ext cx="1170432" cy="420624"/>
          </a:xfrm>
          <a:prstGeom prst="rect">
            <a:avLst/>
          </a:prstGeom>
          <a:solidFill>
            <a:srgbClr val="BC8CFF">
              <a:alpha val="28000"/>
            </a:srgbClr>
          </a:solidFill>
          <a:ln w="15240">
            <a:solidFill>
              <a:srgbClr val="BC8CFF"/>
            </a:solidFill>
            <a:prstDash val="solid"/>
          </a:ln>
        </p:spPr>
        <p:txBody>
          <a:bodyPr/>
          <a:lstStyle/>
          <a:p>
            <a:endParaRPr lang="en-US"/>
          </a:p>
        </p:txBody>
      </p:sp>
      <p:sp>
        <p:nvSpPr>
          <p:cNvPr id="20" name="Text 18"/>
          <p:cNvSpPr/>
          <p:nvPr/>
        </p:nvSpPr>
        <p:spPr>
          <a:xfrm>
            <a:off x="2340864" y="1572768"/>
            <a:ext cx="1170432" cy="420624"/>
          </a:xfrm>
          <a:prstGeom prst="rect">
            <a:avLst/>
          </a:prstGeom>
          <a:noFill/>
          <a:ln/>
        </p:spPr>
        <p:txBody>
          <a:bodyPr wrap="square" lIns="0" tIns="0" rIns="0" bIns="0" rtlCol="0" anchor="ctr"/>
          <a:lstStyle/>
          <a:p>
            <a:pPr marL="0" indent="0" algn="ctr">
              <a:buNone/>
            </a:pPr>
            <a:r>
              <a:rPr lang="en-US" sz="1400" b="1" dirty="0">
                <a:solidFill>
                  <a:srgbClr val="BC8CFF"/>
                </a:solidFill>
                <a:latin typeface="Consolas" pitchFamily="34" charset="0"/>
                <a:ea typeface="Consolas" pitchFamily="34" charset="-122"/>
                <a:cs typeface="Consolas" pitchFamily="34" charset="-120"/>
              </a:rPr>
              <a:t>Documents\</a:t>
            </a:r>
            <a:endParaRPr lang="en-US" sz="1400" dirty="0"/>
          </a:p>
        </p:txBody>
      </p:sp>
      <p:sp>
        <p:nvSpPr>
          <p:cNvPr id="21" name="Text 19"/>
          <p:cNvSpPr/>
          <p:nvPr/>
        </p:nvSpPr>
        <p:spPr>
          <a:xfrm>
            <a:off x="2340864" y="2029968"/>
            <a:ext cx="1170432" cy="182880"/>
          </a:xfrm>
          <a:prstGeom prst="rect">
            <a:avLst/>
          </a:prstGeom>
          <a:noFill/>
          <a:ln/>
        </p:spPr>
        <p:txBody>
          <a:bodyPr wrap="square" lIns="0" tIns="0" rIns="0" bIns="0" rtlCol="0" anchor="ctr"/>
          <a:lstStyle/>
          <a:p>
            <a:pPr marL="0" indent="0" algn="ctr">
              <a:buNone/>
            </a:pPr>
            <a:r>
              <a:rPr lang="en-US" sz="800" dirty="0">
                <a:solidFill>
                  <a:srgbClr val="BC8CFF"/>
                </a:solidFill>
                <a:latin typeface="Calibri" pitchFamily="34" charset="0"/>
                <a:ea typeface="Calibri" pitchFamily="34" charset="-122"/>
                <a:cs typeface="Calibri" pitchFamily="34" charset="-120"/>
              </a:rPr>
              <a:t>Folder</a:t>
            </a:r>
            <a:endParaRPr lang="en-US" sz="800" dirty="0"/>
          </a:p>
        </p:txBody>
      </p:sp>
      <p:sp>
        <p:nvSpPr>
          <p:cNvPr id="22" name="Shape 20"/>
          <p:cNvSpPr/>
          <p:nvPr/>
        </p:nvSpPr>
        <p:spPr>
          <a:xfrm>
            <a:off x="3529584" y="1572768"/>
            <a:ext cx="1053389" cy="420624"/>
          </a:xfrm>
          <a:prstGeom prst="rect">
            <a:avLst/>
          </a:prstGeom>
          <a:solidFill>
            <a:srgbClr val="BC8CFF">
              <a:alpha val="28000"/>
            </a:srgbClr>
          </a:solidFill>
          <a:ln w="15240">
            <a:solidFill>
              <a:srgbClr val="BC8CFF"/>
            </a:solidFill>
            <a:prstDash val="solid"/>
          </a:ln>
        </p:spPr>
        <p:txBody>
          <a:bodyPr/>
          <a:lstStyle/>
          <a:p>
            <a:endParaRPr lang="en-US"/>
          </a:p>
        </p:txBody>
      </p:sp>
      <p:sp>
        <p:nvSpPr>
          <p:cNvPr id="23" name="Text 21"/>
          <p:cNvSpPr/>
          <p:nvPr/>
        </p:nvSpPr>
        <p:spPr>
          <a:xfrm>
            <a:off x="3529584" y="1572768"/>
            <a:ext cx="1053389" cy="420624"/>
          </a:xfrm>
          <a:prstGeom prst="rect">
            <a:avLst/>
          </a:prstGeom>
          <a:noFill/>
          <a:ln/>
        </p:spPr>
        <p:txBody>
          <a:bodyPr wrap="square" lIns="0" tIns="0" rIns="0" bIns="0" rtlCol="0" anchor="ctr"/>
          <a:lstStyle/>
          <a:p>
            <a:pPr marL="0" indent="0" algn="ctr">
              <a:buNone/>
            </a:pPr>
            <a:r>
              <a:rPr lang="en-US" sz="1400" b="1" dirty="0">
                <a:solidFill>
                  <a:srgbClr val="BC8CFF"/>
                </a:solidFill>
                <a:latin typeface="Consolas" pitchFamily="34" charset="0"/>
                <a:ea typeface="Consolas" pitchFamily="34" charset="-122"/>
                <a:cs typeface="Consolas" pitchFamily="34" charset="-120"/>
              </a:rPr>
              <a:t>Projects\</a:t>
            </a:r>
            <a:endParaRPr lang="en-US" sz="1400" dirty="0"/>
          </a:p>
        </p:txBody>
      </p:sp>
      <p:sp>
        <p:nvSpPr>
          <p:cNvPr id="24" name="Text 22"/>
          <p:cNvSpPr/>
          <p:nvPr/>
        </p:nvSpPr>
        <p:spPr>
          <a:xfrm>
            <a:off x="3529584" y="2029968"/>
            <a:ext cx="1053389" cy="182880"/>
          </a:xfrm>
          <a:prstGeom prst="rect">
            <a:avLst/>
          </a:prstGeom>
          <a:noFill/>
          <a:ln/>
        </p:spPr>
        <p:txBody>
          <a:bodyPr wrap="square" lIns="0" tIns="0" rIns="0" bIns="0" rtlCol="0" anchor="ctr"/>
          <a:lstStyle/>
          <a:p>
            <a:pPr marL="0" indent="0" algn="ctr">
              <a:buNone/>
            </a:pPr>
            <a:r>
              <a:rPr lang="en-US" sz="800" dirty="0">
                <a:solidFill>
                  <a:srgbClr val="BC8CFF"/>
                </a:solidFill>
                <a:latin typeface="Calibri" pitchFamily="34" charset="0"/>
                <a:ea typeface="Calibri" pitchFamily="34" charset="-122"/>
                <a:cs typeface="Calibri" pitchFamily="34" charset="-120"/>
              </a:rPr>
              <a:t>Folder</a:t>
            </a:r>
            <a:endParaRPr lang="en-US" sz="800" dirty="0"/>
          </a:p>
        </p:txBody>
      </p:sp>
      <p:sp>
        <p:nvSpPr>
          <p:cNvPr id="25" name="Shape 23"/>
          <p:cNvSpPr/>
          <p:nvPr/>
        </p:nvSpPr>
        <p:spPr>
          <a:xfrm>
            <a:off x="4601261" y="1572768"/>
            <a:ext cx="351130" cy="420624"/>
          </a:xfrm>
          <a:prstGeom prst="rect">
            <a:avLst/>
          </a:prstGeom>
          <a:solidFill>
            <a:srgbClr val="F0F6FC">
              <a:alpha val="28000"/>
            </a:srgbClr>
          </a:solidFill>
          <a:ln w="15240">
            <a:solidFill>
              <a:srgbClr val="F0F6FC"/>
            </a:solidFill>
            <a:prstDash val="solid"/>
          </a:ln>
        </p:spPr>
        <p:txBody>
          <a:bodyPr/>
          <a:lstStyle/>
          <a:p>
            <a:endParaRPr lang="en-US"/>
          </a:p>
        </p:txBody>
      </p:sp>
      <p:sp>
        <p:nvSpPr>
          <p:cNvPr id="26" name="Text 24"/>
          <p:cNvSpPr/>
          <p:nvPr/>
        </p:nvSpPr>
        <p:spPr>
          <a:xfrm>
            <a:off x="4601261" y="1572768"/>
            <a:ext cx="351130" cy="420624"/>
          </a:xfrm>
          <a:prstGeom prst="rect">
            <a:avLst/>
          </a:prstGeom>
          <a:noFill/>
          <a:ln/>
        </p:spPr>
        <p:txBody>
          <a:bodyPr wrap="square" lIns="0" tIns="0" rIns="0" bIns="0" rtlCol="0" anchor="ctr"/>
          <a:lstStyle/>
          <a:p>
            <a:pPr marL="0" indent="0" algn="ctr">
              <a:buNone/>
            </a:pPr>
            <a:r>
              <a:rPr lang="en-US" sz="1400" b="1" dirty="0">
                <a:solidFill>
                  <a:srgbClr val="F0F6FC"/>
                </a:solidFill>
                <a:latin typeface="Consolas" pitchFamily="34" charset="0"/>
                <a:ea typeface="Consolas" pitchFamily="34" charset="-122"/>
                <a:cs typeface="Consolas" pitchFamily="34" charset="-120"/>
              </a:rPr>
              <a:t>app</a:t>
            </a:r>
            <a:endParaRPr lang="en-US" sz="1400" dirty="0"/>
          </a:p>
        </p:txBody>
      </p:sp>
      <p:sp>
        <p:nvSpPr>
          <p:cNvPr id="27" name="Text 25"/>
          <p:cNvSpPr/>
          <p:nvPr/>
        </p:nvSpPr>
        <p:spPr>
          <a:xfrm>
            <a:off x="4601261" y="2029968"/>
            <a:ext cx="351130" cy="182880"/>
          </a:xfrm>
          <a:prstGeom prst="rect">
            <a:avLst/>
          </a:prstGeom>
          <a:noFill/>
          <a:ln/>
        </p:spPr>
        <p:txBody>
          <a:bodyPr wrap="square" lIns="0" tIns="0" rIns="0" bIns="0" rtlCol="0" anchor="ctr"/>
          <a:lstStyle/>
          <a:p>
            <a:pPr marL="0" indent="0" algn="ctr">
              <a:buNone/>
            </a:pPr>
            <a:r>
              <a:rPr lang="en-US" sz="800" dirty="0">
                <a:solidFill>
                  <a:srgbClr val="F0F6FC"/>
                </a:solidFill>
                <a:latin typeface="Calibri" pitchFamily="34" charset="0"/>
                <a:ea typeface="Calibri" pitchFamily="34" charset="-122"/>
                <a:cs typeface="Calibri" pitchFamily="34" charset="-120"/>
              </a:rPr>
              <a:t>Name</a:t>
            </a:r>
            <a:endParaRPr lang="en-US" sz="800" dirty="0"/>
          </a:p>
        </p:txBody>
      </p:sp>
      <p:sp>
        <p:nvSpPr>
          <p:cNvPr id="28" name="Shape 26"/>
          <p:cNvSpPr/>
          <p:nvPr/>
        </p:nvSpPr>
        <p:spPr>
          <a:xfrm>
            <a:off x="4970678" y="1572768"/>
            <a:ext cx="256032" cy="420624"/>
          </a:xfrm>
          <a:prstGeom prst="rect">
            <a:avLst/>
          </a:prstGeom>
          <a:solidFill>
            <a:srgbClr val="3D444D">
              <a:alpha val="0"/>
            </a:srgbClr>
          </a:solidFill>
          <a:ln w="12700">
            <a:solidFill>
              <a:srgbClr val="3D444D"/>
            </a:solidFill>
            <a:prstDash val="solid"/>
          </a:ln>
        </p:spPr>
        <p:txBody>
          <a:bodyPr/>
          <a:lstStyle/>
          <a:p>
            <a:endParaRPr lang="en-US"/>
          </a:p>
        </p:txBody>
      </p:sp>
      <p:sp>
        <p:nvSpPr>
          <p:cNvPr id="29" name="Text 27"/>
          <p:cNvSpPr/>
          <p:nvPr/>
        </p:nvSpPr>
        <p:spPr>
          <a:xfrm>
            <a:off x="4970678" y="1572768"/>
            <a:ext cx="256032" cy="420624"/>
          </a:xfrm>
          <a:prstGeom prst="rect">
            <a:avLst/>
          </a:prstGeom>
          <a:noFill/>
          <a:ln/>
        </p:spPr>
        <p:txBody>
          <a:bodyPr wrap="square" lIns="0" tIns="0" rIns="0" bIns="0" rtlCol="0" anchor="ctr"/>
          <a:lstStyle/>
          <a:p>
            <a:pPr marL="0" indent="0" algn="ctr">
              <a:buNone/>
            </a:pPr>
            <a:r>
              <a:rPr lang="en-US" sz="1400" b="1" dirty="0">
                <a:solidFill>
                  <a:srgbClr val="3D444D"/>
                </a:solidFill>
                <a:latin typeface="Consolas" pitchFamily="34" charset="0"/>
                <a:ea typeface="Consolas" pitchFamily="34" charset="-122"/>
                <a:cs typeface="Consolas" pitchFamily="34" charset="-120"/>
              </a:rPr>
              <a:t>.</a:t>
            </a:r>
            <a:endParaRPr lang="en-US" sz="1400" dirty="0"/>
          </a:p>
        </p:txBody>
      </p:sp>
      <p:sp>
        <p:nvSpPr>
          <p:cNvPr id="30" name="Shape 28"/>
          <p:cNvSpPr/>
          <p:nvPr/>
        </p:nvSpPr>
        <p:spPr>
          <a:xfrm>
            <a:off x="5244998" y="1572768"/>
            <a:ext cx="256032" cy="420624"/>
          </a:xfrm>
          <a:prstGeom prst="rect">
            <a:avLst/>
          </a:prstGeom>
          <a:solidFill>
            <a:srgbClr val="3FB950">
              <a:alpha val="28000"/>
            </a:srgbClr>
          </a:solidFill>
          <a:ln w="15240">
            <a:solidFill>
              <a:srgbClr val="3FB950"/>
            </a:solidFill>
            <a:prstDash val="solid"/>
          </a:ln>
        </p:spPr>
        <p:txBody>
          <a:bodyPr/>
          <a:lstStyle/>
          <a:p>
            <a:endParaRPr lang="en-US"/>
          </a:p>
        </p:txBody>
      </p:sp>
      <p:sp>
        <p:nvSpPr>
          <p:cNvPr id="31" name="Text 29"/>
          <p:cNvSpPr/>
          <p:nvPr/>
        </p:nvSpPr>
        <p:spPr>
          <a:xfrm>
            <a:off x="5244998" y="1572768"/>
            <a:ext cx="256032" cy="420624"/>
          </a:xfrm>
          <a:prstGeom prst="rect">
            <a:avLst/>
          </a:prstGeom>
          <a:noFill/>
          <a:ln/>
        </p:spPr>
        <p:txBody>
          <a:bodyPr wrap="square" lIns="0" tIns="0" rIns="0" bIns="0" rtlCol="0" anchor="ctr"/>
          <a:lstStyle/>
          <a:p>
            <a:pPr marL="0" indent="0" algn="ctr">
              <a:buNone/>
            </a:pPr>
            <a:r>
              <a:rPr lang="en-US" sz="1400" b="1" dirty="0">
                <a:solidFill>
                  <a:srgbClr val="3FB950"/>
                </a:solidFill>
                <a:latin typeface="Consolas" pitchFamily="34" charset="0"/>
                <a:ea typeface="Consolas" pitchFamily="34" charset="-122"/>
                <a:cs typeface="Consolas" pitchFamily="34" charset="-120"/>
              </a:rPr>
              <a:t>py</a:t>
            </a:r>
            <a:endParaRPr lang="en-US" sz="1400" dirty="0"/>
          </a:p>
        </p:txBody>
      </p:sp>
      <p:sp>
        <p:nvSpPr>
          <p:cNvPr id="32" name="Text 30"/>
          <p:cNvSpPr/>
          <p:nvPr/>
        </p:nvSpPr>
        <p:spPr>
          <a:xfrm>
            <a:off x="5244998" y="2029968"/>
            <a:ext cx="256032" cy="182880"/>
          </a:xfrm>
          <a:prstGeom prst="rect">
            <a:avLst/>
          </a:prstGeom>
          <a:noFill/>
          <a:ln/>
        </p:spPr>
        <p:txBody>
          <a:bodyPr wrap="square" lIns="0" tIns="0" rIns="0" bIns="0" rtlCol="0" anchor="ctr"/>
          <a:lstStyle/>
          <a:p>
            <a:pPr marL="0" indent="0" algn="ctr">
              <a:buNone/>
            </a:pPr>
            <a:r>
              <a:rPr lang="en-US" sz="800" dirty="0">
                <a:solidFill>
                  <a:srgbClr val="3FB950"/>
                </a:solidFill>
                <a:latin typeface="Calibri" pitchFamily="34" charset="0"/>
                <a:ea typeface="Calibri" pitchFamily="34" charset="-122"/>
                <a:cs typeface="Calibri" pitchFamily="34" charset="-120"/>
              </a:rPr>
              <a:t>Extension</a:t>
            </a:r>
            <a:endParaRPr lang="en-US" sz="800" dirty="0"/>
          </a:p>
        </p:txBody>
      </p:sp>
      <p:sp>
        <p:nvSpPr>
          <p:cNvPr id="33" name="Shape 31"/>
          <p:cNvSpPr/>
          <p:nvPr/>
        </p:nvSpPr>
        <p:spPr>
          <a:xfrm>
            <a:off x="411480" y="2359152"/>
            <a:ext cx="1993392" cy="2048256"/>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34" name="Shape 32"/>
          <p:cNvSpPr/>
          <p:nvPr/>
        </p:nvSpPr>
        <p:spPr>
          <a:xfrm>
            <a:off x="411480" y="2359152"/>
            <a:ext cx="1993392"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35" name="Text 33"/>
          <p:cNvSpPr/>
          <p:nvPr/>
        </p:nvSpPr>
        <p:spPr>
          <a:xfrm>
            <a:off x="521208" y="2395728"/>
            <a:ext cx="1773936" cy="256032"/>
          </a:xfrm>
          <a:prstGeom prst="rect">
            <a:avLst/>
          </a:prstGeom>
          <a:noFill/>
          <a:ln/>
        </p:spPr>
        <p:txBody>
          <a:bodyPr wrap="square" lIns="0" tIns="0" rIns="0" bIns="0" rtlCol="0" anchor="ctr"/>
          <a:lstStyle/>
          <a:p>
            <a:pPr marL="0" indent="0">
              <a:buNone/>
            </a:pPr>
            <a:r>
              <a:rPr lang="en-US" sz="1100" b="1" dirty="0">
                <a:solidFill>
                  <a:srgbClr val="FFA657"/>
                </a:solidFill>
                <a:latin typeface="Calibri" pitchFamily="34" charset="0"/>
                <a:ea typeface="Calibri" pitchFamily="34" charset="-122"/>
                <a:cs typeface="Calibri" pitchFamily="34" charset="-120"/>
              </a:rPr>
              <a:t>🏠  Root / Drive</a:t>
            </a:r>
            <a:endParaRPr lang="en-US" sz="1100" dirty="0"/>
          </a:p>
        </p:txBody>
      </p:sp>
      <p:sp>
        <p:nvSpPr>
          <p:cNvPr id="36" name="Text 34"/>
          <p:cNvSpPr/>
          <p:nvPr/>
        </p:nvSpPr>
        <p:spPr>
          <a:xfrm>
            <a:off x="521208" y="2724912"/>
            <a:ext cx="1773936" cy="1572768"/>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Windows: every drive has a</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letter (C:\, D:\, E:\).</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Linux/macOS: single root  /</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Everything hangs from there.</a:t>
            </a:r>
            <a:endParaRPr lang="en-US" sz="1100" dirty="0"/>
          </a:p>
        </p:txBody>
      </p:sp>
      <p:sp>
        <p:nvSpPr>
          <p:cNvPr id="37" name="Shape 35"/>
          <p:cNvSpPr/>
          <p:nvPr/>
        </p:nvSpPr>
        <p:spPr>
          <a:xfrm>
            <a:off x="2532888" y="2359152"/>
            <a:ext cx="1993392" cy="2048256"/>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38" name="Shape 36"/>
          <p:cNvSpPr/>
          <p:nvPr/>
        </p:nvSpPr>
        <p:spPr>
          <a:xfrm>
            <a:off x="2532888" y="2359152"/>
            <a:ext cx="1993392"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39" name="Text 37"/>
          <p:cNvSpPr/>
          <p:nvPr/>
        </p:nvSpPr>
        <p:spPr>
          <a:xfrm>
            <a:off x="2642616" y="2395728"/>
            <a:ext cx="1773936" cy="256032"/>
          </a:xfrm>
          <a:prstGeom prst="rect">
            <a:avLst/>
          </a:prstGeom>
          <a:noFill/>
          <a:ln/>
        </p:spPr>
        <p:txBody>
          <a:bodyPr wrap="square" lIns="0" tIns="0" rIns="0" bIns="0" rtlCol="0" anchor="ctr"/>
          <a:lstStyle/>
          <a:p>
            <a:pPr marL="0" indent="0">
              <a:buNone/>
            </a:pPr>
            <a:r>
              <a:rPr lang="en-US" sz="1100" b="1" dirty="0">
                <a:solidFill>
                  <a:srgbClr val="3FD9C4"/>
                </a:solidFill>
                <a:latin typeface="Calibri" pitchFamily="34" charset="0"/>
                <a:ea typeface="Calibri" pitchFamily="34" charset="-122"/>
                <a:cs typeface="Calibri" pitchFamily="34" charset="-120"/>
              </a:rPr>
              <a:t>📂  Directories / Folders</a:t>
            </a:r>
            <a:endParaRPr lang="en-US" sz="1100" dirty="0"/>
          </a:p>
        </p:txBody>
      </p:sp>
      <p:sp>
        <p:nvSpPr>
          <p:cNvPr id="40" name="Text 38"/>
          <p:cNvSpPr/>
          <p:nvPr/>
        </p:nvSpPr>
        <p:spPr>
          <a:xfrm>
            <a:off x="2642616" y="2724912"/>
            <a:ext cx="1773936" cy="1572768"/>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Each folder separated by \</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(Windows) or / (Linux).</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Creates a hierarchy of</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nested containers.</a:t>
            </a:r>
            <a:endParaRPr lang="en-US" sz="1100" dirty="0"/>
          </a:p>
        </p:txBody>
      </p:sp>
      <p:sp>
        <p:nvSpPr>
          <p:cNvPr id="41" name="Shape 39"/>
          <p:cNvSpPr/>
          <p:nvPr/>
        </p:nvSpPr>
        <p:spPr>
          <a:xfrm>
            <a:off x="4654296" y="2359152"/>
            <a:ext cx="1993392" cy="2048256"/>
          </a:xfrm>
          <a:prstGeom prst="rect">
            <a:avLst/>
          </a:prstGeom>
          <a:solidFill>
            <a:srgbClr val="161B26"/>
          </a:solidFill>
          <a:ln w="15240">
            <a:solidFill>
              <a:srgbClr val="F0F6FC"/>
            </a:solidFill>
            <a:prstDash val="solid"/>
          </a:ln>
          <a:effectLst>
            <a:outerShdw blurRad="177800" dist="38100" dir="8100000" algn="bl" rotWithShape="0">
              <a:srgbClr val="000000">
                <a:alpha val="35000"/>
              </a:srgbClr>
            </a:outerShdw>
          </a:effectLst>
        </p:spPr>
        <p:txBody>
          <a:bodyPr/>
          <a:lstStyle/>
          <a:p>
            <a:endParaRPr lang="en-US"/>
          </a:p>
        </p:txBody>
      </p:sp>
      <p:sp>
        <p:nvSpPr>
          <p:cNvPr id="42" name="Shape 40"/>
          <p:cNvSpPr/>
          <p:nvPr/>
        </p:nvSpPr>
        <p:spPr>
          <a:xfrm>
            <a:off x="4654296" y="2359152"/>
            <a:ext cx="1993392" cy="329184"/>
          </a:xfrm>
          <a:prstGeom prst="rect">
            <a:avLst/>
          </a:prstGeom>
          <a:solidFill>
            <a:srgbClr val="F0F6FC">
              <a:alpha val="78000"/>
            </a:srgbClr>
          </a:solidFill>
          <a:ln w="12700">
            <a:solidFill>
              <a:srgbClr val="F0F6FC"/>
            </a:solidFill>
            <a:prstDash val="solid"/>
          </a:ln>
        </p:spPr>
        <p:txBody>
          <a:bodyPr/>
          <a:lstStyle/>
          <a:p>
            <a:endParaRPr lang="en-US"/>
          </a:p>
        </p:txBody>
      </p:sp>
      <p:sp>
        <p:nvSpPr>
          <p:cNvPr id="43" name="Text 41"/>
          <p:cNvSpPr/>
          <p:nvPr/>
        </p:nvSpPr>
        <p:spPr>
          <a:xfrm>
            <a:off x="4764024" y="2395728"/>
            <a:ext cx="1773936" cy="256032"/>
          </a:xfrm>
          <a:prstGeom prst="rect">
            <a:avLst/>
          </a:prstGeom>
          <a:noFill/>
          <a:ln/>
        </p:spPr>
        <p:txBody>
          <a:bodyPr wrap="square" lIns="0" tIns="0" rIns="0" bIns="0"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  Filename</a:t>
            </a:r>
            <a:endParaRPr lang="en-US" sz="1100" dirty="0"/>
          </a:p>
        </p:txBody>
      </p:sp>
      <p:sp>
        <p:nvSpPr>
          <p:cNvPr id="44" name="Text 42"/>
          <p:cNvSpPr/>
          <p:nvPr/>
        </p:nvSpPr>
        <p:spPr>
          <a:xfrm>
            <a:off x="4764024" y="2724912"/>
            <a:ext cx="1773936" cy="1572768"/>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The actual file name</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without the extension.</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Case-sensitive on Linux,</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case-insensitive on Windows.</a:t>
            </a:r>
            <a:endParaRPr lang="en-US" sz="1100" dirty="0"/>
          </a:p>
        </p:txBody>
      </p:sp>
      <p:sp>
        <p:nvSpPr>
          <p:cNvPr id="45" name="Shape 43"/>
          <p:cNvSpPr/>
          <p:nvPr/>
        </p:nvSpPr>
        <p:spPr>
          <a:xfrm>
            <a:off x="6775704" y="2359152"/>
            <a:ext cx="1993392" cy="2048256"/>
          </a:xfrm>
          <a:prstGeom prst="rect">
            <a:avLst/>
          </a:prstGeom>
          <a:solidFill>
            <a:srgbClr val="161B26"/>
          </a:solidFill>
          <a:ln w="15240">
            <a:solidFill>
              <a:srgbClr val="3FB950"/>
            </a:solidFill>
            <a:prstDash val="solid"/>
          </a:ln>
          <a:effectLst>
            <a:outerShdw blurRad="177800" dist="38100" dir="8100000" algn="bl" rotWithShape="0">
              <a:srgbClr val="000000">
                <a:alpha val="35000"/>
              </a:srgbClr>
            </a:outerShdw>
          </a:effectLst>
        </p:spPr>
        <p:txBody>
          <a:bodyPr/>
          <a:lstStyle/>
          <a:p>
            <a:endParaRPr lang="en-US"/>
          </a:p>
        </p:txBody>
      </p:sp>
      <p:sp>
        <p:nvSpPr>
          <p:cNvPr id="46" name="Shape 44"/>
          <p:cNvSpPr/>
          <p:nvPr/>
        </p:nvSpPr>
        <p:spPr>
          <a:xfrm>
            <a:off x="6775704" y="2359152"/>
            <a:ext cx="1993392" cy="329184"/>
          </a:xfrm>
          <a:prstGeom prst="rect">
            <a:avLst/>
          </a:prstGeom>
          <a:solidFill>
            <a:srgbClr val="3FB950">
              <a:alpha val="78000"/>
            </a:srgbClr>
          </a:solidFill>
          <a:ln w="12700">
            <a:solidFill>
              <a:srgbClr val="3FB950"/>
            </a:solidFill>
            <a:prstDash val="solid"/>
          </a:ln>
        </p:spPr>
        <p:txBody>
          <a:bodyPr/>
          <a:lstStyle/>
          <a:p>
            <a:endParaRPr lang="en-US"/>
          </a:p>
        </p:txBody>
      </p:sp>
      <p:sp>
        <p:nvSpPr>
          <p:cNvPr id="47" name="Text 45"/>
          <p:cNvSpPr/>
          <p:nvPr/>
        </p:nvSpPr>
        <p:spPr>
          <a:xfrm>
            <a:off x="6885432" y="2395728"/>
            <a:ext cx="1773936" cy="256032"/>
          </a:xfrm>
          <a:prstGeom prst="rect">
            <a:avLst/>
          </a:prstGeom>
          <a:noFill/>
          <a:ln/>
        </p:spPr>
        <p:txBody>
          <a:bodyPr wrap="square" lIns="0" tIns="0" rIns="0" bIns="0" rtlCol="0" anchor="ctr"/>
          <a:lstStyle/>
          <a:p>
            <a:pPr marL="0" indent="0">
              <a:buNone/>
            </a:pPr>
            <a:r>
              <a:rPr lang="en-US" sz="1100" b="1" dirty="0">
                <a:solidFill>
                  <a:srgbClr val="3FB950"/>
                </a:solidFill>
                <a:latin typeface="Calibri" pitchFamily="34" charset="0"/>
                <a:ea typeface="Calibri" pitchFamily="34" charset="-122"/>
                <a:cs typeface="Calibri" pitchFamily="34" charset="-120"/>
              </a:rPr>
              <a:t>🏷️  Extension</a:t>
            </a:r>
            <a:endParaRPr lang="en-US" sz="1100" dirty="0"/>
          </a:p>
        </p:txBody>
      </p:sp>
      <p:sp>
        <p:nvSpPr>
          <p:cNvPr id="48" name="Text 46"/>
          <p:cNvSpPr/>
          <p:nvPr/>
        </p:nvSpPr>
        <p:spPr>
          <a:xfrm>
            <a:off x="6885432" y="2724912"/>
            <a:ext cx="1773936" cy="1572768"/>
          </a:xfrm>
          <a:prstGeom prst="rect">
            <a:avLst/>
          </a:prstGeom>
          <a:noFill/>
          <a:ln/>
        </p:spPr>
        <p:txBody>
          <a:bodyPr wrap="square" lIns="0" tIns="0" rIns="0" bIns="0" rtlCol="0" anchor="t"/>
          <a:lstStyle/>
          <a:p>
            <a:pPr marL="0" indent="0" algn="l">
              <a:buNone/>
            </a:pPr>
            <a:r>
              <a:rPr lang="en-US" sz="1100" dirty="0">
                <a:solidFill>
                  <a:srgbClr val="F0F6FC"/>
                </a:solidFill>
                <a:latin typeface="Calibri" pitchFamily="34" charset="0"/>
                <a:ea typeface="Calibri" pitchFamily="34" charset="-122"/>
                <a:cs typeface="Calibri" pitchFamily="34" charset="-120"/>
              </a:rPr>
              <a:t>Format hint at the end.</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Separated by a dot.</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Can be changed freely</a:t>
            </a:r>
            <a:endParaRPr lang="en-US" sz="1100" dirty="0"/>
          </a:p>
          <a:p>
            <a:pPr marL="0" indent="0" algn="l">
              <a:buNone/>
            </a:pPr>
            <a:r>
              <a:rPr lang="en-US" sz="1100" dirty="0">
                <a:solidFill>
                  <a:srgbClr val="F0F6FC"/>
                </a:solidFill>
                <a:latin typeface="Calibri" pitchFamily="34" charset="0"/>
                <a:ea typeface="Calibri" pitchFamily="34" charset="-122"/>
                <a:cs typeface="Calibri" pitchFamily="34" charset="-120"/>
              </a:rPr>
              <a:t>— does not convert content.</a:t>
            </a:r>
            <a:endParaRPr lang="en-US" sz="1100" dirty="0"/>
          </a:p>
        </p:txBody>
      </p:sp>
      <p:sp>
        <p:nvSpPr>
          <p:cNvPr id="49" name="Shape 47"/>
          <p:cNvSpPr/>
          <p:nvPr/>
        </p:nvSpPr>
        <p:spPr>
          <a:xfrm>
            <a:off x="365760" y="4572000"/>
            <a:ext cx="8412480" cy="384048"/>
          </a:xfrm>
          <a:prstGeom prst="rect">
            <a:avLst/>
          </a:prstGeom>
          <a:solidFill>
            <a:srgbClr val="0A1020"/>
          </a:solidFill>
          <a:ln w="12700">
            <a:solidFill>
              <a:srgbClr val="58A6FF"/>
            </a:solidFill>
            <a:prstDash val="solid"/>
          </a:ln>
        </p:spPr>
        <p:txBody>
          <a:bodyPr/>
          <a:lstStyle/>
          <a:p>
            <a:endParaRPr lang="en-US"/>
          </a:p>
        </p:txBody>
      </p:sp>
      <p:sp>
        <p:nvSpPr>
          <p:cNvPr id="50" name="Text 48"/>
          <p:cNvSpPr/>
          <p:nvPr/>
        </p:nvSpPr>
        <p:spPr>
          <a:xfrm>
            <a:off x="502920" y="4599432"/>
            <a:ext cx="8229600" cy="310896"/>
          </a:xfrm>
          <a:prstGeom prst="rect">
            <a:avLst/>
          </a:prstGeom>
          <a:noFill/>
          <a:ln/>
        </p:spPr>
        <p:txBody>
          <a:bodyPr wrap="square" lIns="0" tIns="0" rIns="0" bIns="0" rtlCol="0" anchor="ctr"/>
          <a:lstStyle/>
          <a:p>
            <a:pPr marL="0" indent="0">
              <a:buNone/>
            </a:pPr>
            <a:r>
              <a:rPr lang="en-US" sz="1100" b="1" dirty="0">
                <a:solidFill>
                  <a:srgbClr val="58A6FF"/>
                </a:solidFill>
                <a:latin typeface="Calibri" pitchFamily="34" charset="0"/>
                <a:ea typeface="Calibri" pitchFamily="34" charset="-122"/>
                <a:cs typeface="Calibri" pitchFamily="34" charset="-120"/>
              </a:rPr>
              <a:t>Everything is a path:  </a:t>
            </a:r>
            <a:r>
              <a:rPr lang="en-US" sz="1100" dirty="0">
                <a:solidFill>
                  <a:srgbClr val="F0F6FC"/>
                </a:solidFill>
                <a:latin typeface="Calibri" pitchFamily="34" charset="0"/>
                <a:ea typeface="Calibri" pitchFamily="34" charset="-122"/>
                <a:cs typeface="Calibri" pitchFamily="34" charset="-120"/>
              </a:rPr>
              <a:t>Directories, files, devices (/dev/sda), network shares (\\server\share) — the OS addresses them all with paths. Learning paths is one of the most important CLI skills.</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FILE PATHS</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Absolute vs Relative Paths</a:t>
            </a:r>
            <a:endParaRPr lang="en-US" sz="2800" dirty="0"/>
          </a:p>
        </p:txBody>
      </p:sp>
      <p:sp>
        <p:nvSpPr>
          <p:cNvPr id="6" name="Text 4"/>
          <p:cNvSpPr/>
          <p:nvPr/>
        </p:nvSpPr>
        <p:spPr>
          <a:xfrm>
            <a:off x="457200" y="877824"/>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Two ways to specify where a file is — each used in different situations</a:t>
            </a:r>
            <a:endParaRPr lang="en-US" sz="1300" dirty="0"/>
          </a:p>
        </p:txBody>
      </p:sp>
      <p:sp>
        <p:nvSpPr>
          <p:cNvPr id="7" name="Shape 5"/>
          <p:cNvSpPr/>
          <p:nvPr/>
        </p:nvSpPr>
        <p:spPr>
          <a:xfrm>
            <a:off x="411480" y="1170432"/>
            <a:ext cx="4206240" cy="3273552"/>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4206240"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9" name="Text 7"/>
          <p:cNvSpPr/>
          <p:nvPr/>
        </p:nvSpPr>
        <p:spPr>
          <a:xfrm>
            <a:off x="548640" y="1216152"/>
            <a:ext cx="3931920" cy="256032"/>
          </a:xfrm>
          <a:prstGeom prst="rect">
            <a:avLst/>
          </a:prstGeom>
          <a:noFill/>
          <a:ln/>
        </p:spPr>
        <p:txBody>
          <a:bodyPr wrap="square" lIns="0" tIns="0" rIns="0" bIns="0" rtlCol="0" anchor="ctr"/>
          <a:lstStyle/>
          <a:p>
            <a:pPr marL="0" indent="0">
              <a:buNone/>
            </a:pPr>
            <a:r>
              <a:rPr lang="en-US" sz="1300" b="1" dirty="0">
                <a:solidFill>
                  <a:srgbClr val="3FD9C4"/>
                </a:solidFill>
                <a:latin typeface="Calibri" pitchFamily="34" charset="0"/>
                <a:ea typeface="Calibri" pitchFamily="34" charset="-122"/>
                <a:cs typeface="Calibri" pitchFamily="34" charset="-120"/>
              </a:rPr>
              <a:t>🌍  Absolute Path</a:t>
            </a:r>
            <a:endParaRPr lang="en-US" sz="1300" dirty="0"/>
          </a:p>
        </p:txBody>
      </p:sp>
      <p:sp>
        <p:nvSpPr>
          <p:cNvPr id="10" name="Text 8"/>
          <p:cNvSpPr/>
          <p:nvPr/>
        </p:nvSpPr>
        <p:spPr>
          <a:xfrm>
            <a:off x="548640" y="1572768"/>
            <a:ext cx="3931920" cy="438912"/>
          </a:xfrm>
          <a:prstGeom prst="rect">
            <a:avLst/>
          </a:prstGeom>
          <a:noFill/>
          <a:ln/>
        </p:spPr>
        <p:txBody>
          <a:bodyPr wrap="square" lIns="0" tIns="0" rIns="0" bIns="0" rtlCol="0" anchor="ctr"/>
          <a:lstStyle/>
          <a:p>
            <a:pPr marL="0" indent="0">
              <a:buNone/>
            </a:pPr>
            <a:r>
              <a:rPr lang="en-US" sz="1150" dirty="0">
                <a:solidFill>
                  <a:srgbClr val="F0F6FC"/>
                </a:solidFill>
                <a:latin typeface="Calibri" pitchFamily="34" charset="0"/>
                <a:ea typeface="Calibri" pitchFamily="34" charset="-122"/>
                <a:cs typeface="Calibri" pitchFamily="34" charset="-120"/>
              </a:rPr>
              <a:t>Starts from the root. Always works</a:t>
            </a:r>
            <a:endParaRPr lang="en-US" sz="1150" dirty="0"/>
          </a:p>
          <a:p>
            <a:pPr marL="0" indent="0">
              <a:buNone/>
            </a:pPr>
            <a:r>
              <a:rPr lang="en-US" sz="1150" dirty="0">
                <a:solidFill>
                  <a:srgbClr val="F0F6FC"/>
                </a:solidFill>
                <a:latin typeface="Calibri" pitchFamily="34" charset="0"/>
                <a:ea typeface="Calibri" pitchFamily="34" charset="-122"/>
                <a:cs typeface="Calibri" pitchFamily="34" charset="-120"/>
              </a:rPr>
              <a:t>regardless of where you currently are.</a:t>
            </a:r>
            <a:endParaRPr lang="en-US" sz="1150" dirty="0"/>
          </a:p>
        </p:txBody>
      </p:sp>
      <p:sp>
        <p:nvSpPr>
          <p:cNvPr id="11" name="Shape 9"/>
          <p:cNvSpPr/>
          <p:nvPr/>
        </p:nvSpPr>
        <p:spPr>
          <a:xfrm>
            <a:off x="548640" y="2121408"/>
            <a:ext cx="640080" cy="237744"/>
          </a:xfrm>
          <a:prstGeom prst="rect">
            <a:avLst/>
          </a:prstGeom>
          <a:solidFill>
            <a:srgbClr val="58A6FF">
              <a:alpha val="30000"/>
            </a:srgbClr>
          </a:solidFill>
          <a:ln w="10160">
            <a:solidFill>
              <a:srgbClr val="58A6FF"/>
            </a:solidFill>
            <a:prstDash val="solid"/>
          </a:ln>
        </p:spPr>
        <p:txBody>
          <a:bodyPr/>
          <a:lstStyle/>
          <a:p>
            <a:endParaRPr lang="en-US"/>
          </a:p>
        </p:txBody>
      </p:sp>
      <p:sp>
        <p:nvSpPr>
          <p:cNvPr id="12" name="Text 10"/>
          <p:cNvSpPr/>
          <p:nvPr/>
        </p:nvSpPr>
        <p:spPr>
          <a:xfrm>
            <a:off x="548640" y="2121408"/>
            <a:ext cx="640080" cy="237744"/>
          </a:xfrm>
          <a:prstGeom prst="rect">
            <a:avLst/>
          </a:prstGeom>
          <a:noFill/>
          <a:ln/>
        </p:spPr>
        <p:txBody>
          <a:bodyPr wrap="square" lIns="0" tIns="0" rIns="0" bIns="0" rtlCol="0" anchor="ctr"/>
          <a:lstStyle/>
          <a:p>
            <a:pPr marL="0" indent="0" algn="ctr">
              <a:buNone/>
            </a:pPr>
            <a:r>
              <a:rPr lang="en-US" sz="900" b="1" dirty="0">
                <a:solidFill>
                  <a:srgbClr val="58A6FF"/>
                </a:solidFill>
                <a:latin typeface="Calibri" pitchFamily="34" charset="0"/>
                <a:ea typeface="Calibri" pitchFamily="34" charset="-122"/>
                <a:cs typeface="Calibri" pitchFamily="34" charset="-120"/>
              </a:rPr>
              <a:t>Windows</a:t>
            </a:r>
            <a:endParaRPr lang="en-US" sz="900" dirty="0"/>
          </a:p>
        </p:txBody>
      </p:sp>
      <p:sp>
        <p:nvSpPr>
          <p:cNvPr id="13" name="Shape 11"/>
          <p:cNvSpPr/>
          <p:nvPr/>
        </p:nvSpPr>
        <p:spPr>
          <a:xfrm>
            <a:off x="548640" y="2395728"/>
            <a:ext cx="3931920" cy="274320"/>
          </a:xfrm>
          <a:prstGeom prst="rect">
            <a:avLst/>
          </a:prstGeom>
          <a:solidFill>
            <a:srgbClr val="1C2333"/>
          </a:solidFill>
          <a:ln w="10160">
            <a:solidFill>
              <a:srgbClr val="58A6FF"/>
            </a:solidFill>
            <a:prstDash val="solid"/>
          </a:ln>
        </p:spPr>
        <p:txBody>
          <a:bodyPr/>
          <a:lstStyle/>
          <a:p>
            <a:endParaRPr lang="en-US"/>
          </a:p>
        </p:txBody>
      </p:sp>
      <p:sp>
        <p:nvSpPr>
          <p:cNvPr id="14" name="Text 12"/>
          <p:cNvSpPr/>
          <p:nvPr/>
        </p:nvSpPr>
        <p:spPr>
          <a:xfrm>
            <a:off x="658368" y="2432304"/>
            <a:ext cx="3749040" cy="201168"/>
          </a:xfrm>
          <a:prstGeom prst="rect">
            <a:avLst/>
          </a:prstGeom>
          <a:noFill/>
          <a:ln/>
        </p:spPr>
        <p:txBody>
          <a:bodyPr wrap="square" lIns="0" tIns="0" rIns="0" bIns="0" rtlCol="0" anchor="ctr"/>
          <a:lstStyle/>
          <a:p>
            <a:pPr marL="0" indent="0">
              <a:buNone/>
            </a:pPr>
            <a:r>
              <a:rPr lang="en-US" sz="1000" dirty="0">
                <a:solidFill>
                  <a:srgbClr val="58A6FF"/>
                </a:solidFill>
                <a:latin typeface="Consolas" pitchFamily="34" charset="0"/>
                <a:ea typeface="Consolas" pitchFamily="34" charset="-122"/>
                <a:cs typeface="Consolas" pitchFamily="34" charset="-120"/>
              </a:rPr>
              <a:t>C:\Users\Ahmed\Documents\app.py</a:t>
            </a:r>
            <a:endParaRPr lang="en-US" sz="1000" dirty="0"/>
          </a:p>
        </p:txBody>
      </p:sp>
      <p:sp>
        <p:nvSpPr>
          <p:cNvPr id="15" name="Shape 13"/>
          <p:cNvSpPr/>
          <p:nvPr/>
        </p:nvSpPr>
        <p:spPr>
          <a:xfrm>
            <a:off x="548640" y="2761488"/>
            <a:ext cx="640080" cy="237744"/>
          </a:xfrm>
          <a:prstGeom prst="rect">
            <a:avLst/>
          </a:prstGeom>
          <a:solidFill>
            <a:srgbClr val="3FB950">
              <a:alpha val="30000"/>
            </a:srgbClr>
          </a:solidFill>
          <a:ln w="10160">
            <a:solidFill>
              <a:srgbClr val="3FB950"/>
            </a:solidFill>
            <a:prstDash val="solid"/>
          </a:ln>
        </p:spPr>
        <p:txBody>
          <a:bodyPr/>
          <a:lstStyle/>
          <a:p>
            <a:endParaRPr lang="en-US"/>
          </a:p>
        </p:txBody>
      </p:sp>
      <p:sp>
        <p:nvSpPr>
          <p:cNvPr id="16" name="Text 14"/>
          <p:cNvSpPr/>
          <p:nvPr/>
        </p:nvSpPr>
        <p:spPr>
          <a:xfrm>
            <a:off x="548640" y="2761488"/>
            <a:ext cx="640080" cy="237744"/>
          </a:xfrm>
          <a:prstGeom prst="rect">
            <a:avLst/>
          </a:prstGeom>
          <a:noFill/>
          <a:ln/>
        </p:spPr>
        <p:txBody>
          <a:bodyPr wrap="square" lIns="0" tIns="0" rIns="0" bIns="0" rtlCol="0" anchor="ctr"/>
          <a:lstStyle/>
          <a:p>
            <a:pPr marL="0" indent="0" algn="ctr">
              <a:buNone/>
            </a:pPr>
            <a:r>
              <a:rPr lang="en-US" sz="900" b="1" dirty="0">
                <a:solidFill>
                  <a:srgbClr val="3FB950"/>
                </a:solidFill>
                <a:latin typeface="Calibri" pitchFamily="34" charset="0"/>
                <a:ea typeface="Calibri" pitchFamily="34" charset="-122"/>
                <a:cs typeface="Calibri" pitchFamily="34" charset="-120"/>
              </a:rPr>
              <a:t>Linux</a:t>
            </a:r>
            <a:endParaRPr lang="en-US" sz="900" dirty="0"/>
          </a:p>
        </p:txBody>
      </p:sp>
      <p:sp>
        <p:nvSpPr>
          <p:cNvPr id="17" name="Shape 15"/>
          <p:cNvSpPr/>
          <p:nvPr/>
        </p:nvSpPr>
        <p:spPr>
          <a:xfrm>
            <a:off x="548640" y="3035808"/>
            <a:ext cx="3931920" cy="274320"/>
          </a:xfrm>
          <a:prstGeom prst="rect">
            <a:avLst/>
          </a:prstGeom>
          <a:solidFill>
            <a:srgbClr val="1C2333"/>
          </a:solidFill>
          <a:ln w="10160">
            <a:solidFill>
              <a:srgbClr val="3FB950"/>
            </a:solidFill>
            <a:prstDash val="solid"/>
          </a:ln>
        </p:spPr>
        <p:txBody>
          <a:bodyPr/>
          <a:lstStyle/>
          <a:p>
            <a:endParaRPr lang="en-US"/>
          </a:p>
        </p:txBody>
      </p:sp>
      <p:sp>
        <p:nvSpPr>
          <p:cNvPr id="18" name="Text 16"/>
          <p:cNvSpPr/>
          <p:nvPr/>
        </p:nvSpPr>
        <p:spPr>
          <a:xfrm>
            <a:off x="658368" y="3072384"/>
            <a:ext cx="3749040" cy="201168"/>
          </a:xfrm>
          <a:prstGeom prst="rect">
            <a:avLst/>
          </a:prstGeom>
          <a:noFill/>
          <a:ln/>
        </p:spPr>
        <p:txBody>
          <a:bodyPr wrap="square" lIns="0" tIns="0" rIns="0" bIns="0" rtlCol="0" anchor="ctr"/>
          <a:lstStyle/>
          <a:p>
            <a:pPr marL="0" indent="0">
              <a:buNone/>
            </a:pPr>
            <a:r>
              <a:rPr lang="en-US" sz="1000" dirty="0">
                <a:solidFill>
                  <a:srgbClr val="3FB950"/>
                </a:solidFill>
                <a:latin typeface="Consolas" pitchFamily="34" charset="0"/>
                <a:ea typeface="Consolas" pitchFamily="34" charset="-122"/>
                <a:cs typeface="Consolas" pitchFamily="34" charset="-120"/>
              </a:rPr>
              <a:t>/home/ahmed/documents/app.py</a:t>
            </a:r>
            <a:endParaRPr lang="en-US" sz="1000" dirty="0"/>
          </a:p>
        </p:txBody>
      </p:sp>
      <p:sp>
        <p:nvSpPr>
          <p:cNvPr id="19" name="Shape 17"/>
          <p:cNvSpPr/>
          <p:nvPr/>
        </p:nvSpPr>
        <p:spPr>
          <a:xfrm>
            <a:off x="548640" y="3401568"/>
            <a:ext cx="640080" cy="237744"/>
          </a:xfrm>
          <a:prstGeom prst="rect">
            <a:avLst/>
          </a:prstGeom>
          <a:solidFill>
            <a:srgbClr val="BC8CFF">
              <a:alpha val="30000"/>
            </a:srgbClr>
          </a:solidFill>
          <a:ln w="10160">
            <a:solidFill>
              <a:srgbClr val="BC8CFF"/>
            </a:solidFill>
            <a:prstDash val="solid"/>
          </a:ln>
        </p:spPr>
        <p:txBody>
          <a:bodyPr/>
          <a:lstStyle/>
          <a:p>
            <a:endParaRPr lang="en-US"/>
          </a:p>
        </p:txBody>
      </p:sp>
      <p:sp>
        <p:nvSpPr>
          <p:cNvPr id="20" name="Text 18"/>
          <p:cNvSpPr/>
          <p:nvPr/>
        </p:nvSpPr>
        <p:spPr>
          <a:xfrm>
            <a:off x="548640" y="3401568"/>
            <a:ext cx="640080" cy="237744"/>
          </a:xfrm>
          <a:prstGeom prst="rect">
            <a:avLst/>
          </a:prstGeom>
          <a:noFill/>
          <a:ln/>
        </p:spPr>
        <p:txBody>
          <a:bodyPr wrap="square" lIns="0" tIns="0" rIns="0" bIns="0" rtlCol="0" anchor="ctr"/>
          <a:lstStyle/>
          <a:p>
            <a:pPr marL="0" indent="0" algn="ctr">
              <a:buNone/>
            </a:pPr>
            <a:r>
              <a:rPr lang="en-US" sz="900" b="1" dirty="0">
                <a:solidFill>
                  <a:srgbClr val="BC8CFF"/>
                </a:solidFill>
                <a:latin typeface="Calibri" pitchFamily="34" charset="0"/>
                <a:ea typeface="Calibri" pitchFamily="34" charset="-122"/>
                <a:cs typeface="Calibri" pitchFamily="34" charset="-120"/>
              </a:rPr>
              <a:t>macOS</a:t>
            </a:r>
            <a:endParaRPr lang="en-US" sz="900" dirty="0"/>
          </a:p>
        </p:txBody>
      </p:sp>
      <p:sp>
        <p:nvSpPr>
          <p:cNvPr id="21" name="Shape 19"/>
          <p:cNvSpPr/>
          <p:nvPr/>
        </p:nvSpPr>
        <p:spPr>
          <a:xfrm>
            <a:off x="548640" y="3675888"/>
            <a:ext cx="3931920" cy="274320"/>
          </a:xfrm>
          <a:prstGeom prst="rect">
            <a:avLst/>
          </a:prstGeom>
          <a:solidFill>
            <a:srgbClr val="1C2333"/>
          </a:solidFill>
          <a:ln w="10160">
            <a:solidFill>
              <a:srgbClr val="BC8CFF"/>
            </a:solidFill>
            <a:prstDash val="solid"/>
          </a:ln>
        </p:spPr>
        <p:txBody>
          <a:bodyPr/>
          <a:lstStyle/>
          <a:p>
            <a:endParaRPr lang="en-US"/>
          </a:p>
        </p:txBody>
      </p:sp>
      <p:sp>
        <p:nvSpPr>
          <p:cNvPr id="22" name="Text 20"/>
          <p:cNvSpPr/>
          <p:nvPr/>
        </p:nvSpPr>
        <p:spPr>
          <a:xfrm>
            <a:off x="658368" y="3712464"/>
            <a:ext cx="3749040" cy="201168"/>
          </a:xfrm>
          <a:prstGeom prst="rect">
            <a:avLst/>
          </a:prstGeom>
          <a:noFill/>
          <a:ln/>
        </p:spPr>
        <p:txBody>
          <a:bodyPr wrap="square" lIns="0" tIns="0" rIns="0" bIns="0" rtlCol="0" anchor="ctr"/>
          <a:lstStyle/>
          <a:p>
            <a:pPr marL="0" indent="0">
              <a:buNone/>
            </a:pPr>
            <a:r>
              <a:rPr lang="en-US" sz="1000" dirty="0">
                <a:solidFill>
                  <a:srgbClr val="BC8CFF"/>
                </a:solidFill>
                <a:latin typeface="Consolas" pitchFamily="34" charset="0"/>
                <a:ea typeface="Consolas" pitchFamily="34" charset="-122"/>
                <a:cs typeface="Consolas" pitchFamily="34" charset="-120"/>
              </a:rPr>
              <a:t>/Users/Ahmed/Documents/app.py</a:t>
            </a:r>
            <a:endParaRPr lang="en-US" sz="1000" dirty="0"/>
          </a:p>
        </p:txBody>
      </p:sp>
      <p:sp>
        <p:nvSpPr>
          <p:cNvPr id="23" name="Shape 21"/>
          <p:cNvSpPr/>
          <p:nvPr/>
        </p:nvSpPr>
        <p:spPr>
          <a:xfrm>
            <a:off x="548640" y="4041648"/>
            <a:ext cx="3931920" cy="347472"/>
          </a:xfrm>
          <a:prstGeom prst="rect">
            <a:avLst/>
          </a:prstGeom>
          <a:solidFill>
            <a:srgbClr val="1C2333"/>
          </a:solidFill>
          <a:ln w="10160">
            <a:solidFill>
              <a:srgbClr val="3FD9C4"/>
            </a:solidFill>
            <a:prstDash val="solid"/>
          </a:ln>
        </p:spPr>
        <p:txBody>
          <a:bodyPr/>
          <a:lstStyle/>
          <a:p>
            <a:endParaRPr lang="en-US"/>
          </a:p>
        </p:txBody>
      </p:sp>
      <p:sp>
        <p:nvSpPr>
          <p:cNvPr id="24" name="Text 22"/>
          <p:cNvSpPr/>
          <p:nvPr/>
        </p:nvSpPr>
        <p:spPr>
          <a:xfrm>
            <a:off x="658368" y="4078224"/>
            <a:ext cx="3749040" cy="256032"/>
          </a:xfrm>
          <a:prstGeom prst="rect">
            <a:avLst/>
          </a:prstGeom>
          <a:noFill/>
          <a:ln/>
        </p:spPr>
        <p:txBody>
          <a:bodyPr wrap="square" lIns="0" tIns="0" rIns="0" bIns="0" rtlCol="0" anchor="ctr"/>
          <a:lstStyle/>
          <a:p>
            <a:pPr marL="0" indent="0">
              <a:buNone/>
            </a:pPr>
            <a:r>
              <a:rPr lang="en-US" sz="1000" b="1" dirty="0">
                <a:solidFill>
                  <a:srgbClr val="3FD9C4"/>
                </a:solidFill>
                <a:latin typeface="Calibri" pitchFamily="34" charset="0"/>
                <a:ea typeface="Calibri" pitchFamily="34" charset="-122"/>
                <a:cs typeface="Calibri" pitchFamily="34" charset="-120"/>
              </a:rPr>
              <a:t>✓ Use when:  </a:t>
            </a:r>
            <a:r>
              <a:rPr lang="en-US" sz="1000" dirty="0">
                <a:solidFill>
                  <a:srgbClr val="F0F6FC"/>
                </a:solidFill>
                <a:latin typeface="Calibri" pitchFamily="34" charset="0"/>
                <a:ea typeface="Calibri" pitchFamily="34" charset="-122"/>
                <a:cs typeface="Calibri" pitchFamily="34" charset="-120"/>
              </a:rPr>
              <a:t>scripts, config files, anywhere that must work from any location</a:t>
            </a:r>
            <a:endParaRPr lang="en-US" sz="1000" dirty="0"/>
          </a:p>
        </p:txBody>
      </p:sp>
      <p:sp>
        <p:nvSpPr>
          <p:cNvPr id="25" name="Shape 23"/>
          <p:cNvSpPr/>
          <p:nvPr/>
        </p:nvSpPr>
        <p:spPr>
          <a:xfrm>
            <a:off x="4663440" y="1170432"/>
            <a:ext cx="4069080" cy="3273552"/>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26" name="Shape 24"/>
          <p:cNvSpPr/>
          <p:nvPr/>
        </p:nvSpPr>
        <p:spPr>
          <a:xfrm>
            <a:off x="4663440" y="1170432"/>
            <a:ext cx="4069080"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27" name="Text 25"/>
          <p:cNvSpPr/>
          <p:nvPr/>
        </p:nvSpPr>
        <p:spPr>
          <a:xfrm>
            <a:off x="4800600" y="1216152"/>
            <a:ext cx="3803904" cy="256032"/>
          </a:xfrm>
          <a:prstGeom prst="rect">
            <a:avLst/>
          </a:prstGeom>
          <a:noFill/>
          <a:ln/>
        </p:spPr>
        <p:txBody>
          <a:bodyPr wrap="square" lIns="0" tIns="0" rIns="0" bIns="0" rtlCol="0" anchor="ctr"/>
          <a:lstStyle/>
          <a:p>
            <a:pPr marL="0" indent="0">
              <a:buNone/>
            </a:pPr>
            <a:r>
              <a:rPr lang="en-US" sz="1300" b="1" dirty="0">
                <a:solidFill>
                  <a:srgbClr val="FFA657"/>
                </a:solidFill>
                <a:latin typeface="Calibri" pitchFamily="34" charset="0"/>
                <a:ea typeface="Calibri" pitchFamily="34" charset="-122"/>
                <a:cs typeface="Calibri" pitchFamily="34" charset="-120"/>
              </a:rPr>
              <a:t>📌  Relative Path</a:t>
            </a:r>
            <a:endParaRPr lang="en-US" sz="1300" dirty="0"/>
          </a:p>
        </p:txBody>
      </p:sp>
      <p:sp>
        <p:nvSpPr>
          <p:cNvPr id="28" name="Text 26"/>
          <p:cNvSpPr/>
          <p:nvPr/>
        </p:nvSpPr>
        <p:spPr>
          <a:xfrm>
            <a:off x="4800600" y="1572768"/>
            <a:ext cx="3803904" cy="438912"/>
          </a:xfrm>
          <a:prstGeom prst="rect">
            <a:avLst/>
          </a:prstGeom>
          <a:noFill/>
          <a:ln/>
        </p:spPr>
        <p:txBody>
          <a:bodyPr wrap="square" lIns="0" tIns="0" rIns="0" bIns="0" rtlCol="0" anchor="ctr"/>
          <a:lstStyle/>
          <a:p>
            <a:pPr marL="0" indent="0">
              <a:buNone/>
            </a:pPr>
            <a:r>
              <a:rPr lang="en-US" sz="1150" dirty="0">
                <a:solidFill>
                  <a:srgbClr val="F0F6FC"/>
                </a:solidFill>
                <a:latin typeface="Calibri" pitchFamily="34" charset="0"/>
                <a:ea typeface="Calibri" pitchFamily="34" charset="-122"/>
                <a:cs typeface="Calibri" pitchFamily="34" charset="-120"/>
              </a:rPr>
              <a:t>Starts from your current directory.</a:t>
            </a:r>
            <a:endParaRPr lang="en-US" sz="1150" dirty="0"/>
          </a:p>
          <a:p>
            <a:pPr marL="0" indent="0">
              <a:buNone/>
            </a:pPr>
            <a:r>
              <a:rPr lang="en-US" sz="1150" dirty="0">
                <a:solidFill>
                  <a:srgbClr val="F0F6FC"/>
                </a:solidFill>
                <a:latin typeface="Calibri" pitchFamily="34" charset="0"/>
                <a:ea typeface="Calibri" pitchFamily="34" charset="-122"/>
                <a:cs typeface="Calibri" pitchFamily="34" charset="-120"/>
              </a:rPr>
              <a:t>Shorter — but depends on where you are.</a:t>
            </a:r>
            <a:endParaRPr lang="en-US" sz="1150" dirty="0"/>
          </a:p>
        </p:txBody>
      </p:sp>
      <p:sp>
        <p:nvSpPr>
          <p:cNvPr id="29" name="Text 27"/>
          <p:cNvSpPr/>
          <p:nvPr/>
        </p:nvSpPr>
        <p:spPr>
          <a:xfrm>
            <a:off x="4800600" y="2121408"/>
            <a:ext cx="3803904" cy="201168"/>
          </a:xfrm>
          <a:prstGeom prst="rect">
            <a:avLst/>
          </a:prstGeom>
          <a:noFill/>
          <a:ln/>
        </p:spPr>
        <p:txBody>
          <a:bodyPr wrap="square" lIns="0" tIns="0" rIns="0" bIns="0" rtlCol="0" anchor="ctr"/>
          <a:lstStyle/>
          <a:p>
            <a:pPr marL="0" indent="0">
              <a:buNone/>
            </a:pPr>
            <a:r>
              <a:rPr lang="en-US" sz="850" dirty="0">
                <a:solidFill>
                  <a:srgbClr val="3D444D"/>
                </a:solidFill>
                <a:latin typeface="Consolas" pitchFamily="34" charset="0"/>
                <a:ea typeface="Consolas" pitchFamily="34" charset="-122"/>
                <a:cs typeface="Consolas" pitchFamily="34" charset="-120"/>
              </a:rPr>
              <a:t>Currently in  C:\Users\Ahmed\</a:t>
            </a:r>
            <a:endParaRPr lang="en-US" sz="850" dirty="0"/>
          </a:p>
        </p:txBody>
      </p:sp>
      <p:sp>
        <p:nvSpPr>
          <p:cNvPr id="30" name="Shape 28"/>
          <p:cNvSpPr/>
          <p:nvPr/>
        </p:nvSpPr>
        <p:spPr>
          <a:xfrm>
            <a:off x="4800600" y="2340864"/>
            <a:ext cx="3803904" cy="274320"/>
          </a:xfrm>
          <a:prstGeom prst="rect">
            <a:avLst/>
          </a:prstGeom>
          <a:solidFill>
            <a:srgbClr val="1C2333"/>
          </a:solidFill>
          <a:ln w="10160">
            <a:solidFill>
              <a:srgbClr val="FFA657"/>
            </a:solidFill>
            <a:prstDash val="solid"/>
          </a:ln>
        </p:spPr>
        <p:txBody>
          <a:bodyPr/>
          <a:lstStyle/>
          <a:p>
            <a:endParaRPr lang="en-US"/>
          </a:p>
        </p:txBody>
      </p:sp>
      <p:sp>
        <p:nvSpPr>
          <p:cNvPr id="31" name="Text 29"/>
          <p:cNvSpPr/>
          <p:nvPr/>
        </p:nvSpPr>
        <p:spPr>
          <a:xfrm>
            <a:off x="4910328" y="2377440"/>
            <a:ext cx="3657600" cy="201168"/>
          </a:xfrm>
          <a:prstGeom prst="rect">
            <a:avLst/>
          </a:prstGeom>
          <a:noFill/>
          <a:ln/>
        </p:spPr>
        <p:txBody>
          <a:bodyPr wrap="square" lIns="0" tIns="0" rIns="0" bIns="0" rtlCol="0" anchor="ctr"/>
          <a:lstStyle/>
          <a:p>
            <a:pPr marL="0" indent="0">
              <a:buNone/>
            </a:pPr>
            <a:r>
              <a:rPr lang="en-US" sz="1100" b="1" dirty="0">
                <a:solidFill>
                  <a:srgbClr val="FFA657"/>
                </a:solidFill>
                <a:latin typeface="Consolas" pitchFamily="34" charset="0"/>
                <a:ea typeface="Consolas" pitchFamily="34" charset="-122"/>
                <a:cs typeface="Consolas" pitchFamily="34" charset="-120"/>
              </a:rPr>
              <a:t>Documents\app.py</a:t>
            </a:r>
            <a:endParaRPr lang="en-US" sz="1100" dirty="0"/>
          </a:p>
        </p:txBody>
      </p:sp>
      <p:sp>
        <p:nvSpPr>
          <p:cNvPr id="32" name="Text 30"/>
          <p:cNvSpPr/>
          <p:nvPr/>
        </p:nvSpPr>
        <p:spPr>
          <a:xfrm>
            <a:off x="4800600" y="2779776"/>
            <a:ext cx="3803904" cy="201168"/>
          </a:xfrm>
          <a:prstGeom prst="rect">
            <a:avLst/>
          </a:prstGeom>
          <a:noFill/>
          <a:ln/>
        </p:spPr>
        <p:txBody>
          <a:bodyPr wrap="square" lIns="0" tIns="0" rIns="0" bIns="0" rtlCol="0" anchor="ctr"/>
          <a:lstStyle/>
          <a:p>
            <a:pPr marL="0" indent="0">
              <a:buNone/>
            </a:pPr>
            <a:r>
              <a:rPr lang="en-US" sz="850" dirty="0">
                <a:solidFill>
                  <a:srgbClr val="3D444D"/>
                </a:solidFill>
                <a:latin typeface="Consolas" pitchFamily="34" charset="0"/>
                <a:ea typeface="Consolas" pitchFamily="34" charset="-122"/>
                <a:cs typeface="Consolas" pitchFamily="34" charset="-120"/>
              </a:rPr>
              <a:t>Currently in  C:\Users\Ahmed\</a:t>
            </a:r>
            <a:endParaRPr lang="en-US" sz="850" dirty="0"/>
          </a:p>
        </p:txBody>
      </p:sp>
      <p:sp>
        <p:nvSpPr>
          <p:cNvPr id="33" name="Shape 31"/>
          <p:cNvSpPr/>
          <p:nvPr/>
        </p:nvSpPr>
        <p:spPr>
          <a:xfrm>
            <a:off x="4800600" y="2999232"/>
            <a:ext cx="3803904" cy="274320"/>
          </a:xfrm>
          <a:prstGeom prst="rect">
            <a:avLst/>
          </a:prstGeom>
          <a:solidFill>
            <a:srgbClr val="1C2333"/>
          </a:solidFill>
          <a:ln w="10160">
            <a:solidFill>
              <a:srgbClr val="FFA657"/>
            </a:solidFill>
            <a:prstDash val="solid"/>
          </a:ln>
        </p:spPr>
        <p:txBody>
          <a:bodyPr/>
          <a:lstStyle/>
          <a:p>
            <a:endParaRPr lang="en-US"/>
          </a:p>
        </p:txBody>
      </p:sp>
      <p:sp>
        <p:nvSpPr>
          <p:cNvPr id="34" name="Text 32"/>
          <p:cNvSpPr/>
          <p:nvPr/>
        </p:nvSpPr>
        <p:spPr>
          <a:xfrm>
            <a:off x="4910328" y="3035808"/>
            <a:ext cx="3657600" cy="201168"/>
          </a:xfrm>
          <a:prstGeom prst="rect">
            <a:avLst/>
          </a:prstGeom>
          <a:noFill/>
          <a:ln/>
        </p:spPr>
        <p:txBody>
          <a:bodyPr wrap="square" lIns="0" tIns="0" rIns="0" bIns="0" rtlCol="0" anchor="ctr"/>
          <a:lstStyle/>
          <a:p>
            <a:pPr marL="0" indent="0">
              <a:buNone/>
            </a:pPr>
            <a:r>
              <a:rPr lang="en-US" sz="1100" b="1" dirty="0">
                <a:solidFill>
                  <a:srgbClr val="FFA657"/>
                </a:solidFill>
                <a:latin typeface="Consolas" pitchFamily="34" charset="0"/>
                <a:ea typeface="Consolas" pitchFamily="34" charset="-122"/>
                <a:cs typeface="Consolas" pitchFamily="34" charset="-120"/>
              </a:rPr>
              <a:t>..\Bob\file.txt</a:t>
            </a:r>
            <a:endParaRPr lang="en-US" sz="1100" dirty="0"/>
          </a:p>
        </p:txBody>
      </p:sp>
      <p:sp>
        <p:nvSpPr>
          <p:cNvPr id="35" name="Text 33"/>
          <p:cNvSpPr/>
          <p:nvPr/>
        </p:nvSpPr>
        <p:spPr>
          <a:xfrm>
            <a:off x="4800600" y="3438144"/>
            <a:ext cx="3803904" cy="201168"/>
          </a:xfrm>
          <a:prstGeom prst="rect">
            <a:avLst/>
          </a:prstGeom>
          <a:noFill/>
          <a:ln/>
        </p:spPr>
        <p:txBody>
          <a:bodyPr wrap="square" lIns="0" tIns="0" rIns="0" bIns="0" rtlCol="0" anchor="ctr"/>
          <a:lstStyle/>
          <a:p>
            <a:pPr marL="0" indent="0">
              <a:buNone/>
            </a:pPr>
            <a:r>
              <a:rPr lang="en-US" sz="850" dirty="0">
                <a:solidFill>
                  <a:srgbClr val="3D444D"/>
                </a:solidFill>
                <a:latin typeface="Consolas" pitchFamily="34" charset="0"/>
                <a:ea typeface="Consolas" pitchFamily="34" charset="-122"/>
                <a:cs typeface="Consolas" pitchFamily="34" charset="-120"/>
              </a:rPr>
              <a:t>Currently in  /home/ahmed/projects/</a:t>
            </a:r>
            <a:endParaRPr lang="en-US" sz="850" dirty="0"/>
          </a:p>
        </p:txBody>
      </p:sp>
      <p:sp>
        <p:nvSpPr>
          <p:cNvPr id="36" name="Shape 34"/>
          <p:cNvSpPr/>
          <p:nvPr/>
        </p:nvSpPr>
        <p:spPr>
          <a:xfrm>
            <a:off x="4800600" y="3657600"/>
            <a:ext cx="3803904" cy="274320"/>
          </a:xfrm>
          <a:prstGeom prst="rect">
            <a:avLst/>
          </a:prstGeom>
          <a:solidFill>
            <a:srgbClr val="1C2333"/>
          </a:solidFill>
          <a:ln w="10160">
            <a:solidFill>
              <a:srgbClr val="FFA657"/>
            </a:solidFill>
            <a:prstDash val="solid"/>
          </a:ln>
        </p:spPr>
        <p:txBody>
          <a:bodyPr/>
          <a:lstStyle/>
          <a:p>
            <a:endParaRPr lang="en-US"/>
          </a:p>
        </p:txBody>
      </p:sp>
      <p:sp>
        <p:nvSpPr>
          <p:cNvPr id="37" name="Text 35"/>
          <p:cNvSpPr/>
          <p:nvPr/>
        </p:nvSpPr>
        <p:spPr>
          <a:xfrm>
            <a:off x="4910328" y="3694176"/>
            <a:ext cx="3657600" cy="201168"/>
          </a:xfrm>
          <a:prstGeom prst="rect">
            <a:avLst/>
          </a:prstGeom>
          <a:noFill/>
          <a:ln/>
        </p:spPr>
        <p:txBody>
          <a:bodyPr wrap="square" lIns="0" tIns="0" rIns="0" bIns="0" rtlCol="0" anchor="ctr"/>
          <a:lstStyle/>
          <a:p>
            <a:pPr marL="0" indent="0">
              <a:buNone/>
            </a:pPr>
            <a:r>
              <a:rPr lang="en-US" sz="1100" b="1" dirty="0">
                <a:solidFill>
                  <a:srgbClr val="FFA657"/>
                </a:solidFill>
                <a:latin typeface="Consolas" pitchFamily="34" charset="0"/>
                <a:ea typeface="Consolas" pitchFamily="34" charset="-122"/>
                <a:cs typeface="Consolas" pitchFamily="34" charset="-120"/>
              </a:rPr>
              <a:t>../utils/helper.py</a:t>
            </a:r>
            <a:endParaRPr lang="en-US" sz="1100" dirty="0"/>
          </a:p>
        </p:txBody>
      </p:sp>
      <p:sp>
        <p:nvSpPr>
          <p:cNvPr id="38" name="Shape 36"/>
          <p:cNvSpPr/>
          <p:nvPr/>
        </p:nvSpPr>
        <p:spPr>
          <a:xfrm>
            <a:off x="4800600" y="4041648"/>
            <a:ext cx="3803904" cy="347472"/>
          </a:xfrm>
          <a:prstGeom prst="rect">
            <a:avLst/>
          </a:prstGeom>
          <a:solidFill>
            <a:srgbClr val="1C2333"/>
          </a:solidFill>
          <a:ln w="10160">
            <a:solidFill>
              <a:srgbClr val="FFA657"/>
            </a:solidFill>
            <a:prstDash val="solid"/>
          </a:ln>
        </p:spPr>
        <p:txBody>
          <a:bodyPr/>
          <a:lstStyle/>
          <a:p>
            <a:endParaRPr lang="en-US"/>
          </a:p>
        </p:txBody>
      </p:sp>
      <p:sp>
        <p:nvSpPr>
          <p:cNvPr id="39" name="Text 37"/>
          <p:cNvSpPr/>
          <p:nvPr/>
        </p:nvSpPr>
        <p:spPr>
          <a:xfrm>
            <a:off x="4910328" y="4078224"/>
            <a:ext cx="3657600" cy="256032"/>
          </a:xfrm>
          <a:prstGeom prst="rect">
            <a:avLst/>
          </a:prstGeom>
          <a:noFill/>
          <a:ln/>
        </p:spPr>
        <p:txBody>
          <a:bodyPr wrap="square" lIns="0" tIns="0" rIns="0" bIns="0" rtlCol="0" anchor="ctr"/>
          <a:lstStyle/>
          <a:p>
            <a:pPr marL="0" indent="0">
              <a:buNone/>
            </a:pPr>
            <a:r>
              <a:rPr lang="en-US" sz="1000" b="1" dirty="0">
                <a:solidFill>
                  <a:srgbClr val="FFA657"/>
                </a:solidFill>
                <a:latin typeface="Calibri" pitchFamily="34" charset="0"/>
                <a:ea typeface="Calibri" pitchFamily="34" charset="-122"/>
                <a:cs typeface="Calibri" pitchFamily="34" charset="-120"/>
              </a:rPr>
              <a:t>✓ Use when:  </a:t>
            </a:r>
            <a:r>
              <a:rPr lang="en-US" sz="1000" dirty="0">
                <a:solidFill>
                  <a:srgbClr val="F0F6FC"/>
                </a:solidFill>
                <a:latin typeface="Calibri" pitchFamily="34" charset="0"/>
                <a:ea typeface="Calibri" pitchFamily="34" charset="-122"/>
                <a:cs typeface="Calibri" pitchFamily="34" charset="-120"/>
              </a:rPr>
              <a:t>code referencing files in the same project folder</a:t>
            </a:r>
            <a:endParaRPr lang="en-US" sz="1000" dirty="0"/>
          </a:p>
        </p:txBody>
      </p:sp>
      <p:sp>
        <p:nvSpPr>
          <p:cNvPr id="40" name="Shape 38"/>
          <p:cNvSpPr/>
          <p:nvPr/>
        </p:nvSpPr>
        <p:spPr>
          <a:xfrm>
            <a:off x="365760" y="4572000"/>
            <a:ext cx="8412480" cy="384048"/>
          </a:xfrm>
          <a:prstGeom prst="rect">
            <a:avLst/>
          </a:prstGeom>
          <a:solidFill>
            <a:srgbClr val="0A1020"/>
          </a:solidFill>
          <a:ln w="12700">
            <a:solidFill>
              <a:srgbClr val="E3B341"/>
            </a:solidFill>
            <a:prstDash val="solid"/>
          </a:ln>
        </p:spPr>
        <p:txBody>
          <a:bodyPr/>
          <a:lstStyle/>
          <a:p>
            <a:endParaRPr lang="en-US"/>
          </a:p>
        </p:txBody>
      </p:sp>
      <p:sp>
        <p:nvSpPr>
          <p:cNvPr id="41" name="Text 39"/>
          <p:cNvSpPr/>
          <p:nvPr/>
        </p:nvSpPr>
        <p:spPr>
          <a:xfrm>
            <a:off x="502920" y="4599432"/>
            <a:ext cx="8229600" cy="310896"/>
          </a:xfrm>
          <a:prstGeom prst="rect">
            <a:avLst/>
          </a:prstGeom>
          <a:noFill/>
          <a:ln/>
        </p:spPr>
        <p:txBody>
          <a:bodyPr wrap="square" lIns="0" tIns="0" rIns="0" bIns="0" rtlCol="0" anchor="ctr"/>
          <a:lstStyle/>
          <a:p>
            <a:pPr marL="0" indent="0">
              <a:buNone/>
            </a:pPr>
            <a:r>
              <a:rPr lang="en-US" sz="1100" b="1" dirty="0">
                <a:solidFill>
                  <a:srgbClr val="E3B341"/>
                </a:solidFill>
                <a:latin typeface="Calibri" pitchFamily="34" charset="0"/>
                <a:ea typeface="Calibri" pitchFamily="34" charset="-122"/>
                <a:cs typeface="Calibri" pitchFamily="34" charset="-120"/>
              </a:rPr>
              <a:t>Rule:  </a:t>
            </a:r>
            <a:r>
              <a:rPr lang="en-US" sz="1100" dirty="0">
                <a:solidFill>
                  <a:srgbClr val="F0F6FC"/>
                </a:solidFill>
                <a:latin typeface="Calibri" pitchFamily="34" charset="0"/>
                <a:ea typeface="Calibri" pitchFamily="34" charset="-122"/>
                <a:cs typeface="Calibri" pitchFamily="34" charset="-120"/>
              </a:rPr>
              <a:t>If a path starts with  C:\ or  /  → it is absolute.  If it starts with a name, . or ..  → it is relative to where you currently are.</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FILE PATHS</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Special Path Symbols</a:t>
            </a:r>
            <a:endParaRPr lang="en-US" sz="2800" dirty="0"/>
          </a:p>
        </p:txBody>
      </p:sp>
      <p:sp>
        <p:nvSpPr>
          <p:cNvPr id="6" name="Text 4"/>
          <p:cNvSpPr/>
          <p:nvPr/>
        </p:nvSpPr>
        <p:spPr>
          <a:xfrm>
            <a:off x="457200" y="877824"/>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Shortcuts that every developer uses constantly in the terminal</a:t>
            </a:r>
            <a:endParaRPr lang="en-US" sz="1300" dirty="0"/>
          </a:p>
        </p:txBody>
      </p:sp>
      <p:sp>
        <p:nvSpPr>
          <p:cNvPr id="7" name="Shape 5"/>
          <p:cNvSpPr/>
          <p:nvPr/>
        </p:nvSpPr>
        <p:spPr>
          <a:xfrm>
            <a:off x="411480" y="1170432"/>
            <a:ext cx="2048256" cy="3749040"/>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2048256"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9" name="Shape 7"/>
          <p:cNvSpPr/>
          <p:nvPr/>
        </p:nvSpPr>
        <p:spPr>
          <a:xfrm>
            <a:off x="1097280" y="1207008"/>
            <a:ext cx="640080" cy="640080"/>
          </a:xfrm>
          <a:prstGeom prst="ellipse">
            <a:avLst/>
          </a:prstGeom>
          <a:solidFill>
            <a:srgbClr val="3FD9C4">
              <a:alpha val="30000"/>
            </a:srgbClr>
          </a:solidFill>
          <a:ln w="19050">
            <a:solidFill>
              <a:srgbClr val="3FD9C4"/>
            </a:solidFill>
            <a:prstDash val="solid"/>
          </a:ln>
        </p:spPr>
        <p:txBody>
          <a:bodyPr/>
          <a:lstStyle/>
          <a:p>
            <a:endParaRPr lang="en-US"/>
          </a:p>
        </p:txBody>
      </p:sp>
      <p:sp>
        <p:nvSpPr>
          <p:cNvPr id="10" name="Text 8"/>
          <p:cNvSpPr/>
          <p:nvPr/>
        </p:nvSpPr>
        <p:spPr>
          <a:xfrm>
            <a:off x="1097280" y="1207008"/>
            <a:ext cx="640080" cy="640080"/>
          </a:xfrm>
          <a:prstGeom prst="rect">
            <a:avLst/>
          </a:prstGeom>
          <a:noFill/>
          <a:ln/>
        </p:spPr>
        <p:txBody>
          <a:bodyPr wrap="square" lIns="0" tIns="0" rIns="0" bIns="0" rtlCol="0" anchor="ctr"/>
          <a:lstStyle/>
          <a:p>
            <a:pPr marL="0" indent="0" algn="ctr">
              <a:buNone/>
            </a:pPr>
            <a:r>
              <a:rPr lang="en-US" sz="2000" b="1" dirty="0">
                <a:solidFill>
                  <a:srgbClr val="3FD9C4"/>
                </a:solidFill>
                <a:latin typeface="Consolas" pitchFamily="34" charset="0"/>
                <a:ea typeface="Consolas" pitchFamily="34" charset="-122"/>
                <a:cs typeface="Consolas" pitchFamily="34" charset="-120"/>
              </a:rPr>
              <a:t>.</a:t>
            </a:r>
            <a:endParaRPr lang="en-US" sz="2000" dirty="0"/>
          </a:p>
        </p:txBody>
      </p:sp>
      <p:sp>
        <p:nvSpPr>
          <p:cNvPr id="11" name="Text 9"/>
          <p:cNvSpPr/>
          <p:nvPr/>
        </p:nvSpPr>
        <p:spPr>
          <a:xfrm>
            <a:off x="502920" y="1938528"/>
            <a:ext cx="1865376" cy="329184"/>
          </a:xfrm>
          <a:prstGeom prst="rect">
            <a:avLst/>
          </a:prstGeom>
          <a:noFill/>
          <a:ln/>
        </p:spPr>
        <p:txBody>
          <a:bodyPr wrap="square" lIns="0" tIns="0" rIns="0" bIns="0" rtlCol="0" anchor="ctr"/>
          <a:lstStyle/>
          <a:p>
            <a:pPr marL="0" indent="0">
              <a:buNone/>
            </a:pPr>
            <a:r>
              <a:rPr lang="en-US" sz="1000" b="1" dirty="0">
                <a:solidFill>
                  <a:srgbClr val="3FD9C4"/>
                </a:solidFill>
                <a:latin typeface="Calibri" pitchFamily="34" charset="0"/>
                <a:ea typeface="Calibri" pitchFamily="34" charset="-122"/>
                <a:cs typeface="Calibri" pitchFamily="34" charset="-120"/>
              </a:rPr>
              <a:t>Current Directory</a:t>
            </a:r>
            <a:endParaRPr lang="en-US" sz="1000" dirty="0"/>
          </a:p>
        </p:txBody>
      </p:sp>
      <p:sp>
        <p:nvSpPr>
          <p:cNvPr id="12" name="Shape 10"/>
          <p:cNvSpPr/>
          <p:nvPr/>
        </p:nvSpPr>
        <p:spPr>
          <a:xfrm>
            <a:off x="502920" y="2304288"/>
            <a:ext cx="502920" cy="201168"/>
          </a:xfrm>
          <a:prstGeom prst="rect">
            <a:avLst/>
          </a:prstGeom>
          <a:solidFill>
            <a:srgbClr val="58A6FF">
              <a:alpha val="28000"/>
            </a:srgbClr>
          </a:solidFill>
          <a:ln w="10160">
            <a:solidFill>
              <a:srgbClr val="58A6FF"/>
            </a:solidFill>
            <a:prstDash val="solid"/>
          </a:ln>
        </p:spPr>
        <p:txBody>
          <a:bodyPr/>
          <a:lstStyle/>
          <a:p>
            <a:endParaRPr lang="en-US"/>
          </a:p>
        </p:txBody>
      </p:sp>
      <p:sp>
        <p:nvSpPr>
          <p:cNvPr id="13" name="Text 11"/>
          <p:cNvSpPr/>
          <p:nvPr/>
        </p:nvSpPr>
        <p:spPr>
          <a:xfrm>
            <a:off x="502920" y="2304288"/>
            <a:ext cx="502920" cy="201168"/>
          </a:xfrm>
          <a:prstGeom prst="rect">
            <a:avLst/>
          </a:prstGeom>
          <a:noFill/>
          <a:ln/>
        </p:spPr>
        <p:txBody>
          <a:bodyPr wrap="square" lIns="0" tIns="0" rIns="0" bIns="0" rtlCol="0" anchor="ctr"/>
          <a:lstStyle/>
          <a:p>
            <a:pPr marL="0" indent="0" algn="ctr">
              <a:buNone/>
            </a:pPr>
            <a:r>
              <a:rPr lang="en-US" sz="800" b="1" dirty="0">
                <a:solidFill>
                  <a:srgbClr val="58A6FF"/>
                </a:solidFill>
                <a:latin typeface="Calibri" pitchFamily="34" charset="0"/>
                <a:ea typeface="Calibri" pitchFamily="34" charset="-122"/>
                <a:cs typeface="Calibri" pitchFamily="34" charset="-120"/>
              </a:rPr>
              <a:t>WIN</a:t>
            </a:r>
            <a:endParaRPr lang="en-US" sz="800" dirty="0"/>
          </a:p>
        </p:txBody>
      </p:sp>
      <p:sp>
        <p:nvSpPr>
          <p:cNvPr id="14" name="Text 12"/>
          <p:cNvSpPr/>
          <p:nvPr/>
        </p:nvSpPr>
        <p:spPr>
          <a:xfrm>
            <a:off x="1051560" y="2322576"/>
            <a:ext cx="1316736" cy="182880"/>
          </a:xfrm>
          <a:prstGeom prst="rect">
            <a:avLst/>
          </a:prstGeom>
          <a:noFill/>
          <a:ln/>
        </p:spPr>
        <p:txBody>
          <a:bodyPr wrap="square" lIns="0" tIns="0" rIns="0" bIns="0" rtlCol="0" anchor="ctr"/>
          <a:lstStyle/>
          <a:p>
            <a:pPr marL="0" indent="0">
              <a:buNone/>
            </a:pPr>
            <a:r>
              <a:rPr lang="en-US" sz="900" dirty="0">
                <a:solidFill>
                  <a:srgbClr val="F0F6FC"/>
                </a:solidFill>
                <a:latin typeface="Consolas" pitchFamily="34" charset="0"/>
                <a:ea typeface="Consolas" pitchFamily="34" charset="-122"/>
                <a:cs typeface="Consolas" pitchFamily="34" charset="-120"/>
              </a:rPr>
              <a:t>cd .\src</a:t>
            </a:r>
            <a:endParaRPr lang="en-US" sz="900" dirty="0"/>
          </a:p>
        </p:txBody>
      </p:sp>
      <p:sp>
        <p:nvSpPr>
          <p:cNvPr id="15" name="Shape 13"/>
          <p:cNvSpPr/>
          <p:nvPr/>
        </p:nvSpPr>
        <p:spPr>
          <a:xfrm>
            <a:off x="502920" y="2542032"/>
            <a:ext cx="502920" cy="201168"/>
          </a:xfrm>
          <a:prstGeom prst="rect">
            <a:avLst/>
          </a:prstGeom>
          <a:solidFill>
            <a:srgbClr val="3FB950">
              <a:alpha val="28000"/>
            </a:srgbClr>
          </a:solidFill>
          <a:ln w="10160">
            <a:solidFill>
              <a:srgbClr val="3FB950"/>
            </a:solidFill>
            <a:prstDash val="solid"/>
          </a:ln>
        </p:spPr>
        <p:txBody>
          <a:bodyPr/>
          <a:lstStyle/>
          <a:p>
            <a:endParaRPr lang="en-US"/>
          </a:p>
        </p:txBody>
      </p:sp>
      <p:sp>
        <p:nvSpPr>
          <p:cNvPr id="16" name="Text 14"/>
          <p:cNvSpPr/>
          <p:nvPr/>
        </p:nvSpPr>
        <p:spPr>
          <a:xfrm>
            <a:off x="502920" y="2542032"/>
            <a:ext cx="502920" cy="201168"/>
          </a:xfrm>
          <a:prstGeom prst="rect">
            <a:avLst/>
          </a:prstGeom>
          <a:noFill/>
          <a:ln/>
        </p:spPr>
        <p:txBody>
          <a:bodyPr wrap="square" lIns="0" tIns="0" rIns="0" bIns="0" rtlCol="0" anchor="ctr"/>
          <a:lstStyle/>
          <a:p>
            <a:pPr marL="0" indent="0" algn="ctr">
              <a:buNone/>
            </a:pPr>
            <a:r>
              <a:rPr lang="en-US" sz="800" b="1" dirty="0">
                <a:solidFill>
                  <a:srgbClr val="3FB950"/>
                </a:solidFill>
                <a:latin typeface="Calibri" pitchFamily="34" charset="0"/>
                <a:ea typeface="Calibri" pitchFamily="34" charset="-122"/>
                <a:cs typeface="Calibri" pitchFamily="34" charset="-120"/>
              </a:rPr>
              <a:t>LINUX</a:t>
            </a:r>
            <a:endParaRPr lang="en-US" sz="800" dirty="0"/>
          </a:p>
        </p:txBody>
      </p:sp>
      <p:sp>
        <p:nvSpPr>
          <p:cNvPr id="17" name="Text 15"/>
          <p:cNvSpPr/>
          <p:nvPr/>
        </p:nvSpPr>
        <p:spPr>
          <a:xfrm>
            <a:off x="1051560" y="2560320"/>
            <a:ext cx="1316736" cy="182880"/>
          </a:xfrm>
          <a:prstGeom prst="rect">
            <a:avLst/>
          </a:prstGeom>
          <a:noFill/>
          <a:ln/>
        </p:spPr>
        <p:txBody>
          <a:bodyPr wrap="square" lIns="0" tIns="0" rIns="0" bIns="0" rtlCol="0" anchor="ctr"/>
          <a:lstStyle/>
          <a:p>
            <a:pPr marL="0" indent="0">
              <a:buNone/>
            </a:pPr>
            <a:r>
              <a:rPr lang="en-US" sz="900" dirty="0">
                <a:solidFill>
                  <a:srgbClr val="F0F6FC"/>
                </a:solidFill>
                <a:latin typeface="Consolas" pitchFamily="34" charset="0"/>
                <a:ea typeface="Consolas" pitchFamily="34" charset="-122"/>
                <a:cs typeface="Consolas" pitchFamily="34" charset="-120"/>
              </a:rPr>
              <a:t>cd ./src</a:t>
            </a:r>
            <a:endParaRPr lang="en-US" sz="900" dirty="0"/>
          </a:p>
        </p:txBody>
      </p:sp>
      <p:sp>
        <p:nvSpPr>
          <p:cNvPr id="18" name="Shape 16"/>
          <p:cNvSpPr/>
          <p:nvPr/>
        </p:nvSpPr>
        <p:spPr>
          <a:xfrm>
            <a:off x="502920" y="2798064"/>
            <a:ext cx="1865376" cy="0"/>
          </a:xfrm>
          <a:prstGeom prst="line">
            <a:avLst/>
          </a:prstGeom>
          <a:noFill/>
          <a:ln w="7620">
            <a:solidFill>
              <a:srgbClr val="3D444D"/>
            </a:solidFill>
            <a:prstDash val="solid"/>
          </a:ln>
        </p:spPr>
        <p:txBody>
          <a:bodyPr/>
          <a:lstStyle/>
          <a:p>
            <a:endParaRPr lang="en-US"/>
          </a:p>
        </p:txBody>
      </p:sp>
      <p:sp>
        <p:nvSpPr>
          <p:cNvPr id="19" name="Text 17"/>
          <p:cNvSpPr/>
          <p:nvPr/>
        </p:nvSpPr>
        <p:spPr>
          <a:xfrm>
            <a:off x="502920" y="2852928"/>
            <a:ext cx="1865376" cy="1097280"/>
          </a:xfrm>
          <a:prstGeom prst="rect">
            <a:avLst/>
          </a:prstGeom>
          <a:noFill/>
          <a:ln/>
        </p:spPr>
        <p:txBody>
          <a:bodyPr wrap="square" lIns="0" tIns="0" rIns="0" bIns="0" rtlCol="0" anchor="t"/>
          <a:lstStyle/>
          <a:p>
            <a:pPr marL="0" indent="0" algn="l">
              <a:buNone/>
            </a:pPr>
            <a:r>
              <a:rPr lang="en-US" sz="1000" dirty="0">
                <a:solidFill>
                  <a:srgbClr val="8B949E"/>
                </a:solidFill>
                <a:latin typeface="Calibri" pitchFamily="34" charset="0"/>
                <a:ea typeface="Calibri" pitchFamily="34" charset="-122"/>
                <a:cs typeface="Calibri" pitchFamily="34" charset="-120"/>
              </a:rPr>
              <a:t>Means 'right here where I am now'.</a:t>
            </a:r>
            <a:endParaRPr lang="en-US" sz="1000" dirty="0"/>
          </a:p>
          <a:p>
            <a:pPr marL="0" indent="0" algn="l">
              <a:buNone/>
            </a:pPr>
            <a:endParaRPr lang="en-US" sz="1000" dirty="0"/>
          </a:p>
          <a:p>
            <a:pPr marL="0" indent="0" algn="l">
              <a:buNone/>
            </a:pPr>
            <a:r>
              <a:rPr lang="en-US" sz="1000" dirty="0">
                <a:solidFill>
                  <a:srgbClr val="8B949E"/>
                </a:solidFill>
                <a:latin typeface="Calibri" pitchFamily="34" charset="0"/>
                <a:ea typeface="Calibri" pitchFamily="34" charset="-122"/>
                <a:cs typeface="Calibri" pitchFamily="34" charset="-120"/>
              </a:rPr>
              <a:t>Used to run scripts in the current folder:</a:t>
            </a:r>
            <a:endParaRPr lang="en-US" sz="1000" dirty="0"/>
          </a:p>
          <a:p>
            <a:pPr marL="0" indent="0" algn="l">
              <a:buNone/>
            </a:pPr>
            <a:r>
              <a:rPr lang="en-US" sz="1000" dirty="0">
                <a:solidFill>
                  <a:srgbClr val="8B949E"/>
                </a:solidFill>
                <a:latin typeface="Calibri" pitchFamily="34" charset="0"/>
                <a:ea typeface="Calibri" pitchFamily="34" charset="-122"/>
                <a:cs typeface="Calibri" pitchFamily="34" charset="-120"/>
              </a:rPr>
              <a:t>python ./app.py</a:t>
            </a:r>
            <a:endParaRPr lang="en-US" sz="1000" dirty="0"/>
          </a:p>
          <a:p>
            <a:pPr marL="0" indent="0" algn="l">
              <a:buNone/>
            </a:pPr>
            <a:endParaRPr lang="en-US" sz="1000" dirty="0"/>
          </a:p>
          <a:p>
            <a:pPr marL="0" indent="0" algn="l">
              <a:buNone/>
            </a:pPr>
            <a:r>
              <a:rPr lang="en-US" sz="1000" dirty="0">
                <a:solidFill>
                  <a:srgbClr val="8B949E"/>
                </a:solidFill>
                <a:latin typeface="Calibri" pitchFamily="34" charset="0"/>
                <a:ea typeface="Calibri" pitchFamily="34" charset="-122"/>
                <a:cs typeface="Calibri" pitchFamily="34" charset="-120"/>
              </a:rPr>
              <a:t>Also used in git add . to stage everything</a:t>
            </a:r>
            <a:endParaRPr lang="en-US" sz="1000" dirty="0"/>
          </a:p>
          <a:p>
            <a:pPr marL="0" indent="0" algn="l">
              <a:buNone/>
            </a:pPr>
            <a:r>
              <a:rPr lang="en-US" sz="1000" dirty="0">
                <a:solidFill>
                  <a:srgbClr val="8B949E"/>
                </a:solidFill>
                <a:latin typeface="Calibri" pitchFamily="34" charset="0"/>
                <a:ea typeface="Calibri" pitchFamily="34" charset="-122"/>
                <a:cs typeface="Calibri" pitchFamily="34" charset="-120"/>
              </a:rPr>
              <a:t>in the current directory.</a:t>
            </a:r>
            <a:endParaRPr lang="en-US" sz="1000" dirty="0"/>
          </a:p>
        </p:txBody>
      </p:sp>
      <p:sp>
        <p:nvSpPr>
          <p:cNvPr id="20" name="Shape 18"/>
          <p:cNvSpPr/>
          <p:nvPr/>
        </p:nvSpPr>
        <p:spPr>
          <a:xfrm>
            <a:off x="2587752" y="1170432"/>
            <a:ext cx="2048256" cy="3749040"/>
          </a:xfrm>
          <a:prstGeom prst="rect">
            <a:avLst/>
          </a:prstGeom>
          <a:solidFill>
            <a:srgbClr val="161B26"/>
          </a:solidFill>
          <a:ln w="15240">
            <a:solidFill>
              <a:srgbClr val="58A6FF"/>
            </a:solidFill>
            <a:prstDash val="solid"/>
          </a:ln>
          <a:effectLst>
            <a:outerShdw blurRad="177800" dist="38100" dir="8100000" algn="bl" rotWithShape="0">
              <a:srgbClr val="000000">
                <a:alpha val="35000"/>
              </a:srgbClr>
            </a:outerShdw>
          </a:effectLst>
        </p:spPr>
        <p:txBody>
          <a:bodyPr/>
          <a:lstStyle/>
          <a:p>
            <a:endParaRPr lang="en-US"/>
          </a:p>
        </p:txBody>
      </p:sp>
      <p:sp>
        <p:nvSpPr>
          <p:cNvPr id="21" name="Shape 19"/>
          <p:cNvSpPr/>
          <p:nvPr/>
        </p:nvSpPr>
        <p:spPr>
          <a:xfrm>
            <a:off x="2587752" y="1170432"/>
            <a:ext cx="2048256" cy="329184"/>
          </a:xfrm>
          <a:prstGeom prst="rect">
            <a:avLst/>
          </a:prstGeom>
          <a:solidFill>
            <a:srgbClr val="58A6FF">
              <a:alpha val="78000"/>
            </a:srgbClr>
          </a:solidFill>
          <a:ln w="12700">
            <a:solidFill>
              <a:srgbClr val="58A6FF"/>
            </a:solidFill>
            <a:prstDash val="solid"/>
          </a:ln>
        </p:spPr>
        <p:txBody>
          <a:bodyPr/>
          <a:lstStyle/>
          <a:p>
            <a:endParaRPr lang="en-US"/>
          </a:p>
        </p:txBody>
      </p:sp>
      <p:sp>
        <p:nvSpPr>
          <p:cNvPr id="22" name="Shape 20"/>
          <p:cNvSpPr/>
          <p:nvPr/>
        </p:nvSpPr>
        <p:spPr>
          <a:xfrm>
            <a:off x="3273552" y="1207008"/>
            <a:ext cx="640080" cy="640080"/>
          </a:xfrm>
          <a:prstGeom prst="ellipse">
            <a:avLst/>
          </a:prstGeom>
          <a:solidFill>
            <a:srgbClr val="58A6FF">
              <a:alpha val="30000"/>
            </a:srgbClr>
          </a:solidFill>
          <a:ln w="19050">
            <a:solidFill>
              <a:srgbClr val="58A6FF"/>
            </a:solidFill>
            <a:prstDash val="solid"/>
          </a:ln>
        </p:spPr>
        <p:txBody>
          <a:bodyPr/>
          <a:lstStyle/>
          <a:p>
            <a:endParaRPr lang="en-US"/>
          </a:p>
        </p:txBody>
      </p:sp>
      <p:sp>
        <p:nvSpPr>
          <p:cNvPr id="23" name="Text 21"/>
          <p:cNvSpPr/>
          <p:nvPr/>
        </p:nvSpPr>
        <p:spPr>
          <a:xfrm>
            <a:off x="3273552" y="1207008"/>
            <a:ext cx="640080" cy="640080"/>
          </a:xfrm>
          <a:prstGeom prst="rect">
            <a:avLst/>
          </a:prstGeom>
          <a:noFill/>
          <a:ln/>
        </p:spPr>
        <p:txBody>
          <a:bodyPr wrap="square" lIns="0" tIns="0" rIns="0" bIns="0" rtlCol="0" anchor="ctr"/>
          <a:lstStyle/>
          <a:p>
            <a:pPr marL="0" indent="0" algn="ctr">
              <a:buNone/>
            </a:pPr>
            <a:r>
              <a:rPr lang="en-US" sz="2000" b="1" dirty="0">
                <a:solidFill>
                  <a:srgbClr val="58A6FF"/>
                </a:solidFill>
                <a:latin typeface="Consolas" pitchFamily="34" charset="0"/>
                <a:ea typeface="Consolas" pitchFamily="34" charset="-122"/>
                <a:cs typeface="Consolas" pitchFamily="34" charset="-120"/>
              </a:rPr>
              <a:t>..</a:t>
            </a:r>
            <a:endParaRPr lang="en-US" sz="2000" dirty="0"/>
          </a:p>
        </p:txBody>
      </p:sp>
      <p:sp>
        <p:nvSpPr>
          <p:cNvPr id="24" name="Text 22"/>
          <p:cNvSpPr/>
          <p:nvPr/>
        </p:nvSpPr>
        <p:spPr>
          <a:xfrm>
            <a:off x="2679192" y="1938528"/>
            <a:ext cx="1865376" cy="329184"/>
          </a:xfrm>
          <a:prstGeom prst="rect">
            <a:avLst/>
          </a:prstGeom>
          <a:noFill/>
          <a:ln/>
        </p:spPr>
        <p:txBody>
          <a:bodyPr wrap="square" lIns="0" tIns="0" rIns="0" bIns="0" rtlCol="0" anchor="ctr"/>
          <a:lstStyle/>
          <a:p>
            <a:pPr marL="0" indent="0">
              <a:buNone/>
            </a:pPr>
            <a:r>
              <a:rPr lang="en-US" sz="1000" b="1" dirty="0">
                <a:solidFill>
                  <a:srgbClr val="58A6FF"/>
                </a:solidFill>
                <a:latin typeface="Calibri" pitchFamily="34" charset="0"/>
                <a:ea typeface="Calibri" pitchFamily="34" charset="-122"/>
                <a:cs typeface="Calibri" pitchFamily="34" charset="-120"/>
              </a:rPr>
              <a:t>Parent Directory (one level up)</a:t>
            </a:r>
            <a:endParaRPr lang="en-US" sz="1000" dirty="0"/>
          </a:p>
        </p:txBody>
      </p:sp>
      <p:sp>
        <p:nvSpPr>
          <p:cNvPr id="25" name="Shape 23"/>
          <p:cNvSpPr/>
          <p:nvPr/>
        </p:nvSpPr>
        <p:spPr>
          <a:xfrm>
            <a:off x="2679192" y="2304288"/>
            <a:ext cx="502920" cy="201168"/>
          </a:xfrm>
          <a:prstGeom prst="rect">
            <a:avLst/>
          </a:prstGeom>
          <a:solidFill>
            <a:srgbClr val="58A6FF">
              <a:alpha val="28000"/>
            </a:srgbClr>
          </a:solidFill>
          <a:ln w="10160">
            <a:solidFill>
              <a:srgbClr val="58A6FF"/>
            </a:solidFill>
            <a:prstDash val="solid"/>
          </a:ln>
        </p:spPr>
        <p:txBody>
          <a:bodyPr/>
          <a:lstStyle/>
          <a:p>
            <a:endParaRPr lang="en-US"/>
          </a:p>
        </p:txBody>
      </p:sp>
      <p:sp>
        <p:nvSpPr>
          <p:cNvPr id="26" name="Text 24"/>
          <p:cNvSpPr/>
          <p:nvPr/>
        </p:nvSpPr>
        <p:spPr>
          <a:xfrm>
            <a:off x="2679192" y="2304288"/>
            <a:ext cx="502920" cy="201168"/>
          </a:xfrm>
          <a:prstGeom prst="rect">
            <a:avLst/>
          </a:prstGeom>
          <a:noFill/>
          <a:ln/>
        </p:spPr>
        <p:txBody>
          <a:bodyPr wrap="square" lIns="0" tIns="0" rIns="0" bIns="0" rtlCol="0" anchor="ctr"/>
          <a:lstStyle/>
          <a:p>
            <a:pPr marL="0" indent="0" algn="ctr">
              <a:buNone/>
            </a:pPr>
            <a:r>
              <a:rPr lang="en-US" sz="800" b="1" dirty="0">
                <a:solidFill>
                  <a:srgbClr val="58A6FF"/>
                </a:solidFill>
                <a:latin typeface="Calibri" pitchFamily="34" charset="0"/>
                <a:ea typeface="Calibri" pitchFamily="34" charset="-122"/>
                <a:cs typeface="Calibri" pitchFamily="34" charset="-120"/>
              </a:rPr>
              <a:t>WIN</a:t>
            </a:r>
            <a:endParaRPr lang="en-US" sz="800" dirty="0"/>
          </a:p>
        </p:txBody>
      </p:sp>
      <p:sp>
        <p:nvSpPr>
          <p:cNvPr id="27" name="Text 25"/>
          <p:cNvSpPr/>
          <p:nvPr/>
        </p:nvSpPr>
        <p:spPr>
          <a:xfrm>
            <a:off x="3227832" y="2322576"/>
            <a:ext cx="1316736" cy="182880"/>
          </a:xfrm>
          <a:prstGeom prst="rect">
            <a:avLst/>
          </a:prstGeom>
          <a:noFill/>
          <a:ln/>
        </p:spPr>
        <p:txBody>
          <a:bodyPr wrap="square" lIns="0" tIns="0" rIns="0" bIns="0" rtlCol="0" anchor="ctr"/>
          <a:lstStyle/>
          <a:p>
            <a:pPr marL="0" indent="0">
              <a:buNone/>
            </a:pPr>
            <a:r>
              <a:rPr lang="en-US" sz="900" dirty="0">
                <a:solidFill>
                  <a:srgbClr val="F0F6FC"/>
                </a:solidFill>
                <a:latin typeface="Consolas" pitchFamily="34" charset="0"/>
                <a:ea typeface="Consolas" pitchFamily="34" charset="-122"/>
                <a:cs typeface="Consolas" pitchFamily="34" charset="-120"/>
              </a:rPr>
              <a:t>cd ..</a:t>
            </a:r>
            <a:endParaRPr lang="en-US" sz="900" dirty="0"/>
          </a:p>
        </p:txBody>
      </p:sp>
      <p:sp>
        <p:nvSpPr>
          <p:cNvPr id="28" name="Shape 26"/>
          <p:cNvSpPr/>
          <p:nvPr/>
        </p:nvSpPr>
        <p:spPr>
          <a:xfrm>
            <a:off x="2679192" y="2542032"/>
            <a:ext cx="502920" cy="201168"/>
          </a:xfrm>
          <a:prstGeom prst="rect">
            <a:avLst/>
          </a:prstGeom>
          <a:solidFill>
            <a:srgbClr val="3FB950">
              <a:alpha val="28000"/>
            </a:srgbClr>
          </a:solidFill>
          <a:ln w="10160">
            <a:solidFill>
              <a:srgbClr val="3FB950"/>
            </a:solidFill>
            <a:prstDash val="solid"/>
          </a:ln>
        </p:spPr>
        <p:txBody>
          <a:bodyPr/>
          <a:lstStyle/>
          <a:p>
            <a:endParaRPr lang="en-US"/>
          </a:p>
        </p:txBody>
      </p:sp>
      <p:sp>
        <p:nvSpPr>
          <p:cNvPr id="29" name="Text 27"/>
          <p:cNvSpPr/>
          <p:nvPr/>
        </p:nvSpPr>
        <p:spPr>
          <a:xfrm>
            <a:off x="2679192" y="2542032"/>
            <a:ext cx="502920" cy="201168"/>
          </a:xfrm>
          <a:prstGeom prst="rect">
            <a:avLst/>
          </a:prstGeom>
          <a:noFill/>
          <a:ln/>
        </p:spPr>
        <p:txBody>
          <a:bodyPr wrap="square" lIns="0" tIns="0" rIns="0" bIns="0" rtlCol="0" anchor="ctr"/>
          <a:lstStyle/>
          <a:p>
            <a:pPr marL="0" indent="0" algn="ctr">
              <a:buNone/>
            </a:pPr>
            <a:r>
              <a:rPr lang="en-US" sz="800" b="1" dirty="0">
                <a:solidFill>
                  <a:srgbClr val="3FB950"/>
                </a:solidFill>
                <a:latin typeface="Calibri" pitchFamily="34" charset="0"/>
                <a:ea typeface="Calibri" pitchFamily="34" charset="-122"/>
                <a:cs typeface="Calibri" pitchFamily="34" charset="-120"/>
              </a:rPr>
              <a:t>LINUX</a:t>
            </a:r>
            <a:endParaRPr lang="en-US" sz="800" dirty="0"/>
          </a:p>
        </p:txBody>
      </p:sp>
      <p:sp>
        <p:nvSpPr>
          <p:cNvPr id="30" name="Text 28"/>
          <p:cNvSpPr/>
          <p:nvPr/>
        </p:nvSpPr>
        <p:spPr>
          <a:xfrm>
            <a:off x="3227832" y="2560320"/>
            <a:ext cx="1316736" cy="182880"/>
          </a:xfrm>
          <a:prstGeom prst="rect">
            <a:avLst/>
          </a:prstGeom>
          <a:noFill/>
          <a:ln/>
        </p:spPr>
        <p:txBody>
          <a:bodyPr wrap="square" lIns="0" tIns="0" rIns="0" bIns="0" rtlCol="0" anchor="ctr"/>
          <a:lstStyle/>
          <a:p>
            <a:pPr marL="0" indent="0">
              <a:buNone/>
            </a:pPr>
            <a:r>
              <a:rPr lang="en-US" sz="900" dirty="0">
                <a:solidFill>
                  <a:srgbClr val="F0F6FC"/>
                </a:solidFill>
                <a:latin typeface="Consolas" pitchFamily="34" charset="0"/>
                <a:ea typeface="Consolas" pitchFamily="34" charset="-122"/>
                <a:cs typeface="Consolas" pitchFamily="34" charset="-120"/>
              </a:rPr>
              <a:t>cd ..</a:t>
            </a:r>
            <a:endParaRPr lang="en-US" sz="900" dirty="0"/>
          </a:p>
        </p:txBody>
      </p:sp>
      <p:sp>
        <p:nvSpPr>
          <p:cNvPr id="31" name="Shape 29"/>
          <p:cNvSpPr/>
          <p:nvPr/>
        </p:nvSpPr>
        <p:spPr>
          <a:xfrm>
            <a:off x="2679192" y="2798064"/>
            <a:ext cx="1865376" cy="0"/>
          </a:xfrm>
          <a:prstGeom prst="line">
            <a:avLst/>
          </a:prstGeom>
          <a:noFill/>
          <a:ln w="7620">
            <a:solidFill>
              <a:srgbClr val="3D444D"/>
            </a:solidFill>
            <a:prstDash val="solid"/>
          </a:ln>
        </p:spPr>
        <p:txBody>
          <a:bodyPr/>
          <a:lstStyle/>
          <a:p>
            <a:endParaRPr lang="en-US"/>
          </a:p>
        </p:txBody>
      </p:sp>
      <p:sp>
        <p:nvSpPr>
          <p:cNvPr id="32" name="Text 30"/>
          <p:cNvSpPr/>
          <p:nvPr/>
        </p:nvSpPr>
        <p:spPr>
          <a:xfrm>
            <a:off x="2679192" y="2852928"/>
            <a:ext cx="1865376" cy="1097280"/>
          </a:xfrm>
          <a:prstGeom prst="rect">
            <a:avLst/>
          </a:prstGeom>
          <a:noFill/>
          <a:ln/>
        </p:spPr>
        <p:txBody>
          <a:bodyPr wrap="square" lIns="0" tIns="0" rIns="0" bIns="0" rtlCol="0" anchor="t"/>
          <a:lstStyle/>
          <a:p>
            <a:pPr marL="0" indent="0" algn="l">
              <a:buNone/>
            </a:pPr>
            <a:r>
              <a:rPr lang="en-US" sz="1000" dirty="0">
                <a:solidFill>
                  <a:srgbClr val="8B949E"/>
                </a:solidFill>
                <a:latin typeface="Calibri" pitchFamily="34" charset="0"/>
                <a:ea typeface="Calibri" pitchFamily="34" charset="-122"/>
                <a:cs typeface="Calibri" pitchFamily="34" charset="-120"/>
              </a:rPr>
              <a:t>Moves one level up the directory tree.</a:t>
            </a:r>
            <a:endParaRPr lang="en-US" sz="1000" dirty="0"/>
          </a:p>
          <a:p>
            <a:pPr marL="0" indent="0" algn="l">
              <a:buNone/>
            </a:pPr>
            <a:endParaRPr lang="en-US" sz="1000" dirty="0"/>
          </a:p>
          <a:p>
            <a:pPr marL="0" indent="0" algn="l">
              <a:buNone/>
            </a:pPr>
            <a:r>
              <a:rPr lang="en-US" sz="1000" dirty="0">
                <a:solidFill>
                  <a:srgbClr val="8B949E"/>
                </a:solidFill>
                <a:latin typeface="Calibri" pitchFamily="34" charset="0"/>
                <a:ea typeface="Calibri" pitchFamily="34" charset="-122"/>
                <a:cs typeface="Calibri" pitchFamily="34" charset="-120"/>
              </a:rPr>
              <a:t>Stack them to go higher:</a:t>
            </a:r>
            <a:endParaRPr lang="en-US" sz="1000" dirty="0"/>
          </a:p>
          <a:p>
            <a:pPr marL="0" indent="0" algn="l">
              <a:buNone/>
            </a:pPr>
            <a:r>
              <a:rPr lang="en-US" sz="1000" dirty="0">
                <a:solidFill>
                  <a:srgbClr val="8B949E"/>
                </a:solidFill>
                <a:latin typeface="Calibri" pitchFamily="34" charset="0"/>
                <a:ea typeface="Calibri" pitchFamily="34" charset="-122"/>
                <a:cs typeface="Calibri" pitchFamily="34" charset="-120"/>
              </a:rPr>
              <a:t>..\..\  = two levels up</a:t>
            </a:r>
            <a:endParaRPr lang="en-US" sz="1000" dirty="0"/>
          </a:p>
          <a:p>
            <a:pPr marL="0" indent="0" algn="l">
              <a:buNone/>
            </a:pPr>
            <a:r>
              <a:rPr lang="en-US" sz="1000" dirty="0">
                <a:solidFill>
                  <a:srgbClr val="8B949E"/>
                </a:solidFill>
                <a:latin typeface="Calibri" pitchFamily="34" charset="0"/>
                <a:ea typeface="Calibri" pitchFamily="34" charset="-122"/>
                <a:cs typeface="Calibri" pitchFamily="34" charset="-120"/>
              </a:rPr>
              <a:t>../../   = two levels up (Linux)</a:t>
            </a:r>
            <a:endParaRPr lang="en-US" sz="1000" dirty="0"/>
          </a:p>
          <a:p>
            <a:pPr marL="0" indent="0" algn="l">
              <a:buNone/>
            </a:pPr>
            <a:endParaRPr lang="en-US" sz="1000" dirty="0"/>
          </a:p>
          <a:p>
            <a:pPr marL="0" indent="0" algn="l">
              <a:buNone/>
            </a:pPr>
            <a:r>
              <a:rPr lang="en-US" sz="1000" dirty="0">
                <a:solidFill>
                  <a:srgbClr val="8B949E"/>
                </a:solidFill>
                <a:latin typeface="Calibri" pitchFamily="34" charset="0"/>
                <a:ea typeface="Calibri" pitchFamily="34" charset="-122"/>
                <a:cs typeface="Calibri" pitchFamily="34" charset="-120"/>
              </a:rPr>
              <a:t>Same on both Windows and Linux.</a:t>
            </a:r>
            <a:endParaRPr lang="en-US" sz="1000" dirty="0"/>
          </a:p>
        </p:txBody>
      </p:sp>
      <p:sp>
        <p:nvSpPr>
          <p:cNvPr id="33" name="Shape 31"/>
          <p:cNvSpPr/>
          <p:nvPr/>
        </p:nvSpPr>
        <p:spPr>
          <a:xfrm>
            <a:off x="4764024" y="1170432"/>
            <a:ext cx="2048256" cy="3749040"/>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34" name="Shape 32"/>
          <p:cNvSpPr/>
          <p:nvPr/>
        </p:nvSpPr>
        <p:spPr>
          <a:xfrm>
            <a:off x="4764024" y="1170432"/>
            <a:ext cx="2048256"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35" name="Shape 33"/>
          <p:cNvSpPr/>
          <p:nvPr/>
        </p:nvSpPr>
        <p:spPr>
          <a:xfrm>
            <a:off x="5449824" y="1207008"/>
            <a:ext cx="640080" cy="640080"/>
          </a:xfrm>
          <a:prstGeom prst="ellipse">
            <a:avLst/>
          </a:prstGeom>
          <a:solidFill>
            <a:srgbClr val="BC8CFF">
              <a:alpha val="30000"/>
            </a:srgbClr>
          </a:solidFill>
          <a:ln w="19050">
            <a:solidFill>
              <a:srgbClr val="BC8CFF"/>
            </a:solidFill>
            <a:prstDash val="solid"/>
          </a:ln>
        </p:spPr>
        <p:txBody>
          <a:bodyPr/>
          <a:lstStyle/>
          <a:p>
            <a:endParaRPr lang="en-US"/>
          </a:p>
        </p:txBody>
      </p:sp>
      <p:sp>
        <p:nvSpPr>
          <p:cNvPr id="36" name="Text 34"/>
          <p:cNvSpPr/>
          <p:nvPr/>
        </p:nvSpPr>
        <p:spPr>
          <a:xfrm>
            <a:off x="5449824" y="1207008"/>
            <a:ext cx="640080" cy="640080"/>
          </a:xfrm>
          <a:prstGeom prst="rect">
            <a:avLst/>
          </a:prstGeom>
          <a:noFill/>
          <a:ln/>
        </p:spPr>
        <p:txBody>
          <a:bodyPr wrap="square" lIns="0" tIns="0" rIns="0" bIns="0" rtlCol="0" anchor="ctr"/>
          <a:lstStyle/>
          <a:p>
            <a:pPr marL="0" indent="0" algn="ctr">
              <a:buNone/>
            </a:pPr>
            <a:r>
              <a:rPr lang="en-US" sz="2000" b="1" dirty="0">
                <a:solidFill>
                  <a:srgbClr val="BC8CFF"/>
                </a:solidFill>
                <a:latin typeface="Consolas" pitchFamily="34" charset="0"/>
                <a:ea typeface="Consolas" pitchFamily="34" charset="-122"/>
                <a:cs typeface="Consolas" pitchFamily="34" charset="-120"/>
              </a:rPr>
              <a:t>~</a:t>
            </a:r>
            <a:endParaRPr lang="en-US" sz="2000" dirty="0"/>
          </a:p>
        </p:txBody>
      </p:sp>
      <p:sp>
        <p:nvSpPr>
          <p:cNvPr id="37" name="Text 35"/>
          <p:cNvSpPr/>
          <p:nvPr/>
        </p:nvSpPr>
        <p:spPr>
          <a:xfrm>
            <a:off x="4855464" y="1938528"/>
            <a:ext cx="1865376" cy="329184"/>
          </a:xfrm>
          <a:prstGeom prst="rect">
            <a:avLst/>
          </a:prstGeom>
          <a:noFill/>
          <a:ln/>
        </p:spPr>
        <p:txBody>
          <a:bodyPr wrap="square" lIns="0" tIns="0" rIns="0" bIns="0" rtlCol="0" anchor="ctr"/>
          <a:lstStyle/>
          <a:p>
            <a:pPr marL="0" indent="0">
              <a:buNone/>
            </a:pPr>
            <a:r>
              <a:rPr lang="en-US" sz="1000" b="1" dirty="0">
                <a:solidFill>
                  <a:srgbClr val="BC8CFF"/>
                </a:solidFill>
                <a:latin typeface="Calibri" pitchFamily="34" charset="0"/>
                <a:ea typeface="Calibri" pitchFamily="34" charset="-122"/>
                <a:cs typeface="Calibri" pitchFamily="34" charset="-120"/>
              </a:rPr>
              <a:t>Home Directory</a:t>
            </a:r>
            <a:endParaRPr lang="en-US" sz="1000" dirty="0"/>
          </a:p>
        </p:txBody>
      </p:sp>
      <p:sp>
        <p:nvSpPr>
          <p:cNvPr id="38" name="Shape 36"/>
          <p:cNvSpPr/>
          <p:nvPr/>
        </p:nvSpPr>
        <p:spPr>
          <a:xfrm>
            <a:off x="4855464" y="2304288"/>
            <a:ext cx="502920" cy="201168"/>
          </a:xfrm>
          <a:prstGeom prst="rect">
            <a:avLst/>
          </a:prstGeom>
          <a:solidFill>
            <a:srgbClr val="58A6FF">
              <a:alpha val="28000"/>
            </a:srgbClr>
          </a:solidFill>
          <a:ln w="10160">
            <a:solidFill>
              <a:srgbClr val="58A6FF"/>
            </a:solidFill>
            <a:prstDash val="solid"/>
          </a:ln>
        </p:spPr>
        <p:txBody>
          <a:bodyPr/>
          <a:lstStyle/>
          <a:p>
            <a:endParaRPr lang="en-US"/>
          </a:p>
        </p:txBody>
      </p:sp>
      <p:sp>
        <p:nvSpPr>
          <p:cNvPr id="39" name="Text 37"/>
          <p:cNvSpPr/>
          <p:nvPr/>
        </p:nvSpPr>
        <p:spPr>
          <a:xfrm>
            <a:off x="4855464" y="2304288"/>
            <a:ext cx="502920" cy="201168"/>
          </a:xfrm>
          <a:prstGeom prst="rect">
            <a:avLst/>
          </a:prstGeom>
          <a:noFill/>
          <a:ln/>
        </p:spPr>
        <p:txBody>
          <a:bodyPr wrap="square" lIns="0" tIns="0" rIns="0" bIns="0" rtlCol="0" anchor="ctr"/>
          <a:lstStyle/>
          <a:p>
            <a:pPr marL="0" indent="0" algn="ctr">
              <a:buNone/>
            </a:pPr>
            <a:r>
              <a:rPr lang="en-US" sz="800" b="1" dirty="0">
                <a:solidFill>
                  <a:srgbClr val="58A6FF"/>
                </a:solidFill>
                <a:latin typeface="Calibri" pitchFamily="34" charset="0"/>
                <a:ea typeface="Calibri" pitchFamily="34" charset="-122"/>
                <a:cs typeface="Calibri" pitchFamily="34" charset="-120"/>
              </a:rPr>
              <a:t>WIN</a:t>
            </a:r>
            <a:endParaRPr lang="en-US" sz="800" dirty="0"/>
          </a:p>
        </p:txBody>
      </p:sp>
      <p:sp>
        <p:nvSpPr>
          <p:cNvPr id="40" name="Text 38"/>
          <p:cNvSpPr/>
          <p:nvPr/>
        </p:nvSpPr>
        <p:spPr>
          <a:xfrm>
            <a:off x="5404104" y="2322576"/>
            <a:ext cx="1316736" cy="182880"/>
          </a:xfrm>
          <a:prstGeom prst="rect">
            <a:avLst/>
          </a:prstGeom>
          <a:noFill/>
          <a:ln/>
        </p:spPr>
        <p:txBody>
          <a:bodyPr wrap="square" lIns="0" tIns="0" rIns="0" bIns="0" rtlCol="0" anchor="ctr"/>
          <a:lstStyle/>
          <a:p>
            <a:pPr marL="0" indent="0">
              <a:buNone/>
            </a:pPr>
            <a:r>
              <a:rPr lang="en-US" sz="900" dirty="0">
                <a:solidFill>
                  <a:srgbClr val="F0F6FC"/>
                </a:solidFill>
                <a:latin typeface="Consolas" pitchFamily="34" charset="0"/>
                <a:ea typeface="Consolas" pitchFamily="34" charset="-122"/>
                <a:cs typeface="Consolas" pitchFamily="34" charset="-120"/>
              </a:rPr>
              <a:t>N/A on CMD</a:t>
            </a:r>
            <a:endParaRPr lang="en-US" sz="900" dirty="0"/>
          </a:p>
          <a:p>
            <a:pPr marL="0" indent="0">
              <a:buNone/>
            </a:pPr>
            <a:r>
              <a:rPr lang="en-US" sz="900" dirty="0">
                <a:solidFill>
                  <a:srgbClr val="F0F6FC"/>
                </a:solidFill>
                <a:latin typeface="Consolas" pitchFamily="34" charset="0"/>
                <a:ea typeface="Consolas" pitchFamily="34" charset="-122"/>
                <a:cs typeface="Consolas" pitchFamily="34" charset="-120"/>
              </a:rPr>
              <a:t>(use %USERPROFILE%)</a:t>
            </a:r>
            <a:endParaRPr lang="en-US" sz="900" dirty="0"/>
          </a:p>
        </p:txBody>
      </p:sp>
      <p:sp>
        <p:nvSpPr>
          <p:cNvPr id="41" name="Shape 39"/>
          <p:cNvSpPr/>
          <p:nvPr/>
        </p:nvSpPr>
        <p:spPr>
          <a:xfrm>
            <a:off x="4855464" y="2542032"/>
            <a:ext cx="502920" cy="201168"/>
          </a:xfrm>
          <a:prstGeom prst="rect">
            <a:avLst/>
          </a:prstGeom>
          <a:solidFill>
            <a:srgbClr val="3FB950">
              <a:alpha val="28000"/>
            </a:srgbClr>
          </a:solidFill>
          <a:ln w="10160">
            <a:solidFill>
              <a:srgbClr val="3FB950"/>
            </a:solidFill>
            <a:prstDash val="solid"/>
          </a:ln>
        </p:spPr>
        <p:txBody>
          <a:bodyPr/>
          <a:lstStyle/>
          <a:p>
            <a:endParaRPr lang="en-US"/>
          </a:p>
        </p:txBody>
      </p:sp>
      <p:sp>
        <p:nvSpPr>
          <p:cNvPr id="42" name="Text 40"/>
          <p:cNvSpPr/>
          <p:nvPr/>
        </p:nvSpPr>
        <p:spPr>
          <a:xfrm>
            <a:off x="4855464" y="2542032"/>
            <a:ext cx="502920" cy="201168"/>
          </a:xfrm>
          <a:prstGeom prst="rect">
            <a:avLst/>
          </a:prstGeom>
          <a:noFill/>
          <a:ln/>
        </p:spPr>
        <p:txBody>
          <a:bodyPr wrap="square" lIns="0" tIns="0" rIns="0" bIns="0" rtlCol="0" anchor="ctr"/>
          <a:lstStyle/>
          <a:p>
            <a:pPr marL="0" indent="0" algn="ctr">
              <a:buNone/>
            </a:pPr>
            <a:r>
              <a:rPr lang="en-US" sz="800" b="1" dirty="0">
                <a:solidFill>
                  <a:srgbClr val="3FB950"/>
                </a:solidFill>
                <a:latin typeface="Calibri" pitchFamily="34" charset="0"/>
                <a:ea typeface="Calibri" pitchFamily="34" charset="-122"/>
                <a:cs typeface="Calibri" pitchFamily="34" charset="-120"/>
              </a:rPr>
              <a:t>LINUX</a:t>
            </a:r>
            <a:endParaRPr lang="en-US" sz="800" dirty="0"/>
          </a:p>
        </p:txBody>
      </p:sp>
      <p:sp>
        <p:nvSpPr>
          <p:cNvPr id="43" name="Text 41"/>
          <p:cNvSpPr/>
          <p:nvPr/>
        </p:nvSpPr>
        <p:spPr>
          <a:xfrm>
            <a:off x="5404104" y="2560320"/>
            <a:ext cx="1316736" cy="182880"/>
          </a:xfrm>
          <a:prstGeom prst="rect">
            <a:avLst/>
          </a:prstGeom>
          <a:noFill/>
          <a:ln/>
        </p:spPr>
        <p:txBody>
          <a:bodyPr wrap="square" lIns="0" tIns="0" rIns="0" bIns="0" rtlCol="0" anchor="ctr"/>
          <a:lstStyle/>
          <a:p>
            <a:pPr marL="0" indent="0">
              <a:buNone/>
            </a:pPr>
            <a:r>
              <a:rPr lang="en-US" sz="900" dirty="0">
                <a:solidFill>
                  <a:srgbClr val="F0F6FC"/>
                </a:solidFill>
                <a:latin typeface="Consolas" pitchFamily="34" charset="0"/>
                <a:ea typeface="Consolas" pitchFamily="34" charset="-122"/>
                <a:cs typeface="Consolas" pitchFamily="34" charset="-120"/>
              </a:rPr>
              <a:t>cd ~/Documents</a:t>
            </a:r>
            <a:endParaRPr lang="en-US" sz="900" dirty="0"/>
          </a:p>
        </p:txBody>
      </p:sp>
      <p:sp>
        <p:nvSpPr>
          <p:cNvPr id="44" name="Shape 42"/>
          <p:cNvSpPr/>
          <p:nvPr/>
        </p:nvSpPr>
        <p:spPr>
          <a:xfrm>
            <a:off x="4855464" y="2798064"/>
            <a:ext cx="1865376" cy="0"/>
          </a:xfrm>
          <a:prstGeom prst="line">
            <a:avLst/>
          </a:prstGeom>
          <a:noFill/>
          <a:ln w="7620">
            <a:solidFill>
              <a:srgbClr val="3D444D"/>
            </a:solidFill>
            <a:prstDash val="solid"/>
          </a:ln>
        </p:spPr>
        <p:txBody>
          <a:bodyPr/>
          <a:lstStyle/>
          <a:p>
            <a:endParaRPr lang="en-US"/>
          </a:p>
        </p:txBody>
      </p:sp>
      <p:sp>
        <p:nvSpPr>
          <p:cNvPr id="45" name="Text 43"/>
          <p:cNvSpPr/>
          <p:nvPr/>
        </p:nvSpPr>
        <p:spPr>
          <a:xfrm>
            <a:off x="4855464" y="2852928"/>
            <a:ext cx="1865376" cy="1097280"/>
          </a:xfrm>
          <a:prstGeom prst="rect">
            <a:avLst/>
          </a:prstGeom>
          <a:noFill/>
          <a:ln/>
        </p:spPr>
        <p:txBody>
          <a:bodyPr wrap="square" lIns="0" tIns="0" rIns="0" bIns="0" rtlCol="0" anchor="t"/>
          <a:lstStyle/>
          <a:p>
            <a:pPr marL="0" indent="0" algn="l">
              <a:buNone/>
            </a:pPr>
            <a:r>
              <a:rPr lang="en-US" sz="1000" dirty="0">
                <a:solidFill>
                  <a:srgbClr val="8B949E"/>
                </a:solidFill>
                <a:latin typeface="Calibri" pitchFamily="34" charset="0"/>
                <a:ea typeface="Calibri" pitchFamily="34" charset="-122"/>
                <a:cs typeface="Calibri" pitchFamily="34" charset="-120"/>
              </a:rPr>
              <a:t>Expands to the current user's home</a:t>
            </a:r>
            <a:endParaRPr lang="en-US" sz="1000" dirty="0"/>
          </a:p>
          <a:p>
            <a:pPr marL="0" indent="0" algn="l">
              <a:buNone/>
            </a:pPr>
            <a:r>
              <a:rPr lang="en-US" sz="1000" dirty="0">
                <a:solidFill>
                  <a:srgbClr val="8B949E"/>
                </a:solidFill>
                <a:latin typeface="Calibri" pitchFamily="34" charset="0"/>
                <a:ea typeface="Calibri" pitchFamily="34" charset="-122"/>
                <a:cs typeface="Calibri" pitchFamily="34" charset="-120"/>
              </a:rPr>
              <a:t>directory. Only works in Linux/macOS</a:t>
            </a:r>
            <a:endParaRPr lang="en-US" sz="1000" dirty="0"/>
          </a:p>
          <a:p>
            <a:pPr marL="0" indent="0" algn="l">
              <a:buNone/>
            </a:pPr>
            <a:r>
              <a:rPr lang="en-US" sz="1000" dirty="0">
                <a:solidFill>
                  <a:srgbClr val="8B949E"/>
                </a:solidFill>
                <a:latin typeface="Calibri" pitchFamily="34" charset="0"/>
                <a:ea typeface="Calibri" pitchFamily="34" charset="-122"/>
                <a:cs typeface="Calibri" pitchFamily="34" charset="-120"/>
              </a:rPr>
              <a:t>and Git Bash on Windows.</a:t>
            </a:r>
            <a:endParaRPr lang="en-US" sz="1000" dirty="0"/>
          </a:p>
          <a:p>
            <a:pPr marL="0" indent="0" algn="l">
              <a:buNone/>
            </a:pPr>
            <a:endParaRPr lang="en-US" sz="1000" dirty="0"/>
          </a:p>
          <a:p>
            <a:pPr marL="0" indent="0" algn="l">
              <a:buNone/>
            </a:pPr>
            <a:r>
              <a:rPr lang="en-US" sz="1000" dirty="0">
                <a:solidFill>
                  <a:srgbClr val="8B949E"/>
                </a:solidFill>
                <a:latin typeface="Calibri" pitchFamily="34" charset="0"/>
                <a:ea typeface="Calibri" pitchFamily="34" charset="-122"/>
                <a:cs typeface="Calibri" pitchFamily="34" charset="-120"/>
              </a:rPr>
              <a:t>~  =  /home/ahmed</a:t>
            </a:r>
            <a:endParaRPr lang="en-US" sz="1000" dirty="0"/>
          </a:p>
          <a:p>
            <a:pPr marL="0" indent="0" algn="l">
              <a:buNone/>
            </a:pPr>
            <a:r>
              <a:rPr lang="en-US" sz="1000" dirty="0">
                <a:solidFill>
                  <a:srgbClr val="8B949E"/>
                </a:solidFill>
                <a:latin typeface="Calibri" pitchFamily="34" charset="0"/>
                <a:ea typeface="Calibri" pitchFamily="34" charset="-122"/>
                <a:cs typeface="Calibri" pitchFamily="34" charset="-120"/>
              </a:rPr>
              <a:t>~/docs  =  /home/ahmed/docs</a:t>
            </a:r>
            <a:endParaRPr lang="en-US" sz="1000" dirty="0"/>
          </a:p>
        </p:txBody>
      </p:sp>
      <p:sp>
        <p:nvSpPr>
          <p:cNvPr id="46" name="Shape 44"/>
          <p:cNvSpPr/>
          <p:nvPr/>
        </p:nvSpPr>
        <p:spPr>
          <a:xfrm>
            <a:off x="6940296" y="1170432"/>
            <a:ext cx="2048256" cy="3749040"/>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47" name="Shape 45"/>
          <p:cNvSpPr/>
          <p:nvPr/>
        </p:nvSpPr>
        <p:spPr>
          <a:xfrm>
            <a:off x="6940296" y="1170432"/>
            <a:ext cx="2048256"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48" name="Shape 46"/>
          <p:cNvSpPr/>
          <p:nvPr/>
        </p:nvSpPr>
        <p:spPr>
          <a:xfrm>
            <a:off x="7626096" y="1207008"/>
            <a:ext cx="640080" cy="640080"/>
          </a:xfrm>
          <a:prstGeom prst="ellipse">
            <a:avLst/>
          </a:prstGeom>
          <a:solidFill>
            <a:srgbClr val="FFA657">
              <a:alpha val="30000"/>
            </a:srgbClr>
          </a:solidFill>
          <a:ln w="19050">
            <a:solidFill>
              <a:srgbClr val="FFA657"/>
            </a:solidFill>
            <a:prstDash val="solid"/>
          </a:ln>
        </p:spPr>
        <p:txBody>
          <a:bodyPr/>
          <a:lstStyle/>
          <a:p>
            <a:endParaRPr lang="en-US"/>
          </a:p>
        </p:txBody>
      </p:sp>
      <p:sp>
        <p:nvSpPr>
          <p:cNvPr id="49" name="Text 47"/>
          <p:cNvSpPr/>
          <p:nvPr/>
        </p:nvSpPr>
        <p:spPr>
          <a:xfrm>
            <a:off x="7626096" y="1207008"/>
            <a:ext cx="640080" cy="640080"/>
          </a:xfrm>
          <a:prstGeom prst="rect">
            <a:avLst/>
          </a:prstGeom>
          <a:noFill/>
          <a:ln/>
        </p:spPr>
        <p:txBody>
          <a:bodyPr wrap="square" lIns="0" tIns="0" rIns="0" bIns="0" rtlCol="0" anchor="ctr"/>
          <a:lstStyle/>
          <a:p>
            <a:pPr marL="0" indent="0" algn="ctr">
              <a:buNone/>
            </a:pPr>
            <a:r>
              <a:rPr lang="en-US" sz="2000" b="1" dirty="0">
                <a:solidFill>
                  <a:srgbClr val="FFA657"/>
                </a:solidFill>
                <a:latin typeface="Consolas" pitchFamily="34" charset="0"/>
                <a:ea typeface="Consolas" pitchFamily="34" charset="-122"/>
                <a:cs typeface="Consolas" pitchFamily="34" charset="-120"/>
              </a:rPr>
              <a:t>/</a:t>
            </a:r>
            <a:endParaRPr lang="en-US" sz="2000" dirty="0"/>
          </a:p>
        </p:txBody>
      </p:sp>
      <p:sp>
        <p:nvSpPr>
          <p:cNvPr id="50" name="Text 48"/>
          <p:cNvSpPr/>
          <p:nvPr/>
        </p:nvSpPr>
        <p:spPr>
          <a:xfrm>
            <a:off x="7031736" y="1938528"/>
            <a:ext cx="1865376" cy="329184"/>
          </a:xfrm>
          <a:prstGeom prst="rect">
            <a:avLst/>
          </a:prstGeom>
          <a:noFill/>
          <a:ln/>
        </p:spPr>
        <p:txBody>
          <a:bodyPr wrap="square" lIns="0" tIns="0" rIns="0" bIns="0" rtlCol="0" anchor="ctr"/>
          <a:lstStyle/>
          <a:p>
            <a:pPr marL="0" indent="0">
              <a:buNone/>
            </a:pPr>
            <a:r>
              <a:rPr lang="en-US" sz="1000" b="1" dirty="0">
                <a:solidFill>
                  <a:srgbClr val="FFA657"/>
                </a:solidFill>
                <a:latin typeface="Calibri" pitchFamily="34" charset="0"/>
                <a:ea typeface="Calibri" pitchFamily="34" charset="-122"/>
                <a:cs typeface="Calibri" pitchFamily="34" charset="-120"/>
              </a:rPr>
              <a:t>Root Directory (Linux) / Separator</a:t>
            </a:r>
            <a:endParaRPr lang="en-US" sz="1000" dirty="0"/>
          </a:p>
        </p:txBody>
      </p:sp>
      <p:sp>
        <p:nvSpPr>
          <p:cNvPr id="51" name="Shape 49"/>
          <p:cNvSpPr/>
          <p:nvPr/>
        </p:nvSpPr>
        <p:spPr>
          <a:xfrm>
            <a:off x="7031736" y="2304288"/>
            <a:ext cx="502920" cy="201168"/>
          </a:xfrm>
          <a:prstGeom prst="rect">
            <a:avLst/>
          </a:prstGeom>
          <a:solidFill>
            <a:srgbClr val="58A6FF">
              <a:alpha val="28000"/>
            </a:srgbClr>
          </a:solidFill>
          <a:ln w="10160">
            <a:solidFill>
              <a:srgbClr val="58A6FF"/>
            </a:solidFill>
            <a:prstDash val="solid"/>
          </a:ln>
        </p:spPr>
        <p:txBody>
          <a:bodyPr/>
          <a:lstStyle/>
          <a:p>
            <a:endParaRPr lang="en-US"/>
          </a:p>
        </p:txBody>
      </p:sp>
      <p:sp>
        <p:nvSpPr>
          <p:cNvPr id="52" name="Text 50"/>
          <p:cNvSpPr/>
          <p:nvPr/>
        </p:nvSpPr>
        <p:spPr>
          <a:xfrm>
            <a:off x="7031736" y="2304288"/>
            <a:ext cx="502920" cy="201168"/>
          </a:xfrm>
          <a:prstGeom prst="rect">
            <a:avLst/>
          </a:prstGeom>
          <a:noFill/>
          <a:ln/>
        </p:spPr>
        <p:txBody>
          <a:bodyPr wrap="square" lIns="0" tIns="0" rIns="0" bIns="0" rtlCol="0" anchor="ctr"/>
          <a:lstStyle/>
          <a:p>
            <a:pPr marL="0" indent="0" algn="ctr">
              <a:buNone/>
            </a:pPr>
            <a:r>
              <a:rPr lang="en-US" sz="800" b="1" dirty="0">
                <a:solidFill>
                  <a:srgbClr val="58A6FF"/>
                </a:solidFill>
                <a:latin typeface="Calibri" pitchFamily="34" charset="0"/>
                <a:ea typeface="Calibri" pitchFamily="34" charset="-122"/>
                <a:cs typeface="Calibri" pitchFamily="34" charset="-120"/>
              </a:rPr>
              <a:t>WIN</a:t>
            </a:r>
            <a:endParaRPr lang="en-US" sz="800" dirty="0"/>
          </a:p>
        </p:txBody>
      </p:sp>
      <p:sp>
        <p:nvSpPr>
          <p:cNvPr id="53" name="Text 51"/>
          <p:cNvSpPr/>
          <p:nvPr/>
        </p:nvSpPr>
        <p:spPr>
          <a:xfrm>
            <a:off x="7580376" y="2322576"/>
            <a:ext cx="1316736" cy="182880"/>
          </a:xfrm>
          <a:prstGeom prst="rect">
            <a:avLst/>
          </a:prstGeom>
          <a:noFill/>
          <a:ln/>
        </p:spPr>
        <p:txBody>
          <a:bodyPr wrap="square" lIns="0" tIns="0" rIns="0" bIns="0" rtlCol="0" anchor="ctr"/>
          <a:lstStyle/>
          <a:p>
            <a:pPr marL="0" indent="0">
              <a:buNone/>
            </a:pPr>
            <a:r>
              <a:rPr lang="en-US" sz="900" dirty="0">
                <a:solidFill>
                  <a:srgbClr val="F0F6FC"/>
                </a:solidFill>
                <a:latin typeface="Consolas" pitchFamily="34" charset="0"/>
                <a:ea typeface="Consolas" pitchFamily="34" charset="-122"/>
                <a:cs typeface="Consolas" pitchFamily="34" charset="-120"/>
              </a:rPr>
              <a:t>C:\  (use backslash \)</a:t>
            </a:r>
            <a:endParaRPr lang="en-US" sz="900" dirty="0"/>
          </a:p>
        </p:txBody>
      </p:sp>
      <p:sp>
        <p:nvSpPr>
          <p:cNvPr id="54" name="Shape 52"/>
          <p:cNvSpPr/>
          <p:nvPr/>
        </p:nvSpPr>
        <p:spPr>
          <a:xfrm>
            <a:off x="7031736" y="2542032"/>
            <a:ext cx="502920" cy="201168"/>
          </a:xfrm>
          <a:prstGeom prst="rect">
            <a:avLst/>
          </a:prstGeom>
          <a:solidFill>
            <a:srgbClr val="3FB950">
              <a:alpha val="28000"/>
            </a:srgbClr>
          </a:solidFill>
          <a:ln w="10160">
            <a:solidFill>
              <a:srgbClr val="3FB950"/>
            </a:solidFill>
            <a:prstDash val="solid"/>
          </a:ln>
        </p:spPr>
        <p:txBody>
          <a:bodyPr/>
          <a:lstStyle/>
          <a:p>
            <a:endParaRPr lang="en-US"/>
          </a:p>
        </p:txBody>
      </p:sp>
      <p:sp>
        <p:nvSpPr>
          <p:cNvPr id="55" name="Text 53"/>
          <p:cNvSpPr/>
          <p:nvPr/>
        </p:nvSpPr>
        <p:spPr>
          <a:xfrm>
            <a:off x="7031736" y="2542032"/>
            <a:ext cx="502920" cy="201168"/>
          </a:xfrm>
          <a:prstGeom prst="rect">
            <a:avLst/>
          </a:prstGeom>
          <a:noFill/>
          <a:ln/>
        </p:spPr>
        <p:txBody>
          <a:bodyPr wrap="square" lIns="0" tIns="0" rIns="0" bIns="0" rtlCol="0" anchor="ctr"/>
          <a:lstStyle/>
          <a:p>
            <a:pPr marL="0" indent="0" algn="ctr">
              <a:buNone/>
            </a:pPr>
            <a:r>
              <a:rPr lang="en-US" sz="800" b="1" dirty="0">
                <a:solidFill>
                  <a:srgbClr val="3FB950"/>
                </a:solidFill>
                <a:latin typeface="Calibri" pitchFamily="34" charset="0"/>
                <a:ea typeface="Calibri" pitchFamily="34" charset="-122"/>
                <a:cs typeface="Calibri" pitchFamily="34" charset="-120"/>
              </a:rPr>
              <a:t>LINUX</a:t>
            </a:r>
            <a:endParaRPr lang="en-US" sz="800" dirty="0"/>
          </a:p>
        </p:txBody>
      </p:sp>
      <p:sp>
        <p:nvSpPr>
          <p:cNvPr id="56" name="Text 54"/>
          <p:cNvSpPr/>
          <p:nvPr/>
        </p:nvSpPr>
        <p:spPr>
          <a:xfrm>
            <a:off x="7580376" y="2560320"/>
            <a:ext cx="1316736" cy="182880"/>
          </a:xfrm>
          <a:prstGeom prst="rect">
            <a:avLst/>
          </a:prstGeom>
          <a:noFill/>
          <a:ln/>
        </p:spPr>
        <p:txBody>
          <a:bodyPr wrap="square" lIns="0" tIns="0" rIns="0" bIns="0" rtlCol="0" anchor="ctr"/>
          <a:lstStyle/>
          <a:p>
            <a:pPr marL="0" indent="0">
              <a:buNone/>
            </a:pPr>
            <a:r>
              <a:rPr lang="en-US" sz="900" dirty="0">
                <a:solidFill>
                  <a:srgbClr val="F0F6FC"/>
                </a:solidFill>
                <a:latin typeface="Consolas" pitchFamily="34" charset="0"/>
                <a:ea typeface="Consolas" pitchFamily="34" charset="-122"/>
                <a:cs typeface="Consolas" pitchFamily="34" charset="-120"/>
              </a:rPr>
              <a:t>cd /  or  /etc/hosts</a:t>
            </a:r>
            <a:endParaRPr lang="en-US" sz="900" dirty="0"/>
          </a:p>
        </p:txBody>
      </p:sp>
      <p:sp>
        <p:nvSpPr>
          <p:cNvPr id="57" name="Shape 55"/>
          <p:cNvSpPr/>
          <p:nvPr/>
        </p:nvSpPr>
        <p:spPr>
          <a:xfrm>
            <a:off x="7031736" y="2798064"/>
            <a:ext cx="1865376" cy="0"/>
          </a:xfrm>
          <a:prstGeom prst="line">
            <a:avLst/>
          </a:prstGeom>
          <a:noFill/>
          <a:ln w="7620">
            <a:solidFill>
              <a:srgbClr val="3D444D"/>
            </a:solidFill>
            <a:prstDash val="solid"/>
          </a:ln>
        </p:spPr>
        <p:txBody>
          <a:bodyPr/>
          <a:lstStyle/>
          <a:p>
            <a:endParaRPr lang="en-US"/>
          </a:p>
        </p:txBody>
      </p:sp>
      <p:sp>
        <p:nvSpPr>
          <p:cNvPr id="58" name="Text 56"/>
          <p:cNvSpPr/>
          <p:nvPr/>
        </p:nvSpPr>
        <p:spPr>
          <a:xfrm>
            <a:off x="7031736" y="2852928"/>
            <a:ext cx="1865376" cy="1097280"/>
          </a:xfrm>
          <a:prstGeom prst="rect">
            <a:avLst/>
          </a:prstGeom>
          <a:noFill/>
          <a:ln/>
        </p:spPr>
        <p:txBody>
          <a:bodyPr wrap="square" lIns="0" tIns="0" rIns="0" bIns="0" rtlCol="0" anchor="t"/>
          <a:lstStyle/>
          <a:p>
            <a:pPr marL="0" indent="0" algn="l">
              <a:buNone/>
            </a:pPr>
            <a:r>
              <a:rPr lang="en-US" sz="1000" dirty="0">
                <a:solidFill>
                  <a:srgbClr val="8B949E"/>
                </a:solidFill>
                <a:latin typeface="Calibri" pitchFamily="34" charset="0"/>
                <a:ea typeface="Calibri" pitchFamily="34" charset="-122"/>
                <a:cs typeface="Calibri" pitchFamily="34" charset="-120"/>
              </a:rPr>
              <a:t>On Linux/macOS: the very top</a:t>
            </a:r>
            <a:endParaRPr lang="en-US" sz="1000" dirty="0"/>
          </a:p>
          <a:p>
            <a:pPr marL="0" indent="0" algn="l">
              <a:buNone/>
            </a:pPr>
            <a:r>
              <a:rPr lang="en-US" sz="1000" dirty="0">
                <a:solidFill>
                  <a:srgbClr val="8B949E"/>
                </a:solidFill>
                <a:latin typeface="Calibri" pitchFamily="34" charset="0"/>
                <a:ea typeface="Calibri" pitchFamily="34" charset="-122"/>
                <a:cs typeface="Calibri" pitchFamily="34" charset="-120"/>
              </a:rPr>
              <a:t>of the entire file system.</a:t>
            </a:r>
            <a:endParaRPr lang="en-US" sz="1000" dirty="0"/>
          </a:p>
          <a:p>
            <a:pPr marL="0" indent="0" algn="l">
              <a:buNone/>
            </a:pPr>
            <a:r>
              <a:rPr lang="en-US" sz="1000" dirty="0">
                <a:solidFill>
                  <a:srgbClr val="8B949E"/>
                </a:solidFill>
                <a:latin typeface="Calibri" pitchFamily="34" charset="0"/>
                <a:ea typeface="Calibri" pitchFamily="34" charset="-122"/>
                <a:cs typeface="Calibri" pitchFamily="34" charset="-120"/>
              </a:rPr>
              <a:t>All files are under  /</a:t>
            </a:r>
            <a:endParaRPr lang="en-US" sz="1000" dirty="0"/>
          </a:p>
          <a:p>
            <a:pPr marL="0" indent="0" algn="l">
              <a:buNone/>
            </a:pPr>
            <a:endParaRPr lang="en-US" sz="1000" dirty="0"/>
          </a:p>
          <a:p>
            <a:pPr marL="0" indent="0" algn="l">
              <a:buNone/>
            </a:pPr>
            <a:r>
              <a:rPr lang="en-US" sz="1000" dirty="0">
                <a:solidFill>
                  <a:srgbClr val="8B949E"/>
                </a:solidFill>
                <a:latin typeface="Calibri" pitchFamily="34" charset="0"/>
                <a:ea typeface="Calibri" pitchFamily="34" charset="-122"/>
                <a:cs typeface="Calibri" pitchFamily="34" charset="-120"/>
              </a:rPr>
              <a:t>Also the path separator character</a:t>
            </a:r>
            <a:endParaRPr lang="en-US" sz="1000" dirty="0"/>
          </a:p>
          <a:p>
            <a:pPr marL="0" indent="0" algn="l">
              <a:buNone/>
            </a:pPr>
            <a:r>
              <a:rPr lang="en-US" sz="1000" dirty="0">
                <a:solidFill>
                  <a:srgbClr val="8B949E"/>
                </a:solidFill>
                <a:latin typeface="Calibri" pitchFamily="34" charset="0"/>
                <a:ea typeface="Calibri" pitchFamily="34" charset="-122"/>
                <a:cs typeface="Calibri" pitchFamily="34" charset="-120"/>
              </a:rPr>
              <a:t>in Linux/macOS paths.</a:t>
            </a:r>
            <a:endParaRPr lang="en-US" sz="1000" dirty="0"/>
          </a:p>
        </p:txBody>
      </p:sp>
      <p:sp>
        <p:nvSpPr>
          <p:cNvPr id="59" name="Shape 57"/>
          <p:cNvSpPr/>
          <p:nvPr/>
        </p:nvSpPr>
        <p:spPr>
          <a:xfrm>
            <a:off x="365760" y="4572000"/>
            <a:ext cx="8412480" cy="384048"/>
          </a:xfrm>
          <a:prstGeom prst="rect">
            <a:avLst/>
          </a:prstGeom>
          <a:solidFill>
            <a:srgbClr val="0A1020"/>
          </a:solidFill>
          <a:ln w="12700">
            <a:solidFill>
              <a:srgbClr val="BC8CFF"/>
            </a:solidFill>
            <a:prstDash val="solid"/>
          </a:ln>
        </p:spPr>
        <p:txBody>
          <a:bodyPr/>
          <a:lstStyle/>
          <a:p>
            <a:endParaRPr lang="en-US"/>
          </a:p>
        </p:txBody>
      </p:sp>
      <p:sp>
        <p:nvSpPr>
          <p:cNvPr id="60" name="Text 58"/>
          <p:cNvSpPr/>
          <p:nvPr/>
        </p:nvSpPr>
        <p:spPr>
          <a:xfrm>
            <a:off x="502920" y="4599432"/>
            <a:ext cx="8229600" cy="310896"/>
          </a:xfrm>
          <a:prstGeom prst="rect">
            <a:avLst/>
          </a:prstGeom>
          <a:noFill/>
          <a:ln/>
        </p:spPr>
        <p:txBody>
          <a:bodyPr wrap="square" lIns="0" tIns="0" rIns="0" bIns="0" rtlCol="0" anchor="ctr"/>
          <a:lstStyle/>
          <a:p>
            <a:pPr marL="0" indent="0">
              <a:buNone/>
            </a:pPr>
            <a:r>
              <a:rPr lang="en-US" sz="1100" b="1" dirty="0">
                <a:solidFill>
                  <a:srgbClr val="BC8CFF"/>
                </a:solidFill>
                <a:latin typeface="Calibri" pitchFamily="34" charset="0"/>
                <a:ea typeface="Calibri" pitchFamily="34" charset="-122"/>
                <a:cs typeface="Calibri" pitchFamily="34" charset="-120"/>
              </a:rPr>
              <a:t>Tab auto-complete:  </a:t>
            </a:r>
            <a:r>
              <a:rPr lang="en-US" sz="1100" dirty="0">
                <a:solidFill>
                  <a:srgbClr val="F0F6FC"/>
                </a:solidFill>
                <a:latin typeface="Calibri" pitchFamily="34" charset="0"/>
                <a:ea typeface="Calibri" pitchFamily="34" charset="-122"/>
                <a:cs typeface="Calibri" pitchFamily="34" charset="-120"/>
              </a:rPr>
              <a:t>In any terminal, start typing a path and press Tab. The OS will complete the filename for you. Press Tab twice to see all matching options. Works on Windows, Linux, macOS.</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FILE PATHS</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Windows vs Linux Path Differences</a:t>
            </a:r>
            <a:endParaRPr lang="en-US" sz="2800" dirty="0"/>
          </a:p>
        </p:txBody>
      </p:sp>
      <p:sp>
        <p:nvSpPr>
          <p:cNvPr id="6" name="Text 4"/>
          <p:cNvSpPr/>
          <p:nvPr/>
        </p:nvSpPr>
        <p:spPr>
          <a:xfrm>
            <a:off x="457200" y="877824"/>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Know both — you will use both as a developer</a:t>
            </a:r>
            <a:endParaRPr lang="en-US" sz="1300" dirty="0"/>
          </a:p>
        </p:txBody>
      </p:sp>
      <p:sp>
        <p:nvSpPr>
          <p:cNvPr id="7" name="Shape 5"/>
          <p:cNvSpPr/>
          <p:nvPr/>
        </p:nvSpPr>
        <p:spPr>
          <a:xfrm>
            <a:off x="411480" y="1170432"/>
            <a:ext cx="8321040" cy="3291840"/>
          </a:xfrm>
          <a:prstGeom prst="rect">
            <a:avLst/>
          </a:prstGeom>
          <a:solidFill>
            <a:srgbClr val="161B26"/>
          </a:solidFill>
          <a:ln w="15240">
            <a:solidFill>
              <a:srgbClr val="30363D"/>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8321040" cy="329184"/>
          </a:xfrm>
          <a:prstGeom prst="rect">
            <a:avLst/>
          </a:prstGeom>
          <a:solidFill>
            <a:srgbClr val="3D444D">
              <a:alpha val="78000"/>
            </a:srgbClr>
          </a:solidFill>
          <a:ln w="12700">
            <a:solidFill>
              <a:srgbClr val="3D444D"/>
            </a:solidFill>
            <a:prstDash val="solid"/>
          </a:ln>
        </p:spPr>
        <p:txBody>
          <a:bodyPr/>
          <a:lstStyle/>
          <a:p>
            <a:endParaRPr lang="en-US"/>
          </a:p>
        </p:txBody>
      </p:sp>
      <p:sp>
        <p:nvSpPr>
          <p:cNvPr id="9" name="Shape 7"/>
          <p:cNvSpPr/>
          <p:nvPr/>
        </p:nvSpPr>
        <p:spPr>
          <a:xfrm>
            <a:off x="411480" y="1170432"/>
            <a:ext cx="2011680" cy="329184"/>
          </a:xfrm>
          <a:prstGeom prst="rect">
            <a:avLst/>
          </a:prstGeom>
          <a:solidFill>
            <a:srgbClr val="3D444D">
              <a:alpha val="60000"/>
            </a:srgbClr>
          </a:solidFill>
          <a:ln w="12700">
            <a:solidFill>
              <a:srgbClr val="3D444D"/>
            </a:solidFill>
            <a:prstDash val="solid"/>
          </a:ln>
        </p:spPr>
        <p:txBody>
          <a:bodyPr/>
          <a:lstStyle/>
          <a:p>
            <a:endParaRPr lang="en-US"/>
          </a:p>
        </p:txBody>
      </p:sp>
      <p:sp>
        <p:nvSpPr>
          <p:cNvPr id="10" name="Text 8"/>
          <p:cNvSpPr/>
          <p:nvPr/>
        </p:nvSpPr>
        <p:spPr>
          <a:xfrm>
            <a:off x="548640" y="1216152"/>
            <a:ext cx="1828800" cy="256032"/>
          </a:xfrm>
          <a:prstGeom prst="rect">
            <a:avLst/>
          </a:prstGeom>
          <a:noFill/>
          <a:ln/>
        </p:spPr>
        <p:txBody>
          <a:bodyPr wrap="square" lIns="0" tIns="0" rIns="0" bIns="0"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Feature</a:t>
            </a:r>
            <a:endParaRPr lang="en-US" sz="1100" dirty="0"/>
          </a:p>
        </p:txBody>
      </p:sp>
      <p:sp>
        <p:nvSpPr>
          <p:cNvPr id="11" name="Shape 9"/>
          <p:cNvSpPr/>
          <p:nvPr/>
        </p:nvSpPr>
        <p:spPr>
          <a:xfrm>
            <a:off x="2423160" y="1170432"/>
            <a:ext cx="3017520" cy="329184"/>
          </a:xfrm>
          <a:prstGeom prst="rect">
            <a:avLst/>
          </a:prstGeom>
          <a:solidFill>
            <a:srgbClr val="58A6FF">
              <a:alpha val="28000"/>
            </a:srgbClr>
          </a:solidFill>
          <a:ln w="12700">
            <a:solidFill>
              <a:srgbClr val="58A6FF"/>
            </a:solidFill>
            <a:prstDash val="solid"/>
          </a:ln>
        </p:spPr>
        <p:txBody>
          <a:bodyPr/>
          <a:lstStyle/>
          <a:p>
            <a:endParaRPr lang="en-US"/>
          </a:p>
        </p:txBody>
      </p:sp>
      <p:sp>
        <p:nvSpPr>
          <p:cNvPr id="12" name="Text 10"/>
          <p:cNvSpPr/>
          <p:nvPr/>
        </p:nvSpPr>
        <p:spPr>
          <a:xfrm>
            <a:off x="2560320" y="1216152"/>
            <a:ext cx="2743200" cy="256032"/>
          </a:xfrm>
          <a:prstGeom prst="rect">
            <a:avLst/>
          </a:prstGeom>
          <a:noFill/>
          <a:ln/>
        </p:spPr>
        <p:txBody>
          <a:bodyPr wrap="square" lIns="0" tIns="0" rIns="0" bIns="0" rtlCol="0" anchor="ctr"/>
          <a:lstStyle/>
          <a:p>
            <a:pPr marL="0" indent="0">
              <a:buNone/>
            </a:pPr>
            <a:r>
              <a:rPr lang="en-US" sz="1100" b="1" dirty="0">
                <a:solidFill>
                  <a:srgbClr val="58A6FF"/>
                </a:solidFill>
                <a:latin typeface="Calibri" pitchFamily="34" charset="0"/>
                <a:ea typeface="Calibri" pitchFamily="34" charset="-122"/>
                <a:cs typeface="Calibri" pitchFamily="34" charset="-120"/>
              </a:rPr>
              <a:t>🪟  Windows</a:t>
            </a:r>
            <a:endParaRPr lang="en-US" sz="1100" dirty="0"/>
          </a:p>
        </p:txBody>
      </p:sp>
      <p:sp>
        <p:nvSpPr>
          <p:cNvPr id="13" name="Shape 11"/>
          <p:cNvSpPr/>
          <p:nvPr/>
        </p:nvSpPr>
        <p:spPr>
          <a:xfrm>
            <a:off x="5440680" y="1170432"/>
            <a:ext cx="3291840" cy="329184"/>
          </a:xfrm>
          <a:prstGeom prst="rect">
            <a:avLst/>
          </a:prstGeom>
          <a:solidFill>
            <a:srgbClr val="3FB950">
              <a:alpha val="28000"/>
            </a:srgbClr>
          </a:solidFill>
          <a:ln w="12700">
            <a:solidFill>
              <a:srgbClr val="3FB950"/>
            </a:solidFill>
            <a:prstDash val="solid"/>
          </a:ln>
        </p:spPr>
        <p:txBody>
          <a:bodyPr/>
          <a:lstStyle/>
          <a:p>
            <a:endParaRPr lang="en-US"/>
          </a:p>
        </p:txBody>
      </p:sp>
      <p:sp>
        <p:nvSpPr>
          <p:cNvPr id="14" name="Text 12"/>
          <p:cNvSpPr/>
          <p:nvPr/>
        </p:nvSpPr>
        <p:spPr>
          <a:xfrm>
            <a:off x="5577840" y="1216152"/>
            <a:ext cx="3017520" cy="256032"/>
          </a:xfrm>
          <a:prstGeom prst="rect">
            <a:avLst/>
          </a:prstGeom>
          <a:noFill/>
          <a:ln/>
        </p:spPr>
        <p:txBody>
          <a:bodyPr wrap="square" lIns="0" tIns="0" rIns="0" bIns="0" rtlCol="0" anchor="ctr"/>
          <a:lstStyle/>
          <a:p>
            <a:pPr marL="0" indent="0">
              <a:buNone/>
            </a:pPr>
            <a:r>
              <a:rPr lang="en-US" sz="1100" b="1" dirty="0">
                <a:solidFill>
                  <a:srgbClr val="3FB950"/>
                </a:solidFill>
                <a:latin typeface="Calibri" pitchFamily="34" charset="0"/>
                <a:ea typeface="Calibri" pitchFamily="34" charset="-122"/>
                <a:cs typeface="Calibri" pitchFamily="34" charset="-120"/>
              </a:rPr>
              <a:t>🐧  Linux / macOS</a:t>
            </a:r>
            <a:endParaRPr lang="en-US" sz="1100" dirty="0"/>
          </a:p>
        </p:txBody>
      </p:sp>
      <p:sp>
        <p:nvSpPr>
          <p:cNvPr id="15" name="Shape 13"/>
          <p:cNvSpPr/>
          <p:nvPr/>
        </p:nvSpPr>
        <p:spPr>
          <a:xfrm>
            <a:off x="411480" y="1554480"/>
            <a:ext cx="8321040" cy="329184"/>
          </a:xfrm>
          <a:prstGeom prst="rect">
            <a:avLst/>
          </a:prstGeom>
          <a:solidFill>
            <a:srgbClr val="1C2333"/>
          </a:solidFill>
          <a:ln w="12700">
            <a:solidFill>
              <a:srgbClr val="1C2333"/>
            </a:solidFill>
            <a:prstDash val="solid"/>
          </a:ln>
        </p:spPr>
        <p:txBody>
          <a:bodyPr/>
          <a:lstStyle/>
          <a:p>
            <a:endParaRPr lang="en-US"/>
          </a:p>
        </p:txBody>
      </p:sp>
      <p:sp>
        <p:nvSpPr>
          <p:cNvPr id="16" name="Text 14"/>
          <p:cNvSpPr/>
          <p:nvPr/>
        </p:nvSpPr>
        <p:spPr>
          <a:xfrm>
            <a:off x="548640" y="1591056"/>
            <a:ext cx="1828800" cy="256032"/>
          </a:xfrm>
          <a:prstGeom prst="rect">
            <a:avLst/>
          </a:prstGeom>
          <a:noFill/>
          <a:ln/>
        </p:spPr>
        <p:txBody>
          <a:bodyPr wrap="square" lIns="0" tIns="0" rIns="0" bIns="0" rtlCol="0" anchor="ctr"/>
          <a:lstStyle/>
          <a:p>
            <a:pPr marL="0" indent="0">
              <a:buNone/>
            </a:pPr>
            <a:r>
              <a:rPr lang="en-US" sz="1050" b="1" dirty="0">
                <a:solidFill>
                  <a:srgbClr val="8B949E"/>
                </a:solidFill>
                <a:latin typeface="Calibri" pitchFamily="34" charset="0"/>
                <a:ea typeface="Calibri" pitchFamily="34" charset="-122"/>
                <a:cs typeface="Calibri" pitchFamily="34" charset="-120"/>
              </a:rPr>
              <a:t>Separator</a:t>
            </a:r>
            <a:endParaRPr lang="en-US" sz="1050" dirty="0"/>
          </a:p>
        </p:txBody>
      </p:sp>
      <p:sp>
        <p:nvSpPr>
          <p:cNvPr id="17" name="Text 15"/>
          <p:cNvSpPr/>
          <p:nvPr/>
        </p:nvSpPr>
        <p:spPr>
          <a:xfrm>
            <a:off x="2468880" y="1591056"/>
            <a:ext cx="2880360" cy="256032"/>
          </a:xfrm>
          <a:prstGeom prst="rect">
            <a:avLst/>
          </a:prstGeom>
          <a:noFill/>
          <a:ln/>
        </p:spPr>
        <p:txBody>
          <a:bodyPr wrap="square" lIns="0" tIns="0" rIns="0" bIns="0" rtlCol="0" anchor="ctr"/>
          <a:lstStyle/>
          <a:p>
            <a:pPr marL="0" indent="0">
              <a:buNone/>
            </a:pPr>
            <a:r>
              <a:rPr lang="en-US" sz="950" dirty="0">
                <a:solidFill>
                  <a:srgbClr val="58A6FF"/>
                </a:solidFill>
                <a:latin typeface="Consolas" pitchFamily="34" charset="0"/>
                <a:ea typeface="Consolas" pitchFamily="34" charset="-122"/>
                <a:cs typeface="Consolas" pitchFamily="34" charset="-120"/>
              </a:rPr>
              <a:t>Backslash  \</a:t>
            </a:r>
            <a:endParaRPr lang="en-US" sz="950" dirty="0"/>
          </a:p>
        </p:txBody>
      </p:sp>
      <p:sp>
        <p:nvSpPr>
          <p:cNvPr id="18" name="Text 16"/>
          <p:cNvSpPr/>
          <p:nvPr/>
        </p:nvSpPr>
        <p:spPr>
          <a:xfrm>
            <a:off x="5394960" y="1591056"/>
            <a:ext cx="3200400" cy="256032"/>
          </a:xfrm>
          <a:prstGeom prst="rect">
            <a:avLst/>
          </a:prstGeom>
          <a:noFill/>
          <a:ln/>
        </p:spPr>
        <p:txBody>
          <a:bodyPr wrap="square" lIns="0" tIns="0" rIns="0" bIns="0" rtlCol="0" anchor="ctr"/>
          <a:lstStyle/>
          <a:p>
            <a:pPr marL="0" indent="0">
              <a:buNone/>
            </a:pPr>
            <a:r>
              <a:rPr lang="en-US" sz="950" dirty="0">
                <a:solidFill>
                  <a:srgbClr val="3FB950"/>
                </a:solidFill>
                <a:latin typeface="Consolas" pitchFamily="34" charset="0"/>
                <a:ea typeface="Consolas" pitchFamily="34" charset="-122"/>
                <a:cs typeface="Consolas" pitchFamily="34" charset="-120"/>
              </a:rPr>
              <a:t>Forward slash  /</a:t>
            </a:r>
            <a:endParaRPr lang="en-US" sz="950" dirty="0"/>
          </a:p>
        </p:txBody>
      </p:sp>
      <p:sp>
        <p:nvSpPr>
          <p:cNvPr id="19" name="Shape 17"/>
          <p:cNvSpPr/>
          <p:nvPr/>
        </p:nvSpPr>
        <p:spPr>
          <a:xfrm>
            <a:off x="411480" y="1892808"/>
            <a:ext cx="8321040" cy="329184"/>
          </a:xfrm>
          <a:prstGeom prst="rect">
            <a:avLst/>
          </a:prstGeom>
          <a:solidFill>
            <a:srgbClr val="161B26"/>
          </a:solidFill>
          <a:ln w="12700">
            <a:solidFill>
              <a:srgbClr val="161B26"/>
            </a:solidFill>
            <a:prstDash val="solid"/>
          </a:ln>
        </p:spPr>
        <p:txBody>
          <a:bodyPr/>
          <a:lstStyle/>
          <a:p>
            <a:endParaRPr lang="en-US"/>
          </a:p>
        </p:txBody>
      </p:sp>
      <p:sp>
        <p:nvSpPr>
          <p:cNvPr id="20" name="Text 18"/>
          <p:cNvSpPr/>
          <p:nvPr/>
        </p:nvSpPr>
        <p:spPr>
          <a:xfrm>
            <a:off x="548640" y="1929384"/>
            <a:ext cx="1828800" cy="256032"/>
          </a:xfrm>
          <a:prstGeom prst="rect">
            <a:avLst/>
          </a:prstGeom>
          <a:noFill/>
          <a:ln/>
        </p:spPr>
        <p:txBody>
          <a:bodyPr wrap="square" lIns="0" tIns="0" rIns="0" bIns="0" rtlCol="0" anchor="ctr"/>
          <a:lstStyle/>
          <a:p>
            <a:pPr marL="0" indent="0">
              <a:buNone/>
            </a:pPr>
            <a:r>
              <a:rPr lang="en-US" sz="1050" b="1" dirty="0">
                <a:solidFill>
                  <a:srgbClr val="8B949E"/>
                </a:solidFill>
                <a:latin typeface="Calibri" pitchFamily="34" charset="0"/>
                <a:ea typeface="Calibri" pitchFamily="34" charset="-122"/>
                <a:cs typeface="Calibri" pitchFamily="34" charset="-120"/>
              </a:rPr>
              <a:t>Root</a:t>
            </a:r>
            <a:endParaRPr lang="en-US" sz="1050" dirty="0"/>
          </a:p>
        </p:txBody>
      </p:sp>
      <p:sp>
        <p:nvSpPr>
          <p:cNvPr id="21" name="Text 19"/>
          <p:cNvSpPr/>
          <p:nvPr/>
        </p:nvSpPr>
        <p:spPr>
          <a:xfrm>
            <a:off x="2468880" y="1929384"/>
            <a:ext cx="2880360" cy="256032"/>
          </a:xfrm>
          <a:prstGeom prst="rect">
            <a:avLst/>
          </a:prstGeom>
          <a:noFill/>
          <a:ln/>
        </p:spPr>
        <p:txBody>
          <a:bodyPr wrap="square" lIns="0" tIns="0" rIns="0" bIns="0" rtlCol="0" anchor="ctr"/>
          <a:lstStyle/>
          <a:p>
            <a:pPr marL="0" indent="0">
              <a:buNone/>
            </a:pPr>
            <a:r>
              <a:rPr lang="en-US" sz="950" dirty="0">
                <a:solidFill>
                  <a:srgbClr val="58A6FF"/>
                </a:solidFill>
                <a:latin typeface="Consolas" pitchFamily="34" charset="0"/>
                <a:ea typeface="Consolas" pitchFamily="34" charset="-122"/>
                <a:cs typeface="Consolas" pitchFamily="34" charset="-120"/>
              </a:rPr>
              <a:t>C:\  D:\  E:\  (drive letters)</a:t>
            </a:r>
            <a:endParaRPr lang="en-US" sz="950" dirty="0"/>
          </a:p>
        </p:txBody>
      </p:sp>
      <p:sp>
        <p:nvSpPr>
          <p:cNvPr id="22" name="Text 20"/>
          <p:cNvSpPr/>
          <p:nvPr/>
        </p:nvSpPr>
        <p:spPr>
          <a:xfrm>
            <a:off x="5394960" y="1929384"/>
            <a:ext cx="3200400" cy="256032"/>
          </a:xfrm>
          <a:prstGeom prst="rect">
            <a:avLst/>
          </a:prstGeom>
          <a:noFill/>
          <a:ln/>
        </p:spPr>
        <p:txBody>
          <a:bodyPr wrap="square" lIns="0" tIns="0" rIns="0" bIns="0" rtlCol="0" anchor="ctr"/>
          <a:lstStyle/>
          <a:p>
            <a:pPr marL="0" indent="0">
              <a:buNone/>
            </a:pPr>
            <a:r>
              <a:rPr lang="en-US" sz="950" dirty="0">
                <a:solidFill>
                  <a:srgbClr val="3FB950"/>
                </a:solidFill>
                <a:latin typeface="Consolas" pitchFamily="34" charset="0"/>
                <a:ea typeface="Consolas" pitchFamily="34" charset="-122"/>
                <a:cs typeface="Consolas" pitchFamily="34" charset="-120"/>
              </a:rPr>
              <a:t>Single root  /</a:t>
            </a:r>
            <a:endParaRPr lang="en-US" sz="950" dirty="0"/>
          </a:p>
        </p:txBody>
      </p:sp>
      <p:sp>
        <p:nvSpPr>
          <p:cNvPr id="23" name="Shape 21"/>
          <p:cNvSpPr/>
          <p:nvPr/>
        </p:nvSpPr>
        <p:spPr>
          <a:xfrm>
            <a:off x="411480" y="2231136"/>
            <a:ext cx="8321040" cy="329184"/>
          </a:xfrm>
          <a:prstGeom prst="rect">
            <a:avLst/>
          </a:prstGeom>
          <a:solidFill>
            <a:srgbClr val="1C2333"/>
          </a:solidFill>
          <a:ln w="12700">
            <a:solidFill>
              <a:srgbClr val="1C2333"/>
            </a:solidFill>
            <a:prstDash val="solid"/>
          </a:ln>
        </p:spPr>
        <p:txBody>
          <a:bodyPr/>
          <a:lstStyle/>
          <a:p>
            <a:endParaRPr lang="en-US"/>
          </a:p>
        </p:txBody>
      </p:sp>
      <p:sp>
        <p:nvSpPr>
          <p:cNvPr id="24" name="Text 22"/>
          <p:cNvSpPr/>
          <p:nvPr/>
        </p:nvSpPr>
        <p:spPr>
          <a:xfrm>
            <a:off x="548640" y="2267712"/>
            <a:ext cx="1828800" cy="256032"/>
          </a:xfrm>
          <a:prstGeom prst="rect">
            <a:avLst/>
          </a:prstGeom>
          <a:noFill/>
          <a:ln/>
        </p:spPr>
        <p:txBody>
          <a:bodyPr wrap="square" lIns="0" tIns="0" rIns="0" bIns="0" rtlCol="0" anchor="ctr"/>
          <a:lstStyle/>
          <a:p>
            <a:pPr marL="0" indent="0">
              <a:buNone/>
            </a:pPr>
            <a:r>
              <a:rPr lang="en-US" sz="1050" b="1" dirty="0">
                <a:solidFill>
                  <a:srgbClr val="8B949E"/>
                </a:solidFill>
                <a:latin typeface="Calibri" pitchFamily="34" charset="0"/>
                <a:ea typeface="Calibri" pitchFamily="34" charset="-122"/>
                <a:cs typeface="Calibri" pitchFamily="34" charset="-120"/>
              </a:rPr>
              <a:t>Case sensitivity</a:t>
            </a:r>
            <a:endParaRPr lang="en-US" sz="1050" dirty="0"/>
          </a:p>
        </p:txBody>
      </p:sp>
      <p:sp>
        <p:nvSpPr>
          <p:cNvPr id="25" name="Text 23"/>
          <p:cNvSpPr/>
          <p:nvPr/>
        </p:nvSpPr>
        <p:spPr>
          <a:xfrm>
            <a:off x="2468880" y="2267712"/>
            <a:ext cx="2880360" cy="256032"/>
          </a:xfrm>
          <a:prstGeom prst="rect">
            <a:avLst/>
          </a:prstGeom>
          <a:noFill/>
          <a:ln/>
        </p:spPr>
        <p:txBody>
          <a:bodyPr wrap="square" lIns="0" tIns="0" rIns="0" bIns="0" rtlCol="0" anchor="ctr"/>
          <a:lstStyle/>
          <a:p>
            <a:pPr marL="0" indent="0">
              <a:buNone/>
            </a:pPr>
            <a:r>
              <a:rPr lang="en-US" sz="950" dirty="0">
                <a:solidFill>
                  <a:srgbClr val="58A6FF"/>
                </a:solidFill>
                <a:latin typeface="Consolas" pitchFamily="34" charset="0"/>
                <a:ea typeface="Consolas" pitchFamily="34" charset="-122"/>
                <a:cs typeface="Consolas" pitchFamily="34" charset="-120"/>
              </a:rPr>
              <a:t>NOT case-sensitive</a:t>
            </a:r>
            <a:endParaRPr lang="en-US" sz="950" dirty="0"/>
          </a:p>
          <a:p>
            <a:pPr marL="0" indent="0">
              <a:buNone/>
            </a:pPr>
            <a:r>
              <a:rPr lang="en-US" sz="950" dirty="0">
                <a:solidFill>
                  <a:srgbClr val="58A6FF"/>
                </a:solidFill>
                <a:latin typeface="Consolas" pitchFamily="34" charset="0"/>
                <a:ea typeface="Consolas" pitchFamily="34" charset="-122"/>
                <a:cs typeface="Consolas" pitchFamily="34" charset="-120"/>
              </a:rPr>
              <a:t>config.ini = CONFIG.INI</a:t>
            </a:r>
            <a:endParaRPr lang="en-US" sz="950" dirty="0"/>
          </a:p>
        </p:txBody>
      </p:sp>
      <p:sp>
        <p:nvSpPr>
          <p:cNvPr id="26" name="Text 24"/>
          <p:cNvSpPr/>
          <p:nvPr/>
        </p:nvSpPr>
        <p:spPr>
          <a:xfrm>
            <a:off x="5394960" y="2267712"/>
            <a:ext cx="3200400" cy="256032"/>
          </a:xfrm>
          <a:prstGeom prst="rect">
            <a:avLst/>
          </a:prstGeom>
          <a:noFill/>
          <a:ln/>
        </p:spPr>
        <p:txBody>
          <a:bodyPr wrap="square" lIns="0" tIns="0" rIns="0" bIns="0" rtlCol="0" anchor="ctr"/>
          <a:lstStyle/>
          <a:p>
            <a:pPr marL="0" indent="0">
              <a:buNone/>
            </a:pPr>
            <a:r>
              <a:rPr lang="en-US" sz="950" dirty="0">
                <a:solidFill>
                  <a:srgbClr val="3FB950"/>
                </a:solidFill>
                <a:latin typeface="Consolas" pitchFamily="34" charset="0"/>
                <a:ea typeface="Consolas" pitchFamily="34" charset="-122"/>
                <a:cs typeface="Consolas" pitchFamily="34" charset="-120"/>
              </a:rPr>
              <a:t>CASE-SENSITIVE</a:t>
            </a:r>
            <a:endParaRPr lang="en-US" sz="950" dirty="0"/>
          </a:p>
          <a:p>
            <a:pPr marL="0" indent="0">
              <a:buNone/>
            </a:pPr>
            <a:r>
              <a:rPr lang="en-US" sz="950" dirty="0">
                <a:solidFill>
                  <a:srgbClr val="3FB950"/>
                </a:solidFill>
                <a:latin typeface="Consolas" pitchFamily="34" charset="0"/>
                <a:ea typeface="Consolas" pitchFamily="34" charset="-122"/>
                <a:cs typeface="Consolas" pitchFamily="34" charset="-120"/>
              </a:rPr>
              <a:t>config.ini ≠ CONFIG.INI</a:t>
            </a:r>
            <a:endParaRPr lang="en-US" sz="950" dirty="0"/>
          </a:p>
        </p:txBody>
      </p:sp>
      <p:sp>
        <p:nvSpPr>
          <p:cNvPr id="27" name="Shape 25"/>
          <p:cNvSpPr/>
          <p:nvPr/>
        </p:nvSpPr>
        <p:spPr>
          <a:xfrm>
            <a:off x="411480" y="2569464"/>
            <a:ext cx="8321040" cy="329184"/>
          </a:xfrm>
          <a:prstGeom prst="rect">
            <a:avLst/>
          </a:prstGeom>
          <a:solidFill>
            <a:srgbClr val="161B26"/>
          </a:solidFill>
          <a:ln w="12700">
            <a:solidFill>
              <a:srgbClr val="161B26"/>
            </a:solidFill>
            <a:prstDash val="solid"/>
          </a:ln>
        </p:spPr>
        <p:txBody>
          <a:bodyPr/>
          <a:lstStyle/>
          <a:p>
            <a:endParaRPr lang="en-US"/>
          </a:p>
        </p:txBody>
      </p:sp>
      <p:sp>
        <p:nvSpPr>
          <p:cNvPr id="28" name="Text 26"/>
          <p:cNvSpPr/>
          <p:nvPr/>
        </p:nvSpPr>
        <p:spPr>
          <a:xfrm>
            <a:off x="548640" y="2606040"/>
            <a:ext cx="1828800" cy="256032"/>
          </a:xfrm>
          <a:prstGeom prst="rect">
            <a:avLst/>
          </a:prstGeom>
          <a:noFill/>
          <a:ln/>
        </p:spPr>
        <p:txBody>
          <a:bodyPr wrap="square" lIns="0" tIns="0" rIns="0" bIns="0" rtlCol="0" anchor="ctr"/>
          <a:lstStyle/>
          <a:p>
            <a:pPr marL="0" indent="0">
              <a:buNone/>
            </a:pPr>
            <a:r>
              <a:rPr lang="en-US" sz="1050" b="1" dirty="0">
                <a:solidFill>
                  <a:srgbClr val="8B949E"/>
                </a:solidFill>
                <a:latin typeface="Calibri" pitchFamily="34" charset="0"/>
                <a:ea typeface="Calibri" pitchFamily="34" charset="-122"/>
                <a:cs typeface="Calibri" pitchFamily="34" charset="-120"/>
              </a:rPr>
              <a:t>Home directory</a:t>
            </a:r>
            <a:endParaRPr lang="en-US" sz="1050" dirty="0"/>
          </a:p>
        </p:txBody>
      </p:sp>
      <p:sp>
        <p:nvSpPr>
          <p:cNvPr id="29" name="Text 27"/>
          <p:cNvSpPr/>
          <p:nvPr/>
        </p:nvSpPr>
        <p:spPr>
          <a:xfrm>
            <a:off x="2468880" y="2606040"/>
            <a:ext cx="2880360" cy="256032"/>
          </a:xfrm>
          <a:prstGeom prst="rect">
            <a:avLst/>
          </a:prstGeom>
          <a:noFill/>
          <a:ln/>
        </p:spPr>
        <p:txBody>
          <a:bodyPr wrap="square" lIns="0" tIns="0" rIns="0" bIns="0" rtlCol="0" anchor="ctr"/>
          <a:lstStyle/>
          <a:p>
            <a:pPr marL="0" indent="0">
              <a:buNone/>
            </a:pPr>
            <a:r>
              <a:rPr lang="en-US" sz="950" dirty="0">
                <a:solidFill>
                  <a:srgbClr val="58A6FF"/>
                </a:solidFill>
                <a:latin typeface="Consolas" pitchFamily="34" charset="0"/>
                <a:ea typeface="Consolas" pitchFamily="34" charset="-122"/>
                <a:cs typeface="Consolas" pitchFamily="34" charset="-120"/>
              </a:rPr>
              <a:t>C:\Users\Ahmed</a:t>
            </a:r>
            <a:endParaRPr lang="en-US" sz="950" dirty="0"/>
          </a:p>
          <a:p>
            <a:pPr marL="0" indent="0">
              <a:buNone/>
            </a:pPr>
            <a:r>
              <a:rPr lang="en-US" sz="950" dirty="0">
                <a:solidFill>
                  <a:srgbClr val="58A6FF"/>
                </a:solidFill>
                <a:latin typeface="Consolas" pitchFamily="34" charset="0"/>
                <a:ea typeface="Consolas" pitchFamily="34" charset="-122"/>
                <a:cs typeface="Consolas" pitchFamily="34" charset="-120"/>
              </a:rPr>
              <a:t>%USERPROFILE%  in CMD</a:t>
            </a:r>
            <a:endParaRPr lang="en-US" sz="950" dirty="0"/>
          </a:p>
        </p:txBody>
      </p:sp>
      <p:sp>
        <p:nvSpPr>
          <p:cNvPr id="30" name="Text 28"/>
          <p:cNvSpPr/>
          <p:nvPr/>
        </p:nvSpPr>
        <p:spPr>
          <a:xfrm>
            <a:off x="5394960" y="2606040"/>
            <a:ext cx="3200400" cy="256032"/>
          </a:xfrm>
          <a:prstGeom prst="rect">
            <a:avLst/>
          </a:prstGeom>
          <a:noFill/>
          <a:ln/>
        </p:spPr>
        <p:txBody>
          <a:bodyPr wrap="square" lIns="0" tIns="0" rIns="0" bIns="0" rtlCol="0" anchor="ctr"/>
          <a:lstStyle/>
          <a:p>
            <a:pPr marL="0" indent="0">
              <a:buNone/>
            </a:pPr>
            <a:r>
              <a:rPr lang="en-US" sz="950" dirty="0">
                <a:solidFill>
                  <a:srgbClr val="3FB950"/>
                </a:solidFill>
                <a:latin typeface="Consolas" pitchFamily="34" charset="0"/>
                <a:ea typeface="Consolas" pitchFamily="34" charset="-122"/>
                <a:cs typeface="Consolas" pitchFamily="34" charset="-120"/>
              </a:rPr>
              <a:t>/home/ahmed</a:t>
            </a:r>
            <a:endParaRPr lang="en-US" sz="950" dirty="0"/>
          </a:p>
          <a:p>
            <a:pPr marL="0" indent="0">
              <a:buNone/>
            </a:pPr>
            <a:r>
              <a:rPr lang="en-US" sz="950" dirty="0">
                <a:solidFill>
                  <a:srgbClr val="3FB950"/>
                </a:solidFill>
                <a:latin typeface="Consolas" pitchFamily="34" charset="0"/>
                <a:ea typeface="Consolas" pitchFamily="34" charset="-122"/>
                <a:cs typeface="Consolas" pitchFamily="34" charset="-120"/>
              </a:rPr>
              <a:t>$HOME  or  ~</a:t>
            </a:r>
            <a:endParaRPr lang="en-US" sz="950" dirty="0"/>
          </a:p>
        </p:txBody>
      </p:sp>
      <p:sp>
        <p:nvSpPr>
          <p:cNvPr id="31" name="Shape 29"/>
          <p:cNvSpPr/>
          <p:nvPr/>
        </p:nvSpPr>
        <p:spPr>
          <a:xfrm>
            <a:off x="411480" y="2907792"/>
            <a:ext cx="8321040" cy="329184"/>
          </a:xfrm>
          <a:prstGeom prst="rect">
            <a:avLst/>
          </a:prstGeom>
          <a:solidFill>
            <a:srgbClr val="1C2333"/>
          </a:solidFill>
          <a:ln w="12700">
            <a:solidFill>
              <a:srgbClr val="1C2333"/>
            </a:solidFill>
            <a:prstDash val="solid"/>
          </a:ln>
        </p:spPr>
        <p:txBody>
          <a:bodyPr/>
          <a:lstStyle/>
          <a:p>
            <a:endParaRPr lang="en-US"/>
          </a:p>
        </p:txBody>
      </p:sp>
      <p:sp>
        <p:nvSpPr>
          <p:cNvPr id="32" name="Text 30"/>
          <p:cNvSpPr/>
          <p:nvPr/>
        </p:nvSpPr>
        <p:spPr>
          <a:xfrm>
            <a:off x="548640" y="2944368"/>
            <a:ext cx="1828800" cy="256032"/>
          </a:xfrm>
          <a:prstGeom prst="rect">
            <a:avLst/>
          </a:prstGeom>
          <a:noFill/>
          <a:ln/>
        </p:spPr>
        <p:txBody>
          <a:bodyPr wrap="square" lIns="0" tIns="0" rIns="0" bIns="0" rtlCol="0" anchor="ctr"/>
          <a:lstStyle/>
          <a:p>
            <a:pPr marL="0" indent="0">
              <a:buNone/>
            </a:pPr>
            <a:r>
              <a:rPr lang="en-US" sz="1050" b="1" dirty="0">
                <a:solidFill>
                  <a:srgbClr val="8B949E"/>
                </a:solidFill>
                <a:latin typeface="Calibri" pitchFamily="34" charset="0"/>
                <a:ea typeface="Calibri" pitchFamily="34" charset="-122"/>
                <a:cs typeface="Calibri" pitchFamily="34" charset="-120"/>
              </a:rPr>
              <a:t>Max path length</a:t>
            </a:r>
            <a:endParaRPr lang="en-US" sz="1050" dirty="0"/>
          </a:p>
        </p:txBody>
      </p:sp>
      <p:sp>
        <p:nvSpPr>
          <p:cNvPr id="33" name="Text 31"/>
          <p:cNvSpPr/>
          <p:nvPr/>
        </p:nvSpPr>
        <p:spPr>
          <a:xfrm>
            <a:off x="2468880" y="2944368"/>
            <a:ext cx="2880360" cy="256032"/>
          </a:xfrm>
          <a:prstGeom prst="rect">
            <a:avLst/>
          </a:prstGeom>
          <a:noFill/>
          <a:ln/>
        </p:spPr>
        <p:txBody>
          <a:bodyPr wrap="square" lIns="0" tIns="0" rIns="0" bIns="0" rtlCol="0" anchor="ctr"/>
          <a:lstStyle/>
          <a:p>
            <a:pPr marL="0" indent="0">
              <a:buNone/>
            </a:pPr>
            <a:r>
              <a:rPr lang="en-US" sz="950" dirty="0">
                <a:solidFill>
                  <a:srgbClr val="58A6FF"/>
                </a:solidFill>
                <a:latin typeface="Consolas" pitchFamily="34" charset="0"/>
                <a:ea typeface="Consolas" pitchFamily="34" charset="-122"/>
                <a:cs typeface="Consolas" pitchFamily="34" charset="-120"/>
              </a:rPr>
              <a:t>260 chars (old limit)</a:t>
            </a:r>
            <a:endParaRPr lang="en-US" sz="950" dirty="0"/>
          </a:p>
          <a:p>
            <a:pPr marL="0" indent="0">
              <a:buNone/>
            </a:pPr>
            <a:r>
              <a:rPr lang="en-US" sz="950" dirty="0">
                <a:solidFill>
                  <a:srgbClr val="58A6FF"/>
                </a:solidFill>
                <a:latin typeface="Consolas" pitchFamily="34" charset="0"/>
                <a:ea typeface="Consolas" pitchFamily="34" charset="-122"/>
                <a:cs typeface="Consolas" pitchFamily="34" charset="-120"/>
              </a:rPr>
              <a:t>32,767 with long path enabled</a:t>
            </a:r>
            <a:endParaRPr lang="en-US" sz="950" dirty="0"/>
          </a:p>
        </p:txBody>
      </p:sp>
      <p:sp>
        <p:nvSpPr>
          <p:cNvPr id="34" name="Text 32"/>
          <p:cNvSpPr/>
          <p:nvPr/>
        </p:nvSpPr>
        <p:spPr>
          <a:xfrm>
            <a:off x="5394960" y="2944368"/>
            <a:ext cx="3200400" cy="256032"/>
          </a:xfrm>
          <a:prstGeom prst="rect">
            <a:avLst/>
          </a:prstGeom>
          <a:noFill/>
          <a:ln/>
        </p:spPr>
        <p:txBody>
          <a:bodyPr wrap="square" lIns="0" tIns="0" rIns="0" bIns="0" rtlCol="0" anchor="ctr"/>
          <a:lstStyle/>
          <a:p>
            <a:pPr marL="0" indent="0">
              <a:buNone/>
            </a:pPr>
            <a:r>
              <a:rPr lang="en-US" sz="950" dirty="0">
                <a:solidFill>
                  <a:srgbClr val="3FB950"/>
                </a:solidFill>
                <a:latin typeface="Consolas" pitchFamily="34" charset="0"/>
                <a:ea typeface="Consolas" pitchFamily="34" charset="-122"/>
                <a:cs typeface="Consolas" pitchFamily="34" charset="-120"/>
              </a:rPr>
              <a:t>4,096 characters</a:t>
            </a:r>
            <a:endParaRPr lang="en-US" sz="950" dirty="0"/>
          </a:p>
        </p:txBody>
      </p:sp>
      <p:sp>
        <p:nvSpPr>
          <p:cNvPr id="35" name="Shape 33"/>
          <p:cNvSpPr/>
          <p:nvPr/>
        </p:nvSpPr>
        <p:spPr>
          <a:xfrm>
            <a:off x="411480" y="3246120"/>
            <a:ext cx="8321040" cy="329184"/>
          </a:xfrm>
          <a:prstGeom prst="rect">
            <a:avLst/>
          </a:prstGeom>
          <a:solidFill>
            <a:srgbClr val="161B26"/>
          </a:solidFill>
          <a:ln w="12700">
            <a:solidFill>
              <a:srgbClr val="161B26"/>
            </a:solidFill>
            <a:prstDash val="solid"/>
          </a:ln>
        </p:spPr>
        <p:txBody>
          <a:bodyPr/>
          <a:lstStyle/>
          <a:p>
            <a:endParaRPr lang="en-US"/>
          </a:p>
        </p:txBody>
      </p:sp>
      <p:sp>
        <p:nvSpPr>
          <p:cNvPr id="36" name="Text 34"/>
          <p:cNvSpPr/>
          <p:nvPr/>
        </p:nvSpPr>
        <p:spPr>
          <a:xfrm>
            <a:off x="548640" y="3282696"/>
            <a:ext cx="1828800" cy="256032"/>
          </a:xfrm>
          <a:prstGeom prst="rect">
            <a:avLst/>
          </a:prstGeom>
          <a:noFill/>
          <a:ln/>
        </p:spPr>
        <p:txBody>
          <a:bodyPr wrap="square" lIns="0" tIns="0" rIns="0" bIns="0" rtlCol="0" anchor="ctr"/>
          <a:lstStyle/>
          <a:p>
            <a:pPr marL="0" indent="0">
              <a:buNone/>
            </a:pPr>
            <a:r>
              <a:rPr lang="en-US" sz="1050" b="1" dirty="0">
                <a:solidFill>
                  <a:srgbClr val="8B949E"/>
                </a:solidFill>
                <a:latin typeface="Calibri" pitchFamily="34" charset="0"/>
                <a:ea typeface="Calibri" pitchFamily="34" charset="-122"/>
                <a:cs typeface="Calibri" pitchFamily="34" charset="-120"/>
              </a:rPr>
              <a:t>Hidden files</a:t>
            </a:r>
            <a:endParaRPr lang="en-US" sz="1050" dirty="0"/>
          </a:p>
        </p:txBody>
      </p:sp>
      <p:sp>
        <p:nvSpPr>
          <p:cNvPr id="37" name="Text 35"/>
          <p:cNvSpPr/>
          <p:nvPr/>
        </p:nvSpPr>
        <p:spPr>
          <a:xfrm>
            <a:off x="2468880" y="3282696"/>
            <a:ext cx="2880360" cy="256032"/>
          </a:xfrm>
          <a:prstGeom prst="rect">
            <a:avLst/>
          </a:prstGeom>
          <a:noFill/>
          <a:ln/>
        </p:spPr>
        <p:txBody>
          <a:bodyPr wrap="square" lIns="0" tIns="0" rIns="0" bIns="0" rtlCol="0" anchor="ctr"/>
          <a:lstStyle/>
          <a:p>
            <a:pPr marL="0" indent="0">
              <a:buNone/>
            </a:pPr>
            <a:r>
              <a:rPr lang="en-US" sz="950" dirty="0">
                <a:solidFill>
                  <a:srgbClr val="58A6FF"/>
                </a:solidFill>
                <a:latin typeface="Consolas" pitchFamily="34" charset="0"/>
                <a:ea typeface="Consolas" pitchFamily="34" charset="-122"/>
                <a:cs typeface="Consolas" pitchFamily="34" charset="-120"/>
              </a:rPr>
              <a:t>Hidden attribute set</a:t>
            </a:r>
            <a:endParaRPr lang="en-US" sz="950" dirty="0"/>
          </a:p>
          <a:p>
            <a:pPr marL="0" indent="0">
              <a:buNone/>
            </a:pPr>
            <a:r>
              <a:rPr lang="en-US" sz="950" dirty="0">
                <a:solidFill>
                  <a:srgbClr val="58A6FF"/>
                </a:solidFill>
                <a:latin typeface="Consolas" pitchFamily="34" charset="0"/>
                <a:ea typeface="Consolas" pitchFamily="34" charset="-122"/>
                <a:cs typeface="Consolas" pitchFamily="34" charset="-120"/>
              </a:rPr>
              <a:t>in file properties</a:t>
            </a:r>
            <a:endParaRPr lang="en-US" sz="950" dirty="0"/>
          </a:p>
        </p:txBody>
      </p:sp>
      <p:sp>
        <p:nvSpPr>
          <p:cNvPr id="38" name="Text 36"/>
          <p:cNvSpPr/>
          <p:nvPr/>
        </p:nvSpPr>
        <p:spPr>
          <a:xfrm>
            <a:off x="5394960" y="3282696"/>
            <a:ext cx="3200400" cy="256032"/>
          </a:xfrm>
          <a:prstGeom prst="rect">
            <a:avLst/>
          </a:prstGeom>
          <a:noFill/>
          <a:ln/>
        </p:spPr>
        <p:txBody>
          <a:bodyPr wrap="square" lIns="0" tIns="0" rIns="0" bIns="0" rtlCol="0" anchor="ctr"/>
          <a:lstStyle/>
          <a:p>
            <a:pPr marL="0" indent="0">
              <a:buNone/>
            </a:pPr>
            <a:r>
              <a:rPr lang="en-US" sz="950" dirty="0">
                <a:solidFill>
                  <a:srgbClr val="3FB950"/>
                </a:solidFill>
                <a:latin typeface="Consolas" pitchFamily="34" charset="0"/>
                <a:ea typeface="Consolas" pitchFamily="34" charset="-122"/>
                <a:cs typeface="Consolas" pitchFamily="34" charset="-120"/>
              </a:rPr>
              <a:t>Filename starts with a dot</a:t>
            </a:r>
            <a:endParaRPr lang="en-US" sz="950" dirty="0"/>
          </a:p>
          <a:p>
            <a:pPr marL="0" indent="0">
              <a:buNone/>
            </a:pPr>
            <a:r>
              <a:rPr lang="en-US" sz="950" dirty="0">
                <a:solidFill>
                  <a:srgbClr val="3FB950"/>
                </a:solidFill>
                <a:latin typeface="Consolas" pitchFamily="34" charset="0"/>
                <a:ea typeface="Consolas" pitchFamily="34" charset="-122"/>
                <a:cs typeface="Consolas" pitchFamily="34" charset="-120"/>
              </a:rPr>
              <a:t>.bashrc   .gitignore</a:t>
            </a:r>
            <a:endParaRPr lang="en-US" sz="950" dirty="0"/>
          </a:p>
        </p:txBody>
      </p:sp>
      <p:sp>
        <p:nvSpPr>
          <p:cNvPr id="39" name="Shape 37"/>
          <p:cNvSpPr/>
          <p:nvPr/>
        </p:nvSpPr>
        <p:spPr>
          <a:xfrm>
            <a:off x="411480" y="3584448"/>
            <a:ext cx="8321040" cy="329184"/>
          </a:xfrm>
          <a:prstGeom prst="rect">
            <a:avLst/>
          </a:prstGeom>
          <a:solidFill>
            <a:srgbClr val="1C2333"/>
          </a:solidFill>
          <a:ln w="12700">
            <a:solidFill>
              <a:srgbClr val="1C2333"/>
            </a:solidFill>
            <a:prstDash val="solid"/>
          </a:ln>
        </p:spPr>
        <p:txBody>
          <a:bodyPr/>
          <a:lstStyle/>
          <a:p>
            <a:endParaRPr lang="en-US"/>
          </a:p>
        </p:txBody>
      </p:sp>
      <p:sp>
        <p:nvSpPr>
          <p:cNvPr id="40" name="Text 38"/>
          <p:cNvSpPr/>
          <p:nvPr/>
        </p:nvSpPr>
        <p:spPr>
          <a:xfrm>
            <a:off x="548640" y="3621024"/>
            <a:ext cx="1828800" cy="256032"/>
          </a:xfrm>
          <a:prstGeom prst="rect">
            <a:avLst/>
          </a:prstGeom>
          <a:noFill/>
          <a:ln/>
        </p:spPr>
        <p:txBody>
          <a:bodyPr wrap="square" lIns="0" tIns="0" rIns="0" bIns="0" rtlCol="0" anchor="ctr"/>
          <a:lstStyle/>
          <a:p>
            <a:pPr marL="0" indent="0">
              <a:buNone/>
            </a:pPr>
            <a:r>
              <a:rPr lang="en-US" sz="1050" b="1" dirty="0">
                <a:solidFill>
                  <a:srgbClr val="8B949E"/>
                </a:solidFill>
                <a:latin typeface="Calibri" pitchFamily="34" charset="0"/>
                <a:ea typeface="Calibri" pitchFamily="34" charset="-122"/>
                <a:cs typeface="Calibri" pitchFamily="34" charset="-120"/>
              </a:rPr>
              <a:t>Path in code</a:t>
            </a:r>
            <a:endParaRPr lang="en-US" sz="1050" dirty="0"/>
          </a:p>
        </p:txBody>
      </p:sp>
      <p:sp>
        <p:nvSpPr>
          <p:cNvPr id="41" name="Text 39"/>
          <p:cNvSpPr/>
          <p:nvPr/>
        </p:nvSpPr>
        <p:spPr>
          <a:xfrm>
            <a:off x="2468880" y="3621024"/>
            <a:ext cx="2880360" cy="256032"/>
          </a:xfrm>
          <a:prstGeom prst="rect">
            <a:avLst/>
          </a:prstGeom>
          <a:noFill/>
          <a:ln/>
        </p:spPr>
        <p:txBody>
          <a:bodyPr wrap="square" lIns="0" tIns="0" rIns="0" bIns="0" rtlCol="0" anchor="ctr"/>
          <a:lstStyle/>
          <a:p>
            <a:pPr marL="0" indent="0">
              <a:buNone/>
            </a:pPr>
            <a:r>
              <a:rPr lang="en-US" sz="950" dirty="0">
                <a:solidFill>
                  <a:srgbClr val="58A6FF"/>
                </a:solidFill>
                <a:latin typeface="Consolas" pitchFamily="34" charset="0"/>
                <a:ea typeface="Consolas" pitchFamily="34" charset="-122"/>
                <a:cs typeface="Consolas" pitchFamily="34" charset="-120"/>
              </a:rPr>
              <a:t>"C:\\Users\\file.txt"</a:t>
            </a:r>
            <a:endParaRPr lang="en-US" sz="950" dirty="0"/>
          </a:p>
          <a:p>
            <a:pPr marL="0" indent="0">
              <a:buNone/>
            </a:pPr>
            <a:r>
              <a:rPr lang="en-US" sz="950" dirty="0">
                <a:solidFill>
                  <a:srgbClr val="58A6FF"/>
                </a:solidFill>
                <a:latin typeface="Consolas" pitchFamily="34" charset="0"/>
                <a:ea typeface="Consolas" pitchFamily="34" charset="-122"/>
                <a:cs typeface="Consolas" pitchFamily="34" charset="-120"/>
              </a:rPr>
              <a:t>(escape backslashes in strings)</a:t>
            </a:r>
            <a:endParaRPr lang="en-US" sz="950" dirty="0"/>
          </a:p>
        </p:txBody>
      </p:sp>
      <p:sp>
        <p:nvSpPr>
          <p:cNvPr id="42" name="Text 40"/>
          <p:cNvSpPr/>
          <p:nvPr/>
        </p:nvSpPr>
        <p:spPr>
          <a:xfrm>
            <a:off x="5394960" y="3621024"/>
            <a:ext cx="3200400" cy="256032"/>
          </a:xfrm>
          <a:prstGeom prst="rect">
            <a:avLst/>
          </a:prstGeom>
          <a:noFill/>
          <a:ln/>
        </p:spPr>
        <p:txBody>
          <a:bodyPr wrap="square" lIns="0" tIns="0" rIns="0" bIns="0" rtlCol="0" anchor="ctr"/>
          <a:lstStyle/>
          <a:p>
            <a:pPr marL="0" indent="0">
              <a:buNone/>
            </a:pPr>
            <a:r>
              <a:rPr lang="en-US" sz="950" dirty="0">
                <a:solidFill>
                  <a:srgbClr val="3FB950"/>
                </a:solidFill>
                <a:latin typeface="Consolas" pitchFamily="34" charset="0"/>
                <a:ea typeface="Consolas" pitchFamily="34" charset="-122"/>
                <a:cs typeface="Consolas" pitchFamily="34" charset="-120"/>
              </a:rPr>
              <a:t>"/home/ahmed/file.txt"</a:t>
            </a:r>
            <a:endParaRPr lang="en-US" sz="950" dirty="0"/>
          </a:p>
          <a:p>
            <a:pPr marL="0" indent="0">
              <a:buNone/>
            </a:pPr>
            <a:r>
              <a:rPr lang="en-US" sz="950" dirty="0">
                <a:solidFill>
                  <a:srgbClr val="3FB950"/>
                </a:solidFill>
                <a:latin typeface="Consolas" pitchFamily="34" charset="0"/>
                <a:ea typeface="Consolas" pitchFamily="34" charset="-122"/>
                <a:cs typeface="Consolas" pitchFamily="34" charset="-120"/>
              </a:rPr>
              <a:t>(no escaping needed)</a:t>
            </a:r>
            <a:endParaRPr lang="en-US" sz="950" dirty="0"/>
          </a:p>
        </p:txBody>
      </p:sp>
      <p:sp>
        <p:nvSpPr>
          <p:cNvPr id="43" name="Shape 41"/>
          <p:cNvSpPr/>
          <p:nvPr/>
        </p:nvSpPr>
        <p:spPr>
          <a:xfrm>
            <a:off x="365760" y="4572000"/>
            <a:ext cx="8412480" cy="384048"/>
          </a:xfrm>
          <a:prstGeom prst="rect">
            <a:avLst/>
          </a:prstGeom>
          <a:solidFill>
            <a:srgbClr val="0A1020"/>
          </a:solidFill>
          <a:ln w="12700">
            <a:solidFill>
              <a:srgbClr val="F85149"/>
            </a:solidFill>
            <a:prstDash val="solid"/>
          </a:ln>
        </p:spPr>
        <p:txBody>
          <a:bodyPr/>
          <a:lstStyle/>
          <a:p>
            <a:endParaRPr lang="en-US"/>
          </a:p>
        </p:txBody>
      </p:sp>
      <p:sp>
        <p:nvSpPr>
          <p:cNvPr id="44" name="Text 42"/>
          <p:cNvSpPr/>
          <p:nvPr/>
        </p:nvSpPr>
        <p:spPr>
          <a:xfrm>
            <a:off x="502920" y="4599432"/>
            <a:ext cx="8229600" cy="310896"/>
          </a:xfrm>
          <a:prstGeom prst="rect">
            <a:avLst/>
          </a:prstGeom>
          <a:noFill/>
          <a:ln/>
        </p:spPr>
        <p:txBody>
          <a:bodyPr wrap="square" lIns="0" tIns="0" rIns="0" bIns="0" rtlCol="0" anchor="ctr"/>
          <a:lstStyle/>
          <a:p>
            <a:pPr marL="0" indent="0">
              <a:buNone/>
            </a:pPr>
            <a:r>
              <a:rPr lang="en-US" sz="1100" b="1" dirty="0">
                <a:solidFill>
                  <a:srgbClr val="F85149"/>
                </a:solidFill>
                <a:latin typeface="Calibri" pitchFamily="34" charset="0"/>
                <a:ea typeface="Calibri" pitchFamily="34" charset="-122"/>
                <a:cs typeface="Calibri" pitchFamily="34" charset="-120"/>
              </a:rPr>
              <a:t>⚠ Common bug:  </a:t>
            </a:r>
            <a:r>
              <a:rPr lang="en-US" sz="1100" dirty="0">
                <a:solidFill>
                  <a:srgbClr val="F0F6FC"/>
                </a:solidFill>
                <a:latin typeface="Calibri" pitchFamily="34" charset="0"/>
                <a:ea typeface="Calibri" pitchFamily="34" charset="-122"/>
                <a:cs typeface="Calibri" pitchFamily="34" charset="-120"/>
              </a:rPr>
              <a:t>In Python on Windows, write paths as raw strings:  </a:t>
            </a:r>
            <a:r>
              <a:rPr lang="en-US" sz="1100" dirty="0">
                <a:solidFill>
                  <a:srgbClr val="3FD9C4"/>
                </a:solidFill>
                <a:latin typeface="Calibri" pitchFamily="34" charset="0"/>
                <a:ea typeface="Calibri" pitchFamily="34" charset="-122"/>
                <a:cs typeface="Calibri" pitchFamily="34" charset="-120"/>
              </a:rPr>
              <a:t>r"C:\Users\Ahmed\file.txt"</a:t>
            </a:r>
            <a:r>
              <a:rPr lang="en-US" sz="1100" dirty="0">
                <a:solidFill>
                  <a:srgbClr val="8B949E"/>
                </a:solidFill>
                <a:latin typeface="Calibri" pitchFamily="34" charset="0"/>
                <a:ea typeface="Calibri" pitchFamily="34" charset="-122"/>
                <a:cs typeface="Calibri" pitchFamily="34" charset="-120"/>
              </a:rPr>
              <a:t>  — or use forward slashes, which Python accepts on Windows too.</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PATHS IN CODE</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Working with Paths in Python</a:t>
            </a:r>
            <a:endParaRPr lang="en-US" sz="2800" dirty="0"/>
          </a:p>
        </p:txBody>
      </p:sp>
      <p:sp>
        <p:nvSpPr>
          <p:cNvPr id="6" name="Text 4"/>
          <p:cNvSpPr/>
          <p:nvPr/>
        </p:nvSpPr>
        <p:spPr>
          <a:xfrm>
            <a:off x="457200" y="877824"/>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How to handle file paths correctly across Windows and Linux</a:t>
            </a:r>
            <a:endParaRPr lang="en-US" sz="1300" dirty="0"/>
          </a:p>
        </p:txBody>
      </p:sp>
      <p:sp>
        <p:nvSpPr>
          <p:cNvPr id="7" name="Shape 5"/>
          <p:cNvSpPr/>
          <p:nvPr/>
        </p:nvSpPr>
        <p:spPr>
          <a:xfrm>
            <a:off x="411480" y="1170432"/>
            <a:ext cx="4206240" cy="2103120"/>
          </a:xfrm>
          <a:prstGeom prst="rect">
            <a:avLst/>
          </a:prstGeom>
          <a:solidFill>
            <a:srgbClr val="161B26"/>
          </a:solidFill>
          <a:ln w="15240">
            <a:solidFill>
              <a:srgbClr val="F85149"/>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4206240" cy="329184"/>
          </a:xfrm>
          <a:prstGeom prst="rect">
            <a:avLst/>
          </a:prstGeom>
          <a:solidFill>
            <a:srgbClr val="F85149">
              <a:alpha val="78000"/>
            </a:srgbClr>
          </a:solidFill>
          <a:ln w="12700">
            <a:solidFill>
              <a:srgbClr val="F85149"/>
            </a:solidFill>
            <a:prstDash val="solid"/>
          </a:ln>
        </p:spPr>
        <p:txBody>
          <a:bodyPr/>
          <a:lstStyle/>
          <a:p>
            <a:endParaRPr lang="en-US"/>
          </a:p>
        </p:txBody>
      </p:sp>
      <p:sp>
        <p:nvSpPr>
          <p:cNvPr id="9" name="Text 7"/>
          <p:cNvSpPr/>
          <p:nvPr/>
        </p:nvSpPr>
        <p:spPr>
          <a:xfrm>
            <a:off x="548640" y="1216152"/>
            <a:ext cx="3931920" cy="256032"/>
          </a:xfrm>
          <a:prstGeom prst="rect">
            <a:avLst/>
          </a:prstGeom>
          <a:noFill/>
          <a:ln/>
        </p:spPr>
        <p:txBody>
          <a:bodyPr wrap="square" lIns="0" tIns="0" rIns="0" bIns="0" rtlCol="0" anchor="ctr"/>
          <a:lstStyle/>
          <a:p>
            <a:pPr marL="0" indent="0">
              <a:buNone/>
            </a:pPr>
            <a:r>
              <a:rPr lang="en-US" sz="1100" b="1" dirty="0">
                <a:solidFill>
                  <a:srgbClr val="F85149"/>
                </a:solidFill>
                <a:latin typeface="Calibri" pitchFamily="34" charset="0"/>
                <a:ea typeface="Calibri" pitchFamily="34" charset="-122"/>
                <a:cs typeface="Calibri" pitchFamily="34" charset="-120"/>
              </a:rPr>
              <a:t>❌  The Wrong Way — Hardcoded Paths</a:t>
            </a:r>
            <a:endParaRPr lang="en-US" sz="1100" dirty="0"/>
          </a:p>
        </p:txBody>
      </p:sp>
      <p:sp>
        <p:nvSpPr>
          <p:cNvPr id="10" name="Text 8"/>
          <p:cNvSpPr/>
          <p:nvPr/>
        </p:nvSpPr>
        <p:spPr>
          <a:xfrm>
            <a:off x="548640" y="1572768"/>
            <a:ext cx="3931920" cy="201168"/>
          </a:xfrm>
          <a:prstGeom prst="rect">
            <a:avLst/>
          </a:prstGeom>
          <a:noFill/>
          <a:ln/>
        </p:spPr>
        <p:txBody>
          <a:bodyPr wrap="square" lIns="0" tIns="0" rIns="0" bIns="0" rtlCol="0" anchor="ctr"/>
          <a:lstStyle/>
          <a:p>
            <a:pPr marL="0" indent="0">
              <a:buNone/>
            </a:pPr>
            <a:r>
              <a:rPr lang="en-US" sz="950" dirty="0">
                <a:solidFill>
                  <a:srgbClr val="3D444D"/>
                </a:solidFill>
                <a:latin typeface="Consolas" pitchFamily="34" charset="0"/>
                <a:ea typeface="Consolas" pitchFamily="34" charset="-122"/>
                <a:cs typeface="Consolas" pitchFamily="34" charset="-120"/>
              </a:rPr>
              <a:t># Only works on Windows:</a:t>
            </a:r>
            <a:endParaRPr lang="en-US" sz="950" dirty="0"/>
          </a:p>
        </p:txBody>
      </p:sp>
      <p:sp>
        <p:nvSpPr>
          <p:cNvPr id="11" name="Text 9"/>
          <p:cNvSpPr/>
          <p:nvPr/>
        </p:nvSpPr>
        <p:spPr>
          <a:xfrm>
            <a:off x="548640" y="1792224"/>
            <a:ext cx="3931920" cy="201168"/>
          </a:xfrm>
          <a:prstGeom prst="rect">
            <a:avLst/>
          </a:prstGeom>
          <a:noFill/>
          <a:ln/>
        </p:spPr>
        <p:txBody>
          <a:bodyPr wrap="square" lIns="0" tIns="0" rIns="0" bIns="0" rtlCol="0" anchor="ctr"/>
          <a:lstStyle/>
          <a:p>
            <a:pPr marL="0" indent="0">
              <a:buNone/>
            </a:pPr>
            <a:r>
              <a:rPr lang="en-US" sz="950" dirty="0">
                <a:solidFill>
                  <a:srgbClr val="F85149"/>
                </a:solidFill>
                <a:latin typeface="Consolas" pitchFamily="34" charset="0"/>
                <a:ea typeface="Consolas" pitchFamily="34" charset="-122"/>
                <a:cs typeface="Consolas" pitchFamily="34" charset="-120"/>
              </a:rPr>
              <a:t>path = "C:\\Users\\Ahmed\\file.txt"</a:t>
            </a:r>
            <a:endParaRPr lang="en-US" sz="950" dirty="0"/>
          </a:p>
        </p:txBody>
      </p:sp>
      <p:sp>
        <p:nvSpPr>
          <p:cNvPr id="12" name="Text 10"/>
          <p:cNvSpPr/>
          <p:nvPr/>
        </p:nvSpPr>
        <p:spPr>
          <a:xfrm>
            <a:off x="548640" y="2011680"/>
            <a:ext cx="3931920" cy="201168"/>
          </a:xfrm>
          <a:prstGeom prst="rect">
            <a:avLst/>
          </a:prstGeom>
          <a:noFill/>
          <a:ln/>
        </p:spPr>
        <p:txBody>
          <a:bodyPr wrap="square" lIns="0" tIns="0" rIns="0" bIns="0" rtlCol="0" anchor="ctr"/>
          <a:lstStyle/>
          <a:p>
            <a:pPr marL="0" indent="0">
              <a:buNone/>
            </a:pPr>
            <a:endParaRPr lang="en-US" sz="950" dirty="0"/>
          </a:p>
        </p:txBody>
      </p:sp>
      <p:sp>
        <p:nvSpPr>
          <p:cNvPr id="13" name="Text 11"/>
          <p:cNvSpPr/>
          <p:nvPr/>
        </p:nvSpPr>
        <p:spPr>
          <a:xfrm>
            <a:off x="548640" y="2231136"/>
            <a:ext cx="3931920" cy="201168"/>
          </a:xfrm>
          <a:prstGeom prst="rect">
            <a:avLst/>
          </a:prstGeom>
          <a:noFill/>
          <a:ln/>
        </p:spPr>
        <p:txBody>
          <a:bodyPr wrap="square" lIns="0" tIns="0" rIns="0" bIns="0" rtlCol="0" anchor="ctr"/>
          <a:lstStyle/>
          <a:p>
            <a:pPr marL="0" indent="0">
              <a:buNone/>
            </a:pPr>
            <a:r>
              <a:rPr lang="en-US" sz="950" dirty="0">
                <a:solidFill>
                  <a:srgbClr val="3D444D"/>
                </a:solidFill>
                <a:latin typeface="Consolas" pitchFamily="34" charset="0"/>
                <a:ea typeface="Consolas" pitchFamily="34" charset="-122"/>
                <a:cs typeface="Consolas" pitchFamily="34" charset="-120"/>
              </a:rPr>
              <a:t># Only works on Linux:</a:t>
            </a:r>
            <a:endParaRPr lang="en-US" sz="950" dirty="0"/>
          </a:p>
        </p:txBody>
      </p:sp>
      <p:sp>
        <p:nvSpPr>
          <p:cNvPr id="14" name="Text 12"/>
          <p:cNvSpPr/>
          <p:nvPr/>
        </p:nvSpPr>
        <p:spPr>
          <a:xfrm>
            <a:off x="548640" y="2450592"/>
            <a:ext cx="3931920" cy="201168"/>
          </a:xfrm>
          <a:prstGeom prst="rect">
            <a:avLst/>
          </a:prstGeom>
          <a:noFill/>
          <a:ln/>
        </p:spPr>
        <p:txBody>
          <a:bodyPr wrap="square" lIns="0" tIns="0" rIns="0" bIns="0" rtlCol="0" anchor="ctr"/>
          <a:lstStyle/>
          <a:p>
            <a:pPr marL="0" indent="0">
              <a:buNone/>
            </a:pPr>
            <a:r>
              <a:rPr lang="en-US" sz="950" dirty="0">
                <a:solidFill>
                  <a:srgbClr val="F85149"/>
                </a:solidFill>
                <a:latin typeface="Consolas" pitchFamily="34" charset="0"/>
                <a:ea typeface="Consolas" pitchFamily="34" charset="-122"/>
                <a:cs typeface="Consolas" pitchFamily="34" charset="-120"/>
              </a:rPr>
              <a:t>path = "/home/ahmed/file.txt"</a:t>
            </a:r>
            <a:endParaRPr lang="en-US" sz="950" dirty="0"/>
          </a:p>
        </p:txBody>
      </p:sp>
      <p:sp>
        <p:nvSpPr>
          <p:cNvPr id="15" name="Text 13"/>
          <p:cNvSpPr/>
          <p:nvPr/>
        </p:nvSpPr>
        <p:spPr>
          <a:xfrm>
            <a:off x="548640" y="2670048"/>
            <a:ext cx="3931920" cy="201168"/>
          </a:xfrm>
          <a:prstGeom prst="rect">
            <a:avLst/>
          </a:prstGeom>
          <a:noFill/>
          <a:ln/>
        </p:spPr>
        <p:txBody>
          <a:bodyPr wrap="square" lIns="0" tIns="0" rIns="0" bIns="0" rtlCol="0" anchor="ctr"/>
          <a:lstStyle/>
          <a:p>
            <a:pPr marL="0" indent="0">
              <a:buNone/>
            </a:pPr>
            <a:endParaRPr lang="en-US" sz="950" dirty="0"/>
          </a:p>
        </p:txBody>
      </p:sp>
      <p:sp>
        <p:nvSpPr>
          <p:cNvPr id="16" name="Text 14"/>
          <p:cNvSpPr/>
          <p:nvPr/>
        </p:nvSpPr>
        <p:spPr>
          <a:xfrm>
            <a:off x="548640" y="2889504"/>
            <a:ext cx="3931920" cy="201168"/>
          </a:xfrm>
          <a:prstGeom prst="rect">
            <a:avLst/>
          </a:prstGeom>
          <a:noFill/>
          <a:ln/>
        </p:spPr>
        <p:txBody>
          <a:bodyPr wrap="square" lIns="0" tIns="0" rIns="0" bIns="0" rtlCol="0" anchor="ctr"/>
          <a:lstStyle/>
          <a:p>
            <a:pPr marL="0" indent="0">
              <a:buNone/>
            </a:pPr>
            <a:r>
              <a:rPr lang="en-US" sz="950" dirty="0">
                <a:solidFill>
                  <a:srgbClr val="3D444D"/>
                </a:solidFill>
                <a:latin typeface="Consolas" pitchFamily="34" charset="0"/>
                <a:ea typeface="Consolas" pitchFamily="34" charset="-122"/>
                <a:cs typeface="Consolas" pitchFamily="34" charset="-120"/>
              </a:rPr>
              <a:t># Breaks on different OS:</a:t>
            </a:r>
            <a:endParaRPr lang="en-US" sz="950" dirty="0"/>
          </a:p>
        </p:txBody>
      </p:sp>
      <p:sp>
        <p:nvSpPr>
          <p:cNvPr id="17" name="Text 15"/>
          <p:cNvSpPr/>
          <p:nvPr/>
        </p:nvSpPr>
        <p:spPr>
          <a:xfrm>
            <a:off x="548640" y="3108960"/>
            <a:ext cx="3931920"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open("data\\report.csv")</a:t>
            </a:r>
            <a:endParaRPr lang="en-US" sz="950" dirty="0"/>
          </a:p>
        </p:txBody>
      </p:sp>
      <p:sp>
        <p:nvSpPr>
          <p:cNvPr id="18" name="Shape 16"/>
          <p:cNvSpPr/>
          <p:nvPr/>
        </p:nvSpPr>
        <p:spPr>
          <a:xfrm>
            <a:off x="4663440" y="1170432"/>
            <a:ext cx="4069080" cy="2103120"/>
          </a:xfrm>
          <a:prstGeom prst="rect">
            <a:avLst/>
          </a:prstGeom>
          <a:solidFill>
            <a:srgbClr val="161B26"/>
          </a:solidFill>
          <a:ln w="15240">
            <a:solidFill>
              <a:srgbClr val="3FB950"/>
            </a:solidFill>
            <a:prstDash val="solid"/>
          </a:ln>
          <a:effectLst>
            <a:outerShdw blurRad="177800" dist="38100" dir="8100000" algn="bl" rotWithShape="0">
              <a:srgbClr val="000000">
                <a:alpha val="35000"/>
              </a:srgbClr>
            </a:outerShdw>
          </a:effectLst>
        </p:spPr>
        <p:txBody>
          <a:bodyPr/>
          <a:lstStyle/>
          <a:p>
            <a:endParaRPr lang="en-US"/>
          </a:p>
        </p:txBody>
      </p:sp>
      <p:sp>
        <p:nvSpPr>
          <p:cNvPr id="19" name="Shape 17"/>
          <p:cNvSpPr/>
          <p:nvPr/>
        </p:nvSpPr>
        <p:spPr>
          <a:xfrm>
            <a:off x="4663440" y="1170432"/>
            <a:ext cx="4069080" cy="329184"/>
          </a:xfrm>
          <a:prstGeom prst="rect">
            <a:avLst/>
          </a:prstGeom>
          <a:solidFill>
            <a:srgbClr val="3FB950">
              <a:alpha val="78000"/>
            </a:srgbClr>
          </a:solidFill>
          <a:ln w="12700">
            <a:solidFill>
              <a:srgbClr val="3FB950"/>
            </a:solidFill>
            <a:prstDash val="solid"/>
          </a:ln>
        </p:spPr>
        <p:txBody>
          <a:bodyPr/>
          <a:lstStyle/>
          <a:p>
            <a:endParaRPr lang="en-US"/>
          </a:p>
        </p:txBody>
      </p:sp>
      <p:sp>
        <p:nvSpPr>
          <p:cNvPr id="20" name="Text 18"/>
          <p:cNvSpPr/>
          <p:nvPr/>
        </p:nvSpPr>
        <p:spPr>
          <a:xfrm>
            <a:off x="4800600" y="1216152"/>
            <a:ext cx="3803904" cy="256032"/>
          </a:xfrm>
          <a:prstGeom prst="rect">
            <a:avLst/>
          </a:prstGeom>
          <a:noFill/>
          <a:ln/>
        </p:spPr>
        <p:txBody>
          <a:bodyPr wrap="square" lIns="0" tIns="0" rIns="0" bIns="0" rtlCol="0" anchor="ctr"/>
          <a:lstStyle/>
          <a:p>
            <a:pPr marL="0" indent="0">
              <a:buNone/>
            </a:pPr>
            <a:r>
              <a:rPr lang="en-US" sz="1100" b="1" dirty="0">
                <a:solidFill>
                  <a:srgbClr val="3FB950"/>
                </a:solidFill>
                <a:latin typeface="Calibri" pitchFamily="34" charset="0"/>
                <a:ea typeface="Calibri" pitchFamily="34" charset="-122"/>
                <a:cs typeface="Calibri" pitchFamily="34" charset="-120"/>
              </a:rPr>
              <a:t>✅  The Right Way — pathlib.Path</a:t>
            </a:r>
            <a:endParaRPr lang="en-US" sz="1100" dirty="0"/>
          </a:p>
        </p:txBody>
      </p:sp>
      <p:sp>
        <p:nvSpPr>
          <p:cNvPr id="21" name="Text 19"/>
          <p:cNvSpPr/>
          <p:nvPr/>
        </p:nvSpPr>
        <p:spPr>
          <a:xfrm>
            <a:off x="4800600" y="1572768"/>
            <a:ext cx="3803904" cy="201168"/>
          </a:xfrm>
          <a:prstGeom prst="rect">
            <a:avLst/>
          </a:prstGeom>
          <a:noFill/>
          <a:ln/>
        </p:spPr>
        <p:txBody>
          <a:bodyPr wrap="square" lIns="0" tIns="0" rIns="0" bIns="0" rtlCol="0" anchor="ctr"/>
          <a:lstStyle/>
          <a:p>
            <a:pPr marL="0" indent="0">
              <a:buNone/>
            </a:pPr>
            <a:r>
              <a:rPr lang="en-US" sz="950" dirty="0">
                <a:solidFill>
                  <a:srgbClr val="3FB950"/>
                </a:solidFill>
                <a:latin typeface="Consolas" pitchFamily="34" charset="0"/>
                <a:ea typeface="Consolas" pitchFamily="34" charset="-122"/>
                <a:cs typeface="Consolas" pitchFamily="34" charset="-120"/>
              </a:rPr>
              <a:t>from pathlib import Path</a:t>
            </a:r>
            <a:endParaRPr lang="en-US" sz="950" dirty="0"/>
          </a:p>
        </p:txBody>
      </p:sp>
      <p:sp>
        <p:nvSpPr>
          <p:cNvPr id="22" name="Text 20"/>
          <p:cNvSpPr/>
          <p:nvPr/>
        </p:nvSpPr>
        <p:spPr>
          <a:xfrm>
            <a:off x="4800600" y="1792224"/>
            <a:ext cx="3803904" cy="201168"/>
          </a:xfrm>
          <a:prstGeom prst="rect">
            <a:avLst/>
          </a:prstGeom>
          <a:noFill/>
          <a:ln/>
        </p:spPr>
        <p:txBody>
          <a:bodyPr wrap="square" lIns="0" tIns="0" rIns="0" bIns="0" rtlCol="0" anchor="ctr"/>
          <a:lstStyle/>
          <a:p>
            <a:pPr marL="0" indent="0">
              <a:buNone/>
            </a:pPr>
            <a:endParaRPr lang="en-US" sz="950" dirty="0"/>
          </a:p>
        </p:txBody>
      </p:sp>
      <p:sp>
        <p:nvSpPr>
          <p:cNvPr id="23" name="Text 21"/>
          <p:cNvSpPr/>
          <p:nvPr/>
        </p:nvSpPr>
        <p:spPr>
          <a:xfrm>
            <a:off x="4800600" y="2011680"/>
            <a:ext cx="3803904" cy="201168"/>
          </a:xfrm>
          <a:prstGeom prst="rect">
            <a:avLst/>
          </a:prstGeom>
          <a:noFill/>
          <a:ln/>
        </p:spPr>
        <p:txBody>
          <a:bodyPr wrap="square" lIns="0" tIns="0" rIns="0" bIns="0" rtlCol="0" anchor="ctr"/>
          <a:lstStyle/>
          <a:p>
            <a:pPr marL="0" indent="0">
              <a:buNone/>
            </a:pPr>
            <a:r>
              <a:rPr lang="en-US" sz="950" dirty="0">
                <a:solidFill>
                  <a:srgbClr val="3D444D"/>
                </a:solidFill>
                <a:latin typeface="Consolas" pitchFamily="34" charset="0"/>
                <a:ea typeface="Consolas" pitchFamily="34" charset="-122"/>
                <a:cs typeface="Consolas" pitchFamily="34" charset="-120"/>
              </a:rPr>
              <a:t># Works on ALL operating systems:</a:t>
            </a:r>
            <a:endParaRPr lang="en-US" sz="950" dirty="0"/>
          </a:p>
        </p:txBody>
      </p:sp>
      <p:sp>
        <p:nvSpPr>
          <p:cNvPr id="24" name="Text 22"/>
          <p:cNvSpPr/>
          <p:nvPr/>
        </p:nvSpPr>
        <p:spPr>
          <a:xfrm>
            <a:off x="4800600" y="2231136"/>
            <a:ext cx="3803904" cy="201168"/>
          </a:xfrm>
          <a:prstGeom prst="rect">
            <a:avLst/>
          </a:prstGeom>
          <a:noFill/>
          <a:ln/>
        </p:spPr>
        <p:txBody>
          <a:bodyPr wrap="square" lIns="0" tIns="0" rIns="0" bIns="0" rtlCol="0" anchor="ctr"/>
          <a:lstStyle/>
          <a:p>
            <a:pPr marL="0" indent="0">
              <a:buNone/>
            </a:pPr>
            <a:r>
              <a:rPr lang="en-US" sz="950" dirty="0">
                <a:solidFill>
                  <a:srgbClr val="3FB950"/>
                </a:solidFill>
                <a:latin typeface="Consolas" pitchFamily="34" charset="0"/>
                <a:ea typeface="Consolas" pitchFamily="34" charset="-122"/>
                <a:cs typeface="Consolas" pitchFamily="34" charset="-120"/>
              </a:rPr>
              <a:t>base = Path.home()</a:t>
            </a:r>
            <a:endParaRPr lang="en-US" sz="950" dirty="0"/>
          </a:p>
        </p:txBody>
      </p:sp>
      <p:sp>
        <p:nvSpPr>
          <p:cNvPr id="25" name="Text 23"/>
          <p:cNvSpPr/>
          <p:nvPr/>
        </p:nvSpPr>
        <p:spPr>
          <a:xfrm>
            <a:off x="4800600" y="2450592"/>
            <a:ext cx="3803904" cy="201168"/>
          </a:xfrm>
          <a:prstGeom prst="rect">
            <a:avLst/>
          </a:prstGeom>
          <a:noFill/>
          <a:ln/>
        </p:spPr>
        <p:txBody>
          <a:bodyPr wrap="square" lIns="0" tIns="0" rIns="0" bIns="0" rtlCol="0" anchor="ctr"/>
          <a:lstStyle/>
          <a:p>
            <a:pPr marL="0" indent="0">
              <a:buNone/>
            </a:pPr>
            <a:r>
              <a:rPr lang="en-US" sz="950" dirty="0">
                <a:solidFill>
                  <a:srgbClr val="F0F6FC"/>
                </a:solidFill>
                <a:latin typeface="Consolas" pitchFamily="34" charset="0"/>
                <a:ea typeface="Consolas" pitchFamily="34" charset="-122"/>
                <a:cs typeface="Consolas" pitchFamily="34" charset="-120"/>
              </a:rPr>
              <a:t>file = base / "Documents" / "file.txt"</a:t>
            </a:r>
            <a:endParaRPr lang="en-US" sz="950" dirty="0"/>
          </a:p>
        </p:txBody>
      </p:sp>
      <p:sp>
        <p:nvSpPr>
          <p:cNvPr id="26" name="Text 24"/>
          <p:cNvSpPr/>
          <p:nvPr/>
        </p:nvSpPr>
        <p:spPr>
          <a:xfrm>
            <a:off x="4800600" y="2670048"/>
            <a:ext cx="3803904" cy="201168"/>
          </a:xfrm>
          <a:prstGeom prst="rect">
            <a:avLst/>
          </a:prstGeom>
          <a:noFill/>
          <a:ln/>
        </p:spPr>
        <p:txBody>
          <a:bodyPr wrap="square" lIns="0" tIns="0" rIns="0" bIns="0" rtlCol="0" anchor="ctr"/>
          <a:lstStyle/>
          <a:p>
            <a:pPr marL="0" indent="0">
              <a:buNone/>
            </a:pPr>
            <a:endParaRPr lang="en-US" sz="950" dirty="0"/>
          </a:p>
        </p:txBody>
      </p:sp>
      <p:sp>
        <p:nvSpPr>
          <p:cNvPr id="27" name="Text 25"/>
          <p:cNvSpPr/>
          <p:nvPr/>
        </p:nvSpPr>
        <p:spPr>
          <a:xfrm>
            <a:off x="4800600" y="2889504"/>
            <a:ext cx="3803904" cy="201168"/>
          </a:xfrm>
          <a:prstGeom prst="rect">
            <a:avLst/>
          </a:prstGeom>
          <a:noFill/>
          <a:ln/>
        </p:spPr>
        <p:txBody>
          <a:bodyPr wrap="square" lIns="0" tIns="0" rIns="0" bIns="0" rtlCol="0" anchor="ctr"/>
          <a:lstStyle/>
          <a:p>
            <a:pPr marL="0" indent="0">
              <a:buNone/>
            </a:pPr>
            <a:r>
              <a:rPr lang="en-US" sz="950" dirty="0">
                <a:solidFill>
                  <a:srgbClr val="3D444D"/>
                </a:solidFill>
                <a:latin typeface="Consolas" pitchFamily="34" charset="0"/>
                <a:ea typeface="Consolas" pitchFamily="34" charset="-122"/>
                <a:cs typeface="Consolas" pitchFamily="34" charset="-120"/>
              </a:rPr>
              <a:t># Relative path (portable):</a:t>
            </a:r>
            <a:endParaRPr lang="en-US" sz="950" dirty="0"/>
          </a:p>
        </p:txBody>
      </p:sp>
      <p:sp>
        <p:nvSpPr>
          <p:cNvPr id="28" name="Text 26"/>
          <p:cNvSpPr/>
          <p:nvPr/>
        </p:nvSpPr>
        <p:spPr>
          <a:xfrm>
            <a:off x="4800600" y="3108960"/>
            <a:ext cx="3803904" cy="201168"/>
          </a:xfrm>
          <a:prstGeom prst="rect">
            <a:avLst/>
          </a:prstGeom>
          <a:noFill/>
          <a:ln/>
        </p:spPr>
        <p:txBody>
          <a:bodyPr wrap="square" lIns="0" tIns="0" rIns="0" bIns="0" rtlCol="0" anchor="ctr"/>
          <a:lstStyle/>
          <a:p>
            <a:pPr marL="0" indent="0">
              <a:buNone/>
            </a:pPr>
            <a:r>
              <a:rPr lang="en-US" sz="950" dirty="0">
                <a:solidFill>
                  <a:srgbClr val="3FB950"/>
                </a:solidFill>
                <a:latin typeface="Consolas" pitchFamily="34" charset="0"/>
                <a:ea typeface="Consolas" pitchFamily="34" charset="-122"/>
                <a:cs typeface="Consolas" pitchFamily="34" charset="-120"/>
              </a:rPr>
              <a:t>data = Path("data") / "report.csv"</a:t>
            </a:r>
            <a:endParaRPr lang="en-US" sz="950" dirty="0"/>
          </a:p>
        </p:txBody>
      </p:sp>
      <p:sp>
        <p:nvSpPr>
          <p:cNvPr id="29" name="Shape 27"/>
          <p:cNvSpPr/>
          <p:nvPr/>
        </p:nvSpPr>
        <p:spPr>
          <a:xfrm>
            <a:off x="411480" y="3383280"/>
            <a:ext cx="8321040" cy="1024128"/>
          </a:xfrm>
          <a:prstGeom prst="rect">
            <a:avLst/>
          </a:prstGeom>
          <a:solidFill>
            <a:srgbClr val="161B26"/>
          </a:solidFill>
          <a:ln w="15240">
            <a:solidFill>
              <a:srgbClr val="BC8CFF"/>
            </a:solidFill>
            <a:prstDash val="solid"/>
          </a:ln>
          <a:effectLst>
            <a:outerShdw blurRad="177800" dist="38100" dir="8100000" algn="bl" rotWithShape="0">
              <a:srgbClr val="000000">
                <a:alpha val="35000"/>
              </a:srgbClr>
            </a:outerShdw>
          </a:effectLst>
        </p:spPr>
        <p:txBody>
          <a:bodyPr/>
          <a:lstStyle/>
          <a:p>
            <a:endParaRPr lang="en-US"/>
          </a:p>
        </p:txBody>
      </p:sp>
      <p:sp>
        <p:nvSpPr>
          <p:cNvPr id="30" name="Shape 28"/>
          <p:cNvSpPr/>
          <p:nvPr/>
        </p:nvSpPr>
        <p:spPr>
          <a:xfrm>
            <a:off x="411480" y="3383280"/>
            <a:ext cx="8321040" cy="329184"/>
          </a:xfrm>
          <a:prstGeom prst="rect">
            <a:avLst/>
          </a:prstGeom>
          <a:solidFill>
            <a:srgbClr val="BC8CFF">
              <a:alpha val="78000"/>
            </a:srgbClr>
          </a:solidFill>
          <a:ln w="12700">
            <a:solidFill>
              <a:srgbClr val="BC8CFF"/>
            </a:solidFill>
            <a:prstDash val="solid"/>
          </a:ln>
        </p:spPr>
        <p:txBody>
          <a:bodyPr/>
          <a:lstStyle/>
          <a:p>
            <a:endParaRPr lang="en-US"/>
          </a:p>
        </p:txBody>
      </p:sp>
      <p:sp>
        <p:nvSpPr>
          <p:cNvPr id="31" name="Text 29"/>
          <p:cNvSpPr/>
          <p:nvPr/>
        </p:nvSpPr>
        <p:spPr>
          <a:xfrm>
            <a:off x="548640" y="3429000"/>
            <a:ext cx="8046720" cy="256032"/>
          </a:xfrm>
          <a:prstGeom prst="rect">
            <a:avLst/>
          </a:prstGeom>
          <a:noFill/>
          <a:ln/>
        </p:spPr>
        <p:txBody>
          <a:bodyPr wrap="square" lIns="0" tIns="0" rIns="0" bIns="0" rtlCol="0" anchor="ctr"/>
          <a:lstStyle/>
          <a:p>
            <a:pPr marL="0" indent="0">
              <a:buNone/>
            </a:pPr>
            <a:r>
              <a:rPr lang="en-US" sz="1100" b="1" dirty="0">
                <a:solidFill>
                  <a:srgbClr val="BC8CFF"/>
                </a:solidFill>
                <a:latin typeface="Calibri" pitchFamily="34" charset="0"/>
                <a:ea typeface="Calibri" pitchFamily="34" charset="-122"/>
                <a:cs typeface="Calibri" pitchFamily="34" charset="-120"/>
              </a:rPr>
              <a:t>🛠️  Useful pathlib.Path Methods</a:t>
            </a:r>
            <a:endParaRPr lang="en-US" sz="1100" dirty="0"/>
          </a:p>
        </p:txBody>
      </p:sp>
      <p:sp>
        <p:nvSpPr>
          <p:cNvPr id="32" name="Text 30"/>
          <p:cNvSpPr/>
          <p:nvPr/>
        </p:nvSpPr>
        <p:spPr>
          <a:xfrm>
            <a:off x="548640" y="3749040"/>
            <a:ext cx="969264" cy="219456"/>
          </a:xfrm>
          <a:prstGeom prst="rect">
            <a:avLst/>
          </a:prstGeom>
          <a:noFill/>
          <a:ln/>
        </p:spPr>
        <p:txBody>
          <a:bodyPr wrap="square" lIns="0" tIns="0" rIns="0" bIns="0" rtlCol="0" anchor="ctr"/>
          <a:lstStyle/>
          <a:p>
            <a:pPr marL="0" indent="0">
              <a:buNone/>
            </a:pPr>
            <a:r>
              <a:rPr lang="en-US" sz="850" b="1" dirty="0">
                <a:solidFill>
                  <a:srgbClr val="BC8CFF"/>
                </a:solidFill>
                <a:latin typeface="Consolas" pitchFamily="34" charset="0"/>
                <a:ea typeface="Consolas" pitchFamily="34" charset="-122"/>
                <a:cs typeface="Consolas" pitchFamily="34" charset="-120"/>
              </a:rPr>
              <a:t>Path.home()</a:t>
            </a:r>
            <a:endParaRPr lang="en-US" sz="850" dirty="0"/>
          </a:p>
        </p:txBody>
      </p:sp>
      <p:sp>
        <p:nvSpPr>
          <p:cNvPr id="33" name="Text 31"/>
          <p:cNvSpPr/>
          <p:nvPr/>
        </p:nvSpPr>
        <p:spPr>
          <a:xfrm>
            <a:off x="548640" y="3959352"/>
            <a:ext cx="969264" cy="182880"/>
          </a:xfrm>
          <a:prstGeom prst="rect">
            <a:avLst/>
          </a:prstGeom>
          <a:noFill/>
          <a:ln/>
        </p:spPr>
        <p:txBody>
          <a:bodyPr wrap="square" lIns="0" tIns="0" rIns="0" bIns="0" rtlCol="0" anchor="ctr"/>
          <a:lstStyle/>
          <a:p>
            <a:pPr marL="0" indent="0">
              <a:buNone/>
            </a:pPr>
            <a:r>
              <a:rPr lang="en-US" sz="850" dirty="0">
                <a:solidFill>
                  <a:srgbClr val="8B949E"/>
                </a:solidFill>
                <a:latin typeface="Calibri" pitchFamily="34" charset="0"/>
                <a:ea typeface="Calibri" pitchFamily="34" charset="-122"/>
                <a:cs typeface="Calibri" pitchFamily="34" charset="-120"/>
              </a:rPr>
              <a:t>User home dir</a:t>
            </a:r>
            <a:endParaRPr lang="en-US" sz="850" dirty="0"/>
          </a:p>
        </p:txBody>
      </p:sp>
      <p:sp>
        <p:nvSpPr>
          <p:cNvPr id="34" name="Text 32"/>
          <p:cNvSpPr/>
          <p:nvPr/>
        </p:nvSpPr>
        <p:spPr>
          <a:xfrm>
            <a:off x="1591056" y="3749040"/>
            <a:ext cx="969264" cy="219456"/>
          </a:xfrm>
          <a:prstGeom prst="rect">
            <a:avLst/>
          </a:prstGeom>
          <a:noFill/>
          <a:ln/>
        </p:spPr>
        <p:txBody>
          <a:bodyPr wrap="square" lIns="0" tIns="0" rIns="0" bIns="0" rtlCol="0" anchor="ctr"/>
          <a:lstStyle/>
          <a:p>
            <a:pPr marL="0" indent="0">
              <a:buNone/>
            </a:pPr>
            <a:r>
              <a:rPr lang="en-US" sz="850" b="1" dirty="0">
                <a:solidFill>
                  <a:srgbClr val="BC8CFF"/>
                </a:solidFill>
                <a:latin typeface="Consolas" pitchFamily="34" charset="0"/>
                <a:ea typeface="Consolas" pitchFamily="34" charset="-122"/>
                <a:cs typeface="Consolas" pitchFamily="34" charset="-120"/>
              </a:rPr>
              <a:t>Path.cwd()</a:t>
            </a:r>
            <a:endParaRPr lang="en-US" sz="850" dirty="0"/>
          </a:p>
        </p:txBody>
      </p:sp>
      <p:sp>
        <p:nvSpPr>
          <p:cNvPr id="35" name="Text 33"/>
          <p:cNvSpPr/>
          <p:nvPr/>
        </p:nvSpPr>
        <p:spPr>
          <a:xfrm>
            <a:off x="1591056" y="3959352"/>
            <a:ext cx="969264" cy="182880"/>
          </a:xfrm>
          <a:prstGeom prst="rect">
            <a:avLst/>
          </a:prstGeom>
          <a:noFill/>
          <a:ln/>
        </p:spPr>
        <p:txBody>
          <a:bodyPr wrap="square" lIns="0" tIns="0" rIns="0" bIns="0" rtlCol="0" anchor="ctr"/>
          <a:lstStyle/>
          <a:p>
            <a:pPr marL="0" indent="0">
              <a:buNone/>
            </a:pPr>
            <a:r>
              <a:rPr lang="en-US" sz="850" dirty="0">
                <a:solidFill>
                  <a:srgbClr val="8B949E"/>
                </a:solidFill>
                <a:latin typeface="Calibri" pitchFamily="34" charset="0"/>
                <a:ea typeface="Calibri" pitchFamily="34" charset="-122"/>
                <a:cs typeface="Calibri" pitchFamily="34" charset="-120"/>
              </a:rPr>
              <a:t>Current directory</a:t>
            </a:r>
            <a:endParaRPr lang="en-US" sz="850" dirty="0"/>
          </a:p>
        </p:txBody>
      </p:sp>
      <p:sp>
        <p:nvSpPr>
          <p:cNvPr id="36" name="Text 34"/>
          <p:cNvSpPr/>
          <p:nvPr/>
        </p:nvSpPr>
        <p:spPr>
          <a:xfrm>
            <a:off x="2633472" y="3749040"/>
            <a:ext cx="969264" cy="219456"/>
          </a:xfrm>
          <a:prstGeom prst="rect">
            <a:avLst/>
          </a:prstGeom>
          <a:noFill/>
          <a:ln/>
        </p:spPr>
        <p:txBody>
          <a:bodyPr wrap="square" lIns="0" tIns="0" rIns="0" bIns="0" rtlCol="0" anchor="ctr"/>
          <a:lstStyle/>
          <a:p>
            <a:pPr marL="0" indent="0">
              <a:buNone/>
            </a:pPr>
            <a:r>
              <a:rPr lang="en-US" sz="850" b="1" dirty="0">
                <a:solidFill>
                  <a:srgbClr val="BC8CFF"/>
                </a:solidFill>
                <a:latin typeface="Consolas" pitchFamily="34" charset="0"/>
                <a:ea typeface="Consolas" pitchFamily="34" charset="-122"/>
                <a:cs typeface="Consolas" pitchFamily="34" charset="-120"/>
              </a:rPr>
              <a:t>p.name</a:t>
            </a:r>
            <a:endParaRPr lang="en-US" sz="850" dirty="0"/>
          </a:p>
        </p:txBody>
      </p:sp>
      <p:sp>
        <p:nvSpPr>
          <p:cNvPr id="37" name="Text 35"/>
          <p:cNvSpPr/>
          <p:nvPr/>
        </p:nvSpPr>
        <p:spPr>
          <a:xfrm>
            <a:off x="2633472" y="3959352"/>
            <a:ext cx="969264" cy="182880"/>
          </a:xfrm>
          <a:prstGeom prst="rect">
            <a:avLst/>
          </a:prstGeom>
          <a:noFill/>
          <a:ln/>
        </p:spPr>
        <p:txBody>
          <a:bodyPr wrap="square" lIns="0" tIns="0" rIns="0" bIns="0" rtlCol="0" anchor="ctr"/>
          <a:lstStyle/>
          <a:p>
            <a:pPr marL="0" indent="0">
              <a:buNone/>
            </a:pPr>
            <a:r>
              <a:rPr lang="en-US" sz="850" dirty="0">
                <a:solidFill>
                  <a:srgbClr val="8B949E"/>
                </a:solidFill>
                <a:latin typeface="Calibri" pitchFamily="34" charset="0"/>
                <a:ea typeface="Calibri" pitchFamily="34" charset="-122"/>
                <a:cs typeface="Calibri" pitchFamily="34" charset="-120"/>
              </a:rPr>
              <a:t>Filename with ext</a:t>
            </a:r>
            <a:endParaRPr lang="en-US" sz="850" dirty="0"/>
          </a:p>
        </p:txBody>
      </p:sp>
      <p:sp>
        <p:nvSpPr>
          <p:cNvPr id="38" name="Text 36"/>
          <p:cNvSpPr/>
          <p:nvPr/>
        </p:nvSpPr>
        <p:spPr>
          <a:xfrm>
            <a:off x="3675888" y="3749040"/>
            <a:ext cx="969264" cy="219456"/>
          </a:xfrm>
          <a:prstGeom prst="rect">
            <a:avLst/>
          </a:prstGeom>
          <a:noFill/>
          <a:ln/>
        </p:spPr>
        <p:txBody>
          <a:bodyPr wrap="square" lIns="0" tIns="0" rIns="0" bIns="0" rtlCol="0" anchor="ctr"/>
          <a:lstStyle/>
          <a:p>
            <a:pPr marL="0" indent="0">
              <a:buNone/>
            </a:pPr>
            <a:r>
              <a:rPr lang="en-US" sz="850" b="1" dirty="0">
                <a:solidFill>
                  <a:srgbClr val="BC8CFF"/>
                </a:solidFill>
                <a:latin typeface="Consolas" pitchFamily="34" charset="0"/>
                <a:ea typeface="Consolas" pitchFamily="34" charset="-122"/>
                <a:cs typeface="Consolas" pitchFamily="34" charset="-120"/>
              </a:rPr>
              <a:t>p.stem</a:t>
            </a:r>
            <a:endParaRPr lang="en-US" sz="850" dirty="0"/>
          </a:p>
        </p:txBody>
      </p:sp>
      <p:sp>
        <p:nvSpPr>
          <p:cNvPr id="39" name="Text 37"/>
          <p:cNvSpPr/>
          <p:nvPr/>
        </p:nvSpPr>
        <p:spPr>
          <a:xfrm>
            <a:off x="3675888" y="3959352"/>
            <a:ext cx="969264" cy="182880"/>
          </a:xfrm>
          <a:prstGeom prst="rect">
            <a:avLst/>
          </a:prstGeom>
          <a:noFill/>
          <a:ln/>
        </p:spPr>
        <p:txBody>
          <a:bodyPr wrap="square" lIns="0" tIns="0" rIns="0" bIns="0" rtlCol="0" anchor="ctr"/>
          <a:lstStyle/>
          <a:p>
            <a:pPr marL="0" indent="0">
              <a:buNone/>
            </a:pPr>
            <a:r>
              <a:rPr lang="en-US" sz="850" dirty="0">
                <a:solidFill>
                  <a:srgbClr val="8B949E"/>
                </a:solidFill>
                <a:latin typeface="Calibri" pitchFamily="34" charset="0"/>
                <a:ea typeface="Calibri" pitchFamily="34" charset="-122"/>
                <a:cs typeface="Calibri" pitchFamily="34" charset="-120"/>
              </a:rPr>
              <a:t>Filename without ext</a:t>
            </a:r>
            <a:endParaRPr lang="en-US" sz="850" dirty="0"/>
          </a:p>
        </p:txBody>
      </p:sp>
      <p:sp>
        <p:nvSpPr>
          <p:cNvPr id="40" name="Text 38"/>
          <p:cNvSpPr/>
          <p:nvPr/>
        </p:nvSpPr>
        <p:spPr>
          <a:xfrm>
            <a:off x="4718304" y="3749040"/>
            <a:ext cx="969264" cy="219456"/>
          </a:xfrm>
          <a:prstGeom prst="rect">
            <a:avLst/>
          </a:prstGeom>
          <a:noFill/>
          <a:ln/>
        </p:spPr>
        <p:txBody>
          <a:bodyPr wrap="square" lIns="0" tIns="0" rIns="0" bIns="0" rtlCol="0" anchor="ctr"/>
          <a:lstStyle/>
          <a:p>
            <a:pPr marL="0" indent="0">
              <a:buNone/>
            </a:pPr>
            <a:r>
              <a:rPr lang="en-US" sz="850" b="1" dirty="0">
                <a:solidFill>
                  <a:srgbClr val="BC8CFF"/>
                </a:solidFill>
                <a:latin typeface="Consolas" pitchFamily="34" charset="0"/>
                <a:ea typeface="Consolas" pitchFamily="34" charset="-122"/>
                <a:cs typeface="Consolas" pitchFamily="34" charset="-120"/>
              </a:rPr>
              <a:t>p.suffix</a:t>
            </a:r>
            <a:endParaRPr lang="en-US" sz="850" dirty="0"/>
          </a:p>
        </p:txBody>
      </p:sp>
      <p:sp>
        <p:nvSpPr>
          <p:cNvPr id="41" name="Text 39"/>
          <p:cNvSpPr/>
          <p:nvPr/>
        </p:nvSpPr>
        <p:spPr>
          <a:xfrm>
            <a:off x="4718304" y="3959352"/>
            <a:ext cx="969264" cy="182880"/>
          </a:xfrm>
          <a:prstGeom prst="rect">
            <a:avLst/>
          </a:prstGeom>
          <a:noFill/>
          <a:ln/>
        </p:spPr>
        <p:txBody>
          <a:bodyPr wrap="square" lIns="0" tIns="0" rIns="0" bIns="0" rtlCol="0" anchor="ctr"/>
          <a:lstStyle/>
          <a:p>
            <a:pPr marL="0" indent="0">
              <a:buNone/>
            </a:pPr>
            <a:r>
              <a:rPr lang="en-US" sz="850" dirty="0">
                <a:solidFill>
                  <a:srgbClr val="8B949E"/>
                </a:solidFill>
                <a:latin typeface="Calibri" pitchFamily="34" charset="0"/>
                <a:ea typeface="Calibri" pitchFamily="34" charset="-122"/>
                <a:cs typeface="Calibri" pitchFamily="34" charset="-120"/>
              </a:rPr>
              <a:t>Extension (.py)</a:t>
            </a:r>
            <a:endParaRPr lang="en-US" sz="850" dirty="0"/>
          </a:p>
        </p:txBody>
      </p:sp>
      <p:sp>
        <p:nvSpPr>
          <p:cNvPr id="42" name="Text 40"/>
          <p:cNvSpPr/>
          <p:nvPr/>
        </p:nvSpPr>
        <p:spPr>
          <a:xfrm>
            <a:off x="5760720" y="3749040"/>
            <a:ext cx="969264" cy="219456"/>
          </a:xfrm>
          <a:prstGeom prst="rect">
            <a:avLst/>
          </a:prstGeom>
          <a:noFill/>
          <a:ln/>
        </p:spPr>
        <p:txBody>
          <a:bodyPr wrap="square" lIns="0" tIns="0" rIns="0" bIns="0" rtlCol="0" anchor="ctr"/>
          <a:lstStyle/>
          <a:p>
            <a:pPr marL="0" indent="0">
              <a:buNone/>
            </a:pPr>
            <a:r>
              <a:rPr lang="en-US" sz="850" b="1" dirty="0">
                <a:solidFill>
                  <a:srgbClr val="BC8CFF"/>
                </a:solidFill>
                <a:latin typeface="Consolas" pitchFamily="34" charset="0"/>
                <a:ea typeface="Consolas" pitchFamily="34" charset="-122"/>
                <a:cs typeface="Consolas" pitchFamily="34" charset="-120"/>
              </a:rPr>
              <a:t>p.parent</a:t>
            </a:r>
            <a:endParaRPr lang="en-US" sz="850" dirty="0"/>
          </a:p>
        </p:txBody>
      </p:sp>
      <p:sp>
        <p:nvSpPr>
          <p:cNvPr id="43" name="Text 41"/>
          <p:cNvSpPr/>
          <p:nvPr/>
        </p:nvSpPr>
        <p:spPr>
          <a:xfrm>
            <a:off x="5760720" y="3959352"/>
            <a:ext cx="969264" cy="182880"/>
          </a:xfrm>
          <a:prstGeom prst="rect">
            <a:avLst/>
          </a:prstGeom>
          <a:noFill/>
          <a:ln/>
        </p:spPr>
        <p:txBody>
          <a:bodyPr wrap="square" lIns="0" tIns="0" rIns="0" bIns="0" rtlCol="0" anchor="ctr"/>
          <a:lstStyle/>
          <a:p>
            <a:pPr marL="0" indent="0">
              <a:buNone/>
            </a:pPr>
            <a:r>
              <a:rPr lang="en-US" sz="850" dirty="0">
                <a:solidFill>
                  <a:srgbClr val="8B949E"/>
                </a:solidFill>
                <a:latin typeface="Calibri" pitchFamily="34" charset="0"/>
                <a:ea typeface="Calibri" pitchFamily="34" charset="-122"/>
                <a:cs typeface="Calibri" pitchFamily="34" charset="-120"/>
              </a:rPr>
              <a:t>Parent folder</a:t>
            </a:r>
            <a:endParaRPr lang="en-US" sz="850" dirty="0"/>
          </a:p>
        </p:txBody>
      </p:sp>
      <p:sp>
        <p:nvSpPr>
          <p:cNvPr id="44" name="Text 42"/>
          <p:cNvSpPr/>
          <p:nvPr/>
        </p:nvSpPr>
        <p:spPr>
          <a:xfrm>
            <a:off x="6803136" y="3749040"/>
            <a:ext cx="969264" cy="219456"/>
          </a:xfrm>
          <a:prstGeom prst="rect">
            <a:avLst/>
          </a:prstGeom>
          <a:noFill/>
          <a:ln/>
        </p:spPr>
        <p:txBody>
          <a:bodyPr wrap="square" lIns="0" tIns="0" rIns="0" bIns="0" rtlCol="0" anchor="ctr"/>
          <a:lstStyle/>
          <a:p>
            <a:pPr marL="0" indent="0">
              <a:buNone/>
            </a:pPr>
            <a:r>
              <a:rPr lang="en-US" sz="850" b="1" dirty="0">
                <a:solidFill>
                  <a:srgbClr val="BC8CFF"/>
                </a:solidFill>
                <a:latin typeface="Consolas" pitchFamily="34" charset="0"/>
                <a:ea typeface="Consolas" pitchFamily="34" charset="-122"/>
                <a:cs typeface="Consolas" pitchFamily="34" charset="-120"/>
              </a:rPr>
              <a:t>p.exists()</a:t>
            </a:r>
            <a:endParaRPr lang="en-US" sz="850" dirty="0"/>
          </a:p>
        </p:txBody>
      </p:sp>
      <p:sp>
        <p:nvSpPr>
          <p:cNvPr id="45" name="Text 43"/>
          <p:cNvSpPr/>
          <p:nvPr/>
        </p:nvSpPr>
        <p:spPr>
          <a:xfrm>
            <a:off x="6803136" y="3959352"/>
            <a:ext cx="969264" cy="182880"/>
          </a:xfrm>
          <a:prstGeom prst="rect">
            <a:avLst/>
          </a:prstGeom>
          <a:noFill/>
          <a:ln/>
        </p:spPr>
        <p:txBody>
          <a:bodyPr wrap="square" lIns="0" tIns="0" rIns="0" bIns="0" rtlCol="0" anchor="ctr"/>
          <a:lstStyle/>
          <a:p>
            <a:pPr marL="0" indent="0">
              <a:buNone/>
            </a:pPr>
            <a:r>
              <a:rPr lang="en-US" sz="850" dirty="0">
                <a:solidFill>
                  <a:srgbClr val="8B949E"/>
                </a:solidFill>
                <a:latin typeface="Calibri" pitchFamily="34" charset="0"/>
                <a:ea typeface="Calibri" pitchFamily="34" charset="-122"/>
                <a:cs typeface="Calibri" pitchFamily="34" charset="-120"/>
              </a:rPr>
              <a:t>Does it exist?</a:t>
            </a:r>
            <a:endParaRPr lang="en-US" sz="850" dirty="0"/>
          </a:p>
        </p:txBody>
      </p:sp>
      <p:sp>
        <p:nvSpPr>
          <p:cNvPr id="46" name="Text 44"/>
          <p:cNvSpPr/>
          <p:nvPr/>
        </p:nvSpPr>
        <p:spPr>
          <a:xfrm>
            <a:off x="7845552" y="3749040"/>
            <a:ext cx="969264" cy="219456"/>
          </a:xfrm>
          <a:prstGeom prst="rect">
            <a:avLst/>
          </a:prstGeom>
          <a:noFill/>
          <a:ln/>
        </p:spPr>
        <p:txBody>
          <a:bodyPr wrap="square" lIns="0" tIns="0" rIns="0" bIns="0" rtlCol="0" anchor="ctr"/>
          <a:lstStyle/>
          <a:p>
            <a:pPr marL="0" indent="0">
              <a:buNone/>
            </a:pPr>
            <a:r>
              <a:rPr lang="en-US" sz="850" b="1" dirty="0">
                <a:solidFill>
                  <a:srgbClr val="BC8CFF"/>
                </a:solidFill>
                <a:latin typeface="Consolas" pitchFamily="34" charset="0"/>
                <a:ea typeface="Consolas" pitchFamily="34" charset="-122"/>
                <a:cs typeface="Consolas" pitchFamily="34" charset="-120"/>
              </a:rPr>
              <a:t>p.is_file()</a:t>
            </a:r>
            <a:endParaRPr lang="en-US" sz="850" dirty="0"/>
          </a:p>
        </p:txBody>
      </p:sp>
      <p:sp>
        <p:nvSpPr>
          <p:cNvPr id="47" name="Text 45"/>
          <p:cNvSpPr/>
          <p:nvPr/>
        </p:nvSpPr>
        <p:spPr>
          <a:xfrm>
            <a:off x="7845552" y="3959352"/>
            <a:ext cx="969264" cy="182880"/>
          </a:xfrm>
          <a:prstGeom prst="rect">
            <a:avLst/>
          </a:prstGeom>
          <a:noFill/>
          <a:ln/>
        </p:spPr>
        <p:txBody>
          <a:bodyPr wrap="square" lIns="0" tIns="0" rIns="0" bIns="0" rtlCol="0" anchor="ctr"/>
          <a:lstStyle/>
          <a:p>
            <a:pPr marL="0" indent="0">
              <a:buNone/>
            </a:pPr>
            <a:r>
              <a:rPr lang="en-US" sz="850" dirty="0">
                <a:solidFill>
                  <a:srgbClr val="8B949E"/>
                </a:solidFill>
                <a:latin typeface="Calibri" pitchFamily="34" charset="0"/>
                <a:ea typeface="Calibri" pitchFamily="34" charset="-122"/>
                <a:cs typeface="Calibri" pitchFamily="34" charset="-120"/>
              </a:rPr>
              <a:t>Is it a file?</a:t>
            </a:r>
            <a:endParaRPr lang="en-US" sz="850" dirty="0"/>
          </a:p>
        </p:txBody>
      </p:sp>
      <p:sp>
        <p:nvSpPr>
          <p:cNvPr id="48" name="Shape 46"/>
          <p:cNvSpPr/>
          <p:nvPr/>
        </p:nvSpPr>
        <p:spPr>
          <a:xfrm>
            <a:off x="365760" y="4572000"/>
            <a:ext cx="8412480" cy="384048"/>
          </a:xfrm>
          <a:prstGeom prst="rect">
            <a:avLst/>
          </a:prstGeom>
          <a:solidFill>
            <a:srgbClr val="0A1020"/>
          </a:solidFill>
          <a:ln w="12700">
            <a:solidFill>
              <a:srgbClr val="3FD9C4"/>
            </a:solidFill>
            <a:prstDash val="solid"/>
          </a:ln>
        </p:spPr>
        <p:txBody>
          <a:bodyPr/>
          <a:lstStyle/>
          <a:p>
            <a:endParaRPr lang="en-US"/>
          </a:p>
        </p:txBody>
      </p:sp>
      <p:sp>
        <p:nvSpPr>
          <p:cNvPr id="49" name="Text 47"/>
          <p:cNvSpPr/>
          <p:nvPr/>
        </p:nvSpPr>
        <p:spPr>
          <a:xfrm>
            <a:off x="502920" y="4599432"/>
            <a:ext cx="8229600" cy="310896"/>
          </a:xfrm>
          <a:prstGeom prst="rect">
            <a:avLst/>
          </a:prstGeom>
          <a:noFill/>
          <a:ln/>
        </p:spPr>
        <p:txBody>
          <a:bodyPr wrap="square" lIns="0" tIns="0" rIns="0" bIns="0" rtlCol="0" anchor="ctr"/>
          <a:lstStyle/>
          <a:p>
            <a:pPr marL="0" indent="0">
              <a:buNone/>
            </a:pPr>
            <a:r>
              <a:rPr lang="en-US" sz="1100" b="1" dirty="0">
                <a:solidFill>
                  <a:srgbClr val="3FD9C4"/>
                </a:solidFill>
                <a:latin typeface="Calibri" pitchFamily="34" charset="0"/>
                <a:ea typeface="Calibri" pitchFamily="34" charset="-122"/>
                <a:cs typeface="Calibri" pitchFamily="34" charset="-120"/>
              </a:rPr>
              <a:t>os.path vs pathlib:  </a:t>
            </a:r>
            <a:r>
              <a:rPr lang="en-US" sz="1100" dirty="0">
                <a:solidFill>
                  <a:srgbClr val="F0F6FC"/>
                </a:solidFill>
                <a:latin typeface="Calibri" pitchFamily="34" charset="0"/>
                <a:ea typeface="Calibri" pitchFamily="34" charset="-122"/>
                <a:cs typeface="Calibri" pitchFamily="34" charset="-120"/>
              </a:rPr>
              <a:t>Both work, but pathlib (Python 3.4+) is the modern standard — object-oriented, readable, cross-platform. Prefer  </a:t>
            </a:r>
            <a:r>
              <a:rPr lang="en-US" sz="1100" dirty="0">
                <a:solidFill>
                  <a:srgbClr val="3FD9C4"/>
                </a:solidFill>
                <a:latin typeface="Calibri" pitchFamily="34" charset="0"/>
                <a:ea typeface="Calibri" pitchFamily="34" charset="-122"/>
                <a:cs typeface="Calibri" pitchFamily="34" charset="-120"/>
              </a:rPr>
              <a:t>Path('dir') / 'file.txt'</a:t>
            </a:r>
            <a:r>
              <a:rPr lang="en-US" sz="1100" dirty="0">
                <a:solidFill>
                  <a:srgbClr val="8B949E"/>
                </a:solidFill>
                <a:latin typeface="Calibri" pitchFamily="34" charset="0"/>
                <a:ea typeface="Calibri" pitchFamily="34" charset="-122"/>
                <a:cs typeface="Calibri" pitchFamily="34" charset="-120"/>
              </a:rPr>
              <a:t>  over  </a:t>
            </a:r>
            <a:r>
              <a:rPr lang="en-US" sz="1100" dirty="0">
                <a:solidFill>
                  <a:srgbClr val="3D444D"/>
                </a:solidFill>
                <a:latin typeface="Calibri" pitchFamily="34" charset="0"/>
                <a:ea typeface="Calibri" pitchFamily="34" charset="-122"/>
                <a:cs typeface="Calibri" pitchFamily="34" charset="-120"/>
              </a:rPr>
              <a:t>os.path.join("dir","file.txt")</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tx2">
            <a:lumMod val="1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
          </a:xfrm>
          <a:prstGeom prst="rect">
            <a:avLst/>
          </a:prstGeom>
          <a:solidFill>
            <a:srgbClr val="3FD9C4"/>
          </a:solidFill>
          <a:ln w="12700">
            <a:solidFill>
              <a:srgbClr val="3FD9C4"/>
            </a:solidFill>
            <a:prstDash val="solid"/>
          </a:ln>
        </p:spPr>
        <p:txBody>
          <a:bodyPr/>
          <a:lstStyle/>
          <a:p>
            <a:endParaRPr lang="en-US"/>
          </a:p>
        </p:txBody>
      </p:sp>
      <p:sp>
        <p:nvSpPr>
          <p:cNvPr id="3" name="Shape 1"/>
          <p:cNvSpPr/>
          <p:nvPr/>
        </p:nvSpPr>
        <p:spPr>
          <a:xfrm>
            <a:off x="0" y="5093208"/>
            <a:ext cx="9144000" cy="50292"/>
          </a:xfrm>
          <a:prstGeom prst="rect">
            <a:avLst/>
          </a:prstGeom>
          <a:solidFill>
            <a:srgbClr val="BC8CFF"/>
          </a:solidFill>
          <a:ln w="12700">
            <a:solidFill>
              <a:srgbClr val="BC8CFF"/>
            </a:solidFill>
            <a:prstDash val="solid"/>
          </a:ln>
        </p:spPr>
        <p:txBody>
          <a:bodyPr/>
          <a:lstStyle/>
          <a:p>
            <a:endParaRPr lang="en-US"/>
          </a:p>
        </p:txBody>
      </p:sp>
      <p:sp>
        <p:nvSpPr>
          <p:cNvPr id="4" name="Text 2"/>
          <p:cNvSpPr/>
          <p:nvPr/>
        </p:nvSpPr>
        <p:spPr>
          <a:xfrm>
            <a:off x="457200" y="109728"/>
            <a:ext cx="8229600" cy="256032"/>
          </a:xfrm>
          <a:prstGeom prst="rect">
            <a:avLst/>
          </a:prstGeom>
          <a:noFill/>
          <a:ln/>
        </p:spPr>
        <p:txBody>
          <a:bodyPr wrap="square" lIns="0" tIns="0" rIns="0" bIns="0" rtlCol="0" anchor="ctr"/>
          <a:lstStyle/>
          <a:p>
            <a:pPr marL="0" indent="0">
              <a:buNone/>
            </a:pPr>
            <a:r>
              <a:rPr lang="en-US" sz="900" b="1" kern="0" spc="300" dirty="0">
                <a:solidFill>
                  <a:srgbClr val="3FD9C4"/>
                </a:solidFill>
                <a:latin typeface="Consolas" pitchFamily="34" charset="0"/>
                <a:ea typeface="Consolas" pitchFamily="34" charset="-122"/>
                <a:cs typeface="Consolas" pitchFamily="34" charset="-120"/>
              </a:rPr>
              <a:t>// SUMMARY</a:t>
            </a:r>
            <a:endParaRPr lang="en-US" sz="900" dirty="0"/>
          </a:p>
        </p:txBody>
      </p:sp>
      <p:sp>
        <p:nvSpPr>
          <p:cNvPr id="5" name="Text 3"/>
          <p:cNvSpPr/>
          <p:nvPr/>
        </p:nvSpPr>
        <p:spPr>
          <a:xfrm>
            <a:off x="457200" y="320040"/>
            <a:ext cx="8229600" cy="566928"/>
          </a:xfrm>
          <a:prstGeom prst="rect">
            <a:avLst/>
          </a:prstGeom>
          <a:noFill/>
          <a:ln/>
        </p:spPr>
        <p:txBody>
          <a:bodyPr wrap="square" lIns="0" tIns="0" rIns="0" bIns="0" rtlCol="0" anchor="ctr"/>
          <a:lstStyle/>
          <a:p>
            <a:pPr marL="0" indent="0">
              <a:buNone/>
            </a:pPr>
            <a:r>
              <a:rPr lang="en-US" sz="2800" b="1" dirty="0">
                <a:solidFill>
                  <a:srgbClr val="F0F6FC"/>
                </a:solidFill>
                <a:latin typeface="Calibri" pitchFamily="34" charset="0"/>
                <a:ea typeface="Calibri" pitchFamily="34" charset="-122"/>
                <a:cs typeface="Calibri" pitchFamily="34" charset="-120"/>
              </a:rPr>
              <a:t>Quick Reference — Cheat Sheet</a:t>
            </a:r>
            <a:endParaRPr lang="en-US" sz="2800" dirty="0"/>
          </a:p>
        </p:txBody>
      </p:sp>
      <p:sp>
        <p:nvSpPr>
          <p:cNvPr id="6" name="Text 4"/>
          <p:cNvSpPr/>
          <p:nvPr/>
        </p:nvSpPr>
        <p:spPr>
          <a:xfrm>
            <a:off x="457200" y="877824"/>
            <a:ext cx="8229600" cy="274320"/>
          </a:xfrm>
          <a:prstGeom prst="rect">
            <a:avLst/>
          </a:prstGeom>
          <a:noFill/>
          <a:ln/>
        </p:spPr>
        <p:txBody>
          <a:bodyPr wrap="square" lIns="0" tIns="0" rIns="0" bIns="0" rtlCol="0" anchor="ctr"/>
          <a:lstStyle/>
          <a:p>
            <a:pPr marL="0" indent="0">
              <a:buNone/>
            </a:pPr>
            <a:r>
              <a:rPr lang="en-US" sz="1300" i="1" dirty="0">
                <a:solidFill>
                  <a:srgbClr val="8B949E"/>
                </a:solidFill>
                <a:latin typeface="Calibri" pitchFamily="34" charset="0"/>
                <a:ea typeface="Calibri" pitchFamily="34" charset="-122"/>
                <a:cs typeface="Calibri" pitchFamily="34" charset="-120"/>
              </a:rPr>
              <a:t>Extensions and paths at a glance</a:t>
            </a:r>
            <a:endParaRPr lang="en-US" sz="1300" dirty="0"/>
          </a:p>
        </p:txBody>
      </p:sp>
      <p:sp>
        <p:nvSpPr>
          <p:cNvPr id="7" name="Shape 5"/>
          <p:cNvSpPr/>
          <p:nvPr/>
        </p:nvSpPr>
        <p:spPr>
          <a:xfrm>
            <a:off x="411480" y="1170432"/>
            <a:ext cx="4206240" cy="3310128"/>
          </a:xfrm>
          <a:prstGeom prst="rect">
            <a:avLst/>
          </a:prstGeom>
          <a:solidFill>
            <a:srgbClr val="161B26"/>
          </a:solidFill>
          <a:ln w="15240">
            <a:solidFill>
              <a:srgbClr val="3FD9C4"/>
            </a:solidFill>
            <a:prstDash val="solid"/>
          </a:ln>
          <a:effectLst>
            <a:outerShdw blurRad="177800" dist="38100" dir="8100000" algn="bl" rotWithShape="0">
              <a:srgbClr val="000000">
                <a:alpha val="35000"/>
              </a:srgbClr>
            </a:outerShdw>
          </a:effectLst>
        </p:spPr>
        <p:txBody>
          <a:bodyPr/>
          <a:lstStyle/>
          <a:p>
            <a:endParaRPr lang="en-US"/>
          </a:p>
        </p:txBody>
      </p:sp>
      <p:sp>
        <p:nvSpPr>
          <p:cNvPr id="8" name="Shape 6"/>
          <p:cNvSpPr/>
          <p:nvPr/>
        </p:nvSpPr>
        <p:spPr>
          <a:xfrm>
            <a:off x="411480" y="1170432"/>
            <a:ext cx="4206240" cy="329184"/>
          </a:xfrm>
          <a:prstGeom prst="rect">
            <a:avLst/>
          </a:prstGeom>
          <a:solidFill>
            <a:srgbClr val="3FD9C4">
              <a:alpha val="78000"/>
            </a:srgbClr>
          </a:solidFill>
          <a:ln w="12700">
            <a:solidFill>
              <a:srgbClr val="3FD9C4"/>
            </a:solidFill>
            <a:prstDash val="solid"/>
          </a:ln>
        </p:spPr>
        <p:txBody>
          <a:bodyPr/>
          <a:lstStyle/>
          <a:p>
            <a:endParaRPr lang="en-US"/>
          </a:p>
        </p:txBody>
      </p:sp>
      <p:sp>
        <p:nvSpPr>
          <p:cNvPr id="9" name="Text 7"/>
          <p:cNvSpPr/>
          <p:nvPr/>
        </p:nvSpPr>
        <p:spPr>
          <a:xfrm>
            <a:off x="548640" y="1216152"/>
            <a:ext cx="3931920" cy="256032"/>
          </a:xfrm>
          <a:prstGeom prst="rect">
            <a:avLst/>
          </a:prstGeom>
          <a:noFill/>
          <a:ln/>
        </p:spPr>
        <p:txBody>
          <a:bodyPr wrap="square" lIns="0" tIns="0" rIns="0" bIns="0" rtlCol="0" anchor="ctr"/>
          <a:lstStyle/>
          <a:p>
            <a:pPr marL="0" indent="0">
              <a:buNone/>
            </a:pPr>
            <a:r>
              <a:rPr lang="en-US" sz="1100" b="1" dirty="0">
                <a:solidFill>
                  <a:srgbClr val="3FD9C4"/>
                </a:solidFill>
                <a:latin typeface="Calibri" pitchFamily="34" charset="0"/>
                <a:ea typeface="Calibri" pitchFamily="34" charset="-122"/>
                <a:cs typeface="Calibri" pitchFamily="34" charset="-120"/>
              </a:rPr>
              <a:t>🏷️  File Extensions</a:t>
            </a:r>
            <a:endParaRPr lang="en-US" sz="1100" dirty="0"/>
          </a:p>
        </p:txBody>
      </p:sp>
      <p:sp>
        <p:nvSpPr>
          <p:cNvPr id="10" name="Shape 8"/>
          <p:cNvSpPr/>
          <p:nvPr/>
        </p:nvSpPr>
        <p:spPr>
          <a:xfrm>
            <a:off x="548640" y="1572768"/>
            <a:ext cx="914400" cy="256032"/>
          </a:xfrm>
          <a:prstGeom prst="rect">
            <a:avLst/>
          </a:prstGeom>
          <a:solidFill>
            <a:srgbClr val="3FD9C4">
              <a:alpha val="28000"/>
            </a:srgbClr>
          </a:solidFill>
          <a:ln w="10160">
            <a:solidFill>
              <a:srgbClr val="3FD9C4"/>
            </a:solidFill>
            <a:prstDash val="solid"/>
          </a:ln>
        </p:spPr>
        <p:txBody>
          <a:bodyPr/>
          <a:lstStyle/>
          <a:p>
            <a:endParaRPr lang="en-US"/>
          </a:p>
        </p:txBody>
      </p:sp>
      <p:sp>
        <p:nvSpPr>
          <p:cNvPr id="11" name="Text 9"/>
          <p:cNvSpPr/>
          <p:nvPr/>
        </p:nvSpPr>
        <p:spPr>
          <a:xfrm>
            <a:off x="548640" y="1572768"/>
            <a:ext cx="914400" cy="256032"/>
          </a:xfrm>
          <a:prstGeom prst="rect">
            <a:avLst/>
          </a:prstGeom>
          <a:noFill/>
          <a:ln/>
        </p:spPr>
        <p:txBody>
          <a:bodyPr wrap="square" lIns="0" tIns="0" rIns="0" bIns="0" rtlCol="0" anchor="ctr"/>
          <a:lstStyle/>
          <a:p>
            <a:pPr marL="0" indent="0" algn="ctr">
              <a:buNone/>
            </a:pPr>
            <a:r>
              <a:rPr lang="en-US" sz="950" b="1" dirty="0">
                <a:solidFill>
                  <a:srgbClr val="3FD9C4"/>
                </a:solidFill>
                <a:latin typeface="Calibri" pitchFamily="34" charset="0"/>
                <a:ea typeface="Calibri" pitchFamily="34" charset="-122"/>
                <a:cs typeface="Calibri" pitchFamily="34" charset="-120"/>
              </a:rPr>
              <a:t>Definition</a:t>
            </a:r>
            <a:endParaRPr lang="en-US" sz="950" dirty="0"/>
          </a:p>
        </p:txBody>
      </p:sp>
      <p:sp>
        <p:nvSpPr>
          <p:cNvPr id="12" name="Text 10"/>
          <p:cNvSpPr/>
          <p:nvPr/>
        </p:nvSpPr>
        <p:spPr>
          <a:xfrm>
            <a:off x="1517904" y="1591056"/>
            <a:ext cx="2926080" cy="237744"/>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Suffix after the last dot</a:t>
            </a:r>
            <a:endParaRPr lang="en-US" sz="950" dirty="0"/>
          </a:p>
          <a:p>
            <a:pPr marL="0" indent="0">
              <a:buNone/>
            </a:pPr>
            <a:r>
              <a:rPr lang="en-US" sz="950" dirty="0">
                <a:solidFill>
                  <a:srgbClr val="F0F6FC"/>
                </a:solidFill>
                <a:latin typeface="Calibri" pitchFamily="34" charset="0"/>
                <a:ea typeface="Calibri" pitchFamily="34" charset="-122"/>
                <a:cs typeface="Calibri" pitchFamily="34" charset="-120"/>
              </a:rPr>
              <a:t>e.g.  report.pdf  →  .pdf</a:t>
            </a:r>
            <a:endParaRPr lang="en-US" sz="950" dirty="0"/>
          </a:p>
        </p:txBody>
      </p:sp>
      <p:sp>
        <p:nvSpPr>
          <p:cNvPr id="13" name="Shape 11"/>
          <p:cNvSpPr/>
          <p:nvPr/>
        </p:nvSpPr>
        <p:spPr>
          <a:xfrm>
            <a:off x="548640" y="1993392"/>
            <a:ext cx="914400" cy="256032"/>
          </a:xfrm>
          <a:prstGeom prst="rect">
            <a:avLst/>
          </a:prstGeom>
          <a:solidFill>
            <a:srgbClr val="3FD9C4">
              <a:alpha val="28000"/>
            </a:srgbClr>
          </a:solidFill>
          <a:ln w="10160">
            <a:solidFill>
              <a:srgbClr val="3FD9C4"/>
            </a:solidFill>
            <a:prstDash val="solid"/>
          </a:ln>
        </p:spPr>
        <p:txBody>
          <a:bodyPr/>
          <a:lstStyle/>
          <a:p>
            <a:endParaRPr lang="en-US"/>
          </a:p>
        </p:txBody>
      </p:sp>
      <p:sp>
        <p:nvSpPr>
          <p:cNvPr id="14" name="Text 12"/>
          <p:cNvSpPr/>
          <p:nvPr/>
        </p:nvSpPr>
        <p:spPr>
          <a:xfrm>
            <a:off x="548640" y="1993392"/>
            <a:ext cx="914400" cy="256032"/>
          </a:xfrm>
          <a:prstGeom prst="rect">
            <a:avLst/>
          </a:prstGeom>
          <a:noFill/>
          <a:ln/>
        </p:spPr>
        <p:txBody>
          <a:bodyPr wrap="square" lIns="0" tIns="0" rIns="0" bIns="0" rtlCol="0" anchor="ctr"/>
          <a:lstStyle/>
          <a:p>
            <a:pPr marL="0" indent="0" algn="ctr">
              <a:buNone/>
            </a:pPr>
            <a:r>
              <a:rPr lang="en-US" sz="950" b="1" dirty="0">
                <a:solidFill>
                  <a:srgbClr val="3FD9C4"/>
                </a:solidFill>
                <a:latin typeface="Calibri" pitchFamily="34" charset="0"/>
                <a:ea typeface="Calibri" pitchFamily="34" charset="-122"/>
                <a:cs typeface="Calibri" pitchFamily="34" charset="-120"/>
              </a:rPr>
              <a:t>Purpose</a:t>
            </a:r>
            <a:endParaRPr lang="en-US" sz="950" dirty="0"/>
          </a:p>
        </p:txBody>
      </p:sp>
      <p:sp>
        <p:nvSpPr>
          <p:cNvPr id="15" name="Text 13"/>
          <p:cNvSpPr/>
          <p:nvPr/>
        </p:nvSpPr>
        <p:spPr>
          <a:xfrm>
            <a:off x="1517904" y="2011680"/>
            <a:ext cx="2926080" cy="237744"/>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Tells OS which app to open</a:t>
            </a:r>
            <a:endParaRPr lang="en-US" sz="950" dirty="0"/>
          </a:p>
          <a:p>
            <a:pPr marL="0" indent="0">
              <a:buNone/>
            </a:pPr>
            <a:r>
              <a:rPr lang="en-US" sz="950" dirty="0">
                <a:solidFill>
                  <a:srgbClr val="F0F6FC"/>
                </a:solidFill>
                <a:latin typeface="Calibri" pitchFamily="34" charset="0"/>
                <a:ea typeface="Calibri" pitchFamily="34" charset="-122"/>
                <a:cs typeface="Calibri" pitchFamily="34" charset="-120"/>
              </a:rPr>
              <a:t>and how to interpret bytes</a:t>
            </a:r>
            <a:endParaRPr lang="en-US" sz="950" dirty="0"/>
          </a:p>
        </p:txBody>
      </p:sp>
      <p:sp>
        <p:nvSpPr>
          <p:cNvPr id="16" name="Shape 14"/>
          <p:cNvSpPr/>
          <p:nvPr/>
        </p:nvSpPr>
        <p:spPr>
          <a:xfrm>
            <a:off x="548640" y="2414016"/>
            <a:ext cx="914400" cy="256032"/>
          </a:xfrm>
          <a:prstGeom prst="rect">
            <a:avLst/>
          </a:prstGeom>
          <a:solidFill>
            <a:srgbClr val="3FD9C4">
              <a:alpha val="28000"/>
            </a:srgbClr>
          </a:solidFill>
          <a:ln w="10160">
            <a:solidFill>
              <a:srgbClr val="3FD9C4"/>
            </a:solidFill>
            <a:prstDash val="solid"/>
          </a:ln>
        </p:spPr>
        <p:txBody>
          <a:bodyPr/>
          <a:lstStyle/>
          <a:p>
            <a:endParaRPr lang="en-US"/>
          </a:p>
        </p:txBody>
      </p:sp>
      <p:sp>
        <p:nvSpPr>
          <p:cNvPr id="17" name="Text 15"/>
          <p:cNvSpPr/>
          <p:nvPr/>
        </p:nvSpPr>
        <p:spPr>
          <a:xfrm>
            <a:off x="548640" y="2414016"/>
            <a:ext cx="914400" cy="256032"/>
          </a:xfrm>
          <a:prstGeom prst="rect">
            <a:avLst/>
          </a:prstGeom>
          <a:noFill/>
          <a:ln/>
        </p:spPr>
        <p:txBody>
          <a:bodyPr wrap="square" lIns="0" tIns="0" rIns="0" bIns="0" rtlCol="0" anchor="ctr"/>
          <a:lstStyle/>
          <a:p>
            <a:pPr marL="0" indent="0" algn="ctr">
              <a:buNone/>
            </a:pPr>
            <a:r>
              <a:rPr lang="en-US" sz="950" b="1" dirty="0">
                <a:solidFill>
                  <a:srgbClr val="3FD9C4"/>
                </a:solidFill>
                <a:latin typeface="Calibri" pitchFamily="34" charset="0"/>
                <a:ea typeface="Calibri" pitchFamily="34" charset="-122"/>
                <a:cs typeface="Calibri" pitchFamily="34" charset="-120"/>
              </a:rPr>
              <a:t>Not enforced</a:t>
            </a:r>
            <a:endParaRPr lang="en-US" sz="950" dirty="0"/>
          </a:p>
        </p:txBody>
      </p:sp>
      <p:sp>
        <p:nvSpPr>
          <p:cNvPr id="18" name="Text 16"/>
          <p:cNvSpPr/>
          <p:nvPr/>
        </p:nvSpPr>
        <p:spPr>
          <a:xfrm>
            <a:off x="1517904" y="2432304"/>
            <a:ext cx="2926080" cy="237744"/>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Renaming .jpg to .txt</a:t>
            </a:r>
            <a:endParaRPr lang="en-US" sz="950" dirty="0"/>
          </a:p>
          <a:p>
            <a:pPr marL="0" indent="0">
              <a:buNone/>
            </a:pPr>
            <a:r>
              <a:rPr lang="en-US" sz="950" dirty="0">
                <a:solidFill>
                  <a:srgbClr val="F0F6FC"/>
                </a:solidFill>
                <a:latin typeface="Calibri" pitchFamily="34" charset="0"/>
                <a:ea typeface="Calibri" pitchFamily="34" charset="-122"/>
                <a:cs typeface="Calibri" pitchFamily="34" charset="-120"/>
              </a:rPr>
              <a:t>does NOT change the content</a:t>
            </a:r>
            <a:endParaRPr lang="en-US" sz="950" dirty="0"/>
          </a:p>
        </p:txBody>
      </p:sp>
      <p:sp>
        <p:nvSpPr>
          <p:cNvPr id="19" name="Shape 17"/>
          <p:cNvSpPr/>
          <p:nvPr/>
        </p:nvSpPr>
        <p:spPr>
          <a:xfrm>
            <a:off x="548640" y="2834640"/>
            <a:ext cx="914400" cy="256032"/>
          </a:xfrm>
          <a:prstGeom prst="rect">
            <a:avLst/>
          </a:prstGeom>
          <a:solidFill>
            <a:srgbClr val="3FD9C4">
              <a:alpha val="28000"/>
            </a:srgbClr>
          </a:solidFill>
          <a:ln w="10160">
            <a:solidFill>
              <a:srgbClr val="3FD9C4"/>
            </a:solidFill>
            <a:prstDash val="solid"/>
          </a:ln>
        </p:spPr>
        <p:txBody>
          <a:bodyPr/>
          <a:lstStyle/>
          <a:p>
            <a:endParaRPr lang="en-US"/>
          </a:p>
        </p:txBody>
      </p:sp>
      <p:sp>
        <p:nvSpPr>
          <p:cNvPr id="20" name="Text 18"/>
          <p:cNvSpPr/>
          <p:nvPr/>
        </p:nvSpPr>
        <p:spPr>
          <a:xfrm>
            <a:off x="548640" y="2834640"/>
            <a:ext cx="914400" cy="256032"/>
          </a:xfrm>
          <a:prstGeom prst="rect">
            <a:avLst/>
          </a:prstGeom>
          <a:noFill/>
          <a:ln/>
        </p:spPr>
        <p:txBody>
          <a:bodyPr wrap="square" lIns="0" tIns="0" rIns="0" bIns="0" rtlCol="0" anchor="ctr"/>
          <a:lstStyle/>
          <a:p>
            <a:pPr marL="0" indent="0" algn="ctr">
              <a:buNone/>
            </a:pPr>
            <a:r>
              <a:rPr lang="en-US" sz="950" b="1" dirty="0">
                <a:solidFill>
                  <a:srgbClr val="3FD9C4"/>
                </a:solidFill>
                <a:latin typeface="Calibri" pitchFamily="34" charset="0"/>
                <a:ea typeface="Calibri" pitchFamily="34" charset="-122"/>
                <a:cs typeface="Calibri" pitchFamily="34" charset="-120"/>
              </a:rPr>
              <a:t>Magic bytes</a:t>
            </a:r>
            <a:endParaRPr lang="en-US" sz="950" dirty="0"/>
          </a:p>
        </p:txBody>
      </p:sp>
      <p:sp>
        <p:nvSpPr>
          <p:cNvPr id="21" name="Text 19"/>
          <p:cNvSpPr/>
          <p:nvPr/>
        </p:nvSpPr>
        <p:spPr>
          <a:xfrm>
            <a:off x="1517904" y="2852928"/>
            <a:ext cx="2926080" cy="237744"/>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True type in first bytes</a:t>
            </a:r>
            <a:endParaRPr lang="en-US" sz="950" dirty="0"/>
          </a:p>
          <a:p>
            <a:pPr marL="0" indent="0">
              <a:buNone/>
            </a:pPr>
            <a:r>
              <a:rPr lang="en-US" sz="950" dirty="0">
                <a:solidFill>
                  <a:srgbClr val="F0F6FC"/>
                </a:solidFill>
                <a:latin typeface="Calibri" pitchFamily="34" charset="0"/>
                <a:ea typeface="Calibri" pitchFamily="34" charset="-122"/>
                <a:cs typeface="Calibri" pitchFamily="34" charset="-120"/>
              </a:rPr>
              <a:t>file command reads these</a:t>
            </a:r>
            <a:endParaRPr lang="en-US" sz="950" dirty="0"/>
          </a:p>
        </p:txBody>
      </p:sp>
      <p:sp>
        <p:nvSpPr>
          <p:cNvPr id="22" name="Shape 20"/>
          <p:cNvSpPr/>
          <p:nvPr/>
        </p:nvSpPr>
        <p:spPr>
          <a:xfrm>
            <a:off x="548640" y="3255264"/>
            <a:ext cx="914400" cy="256032"/>
          </a:xfrm>
          <a:prstGeom prst="rect">
            <a:avLst/>
          </a:prstGeom>
          <a:solidFill>
            <a:srgbClr val="3FD9C4">
              <a:alpha val="28000"/>
            </a:srgbClr>
          </a:solidFill>
          <a:ln w="10160">
            <a:solidFill>
              <a:srgbClr val="3FD9C4"/>
            </a:solidFill>
            <a:prstDash val="solid"/>
          </a:ln>
        </p:spPr>
        <p:txBody>
          <a:bodyPr/>
          <a:lstStyle/>
          <a:p>
            <a:endParaRPr lang="en-US"/>
          </a:p>
        </p:txBody>
      </p:sp>
      <p:sp>
        <p:nvSpPr>
          <p:cNvPr id="23" name="Text 21"/>
          <p:cNvSpPr/>
          <p:nvPr/>
        </p:nvSpPr>
        <p:spPr>
          <a:xfrm>
            <a:off x="548640" y="3255264"/>
            <a:ext cx="914400" cy="256032"/>
          </a:xfrm>
          <a:prstGeom prst="rect">
            <a:avLst/>
          </a:prstGeom>
          <a:noFill/>
          <a:ln/>
        </p:spPr>
        <p:txBody>
          <a:bodyPr wrap="square" lIns="0" tIns="0" rIns="0" bIns="0" rtlCol="0" anchor="ctr"/>
          <a:lstStyle/>
          <a:p>
            <a:pPr marL="0" indent="0" algn="ctr">
              <a:buNone/>
            </a:pPr>
            <a:r>
              <a:rPr lang="en-US" sz="950" b="1" dirty="0">
                <a:solidFill>
                  <a:srgbClr val="3FD9C4"/>
                </a:solidFill>
                <a:latin typeface="Calibri" pitchFamily="34" charset="0"/>
                <a:ea typeface="Calibri" pitchFamily="34" charset="-122"/>
                <a:cs typeface="Calibri" pitchFamily="34" charset="-120"/>
              </a:rPr>
              <a:t>Linux</a:t>
            </a:r>
            <a:endParaRPr lang="en-US" sz="950" dirty="0"/>
          </a:p>
        </p:txBody>
      </p:sp>
      <p:sp>
        <p:nvSpPr>
          <p:cNvPr id="24" name="Text 22"/>
          <p:cNvSpPr/>
          <p:nvPr/>
        </p:nvSpPr>
        <p:spPr>
          <a:xfrm>
            <a:off x="1517904" y="3273552"/>
            <a:ext cx="2926080" cy="237744"/>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Extensions are optional;</a:t>
            </a:r>
            <a:endParaRPr lang="en-US" sz="950" dirty="0"/>
          </a:p>
          <a:p>
            <a:pPr marL="0" indent="0">
              <a:buNone/>
            </a:pPr>
            <a:r>
              <a:rPr lang="en-US" sz="950" dirty="0">
                <a:solidFill>
                  <a:srgbClr val="F0F6FC"/>
                </a:solidFill>
                <a:latin typeface="Calibri" pitchFamily="34" charset="0"/>
                <a:ea typeface="Calibri" pitchFamily="34" charset="-122"/>
                <a:cs typeface="Calibri" pitchFamily="34" charset="-120"/>
              </a:rPr>
              <a:t>files identified by content</a:t>
            </a:r>
            <a:endParaRPr lang="en-US" sz="950" dirty="0"/>
          </a:p>
        </p:txBody>
      </p:sp>
      <p:sp>
        <p:nvSpPr>
          <p:cNvPr id="25" name="Shape 23"/>
          <p:cNvSpPr/>
          <p:nvPr/>
        </p:nvSpPr>
        <p:spPr>
          <a:xfrm>
            <a:off x="548640" y="3675888"/>
            <a:ext cx="914400" cy="256032"/>
          </a:xfrm>
          <a:prstGeom prst="rect">
            <a:avLst/>
          </a:prstGeom>
          <a:solidFill>
            <a:srgbClr val="3FD9C4">
              <a:alpha val="28000"/>
            </a:srgbClr>
          </a:solidFill>
          <a:ln w="10160">
            <a:solidFill>
              <a:srgbClr val="3FD9C4"/>
            </a:solidFill>
            <a:prstDash val="solid"/>
          </a:ln>
        </p:spPr>
        <p:txBody>
          <a:bodyPr/>
          <a:lstStyle/>
          <a:p>
            <a:endParaRPr lang="en-US"/>
          </a:p>
        </p:txBody>
      </p:sp>
      <p:sp>
        <p:nvSpPr>
          <p:cNvPr id="26" name="Text 24"/>
          <p:cNvSpPr/>
          <p:nvPr/>
        </p:nvSpPr>
        <p:spPr>
          <a:xfrm>
            <a:off x="548640" y="3675888"/>
            <a:ext cx="914400" cy="256032"/>
          </a:xfrm>
          <a:prstGeom prst="rect">
            <a:avLst/>
          </a:prstGeom>
          <a:noFill/>
          <a:ln/>
        </p:spPr>
        <p:txBody>
          <a:bodyPr wrap="square" lIns="0" tIns="0" rIns="0" bIns="0" rtlCol="0" anchor="ctr"/>
          <a:lstStyle/>
          <a:p>
            <a:pPr marL="0" indent="0" algn="ctr">
              <a:buNone/>
            </a:pPr>
            <a:r>
              <a:rPr lang="en-US" sz="950" b="1" dirty="0">
                <a:solidFill>
                  <a:srgbClr val="3FD9C4"/>
                </a:solidFill>
                <a:latin typeface="Calibri" pitchFamily="34" charset="0"/>
                <a:ea typeface="Calibri" pitchFamily="34" charset="-122"/>
                <a:cs typeface="Calibri" pitchFamily="34" charset="-120"/>
              </a:rPr>
              <a:t>Windows</a:t>
            </a:r>
            <a:endParaRPr lang="en-US" sz="950" dirty="0"/>
          </a:p>
        </p:txBody>
      </p:sp>
      <p:sp>
        <p:nvSpPr>
          <p:cNvPr id="27" name="Text 25"/>
          <p:cNvSpPr/>
          <p:nvPr/>
        </p:nvSpPr>
        <p:spPr>
          <a:xfrm>
            <a:off x="1517904" y="3694176"/>
            <a:ext cx="2926080" cy="237744"/>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Show extensions! View →</a:t>
            </a:r>
            <a:endParaRPr lang="en-US" sz="950" dirty="0"/>
          </a:p>
          <a:p>
            <a:pPr marL="0" indent="0">
              <a:buNone/>
            </a:pPr>
            <a:r>
              <a:rPr lang="en-US" sz="950" dirty="0">
                <a:solidFill>
                  <a:srgbClr val="F0F6FC"/>
                </a:solidFill>
                <a:latin typeface="Calibri" pitchFamily="34" charset="0"/>
                <a:ea typeface="Calibri" pitchFamily="34" charset="-122"/>
                <a:cs typeface="Calibri" pitchFamily="34" charset="-120"/>
              </a:rPr>
              <a:t>File name extensions</a:t>
            </a:r>
            <a:endParaRPr lang="en-US" sz="950" dirty="0"/>
          </a:p>
        </p:txBody>
      </p:sp>
      <p:sp>
        <p:nvSpPr>
          <p:cNvPr id="28" name="Shape 26"/>
          <p:cNvSpPr/>
          <p:nvPr/>
        </p:nvSpPr>
        <p:spPr>
          <a:xfrm>
            <a:off x="4663440" y="1170432"/>
            <a:ext cx="4069080" cy="3310128"/>
          </a:xfrm>
          <a:prstGeom prst="rect">
            <a:avLst/>
          </a:prstGeom>
          <a:solidFill>
            <a:srgbClr val="161B26"/>
          </a:solidFill>
          <a:ln w="15240">
            <a:solidFill>
              <a:srgbClr val="FFA657"/>
            </a:solidFill>
            <a:prstDash val="solid"/>
          </a:ln>
          <a:effectLst>
            <a:outerShdw blurRad="177800" dist="38100" dir="8100000" algn="bl" rotWithShape="0">
              <a:srgbClr val="000000">
                <a:alpha val="35000"/>
              </a:srgbClr>
            </a:outerShdw>
          </a:effectLst>
        </p:spPr>
        <p:txBody>
          <a:bodyPr/>
          <a:lstStyle/>
          <a:p>
            <a:endParaRPr lang="en-US"/>
          </a:p>
        </p:txBody>
      </p:sp>
      <p:sp>
        <p:nvSpPr>
          <p:cNvPr id="29" name="Shape 27"/>
          <p:cNvSpPr/>
          <p:nvPr/>
        </p:nvSpPr>
        <p:spPr>
          <a:xfrm>
            <a:off x="4663440" y="1170432"/>
            <a:ext cx="4069080" cy="329184"/>
          </a:xfrm>
          <a:prstGeom prst="rect">
            <a:avLst/>
          </a:prstGeom>
          <a:solidFill>
            <a:srgbClr val="FFA657">
              <a:alpha val="78000"/>
            </a:srgbClr>
          </a:solidFill>
          <a:ln w="12700">
            <a:solidFill>
              <a:srgbClr val="FFA657"/>
            </a:solidFill>
            <a:prstDash val="solid"/>
          </a:ln>
        </p:spPr>
        <p:txBody>
          <a:bodyPr/>
          <a:lstStyle/>
          <a:p>
            <a:endParaRPr lang="en-US"/>
          </a:p>
        </p:txBody>
      </p:sp>
      <p:sp>
        <p:nvSpPr>
          <p:cNvPr id="30" name="Text 28"/>
          <p:cNvSpPr/>
          <p:nvPr/>
        </p:nvSpPr>
        <p:spPr>
          <a:xfrm>
            <a:off x="4800600" y="1216152"/>
            <a:ext cx="3803904" cy="256032"/>
          </a:xfrm>
          <a:prstGeom prst="rect">
            <a:avLst/>
          </a:prstGeom>
          <a:noFill/>
          <a:ln/>
        </p:spPr>
        <p:txBody>
          <a:bodyPr wrap="square" lIns="0" tIns="0" rIns="0" bIns="0" rtlCol="0" anchor="ctr"/>
          <a:lstStyle/>
          <a:p>
            <a:pPr marL="0" indent="0">
              <a:buNone/>
            </a:pPr>
            <a:r>
              <a:rPr lang="en-US" sz="1100" b="1" dirty="0">
                <a:solidFill>
                  <a:srgbClr val="FFA657"/>
                </a:solidFill>
                <a:latin typeface="Calibri" pitchFamily="34" charset="0"/>
                <a:ea typeface="Calibri" pitchFamily="34" charset="-122"/>
                <a:cs typeface="Calibri" pitchFamily="34" charset="-120"/>
              </a:rPr>
              <a:t>📍  File Paths</a:t>
            </a:r>
            <a:endParaRPr lang="en-US" sz="1100" dirty="0"/>
          </a:p>
        </p:txBody>
      </p:sp>
      <p:sp>
        <p:nvSpPr>
          <p:cNvPr id="31" name="Shape 29"/>
          <p:cNvSpPr/>
          <p:nvPr/>
        </p:nvSpPr>
        <p:spPr>
          <a:xfrm>
            <a:off x="4800600" y="1572768"/>
            <a:ext cx="1170432"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32" name="Text 30"/>
          <p:cNvSpPr/>
          <p:nvPr/>
        </p:nvSpPr>
        <p:spPr>
          <a:xfrm>
            <a:off x="4800600" y="1572768"/>
            <a:ext cx="1170432" cy="256032"/>
          </a:xfrm>
          <a:prstGeom prst="rect">
            <a:avLst/>
          </a:prstGeom>
          <a:noFill/>
          <a:ln/>
        </p:spPr>
        <p:txBody>
          <a:bodyPr wrap="square" lIns="0" tIns="0" rIns="0" bIns="0" rtlCol="0" anchor="ctr"/>
          <a:lstStyle/>
          <a:p>
            <a:pPr marL="0" indent="0" algn="ctr">
              <a:buNone/>
            </a:pPr>
            <a:r>
              <a:rPr lang="en-US" sz="950" b="1" dirty="0">
                <a:solidFill>
                  <a:srgbClr val="FFA657"/>
                </a:solidFill>
                <a:latin typeface="Consolas" pitchFamily="34" charset="0"/>
                <a:ea typeface="Consolas" pitchFamily="34" charset="-122"/>
                <a:cs typeface="Consolas" pitchFamily="34" charset="-120"/>
              </a:rPr>
              <a:t>C:\ / /</a:t>
            </a:r>
            <a:endParaRPr lang="en-US" sz="950" dirty="0"/>
          </a:p>
        </p:txBody>
      </p:sp>
      <p:sp>
        <p:nvSpPr>
          <p:cNvPr id="33" name="Text 31"/>
          <p:cNvSpPr/>
          <p:nvPr/>
        </p:nvSpPr>
        <p:spPr>
          <a:xfrm>
            <a:off x="6016752" y="1600200"/>
            <a:ext cx="2542032" cy="219456"/>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Root  ·  start of absolute path</a:t>
            </a:r>
            <a:endParaRPr lang="en-US" sz="950" dirty="0"/>
          </a:p>
        </p:txBody>
      </p:sp>
      <p:sp>
        <p:nvSpPr>
          <p:cNvPr id="34" name="Shape 32"/>
          <p:cNvSpPr/>
          <p:nvPr/>
        </p:nvSpPr>
        <p:spPr>
          <a:xfrm>
            <a:off x="4800600" y="1947672"/>
            <a:ext cx="1170432"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35" name="Text 33"/>
          <p:cNvSpPr/>
          <p:nvPr/>
        </p:nvSpPr>
        <p:spPr>
          <a:xfrm>
            <a:off x="4800600" y="1947672"/>
            <a:ext cx="1170432" cy="256032"/>
          </a:xfrm>
          <a:prstGeom prst="rect">
            <a:avLst/>
          </a:prstGeom>
          <a:noFill/>
          <a:ln/>
        </p:spPr>
        <p:txBody>
          <a:bodyPr wrap="square" lIns="0" tIns="0" rIns="0" bIns="0" rtlCol="0" anchor="ctr"/>
          <a:lstStyle/>
          <a:p>
            <a:pPr marL="0" indent="0" algn="ctr">
              <a:buNone/>
            </a:pPr>
            <a:r>
              <a:rPr lang="en-US" sz="950" b="1" dirty="0">
                <a:solidFill>
                  <a:srgbClr val="FFA657"/>
                </a:solidFill>
                <a:latin typeface="Consolas" pitchFamily="34" charset="0"/>
                <a:ea typeface="Consolas" pitchFamily="34" charset="-122"/>
                <a:cs typeface="Consolas" pitchFamily="34" charset="-120"/>
              </a:rPr>
              <a:t>\ or /</a:t>
            </a:r>
            <a:endParaRPr lang="en-US" sz="950" dirty="0"/>
          </a:p>
        </p:txBody>
      </p:sp>
      <p:sp>
        <p:nvSpPr>
          <p:cNvPr id="36" name="Text 34"/>
          <p:cNvSpPr/>
          <p:nvPr/>
        </p:nvSpPr>
        <p:spPr>
          <a:xfrm>
            <a:off x="6016752" y="1975104"/>
            <a:ext cx="2542032" cy="219456"/>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Directory separator</a:t>
            </a:r>
            <a:endParaRPr lang="en-US" sz="950" dirty="0"/>
          </a:p>
        </p:txBody>
      </p:sp>
      <p:sp>
        <p:nvSpPr>
          <p:cNvPr id="37" name="Shape 35"/>
          <p:cNvSpPr/>
          <p:nvPr/>
        </p:nvSpPr>
        <p:spPr>
          <a:xfrm>
            <a:off x="4800600" y="2322576"/>
            <a:ext cx="1170432"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38" name="Text 36"/>
          <p:cNvSpPr/>
          <p:nvPr/>
        </p:nvSpPr>
        <p:spPr>
          <a:xfrm>
            <a:off x="4800600" y="2322576"/>
            <a:ext cx="1170432" cy="256032"/>
          </a:xfrm>
          <a:prstGeom prst="rect">
            <a:avLst/>
          </a:prstGeom>
          <a:noFill/>
          <a:ln/>
        </p:spPr>
        <p:txBody>
          <a:bodyPr wrap="square" lIns="0" tIns="0" rIns="0" bIns="0" rtlCol="0" anchor="ctr"/>
          <a:lstStyle/>
          <a:p>
            <a:pPr marL="0" indent="0" algn="ctr">
              <a:buNone/>
            </a:pPr>
            <a:r>
              <a:rPr lang="en-US" sz="950" b="1" dirty="0">
                <a:solidFill>
                  <a:srgbClr val="FFA657"/>
                </a:solidFill>
                <a:latin typeface="Consolas" pitchFamily="34" charset="0"/>
                <a:ea typeface="Consolas" pitchFamily="34" charset="-122"/>
                <a:cs typeface="Consolas" pitchFamily="34" charset="-120"/>
              </a:rPr>
              <a:t>.</a:t>
            </a:r>
            <a:endParaRPr lang="en-US" sz="950" dirty="0"/>
          </a:p>
        </p:txBody>
      </p:sp>
      <p:sp>
        <p:nvSpPr>
          <p:cNvPr id="39" name="Text 37"/>
          <p:cNvSpPr/>
          <p:nvPr/>
        </p:nvSpPr>
        <p:spPr>
          <a:xfrm>
            <a:off x="6016752" y="2350008"/>
            <a:ext cx="2542032" cy="219456"/>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Current directory</a:t>
            </a:r>
            <a:endParaRPr lang="en-US" sz="950" dirty="0"/>
          </a:p>
        </p:txBody>
      </p:sp>
      <p:sp>
        <p:nvSpPr>
          <p:cNvPr id="40" name="Shape 38"/>
          <p:cNvSpPr/>
          <p:nvPr/>
        </p:nvSpPr>
        <p:spPr>
          <a:xfrm>
            <a:off x="4800600" y="2697480"/>
            <a:ext cx="1170432"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41" name="Text 39"/>
          <p:cNvSpPr/>
          <p:nvPr/>
        </p:nvSpPr>
        <p:spPr>
          <a:xfrm>
            <a:off x="4800600" y="2697480"/>
            <a:ext cx="1170432" cy="256032"/>
          </a:xfrm>
          <a:prstGeom prst="rect">
            <a:avLst/>
          </a:prstGeom>
          <a:noFill/>
          <a:ln/>
        </p:spPr>
        <p:txBody>
          <a:bodyPr wrap="square" lIns="0" tIns="0" rIns="0" bIns="0" rtlCol="0" anchor="ctr"/>
          <a:lstStyle/>
          <a:p>
            <a:pPr marL="0" indent="0" algn="ctr">
              <a:buNone/>
            </a:pPr>
            <a:r>
              <a:rPr lang="en-US" sz="950" b="1" dirty="0">
                <a:solidFill>
                  <a:srgbClr val="FFA657"/>
                </a:solidFill>
                <a:latin typeface="Consolas" pitchFamily="34" charset="0"/>
                <a:ea typeface="Consolas" pitchFamily="34" charset="-122"/>
                <a:cs typeface="Consolas" pitchFamily="34" charset="-120"/>
              </a:rPr>
              <a:t>..</a:t>
            </a:r>
            <a:endParaRPr lang="en-US" sz="950" dirty="0"/>
          </a:p>
        </p:txBody>
      </p:sp>
      <p:sp>
        <p:nvSpPr>
          <p:cNvPr id="42" name="Text 40"/>
          <p:cNvSpPr/>
          <p:nvPr/>
        </p:nvSpPr>
        <p:spPr>
          <a:xfrm>
            <a:off x="6016752" y="2724912"/>
            <a:ext cx="2542032" cy="219456"/>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Parent directory (up one level)</a:t>
            </a:r>
            <a:endParaRPr lang="en-US" sz="950" dirty="0"/>
          </a:p>
        </p:txBody>
      </p:sp>
      <p:sp>
        <p:nvSpPr>
          <p:cNvPr id="43" name="Shape 41"/>
          <p:cNvSpPr/>
          <p:nvPr/>
        </p:nvSpPr>
        <p:spPr>
          <a:xfrm>
            <a:off x="4800600" y="3072384"/>
            <a:ext cx="1170432"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44" name="Text 42"/>
          <p:cNvSpPr/>
          <p:nvPr/>
        </p:nvSpPr>
        <p:spPr>
          <a:xfrm>
            <a:off x="4800600" y="3072384"/>
            <a:ext cx="1170432" cy="256032"/>
          </a:xfrm>
          <a:prstGeom prst="rect">
            <a:avLst/>
          </a:prstGeom>
          <a:noFill/>
          <a:ln/>
        </p:spPr>
        <p:txBody>
          <a:bodyPr wrap="square" lIns="0" tIns="0" rIns="0" bIns="0" rtlCol="0" anchor="ctr"/>
          <a:lstStyle/>
          <a:p>
            <a:pPr marL="0" indent="0" algn="ctr">
              <a:buNone/>
            </a:pPr>
            <a:r>
              <a:rPr lang="en-US" sz="950" b="1" dirty="0">
                <a:solidFill>
                  <a:srgbClr val="FFA657"/>
                </a:solidFill>
                <a:latin typeface="Consolas" pitchFamily="34" charset="0"/>
                <a:ea typeface="Consolas" pitchFamily="34" charset="-122"/>
                <a:cs typeface="Consolas" pitchFamily="34" charset="-120"/>
              </a:rPr>
              <a:t>~</a:t>
            </a:r>
            <a:endParaRPr lang="en-US" sz="950" dirty="0"/>
          </a:p>
        </p:txBody>
      </p:sp>
      <p:sp>
        <p:nvSpPr>
          <p:cNvPr id="45" name="Text 43"/>
          <p:cNvSpPr/>
          <p:nvPr/>
        </p:nvSpPr>
        <p:spPr>
          <a:xfrm>
            <a:off x="6016752" y="3099816"/>
            <a:ext cx="2542032" cy="219456"/>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Home directory (Linux/macOS)</a:t>
            </a:r>
            <a:endParaRPr lang="en-US" sz="950" dirty="0"/>
          </a:p>
        </p:txBody>
      </p:sp>
      <p:sp>
        <p:nvSpPr>
          <p:cNvPr id="46" name="Shape 44"/>
          <p:cNvSpPr/>
          <p:nvPr/>
        </p:nvSpPr>
        <p:spPr>
          <a:xfrm>
            <a:off x="4800600" y="3447288"/>
            <a:ext cx="1170432"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47" name="Text 45"/>
          <p:cNvSpPr/>
          <p:nvPr/>
        </p:nvSpPr>
        <p:spPr>
          <a:xfrm>
            <a:off x="4800600" y="3447288"/>
            <a:ext cx="1170432" cy="256032"/>
          </a:xfrm>
          <a:prstGeom prst="rect">
            <a:avLst/>
          </a:prstGeom>
          <a:noFill/>
          <a:ln/>
        </p:spPr>
        <p:txBody>
          <a:bodyPr wrap="square" lIns="0" tIns="0" rIns="0" bIns="0" rtlCol="0" anchor="ctr"/>
          <a:lstStyle/>
          <a:p>
            <a:pPr marL="0" indent="0" algn="ctr">
              <a:buNone/>
            </a:pPr>
            <a:r>
              <a:rPr lang="en-US" sz="950" b="1" dirty="0">
                <a:solidFill>
                  <a:srgbClr val="FFA657"/>
                </a:solidFill>
                <a:latin typeface="Consolas" pitchFamily="34" charset="0"/>
                <a:ea typeface="Consolas" pitchFamily="34" charset="-122"/>
                <a:cs typeface="Consolas" pitchFamily="34" charset="-120"/>
              </a:rPr>
              <a:t>%VAR%</a:t>
            </a:r>
            <a:endParaRPr lang="en-US" sz="950" dirty="0"/>
          </a:p>
        </p:txBody>
      </p:sp>
      <p:sp>
        <p:nvSpPr>
          <p:cNvPr id="48" name="Text 46"/>
          <p:cNvSpPr/>
          <p:nvPr/>
        </p:nvSpPr>
        <p:spPr>
          <a:xfrm>
            <a:off x="6016752" y="3474720"/>
            <a:ext cx="2542032" cy="219456"/>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Environment variable (Windows CMD)</a:t>
            </a:r>
            <a:endParaRPr lang="en-US" sz="950" dirty="0"/>
          </a:p>
        </p:txBody>
      </p:sp>
      <p:sp>
        <p:nvSpPr>
          <p:cNvPr id="49" name="Shape 47"/>
          <p:cNvSpPr/>
          <p:nvPr/>
        </p:nvSpPr>
        <p:spPr>
          <a:xfrm>
            <a:off x="4800600" y="3822192"/>
            <a:ext cx="1170432"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50" name="Text 48"/>
          <p:cNvSpPr/>
          <p:nvPr/>
        </p:nvSpPr>
        <p:spPr>
          <a:xfrm>
            <a:off x="4800600" y="3822192"/>
            <a:ext cx="1170432" cy="256032"/>
          </a:xfrm>
          <a:prstGeom prst="rect">
            <a:avLst/>
          </a:prstGeom>
          <a:noFill/>
          <a:ln/>
        </p:spPr>
        <p:txBody>
          <a:bodyPr wrap="square" lIns="0" tIns="0" rIns="0" bIns="0" rtlCol="0" anchor="ctr"/>
          <a:lstStyle/>
          <a:p>
            <a:pPr marL="0" indent="0" algn="ctr">
              <a:buNone/>
            </a:pPr>
            <a:r>
              <a:rPr lang="en-US" sz="950" b="1" dirty="0">
                <a:solidFill>
                  <a:srgbClr val="FFA657"/>
                </a:solidFill>
                <a:latin typeface="Consolas" pitchFamily="34" charset="0"/>
                <a:ea typeface="Consolas" pitchFamily="34" charset="-122"/>
                <a:cs typeface="Consolas" pitchFamily="34" charset="-120"/>
              </a:rPr>
              <a:t>$VAR</a:t>
            </a:r>
            <a:endParaRPr lang="en-US" sz="950" dirty="0"/>
          </a:p>
        </p:txBody>
      </p:sp>
      <p:sp>
        <p:nvSpPr>
          <p:cNvPr id="51" name="Text 49"/>
          <p:cNvSpPr/>
          <p:nvPr/>
        </p:nvSpPr>
        <p:spPr>
          <a:xfrm>
            <a:off x="6016752" y="3849624"/>
            <a:ext cx="2542032" cy="219456"/>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Environment variable (Linux/bash)</a:t>
            </a:r>
            <a:endParaRPr lang="en-US" sz="950" dirty="0"/>
          </a:p>
        </p:txBody>
      </p:sp>
      <p:sp>
        <p:nvSpPr>
          <p:cNvPr id="52" name="Shape 50"/>
          <p:cNvSpPr/>
          <p:nvPr/>
        </p:nvSpPr>
        <p:spPr>
          <a:xfrm>
            <a:off x="4800600" y="4197096"/>
            <a:ext cx="1170432" cy="256032"/>
          </a:xfrm>
          <a:prstGeom prst="rect">
            <a:avLst/>
          </a:prstGeom>
          <a:solidFill>
            <a:srgbClr val="FFA657">
              <a:alpha val="28000"/>
            </a:srgbClr>
          </a:solidFill>
          <a:ln w="10160">
            <a:solidFill>
              <a:srgbClr val="FFA657"/>
            </a:solidFill>
            <a:prstDash val="solid"/>
          </a:ln>
        </p:spPr>
        <p:txBody>
          <a:bodyPr/>
          <a:lstStyle/>
          <a:p>
            <a:endParaRPr lang="en-US"/>
          </a:p>
        </p:txBody>
      </p:sp>
      <p:sp>
        <p:nvSpPr>
          <p:cNvPr id="53" name="Text 51"/>
          <p:cNvSpPr/>
          <p:nvPr/>
        </p:nvSpPr>
        <p:spPr>
          <a:xfrm>
            <a:off x="4800600" y="4197096"/>
            <a:ext cx="1170432" cy="256032"/>
          </a:xfrm>
          <a:prstGeom prst="rect">
            <a:avLst/>
          </a:prstGeom>
          <a:noFill/>
          <a:ln/>
        </p:spPr>
        <p:txBody>
          <a:bodyPr wrap="square" lIns="0" tIns="0" rIns="0" bIns="0" rtlCol="0" anchor="ctr"/>
          <a:lstStyle/>
          <a:p>
            <a:pPr marL="0" indent="0" algn="ctr">
              <a:buNone/>
            </a:pPr>
            <a:r>
              <a:rPr lang="en-US" sz="950" b="1" dirty="0">
                <a:solidFill>
                  <a:srgbClr val="FFA657"/>
                </a:solidFill>
                <a:latin typeface="Consolas" pitchFamily="34" charset="0"/>
                <a:ea typeface="Consolas" pitchFamily="34" charset="-122"/>
                <a:cs typeface="Consolas" pitchFamily="34" charset="-120"/>
              </a:rPr>
              <a:t>Path() / 'x'</a:t>
            </a:r>
            <a:endParaRPr lang="en-US" sz="950" dirty="0"/>
          </a:p>
        </p:txBody>
      </p:sp>
      <p:sp>
        <p:nvSpPr>
          <p:cNvPr id="54" name="Text 52"/>
          <p:cNvSpPr/>
          <p:nvPr/>
        </p:nvSpPr>
        <p:spPr>
          <a:xfrm>
            <a:off x="6016752" y="4224528"/>
            <a:ext cx="2542032" cy="219456"/>
          </a:xfrm>
          <a:prstGeom prst="rect">
            <a:avLst/>
          </a:prstGeom>
          <a:noFill/>
          <a:ln/>
        </p:spPr>
        <p:txBody>
          <a:bodyPr wrap="square" lIns="0" tIns="0" rIns="0" bIns="0" rtlCol="0" anchor="ctr"/>
          <a:lstStyle/>
          <a:p>
            <a:pPr marL="0" indent="0">
              <a:buNone/>
            </a:pPr>
            <a:r>
              <a:rPr lang="en-US" sz="950" dirty="0">
                <a:solidFill>
                  <a:srgbClr val="F0F6FC"/>
                </a:solidFill>
                <a:latin typeface="Calibri" pitchFamily="34" charset="0"/>
                <a:ea typeface="Calibri" pitchFamily="34" charset="-122"/>
                <a:cs typeface="Calibri" pitchFamily="34" charset="-120"/>
              </a:rPr>
              <a:t>Python pathlib — cross-platform</a:t>
            </a:r>
            <a:endParaRPr lang="en-US" sz="950" dirty="0"/>
          </a:p>
        </p:txBody>
      </p:sp>
      <p:sp>
        <p:nvSpPr>
          <p:cNvPr id="55" name="Shape 53"/>
          <p:cNvSpPr/>
          <p:nvPr/>
        </p:nvSpPr>
        <p:spPr>
          <a:xfrm>
            <a:off x="411480" y="4553712"/>
            <a:ext cx="8321040" cy="402336"/>
          </a:xfrm>
          <a:prstGeom prst="rect">
            <a:avLst/>
          </a:prstGeom>
          <a:solidFill>
            <a:srgbClr val="161B26"/>
          </a:solidFill>
          <a:ln w="15240">
            <a:solidFill>
              <a:srgbClr val="30363D"/>
            </a:solidFill>
            <a:prstDash val="solid"/>
          </a:ln>
          <a:effectLst>
            <a:outerShdw blurRad="177800" dist="38100" dir="8100000" algn="bl" rotWithShape="0">
              <a:srgbClr val="000000">
                <a:alpha val="35000"/>
              </a:srgbClr>
            </a:outerShdw>
          </a:effectLst>
        </p:spPr>
        <p:txBody>
          <a:bodyPr/>
          <a:lstStyle/>
          <a:p>
            <a:endParaRPr lang="en-US"/>
          </a:p>
        </p:txBody>
      </p:sp>
      <p:sp>
        <p:nvSpPr>
          <p:cNvPr id="56" name="Text 54"/>
          <p:cNvSpPr/>
          <p:nvPr/>
        </p:nvSpPr>
        <p:spPr>
          <a:xfrm>
            <a:off x="548640" y="4590288"/>
            <a:ext cx="8046720" cy="329184"/>
          </a:xfrm>
          <a:prstGeom prst="rect">
            <a:avLst/>
          </a:prstGeom>
          <a:noFill/>
          <a:ln/>
        </p:spPr>
        <p:txBody>
          <a:bodyPr wrap="square" lIns="0" tIns="0" rIns="0" bIns="0" rtlCol="0" anchor="ctr"/>
          <a:lstStyle/>
          <a:p>
            <a:pPr marL="0" indent="0">
              <a:buNone/>
            </a:pPr>
            <a:r>
              <a:rPr lang="en-US" sz="1050" b="1" dirty="0">
                <a:solidFill>
                  <a:srgbClr val="58A6FF"/>
                </a:solidFill>
                <a:latin typeface="Consolas" pitchFamily="34" charset="0"/>
                <a:ea typeface="Consolas" pitchFamily="34" charset="-122"/>
                <a:cs typeface="Consolas" pitchFamily="34" charset="-120"/>
              </a:rPr>
              <a:t>Windows absolute:  </a:t>
            </a:r>
            <a:r>
              <a:rPr lang="en-US" sz="1050" dirty="0">
                <a:solidFill>
                  <a:srgbClr val="58A6FF"/>
                </a:solidFill>
                <a:latin typeface="Consolas" pitchFamily="34" charset="0"/>
                <a:ea typeface="Consolas" pitchFamily="34" charset="-122"/>
                <a:cs typeface="Consolas" pitchFamily="34" charset="-120"/>
              </a:rPr>
              <a:t>C:\Users\Ahmed\file.py    </a:t>
            </a:r>
            <a:r>
              <a:rPr lang="en-US" sz="1050" b="1" dirty="0">
                <a:solidFill>
                  <a:srgbClr val="3FB950"/>
                </a:solidFill>
                <a:latin typeface="Consolas" pitchFamily="34" charset="0"/>
                <a:ea typeface="Consolas" pitchFamily="34" charset="-122"/>
                <a:cs typeface="Consolas" pitchFamily="34" charset="-120"/>
              </a:rPr>
              <a:t>Linux absolute:  </a:t>
            </a:r>
            <a:r>
              <a:rPr lang="en-US" sz="1050" dirty="0">
                <a:solidFill>
                  <a:srgbClr val="3FB950"/>
                </a:solidFill>
                <a:latin typeface="Consolas" pitchFamily="34" charset="0"/>
                <a:ea typeface="Consolas" pitchFamily="34" charset="-122"/>
                <a:cs typeface="Consolas" pitchFamily="34" charset="-120"/>
              </a:rPr>
              <a:t>/home/ahmed/file.py    </a:t>
            </a:r>
            <a:r>
              <a:rPr lang="en-US" sz="1050" b="1" dirty="0">
                <a:solidFill>
                  <a:srgbClr val="FFA657"/>
                </a:solidFill>
                <a:latin typeface="Consolas" pitchFamily="34" charset="0"/>
                <a:ea typeface="Consolas" pitchFamily="34" charset="-122"/>
                <a:cs typeface="Consolas" pitchFamily="34" charset="-120"/>
              </a:rPr>
              <a:t>Relative:  </a:t>
            </a:r>
            <a:r>
              <a:rPr lang="en-US" sz="1050" dirty="0">
                <a:solidFill>
                  <a:srgbClr val="FFA657"/>
                </a:solidFill>
                <a:latin typeface="Consolas" pitchFamily="34" charset="0"/>
                <a:ea typeface="Consolas" pitchFamily="34" charset="-122"/>
                <a:cs typeface="Consolas" pitchFamily="34" charset="-120"/>
              </a:rPr>
              <a:t>./src/file.py  or  ../utils/helper.py</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38"/>
          <p:cNvSpPr txBox="1">
            <a:spLocks noGrp="1"/>
          </p:cNvSpPr>
          <p:nvPr>
            <p:ph type="title"/>
          </p:nvPr>
        </p:nvSpPr>
        <p:spPr>
          <a:xfrm>
            <a:off x="5548225" y="2230950"/>
            <a:ext cx="3062100" cy="681600"/>
          </a:xfrm>
          <a:prstGeom prst="rect">
            <a:avLst/>
          </a:prstGeom>
        </p:spPr>
        <p:txBody>
          <a:bodyPr spcFirstLastPara="1" wrap="square" lIns="91425" tIns="91425" rIns="91425" bIns="91425" anchor="b" anchorCtr="0">
            <a:normAutofit fontScale="90000"/>
          </a:bodyPr>
          <a:lstStyle/>
          <a:p>
            <a:pPr marL="0" lvl="0" indent="0" algn="r" rtl="0">
              <a:spcBef>
                <a:spcPts val="0"/>
              </a:spcBef>
              <a:spcAft>
                <a:spcPts val="0"/>
              </a:spcAft>
              <a:buNone/>
            </a:pPr>
            <a:r>
              <a:rPr lang="en" sz="4000" b="1">
                <a:solidFill>
                  <a:schemeClr val="lt1"/>
                </a:solidFill>
                <a:latin typeface="IBM Plex Sans Arabic"/>
                <a:ea typeface="IBM Plex Sans Arabic"/>
                <a:cs typeface="IBM Plex Sans Arabic"/>
                <a:sym typeface="IBM Plex Sans Arabic"/>
              </a:rPr>
              <a:t>شــــــكــــرًا لكــــــم</a:t>
            </a:r>
            <a:endParaRPr sz="4000" b="1">
              <a:solidFill>
                <a:schemeClr val="lt1"/>
              </a:solidFill>
              <a:latin typeface="IBM Plex Sans Arabic"/>
              <a:ea typeface="IBM Plex Sans Arabic"/>
              <a:cs typeface="IBM Plex Sans Arabic"/>
              <a:sym typeface="IBM Plex Sans Arabic"/>
            </a:endParaRPr>
          </a:p>
        </p:txBody>
      </p:sp>
      <p:sp>
        <p:nvSpPr>
          <p:cNvPr id="580" name="Google Shape;580;p38"/>
          <p:cNvSpPr txBox="1">
            <a:spLocks noGrp="1"/>
          </p:cNvSpPr>
          <p:nvPr>
            <p:ph type="ctrTitle" idx="4294967295"/>
          </p:nvPr>
        </p:nvSpPr>
        <p:spPr>
          <a:xfrm>
            <a:off x="4166050" y="2870075"/>
            <a:ext cx="4444200" cy="576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SzPts val="990"/>
              <a:buNone/>
            </a:pPr>
            <a:r>
              <a:rPr lang="en" sz="2900" b="1">
                <a:solidFill>
                  <a:schemeClr val="lt1"/>
                </a:solidFill>
                <a:latin typeface="IBM Plex Sans Arabic"/>
                <a:ea typeface="IBM Plex Sans Arabic"/>
                <a:cs typeface="IBM Plex Sans Arabic"/>
                <a:sym typeface="IBM Plex Sans Arabic"/>
              </a:rPr>
              <a:t>THANK YOU</a:t>
            </a:r>
            <a:endParaRPr sz="2900" b="1">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31173</TotalTime>
  <Words>6497</Words>
  <Application>Microsoft Office PowerPoint</Application>
  <PresentationFormat>On-screen Show (16:9)</PresentationFormat>
  <Paragraphs>1230</Paragraphs>
  <Slides>42</Slides>
  <Notes>39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Tajawal</vt:lpstr>
      <vt:lpstr>Calibri</vt:lpstr>
      <vt:lpstr>IBM Plex Sans Arabic</vt:lpstr>
      <vt:lpstr>IBM Plex Sans Arabic Medium</vt:lpstr>
      <vt:lpstr>Consolas</vt:lpstr>
      <vt:lpstr>Arial</vt:lpstr>
      <vt:lpstr>IBM Plex Sans Arabic SemiBold</vt:lpstr>
      <vt:lpstr>Simple Light</vt:lpstr>
      <vt:lpstr>أكـــــاديميــــة طــــويـــق</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شــــــكــــرًا لكــــــم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Ahmed Al-Hadari</dc:creator>
  <cp:lastModifiedBy>Ahmed Alhussein</cp:lastModifiedBy>
  <cp:revision>257</cp:revision>
  <dcterms:modified xsi:type="dcterms:W3CDTF">2026-04-17T17:20:07Z</dcterms:modified>
</cp:coreProperties>
</file>