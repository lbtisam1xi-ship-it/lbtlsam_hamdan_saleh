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501" r:id="rId3"/>
    <p:sldId id="502" r:id="rId4"/>
    <p:sldId id="50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81" r:id="rId16"/>
  </p:sldIdLst>
  <p:sldSz cx="9144000" cy="5143500" type="screen16x9"/>
  <p:notesSz cx="6858000" cy="9144000"/>
  <p:embeddedFontLst>
    <p:embeddedFont>
      <p:font typeface="IBM Plex Sans Arabic" panose="020B0604020202020204" charset="-78"/>
      <p:regular r:id="rId18"/>
      <p:bold r:id="rId19"/>
    </p:embeddedFont>
    <p:embeddedFont>
      <p:font typeface="IBM Plex Sans Arabic Medium" panose="020B0604020202020204" charset="-78"/>
      <p:regular r:id="rId20"/>
      <p:bold r:id="rId21"/>
    </p:embeddedFont>
    <p:embeddedFont>
      <p:font typeface="IBM Plex Sans Arabic SemiBold" panose="020B0604020202020204" charset="-78"/>
      <p:regular r:id="rId22"/>
      <p:bold r:id="rId23"/>
    </p:embeddedFont>
    <p:embeddedFont>
      <p:font typeface="Tajawal" panose="020B0604020202020204" charset="-78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71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21F3E-EFCE-C369-F5DE-18BAB6F4E50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3BF5FF-8C24-1703-E759-4D97D7BDE7D1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30DF94-A83A-5774-B60F-2DC3EC7FBB8F}"/>
              </a:ext>
            </a:extLst>
          </p:cNvPr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F2C8C40-CC9D-851F-CD64-BB8099356CE8}"/>
              </a:ext>
            </a:extLst>
          </p:cNvPr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C53259-3838-FAC8-BBFB-5CC94A9171EF}"/>
              </a:ext>
            </a:extLst>
          </p:cNvPr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0A78A3-BFE0-DDE3-6D25-51219DA9190B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FF26E7-7F7D-48A2-CB03-814771A5E555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ACB5CE-A4C6-4D59-E04A-1E68D0F3CFAC}"/>
              </a:ext>
            </a:extLst>
          </p:cNvPr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E7FA57-4F5D-B1E3-D02F-CA459631F29E}"/>
              </a:ext>
            </a:extLst>
          </p:cNvPr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D26816-77BB-CE87-993B-C397A3CD42DE}"/>
              </a:ext>
            </a:extLst>
          </p:cNvPr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D2FEC5B-0BAE-EC47-97D5-ADE716AD149D}"/>
              </a:ext>
            </a:extLst>
          </p:cNvPr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E5EF73F-FF45-7324-DBB3-898A6341AA2A}"/>
              </a:ext>
            </a:extLst>
          </p:cNvPr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91E2A2-F56F-67DF-8293-0914DBFF7833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667EFD-655A-32B6-6516-44DD151D868D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3F85A4F-BBBF-3E38-6435-5F385798BE8A}"/>
              </a:ext>
            </a:extLst>
          </p:cNvPr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61A635-3DAA-B6F4-C618-7B4484223614}"/>
              </a:ext>
            </a:extLst>
          </p:cNvPr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3C3B099-3CE5-9578-E23F-23FC5A5DB0F4}"/>
              </a:ext>
            </a:extLst>
          </p:cNvPr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files, extensions, file paths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30AE769-69F2-B181-BAC8-2E1BFA414353}"/>
              </a:ext>
            </a:extLst>
          </p:cNvPr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F37B556-FCBE-8F70-DB68-8F1272553ABE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654E6BC-F8FA-0B32-0230-2E33CB000378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832B6BB-4C3A-7570-4372-BF73C1ADF271}"/>
              </a:ext>
            </a:extLst>
          </p:cNvPr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A60E479-8084-105A-C3BF-F53D6797749F}"/>
              </a:ext>
            </a:extLst>
          </p:cNvPr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B97C5B0-9793-8B06-080F-91A4BF35706D}"/>
              </a:ext>
            </a:extLst>
          </p:cNvPr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(cd, ls, mkdir, touch, rm)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A9E1A22-EDAC-9907-BC76-D2775ACAD14E}"/>
              </a:ext>
            </a:extLst>
          </p:cNvPr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79A313D-6771-360A-A65C-BB5593F6174B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E783AE9-59F5-3A7F-8CE0-D38597AE61BE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60BC33A-7B0A-8589-05F9-4F2638A812C5}"/>
              </a:ext>
            </a:extLst>
          </p:cNvPr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0049AFA-D812-9E2D-0522-296CA866A73F}"/>
              </a:ext>
            </a:extLst>
          </p:cNvPr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3E710BC-06E7-4399-CAE2-80FCC742E4FA}"/>
              </a:ext>
            </a:extLst>
          </p:cNvPr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fundamentals: repository, staging, commit, history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84AD84C-16DB-E36E-AA0B-5A5A64792B3E}"/>
              </a:ext>
            </a:extLst>
          </p:cNvPr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38C5E6B-EABC-BD22-B141-EDCE92E355D7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B403F56-1C81-1860-7D5B-EAE370EBD941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8045F25-C8B6-513E-C124-DEC9CF93C248}"/>
              </a:ext>
            </a:extLst>
          </p:cNvPr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8EC8B4F-F573-B9D8-8A1C-4F30C8A6B6FB}"/>
              </a:ext>
            </a:extLst>
          </p:cNvPr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100E989-E363-5140-5951-5AAE2EB33CA0}"/>
              </a:ext>
            </a:extLst>
          </p:cNvPr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clone, push, pull, remote repositories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0971862-CED6-31BE-E920-D02043151FBF}"/>
              </a:ext>
            </a:extLst>
          </p:cNvPr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F7F7663-1968-399D-069B-3F22AB5F1D0A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6E72AB6-3687-5674-FC3F-D9F8086BA96B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E714245-5527-23EE-9B1F-03172023F46D}"/>
              </a:ext>
            </a:extLst>
          </p:cNvPr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C483D9B-F3FB-87EB-4E33-BA4EF272D42C}"/>
              </a:ext>
            </a:extLst>
          </p:cNvPr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32DAD83-5D76-7B6C-0841-61C5780B93D0}"/>
              </a:ext>
            </a:extLst>
          </p:cNvPr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usage and debugging concepts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223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5A7B6D-C8C4-FFAD-DA29-2D42B2195B3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BABE6A-AD3D-DE5C-A756-EEA708F7984C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2B5283E-86B3-F4CF-4963-CF3C3D009444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BC04D8-B8FE-CF56-3E28-2751836A0058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1E6E1CB-B35F-03CE-3C33-4D668A2F27E3}"/>
              </a:ext>
            </a:extLst>
          </p:cNvPr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6D9E45-55F1-1266-18EF-F7966371423C}"/>
              </a:ext>
            </a:extLst>
          </p:cNvPr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Session 2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12E085-66D1-BAA3-C08D-38DB48B1F841}"/>
              </a:ext>
            </a:extLst>
          </p:cNvPr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5A34CA3-45C6-93C4-8C77-7F9AB5E2E699}"/>
              </a:ext>
            </a:extLst>
          </p:cNvPr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4FBBEB8-CCAE-B081-51FF-F0BA0BF73EB8}"/>
              </a:ext>
            </a:extLst>
          </p:cNvPr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11AFB8-46B4-10CF-C5FF-5C3AF391E2CE}"/>
              </a:ext>
            </a:extLst>
          </p:cNvPr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4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92ABE93-410A-E0ED-28BB-DEB457678A95}"/>
              </a:ext>
            </a:extLst>
          </p:cNvPr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E99D76-0785-2E3C-5548-20C2F3B92194}"/>
              </a:ext>
            </a:extLst>
          </p:cNvPr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9D7BE3E-B383-71D2-8665-47E9C67EA76E}"/>
              </a:ext>
            </a:extLst>
          </p:cNvPr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31C595C-A39A-10BA-F02A-A63D31288F0F}"/>
              </a:ext>
            </a:extLst>
          </p:cNvPr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A774753F-82A0-17B0-D483-CF66ED9A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418457B4-9BF1-1319-9A2B-86E45BABE47E}"/>
              </a:ext>
            </a:extLst>
          </p:cNvPr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Basics</a:t>
            </a:r>
            <a:endParaRPr lang="en-US" sz="12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B725E7E-28BD-4B57-97A3-30E8B22E6FDA}"/>
              </a:ext>
            </a:extLst>
          </p:cNvPr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shell is and how commands are executed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BB51EB8-E381-1A7E-A6CE-E0CC3A409FC2}"/>
              </a:ext>
            </a:extLst>
          </p:cNvPr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811F5F8-45A7-49FD-53F5-876B36F457B4}"/>
              </a:ext>
            </a:extLst>
          </p:cNvPr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9E02B5F-20F5-8A46-F562-F8252CD1C548}"/>
              </a:ext>
            </a:extLst>
          </p:cNvPr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051614A7-2F63-5A93-6B1B-ECB783E1412C}"/>
              </a:ext>
            </a:extLst>
          </p:cNvPr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C5C5D5AE-9F7A-D303-FB68-77481A77C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4CD7A56A-2364-D070-6920-EA5C4639B489}"/>
              </a:ext>
            </a:extLst>
          </p:cNvPr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64096DF2-5DF1-BA44-CC43-2061CD25C506}"/>
              </a:ext>
            </a:extLst>
          </p:cNvPr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around directories with cd, ls, and pwd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BC2E55B7-39C4-DB0F-7117-58AAB80D83FF}"/>
              </a:ext>
            </a:extLst>
          </p:cNvPr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1443208-EEC4-4CDA-4AA8-06F82D7321F8}"/>
              </a:ext>
            </a:extLst>
          </p:cNvPr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B9E0C109-8E80-779D-3572-7D3B5541F0B8}"/>
              </a:ext>
            </a:extLst>
          </p:cNvPr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A8F081E2-BA7C-AA95-692B-98A1F9ECCD2A}"/>
              </a:ext>
            </a:extLst>
          </p:cNvPr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0C35F0D1-7553-2D4F-5032-9C764CF11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055EAE90-8E1C-0D0F-81B6-B1A1A5238502}"/>
              </a:ext>
            </a:extLst>
          </p:cNvPr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Commands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D920F0D3-A4A3-201F-2E02-467313DCE195}"/>
              </a:ext>
            </a:extLst>
          </p:cNvPr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move and remove files with mkdir, touch, rm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645012DA-1486-C53E-DD88-01111289B0C6}"/>
              </a:ext>
            </a:extLst>
          </p:cNvPr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062B83B-EECE-CEA2-8602-C61BE5D8EABE}"/>
              </a:ext>
            </a:extLst>
          </p:cNvPr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CFFC4879-F368-C960-4010-DAC795117083}"/>
              </a:ext>
            </a:extLst>
          </p:cNvPr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D7FC99BA-F7E6-C82A-82A9-3C6A69B31AA1}"/>
              </a:ext>
            </a:extLst>
          </p:cNvPr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BD22AC65-B418-ED24-24E6-BD1CC869D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>
            <a:extLst>
              <a:ext uri="{FF2B5EF4-FFF2-40B4-BE49-F238E27FC236}">
                <a16:creationId xmlns:a16="http://schemas.microsoft.com/office/drawing/2014/main" id="{4F2FDD78-856B-D585-939C-94725E42C075}"/>
              </a:ext>
            </a:extLst>
          </p:cNvPr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Flags</a:t>
            </a:r>
            <a:endParaRPr lang="en-US" sz="12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5B18C565-795D-AA67-CB7B-0DBAF6FC8CF9}"/>
              </a:ext>
            </a:extLst>
          </p:cNvPr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options and tips to work faster in the shell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39AD8F69-5D81-BED6-A1A4-93939AC4784C}"/>
              </a:ext>
            </a:extLst>
          </p:cNvPr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4943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48640"/>
            <a:ext cx="8138160" cy="3520440"/>
          </a:xfrm>
          <a:prstGeom prst="rect">
            <a:avLst/>
          </a:prstGeom>
          <a:solidFill>
            <a:srgbClr val="1A1040"/>
          </a:solidFill>
          <a:ln w="254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 · Linux Terminal · Common Commands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9625" y="3639312"/>
            <a:ext cx="329184" cy="329184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82219" y="3639312"/>
            <a:ext cx="329184" cy="329184"/>
          </a:xfrm>
          <a:prstGeom prst="ellipse">
            <a:avLst/>
          </a:prstGeom>
          <a:solidFill>
            <a:srgbClr val="A380FF"/>
          </a:solidFill>
          <a:ln w="1270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4814" y="3639312"/>
            <a:ext cx="329184" cy="329184"/>
          </a:xfrm>
          <a:prstGeom prst="ellipse">
            <a:avLst/>
          </a:prstGeom>
          <a:solidFill>
            <a:srgbClr val="F4A664"/>
          </a:solidFill>
          <a:ln w="12700">
            <a:solidFill>
              <a:srgbClr val="F4A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7408" y="3639312"/>
            <a:ext cx="329184" cy="329184"/>
          </a:xfrm>
          <a:prstGeom prst="ellipse">
            <a:avLst/>
          </a:prstGeom>
          <a:solidFill>
            <a:srgbClr val="5B9CF6"/>
          </a:solidFill>
          <a:ln w="12700">
            <a:solidFill>
              <a:srgbClr val="5B9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70002" y="3639312"/>
            <a:ext cx="329184" cy="329184"/>
          </a:xfrm>
          <a:prstGeom prst="ellipse">
            <a:avLst/>
          </a:prstGeom>
          <a:solidFill>
            <a:srgbClr val="80D883"/>
          </a:solidFill>
          <a:ln w="12700">
            <a:solidFill>
              <a:srgbClr val="80D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32597" y="3639312"/>
            <a:ext cx="329184" cy="329184"/>
          </a:xfrm>
          <a:prstGeom prst="ellipse">
            <a:avLst/>
          </a:prstGeom>
          <a:solidFill>
            <a:srgbClr val="FF8181"/>
          </a:solidFill>
          <a:ln w="12700">
            <a:solidFill>
              <a:srgbClr val="FF81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434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Track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Command Line?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text-based interface to communicate directly with the operating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(Command Line Interface)</a:t>
            </a: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a text-based way to interact with your computer by typing commands instead of clicking icons. </a:t>
            </a: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click in a GUI triggers commands behind the scenes — the CLI lets you run those commands directly.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206240" cy="246888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206240" cy="320040"/>
          </a:xfrm>
          <a:prstGeom prst="rect">
            <a:avLst/>
          </a:prstGeom>
          <a:solidFill>
            <a:srgbClr val="4F29B7">
              <a:alpha val="75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340864"/>
            <a:ext cx="3986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 / PowerShell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43200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CMD.EXE — classic Windows shell since MS-DOS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218688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— modern, more powerful scripting shell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694176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Start → type 'cmd' or 'powershell' → Enter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4169664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shows: C:\Users\YourName&gt;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206240" cy="246888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206240" cy="320040"/>
          </a:xfrm>
          <a:prstGeom prst="rect">
            <a:avLst/>
          </a:prstGeom>
          <a:solidFill>
            <a:srgbClr val="57E3D8">
              <a:alpha val="75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340864"/>
            <a:ext cx="3986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 / Bash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743200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the default shell on most Linux distros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3218688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on macOS (zsh) and Git Bash on Windows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694176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Ctrl+Alt+T or search 'Terminal' in apps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4169664"/>
            <a:ext cx="3877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shows: username@hostname:~$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around the file system — the most essential commands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FolderName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folder (Change Directory)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level (parent folder)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\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root of the drive (C:\)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an absolute path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files and folders in current dir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/a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including hidden files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FolderName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folder (Change Directory)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up one level (parent folder)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root directory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~/Documents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using home directory shortcut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and folders in current dir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list including hidden files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2030"/>
          </a:solidFill>
          <a:ln w="12700">
            <a:solidFill>
              <a:srgbClr val="FFD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 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auto-complete, and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↓ arrow keys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browse command history. Works in both CMD and Linux.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Folder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copy, move, rename and delete files and folders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FolderName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file.txt dest\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 to another location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file.txt dest\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(cut &amp; paste) a 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 old.txt new.txt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file or folder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file.txt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 (no recycle bin!)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rmdir /s FolderName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folder and all contents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FolderName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folder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file.txt dest/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 to another location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file.txt dest/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 rename a file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old.txt new.txt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file (mv is also rename)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file.txt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file permanently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FolderName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folder and all contents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2030"/>
          </a:solidFill>
          <a:ln w="12700">
            <a:solidFill>
              <a:srgbClr val="FF81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Warning:  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/ rm commands are </a:t>
            </a:r>
            <a:r>
              <a:rPr lang="en-US" sz="1100" b="1" dirty="0">
                <a:solidFill>
                  <a:srgbClr val="FF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files do NOT go to Recycle Bin / Trash. Double-check before pressing Enter!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Read File Content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Display, search and read file contents without opening an editor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52044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file.txt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94458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full contents of a text 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6961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015338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file.txt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229051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file page by page (spacebar)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604211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649931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"word" file.txt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863645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word/pattern in a file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238805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284525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notepad file.txt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498238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in Notepad editor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87339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919118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132832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terminal screen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206240" cy="352044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1380744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file.txt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1594458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full contents of a text file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196961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2015338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file.txt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2229051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file page by page (q to quit)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2604211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2649931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"word" file.txt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863645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word/pattern in a file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3238805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3284525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 file.txt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3498238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in nano terminal editor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87339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919118"/>
            <a:ext cx="3986784" cy="24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4132832"/>
            <a:ext cx="3986784" cy="34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terminal screen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F1A10"/>
          </a:solidFill>
          <a:ln w="12700">
            <a:solidFill>
              <a:srgbClr val="80D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-i "error" log.txt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searches for 'error' (case-insensitive) in a log file. Powerful for debugging!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Information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system, find IPs, see running processes and disk usage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systeminfo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OS and hardware info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computer's name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IP address and network config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adapter details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running processes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taskkill /PID 123 /F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Force-stop a process by its PID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OS name, kernel and architecture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computer's name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 / ifconfig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IP address and network config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google.com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network connectivity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running processes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-9 PID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Force-stop a process by its PID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E1520"/>
          </a:solidFill>
          <a:ln w="12700">
            <a:solidFill>
              <a:srgbClr val="5B9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Try it:  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ipconfig (Windows) or ip addr (Linux) to find your machine's IP address. Essential for networking lessons!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&amp; Storage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disk space, drives and storage usage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2004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chkdsk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624340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disk for errors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04825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093976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diskpart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337572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disk partitioning tool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7614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807208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wmic logicaldisk get size,freespace,caption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050804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disk sizes and free space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47472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520440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fsutil volume diskfree C: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764036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on a specific drive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06240" cy="32004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1380744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-h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1624340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disk space usage (human-readable)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204825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2093976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-sh FolderName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337572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size of a specific folder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73168" y="27614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2807208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lsblk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3050804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block devices and partitions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347472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3520440"/>
            <a:ext cx="3986784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/ umount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764036"/>
            <a:ext cx="3986784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or unmount a drive/partition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C120C"/>
          </a:solidFill>
          <a:ln w="12700">
            <a:solidFill>
              <a:srgbClr val="80D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370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— df -h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   Size   Used  Avail  Use%  Mounted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/dev/sda1    237G   85G   140G   38%   /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Programming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Python programs and manage packages — essential for this bootcamp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installed Python 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Python 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Python package (e.g. flask)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list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installed packages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package list to requirements file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env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python3 --version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installed Python version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Python script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install 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 Python package (e.g. flask)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list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installed packages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pip3 freeze &gt; req.txt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package list to requirements file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env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environment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20F0A"/>
          </a:solidFill>
          <a:ln w="12700">
            <a:solidFill>
              <a:srgbClr val="F4A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Flask: 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then 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you'll use this in Week 8 to launch your first web server!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changes, collaborate and manage code — same commands on Windows and Linux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840480"/>
          </a:xfrm>
          <a:prstGeom prst="rect">
            <a:avLst/>
          </a:prstGeom>
          <a:solidFill>
            <a:srgbClr val="1A1040"/>
          </a:solidFill>
          <a:ln w="19050">
            <a:solidFill>
              <a:srgbClr val="F4A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310896"/>
          </a:xfrm>
          <a:prstGeom prst="rect">
            <a:avLst/>
          </a:prstGeom>
          <a:solidFill>
            <a:srgbClr val="F4A664">
              <a:alpha val="75000"/>
            </a:srgbClr>
          </a:solidFill>
          <a:ln w="12700">
            <a:solidFill>
              <a:srgbClr val="F4A6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Commands — Windows &amp; Linux (identical)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a new Git repository in the current folder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repository from GitHub to your local machine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08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files are changed, staged, or untracked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92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666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all changed files for the next commit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25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snapshot of staged changes with a description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commits to GitHub (remote repository)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993392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075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6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merge latest changes from GitHub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651760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2734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008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compact history of all commits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10128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392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feature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36667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called 'feature'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968496"/>
            <a:ext cx="384048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feature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9160" y="4325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'feature' branch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Help Commands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connectivity, look up help, and manage permissions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310896"/>
          </a:xfrm>
          <a:prstGeom prst="rect">
            <a:avLst/>
          </a:prstGeom>
          <a:solidFill>
            <a:srgbClr val="4F29B7">
              <a:alpha val="80000"/>
            </a:srgbClr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google.com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if a host is reachable over the network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google.com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IP address of a domain name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active network connections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available CMD commands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&lt;command&gt;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help on a specific command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Hello World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to the terminal screen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1A1040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1005840"/>
            <a:ext cx="4206240" cy="310896"/>
          </a:xfrm>
          <a:prstGeom prst="rect">
            <a:avLst/>
          </a:prstGeom>
          <a:solidFill>
            <a:srgbClr val="57E3D8">
              <a:alpha val="80000"/>
            </a:srgbClr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73168" y="101498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138074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4 google.com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7743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if a host is reachable (4 packets)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1924812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1970532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nslookup google.com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67219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IP address of a domain name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73168" y="2514600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560320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-tulnp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757007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listening ports and connections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104388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3150108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&lt;command&gt;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95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manual page for any command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73168" y="3694176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73168" y="3739896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D8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&lt;command&gt; --help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936583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help for a specific command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4283964"/>
            <a:ext cx="3986784" cy="0"/>
          </a:xfrm>
          <a:prstGeom prst="line">
            <a:avLst/>
          </a:prstGeom>
          <a:noFill/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73168" y="4329684"/>
            <a:ext cx="3986784" cy="224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Hello World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526371"/>
            <a:ext cx="3986784" cy="324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to the terminal screen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E1520"/>
          </a:solidFill>
          <a:ln w="12700">
            <a:solidFill>
              <a:srgbClr val="80D8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Rule #1:  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unsure about any command, type  </a:t>
            </a: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&lt;cmd&gt;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(Linux) or  </a:t>
            </a: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&lt;cmd&gt;</a:t>
            </a: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(Windows) before running 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Cheat Sheet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commands side by side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310896"/>
          </a:xfrm>
          <a:prstGeom prst="rect">
            <a:avLst/>
          </a:prstGeom>
          <a:solidFill>
            <a:srgbClr val="2A1A5E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Bash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16736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3441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3441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 dir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34416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 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65049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165049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65049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929384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5681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19568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95681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2631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A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26314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26314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542032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56946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256946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/ rmdir /s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256946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/ rm -rf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8757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28757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287578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154680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18211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0D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18211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31821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348843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0" y="348843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 / ping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43600" y="34884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 / ping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767328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D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0" y="379476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tasklist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7947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10108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41010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 &lt;cmd&gt;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10108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 &lt;cmd&gt;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379976"/>
            <a:ext cx="8412480" cy="301752"/>
          </a:xfrm>
          <a:prstGeom prst="rect">
            <a:avLst/>
          </a:prstGeom>
          <a:solidFill>
            <a:srgbClr val="161628"/>
          </a:solidFill>
          <a:ln w="12700">
            <a:solidFill>
              <a:srgbClr val="16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40740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44074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script.py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440740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script.py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7137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0" y="471373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8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47137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7E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5010912"/>
            <a:ext cx="8412480" cy="1828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31324</TotalTime>
  <Words>1640</Words>
  <Application>Microsoft Office PowerPoint</Application>
  <PresentationFormat>On-screen Show (16:9)</PresentationFormat>
  <Paragraphs>329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IBM Plex Sans Arabic SemiBold</vt:lpstr>
      <vt:lpstr>Calibri</vt:lpstr>
      <vt:lpstr>IBM Plex Sans Arabic Medium</vt:lpstr>
      <vt:lpstr>Tajawal</vt:lpstr>
      <vt:lpstr>IBM Plex Sans Arabic</vt:lpstr>
      <vt:lpstr>Courier New</vt:lpstr>
      <vt:lpstr>Arial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259</cp:revision>
  <dcterms:modified xsi:type="dcterms:W3CDTF">2026-04-20T14:58:05Z</dcterms:modified>
</cp:coreProperties>
</file>