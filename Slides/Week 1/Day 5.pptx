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60" r:id="rId3"/>
    <p:sldId id="265" r:id="rId4"/>
    <p:sldId id="503" r:id="rId5"/>
    <p:sldId id="257" r:id="rId6"/>
    <p:sldId id="258" r:id="rId7"/>
    <p:sldId id="259" r:id="rId8"/>
    <p:sldId id="504" r:id="rId9"/>
    <p:sldId id="261" r:id="rId10"/>
    <p:sldId id="262" r:id="rId11"/>
    <p:sldId id="263" r:id="rId12"/>
    <p:sldId id="264" r:id="rId13"/>
    <p:sldId id="505" r:id="rId14"/>
    <p:sldId id="281" r:id="rId15"/>
  </p:sldIdLst>
  <p:sldSz cx="9144000" cy="5143500" type="screen16x9"/>
  <p:notesSz cx="6858000" cy="9144000"/>
  <p:embeddedFontLst>
    <p:embeddedFont>
      <p:font typeface="Arial Black" panose="020B0A04020102020204" pitchFamily="34" charset="0"/>
      <p:bold r:id="rId17"/>
    </p:embeddedFont>
    <p:embeddedFont>
      <p:font typeface="Consolas" panose="020B0609020204030204" pitchFamily="49" charset="0"/>
      <p:regular r:id="rId18"/>
      <p:bold r:id="rId19"/>
      <p:italic r:id="rId20"/>
      <p:boldItalic r:id="rId21"/>
    </p:embeddedFont>
    <p:embeddedFont>
      <p:font typeface="Georgia" panose="02040502050405020303" pitchFamily="18" charset="0"/>
      <p:regular r:id="rId22"/>
      <p:bold r:id="rId23"/>
      <p:italic r:id="rId24"/>
      <p:boldItalic r:id="rId25"/>
    </p:embeddedFont>
    <p:embeddedFont>
      <p:font typeface="IBM Plex Sans Arabic" panose="020B0604020202020204" charset="-78"/>
      <p:regular r:id="rId26"/>
      <p:bold r:id="rId27"/>
    </p:embeddedFont>
    <p:embeddedFont>
      <p:font typeface="IBM Plex Sans Arabic Medium" panose="020B0604020202020204" charset="-78"/>
      <p:regular r:id="rId28"/>
      <p:bold r:id="rId29"/>
    </p:embeddedFont>
    <p:embeddedFont>
      <p:font typeface="IBM Plex Sans Arabic SemiBold" panose="020B0604020202020204" charset="-78"/>
      <p:regular r:id="rId30"/>
      <p:bold r:id="rId31"/>
    </p:embeddedFont>
    <p:embeddedFont>
      <p:font typeface="Tajawal" panose="020B0604020202020204" charset="-78"/>
      <p:regular r:id="rId32"/>
      <p:bold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24">
          <p15:clr>
            <a:srgbClr val="747775"/>
          </p15:clr>
        </p15:guide>
        <p15:guide id="2" orient="horz" pos="2560">
          <p15:clr>
            <a:srgbClr val="747775"/>
          </p15:clr>
        </p15:guide>
        <p15:guide id="3" pos="2880">
          <p15:clr>
            <a:srgbClr val="747775"/>
          </p15:clr>
        </p15:guide>
        <p15:guide id="4" orient="horz" pos="759">
          <p15:clr>
            <a:srgbClr val="747775"/>
          </p15:clr>
        </p15:guide>
        <p15:guide id="5" orient="horz" pos="2428">
          <p15:clr>
            <a:srgbClr val="747775"/>
          </p15:clr>
        </p15:guide>
        <p15:guide id="6" pos="5325">
          <p15:clr>
            <a:srgbClr val="747775"/>
          </p15:clr>
        </p15:guide>
        <p15:guide id="7" orient="horz" pos="96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22E0367-EB9C-4807-88CA-1A682D9BA7E9}">
  <a:tblStyle styleId="{922E0367-EB9C-4807-88CA-1A682D9BA7E9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393" y="39"/>
      </p:cViewPr>
      <p:guideLst>
        <p:guide orient="horz" pos="524"/>
        <p:guide orient="horz" pos="2560"/>
        <p:guide pos="2880"/>
        <p:guide orient="horz" pos="759"/>
        <p:guide orient="horz" pos="2428"/>
        <p:guide pos="5325"/>
        <p:guide orient="horz" pos="9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21" Type="http://schemas.openxmlformats.org/officeDocument/2006/relationships/font" Target="fonts/font5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font" Target="fonts/font17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font" Target="fonts/font16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font" Target="fonts/font1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1a09276e835_1_9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1a09276e835_1_9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300"/>
              <a:buFont typeface="Tajawal"/>
              <a:buNone/>
              <a:defRPr sz="4300" b="1">
                <a:latin typeface="Tajawal"/>
                <a:ea typeface="Tajawal"/>
                <a:cs typeface="Tajawal"/>
                <a:sym typeface="Tajawal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2079450" y="714175"/>
            <a:ext cx="6707400" cy="77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1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500"/>
              <a:buNone/>
              <a:defRPr b="1">
                <a:solidFill>
                  <a:srgbClr val="543198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2758650" y="1526325"/>
            <a:ext cx="6028200" cy="17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Char char="●"/>
              <a:defRPr>
                <a:solidFill>
                  <a:srgbClr val="424242"/>
                </a:solidFill>
              </a:defRPr>
            </a:lvl1pPr>
            <a:lvl2pPr marL="914400" lvl="1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2pPr>
            <a:lvl3pPr marL="1371600" lvl="2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3pPr>
            <a:lvl4pPr marL="1828800" lvl="3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4pPr>
            <a:lvl5pPr marL="2286000" lvl="4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5pPr>
            <a:lvl6pPr marL="2743200" lvl="5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6pPr>
            <a:lvl7pPr marL="3200400" lvl="6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7pPr>
            <a:lvl8pPr marL="3657600" lvl="7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8pPr>
            <a:lvl9pPr marL="4114800" lvl="8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>
            <a:spLocks noGrp="1"/>
          </p:cNvSpPr>
          <p:nvPr>
            <p:ph type="title"/>
          </p:nvPr>
        </p:nvSpPr>
        <p:spPr>
          <a:xfrm>
            <a:off x="311700" y="282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1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7" name="Google Shape;27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59271" y="4703039"/>
            <a:ext cx="946580" cy="2139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pic>
        <p:nvPicPr>
          <p:cNvPr id="43" name="Google Shape;43;p11" title="twq white-2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43975" y="84975"/>
            <a:ext cx="1388326" cy="59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0120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9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2824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1">
              <a:spcBef>
                <a:spcPts val="0"/>
              </a:spcBef>
              <a:spcAft>
                <a:spcPts val="0"/>
              </a:spcAft>
              <a:buClr>
                <a:srgbClr val="4F29B7"/>
              </a:buClr>
              <a:buSzPts val="2500"/>
              <a:buFont typeface="IBM Plex Sans Arabic Medium"/>
              <a:buNone/>
              <a:defRPr sz="2500">
                <a:solidFill>
                  <a:srgbClr val="4F29B7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defRPr>
            </a:lvl1pPr>
            <a:lvl2pPr lvl="1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800"/>
              <a:buFont typeface="IBM Plex Sans Arabic"/>
              <a:buChar char="●"/>
              <a:defRPr sz="1800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1pPr>
            <a:lvl2pPr marL="914400" lvl="1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○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2pPr>
            <a:lvl3pPr marL="1371600" lvl="2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■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3pPr>
            <a:lvl4pPr marL="1828800" lvl="3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●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4pPr>
            <a:lvl5pPr marL="2286000" lvl="4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○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5pPr>
            <a:lvl6pPr marL="2743200" lvl="5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■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6pPr>
            <a:lvl7pPr marL="3200400" lvl="6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●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7pPr>
            <a:lvl8pPr marL="3657600" lvl="7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○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8pPr>
            <a:lvl9pPr marL="4114800" lvl="8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■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5" r:id="rId5"/>
    <p:sldLayoutId id="2147483657" r:id="rId6"/>
    <p:sldLayoutId id="2147483660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>
            <a:spLocks noGrp="1"/>
          </p:cNvSpPr>
          <p:nvPr>
            <p:ph type="title"/>
          </p:nvPr>
        </p:nvSpPr>
        <p:spPr>
          <a:xfrm>
            <a:off x="5435226" y="867625"/>
            <a:ext cx="2974200" cy="226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>
                <a:solidFill>
                  <a:srgbClr val="58E3D8"/>
                </a:solidFill>
                <a:latin typeface="IBM Plex Sans Arabic SemiBold"/>
                <a:ea typeface="IBM Plex Sans Arabic SemiBold"/>
                <a:cs typeface="IBM Plex Sans Arabic SemiBold"/>
                <a:sym typeface="IBM Plex Sans Arabic SemiBold"/>
              </a:rPr>
              <a:t>أكـــــاديميــــة طــــويـــق</a:t>
            </a:r>
            <a:endParaRPr sz="4800" dirty="0">
              <a:solidFill>
                <a:srgbClr val="58E3D8"/>
              </a:solidFill>
              <a:latin typeface="IBM Plex Sans Arabic SemiBold"/>
              <a:ea typeface="IBM Plex Sans Arabic SemiBold"/>
              <a:cs typeface="IBM Plex Sans Arabic SemiBold"/>
              <a:sym typeface="IBM Plex Sans Arabic SemiBold"/>
            </a:endParaRPr>
          </a:p>
        </p:txBody>
      </p:sp>
      <p:sp>
        <p:nvSpPr>
          <p:cNvPr id="51" name="Google Shape;51;p13"/>
          <p:cNvSpPr txBox="1">
            <a:spLocks noGrp="1"/>
          </p:cNvSpPr>
          <p:nvPr>
            <p:ph type="body" idx="4294967295"/>
          </p:nvPr>
        </p:nvSpPr>
        <p:spPr>
          <a:xfrm>
            <a:off x="3902100" y="3253272"/>
            <a:ext cx="4447500" cy="4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 algn="r">
              <a:buNone/>
            </a:pPr>
            <a:r>
              <a:rPr lang="ar-SA" sz="2000" b="1" dirty="0">
                <a:solidFill>
                  <a:schemeClr val="bg1"/>
                </a:solidFill>
              </a:rPr>
              <a:t>المعسكر التأسيسي - مسار البرمجة</a:t>
            </a:r>
          </a:p>
          <a:p>
            <a:pPr marL="114300" indent="0">
              <a:buNone/>
            </a:pPr>
            <a:br>
              <a:rPr lang="ar-SA" sz="2000" dirty="0"/>
            </a:br>
            <a:endParaRPr lang="ar-SA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7E3D8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4F29B7"/>
          </a:solidFill>
          <a:ln w="12700">
            <a:solidFill>
              <a:srgbClr val="4F29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4008"/>
            <a:ext cx="2560320" cy="5015484"/>
          </a:xfrm>
          <a:prstGeom prst="rect">
            <a:avLst/>
          </a:prstGeom>
          <a:solidFill>
            <a:srgbClr val="0A2020"/>
          </a:solidFill>
          <a:ln w="12700">
            <a:solidFill>
              <a:srgbClr val="0A2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560320" y="64008"/>
            <a:ext cx="0" cy="5015484"/>
          </a:xfrm>
          <a:prstGeom prst="line">
            <a:avLst/>
          </a:prstGeom>
          <a:noFill/>
          <a:ln w="254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0" y="32004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0" dirty="0">
              <a:solidFill>
                <a:schemeClr val="bg1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228600" y="384048"/>
            <a:ext cx="822960" cy="256032"/>
          </a:xfrm>
          <a:prstGeom prst="roundRect">
            <a:avLst>
              <a:gd name="adj" fmla="val 42857"/>
            </a:avLst>
          </a:prstGeom>
          <a:solidFill>
            <a:srgbClr val="57E3D8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28600" y="38404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37160" y="141732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Tools &amp;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20040" y="4069080"/>
            <a:ext cx="1920240" cy="0"/>
          </a:xfrm>
          <a:prstGeom prst="line">
            <a:avLst/>
          </a:prstGeom>
          <a:noFill/>
          <a:ln w="9525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37160" y="4160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Bootcamp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7160" y="44074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مسار البرمجة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834640" y="637794"/>
            <a:ext cx="6035040" cy="685800"/>
          </a:xfrm>
          <a:prstGeom prst="roundRect">
            <a:avLst>
              <a:gd name="adj" fmla="val 10667"/>
            </a:avLst>
          </a:prstGeom>
          <a:solidFill>
            <a:srgbClr val="1A1A2E"/>
          </a:solidFill>
          <a:ln w="9525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035808" y="788670"/>
            <a:ext cx="384048" cy="384048"/>
          </a:xfrm>
          <a:prstGeom prst="ellipse">
            <a:avLst/>
          </a:prstGeom>
          <a:solidFill>
            <a:srgbClr val="57E3D8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035808" y="78867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84448" y="729234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361688" y="784098"/>
            <a:ext cx="0" cy="393192"/>
          </a:xfrm>
          <a:prstGeom prst="line">
            <a:avLst/>
          </a:prstGeom>
          <a:noFill/>
          <a:ln w="9525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453128" y="637794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systems, files, extensions, file paths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834640" y="1433322"/>
            <a:ext cx="6035040" cy="685800"/>
          </a:xfrm>
          <a:prstGeom prst="roundRect">
            <a:avLst>
              <a:gd name="adj" fmla="val 10667"/>
            </a:avLst>
          </a:prstGeom>
          <a:solidFill>
            <a:srgbClr val="1A1A2E"/>
          </a:solidFill>
          <a:ln w="9525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035808" y="1584198"/>
            <a:ext cx="384048" cy="384048"/>
          </a:xfrm>
          <a:prstGeom prst="ellipse">
            <a:avLst/>
          </a:prstGeom>
          <a:solidFill>
            <a:srgbClr val="57E3D8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035808" y="158419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584448" y="152476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361688" y="1579626"/>
            <a:ext cx="0" cy="393192"/>
          </a:xfrm>
          <a:prstGeom prst="line">
            <a:avLst/>
          </a:prstGeom>
          <a:noFill/>
          <a:ln w="9525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453128" y="1433322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Line Interface (cd, ls, mkdir, touch, rm)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834640" y="2228850"/>
            <a:ext cx="6035040" cy="685800"/>
          </a:xfrm>
          <a:prstGeom prst="roundRect">
            <a:avLst>
              <a:gd name="adj" fmla="val 10667"/>
            </a:avLst>
          </a:prstGeom>
          <a:solidFill>
            <a:srgbClr val="1A1A2E"/>
          </a:solidFill>
          <a:ln w="9525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035808" y="2379726"/>
            <a:ext cx="384048" cy="384048"/>
          </a:xfrm>
          <a:prstGeom prst="ellipse">
            <a:avLst/>
          </a:prstGeom>
          <a:solidFill>
            <a:srgbClr val="57E3D8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035808" y="237972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584448" y="232029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361688" y="2375154"/>
            <a:ext cx="0" cy="393192"/>
          </a:xfrm>
          <a:prstGeom prst="line">
            <a:avLst/>
          </a:prstGeom>
          <a:noFill/>
          <a:ln w="9525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453128" y="222885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fundamentals: repository, staging, commit, history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834640" y="3024378"/>
            <a:ext cx="6035040" cy="685800"/>
          </a:xfrm>
          <a:prstGeom prst="roundRect">
            <a:avLst>
              <a:gd name="adj" fmla="val 10667"/>
            </a:avLst>
          </a:prstGeom>
          <a:solidFill>
            <a:srgbClr val="1A1A2E"/>
          </a:solidFill>
          <a:ln w="9525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035808" y="3175254"/>
            <a:ext cx="384048" cy="384048"/>
          </a:xfrm>
          <a:prstGeom prst="ellipse">
            <a:avLst/>
          </a:prstGeom>
          <a:solidFill>
            <a:srgbClr val="57E3D8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035808" y="317525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584448" y="311581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361688" y="3170682"/>
            <a:ext cx="0" cy="393192"/>
          </a:xfrm>
          <a:prstGeom prst="line">
            <a:avLst/>
          </a:prstGeom>
          <a:noFill/>
          <a:ln w="9525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453128" y="3024378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clone, push, pull, remote repositories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834640" y="3819906"/>
            <a:ext cx="6035040" cy="685800"/>
          </a:xfrm>
          <a:prstGeom prst="roundRect">
            <a:avLst>
              <a:gd name="adj" fmla="val 10667"/>
            </a:avLst>
          </a:prstGeom>
          <a:solidFill>
            <a:srgbClr val="16243A"/>
          </a:solidFill>
          <a:ln w="22225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3035808" y="3970782"/>
            <a:ext cx="384048" cy="384048"/>
          </a:xfrm>
          <a:prstGeom prst="ellipse">
            <a:avLst/>
          </a:prstGeom>
          <a:solidFill>
            <a:srgbClr val="57E3D8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035808" y="397078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584448" y="391134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361688" y="3966210"/>
            <a:ext cx="0" cy="393192"/>
          </a:xfrm>
          <a:prstGeom prst="line">
            <a:avLst/>
          </a:prstGeom>
          <a:noFill/>
          <a:ln w="9525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453128" y="3819906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usage and debugging concepts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7E3D8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4F29B7"/>
          </a:solidFill>
          <a:ln w="12700">
            <a:solidFill>
              <a:srgbClr val="4F29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274320"/>
            <a:ext cx="1371600" cy="868680"/>
          </a:xfrm>
          <a:prstGeom prst="rect">
            <a:avLst/>
          </a:prstGeom>
          <a:solidFill>
            <a:srgbClr val="57E3D8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2743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1200" dirty="0"/>
          </a:p>
          <a:p>
            <a:pPr marL="0" indent="0" algn="ctr">
              <a:buNone/>
            </a:pPr>
            <a:r>
              <a:rPr lang="en-US" sz="3200" b="1" dirty="0">
                <a:solidFill>
                  <a:srgbClr val="0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846320" y="29260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Bootcamp  ·  Programming Fundamentals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846320" y="5669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Session 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298448"/>
            <a:ext cx="8412480" cy="1463040"/>
          </a:xfrm>
          <a:prstGeom prst="rect">
            <a:avLst/>
          </a:prstGeom>
          <a:solidFill>
            <a:srgbClr val="1A1A2E"/>
          </a:solidFill>
          <a:ln w="1905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1298448"/>
            <a:ext cx="109728" cy="1463040"/>
          </a:xfrm>
          <a:prstGeom prst="rect">
            <a:avLst/>
          </a:prstGeom>
          <a:solidFill>
            <a:srgbClr val="57E3D8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580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Topics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173736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&amp; Debugging</a:t>
            </a:r>
            <a:endParaRPr lang="en-US" sz="4000" dirty="0"/>
          </a:p>
        </p:txBody>
      </p:sp>
      <p:sp>
        <p:nvSpPr>
          <p:cNvPr id="12" name="Shape 10"/>
          <p:cNvSpPr/>
          <p:nvPr/>
        </p:nvSpPr>
        <p:spPr>
          <a:xfrm>
            <a:off x="448056" y="2971800"/>
            <a:ext cx="1965960" cy="256032"/>
          </a:xfrm>
          <a:prstGeom prst="rect">
            <a:avLst/>
          </a:prstGeom>
          <a:solidFill>
            <a:srgbClr val="57E3D8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57784" y="299008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48056" y="3227832"/>
            <a:ext cx="1965960" cy="1435608"/>
          </a:xfrm>
          <a:prstGeom prst="rect">
            <a:avLst/>
          </a:prstGeom>
          <a:solidFill>
            <a:srgbClr val="1A1A2E"/>
          </a:solidFill>
          <a:ln w="9525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147572" y="3383280"/>
            <a:ext cx="566928" cy="566928"/>
          </a:xfrm>
          <a:prstGeom prst="ellipse">
            <a:avLst/>
          </a:prstGeom>
          <a:solidFill>
            <a:srgbClr val="1A1A2E"/>
          </a:solidFill>
          <a:ln w="1905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4732" y="3520440"/>
            <a:ext cx="292608" cy="29260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39496" y="399592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Overview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539496" y="42519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an IDE is and how it speeds up development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2542032" y="2971800"/>
            <a:ext cx="1965960" cy="256032"/>
          </a:xfrm>
          <a:prstGeom prst="rect">
            <a:avLst/>
          </a:prstGeom>
          <a:solidFill>
            <a:srgbClr val="4A8AF4"/>
          </a:solidFill>
          <a:ln w="12700">
            <a:solidFill>
              <a:srgbClr val="4A8A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2651760" y="299008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2542032" y="3227832"/>
            <a:ext cx="1965960" cy="1435608"/>
          </a:xfrm>
          <a:prstGeom prst="rect">
            <a:avLst/>
          </a:prstGeom>
          <a:solidFill>
            <a:srgbClr val="1A1A2E"/>
          </a:solidFill>
          <a:ln w="9525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3241548" y="3383280"/>
            <a:ext cx="566928" cy="566928"/>
          </a:xfrm>
          <a:prstGeom prst="ellipse">
            <a:avLst/>
          </a:prstGeom>
          <a:solidFill>
            <a:srgbClr val="1A1A2E"/>
          </a:solidFill>
          <a:ln w="19050">
            <a:solidFill>
              <a:srgbClr val="4A8A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8708" y="3520440"/>
            <a:ext cx="292608" cy="292608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2633472" y="399592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4A8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&amp; Build</a:t>
            </a:r>
            <a:endParaRPr lang="en-US" sz="1250" dirty="0"/>
          </a:p>
        </p:txBody>
      </p:sp>
      <p:sp>
        <p:nvSpPr>
          <p:cNvPr id="25" name="Text 21"/>
          <p:cNvSpPr/>
          <p:nvPr/>
        </p:nvSpPr>
        <p:spPr>
          <a:xfrm>
            <a:off x="2633472" y="42519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code and configuring a simple workspace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4636008" y="2971800"/>
            <a:ext cx="1965960" cy="256032"/>
          </a:xfrm>
          <a:prstGeom prst="rect">
            <a:avLst/>
          </a:prstGeom>
          <a:solidFill>
            <a:srgbClr val="E08845"/>
          </a:solidFill>
          <a:ln w="12700">
            <a:solidFill>
              <a:srgbClr val="E088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4745736" y="299008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4636008" y="3227832"/>
            <a:ext cx="1965960" cy="1435608"/>
          </a:xfrm>
          <a:prstGeom prst="rect">
            <a:avLst/>
          </a:prstGeom>
          <a:solidFill>
            <a:srgbClr val="1A1A2E"/>
          </a:solidFill>
          <a:ln w="9525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5"/>
          <p:cNvSpPr/>
          <p:nvPr/>
        </p:nvSpPr>
        <p:spPr>
          <a:xfrm>
            <a:off x="5335524" y="3383280"/>
            <a:ext cx="566928" cy="566928"/>
          </a:xfrm>
          <a:prstGeom prst="ellipse">
            <a:avLst/>
          </a:prstGeom>
          <a:solidFill>
            <a:srgbClr val="1A1A2E"/>
          </a:solidFill>
          <a:ln w="19050">
            <a:solidFill>
              <a:srgbClr val="E088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2684" y="3520440"/>
            <a:ext cx="292608" cy="292608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4727448" y="399592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E08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</a:t>
            </a:r>
            <a:endParaRPr lang="en-US" sz="1250" dirty="0"/>
          </a:p>
        </p:txBody>
      </p:sp>
      <p:sp>
        <p:nvSpPr>
          <p:cNvPr id="32" name="Text 27"/>
          <p:cNvSpPr/>
          <p:nvPr/>
        </p:nvSpPr>
        <p:spPr>
          <a:xfrm>
            <a:off x="4727448" y="42519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Breakpoints, step over, step into, watch variables</a:t>
            </a:r>
            <a:endParaRPr lang="en-US" sz="900" dirty="0"/>
          </a:p>
        </p:txBody>
      </p:sp>
      <p:sp>
        <p:nvSpPr>
          <p:cNvPr id="33" name="Shape 28"/>
          <p:cNvSpPr/>
          <p:nvPr/>
        </p:nvSpPr>
        <p:spPr>
          <a:xfrm>
            <a:off x="6729984" y="2971800"/>
            <a:ext cx="1965960" cy="256032"/>
          </a:xfrm>
          <a:prstGeom prst="rect">
            <a:avLst/>
          </a:prstGeom>
          <a:solidFill>
            <a:srgbClr val="9B7EDA"/>
          </a:solidFill>
          <a:ln w="12700">
            <a:solidFill>
              <a:srgbClr val="9B7E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9"/>
          <p:cNvSpPr/>
          <p:nvPr/>
        </p:nvSpPr>
        <p:spPr>
          <a:xfrm>
            <a:off x="6839712" y="299008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6729984" y="3227832"/>
            <a:ext cx="1965960" cy="1435608"/>
          </a:xfrm>
          <a:prstGeom prst="rect">
            <a:avLst/>
          </a:prstGeom>
          <a:solidFill>
            <a:srgbClr val="1A1A2E"/>
          </a:solidFill>
          <a:ln w="9525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1"/>
          <p:cNvSpPr/>
          <p:nvPr/>
        </p:nvSpPr>
        <p:spPr>
          <a:xfrm>
            <a:off x="7429500" y="3383280"/>
            <a:ext cx="566928" cy="566928"/>
          </a:xfrm>
          <a:prstGeom prst="ellipse">
            <a:avLst/>
          </a:prstGeom>
          <a:solidFill>
            <a:srgbClr val="1A1A2E"/>
          </a:solidFill>
          <a:ln w="19050">
            <a:solidFill>
              <a:srgbClr val="9B7E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6660" y="3520440"/>
            <a:ext cx="292608" cy="292608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6821424" y="399592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9B7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</a:t>
            </a:r>
            <a:endParaRPr lang="en-US" sz="1250" dirty="0"/>
          </a:p>
        </p:txBody>
      </p:sp>
      <p:sp>
        <p:nvSpPr>
          <p:cNvPr id="39" name="Text 33"/>
          <p:cNvSpPr/>
          <p:nvPr/>
        </p:nvSpPr>
        <p:spPr>
          <a:xfrm>
            <a:off x="6821424" y="42519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Shortcuts, extensions and tips for daily use</a:t>
            </a:r>
            <a:endParaRPr lang="en-US" sz="900" dirty="0"/>
          </a:p>
        </p:txBody>
      </p:sp>
      <p:sp>
        <p:nvSpPr>
          <p:cNvPr id="40" name="Text 34"/>
          <p:cNvSpPr/>
          <p:nvPr/>
        </p:nvSpPr>
        <p:spPr>
          <a:xfrm>
            <a:off x="0" y="47777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get started 🚀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2900" y="411480"/>
            <a:ext cx="109728" cy="109728"/>
          </a:xfrm>
          <a:prstGeom prst="rect">
            <a:avLst/>
          </a:prstGeom>
          <a:solidFill>
            <a:srgbClr val="7C3AED">
              <a:alpha val="30000"/>
            </a:srgbClr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3" name="Shape 1"/>
          <p:cNvSpPr/>
          <p:nvPr/>
        </p:nvSpPr>
        <p:spPr>
          <a:xfrm>
            <a:off x="891540" y="891540"/>
            <a:ext cx="109728" cy="109728"/>
          </a:xfrm>
          <a:prstGeom prst="rect">
            <a:avLst/>
          </a:prstGeom>
          <a:solidFill>
            <a:srgbClr val="00E5CC">
              <a:alpha val="25000"/>
            </a:srgbClr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4" name="Shape 2"/>
          <p:cNvSpPr/>
          <p:nvPr/>
        </p:nvSpPr>
        <p:spPr>
          <a:xfrm>
            <a:off x="8572500" y="480060"/>
            <a:ext cx="109728" cy="109728"/>
          </a:xfrm>
          <a:prstGeom prst="rect">
            <a:avLst/>
          </a:prstGeom>
          <a:solidFill>
            <a:srgbClr val="F97316">
              <a:alpha val="35000"/>
            </a:srgbClr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5" name="Shape 3"/>
          <p:cNvSpPr/>
          <p:nvPr/>
        </p:nvSpPr>
        <p:spPr>
          <a:xfrm>
            <a:off x="8092440" y="1028700"/>
            <a:ext cx="109728" cy="109728"/>
          </a:xfrm>
          <a:prstGeom prst="rect">
            <a:avLst/>
          </a:prstGeom>
          <a:solidFill>
            <a:srgbClr val="A78BFA">
              <a:alpha val="30000"/>
            </a:srgbClr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6" name="Shape 4"/>
          <p:cNvSpPr/>
          <p:nvPr/>
        </p:nvSpPr>
        <p:spPr>
          <a:xfrm>
            <a:off x="480060" y="4526280"/>
            <a:ext cx="109728" cy="109728"/>
          </a:xfrm>
          <a:prstGeom prst="rect">
            <a:avLst/>
          </a:prstGeom>
          <a:solidFill>
            <a:srgbClr val="00E5CC">
              <a:alpha val="30000"/>
            </a:srgbClr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7" name="Shape 5"/>
          <p:cNvSpPr/>
          <p:nvPr/>
        </p:nvSpPr>
        <p:spPr>
          <a:xfrm>
            <a:off x="1097280" y="4800600"/>
            <a:ext cx="109728" cy="109728"/>
          </a:xfrm>
          <a:prstGeom prst="rect">
            <a:avLst/>
          </a:prstGeom>
          <a:solidFill>
            <a:srgbClr val="7C3AED">
              <a:alpha val="20000"/>
            </a:srgbClr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8" name="Shape 6"/>
          <p:cNvSpPr/>
          <p:nvPr/>
        </p:nvSpPr>
        <p:spPr>
          <a:xfrm>
            <a:off x="8572500" y="4526280"/>
            <a:ext cx="109728" cy="109728"/>
          </a:xfrm>
          <a:prstGeom prst="rect">
            <a:avLst/>
          </a:prstGeom>
          <a:solidFill>
            <a:srgbClr val="FBBF24">
              <a:alpha val="30000"/>
            </a:srgbClr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9" name="Shape 7"/>
          <p:cNvSpPr/>
          <p:nvPr/>
        </p:nvSpPr>
        <p:spPr>
          <a:xfrm>
            <a:off x="7955280" y="4800600"/>
            <a:ext cx="109728" cy="109728"/>
          </a:xfrm>
          <a:prstGeom prst="rect">
            <a:avLst/>
          </a:prstGeom>
          <a:solidFill>
            <a:srgbClr val="EC4899">
              <a:alpha val="25000"/>
            </a:srgbClr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10" name="Shape 8"/>
          <p:cNvSpPr/>
          <p:nvPr/>
        </p:nvSpPr>
        <p:spPr>
          <a:xfrm>
            <a:off x="617220" y="2606040"/>
            <a:ext cx="109728" cy="109728"/>
          </a:xfrm>
          <a:prstGeom prst="rect">
            <a:avLst/>
          </a:prstGeom>
          <a:solidFill>
            <a:srgbClr val="00E5CC">
              <a:alpha val="15000"/>
            </a:srgbClr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11" name="Shape 9"/>
          <p:cNvSpPr/>
          <p:nvPr/>
        </p:nvSpPr>
        <p:spPr>
          <a:xfrm>
            <a:off x="8435340" y="2400300"/>
            <a:ext cx="109728" cy="109728"/>
          </a:xfrm>
          <a:prstGeom prst="rect">
            <a:avLst/>
          </a:prstGeom>
          <a:solidFill>
            <a:srgbClr val="F97316">
              <a:alpha val="15000"/>
            </a:srgbClr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12" name="Shape 10"/>
          <p:cNvSpPr/>
          <p:nvPr/>
        </p:nvSpPr>
        <p:spPr>
          <a:xfrm>
            <a:off x="377190" y="288036"/>
            <a:ext cx="82296" cy="82296"/>
          </a:xfrm>
          <a:prstGeom prst="rect">
            <a:avLst/>
          </a:prstGeom>
          <a:solidFill>
            <a:srgbClr val="00E5CC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13" name="Text 11"/>
          <p:cNvSpPr/>
          <p:nvPr/>
        </p:nvSpPr>
        <p:spPr>
          <a:xfrm>
            <a:off x="534924" y="198882"/>
            <a:ext cx="480060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spc="225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WEEK 1  ·  SESSION 5  ·  DEVELOPER TOOLS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4800600" y="198882"/>
            <a:ext cx="397764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spc="1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Foundation Bootcamp  ·  مسار البرمجة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42900" y="1508760"/>
            <a:ext cx="1303020" cy="342900"/>
          </a:xfrm>
          <a:prstGeom prst="roundRect">
            <a:avLst>
              <a:gd name="adj" fmla="val 50000"/>
            </a:avLst>
          </a:prstGeom>
          <a:solidFill>
            <a:srgbClr val="0D0D1F"/>
          </a:solidFill>
          <a:ln w="19050">
            <a:solidFill>
              <a:srgbClr val="00E5CC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6" name="Text 14"/>
          <p:cNvSpPr/>
          <p:nvPr/>
        </p:nvSpPr>
        <p:spPr>
          <a:xfrm>
            <a:off x="342900" y="1508760"/>
            <a:ext cx="13030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</a:t>
            </a:r>
            <a:r>
              <a:rPr lang="en-US" sz="1050" b="1" spc="225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42900" y="1954530"/>
            <a:ext cx="8455914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IDE &amp;</a:t>
            </a:r>
            <a:endParaRPr lang="en-US" sz="8250" dirty="0"/>
          </a:p>
        </p:txBody>
      </p:sp>
      <p:sp>
        <p:nvSpPr>
          <p:cNvPr id="18" name="Text 16"/>
          <p:cNvSpPr/>
          <p:nvPr/>
        </p:nvSpPr>
        <p:spPr>
          <a:xfrm>
            <a:off x="342900" y="2811780"/>
            <a:ext cx="8455914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0" b="1" i="1" dirty="0">
                <a:solidFill>
                  <a:srgbClr val="00E5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Debugging</a:t>
            </a:r>
            <a:endParaRPr lang="en-US" sz="7500" dirty="0"/>
          </a:p>
        </p:txBody>
      </p:sp>
      <p:sp>
        <p:nvSpPr>
          <p:cNvPr id="19" name="Text 17"/>
          <p:cNvSpPr/>
          <p:nvPr/>
        </p:nvSpPr>
        <p:spPr>
          <a:xfrm>
            <a:off x="342900" y="3703320"/>
            <a:ext cx="8455914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i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tools for writing code — and finding out why it broke.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13232" y="4217670"/>
            <a:ext cx="1851660" cy="308610"/>
          </a:xfrm>
          <a:prstGeom prst="roundRect">
            <a:avLst>
              <a:gd name="adj" fmla="val 48889"/>
            </a:avLst>
          </a:prstGeom>
          <a:solidFill>
            <a:srgbClr val="0D0D1F"/>
          </a:solidFill>
          <a:ln w="1905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1" name="Text 19"/>
          <p:cNvSpPr/>
          <p:nvPr/>
        </p:nvSpPr>
        <p:spPr>
          <a:xfrm>
            <a:off x="713232" y="4217670"/>
            <a:ext cx="185166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b="1" spc="3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VS CODE</a:t>
            </a:r>
            <a:endParaRPr lang="en-US" sz="825" dirty="0"/>
          </a:p>
        </p:txBody>
      </p:sp>
      <p:sp>
        <p:nvSpPr>
          <p:cNvPr id="22" name="Shape 20"/>
          <p:cNvSpPr/>
          <p:nvPr/>
        </p:nvSpPr>
        <p:spPr>
          <a:xfrm>
            <a:off x="2667762" y="4217670"/>
            <a:ext cx="1851660" cy="308610"/>
          </a:xfrm>
          <a:prstGeom prst="roundRect">
            <a:avLst>
              <a:gd name="adj" fmla="val 48889"/>
            </a:avLst>
          </a:prstGeom>
          <a:solidFill>
            <a:srgbClr val="0D0D1F"/>
          </a:solidFill>
          <a:ln w="190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3" name="Text 21"/>
          <p:cNvSpPr/>
          <p:nvPr/>
        </p:nvSpPr>
        <p:spPr>
          <a:xfrm>
            <a:off x="2667762" y="4217670"/>
            <a:ext cx="185166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b="1" spc="3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BREAKPOINTS</a:t>
            </a:r>
            <a:endParaRPr lang="en-US" sz="825" dirty="0"/>
          </a:p>
        </p:txBody>
      </p:sp>
      <p:sp>
        <p:nvSpPr>
          <p:cNvPr id="24" name="Shape 22"/>
          <p:cNvSpPr/>
          <p:nvPr/>
        </p:nvSpPr>
        <p:spPr>
          <a:xfrm>
            <a:off x="4622292" y="4217670"/>
            <a:ext cx="1851660" cy="308610"/>
          </a:xfrm>
          <a:prstGeom prst="roundRect">
            <a:avLst>
              <a:gd name="adj" fmla="val 48889"/>
            </a:avLst>
          </a:prstGeom>
          <a:solidFill>
            <a:srgbClr val="0D0D1F"/>
          </a:solidFill>
          <a:ln w="1905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5" name="Text 23"/>
          <p:cNvSpPr/>
          <p:nvPr/>
        </p:nvSpPr>
        <p:spPr>
          <a:xfrm>
            <a:off x="4622292" y="4217670"/>
            <a:ext cx="185166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b="1" spc="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DEBUG</a:t>
            </a:r>
            <a:endParaRPr lang="en-US" sz="825" dirty="0"/>
          </a:p>
        </p:txBody>
      </p:sp>
      <p:sp>
        <p:nvSpPr>
          <p:cNvPr id="26" name="Shape 24"/>
          <p:cNvSpPr/>
          <p:nvPr/>
        </p:nvSpPr>
        <p:spPr>
          <a:xfrm>
            <a:off x="6576822" y="4217670"/>
            <a:ext cx="1851660" cy="308610"/>
          </a:xfrm>
          <a:prstGeom prst="roundRect">
            <a:avLst>
              <a:gd name="adj" fmla="val 48889"/>
            </a:avLst>
          </a:prstGeom>
          <a:solidFill>
            <a:srgbClr val="0D0D1F"/>
          </a:solidFill>
          <a:ln w="190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7" name="Text 25"/>
          <p:cNvSpPr/>
          <p:nvPr/>
        </p:nvSpPr>
        <p:spPr>
          <a:xfrm>
            <a:off x="6576822" y="4217670"/>
            <a:ext cx="185166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b="1" spc="3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ERRORS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342900" y="4834890"/>
            <a:ext cx="845591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 hello.py  </a:t>
            </a:r>
            <a:r>
              <a:rPr lang="en-US" sz="9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set breakpoint, hit F5, and watch it work</a:t>
            </a:r>
            <a:r>
              <a:rPr lang="en-US" sz="900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▊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7190" y="288036"/>
            <a:ext cx="82296" cy="82296"/>
          </a:xfrm>
          <a:prstGeom prst="rect">
            <a:avLst/>
          </a:prstGeom>
          <a:solidFill>
            <a:srgbClr val="00E5CC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3" name="Text 1"/>
          <p:cNvSpPr/>
          <p:nvPr/>
        </p:nvSpPr>
        <p:spPr>
          <a:xfrm>
            <a:off x="534924" y="198882"/>
            <a:ext cx="480060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spc="225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TODAY'S TOPICS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4800600" y="198882"/>
            <a:ext cx="397764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spc="1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Foundation Bootcamp  ·  مسار البرمجة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42900" y="5026914"/>
            <a:ext cx="3429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spc="225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1  ·  SESSION 5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5829300" y="5026914"/>
            <a:ext cx="29695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600" spc="225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10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342900" y="514350"/>
            <a:ext cx="845591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Agenda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342900" y="960120"/>
            <a:ext cx="8455914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editor to debugger — all the tools you'll use every day.</a:t>
            </a:r>
            <a:endParaRPr lang="en-US" sz="975" dirty="0"/>
          </a:p>
        </p:txBody>
      </p:sp>
      <p:sp>
        <p:nvSpPr>
          <p:cNvPr id="9" name="Shape 7"/>
          <p:cNvSpPr/>
          <p:nvPr/>
        </p:nvSpPr>
        <p:spPr>
          <a:xfrm>
            <a:off x="342900" y="1337310"/>
            <a:ext cx="2791206" cy="1062990"/>
          </a:xfrm>
          <a:prstGeom prst="rect">
            <a:avLst/>
          </a:prstGeom>
          <a:solidFill>
            <a:srgbClr val="13132A"/>
          </a:solidFill>
          <a:ln w="12700">
            <a:solidFill>
              <a:srgbClr val="2A2A4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0" name="Shape 8"/>
          <p:cNvSpPr/>
          <p:nvPr/>
        </p:nvSpPr>
        <p:spPr>
          <a:xfrm>
            <a:off x="342900" y="1337310"/>
            <a:ext cx="54864" cy="106299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11" name="Text 9"/>
          <p:cNvSpPr/>
          <p:nvPr/>
        </p:nvSpPr>
        <p:spPr>
          <a:xfrm>
            <a:off x="480060" y="1440180"/>
            <a:ext cx="5486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spc="15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585466" y="1419606"/>
            <a:ext cx="41148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800" dirty="0"/>
              <a:t>🛠️</a:t>
            </a:r>
          </a:p>
        </p:txBody>
      </p:sp>
      <p:sp>
        <p:nvSpPr>
          <p:cNvPr id="13" name="Text 11"/>
          <p:cNvSpPr/>
          <p:nvPr/>
        </p:nvSpPr>
        <p:spPr>
          <a:xfrm>
            <a:off x="480060" y="1735074"/>
            <a:ext cx="25854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IDE?</a:t>
            </a:r>
            <a:endParaRPr lang="en-US" sz="1275" dirty="0"/>
          </a:p>
        </p:txBody>
      </p:sp>
      <p:sp>
        <p:nvSpPr>
          <p:cNvPr id="14" name="Text 12"/>
          <p:cNvSpPr/>
          <p:nvPr/>
        </p:nvSpPr>
        <p:spPr>
          <a:xfrm>
            <a:off x="480060" y="2036826"/>
            <a:ext cx="2585466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 editor vs. full environment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271266" y="1337310"/>
            <a:ext cx="2791206" cy="1062990"/>
          </a:xfrm>
          <a:prstGeom prst="rect">
            <a:avLst/>
          </a:prstGeom>
          <a:solidFill>
            <a:srgbClr val="13132A"/>
          </a:solidFill>
          <a:ln w="12700">
            <a:solidFill>
              <a:srgbClr val="2A2A4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6" name="Shape 14"/>
          <p:cNvSpPr/>
          <p:nvPr/>
        </p:nvSpPr>
        <p:spPr>
          <a:xfrm>
            <a:off x="3271266" y="1337310"/>
            <a:ext cx="54864" cy="1062990"/>
          </a:xfrm>
          <a:prstGeom prst="rect">
            <a:avLst/>
          </a:prstGeom>
          <a:solidFill>
            <a:srgbClr val="60A5FA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17" name="Text 15"/>
          <p:cNvSpPr/>
          <p:nvPr/>
        </p:nvSpPr>
        <p:spPr>
          <a:xfrm>
            <a:off x="3408426" y="1440180"/>
            <a:ext cx="5486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spc="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513832" y="1419606"/>
            <a:ext cx="41148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800" dirty="0"/>
              <a:t>🖥️</a:t>
            </a:r>
          </a:p>
        </p:txBody>
      </p:sp>
      <p:sp>
        <p:nvSpPr>
          <p:cNvPr id="19" name="Text 17"/>
          <p:cNvSpPr/>
          <p:nvPr/>
        </p:nvSpPr>
        <p:spPr>
          <a:xfrm>
            <a:off x="3408426" y="1735074"/>
            <a:ext cx="25854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Interface</a:t>
            </a:r>
            <a:endParaRPr lang="en-US" sz="1275" dirty="0"/>
          </a:p>
        </p:txBody>
      </p:sp>
      <p:sp>
        <p:nvSpPr>
          <p:cNvPr id="20" name="Text 18"/>
          <p:cNvSpPr/>
          <p:nvPr/>
        </p:nvSpPr>
        <p:spPr>
          <a:xfrm>
            <a:off x="3408426" y="2036826"/>
            <a:ext cx="2585466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Explorer, editor, terminal, status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6199632" y="1337310"/>
            <a:ext cx="2791206" cy="1062990"/>
          </a:xfrm>
          <a:prstGeom prst="rect">
            <a:avLst/>
          </a:prstGeom>
          <a:solidFill>
            <a:srgbClr val="13132A"/>
          </a:solidFill>
          <a:ln w="12700">
            <a:solidFill>
              <a:srgbClr val="2A2A4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2" name="Shape 20"/>
          <p:cNvSpPr/>
          <p:nvPr/>
        </p:nvSpPr>
        <p:spPr>
          <a:xfrm>
            <a:off x="6199632" y="1337310"/>
            <a:ext cx="54864" cy="1062990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23" name="Text 21"/>
          <p:cNvSpPr/>
          <p:nvPr/>
        </p:nvSpPr>
        <p:spPr>
          <a:xfrm>
            <a:off x="6336792" y="1440180"/>
            <a:ext cx="5486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spc="1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442198" y="1419606"/>
            <a:ext cx="41148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800" dirty="0"/>
              <a:t>✨</a:t>
            </a:r>
          </a:p>
        </p:txBody>
      </p:sp>
      <p:sp>
        <p:nvSpPr>
          <p:cNvPr id="25" name="Text 23"/>
          <p:cNvSpPr/>
          <p:nvPr/>
        </p:nvSpPr>
        <p:spPr>
          <a:xfrm>
            <a:off x="6336792" y="1735074"/>
            <a:ext cx="25854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Features</a:t>
            </a:r>
            <a:endParaRPr lang="en-US" sz="1275" dirty="0"/>
          </a:p>
        </p:txBody>
      </p:sp>
      <p:sp>
        <p:nvSpPr>
          <p:cNvPr id="26" name="Text 24"/>
          <p:cNvSpPr/>
          <p:nvPr/>
        </p:nvSpPr>
        <p:spPr>
          <a:xfrm>
            <a:off x="6336792" y="2036826"/>
            <a:ext cx="2585466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Highlighting, IntelliSense, formatting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342900" y="2537460"/>
            <a:ext cx="2791206" cy="1062990"/>
          </a:xfrm>
          <a:prstGeom prst="rect">
            <a:avLst/>
          </a:prstGeom>
          <a:solidFill>
            <a:srgbClr val="13132A"/>
          </a:solidFill>
          <a:ln w="12700">
            <a:solidFill>
              <a:srgbClr val="2A2A4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8" name="Shape 26"/>
          <p:cNvSpPr/>
          <p:nvPr/>
        </p:nvSpPr>
        <p:spPr>
          <a:xfrm>
            <a:off x="342900" y="2537460"/>
            <a:ext cx="54864" cy="1062990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29" name="Text 27"/>
          <p:cNvSpPr/>
          <p:nvPr/>
        </p:nvSpPr>
        <p:spPr>
          <a:xfrm>
            <a:off x="480060" y="2640330"/>
            <a:ext cx="5486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spc="1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585466" y="2619756"/>
            <a:ext cx="41148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800" dirty="0"/>
              <a:t>🧭</a:t>
            </a:r>
          </a:p>
        </p:txBody>
      </p:sp>
      <p:sp>
        <p:nvSpPr>
          <p:cNvPr id="31" name="Text 29"/>
          <p:cNvSpPr/>
          <p:nvPr/>
        </p:nvSpPr>
        <p:spPr>
          <a:xfrm>
            <a:off x="480060" y="2935224"/>
            <a:ext cx="25854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IDEs</a:t>
            </a:r>
            <a:endParaRPr lang="en-US" sz="1275" dirty="0"/>
          </a:p>
        </p:txBody>
      </p:sp>
      <p:sp>
        <p:nvSpPr>
          <p:cNvPr id="32" name="Text 30"/>
          <p:cNvSpPr/>
          <p:nvPr/>
        </p:nvSpPr>
        <p:spPr>
          <a:xfrm>
            <a:off x="480060" y="3236976"/>
            <a:ext cx="2585466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PyCharm, Xcode, IntelliJ &amp; more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3271266" y="2537460"/>
            <a:ext cx="2791206" cy="1062990"/>
          </a:xfrm>
          <a:prstGeom prst="rect">
            <a:avLst/>
          </a:prstGeom>
          <a:solidFill>
            <a:srgbClr val="13132A"/>
          </a:solidFill>
          <a:ln w="12700">
            <a:solidFill>
              <a:srgbClr val="2A2A4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4" name="Shape 32"/>
          <p:cNvSpPr/>
          <p:nvPr/>
        </p:nvSpPr>
        <p:spPr>
          <a:xfrm>
            <a:off x="3271266" y="2537460"/>
            <a:ext cx="54864" cy="106299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35" name="Text 33"/>
          <p:cNvSpPr/>
          <p:nvPr/>
        </p:nvSpPr>
        <p:spPr>
          <a:xfrm>
            <a:off x="3408426" y="2640330"/>
            <a:ext cx="5486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spc="1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513832" y="2619756"/>
            <a:ext cx="41148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800" dirty="0"/>
              <a:t>🐛</a:t>
            </a:r>
          </a:p>
        </p:txBody>
      </p:sp>
      <p:sp>
        <p:nvSpPr>
          <p:cNvPr id="37" name="Text 35"/>
          <p:cNvSpPr/>
          <p:nvPr/>
        </p:nvSpPr>
        <p:spPr>
          <a:xfrm>
            <a:off x="3408426" y="2935224"/>
            <a:ext cx="25854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Errors</a:t>
            </a:r>
            <a:endParaRPr lang="en-US" sz="1275" dirty="0"/>
          </a:p>
        </p:txBody>
      </p:sp>
      <p:sp>
        <p:nvSpPr>
          <p:cNvPr id="38" name="Text 36"/>
          <p:cNvSpPr/>
          <p:nvPr/>
        </p:nvSpPr>
        <p:spPr>
          <a:xfrm>
            <a:off x="3408426" y="3236976"/>
            <a:ext cx="2585466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Syntax vs runtime vs logic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6199632" y="2537460"/>
            <a:ext cx="2791206" cy="1062990"/>
          </a:xfrm>
          <a:prstGeom prst="rect">
            <a:avLst/>
          </a:prstGeom>
          <a:solidFill>
            <a:srgbClr val="13132A"/>
          </a:solidFill>
          <a:ln w="12700">
            <a:solidFill>
              <a:srgbClr val="2A2A4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40" name="Shape 38"/>
          <p:cNvSpPr/>
          <p:nvPr/>
        </p:nvSpPr>
        <p:spPr>
          <a:xfrm>
            <a:off x="6199632" y="2537460"/>
            <a:ext cx="54864" cy="1062990"/>
          </a:xfrm>
          <a:prstGeom prst="rect">
            <a:avLst/>
          </a:prstGeom>
          <a:solidFill>
            <a:srgbClr val="00E5CC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41" name="Text 39"/>
          <p:cNvSpPr/>
          <p:nvPr/>
        </p:nvSpPr>
        <p:spPr>
          <a:xfrm>
            <a:off x="6336792" y="2640330"/>
            <a:ext cx="5486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spc="150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8442198" y="2619756"/>
            <a:ext cx="41148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800" dirty="0"/>
              <a:t>🔍</a:t>
            </a:r>
          </a:p>
        </p:txBody>
      </p:sp>
      <p:sp>
        <p:nvSpPr>
          <p:cNvPr id="43" name="Text 41"/>
          <p:cNvSpPr/>
          <p:nvPr/>
        </p:nvSpPr>
        <p:spPr>
          <a:xfrm>
            <a:off x="6336792" y="2935224"/>
            <a:ext cx="25854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</a:t>
            </a:r>
            <a:endParaRPr lang="en-US" sz="1275" dirty="0"/>
          </a:p>
        </p:txBody>
      </p:sp>
      <p:sp>
        <p:nvSpPr>
          <p:cNvPr id="44" name="Text 42"/>
          <p:cNvSpPr/>
          <p:nvPr/>
        </p:nvSpPr>
        <p:spPr>
          <a:xfrm>
            <a:off x="6336792" y="3236976"/>
            <a:ext cx="2585466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Breakpoints &amp; step controls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342900" y="4594860"/>
            <a:ext cx="8455914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💡  </a:t>
            </a:r>
            <a:r>
              <a:rPr lang="en-US" sz="825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mindset: </a:t>
            </a:r>
            <a:r>
              <a:rPr lang="en-US" sz="825" b="1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errors are normal — great programmers are great at finding them.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7190" y="288036"/>
            <a:ext cx="82296" cy="82296"/>
          </a:xfrm>
          <a:prstGeom prst="rect">
            <a:avLst/>
          </a:prstGeom>
          <a:solidFill>
            <a:srgbClr val="00E5CC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3" name="Text 1"/>
          <p:cNvSpPr/>
          <p:nvPr/>
        </p:nvSpPr>
        <p:spPr>
          <a:xfrm>
            <a:off x="534924" y="198882"/>
            <a:ext cx="480060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spc="225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IDE BASICS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4800600" y="198882"/>
            <a:ext cx="397764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spc="1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Foundation Bootcamp  ·  مسار البرمجة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42900" y="5026914"/>
            <a:ext cx="3429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spc="225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1  ·  SESSION 5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5829300" y="5026914"/>
            <a:ext cx="29695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600" spc="225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10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342900" y="514350"/>
            <a:ext cx="845591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IDE?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342900" y="960120"/>
            <a:ext cx="8455914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Integrated Development Environment — all your coding tools, in one window.</a:t>
            </a:r>
            <a:endParaRPr lang="en-US" sz="975" dirty="0"/>
          </a:p>
        </p:txBody>
      </p:sp>
      <p:sp>
        <p:nvSpPr>
          <p:cNvPr id="9" name="Shape 7"/>
          <p:cNvSpPr/>
          <p:nvPr/>
        </p:nvSpPr>
        <p:spPr>
          <a:xfrm>
            <a:off x="342900" y="1337310"/>
            <a:ext cx="4114800" cy="3223260"/>
          </a:xfrm>
          <a:prstGeom prst="rect">
            <a:avLst/>
          </a:prstGeom>
          <a:solidFill>
            <a:srgbClr val="13132A"/>
          </a:solidFill>
          <a:ln w="12700">
            <a:solidFill>
              <a:srgbClr val="2A2A4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0" name="Shape 8"/>
          <p:cNvSpPr/>
          <p:nvPr/>
        </p:nvSpPr>
        <p:spPr>
          <a:xfrm>
            <a:off x="342900" y="1337310"/>
            <a:ext cx="54864" cy="3223260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11" name="Text 9"/>
          <p:cNvSpPr/>
          <p:nvPr/>
        </p:nvSpPr>
        <p:spPr>
          <a:xfrm>
            <a:off x="514350" y="147447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📝  </a:t>
            </a:r>
            <a:r>
              <a:rPr lang="en-US" sz="975" b="1" spc="225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TEXT EDITOR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14350" y="1748790"/>
            <a:ext cx="384048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Like Notepad — just types characters.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548640" y="2160270"/>
            <a:ext cx="37719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📝  </a:t>
            </a:r>
            <a:r>
              <a:rPr lang="en-US" sz="90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Writes plain text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57250" y="2366010"/>
            <a:ext cx="34975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colors, no hints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48640" y="2606040"/>
            <a:ext cx="37719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❌  </a:t>
            </a:r>
            <a:r>
              <a:rPr lang="en-US" sz="90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Can't run your code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57250" y="2811780"/>
            <a:ext cx="34975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Need a separate terminal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48640" y="3051810"/>
            <a:ext cx="37719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❌  </a:t>
            </a:r>
            <a:r>
              <a:rPr lang="en-US" sz="90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Won't catch errors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57250" y="3257550"/>
            <a:ext cx="34975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Discover bugs the hard way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48640" y="3497580"/>
            <a:ext cx="37719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❌  </a:t>
            </a:r>
            <a:r>
              <a:rPr lang="en-US" sz="90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debugger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57250" y="3703320"/>
            <a:ext cx="34975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 print() everywhere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48640" y="3943350"/>
            <a:ext cx="37719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❌  </a:t>
            </a:r>
            <a:r>
              <a:rPr lang="en-US" sz="90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autocomplete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57250" y="4149090"/>
            <a:ext cx="34975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every character by hand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684014" y="1337310"/>
            <a:ext cx="4114800" cy="3223260"/>
          </a:xfrm>
          <a:prstGeom prst="rect">
            <a:avLst/>
          </a:prstGeom>
          <a:solidFill>
            <a:srgbClr val="13132A"/>
          </a:solidFill>
          <a:ln w="12700">
            <a:solidFill>
              <a:srgbClr val="2A2A4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4" name="Shape 22"/>
          <p:cNvSpPr/>
          <p:nvPr/>
        </p:nvSpPr>
        <p:spPr>
          <a:xfrm>
            <a:off x="4684014" y="1337310"/>
            <a:ext cx="54864" cy="3223260"/>
          </a:xfrm>
          <a:prstGeom prst="rect">
            <a:avLst/>
          </a:prstGeom>
          <a:solidFill>
            <a:srgbClr val="00E5CC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25" name="Text 23"/>
          <p:cNvSpPr/>
          <p:nvPr/>
        </p:nvSpPr>
        <p:spPr>
          <a:xfrm>
            <a:off x="4855464" y="147447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🛠️  </a:t>
            </a:r>
            <a:r>
              <a:rPr lang="en-US" sz="975" b="1" spc="225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 IDE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55464" y="1748790"/>
            <a:ext cx="384048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whole workshop built for coding.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889754" y="2160270"/>
            <a:ext cx="37719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🎨  </a:t>
            </a:r>
            <a:r>
              <a:rPr lang="en-US" sz="90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Syntax highlighting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198364" y="2366010"/>
            <a:ext cx="34975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Colors show code structure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889754" y="2606040"/>
            <a:ext cx="37719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✨  </a:t>
            </a:r>
            <a:r>
              <a:rPr lang="en-US" sz="9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Smart autocomplete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198364" y="2811780"/>
            <a:ext cx="34975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Suggests as you type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889754" y="3051810"/>
            <a:ext cx="37719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▶️  </a:t>
            </a:r>
            <a:r>
              <a:rPr lang="en-US" sz="9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&amp; debug built-in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198364" y="3257550"/>
            <a:ext cx="34975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Press F5 and go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889754" y="3497580"/>
            <a:ext cx="37719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🐛  </a:t>
            </a:r>
            <a:r>
              <a:rPr lang="en-US" sz="9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detection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198364" y="3703320"/>
            <a:ext cx="34975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 squiggles before runtime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889754" y="3943350"/>
            <a:ext cx="37719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🧩  </a:t>
            </a:r>
            <a:r>
              <a:rPr lang="en-US" sz="9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Extensions ecosystem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198364" y="4149090"/>
            <a:ext cx="34975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Customize for any language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342900" y="4663440"/>
            <a:ext cx="845591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75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Our choice: </a:t>
            </a:r>
            <a:r>
              <a:rPr lang="en-US" sz="975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VS Code </a:t>
            </a:r>
            <a:r>
              <a:rPr lang="en-US" sz="97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 lightweight, free, and what the industry uses.</a:t>
            </a:r>
            <a:endParaRPr lang="en-US" sz="9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7190" y="288036"/>
            <a:ext cx="82296" cy="82296"/>
          </a:xfrm>
          <a:prstGeom prst="rect">
            <a:avLst/>
          </a:prstGeom>
          <a:solidFill>
            <a:srgbClr val="00E5CC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3" name="Text 1"/>
          <p:cNvSpPr/>
          <p:nvPr/>
        </p:nvSpPr>
        <p:spPr>
          <a:xfrm>
            <a:off x="534924" y="198882"/>
            <a:ext cx="480060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spc="225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VS CODE TOUR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4800600" y="198882"/>
            <a:ext cx="397764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spc="1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Foundation Bootcamp  ·  مسار البرمجة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42900" y="5026914"/>
            <a:ext cx="3429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spc="225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1  ·  SESSION 5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5829300" y="5026914"/>
            <a:ext cx="29695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600" spc="225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10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342900" y="514350"/>
            <a:ext cx="845591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VS Code Interface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342900" y="960120"/>
            <a:ext cx="8455914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Five main areas you'll use constantly. Learn them once, use them forever.</a:t>
            </a:r>
            <a:endParaRPr lang="en-US" sz="975" dirty="0"/>
          </a:p>
        </p:txBody>
      </p:sp>
      <p:sp>
        <p:nvSpPr>
          <p:cNvPr id="9" name="Shape 7"/>
          <p:cNvSpPr/>
          <p:nvPr/>
        </p:nvSpPr>
        <p:spPr>
          <a:xfrm>
            <a:off x="342900" y="1337310"/>
            <a:ext cx="6377940" cy="260604"/>
          </a:xfrm>
          <a:prstGeom prst="rect">
            <a:avLst/>
          </a:prstGeom>
          <a:solidFill>
            <a:srgbClr val="1A1A35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0" name="Shape 8"/>
          <p:cNvSpPr/>
          <p:nvPr/>
        </p:nvSpPr>
        <p:spPr>
          <a:xfrm>
            <a:off x="445770" y="1419606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11" name="Shape 9"/>
          <p:cNvSpPr/>
          <p:nvPr/>
        </p:nvSpPr>
        <p:spPr>
          <a:xfrm>
            <a:off x="596646" y="1419606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12" name="Shape 10"/>
          <p:cNvSpPr/>
          <p:nvPr/>
        </p:nvSpPr>
        <p:spPr>
          <a:xfrm>
            <a:off x="747522" y="1419606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13" name="Text 11"/>
          <p:cNvSpPr/>
          <p:nvPr/>
        </p:nvSpPr>
        <p:spPr>
          <a:xfrm>
            <a:off x="960120" y="1337310"/>
            <a:ext cx="318897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📘 </a:t>
            </a: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Visual Studio Code — hello.py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894076" y="1337310"/>
            <a:ext cx="372389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675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 Python 3.11</a:t>
            </a:r>
            <a:endParaRPr lang="en-US" sz="675" dirty="0"/>
          </a:p>
        </p:txBody>
      </p:sp>
      <p:sp>
        <p:nvSpPr>
          <p:cNvPr id="15" name="Shape 13"/>
          <p:cNvSpPr/>
          <p:nvPr/>
        </p:nvSpPr>
        <p:spPr>
          <a:xfrm>
            <a:off x="342900" y="1597914"/>
            <a:ext cx="6377940" cy="3031236"/>
          </a:xfrm>
          <a:prstGeom prst="rect">
            <a:avLst/>
          </a:prstGeom>
          <a:solidFill>
            <a:srgbClr val="13132A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6" name="Shape 14"/>
          <p:cNvSpPr/>
          <p:nvPr/>
        </p:nvSpPr>
        <p:spPr>
          <a:xfrm>
            <a:off x="342900" y="1597914"/>
            <a:ext cx="342900" cy="3031236"/>
          </a:xfrm>
          <a:prstGeom prst="rect">
            <a:avLst/>
          </a:prstGeom>
          <a:solidFill>
            <a:srgbClr val="0A0A1A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7" name="Text 15"/>
          <p:cNvSpPr/>
          <p:nvPr/>
        </p:nvSpPr>
        <p:spPr>
          <a:xfrm>
            <a:off x="342900" y="1680210"/>
            <a:ext cx="3429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00E5CC"/>
                </a:solidFill>
              </a:rPr>
              <a:t>📁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2900" y="2057400"/>
            <a:ext cx="3429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94A3B8"/>
                </a:solidFill>
              </a:rPr>
              <a:t>🔍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2900" y="2434590"/>
            <a:ext cx="3429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94A3B8"/>
                </a:solidFill>
              </a:rPr>
              <a:t>⎇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2900" y="2811780"/>
            <a:ext cx="3429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94A3B8"/>
                </a:solidFill>
              </a:rPr>
              <a:t>▶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2900" y="3188970"/>
            <a:ext cx="3429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94A3B8"/>
                </a:solidFill>
              </a:rPr>
              <a:t>🧩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42900" y="1680210"/>
            <a:ext cx="34290" cy="274320"/>
          </a:xfrm>
          <a:prstGeom prst="rect">
            <a:avLst/>
          </a:prstGeom>
          <a:solidFill>
            <a:srgbClr val="00E5CC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23" name="Shape 21"/>
          <p:cNvSpPr/>
          <p:nvPr/>
        </p:nvSpPr>
        <p:spPr>
          <a:xfrm>
            <a:off x="685800" y="1597914"/>
            <a:ext cx="1268730" cy="3031236"/>
          </a:xfrm>
          <a:prstGeom prst="rect">
            <a:avLst/>
          </a:prstGeom>
          <a:solidFill>
            <a:srgbClr val="12122A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4" name="Text 22"/>
          <p:cNvSpPr/>
          <p:nvPr/>
        </p:nvSpPr>
        <p:spPr>
          <a:xfrm>
            <a:off x="754380" y="1680210"/>
            <a:ext cx="113157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b="1" spc="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EXPLORER</a:t>
            </a:r>
            <a:endParaRPr lang="en-US" sz="675" dirty="0"/>
          </a:p>
        </p:txBody>
      </p:sp>
      <p:sp>
        <p:nvSpPr>
          <p:cNvPr id="25" name="Text 23"/>
          <p:cNvSpPr/>
          <p:nvPr/>
        </p:nvSpPr>
        <p:spPr>
          <a:xfrm>
            <a:off x="788670" y="1940814"/>
            <a:ext cx="113157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▼ my-project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912114" y="2146554"/>
            <a:ext cx="113157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src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685800" y="2352294"/>
            <a:ext cx="1268730" cy="192024"/>
          </a:xfrm>
          <a:prstGeom prst="rect">
            <a:avLst/>
          </a:prstGeom>
          <a:solidFill>
            <a:srgbClr val="1E3A8A">
              <a:alpha val="40000"/>
            </a:srgbClr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28" name="Text 26"/>
          <p:cNvSpPr/>
          <p:nvPr/>
        </p:nvSpPr>
        <p:spPr>
          <a:xfrm>
            <a:off x="1035558" y="2352294"/>
            <a:ext cx="113157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hello.py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035558" y="2558034"/>
            <a:ext cx="113157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utils.py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912114" y="2763774"/>
            <a:ext cx="113157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tests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912114" y="2969514"/>
            <a:ext cx="113157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README.md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1954530" y="1597914"/>
            <a:ext cx="4766310" cy="219456"/>
          </a:xfrm>
          <a:prstGeom prst="rect">
            <a:avLst/>
          </a:prstGeom>
          <a:solidFill>
            <a:srgbClr val="15152E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3" name="Shape 31"/>
          <p:cNvSpPr/>
          <p:nvPr/>
        </p:nvSpPr>
        <p:spPr>
          <a:xfrm>
            <a:off x="1954530" y="1597914"/>
            <a:ext cx="891540" cy="219456"/>
          </a:xfrm>
          <a:prstGeom prst="rect">
            <a:avLst/>
          </a:prstGeom>
          <a:solidFill>
            <a:srgbClr val="13132A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34" name="Text 32"/>
          <p:cNvSpPr/>
          <p:nvPr/>
        </p:nvSpPr>
        <p:spPr>
          <a:xfrm>
            <a:off x="2023110" y="1597914"/>
            <a:ext cx="8915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📄 </a:t>
            </a:r>
            <a:r>
              <a:rPr lang="en-US" sz="67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hello.py</a:t>
            </a:r>
            <a:r>
              <a:rPr lang="en-US" sz="675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×</a:t>
            </a:r>
            <a:endParaRPr lang="en-US" sz="675" dirty="0"/>
          </a:p>
        </p:txBody>
      </p:sp>
      <p:sp>
        <p:nvSpPr>
          <p:cNvPr id="35" name="Text 33"/>
          <p:cNvSpPr/>
          <p:nvPr/>
        </p:nvSpPr>
        <p:spPr>
          <a:xfrm>
            <a:off x="2057400" y="1851660"/>
            <a:ext cx="23317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825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25" dirty="0"/>
          </a:p>
        </p:txBody>
      </p:sp>
      <p:sp>
        <p:nvSpPr>
          <p:cNvPr id="36" name="Text 34"/>
          <p:cNvSpPr/>
          <p:nvPr/>
        </p:nvSpPr>
        <p:spPr>
          <a:xfrm>
            <a:off x="2414016" y="1851660"/>
            <a:ext cx="413537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057400" y="2057400"/>
            <a:ext cx="23317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825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25" dirty="0"/>
          </a:p>
        </p:txBody>
      </p:sp>
      <p:sp>
        <p:nvSpPr>
          <p:cNvPr id="38" name="Text 36"/>
          <p:cNvSpPr/>
          <p:nvPr/>
        </p:nvSpPr>
        <p:spPr>
          <a:xfrm>
            <a:off x="2414016" y="2057400"/>
            <a:ext cx="413537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 </a:t>
            </a:r>
            <a:r>
              <a:rPr lang="en-US" sz="90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sz="9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f"Hello, {name}!"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057400" y="2263140"/>
            <a:ext cx="23317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825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825" dirty="0"/>
          </a:p>
        </p:txBody>
      </p:sp>
      <p:sp>
        <p:nvSpPr>
          <p:cNvPr id="40" name="Text 38"/>
          <p:cNvSpPr/>
          <p:nvPr/>
        </p:nvSpPr>
        <p:spPr>
          <a:xfrm>
            <a:off x="2414016" y="2263140"/>
            <a:ext cx="413537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0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r>
              <a:rPr lang="en-US" sz="9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057400" y="2468880"/>
            <a:ext cx="23317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825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825" dirty="0"/>
          </a:p>
        </p:txBody>
      </p:sp>
      <p:sp>
        <p:nvSpPr>
          <p:cNvPr id="42" name="Text 40"/>
          <p:cNvSpPr/>
          <p:nvPr/>
        </p:nvSpPr>
        <p:spPr>
          <a:xfrm>
            <a:off x="2057400" y="2674620"/>
            <a:ext cx="23317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825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825" dirty="0"/>
          </a:p>
        </p:txBody>
      </p:sp>
      <p:sp>
        <p:nvSpPr>
          <p:cNvPr id="43" name="Text 41"/>
          <p:cNvSpPr/>
          <p:nvPr/>
        </p:nvSpPr>
        <p:spPr>
          <a:xfrm>
            <a:off x="2414016" y="2674620"/>
            <a:ext cx="413537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"Ahmed"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1954530" y="2983230"/>
            <a:ext cx="4766310" cy="1543050"/>
          </a:xfrm>
          <a:prstGeom prst="rect">
            <a:avLst/>
          </a:prstGeom>
          <a:solidFill>
            <a:srgbClr val="0F0F22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45" name="Text 43"/>
          <p:cNvSpPr/>
          <p:nvPr/>
        </p:nvSpPr>
        <p:spPr>
          <a:xfrm>
            <a:off x="2057400" y="3017520"/>
            <a:ext cx="45605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</a:t>
            </a:r>
            <a:r>
              <a:rPr lang="en-US" sz="675" b="1" spc="150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</a:t>
            </a:r>
            <a:endParaRPr lang="en-US" sz="675" dirty="0"/>
          </a:p>
        </p:txBody>
      </p:sp>
      <p:sp>
        <p:nvSpPr>
          <p:cNvPr id="46" name="Text 44"/>
          <p:cNvSpPr/>
          <p:nvPr/>
        </p:nvSpPr>
        <p:spPr>
          <a:xfrm>
            <a:off x="2057400" y="3202686"/>
            <a:ext cx="45605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hello.py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2057400" y="3374136"/>
            <a:ext cx="45605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Hello, Ahmed!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2057400" y="3545586"/>
            <a:ext cx="45605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▊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342900" y="4423410"/>
            <a:ext cx="6377940" cy="2057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50" name="Text 48"/>
          <p:cNvSpPr/>
          <p:nvPr/>
        </p:nvSpPr>
        <p:spPr>
          <a:xfrm>
            <a:off x="445770" y="4423410"/>
            <a:ext cx="61722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⎇ main  ●  0 ⚠  Python 3.11.4  UTF-8  Ln 3, Col 11  </a:t>
            </a:r>
            <a:endParaRPr lang="en-US" sz="675" dirty="0"/>
          </a:p>
        </p:txBody>
      </p:sp>
      <p:sp>
        <p:nvSpPr>
          <p:cNvPr id="51" name="Shape 49"/>
          <p:cNvSpPr/>
          <p:nvPr/>
        </p:nvSpPr>
        <p:spPr>
          <a:xfrm>
            <a:off x="6858000" y="1337310"/>
            <a:ext cx="1940814" cy="3291840"/>
          </a:xfrm>
          <a:prstGeom prst="rect">
            <a:avLst/>
          </a:prstGeom>
          <a:solidFill>
            <a:srgbClr val="13132A"/>
          </a:solidFill>
          <a:ln w="12700">
            <a:solidFill>
              <a:srgbClr val="2A2A4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52" name="Shape 50"/>
          <p:cNvSpPr/>
          <p:nvPr/>
        </p:nvSpPr>
        <p:spPr>
          <a:xfrm>
            <a:off x="6858000" y="1337310"/>
            <a:ext cx="54864" cy="3291840"/>
          </a:xfrm>
          <a:prstGeom prst="rect">
            <a:avLst/>
          </a:prstGeom>
          <a:solidFill>
            <a:srgbClr val="60A5FA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53" name="Text 51"/>
          <p:cNvSpPr/>
          <p:nvPr/>
        </p:nvSpPr>
        <p:spPr>
          <a:xfrm>
            <a:off x="6995160" y="1474470"/>
            <a:ext cx="1735074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spc="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🗺️  THE FIVE PARTS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6995160" y="1837944"/>
            <a:ext cx="219456" cy="219456"/>
          </a:xfrm>
          <a:prstGeom prst="ellipse">
            <a:avLst/>
          </a:prstGeom>
          <a:solidFill>
            <a:srgbClr val="00E5CC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55" name="Text 53"/>
          <p:cNvSpPr/>
          <p:nvPr/>
        </p:nvSpPr>
        <p:spPr>
          <a:xfrm>
            <a:off x="6995160" y="183794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b="1" dirty="0">
                <a:solidFill>
                  <a:srgbClr val="0D0D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825" dirty="0"/>
          </a:p>
        </p:txBody>
      </p:sp>
      <p:sp>
        <p:nvSpPr>
          <p:cNvPr id="56" name="Text 54"/>
          <p:cNvSpPr/>
          <p:nvPr/>
        </p:nvSpPr>
        <p:spPr>
          <a:xfrm>
            <a:off x="7269480" y="1817370"/>
            <a:ext cx="139217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Bar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7269480" y="2009394"/>
            <a:ext cx="139217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 icons on the left</a:t>
            </a:r>
            <a:endParaRPr lang="en-US" sz="675" dirty="0"/>
          </a:p>
        </p:txBody>
      </p:sp>
      <p:sp>
        <p:nvSpPr>
          <p:cNvPr id="58" name="Shape 56"/>
          <p:cNvSpPr/>
          <p:nvPr/>
        </p:nvSpPr>
        <p:spPr>
          <a:xfrm>
            <a:off x="6995160" y="2372868"/>
            <a:ext cx="219456" cy="219456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59" name="Text 57"/>
          <p:cNvSpPr/>
          <p:nvPr/>
        </p:nvSpPr>
        <p:spPr>
          <a:xfrm>
            <a:off x="6995160" y="237286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b="1" dirty="0">
                <a:solidFill>
                  <a:srgbClr val="0D0D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825" dirty="0"/>
          </a:p>
        </p:txBody>
      </p:sp>
      <p:sp>
        <p:nvSpPr>
          <p:cNvPr id="60" name="Text 58"/>
          <p:cNvSpPr/>
          <p:nvPr/>
        </p:nvSpPr>
        <p:spPr>
          <a:xfrm>
            <a:off x="7269480" y="2352294"/>
            <a:ext cx="139217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Explorer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7269480" y="2544318"/>
            <a:ext cx="139217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Your project's files</a:t>
            </a:r>
            <a:endParaRPr lang="en-US" sz="675" dirty="0"/>
          </a:p>
        </p:txBody>
      </p:sp>
      <p:sp>
        <p:nvSpPr>
          <p:cNvPr id="62" name="Shape 60"/>
          <p:cNvSpPr/>
          <p:nvPr/>
        </p:nvSpPr>
        <p:spPr>
          <a:xfrm>
            <a:off x="6995160" y="2907792"/>
            <a:ext cx="219456" cy="219456"/>
          </a:xfrm>
          <a:prstGeom prst="ellipse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63" name="Text 61"/>
          <p:cNvSpPr/>
          <p:nvPr/>
        </p:nvSpPr>
        <p:spPr>
          <a:xfrm>
            <a:off x="6995160" y="290779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b="1" dirty="0">
                <a:solidFill>
                  <a:srgbClr val="0D0D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825" dirty="0"/>
          </a:p>
        </p:txBody>
      </p:sp>
      <p:sp>
        <p:nvSpPr>
          <p:cNvPr id="64" name="Text 62"/>
          <p:cNvSpPr/>
          <p:nvPr/>
        </p:nvSpPr>
        <p:spPr>
          <a:xfrm>
            <a:off x="7269480" y="2887218"/>
            <a:ext cx="139217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7269480" y="3079242"/>
            <a:ext cx="139217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code is written</a:t>
            </a:r>
            <a:endParaRPr lang="en-US" sz="675" dirty="0"/>
          </a:p>
        </p:txBody>
      </p:sp>
      <p:sp>
        <p:nvSpPr>
          <p:cNvPr id="66" name="Shape 64"/>
          <p:cNvSpPr/>
          <p:nvPr/>
        </p:nvSpPr>
        <p:spPr>
          <a:xfrm>
            <a:off x="6995160" y="3442716"/>
            <a:ext cx="219456" cy="219456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67" name="Text 65"/>
          <p:cNvSpPr/>
          <p:nvPr/>
        </p:nvSpPr>
        <p:spPr>
          <a:xfrm>
            <a:off x="6995160" y="344271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b="1" dirty="0">
                <a:solidFill>
                  <a:srgbClr val="0D0D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825" dirty="0"/>
          </a:p>
        </p:txBody>
      </p:sp>
      <p:sp>
        <p:nvSpPr>
          <p:cNvPr id="68" name="Text 66"/>
          <p:cNvSpPr/>
          <p:nvPr/>
        </p:nvSpPr>
        <p:spPr>
          <a:xfrm>
            <a:off x="7269480" y="3422142"/>
            <a:ext cx="139217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7269480" y="3614166"/>
            <a:ext cx="139217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commands inside</a:t>
            </a:r>
            <a:endParaRPr lang="en-US" sz="675" dirty="0"/>
          </a:p>
        </p:txBody>
      </p:sp>
      <p:sp>
        <p:nvSpPr>
          <p:cNvPr id="70" name="Shape 68"/>
          <p:cNvSpPr/>
          <p:nvPr/>
        </p:nvSpPr>
        <p:spPr>
          <a:xfrm>
            <a:off x="6995160" y="3977640"/>
            <a:ext cx="219456" cy="219456"/>
          </a:xfrm>
          <a:prstGeom prst="ellipse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71" name="Text 69"/>
          <p:cNvSpPr/>
          <p:nvPr/>
        </p:nvSpPr>
        <p:spPr>
          <a:xfrm>
            <a:off x="6995160" y="39776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b="1" dirty="0">
                <a:solidFill>
                  <a:srgbClr val="0D0D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825" dirty="0"/>
          </a:p>
        </p:txBody>
      </p:sp>
      <p:sp>
        <p:nvSpPr>
          <p:cNvPr id="72" name="Text 70"/>
          <p:cNvSpPr/>
          <p:nvPr/>
        </p:nvSpPr>
        <p:spPr>
          <a:xfrm>
            <a:off x="7269480" y="3957066"/>
            <a:ext cx="139217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Bar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7269480" y="4149090"/>
            <a:ext cx="139217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Language, errors, git</a:t>
            </a:r>
            <a:endParaRPr lang="en-US" sz="675" dirty="0"/>
          </a:p>
        </p:txBody>
      </p:sp>
      <p:sp>
        <p:nvSpPr>
          <p:cNvPr id="74" name="Text 72"/>
          <p:cNvSpPr/>
          <p:nvPr/>
        </p:nvSpPr>
        <p:spPr>
          <a:xfrm>
            <a:off x="342900" y="4732020"/>
            <a:ext cx="845591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⌨  </a:t>
            </a:r>
            <a:r>
              <a:rPr lang="en-US" sz="825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terminal: </a:t>
            </a:r>
            <a:r>
              <a:rPr lang="en-US" sz="825" b="1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 + `  </a:t>
            </a:r>
            <a:r>
              <a:rPr lang="en-US" sz="825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 Command palette: </a:t>
            </a:r>
            <a:r>
              <a:rPr lang="en-US" sz="825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 + Shift + P</a:t>
            </a:r>
            <a:endParaRPr lang="en-US" sz="8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7190" y="288036"/>
            <a:ext cx="82296" cy="82296"/>
          </a:xfrm>
          <a:prstGeom prst="rect">
            <a:avLst/>
          </a:prstGeom>
          <a:solidFill>
            <a:srgbClr val="00E5CC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3" name="Text 1"/>
          <p:cNvSpPr/>
          <p:nvPr/>
        </p:nvSpPr>
        <p:spPr>
          <a:xfrm>
            <a:off x="534924" y="198882"/>
            <a:ext cx="480060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spc="225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FEATURES TOUR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4800600" y="198882"/>
            <a:ext cx="397764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spc="1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Foundation Bootcamp  ·  مسار البرمجة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42900" y="5026914"/>
            <a:ext cx="3429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spc="225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1  ·  SESSION 5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5829300" y="5026914"/>
            <a:ext cx="29695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600" spc="225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10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342900" y="514350"/>
            <a:ext cx="845591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Features You'll Love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342900" y="960120"/>
            <a:ext cx="8455914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 of these saves you minutes, hours, and sanity every single day.</a:t>
            </a:r>
            <a:endParaRPr lang="en-US" sz="975" dirty="0"/>
          </a:p>
        </p:txBody>
      </p:sp>
      <p:sp>
        <p:nvSpPr>
          <p:cNvPr id="9" name="Shape 7"/>
          <p:cNvSpPr/>
          <p:nvPr/>
        </p:nvSpPr>
        <p:spPr>
          <a:xfrm>
            <a:off x="342900" y="1337310"/>
            <a:ext cx="2791206" cy="1508760"/>
          </a:xfrm>
          <a:prstGeom prst="rect">
            <a:avLst/>
          </a:prstGeom>
          <a:solidFill>
            <a:srgbClr val="13132A"/>
          </a:solidFill>
          <a:ln w="12700">
            <a:solidFill>
              <a:srgbClr val="2A2A4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0" name="Shape 8"/>
          <p:cNvSpPr/>
          <p:nvPr/>
        </p:nvSpPr>
        <p:spPr>
          <a:xfrm>
            <a:off x="342900" y="1337310"/>
            <a:ext cx="54864" cy="150876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11" name="Text 9"/>
          <p:cNvSpPr/>
          <p:nvPr/>
        </p:nvSpPr>
        <p:spPr>
          <a:xfrm>
            <a:off x="480060" y="1440180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50" dirty="0"/>
              <a:t>🎨</a:t>
            </a:r>
          </a:p>
        </p:txBody>
      </p:sp>
      <p:sp>
        <p:nvSpPr>
          <p:cNvPr id="12" name="Text 10"/>
          <p:cNvSpPr/>
          <p:nvPr/>
        </p:nvSpPr>
        <p:spPr>
          <a:xfrm>
            <a:off x="891540" y="1440180"/>
            <a:ext cx="210540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spc="225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SYNTAX HIGHLIGHTING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80060" y="1831086"/>
            <a:ext cx="2516886" cy="582930"/>
          </a:xfrm>
          <a:prstGeom prst="rect">
            <a:avLst/>
          </a:prstGeom>
          <a:solidFill>
            <a:srgbClr val="0F0F22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4" name="Text 12"/>
          <p:cNvSpPr/>
          <p:nvPr/>
        </p:nvSpPr>
        <p:spPr>
          <a:xfrm>
            <a:off x="548640" y="1872234"/>
            <a:ext cx="23797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r>
              <a:rPr lang="en-US" sz="7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(a, b):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48640" y="2119122"/>
            <a:ext cx="23797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75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+ b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80060" y="2571750"/>
            <a:ext cx="251688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Colors reveal structure at a glance.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271266" y="1337310"/>
            <a:ext cx="2791206" cy="1508760"/>
          </a:xfrm>
          <a:prstGeom prst="rect">
            <a:avLst/>
          </a:prstGeom>
          <a:solidFill>
            <a:srgbClr val="13132A"/>
          </a:solidFill>
          <a:ln w="12700">
            <a:solidFill>
              <a:srgbClr val="2A2A4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8" name="Shape 16"/>
          <p:cNvSpPr/>
          <p:nvPr/>
        </p:nvSpPr>
        <p:spPr>
          <a:xfrm>
            <a:off x="3271266" y="1337310"/>
            <a:ext cx="54864" cy="1508760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19" name="Text 17"/>
          <p:cNvSpPr/>
          <p:nvPr/>
        </p:nvSpPr>
        <p:spPr>
          <a:xfrm>
            <a:off x="3408426" y="1440180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50" dirty="0"/>
              <a:t>✨</a:t>
            </a:r>
          </a:p>
        </p:txBody>
      </p:sp>
      <p:sp>
        <p:nvSpPr>
          <p:cNvPr id="20" name="Text 18"/>
          <p:cNvSpPr/>
          <p:nvPr/>
        </p:nvSpPr>
        <p:spPr>
          <a:xfrm>
            <a:off x="3819906" y="1440180"/>
            <a:ext cx="210540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spc="225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INTELLISENSE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408426" y="1831086"/>
            <a:ext cx="2516886" cy="582930"/>
          </a:xfrm>
          <a:prstGeom prst="rect">
            <a:avLst/>
          </a:prstGeom>
          <a:solidFill>
            <a:srgbClr val="0F0F22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2" name="Text 20"/>
          <p:cNvSpPr/>
          <p:nvPr/>
        </p:nvSpPr>
        <p:spPr>
          <a:xfrm>
            <a:off x="3477006" y="1872234"/>
            <a:ext cx="23797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name.up</a:t>
            </a:r>
            <a:r>
              <a:rPr lang="en-US" sz="7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477006" y="2119122"/>
            <a:ext cx="23797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▸ </a:t>
            </a:r>
            <a:r>
              <a:rPr lang="en-US" sz="7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upper()</a:t>
            </a:r>
            <a:r>
              <a:rPr lang="en-US" sz="7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str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408426" y="2571750"/>
            <a:ext cx="251688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Suggests methods as you type.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6199632" y="1337310"/>
            <a:ext cx="2791206" cy="1508760"/>
          </a:xfrm>
          <a:prstGeom prst="rect">
            <a:avLst/>
          </a:prstGeom>
          <a:solidFill>
            <a:srgbClr val="13132A"/>
          </a:solidFill>
          <a:ln w="12700">
            <a:solidFill>
              <a:srgbClr val="2A2A4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6" name="Shape 24"/>
          <p:cNvSpPr/>
          <p:nvPr/>
        </p:nvSpPr>
        <p:spPr>
          <a:xfrm>
            <a:off x="6199632" y="1337310"/>
            <a:ext cx="54864" cy="150876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27" name="Text 25"/>
          <p:cNvSpPr/>
          <p:nvPr/>
        </p:nvSpPr>
        <p:spPr>
          <a:xfrm>
            <a:off x="6336792" y="1440180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50" dirty="0"/>
              <a:t>🔴</a:t>
            </a:r>
          </a:p>
        </p:txBody>
      </p:sp>
      <p:sp>
        <p:nvSpPr>
          <p:cNvPr id="28" name="Text 26"/>
          <p:cNvSpPr/>
          <p:nvPr/>
        </p:nvSpPr>
        <p:spPr>
          <a:xfrm>
            <a:off x="6748272" y="1440180"/>
            <a:ext cx="210540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spc="225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DETECTION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336792" y="1831086"/>
            <a:ext cx="2516886" cy="582930"/>
          </a:xfrm>
          <a:prstGeom prst="rect">
            <a:avLst/>
          </a:prstGeom>
          <a:solidFill>
            <a:srgbClr val="0F0F22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0" name="Text 28"/>
          <p:cNvSpPr/>
          <p:nvPr/>
        </p:nvSpPr>
        <p:spPr>
          <a:xfrm>
            <a:off x="6405372" y="1872234"/>
            <a:ext cx="23797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</a:t>
            </a:r>
            <a:r>
              <a:rPr lang="en-US" sz="7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"hello"</a:t>
            </a: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7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⎯⎯⎯⎯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6405372" y="2119122"/>
            <a:ext cx="23797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i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⚠ Missing ")" — line 1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336792" y="2571750"/>
            <a:ext cx="251688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 squiggles before you run.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342900" y="2983230"/>
            <a:ext cx="2791206" cy="1508760"/>
          </a:xfrm>
          <a:prstGeom prst="rect">
            <a:avLst/>
          </a:prstGeom>
          <a:solidFill>
            <a:srgbClr val="13132A"/>
          </a:solidFill>
          <a:ln w="12700">
            <a:solidFill>
              <a:srgbClr val="2A2A4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4" name="Shape 32"/>
          <p:cNvSpPr/>
          <p:nvPr/>
        </p:nvSpPr>
        <p:spPr>
          <a:xfrm>
            <a:off x="342900" y="2983230"/>
            <a:ext cx="54864" cy="1508760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35" name="Text 33"/>
          <p:cNvSpPr/>
          <p:nvPr/>
        </p:nvSpPr>
        <p:spPr>
          <a:xfrm>
            <a:off x="480060" y="3086100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50" dirty="0"/>
              <a:t>🪄</a:t>
            </a:r>
          </a:p>
        </p:txBody>
      </p:sp>
      <p:sp>
        <p:nvSpPr>
          <p:cNvPr id="36" name="Text 34"/>
          <p:cNvSpPr/>
          <p:nvPr/>
        </p:nvSpPr>
        <p:spPr>
          <a:xfrm>
            <a:off x="891540" y="3086100"/>
            <a:ext cx="210540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spc="225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AUTO-FORMAT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0060" y="3477006"/>
            <a:ext cx="2516886" cy="582930"/>
          </a:xfrm>
          <a:prstGeom prst="rect">
            <a:avLst/>
          </a:prstGeom>
          <a:solidFill>
            <a:srgbClr val="0F0F22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8" name="Text 36"/>
          <p:cNvSpPr/>
          <p:nvPr/>
        </p:nvSpPr>
        <p:spPr>
          <a:xfrm>
            <a:off x="548640" y="3518154"/>
            <a:ext cx="23797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x=[1,2,   3,4]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548640" y="3765042"/>
            <a:ext cx="23797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⇢  </a:t>
            </a: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[1, 2, 3, 4]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80060" y="4217670"/>
            <a:ext cx="251688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shortcut cleans everything.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3271266" y="2983230"/>
            <a:ext cx="2791206" cy="1508760"/>
          </a:xfrm>
          <a:prstGeom prst="rect">
            <a:avLst/>
          </a:prstGeom>
          <a:solidFill>
            <a:srgbClr val="13132A"/>
          </a:solidFill>
          <a:ln w="12700">
            <a:solidFill>
              <a:srgbClr val="2A2A4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42" name="Shape 40"/>
          <p:cNvSpPr/>
          <p:nvPr/>
        </p:nvSpPr>
        <p:spPr>
          <a:xfrm>
            <a:off x="3271266" y="2983230"/>
            <a:ext cx="54864" cy="150876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43" name="Text 41"/>
          <p:cNvSpPr/>
          <p:nvPr/>
        </p:nvSpPr>
        <p:spPr>
          <a:xfrm>
            <a:off x="3408426" y="3086100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50" dirty="0"/>
              <a:t>▶️</a:t>
            </a:r>
          </a:p>
        </p:txBody>
      </p:sp>
      <p:sp>
        <p:nvSpPr>
          <p:cNvPr id="44" name="Text 42"/>
          <p:cNvSpPr/>
          <p:nvPr/>
        </p:nvSpPr>
        <p:spPr>
          <a:xfrm>
            <a:off x="3819906" y="3086100"/>
            <a:ext cx="210540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spc="225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&amp; DEBUG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408426" y="3477006"/>
            <a:ext cx="2516886" cy="582930"/>
          </a:xfrm>
          <a:prstGeom prst="rect">
            <a:avLst/>
          </a:prstGeom>
          <a:solidFill>
            <a:srgbClr val="0F0F22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46" name="Text 44"/>
          <p:cNvSpPr/>
          <p:nvPr/>
        </p:nvSpPr>
        <p:spPr>
          <a:xfrm>
            <a:off x="3477006" y="3518154"/>
            <a:ext cx="23797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 </a:t>
            </a: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Python File  </a:t>
            </a:r>
            <a:r>
              <a:rPr lang="en-US" sz="7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F5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3477006" y="3765042"/>
            <a:ext cx="23797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🐞 </a:t>
            </a: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Debug: </a:t>
            </a:r>
            <a:r>
              <a:rPr lang="en-US" sz="750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F5 + breakpoint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3408426" y="4217670"/>
            <a:ext cx="251688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Launch code without leaving the editor.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6199632" y="2983230"/>
            <a:ext cx="2791206" cy="1508760"/>
          </a:xfrm>
          <a:prstGeom prst="rect">
            <a:avLst/>
          </a:prstGeom>
          <a:solidFill>
            <a:srgbClr val="13132A"/>
          </a:solidFill>
          <a:ln w="12700">
            <a:solidFill>
              <a:srgbClr val="2A2A4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50" name="Shape 48"/>
          <p:cNvSpPr/>
          <p:nvPr/>
        </p:nvSpPr>
        <p:spPr>
          <a:xfrm>
            <a:off x="6199632" y="2983230"/>
            <a:ext cx="54864" cy="1508760"/>
          </a:xfrm>
          <a:prstGeom prst="rect">
            <a:avLst/>
          </a:prstGeom>
          <a:solidFill>
            <a:srgbClr val="00E5CC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51" name="Text 49"/>
          <p:cNvSpPr/>
          <p:nvPr/>
        </p:nvSpPr>
        <p:spPr>
          <a:xfrm>
            <a:off x="6336792" y="3086100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50" dirty="0"/>
              <a:t>🧩</a:t>
            </a:r>
          </a:p>
        </p:txBody>
      </p:sp>
      <p:sp>
        <p:nvSpPr>
          <p:cNvPr id="52" name="Text 50"/>
          <p:cNvSpPr/>
          <p:nvPr/>
        </p:nvSpPr>
        <p:spPr>
          <a:xfrm>
            <a:off x="6748272" y="3086100"/>
            <a:ext cx="210540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spc="225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EXTENSIONS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336792" y="3477006"/>
            <a:ext cx="2516886" cy="582930"/>
          </a:xfrm>
          <a:prstGeom prst="rect">
            <a:avLst/>
          </a:prstGeom>
          <a:solidFill>
            <a:srgbClr val="0F0F22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54" name="Text 52"/>
          <p:cNvSpPr/>
          <p:nvPr/>
        </p:nvSpPr>
        <p:spPr>
          <a:xfrm>
            <a:off x="6405372" y="3518154"/>
            <a:ext cx="23797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⬇ </a:t>
            </a:r>
            <a:r>
              <a:rPr lang="en-US" sz="7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 </a:t>
            </a:r>
            <a:r>
              <a:rPr lang="en-US" sz="7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by Microsoft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6405372" y="3765042"/>
            <a:ext cx="23797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⬇ </a:t>
            </a: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Pylance · Black · GitLens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6336792" y="4217670"/>
            <a:ext cx="251688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marketplace has thousands.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342900" y="4732020"/>
            <a:ext cx="845591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🧠  </a:t>
            </a:r>
            <a:r>
              <a:rPr lang="en-US" sz="82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These features let you read, write, and fix code </a:t>
            </a:r>
            <a:r>
              <a:rPr lang="en-US" sz="825" b="1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10× faster </a:t>
            </a:r>
            <a:r>
              <a:rPr lang="en-US" sz="82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than plain text editing.</a:t>
            </a:r>
            <a:endParaRPr lang="en-US" sz="8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7190" y="288036"/>
            <a:ext cx="82296" cy="82296"/>
          </a:xfrm>
          <a:prstGeom prst="rect">
            <a:avLst/>
          </a:prstGeom>
          <a:solidFill>
            <a:srgbClr val="00E5CC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3" name="Text 1"/>
          <p:cNvSpPr/>
          <p:nvPr/>
        </p:nvSpPr>
        <p:spPr>
          <a:xfrm>
            <a:off x="534924" y="198882"/>
            <a:ext cx="480060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spc="225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THE LANDSCAPE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4800600" y="198882"/>
            <a:ext cx="397764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spc="1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Foundation Bootcamp  ·  مسار البرمجة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42900" y="5026914"/>
            <a:ext cx="3429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spc="225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1  ·  SESSION 5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5829300" y="5026914"/>
            <a:ext cx="29695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600" spc="225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10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342900" y="514350"/>
            <a:ext cx="845591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IDEs You'll Meet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342900" y="960120"/>
            <a:ext cx="8455914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VS Code is our pick, but here's what else exists — and when to use it.</a:t>
            </a:r>
            <a:endParaRPr lang="en-US" sz="975" dirty="0"/>
          </a:p>
        </p:txBody>
      </p:sp>
      <p:sp>
        <p:nvSpPr>
          <p:cNvPr id="9" name="Shape 7"/>
          <p:cNvSpPr/>
          <p:nvPr/>
        </p:nvSpPr>
        <p:spPr>
          <a:xfrm>
            <a:off x="342900" y="1337310"/>
            <a:ext cx="2791206" cy="1474470"/>
          </a:xfrm>
          <a:prstGeom prst="rect">
            <a:avLst/>
          </a:prstGeom>
          <a:solidFill>
            <a:srgbClr val="13132A"/>
          </a:solidFill>
          <a:ln w="12700">
            <a:solidFill>
              <a:srgbClr val="2A2A4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0" name="Shape 8"/>
          <p:cNvSpPr/>
          <p:nvPr/>
        </p:nvSpPr>
        <p:spPr>
          <a:xfrm>
            <a:off x="342900" y="1337310"/>
            <a:ext cx="54864" cy="1474470"/>
          </a:xfrm>
          <a:prstGeom prst="rect">
            <a:avLst/>
          </a:prstGeom>
          <a:solidFill>
            <a:srgbClr val="60A5FA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11" name="Text 9"/>
          <p:cNvSpPr/>
          <p:nvPr/>
        </p:nvSpPr>
        <p:spPr>
          <a:xfrm>
            <a:off x="480060" y="1440180"/>
            <a:ext cx="34290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50" dirty="0"/>
              <a:t>🟦</a:t>
            </a:r>
          </a:p>
        </p:txBody>
      </p:sp>
      <p:sp>
        <p:nvSpPr>
          <p:cNvPr id="12" name="Text 10"/>
          <p:cNvSpPr/>
          <p:nvPr/>
        </p:nvSpPr>
        <p:spPr>
          <a:xfrm>
            <a:off x="925830" y="1460754"/>
            <a:ext cx="2105406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0060" y="1851660"/>
            <a:ext cx="251688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Languages: </a:t>
            </a:r>
            <a:r>
              <a:rPr lang="en-US" sz="7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Everything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80060" y="2057400"/>
            <a:ext cx="251688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5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Free · lightweight · extensible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80060" y="2434590"/>
            <a:ext cx="2516886" cy="274320"/>
          </a:xfrm>
          <a:prstGeom prst="rect">
            <a:avLst/>
          </a:prstGeom>
          <a:solidFill>
            <a:srgbClr val="0F0F22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6" name="Text 14"/>
          <p:cNvSpPr/>
          <p:nvPr/>
        </p:nvSpPr>
        <p:spPr>
          <a:xfrm>
            <a:off x="548640" y="2434590"/>
            <a:ext cx="24483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 for: </a:t>
            </a:r>
            <a:r>
              <a:rPr lang="en-US" sz="7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Our default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271266" y="1337310"/>
            <a:ext cx="2791206" cy="1474470"/>
          </a:xfrm>
          <a:prstGeom prst="rect">
            <a:avLst/>
          </a:prstGeom>
          <a:solidFill>
            <a:srgbClr val="13132A"/>
          </a:solidFill>
          <a:ln w="12700">
            <a:solidFill>
              <a:srgbClr val="2A2A4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8" name="Shape 16"/>
          <p:cNvSpPr/>
          <p:nvPr/>
        </p:nvSpPr>
        <p:spPr>
          <a:xfrm>
            <a:off x="3271266" y="1337310"/>
            <a:ext cx="54864" cy="147447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19" name="Text 17"/>
          <p:cNvSpPr/>
          <p:nvPr/>
        </p:nvSpPr>
        <p:spPr>
          <a:xfrm>
            <a:off x="3408426" y="1440180"/>
            <a:ext cx="34290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50" dirty="0"/>
              <a:t>🐍</a:t>
            </a:r>
          </a:p>
        </p:txBody>
      </p:sp>
      <p:sp>
        <p:nvSpPr>
          <p:cNvPr id="20" name="Text 18"/>
          <p:cNvSpPr/>
          <p:nvPr/>
        </p:nvSpPr>
        <p:spPr>
          <a:xfrm>
            <a:off x="3854196" y="1460754"/>
            <a:ext cx="2105406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PyCharm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408426" y="1851660"/>
            <a:ext cx="251688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Languages: </a:t>
            </a:r>
            <a:r>
              <a:rPr lang="en-US" sz="75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408426" y="2057400"/>
            <a:ext cx="251688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5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JetBrains · full-featured for Python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408426" y="2434590"/>
            <a:ext cx="2516886" cy="274320"/>
          </a:xfrm>
          <a:prstGeom prst="rect">
            <a:avLst/>
          </a:prstGeom>
          <a:solidFill>
            <a:srgbClr val="0F0F22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4" name="Text 22"/>
          <p:cNvSpPr/>
          <p:nvPr/>
        </p:nvSpPr>
        <p:spPr>
          <a:xfrm>
            <a:off x="3477006" y="2434590"/>
            <a:ext cx="24483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 for: </a:t>
            </a:r>
            <a:r>
              <a:rPr lang="en-US" sz="75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 Python work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6199632" y="1337310"/>
            <a:ext cx="2791206" cy="1474470"/>
          </a:xfrm>
          <a:prstGeom prst="rect">
            <a:avLst/>
          </a:prstGeom>
          <a:solidFill>
            <a:srgbClr val="13132A"/>
          </a:solidFill>
          <a:ln w="12700">
            <a:solidFill>
              <a:srgbClr val="2A2A4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6" name="Shape 24"/>
          <p:cNvSpPr/>
          <p:nvPr/>
        </p:nvSpPr>
        <p:spPr>
          <a:xfrm>
            <a:off x="6199632" y="1337310"/>
            <a:ext cx="54864" cy="147447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27" name="Text 25"/>
          <p:cNvSpPr/>
          <p:nvPr/>
        </p:nvSpPr>
        <p:spPr>
          <a:xfrm>
            <a:off x="6336792" y="1440180"/>
            <a:ext cx="34290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50" dirty="0"/>
              <a:t>☕</a:t>
            </a:r>
          </a:p>
        </p:txBody>
      </p:sp>
      <p:sp>
        <p:nvSpPr>
          <p:cNvPr id="28" name="Text 26"/>
          <p:cNvSpPr/>
          <p:nvPr/>
        </p:nvSpPr>
        <p:spPr>
          <a:xfrm>
            <a:off x="6782562" y="1460754"/>
            <a:ext cx="2105406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IntelliJ IDEA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336792" y="1851660"/>
            <a:ext cx="251688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Languages: </a:t>
            </a:r>
            <a:r>
              <a:rPr lang="en-US" sz="75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Java, Kotlin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336792" y="2057400"/>
            <a:ext cx="251688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5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JetBrains · the standard for JVM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6336792" y="2434590"/>
            <a:ext cx="2516886" cy="274320"/>
          </a:xfrm>
          <a:prstGeom prst="rect">
            <a:avLst/>
          </a:prstGeom>
          <a:solidFill>
            <a:srgbClr val="0F0F22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2" name="Text 30"/>
          <p:cNvSpPr/>
          <p:nvPr/>
        </p:nvSpPr>
        <p:spPr>
          <a:xfrm>
            <a:off x="6405372" y="2434590"/>
            <a:ext cx="24483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 for: </a:t>
            </a:r>
            <a:r>
              <a:rPr lang="en-US" sz="75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 / Android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342900" y="2948940"/>
            <a:ext cx="2791206" cy="1474470"/>
          </a:xfrm>
          <a:prstGeom prst="rect">
            <a:avLst/>
          </a:prstGeom>
          <a:solidFill>
            <a:srgbClr val="13132A"/>
          </a:solidFill>
          <a:ln w="12700">
            <a:solidFill>
              <a:srgbClr val="2A2A4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4" name="Shape 32"/>
          <p:cNvSpPr/>
          <p:nvPr/>
        </p:nvSpPr>
        <p:spPr>
          <a:xfrm>
            <a:off x="342900" y="2948940"/>
            <a:ext cx="54864" cy="1474470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35" name="Text 33"/>
          <p:cNvSpPr/>
          <p:nvPr/>
        </p:nvSpPr>
        <p:spPr>
          <a:xfrm>
            <a:off x="480060" y="3051810"/>
            <a:ext cx="34290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50" dirty="0"/>
              <a:t>📱</a:t>
            </a:r>
          </a:p>
        </p:txBody>
      </p:sp>
      <p:sp>
        <p:nvSpPr>
          <p:cNvPr id="36" name="Text 34"/>
          <p:cNvSpPr/>
          <p:nvPr/>
        </p:nvSpPr>
        <p:spPr>
          <a:xfrm>
            <a:off x="925830" y="3072384"/>
            <a:ext cx="2105406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Xcode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480060" y="3463290"/>
            <a:ext cx="251688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Languages: </a:t>
            </a:r>
            <a:r>
              <a:rPr lang="en-US" sz="75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Swift, Obj-C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80060" y="3669030"/>
            <a:ext cx="251688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5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Apple · required for iOS/macOS apps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80060" y="4046220"/>
            <a:ext cx="2516886" cy="274320"/>
          </a:xfrm>
          <a:prstGeom prst="rect">
            <a:avLst/>
          </a:prstGeom>
          <a:solidFill>
            <a:srgbClr val="0F0F22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40" name="Text 38"/>
          <p:cNvSpPr/>
          <p:nvPr/>
        </p:nvSpPr>
        <p:spPr>
          <a:xfrm>
            <a:off x="548640" y="4046220"/>
            <a:ext cx="24483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 for: </a:t>
            </a:r>
            <a:r>
              <a:rPr lang="en-US" sz="75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Apple platforms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3271266" y="2948940"/>
            <a:ext cx="2791206" cy="1474470"/>
          </a:xfrm>
          <a:prstGeom prst="rect">
            <a:avLst/>
          </a:prstGeom>
          <a:solidFill>
            <a:srgbClr val="13132A"/>
          </a:solidFill>
          <a:ln w="12700">
            <a:solidFill>
              <a:srgbClr val="2A2A4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42" name="Shape 40"/>
          <p:cNvSpPr/>
          <p:nvPr/>
        </p:nvSpPr>
        <p:spPr>
          <a:xfrm>
            <a:off x="3271266" y="2948940"/>
            <a:ext cx="54864" cy="1474470"/>
          </a:xfrm>
          <a:prstGeom prst="rect">
            <a:avLst/>
          </a:prstGeom>
          <a:solidFill>
            <a:srgbClr val="00E5CC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43" name="Text 41"/>
          <p:cNvSpPr/>
          <p:nvPr/>
        </p:nvSpPr>
        <p:spPr>
          <a:xfrm>
            <a:off x="3408426" y="3051810"/>
            <a:ext cx="34290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50" dirty="0"/>
              <a:t>🤖</a:t>
            </a:r>
          </a:p>
        </p:txBody>
      </p:sp>
      <p:sp>
        <p:nvSpPr>
          <p:cNvPr id="44" name="Text 42"/>
          <p:cNvSpPr/>
          <p:nvPr/>
        </p:nvSpPr>
        <p:spPr>
          <a:xfrm>
            <a:off x="3854196" y="3072384"/>
            <a:ext cx="2105406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Studio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3408426" y="3463290"/>
            <a:ext cx="251688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Languages: </a:t>
            </a:r>
            <a:r>
              <a:rPr lang="en-US" sz="750" b="1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Kotlin, Java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3408426" y="3669030"/>
            <a:ext cx="251688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5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Google · official Android IDE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3408426" y="4046220"/>
            <a:ext cx="2516886" cy="274320"/>
          </a:xfrm>
          <a:prstGeom prst="rect">
            <a:avLst/>
          </a:prstGeom>
          <a:solidFill>
            <a:srgbClr val="0F0F22"/>
          </a:solidFill>
          <a:ln w="12700">
            <a:solidFill>
              <a:srgbClr val="00E5CC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48" name="Text 46"/>
          <p:cNvSpPr/>
          <p:nvPr/>
        </p:nvSpPr>
        <p:spPr>
          <a:xfrm>
            <a:off x="3477006" y="4046220"/>
            <a:ext cx="24483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 for: </a:t>
            </a:r>
            <a:r>
              <a:rPr lang="en-US" sz="750" b="1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Android apps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6199632" y="2948940"/>
            <a:ext cx="2791206" cy="1474470"/>
          </a:xfrm>
          <a:prstGeom prst="rect">
            <a:avLst/>
          </a:prstGeom>
          <a:solidFill>
            <a:srgbClr val="13132A"/>
          </a:solidFill>
          <a:ln w="12700">
            <a:solidFill>
              <a:srgbClr val="2A2A4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50" name="Shape 48"/>
          <p:cNvSpPr/>
          <p:nvPr/>
        </p:nvSpPr>
        <p:spPr>
          <a:xfrm>
            <a:off x="6199632" y="2948940"/>
            <a:ext cx="54864" cy="147447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51" name="Text 49"/>
          <p:cNvSpPr/>
          <p:nvPr/>
        </p:nvSpPr>
        <p:spPr>
          <a:xfrm>
            <a:off x="6336792" y="3051810"/>
            <a:ext cx="34290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50" dirty="0"/>
              <a:t>☁️</a:t>
            </a:r>
          </a:p>
        </p:txBody>
      </p:sp>
      <p:sp>
        <p:nvSpPr>
          <p:cNvPr id="52" name="Text 50"/>
          <p:cNvSpPr/>
          <p:nvPr/>
        </p:nvSpPr>
        <p:spPr>
          <a:xfrm>
            <a:off x="6782562" y="3072384"/>
            <a:ext cx="2105406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IDEs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6336792" y="3463290"/>
            <a:ext cx="251688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Languages: </a:t>
            </a:r>
            <a:r>
              <a:rPr lang="en-US" sz="75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Browser-based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6336792" y="3669030"/>
            <a:ext cx="251688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5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Replit · CodeSandbox · GitHub Codespaces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6336792" y="4046220"/>
            <a:ext cx="2516886" cy="274320"/>
          </a:xfrm>
          <a:prstGeom prst="rect">
            <a:avLst/>
          </a:prstGeom>
          <a:solidFill>
            <a:srgbClr val="0F0F22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56" name="Text 54"/>
          <p:cNvSpPr/>
          <p:nvPr/>
        </p:nvSpPr>
        <p:spPr>
          <a:xfrm>
            <a:off x="6405372" y="4046220"/>
            <a:ext cx="24483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 for: </a:t>
            </a:r>
            <a:r>
              <a:rPr lang="en-US" sz="75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Zero setup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342900" y="4594860"/>
            <a:ext cx="8455914" cy="377190"/>
          </a:xfrm>
          <a:prstGeom prst="rect">
            <a:avLst/>
          </a:prstGeom>
          <a:solidFill>
            <a:srgbClr val="13132A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58" name="Text 56"/>
          <p:cNvSpPr/>
          <p:nvPr/>
        </p:nvSpPr>
        <p:spPr>
          <a:xfrm>
            <a:off x="342900" y="4594860"/>
            <a:ext cx="8455914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b="1" spc="225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TRUTH  </a:t>
            </a:r>
            <a:r>
              <a:rPr lang="en-US" sz="750" dirty="0">
                <a:solidFill>
                  <a:srgbClr val="3A3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Pick one and get good at it.  </a:t>
            </a:r>
            <a:r>
              <a:rPr lang="en-US" sz="900" i="1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IDE matters far less than your problem-solving skill.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7190" y="288036"/>
            <a:ext cx="82296" cy="82296"/>
          </a:xfrm>
          <a:prstGeom prst="rect">
            <a:avLst/>
          </a:prstGeom>
          <a:solidFill>
            <a:srgbClr val="00E5CC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3" name="Text 1"/>
          <p:cNvSpPr/>
          <p:nvPr/>
        </p:nvSpPr>
        <p:spPr>
          <a:xfrm>
            <a:off x="534924" y="198882"/>
            <a:ext cx="480060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spc="225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TYPES OF ERRORS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4800600" y="198882"/>
            <a:ext cx="397764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spc="1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Foundation Bootcamp  ·  مسار البرمجة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42900" y="5026914"/>
            <a:ext cx="3429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spc="225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1  ·  SESSION 5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5829300" y="5026914"/>
            <a:ext cx="29695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600" spc="225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10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342900" y="514350"/>
            <a:ext cx="845591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Kinds of Errors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342900" y="960120"/>
            <a:ext cx="8455914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Every bug fits into one of these three categories. Know them to fix them fast.</a:t>
            </a:r>
            <a:endParaRPr lang="en-US" sz="975" dirty="0"/>
          </a:p>
        </p:txBody>
      </p:sp>
      <p:sp>
        <p:nvSpPr>
          <p:cNvPr id="9" name="Shape 7"/>
          <p:cNvSpPr/>
          <p:nvPr/>
        </p:nvSpPr>
        <p:spPr>
          <a:xfrm>
            <a:off x="342900" y="1337310"/>
            <a:ext cx="2791206" cy="3223260"/>
          </a:xfrm>
          <a:prstGeom prst="rect">
            <a:avLst/>
          </a:prstGeom>
          <a:solidFill>
            <a:srgbClr val="13132A"/>
          </a:solidFill>
          <a:ln w="12700">
            <a:solidFill>
              <a:srgbClr val="2A2A4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0" name="Shape 8"/>
          <p:cNvSpPr/>
          <p:nvPr/>
        </p:nvSpPr>
        <p:spPr>
          <a:xfrm>
            <a:off x="342900" y="1337310"/>
            <a:ext cx="54864" cy="322326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11" name="Shape 9"/>
          <p:cNvSpPr/>
          <p:nvPr/>
        </p:nvSpPr>
        <p:spPr>
          <a:xfrm>
            <a:off x="514350" y="1488186"/>
            <a:ext cx="1165860" cy="260604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12" name="Text 10"/>
          <p:cNvSpPr/>
          <p:nvPr/>
        </p:nvSpPr>
        <p:spPr>
          <a:xfrm>
            <a:off x="514350" y="1488186"/>
            <a:ext cx="116586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75" b="1" spc="225" dirty="0">
                <a:solidFill>
                  <a:srgbClr val="0D0D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SYNTAX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514350" y="1803654"/>
            <a:ext cx="244830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the language rules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14350" y="2009394"/>
            <a:ext cx="244830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Caught BEFORE running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514350" y="2297430"/>
            <a:ext cx="2448306" cy="788670"/>
          </a:xfrm>
          <a:prstGeom prst="rect">
            <a:avLst/>
          </a:prstGeom>
          <a:solidFill>
            <a:srgbClr val="0F0F22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6" name="Text 14"/>
          <p:cNvSpPr/>
          <p:nvPr/>
        </p:nvSpPr>
        <p:spPr>
          <a:xfrm>
            <a:off x="582930" y="2366010"/>
            <a:ext cx="231114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</a:t>
            </a:r>
            <a:r>
              <a:rPr lang="en-US" sz="7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7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"Hello"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82930" y="2606040"/>
            <a:ext cx="231114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r>
              <a:rPr lang="en-US" sz="7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⎯ ⚠ missing  ) 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14350" y="3188970"/>
            <a:ext cx="244830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b="1" spc="1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message:</a:t>
            </a:r>
            <a:endParaRPr lang="en-US" sz="675" dirty="0"/>
          </a:p>
        </p:txBody>
      </p:sp>
      <p:sp>
        <p:nvSpPr>
          <p:cNvPr id="19" name="Shape 17"/>
          <p:cNvSpPr/>
          <p:nvPr/>
        </p:nvSpPr>
        <p:spPr>
          <a:xfrm>
            <a:off x="514350" y="3360420"/>
            <a:ext cx="2448306" cy="411480"/>
          </a:xfrm>
          <a:prstGeom prst="rect">
            <a:avLst/>
          </a:prstGeom>
          <a:solidFill>
            <a:srgbClr val="2A1A1A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0" name="Text 18"/>
          <p:cNvSpPr/>
          <p:nvPr/>
        </p:nvSpPr>
        <p:spPr>
          <a:xfrm>
            <a:off x="582930" y="3360420"/>
            <a:ext cx="231114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SyntaxError: unexpected EOF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14350" y="3874770"/>
            <a:ext cx="244830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b="1" spc="1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you find it:</a:t>
            </a:r>
            <a:endParaRPr lang="en-US" sz="675" dirty="0"/>
          </a:p>
        </p:txBody>
      </p:sp>
      <p:sp>
        <p:nvSpPr>
          <p:cNvPr id="22" name="Text 20"/>
          <p:cNvSpPr/>
          <p:nvPr/>
        </p:nvSpPr>
        <p:spPr>
          <a:xfrm>
            <a:off x="514350" y="4046220"/>
            <a:ext cx="244830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 squiggle · IDE shows it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271266" y="1337310"/>
            <a:ext cx="2791206" cy="3223260"/>
          </a:xfrm>
          <a:prstGeom prst="rect">
            <a:avLst/>
          </a:prstGeom>
          <a:solidFill>
            <a:srgbClr val="13132A"/>
          </a:solidFill>
          <a:ln w="12700">
            <a:solidFill>
              <a:srgbClr val="2A2A4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4" name="Shape 22"/>
          <p:cNvSpPr/>
          <p:nvPr/>
        </p:nvSpPr>
        <p:spPr>
          <a:xfrm>
            <a:off x="3271266" y="1337310"/>
            <a:ext cx="54864" cy="322326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25" name="Shape 23"/>
          <p:cNvSpPr/>
          <p:nvPr/>
        </p:nvSpPr>
        <p:spPr>
          <a:xfrm>
            <a:off x="3442716" y="1488186"/>
            <a:ext cx="1165860" cy="260604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26" name="Text 24"/>
          <p:cNvSpPr/>
          <p:nvPr/>
        </p:nvSpPr>
        <p:spPr>
          <a:xfrm>
            <a:off x="3442716" y="1488186"/>
            <a:ext cx="116586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75" b="1" spc="225" dirty="0">
                <a:solidFill>
                  <a:srgbClr val="0D0D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RUNTIME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3442716" y="1803654"/>
            <a:ext cx="244830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Crashes while running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442716" y="2009394"/>
            <a:ext cx="244830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Program starts, then dies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442716" y="2297430"/>
            <a:ext cx="2448306" cy="788670"/>
          </a:xfrm>
          <a:prstGeom prst="rect">
            <a:avLst/>
          </a:prstGeom>
          <a:solidFill>
            <a:srgbClr val="0F0F22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0" name="Text 28"/>
          <p:cNvSpPr/>
          <p:nvPr/>
        </p:nvSpPr>
        <p:spPr>
          <a:xfrm>
            <a:off x="3511296" y="2366010"/>
            <a:ext cx="231114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</a:t>
            </a:r>
            <a:r>
              <a:rPr lang="en-US" sz="75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</a:t>
            </a:r>
            <a:r>
              <a:rPr lang="en-US" sz="75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sz="7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75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</a:t>
            </a:r>
            <a:r>
              <a:rPr lang="en-US" sz="7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511296" y="2606040"/>
            <a:ext cx="231114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r>
              <a:rPr lang="en-US" sz="75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⎯ 💥 can't divide by zero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3442716" y="3188970"/>
            <a:ext cx="244830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b="1" spc="15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message:</a:t>
            </a:r>
            <a:endParaRPr lang="en-US" sz="675" dirty="0"/>
          </a:p>
        </p:txBody>
      </p:sp>
      <p:sp>
        <p:nvSpPr>
          <p:cNvPr id="33" name="Shape 31"/>
          <p:cNvSpPr/>
          <p:nvPr/>
        </p:nvSpPr>
        <p:spPr>
          <a:xfrm>
            <a:off x="3442716" y="3360420"/>
            <a:ext cx="2448306" cy="411480"/>
          </a:xfrm>
          <a:prstGeom prst="rect">
            <a:avLst/>
          </a:prstGeom>
          <a:solidFill>
            <a:srgbClr val="2A1A1A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4" name="Text 32"/>
          <p:cNvSpPr/>
          <p:nvPr/>
        </p:nvSpPr>
        <p:spPr>
          <a:xfrm>
            <a:off x="3511296" y="3360420"/>
            <a:ext cx="231114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ZeroDivisionError: division by zero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3442716" y="3874770"/>
            <a:ext cx="244830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b="1" spc="15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you find it:</a:t>
            </a:r>
            <a:endParaRPr lang="en-US" sz="675" dirty="0"/>
          </a:p>
        </p:txBody>
      </p:sp>
      <p:sp>
        <p:nvSpPr>
          <p:cNvPr id="36" name="Text 34"/>
          <p:cNvSpPr/>
          <p:nvPr/>
        </p:nvSpPr>
        <p:spPr>
          <a:xfrm>
            <a:off x="3442716" y="4046220"/>
            <a:ext cx="244830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 traceback · fix that line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6199632" y="1337310"/>
            <a:ext cx="2791206" cy="3223260"/>
          </a:xfrm>
          <a:prstGeom prst="rect">
            <a:avLst/>
          </a:prstGeom>
          <a:solidFill>
            <a:srgbClr val="13132A"/>
          </a:solidFill>
          <a:ln w="12700">
            <a:solidFill>
              <a:srgbClr val="2A2A4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8" name="Shape 36"/>
          <p:cNvSpPr/>
          <p:nvPr/>
        </p:nvSpPr>
        <p:spPr>
          <a:xfrm>
            <a:off x="6199632" y="1337310"/>
            <a:ext cx="54864" cy="3223260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39" name="Shape 37"/>
          <p:cNvSpPr/>
          <p:nvPr/>
        </p:nvSpPr>
        <p:spPr>
          <a:xfrm>
            <a:off x="6371082" y="1488186"/>
            <a:ext cx="1165860" cy="260604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40" name="Text 38"/>
          <p:cNvSpPr/>
          <p:nvPr/>
        </p:nvSpPr>
        <p:spPr>
          <a:xfrm>
            <a:off x="6371082" y="1488186"/>
            <a:ext cx="116586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75" b="1" spc="225" dirty="0">
                <a:solidFill>
                  <a:srgbClr val="0D0D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LOGIC</a:t>
            </a:r>
            <a:endParaRPr lang="en-US" sz="975" dirty="0"/>
          </a:p>
        </p:txBody>
      </p:sp>
      <p:sp>
        <p:nvSpPr>
          <p:cNvPr id="41" name="Text 39"/>
          <p:cNvSpPr/>
          <p:nvPr/>
        </p:nvSpPr>
        <p:spPr>
          <a:xfrm>
            <a:off x="6371082" y="1803654"/>
            <a:ext cx="244830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Runs, but gives wrong answer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371082" y="2009394"/>
            <a:ext cx="244830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sneaky one — no crash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6371082" y="2297430"/>
            <a:ext cx="2448306" cy="788670"/>
          </a:xfrm>
          <a:prstGeom prst="rect">
            <a:avLst/>
          </a:prstGeom>
          <a:solidFill>
            <a:srgbClr val="0F0F22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44" name="Text 42"/>
          <p:cNvSpPr/>
          <p:nvPr/>
        </p:nvSpPr>
        <p:spPr>
          <a:xfrm>
            <a:off x="6439662" y="2366010"/>
            <a:ext cx="231114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</a:t>
            </a:r>
            <a:r>
              <a:rPr lang="en-US" sz="75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10 </a:t>
            </a:r>
            <a:r>
              <a:rPr lang="en-US" sz="7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</a:t>
            </a:r>
            <a:r>
              <a:rPr lang="en-US" sz="75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5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6439662" y="2606040"/>
            <a:ext cx="231114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 </a:t>
            </a:r>
            <a:r>
              <a:rPr lang="en-US" sz="75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</a:t>
            </a:r>
            <a:r>
              <a:rPr lang="en-US" sz="75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- b   </a:t>
            </a:r>
            <a:r>
              <a:rPr lang="en-US" sz="750" i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should be +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6371082" y="3188970"/>
            <a:ext cx="244830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b="1" spc="1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message:</a:t>
            </a:r>
            <a:endParaRPr lang="en-US" sz="675" dirty="0"/>
          </a:p>
        </p:txBody>
      </p:sp>
      <p:sp>
        <p:nvSpPr>
          <p:cNvPr id="47" name="Shape 45"/>
          <p:cNvSpPr/>
          <p:nvPr/>
        </p:nvSpPr>
        <p:spPr>
          <a:xfrm>
            <a:off x="6371082" y="3360420"/>
            <a:ext cx="2448306" cy="411480"/>
          </a:xfrm>
          <a:prstGeom prst="rect">
            <a:avLst/>
          </a:prstGeom>
          <a:solidFill>
            <a:srgbClr val="2A1A1A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48" name="Text 46"/>
          <p:cNvSpPr/>
          <p:nvPr/>
        </p:nvSpPr>
        <p:spPr>
          <a:xfrm>
            <a:off x="6439662" y="3360420"/>
            <a:ext cx="231114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error — just  total = 5  (expected 15)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6371082" y="3874770"/>
            <a:ext cx="244830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b="1" spc="1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you find it:</a:t>
            </a:r>
            <a:endParaRPr lang="en-US" sz="675" dirty="0"/>
          </a:p>
        </p:txBody>
      </p:sp>
      <p:sp>
        <p:nvSpPr>
          <p:cNvPr id="50" name="Text 48"/>
          <p:cNvSpPr/>
          <p:nvPr/>
        </p:nvSpPr>
        <p:spPr>
          <a:xfrm>
            <a:off x="6371082" y="4046220"/>
            <a:ext cx="244830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Debug · check variable values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342900" y="4663440"/>
            <a:ext cx="8455914" cy="274320"/>
          </a:xfrm>
          <a:prstGeom prst="rect">
            <a:avLst/>
          </a:prstGeom>
          <a:solidFill>
            <a:srgbClr val="13132A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52" name="Text 50"/>
          <p:cNvSpPr/>
          <p:nvPr/>
        </p:nvSpPr>
        <p:spPr>
          <a:xfrm>
            <a:off x="342900" y="4663440"/>
            <a:ext cx="84559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b="1" spc="225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3 QUESTIONS  </a:t>
            </a:r>
            <a:r>
              <a:rPr lang="en-US" sz="750" dirty="0">
                <a:solidFill>
                  <a:srgbClr val="3A3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</a:t>
            </a:r>
            <a:r>
              <a:rPr lang="en-US" sz="825" b="1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did I expect?  </a:t>
            </a:r>
            <a:r>
              <a:rPr lang="en-US" sz="825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 </a:t>
            </a:r>
            <a:r>
              <a:rPr lang="en-US" sz="825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actually happened?  </a:t>
            </a:r>
            <a:r>
              <a:rPr lang="en-US" sz="825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 </a:t>
            </a:r>
            <a:r>
              <a:rPr lang="en-US" sz="825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did it go wrong?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7190" y="288036"/>
            <a:ext cx="82296" cy="82296"/>
          </a:xfrm>
          <a:prstGeom prst="rect">
            <a:avLst/>
          </a:prstGeom>
          <a:solidFill>
            <a:srgbClr val="00E5CC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3" name="Text 1"/>
          <p:cNvSpPr/>
          <p:nvPr/>
        </p:nvSpPr>
        <p:spPr>
          <a:xfrm>
            <a:off x="534924" y="198882"/>
            <a:ext cx="480060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spc="225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DEBUGGING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4800600" y="198882"/>
            <a:ext cx="397764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spc="1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Foundation Bootcamp  ·  مسار البرمجة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42900" y="5026914"/>
            <a:ext cx="3429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spc="225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1  ·  SESSION 5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5829300" y="5026914"/>
            <a:ext cx="29695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600" spc="225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10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342900" y="514350"/>
            <a:ext cx="845591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 vs  Real Debugging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342900" y="960120"/>
            <a:ext cx="8455914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Every beginner uses print(). The debugger is the next level up.</a:t>
            </a:r>
            <a:endParaRPr lang="en-US" sz="975" dirty="0"/>
          </a:p>
        </p:txBody>
      </p:sp>
      <p:sp>
        <p:nvSpPr>
          <p:cNvPr id="9" name="Shape 7"/>
          <p:cNvSpPr/>
          <p:nvPr/>
        </p:nvSpPr>
        <p:spPr>
          <a:xfrm>
            <a:off x="342900" y="1337310"/>
            <a:ext cx="4183380" cy="3257550"/>
          </a:xfrm>
          <a:prstGeom prst="rect">
            <a:avLst/>
          </a:prstGeom>
          <a:solidFill>
            <a:srgbClr val="13132A"/>
          </a:solidFill>
          <a:ln w="12700">
            <a:solidFill>
              <a:srgbClr val="2A2A4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0" name="Shape 8"/>
          <p:cNvSpPr/>
          <p:nvPr/>
        </p:nvSpPr>
        <p:spPr>
          <a:xfrm>
            <a:off x="342900" y="1337310"/>
            <a:ext cx="54864" cy="325755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11" name="Text 9"/>
          <p:cNvSpPr/>
          <p:nvPr/>
        </p:nvSpPr>
        <p:spPr>
          <a:xfrm>
            <a:off x="514350" y="1474470"/>
            <a:ext cx="39090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🖨️  </a:t>
            </a:r>
            <a:r>
              <a:rPr lang="en-US" sz="900" b="1" spc="225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 DEBUGGING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14350" y="1714500"/>
            <a:ext cx="39090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Sprinkle print() everywhere and hope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514350" y="1988820"/>
            <a:ext cx="3840480" cy="1508760"/>
          </a:xfrm>
          <a:prstGeom prst="rect">
            <a:avLst/>
          </a:prstGeom>
          <a:solidFill>
            <a:srgbClr val="0F0F22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4" name="Text 12"/>
          <p:cNvSpPr/>
          <p:nvPr/>
        </p:nvSpPr>
        <p:spPr>
          <a:xfrm>
            <a:off x="582930" y="2043684"/>
            <a:ext cx="2331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825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939546" y="2043684"/>
            <a:ext cx="32781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(items):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82930" y="2215134"/>
            <a:ext cx="2331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825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939546" y="2215134"/>
            <a:ext cx="32781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"items:", items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</a:t>
            </a:r>
            <a:r>
              <a:rPr lang="en-US" sz="9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🤔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82930" y="2386584"/>
            <a:ext cx="2331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825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939546" y="2386584"/>
            <a:ext cx="32781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 = </a:t>
            </a:r>
            <a:r>
              <a:rPr lang="en-US" sz="9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82930" y="2558034"/>
            <a:ext cx="2331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825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939546" y="2558034"/>
            <a:ext cx="32781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0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</a:t>
            </a:r>
            <a:r>
              <a:rPr lang="en-US" sz="9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</a:t>
            </a:r>
            <a:r>
              <a:rPr lang="en-US" sz="90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items: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82930" y="2729484"/>
            <a:ext cx="2331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825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939546" y="2729484"/>
            <a:ext cx="32781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"i=", i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</a:t>
            </a:r>
            <a:r>
              <a:rPr lang="en-US" sz="9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🤔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82930" y="2900934"/>
            <a:ext cx="2331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825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939546" y="2900934"/>
            <a:ext cx="32781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 = t + i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82930" y="3072384"/>
            <a:ext cx="2331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825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939546" y="3072384"/>
            <a:ext cx="32781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"t=", t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</a:t>
            </a:r>
            <a:r>
              <a:rPr lang="en-US" sz="9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🤔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82930" y="3243834"/>
            <a:ext cx="2331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825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939546" y="3243834"/>
            <a:ext cx="32781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0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r>
              <a:rPr lang="en-US" sz="9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14350" y="3600450"/>
            <a:ext cx="38404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</a:t>
            </a: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Simple · works anywhere · no setup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514350" y="3806190"/>
            <a:ext cx="38404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</a:t>
            </a: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Messy · re-run each change · easy to miss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514350" y="4011930"/>
            <a:ext cx="38404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</a:t>
            </a: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forget to delete them (embarrassing)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14350" y="4251960"/>
            <a:ext cx="384048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i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Use for: quick checks, one-line bugs</a:t>
            </a:r>
            <a:endParaRPr lang="en-US" sz="825" dirty="0"/>
          </a:p>
        </p:txBody>
      </p:sp>
      <p:sp>
        <p:nvSpPr>
          <p:cNvPr id="34" name="Shape 32"/>
          <p:cNvSpPr/>
          <p:nvPr/>
        </p:nvSpPr>
        <p:spPr>
          <a:xfrm>
            <a:off x="4615434" y="1337310"/>
            <a:ext cx="4183380" cy="3257550"/>
          </a:xfrm>
          <a:prstGeom prst="rect">
            <a:avLst/>
          </a:prstGeom>
          <a:solidFill>
            <a:srgbClr val="13132A"/>
          </a:solidFill>
          <a:ln w="12700">
            <a:solidFill>
              <a:srgbClr val="2A2A4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5" name="Shape 33"/>
          <p:cNvSpPr/>
          <p:nvPr/>
        </p:nvSpPr>
        <p:spPr>
          <a:xfrm>
            <a:off x="4615434" y="1337310"/>
            <a:ext cx="54864" cy="3257550"/>
          </a:xfrm>
          <a:prstGeom prst="rect">
            <a:avLst/>
          </a:prstGeom>
          <a:solidFill>
            <a:srgbClr val="00E5CC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36" name="Text 34"/>
          <p:cNvSpPr/>
          <p:nvPr/>
        </p:nvSpPr>
        <p:spPr>
          <a:xfrm>
            <a:off x="4786884" y="1474470"/>
            <a:ext cx="39090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🔬  </a:t>
            </a:r>
            <a:r>
              <a:rPr lang="en-US" sz="900" b="1" spc="225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DEBUGGER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786884" y="1714500"/>
            <a:ext cx="39090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Pause, look around, walk through — no edits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4786884" y="1988820"/>
            <a:ext cx="3840480" cy="1748790"/>
          </a:xfrm>
          <a:prstGeom prst="rect">
            <a:avLst/>
          </a:prstGeom>
          <a:solidFill>
            <a:srgbClr val="0F0F22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9" name="Text 37"/>
          <p:cNvSpPr/>
          <p:nvPr/>
        </p:nvSpPr>
        <p:spPr>
          <a:xfrm>
            <a:off x="4992624" y="2043684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5198364" y="2043684"/>
            <a:ext cx="33604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r>
              <a:rPr lang="en-US" sz="7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(items):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4992624" y="2215134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5198364" y="2215134"/>
            <a:ext cx="33604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 = </a:t>
            </a:r>
            <a:r>
              <a:rPr lang="en-US" sz="7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4855464" y="2386584"/>
            <a:ext cx="3703320" cy="164592"/>
          </a:xfrm>
          <a:prstGeom prst="rect">
            <a:avLst/>
          </a:prstGeom>
          <a:solidFill>
            <a:srgbClr val="3A2020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44" name="Shape 42"/>
          <p:cNvSpPr/>
          <p:nvPr/>
        </p:nvSpPr>
        <p:spPr>
          <a:xfrm>
            <a:off x="4876038" y="2420874"/>
            <a:ext cx="96012" cy="96012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45" name="Text 43"/>
          <p:cNvSpPr/>
          <p:nvPr/>
        </p:nvSpPr>
        <p:spPr>
          <a:xfrm>
            <a:off x="4992624" y="2386584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5198364" y="2386584"/>
            <a:ext cx="33604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75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</a:t>
            </a:r>
            <a:r>
              <a:rPr lang="en-US" sz="75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</a:t>
            </a:r>
            <a:r>
              <a:rPr lang="en-US" sz="75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</a:t>
            </a: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items: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4992624" y="2558034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5198364" y="2558034"/>
            <a:ext cx="33604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 = t + i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4992624" y="2729484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5198364" y="2729484"/>
            <a:ext cx="33604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75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r>
              <a:rPr lang="en-US" sz="75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4786884" y="3086100"/>
            <a:ext cx="384048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b="1" spc="150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VARIABLES  (at breakpoint)</a:t>
            </a:r>
            <a:endParaRPr lang="en-US" sz="675" dirty="0"/>
          </a:p>
        </p:txBody>
      </p:sp>
      <p:sp>
        <p:nvSpPr>
          <p:cNvPr id="52" name="Text 50"/>
          <p:cNvSpPr/>
          <p:nvPr/>
        </p:nvSpPr>
        <p:spPr>
          <a:xfrm>
            <a:off x="4855464" y="3257550"/>
            <a:ext cx="6858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items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5541264" y="3257550"/>
            <a:ext cx="17145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5712714" y="3257550"/>
            <a:ext cx="13716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[1, 2, 3]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7118604" y="3257550"/>
            <a:ext cx="6858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endParaRPr lang="en-US" sz="675" dirty="0"/>
          </a:p>
        </p:txBody>
      </p:sp>
      <p:sp>
        <p:nvSpPr>
          <p:cNvPr id="56" name="Text 54"/>
          <p:cNvSpPr/>
          <p:nvPr/>
        </p:nvSpPr>
        <p:spPr>
          <a:xfrm>
            <a:off x="4855464" y="3408426"/>
            <a:ext cx="6858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5541264" y="3408426"/>
            <a:ext cx="17145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5712714" y="3408426"/>
            <a:ext cx="13716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7118604" y="3408426"/>
            <a:ext cx="6858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675" dirty="0"/>
          </a:p>
        </p:txBody>
      </p:sp>
      <p:sp>
        <p:nvSpPr>
          <p:cNvPr id="60" name="Text 58"/>
          <p:cNvSpPr/>
          <p:nvPr/>
        </p:nvSpPr>
        <p:spPr>
          <a:xfrm>
            <a:off x="4855464" y="3559302"/>
            <a:ext cx="6858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5541264" y="3559302"/>
            <a:ext cx="17145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5712714" y="3559302"/>
            <a:ext cx="13716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7118604" y="3559302"/>
            <a:ext cx="6858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675" dirty="0"/>
          </a:p>
        </p:txBody>
      </p:sp>
      <p:sp>
        <p:nvSpPr>
          <p:cNvPr id="64" name="Text 62"/>
          <p:cNvSpPr/>
          <p:nvPr/>
        </p:nvSpPr>
        <p:spPr>
          <a:xfrm>
            <a:off x="4786884" y="3874770"/>
            <a:ext cx="38404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</a:t>
            </a: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See every variable live · no code changes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4786884" y="4114800"/>
            <a:ext cx="38404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</a:t>
            </a: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through line by line · follow the flow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4786884" y="4306824"/>
            <a:ext cx="384048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i="1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Use for: real bugs, complex flows</a:t>
            </a:r>
            <a:endParaRPr lang="en-US" sz="825" dirty="0"/>
          </a:p>
        </p:txBody>
      </p:sp>
      <p:sp>
        <p:nvSpPr>
          <p:cNvPr id="67" name="Text 65"/>
          <p:cNvSpPr/>
          <p:nvPr/>
        </p:nvSpPr>
        <p:spPr>
          <a:xfrm>
            <a:off x="342900" y="4697730"/>
            <a:ext cx="8455914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 WITH </a:t>
            </a:r>
            <a:r>
              <a:rPr lang="en-US" sz="825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print() </a:t>
            </a:r>
            <a:r>
              <a:rPr lang="en-US" sz="825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 GRADUATE TO </a:t>
            </a:r>
            <a:r>
              <a:rPr lang="en-US" sz="825" b="1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debugger </a:t>
            </a:r>
            <a:r>
              <a:rPr lang="en-US" sz="82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 USE BOTH</a:t>
            </a:r>
            <a:endParaRPr lang="en-US" sz="8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7190" y="288036"/>
            <a:ext cx="82296" cy="82296"/>
          </a:xfrm>
          <a:prstGeom prst="rect">
            <a:avLst/>
          </a:prstGeom>
          <a:solidFill>
            <a:srgbClr val="00E5CC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3" name="Text 1"/>
          <p:cNvSpPr/>
          <p:nvPr/>
        </p:nvSpPr>
        <p:spPr>
          <a:xfrm>
            <a:off x="534924" y="198882"/>
            <a:ext cx="480060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spc="225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THE DEBUGGER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4800600" y="198882"/>
            <a:ext cx="397764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spc="1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Foundation Bootcamp  ·  مسار البرمجة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42900" y="5026914"/>
            <a:ext cx="3429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spc="225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1  ·  SESSION 5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5829300" y="5026914"/>
            <a:ext cx="29695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600" spc="225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10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342900" y="514350"/>
            <a:ext cx="845591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Breakpoints &amp; Step Controls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342900" y="960120"/>
            <a:ext cx="8455914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Five buttons. Learn these and you can debug anything.</a:t>
            </a:r>
            <a:endParaRPr lang="en-US" sz="975" dirty="0"/>
          </a:p>
        </p:txBody>
      </p:sp>
      <p:sp>
        <p:nvSpPr>
          <p:cNvPr id="9" name="Shape 7"/>
          <p:cNvSpPr/>
          <p:nvPr/>
        </p:nvSpPr>
        <p:spPr>
          <a:xfrm>
            <a:off x="342900" y="1337310"/>
            <a:ext cx="4937760" cy="260604"/>
          </a:xfrm>
          <a:prstGeom prst="rect">
            <a:avLst/>
          </a:prstGeom>
          <a:solidFill>
            <a:srgbClr val="1A1A35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0" name="Shape 8"/>
          <p:cNvSpPr/>
          <p:nvPr/>
        </p:nvSpPr>
        <p:spPr>
          <a:xfrm>
            <a:off x="445770" y="1419606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11" name="Shape 9"/>
          <p:cNvSpPr/>
          <p:nvPr/>
        </p:nvSpPr>
        <p:spPr>
          <a:xfrm>
            <a:off x="596646" y="1419606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12" name="Shape 10"/>
          <p:cNvSpPr/>
          <p:nvPr/>
        </p:nvSpPr>
        <p:spPr>
          <a:xfrm>
            <a:off x="747522" y="1419606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13" name="Text 11"/>
          <p:cNvSpPr/>
          <p:nvPr/>
        </p:nvSpPr>
        <p:spPr>
          <a:xfrm>
            <a:off x="960120" y="1337310"/>
            <a:ext cx="246888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🐞 </a:t>
            </a: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debug.py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318004" y="1337310"/>
            <a:ext cx="2859786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675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 Debugging · paused at line 4</a:t>
            </a:r>
            <a:endParaRPr lang="en-US" sz="675" dirty="0"/>
          </a:p>
        </p:txBody>
      </p:sp>
      <p:sp>
        <p:nvSpPr>
          <p:cNvPr id="15" name="Shape 13"/>
          <p:cNvSpPr/>
          <p:nvPr/>
        </p:nvSpPr>
        <p:spPr>
          <a:xfrm>
            <a:off x="342900" y="1597914"/>
            <a:ext cx="4937760" cy="2996946"/>
          </a:xfrm>
          <a:prstGeom prst="rect">
            <a:avLst/>
          </a:prstGeom>
          <a:solidFill>
            <a:srgbClr val="13132A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6" name="Shape 14"/>
          <p:cNvSpPr/>
          <p:nvPr/>
        </p:nvSpPr>
        <p:spPr>
          <a:xfrm>
            <a:off x="1714500" y="1645920"/>
            <a:ext cx="2194560" cy="274320"/>
          </a:xfrm>
          <a:prstGeom prst="roundRect">
            <a:avLst>
              <a:gd name="adj" fmla="val 20000"/>
            </a:avLst>
          </a:prstGeom>
          <a:solidFill>
            <a:srgbClr val="0F0F22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7" name="Text 15"/>
          <p:cNvSpPr/>
          <p:nvPr/>
        </p:nvSpPr>
        <p:spPr>
          <a:xfrm>
            <a:off x="1748790" y="1645920"/>
            <a:ext cx="3086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105406" y="1645920"/>
            <a:ext cx="3086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↷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462022" y="1645920"/>
            <a:ext cx="3086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818638" y="1645920"/>
            <a:ext cx="3086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↑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175254" y="1645920"/>
            <a:ext cx="3086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↺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531870" y="1645920"/>
            <a:ext cx="3086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■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40664" y="2023110"/>
            <a:ext cx="2057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825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994410" y="2023110"/>
            <a:ext cx="41833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r>
              <a:rPr lang="en-US" sz="825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</a:t>
            </a:r>
            <a:r>
              <a:rPr lang="en-US" sz="82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(nums):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740664" y="2242566"/>
            <a:ext cx="2057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825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994410" y="2242566"/>
            <a:ext cx="41833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 = </a:t>
            </a:r>
            <a:r>
              <a:rPr lang="en-US" sz="825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740664" y="2462022"/>
            <a:ext cx="2057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825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994410" y="2462022"/>
            <a:ext cx="41833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25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</a:t>
            </a:r>
            <a:r>
              <a:rPr lang="en-US" sz="825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</a:t>
            </a:r>
            <a:r>
              <a:rPr lang="en-US" sz="825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</a:t>
            </a:r>
            <a:r>
              <a:rPr lang="en-US" sz="82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nums:</a:t>
            </a:r>
            <a:endParaRPr lang="en-US" sz="825" dirty="0"/>
          </a:p>
        </p:txBody>
      </p:sp>
      <p:sp>
        <p:nvSpPr>
          <p:cNvPr id="29" name="Shape 27"/>
          <p:cNvSpPr/>
          <p:nvPr/>
        </p:nvSpPr>
        <p:spPr>
          <a:xfrm>
            <a:off x="720090" y="2681478"/>
            <a:ext cx="4457700" cy="219456"/>
          </a:xfrm>
          <a:prstGeom prst="rect">
            <a:avLst/>
          </a:prstGeom>
          <a:solidFill>
            <a:srgbClr val="3A3A1A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30" name="Text 28"/>
          <p:cNvSpPr/>
          <p:nvPr/>
        </p:nvSpPr>
        <p:spPr>
          <a:xfrm>
            <a:off x="617220" y="2681478"/>
            <a:ext cx="137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</a:t>
            </a:r>
            <a:endParaRPr lang="en-US" sz="825" dirty="0"/>
          </a:p>
        </p:txBody>
      </p:sp>
      <p:sp>
        <p:nvSpPr>
          <p:cNvPr id="31" name="Shape 29"/>
          <p:cNvSpPr/>
          <p:nvPr/>
        </p:nvSpPr>
        <p:spPr>
          <a:xfrm>
            <a:off x="480060" y="2736342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32" name="Text 30"/>
          <p:cNvSpPr/>
          <p:nvPr/>
        </p:nvSpPr>
        <p:spPr>
          <a:xfrm>
            <a:off x="740664" y="2681478"/>
            <a:ext cx="2057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8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825" dirty="0"/>
          </a:p>
        </p:txBody>
      </p:sp>
      <p:sp>
        <p:nvSpPr>
          <p:cNvPr id="33" name="Text 31"/>
          <p:cNvSpPr/>
          <p:nvPr/>
        </p:nvSpPr>
        <p:spPr>
          <a:xfrm>
            <a:off x="994410" y="2681478"/>
            <a:ext cx="41833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total += n  </a:t>
            </a:r>
            <a:r>
              <a:rPr lang="en-US" sz="825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🔴 BREAKPOINT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740664" y="2900934"/>
            <a:ext cx="2057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825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825" dirty="0"/>
          </a:p>
        </p:txBody>
      </p:sp>
      <p:sp>
        <p:nvSpPr>
          <p:cNvPr id="35" name="Text 33"/>
          <p:cNvSpPr/>
          <p:nvPr/>
        </p:nvSpPr>
        <p:spPr>
          <a:xfrm>
            <a:off x="994410" y="2900934"/>
            <a:ext cx="41833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25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r>
              <a:rPr lang="en-US" sz="825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825" dirty="0"/>
          </a:p>
        </p:txBody>
      </p:sp>
      <p:sp>
        <p:nvSpPr>
          <p:cNvPr id="36" name="Text 34"/>
          <p:cNvSpPr/>
          <p:nvPr/>
        </p:nvSpPr>
        <p:spPr>
          <a:xfrm>
            <a:off x="740664" y="3120390"/>
            <a:ext cx="2057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825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825" dirty="0"/>
          </a:p>
        </p:txBody>
      </p:sp>
      <p:sp>
        <p:nvSpPr>
          <p:cNvPr id="37" name="Text 35"/>
          <p:cNvSpPr/>
          <p:nvPr/>
        </p:nvSpPr>
        <p:spPr>
          <a:xfrm>
            <a:off x="740664" y="3339846"/>
            <a:ext cx="2057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825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825" dirty="0"/>
          </a:p>
        </p:txBody>
      </p:sp>
      <p:sp>
        <p:nvSpPr>
          <p:cNvPr id="38" name="Text 36"/>
          <p:cNvSpPr/>
          <p:nvPr/>
        </p:nvSpPr>
        <p:spPr>
          <a:xfrm>
            <a:off x="994410" y="3339846"/>
            <a:ext cx="41833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</a:t>
            </a:r>
            <a:r>
              <a:rPr lang="en-US" sz="825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</a:t>
            </a:r>
            <a:r>
              <a:rPr lang="en-US" sz="82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([</a:t>
            </a:r>
            <a:r>
              <a:rPr lang="en-US" sz="825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1, 2, 3</a:t>
            </a:r>
            <a:r>
              <a:rPr lang="en-US" sz="82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825" dirty="0"/>
          </a:p>
        </p:txBody>
      </p:sp>
      <p:sp>
        <p:nvSpPr>
          <p:cNvPr id="39" name="Text 37"/>
          <p:cNvSpPr/>
          <p:nvPr/>
        </p:nvSpPr>
        <p:spPr>
          <a:xfrm>
            <a:off x="740664" y="3559302"/>
            <a:ext cx="2057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825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825" dirty="0"/>
          </a:p>
        </p:txBody>
      </p:sp>
      <p:sp>
        <p:nvSpPr>
          <p:cNvPr id="40" name="Text 38"/>
          <p:cNvSpPr/>
          <p:nvPr/>
        </p:nvSpPr>
        <p:spPr>
          <a:xfrm>
            <a:off x="994410" y="3559302"/>
            <a:ext cx="41833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82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(result)</a:t>
            </a:r>
            <a:endParaRPr lang="en-US" sz="825" dirty="0"/>
          </a:p>
        </p:txBody>
      </p:sp>
      <p:sp>
        <p:nvSpPr>
          <p:cNvPr id="41" name="Shape 39"/>
          <p:cNvSpPr/>
          <p:nvPr/>
        </p:nvSpPr>
        <p:spPr>
          <a:xfrm>
            <a:off x="480060" y="3634740"/>
            <a:ext cx="4663440" cy="822960"/>
          </a:xfrm>
          <a:prstGeom prst="rect">
            <a:avLst/>
          </a:prstGeom>
          <a:solidFill>
            <a:srgbClr val="0F0F22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42" name="Text 40"/>
          <p:cNvSpPr/>
          <p:nvPr/>
        </p:nvSpPr>
        <p:spPr>
          <a:xfrm>
            <a:off x="582930" y="3689604"/>
            <a:ext cx="44577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spc="150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▼ VARIABLES  </a:t>
            </a:r>
            <a:r>
              <a:rPr lang="en-US" sz="7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CALL STACK  · WATCH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582930" y="3874770"/>
            <a:ext cx="44577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b="1" spc="1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Locals:</a:t>
            </a:r>
            <a:endParaRPr lang="en-US" sz="675" dirty="0"/>
          </a:p>
        </p:txBody>
      </p:sp>
      <p:sp>
        <p:nvSpPr>
          <p:cNvPr id="44" name="Text 42"/>
          <p:cNvSpPr/>
          <p:nvPr/>
        </p:nvSpPr>
        <p:spPr>
          <a:xfrm>
            <a:off x="685800" y="402564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1508760" y="4025646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1680210" y="4025646"/>
            <a:ext cx="10287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[1, 2, 3]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685800" y="417652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1508760" y="4176522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1680210" y="4176522"/>
            <a:ext cx="10287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685800" y="432739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1508760" y="4327398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1680210" y="4327398"/>
            <a:ext cx="10287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2743200" y="432739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current iteration</a:t>
            </a:r>
            <a:endParaRPr lang="en-US" sz="675" dirty="0"/>
          </a:p>
        </p:txBody>
      </p:sp>
      <p:sp>
        <p:nvSpPr>
          <p:cNvPr id="54" name="Shape 52"/>
          <p:cNvSpPr/>
          <p:nvPr/>
        </p:nvSpPr>
        <p:spPr>
          <a:xfrm>
            <a:off x="5417820" y="1337310"/>
            <a:ext cx="3380994" cy="3257550"/>
          </a:xfrm>
          <a:prstGeom prst="rect">
            <a:avLst/>
          </a:prstGeom>
          <a:solidFill>
            <a:srgbClr val="13132A"/>
          </a:solidFill>
          <a:ln w="12700">
            <a:solidFill>
              <a:srgbClr val="2A2A4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55" name="Shape 53"/>
          <p:cNvSpPr/>
          <p:nvPr/>
        </p:nvSpPr>
        <p:spPr>
          <a:xfrm>
            <a:off x="5417820" y="1337310"/>
            <a:ext cx="54864" cy="3257550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56" name="Text 54"/>
          <p:cNvSpPr/>
          <p:nvPr/>
        </p:nvSpPr>
        <p:spPr>
          <a:xfrm>
            <a:off x="5589270" y="1474470"/>
            <a:ext cx="3106674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spc="225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🎮  STEP CONTROLS</a:t>
            </a:r>
            <a:endParaRPr lang="en-US" sz="825" dirty="0"/>
          </a:p>
        </p:txBody>
      </p:sp>
      <p:sp>
        <p:nvSpPr>
          <p:cNvPr id="57" name="Shape 55"/>
          <p:cNvSpPr/>
          <p:nvPr/>
        </p:nvSpPr>
        <p:spPr>
          <a:xfrm>
            <a:off x="5589270" y="1851660"/>
            <a:ext cx="377190" cy="377190"/>
          </a:xfrm>
          <a:prstGeom prst="roundRect">
            <a:avLst>
              <a:gd name="adj" fmla="val 14545"/>
            </a:avLst>
          </a:prstGeom>
          <a:solidFill>
            <a:srgbClr val="0F0F22"/>
          </a:solidFill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58" name="Text 56"/>
          <p:cNvSpPr/>
          <p:nvPr/>
        </p:nvSpPr>
        <p:spPr>
          <a:xfrm>
            <a:off x="5589270" y="1851660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5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</a:t>
            </a:r>
            <a:endParaRPr lang="en-US" sz="1350" dirty="0"/>
          </a:p>
        </p:txBody>
      </p:sp>
      <p:sp>
        <p:nvSpPr>
          <p:cNvPr id="59" name="Text 57"/>
          <p:cNvSpPr/>
          <p:nvPr/>
        </p:nvSpPr>
        <p:spPr>
          <a:xfrm>
            <a:off x="6035040" y="1817370"/>
            <a:ext cx="262661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spc="1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CONTINUE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6035040" y="2009394"/>
            <a:ext cx="2626614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F5</a:t>
            </a:r>
            <a:endParaRPr lang="en-US" sz="675" dirty="0"/>
          </a:p>
        </p:txBody>
      </p:sp>
      <p:sp>
        <p:nvSpPr>
          <p:cNvPr id="61" name="Text 59"/>
          <p:cNvSpPr/>
          <p:nvPr/>
        </p:nvSpPr>
        <p:spPr>
          <a:xfrm>
            <a:off x="6035040" y="2146554"/>
            <a:ext cx="262661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13" i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until next breakpoint</a:t>
            </a:r>
            <a:endParaRPr lang="en-US" sz="713" dirty="0"/>
          </a:p>
        </p:txBody>
      </p:sp>
      <p:sp>
        <p:nvSpPr>
          <p:cNvPr id="62" name="Shape 60"/>
          <p:cNvSpPr/>
          <p:nvPr/>
        </p:nvSpPr>
        <p:spPr>
          <a:xfrm>
            <a:off x="5589270" y="2386584"/>
            <a:ext cx="377190" cy="377190"/>
          </a:xfrm>
          <a:prstGeom prst="roundRect">
            <a:avLst>
              <a:gd name="adj" fmla="val 14545"/>
            </a:avLst>
          </a:prstGeom>
          <a:solidFill>
            <a:srgbClr val="0F0F22"/>
          </a:solidFill>
          <a:ln w="1905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63" name="Text 61"/>
          <p:cNvSpPr/>
          <p:nvPr/>
        </p:nvSpPr>
        <p:spPr>
          <a:xfrm>
            <a:off x="5589270" y="2386584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↷</a:t>
            </a:r>
            <a:endParaRPr lang="en-US" sz="1350" dirty="0"/>
          </a:p>
        </p:txBody>
      </p:sp>
      <p:sp>
        <p:nvSpPr>
          <p:cNvPr id="64" name="Text 62"/>
          <p:cNvSpPr/>
          <p:nvPr/>
        </p:nvSpPr>
        <p:spPr>
          <a:xfrm>
            <a:off x="6035040" y="2352294"/>
            <a:ext cx="262661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spc="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OVER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6035040" y="2544318"/>
            <a:ext cx="2626614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F10</a:t>
            </a:r>
            <a:endParaRPr lang="en-US" sz="675" dirty="0"/>
          </a:p>
        </p:txBody>
      </p:sp>
      <p:sp>
        <p:nvSpPr>
          <p:cNvPr id="66" name="Text 64"/>
          <p:cNvSpPr/>
          <p:nvPr/>
        </p:nvSpPr>
        <p:spPr>
          <a:xfrm>
            <a:off x="6035040" y="2681478"/>
            <a:ext cx="262661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13" i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 line, skip over calls</a:t>
            </a:r>
            <a:endParaRPr lang="en-US" sz="713" dirty="0"/>
          </a:p>
        </p:txBody>
      </p:sp>
      <p:sp>
        <p:nvSpPr>
          <p:cNvPr id="67" name="Shape 65"/>
          <p:cNvSpPr/>
          <p:nvPr/>
        </p:nvSpPr>
        <p:spPr>
          <a:xfrm>
            <a:off x="5589270" y="2921508"/>
            <a:ext cx="377190" cy="377190"/>
          </a:xfrm>
          <a:prstGeom prst="roundRect">
            <a:avLst>
              <a:gd name="adj" fmla="val 14545"/>
            </a:avLst>
          </a:prstGeom>
          <a:solidFill>
            <a:srgbClr val="0F0F22"/>
          </a:solidFill>
          <a:ln w="19050">
            <a:solidFill>
              <a:srgbClr val="00E5CC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68" name="Text 66"/>
          <p:cNvSpPr/>
          <p:nvPr/>
        </p:nvSpPr>
        <p:spPr>
          <a:xfrm>
            <a:off x="5589270" y="2921508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50" b="1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</a:t>
            </a:r>
            <a:endParaRPr lang="en-US" sz="1350" dirty="0"/>
          </a:p>
        </p:txBody>
      </p:sp>
      <p:sp>
        <p:nvSpPr>
          <p:cNvPr id="69" name="Text 67"/>
          <p:cNvSpPr/>
          <p:nvPr/>
        </p:nvSpPr>
        <p:spPr>
          <a:xfrm>
            <a:off x="6035040" y="2887218"/>
            <a:ext cx="262661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spc="150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INTO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6035040" y="3079242"/>
            <a:ext cx="2626614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F11</a:t>
            </a:r>
            <a:endParaRPr lang="en-US" sz="675" dirty="0"/>
          </a:p>
        </p:txBody>
      </p:sp>
      <p:sp>
        <p:nvSpPr>
          <p:cNvPr id="71" name="Text 69"/>
          <p:cNvSpPr/>
          <p:nvPr/>
        </p:nvSpPr>
        <p:spPr>
          <a:xfrm>
            <a:off x="6035040" y="3216402"/>
            <a:ext cx="262661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13" i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 into the function call</a:t>
            </a:r>
            <a:endParaRPr lang="en-US" sz="713" dirty="0"/>
          </a:p>
        </p:txBody>
      </p:sp>
      <p:sp>
        <p:nvSpPr>
          <p:cNvPr id="72" name="Shape 70"/>
          <p:cNvSpPr/>
          <p:nvPr/>
        </p:nvSpPr>
        <p:spPr>
          <a:xfrm>
            <a:off x="5589270" y="3456432"/>
            <a:ext cx="377190" cy="377190"/>
          </a:xfrm>
          <a:prstGeom prst="roundRect">
            <a:avLst>
              <a:gd name="adj" fmla="val 14545"/>
            </a:avLst>
          </a:prstGeom>
          <a:solidFill>
            <a:srgbClr val="0F0F22"/>
          </a:solidFill>
          <a:ln w="1905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73" name="Text 71"/>
          <p:cNvSpPr/>
          <p:nvPr/>
        </p:nvSpPr>
        <p:spPr>
          <a:xfrm>
            <a:off x="5589270" y="3456432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5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↑</a:t>
            </a:r>
            <a:endParaRPr lang="en-US" sz="1350" dirty="0"/>
          </a:p>
        </p:txBody>
      </p:sp>
      <p:sp>
        <p:nvSpPr>
          <p:cNvPr id="74" name="Text 72"/>
          <p:cNvSpPr/>
          <p:nvPr/>
        </p:nvSpPr>
        <p:spPr>
          <a:xfrm>
            <a:off x="6035040" y="3422142"/>
            <a:ext cx="262661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spc="1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OUT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6035040" y="3614166"/>
            <a:ext cx="2626614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Shift+F11</a:t>
            </a:r>
            <a:endParaRPr lang="en-US" sz="675" dirty="0"/>
          </a:p>
        </p:txBody>
      </p:sp>
      <p:sp>
        <p:nvSpPr>
          <p:cNvPr id="76" name="Text 74"/>
          <p:cNvSpPr/>
          <p:nvPr/>
        </p:nvSpPr>
        <p:spPr>
          <a:xfrm>
            <a:off x="6035040" y="3751326"/>
            <a:ext cx="262661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13" i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Finish function, return to caller</a:t>
            </a:r>
            <a:endParaRPr lang="en-US" sz="713" dirty="0"/>
          </a:p>
        </p:txBody>
      </p:sp>
      <p:sp>
        <p:nvSpPr>
          <p:cNvPr id="77" name="Shape 75"/>
          <p:cNvSpPr/>
          <p:nvPr/>
        </p:nvSpPr>
        <p:spPr>
          <a:xfrm>
            <a:off x="5589270" y="3991356"/>
            <a:ext cx="377190" cy="377190"/>
          </a:xfrm>
          <a:prstGeom prst="roundRect">
            <a:avLst>
              <a:gd name="adj" fmla="val 14545"/>
            </a:avLst>
          </a:prstGeom>
          <a:solidFill>
            <a:srgbClr val="0F0F22"/>
          </a:solidFill>
          <a:ln w="190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78" name="Text 76"/>
          <p:cNvSpPr/>
          <p:nvPr/>
        </p:nvSpPr>
        <p:spPr>
          <a:xfrm>
            <a:off x="5589270" y="3991356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5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■</a:t>
            </a:r>
            <a:endParaRPr lang="en-US" sz="1350" dirty="0"/>
          </a:p>
        </p:txBody>
      </p:sp>
      <p:sp>
        <p:nvSpPr>
          <p:cNvPr id="79" name="Text 77"/>
          <p:cNvSpPr/>
          <p:nvPr/>
        </p:nvSpPr>
        <p:spPr>
          <a:xfrm>
            <a:off x="6035040" y="3957066"/>
            <a:ext cx="262661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spc="1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6035040" y="4149090"/>
            <a:ext cx="2626614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Shift+F5</a:t>
            </a:r>
            <a:endParaRPr lang="en-US" sz="675" dirty="0"/>
          </a:p>
        </p:txBody>
      </p:sp>
      <p:sp>
        <p:nvSpPr>
          <p:cNvPr id="81" name="Text 79"/>
          <p:cNvSpPr/>
          <p:nvPr/>
        </p:nvSpPr>
        <p:spPr>
          <a:xfrm>
            <a:off x="6035040" y="4286250"/>
            <a:ext cx="262661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13" i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 the debug session</a:t>
            </a:r>
            <a:endParaRPr lang="en-US" sz="713" dirty="0"/>
          </a:p>
        </p:txBody>
      </p:sp>
      <p:sp>
        <p:nvSpPr>
          <p:cNvPr id="82" name="Shape 80"/>
          <p:cNvSpPr/>
          <p:nvPr/>
        </p:nvSpPr>
        <p:spPr>
          <a:xfrm>
            <a:off x="342900" y="4697730"/>
            <a:ext cx="8455914" cy="274320"/>
          </a:xfrm>
          <a:prstGeom prst="rect">
            <a:avLst/>
          </a:prstGeom>
          <a:solidFill>
            <a:srgbClr val="13132A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83" name="Text 81"/>
          <p:cNvSpPr/>
          <p:nvPr/>
        </p:nvSpPr>
        <p:spPr>
          <a:xfrm>
            <a:off x="342900" y="4697730"/>
            <a:ext cx="84559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b="1" spc="225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  </a:t>
            </a:r>
            <a:r>
              <a:rPr lang="en-US" sz="750" dirty="0">
                <a:solidFill>
                  <a:srgbClr val="3A3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</a:t>
            </a:r>
            <a:r>
              <a:rPr lang="en-US" sz="82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click gutter → red dot  →  </a:t>
            </a:r>
            <a:r>
              <a:rPr lang="en-US" sz="825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press F5 </a:t>
            </a:r>
            <a:r>
              <a:rPr lang="en-US" sz="82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inspect vars  →  </a:t>
            </a:r>
            <a:r>
              <a:rPr lang="en-US" sz="825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through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7190" y="288036"/>
            <a:ext cx="82296" cy="82296"/>
          </a:xfrm>
          <a:prstGeom prst="rect">
            <a:avLst/>
          </a:prstGeom>
          <a:solidFill>
            <a:srgbClr val="00E5CC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3" name="Text 1"/>
          <p:cNvSpPr/>
          <p:nvPr/>
        </p:nvSpPr>
        <p:spPr>
          <a:xfrm>
            <a:off x="534924" y="198882"/>
            <a:ext cx="480060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spc="225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SUMMARY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4800600" y="198882"/>
            <a:ext cx="397764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spc="1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Foundation Bootcamp  ·  مسار البرمجة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42900" y="5026914"/>
            <a:ext cx="3429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spc="225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1  ·  SESSION 5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5829300" y="5026914"/>
            <a:ext cx="29695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600" spc="225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10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342900" y="514350"/>
            <a:ext cx="845591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&amp; Debugging — Cheat Sheet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342900" y="960120"/>
            <a:ext cx="8455914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Everything from today. Screenshot this.</a:t>
            </a:r>
            <a:endParaRPr lang="en-US" sz="975" dirty="0"/>
          </a:p>
        </p:txBody>
      </p:sp>
      <p:sp>
        <p:nvSpPr>
          <p:cNvPr id="9" name="Shape 7"/>
          <p:cNvSpPr/>
          <p:nvPr/>
        </p:nvSpPr>
        <p:spPr>
          <a:xfrm>
            <a:off x="342900" y="1337310"/>
            <a:ext cx="2791206" cy="1474470"/>
          </a:xfrm>
          <a:prstGeom prst="rect">
            <a:avLst/>
          </a:prstGeom>
          <a:solidFill>
            <a:srgbClr val="13132A"/>
          </a:solidFill>
          <a:ln w="12700">
            <a:solidFill>
              <a:srgbClr val="2A2A4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0" name="Shape 8"/>
          <p:cNvSpPr/>
          <p:nvPr/>
        </p:nvSpPr>
        <p:spPr>
          <a:xfrm>
            <a:off x="342900" y="1337310"/>
            <a:ext cx="54864" cy="1474470"/>
          </a:xfrm>
          <a:prstGeom prst="rect">
            <a:avLst/>
          </a:prstGeom>
          <a:solidFill>
            <a:srgbClr val="60A5FA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11" name="Text 9"/>
          <p:cNvSpPr/>
          <p:nvPr/>
        </p:nvSpPr>
        <p:spPr>
          <a:xfrm>
            <a:off x="480060" y="1440180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50" dirty="0"/>
              <a:t>🖥️</a:t>
            </a:r>
          </a:p>
        </p:txBody>
      </p:sp>
      <p:sp>
        <p:nvSpPr>
          <p:cNvPr id="12" name="Text 10"/>
          <p:cNvSpPr/>
          <p:nvPr/>
        </p:nvSpPr>
        <p:spPr>
          <a:xfrm>
            <a:off x="891540" y="1440180"/>
            <a:ext cx="210540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 spc="225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VS CODE NAVIGATION</a:t>
            </a:r>
            <a:endParaRPr lang="en-US" sz="975" dirty="0"/>
          </a:p>
        </p:txBody>
      </p:sp>
      <p:sp>
        <p:nvSpPr>
          <p:cNvPr id="13" name="Shape 11"/>
          <p:cNvSpPr/>
          <p:nvPr/>
        </p:nvSpPr>
        <p:spPr>
          <a:xfrm>
            <a:off x="480060" y="1831086"/>
            <a:ext cx="2516886" cy="260604"/>
          </a:xfrm>
          <a:prstGeom prst="rect">
            <a:avLst/>
          </a:prstGeom>
          <a:solidFill>
            <a:srgbClr val="0F0F22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4" name="Text 12"/>
          <p:cNvSpPr/>
          <p:nvPr/>
        </p:nvSpPr>
        <p:spPr>
          <a:xfrm>
            <a:off x="562356" y="1831086"/>
            <a:ext cx="235229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00A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825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Ctrl+P  · quick file open</a:t>
            </a:r>
            <a:endParaRPr lang="en-US" sz="825" dirty="0"/>
          </a:p>
        </p:txBody>
      </p:sp>
      <p:sp>
        <p:nvSpPr>
          <p:cNvPr id="15" name="Shape 13"/>
          <p:cNvSpPr/>
          <p:nvPr/>
        </p:nvSpPr>
        <p:spPr>
          <a:xfrm>
            <a:off x="480060" y="2132838"/>
            <a:ext cx="2516886" cy="260604"/>
          </a:xfrm>
          <a:prstGeom prst="rect">
            <a:avLst/>
          </a:prstGeom>
          <a:solidFill>
            <a:srgbClr val="0F0F22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6" name="Text 14"/>
          <p:cNvSpPr/>
          <p:nvPr/>
        </p:nvSpPr>
        <p:spPr>
          <a:xfrm>
            <a:off x="562356" y="2132838"/>
            <a:ext cx="235229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00A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825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Ctrl+Shift+P  · command palette</a:t>
            </a:r>
            <a:endParaRPr lang="en-US" sz="825" dirty="0"/>
          </a:p>
        </p:txBody>
      </p:sp>
      <p:sp>
        <p:nvSpPr>
          <p:cNvPr id="17" name="Shape 15"/>
          <p:cNvSpPr/>
          <p:nvPr/>
        </p:nvSpPr>
        <p:spPr>
          <a:xfrm>
            <a:off x="480060" y="2434590"/>
            <a:ext cx="2516886" cy="260604"/>
          </a:xfrm>
          <a:prstGeom prst="rect">
            <a:avLst/>
          </a:prstGeom>
          <a:solidFill>
            <a:srgbClr val="0F0F22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8" name="Text 16"/>
          <p:cNvSpPr/>
          <p:nvPr/>
        </p:nvSpPr>
        <p:spPr>
          <a:xfrm>
            <a:off x="562356" y="2434590"/>
            <a:ext cx="235229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00A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825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Ctrl+`  · toggle terminal</a:t>
            </a:r>
            <a:endParaRPr lang="en-US" sz="825" dirty="0"/>
          </a:p>
        </p:txBody>
      </p:sp>
      <p:sp>
        <p:nvSpPr>
          <p:cNvPr id="19" name="Shape 17"/>
          <p:cNvSpPr/>
          <p:nvPr/>
        </p:nvSpPr>
        <p:spPr>
          <a:xfrm>
            <a:off x="3271266" y="1337310"/>
            <a:ext cx="2791206" cy="1474470"/>
          </a:xfrm>
          <a:prstGeom prst="rect">
            <a:avLst/>
          </a:prstGeom>
          <a:solidFill>
            <a:srgbClr val="13132A"/>
          </a:solidFill>
          <a:ln w="12700">
            <a:solidFill>
              <a:srgbClr val="2A2A4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0" name="Shape 18"/>
          <p:cNvSpPr/>
          <p:nvPr/>
        </p:nvSpPr>
        <p:spPr>
          <a:xfrm>
            <a:off x="3271266" y="1337310"/>
            <a:ext cx="54864" cy="1474470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21" name="Text 19"/>
          <p:cNvSpPr/>
          <p:nvPr/>
        </p:nvSpPr>
        <p:spPr>
          <a:xfrm>
            <a:off x="3408426" y="1440180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50" dirty="0"/>
              <a:t>✨</a:t>
            </a:r>
          </a:p>
        </p:txBody>
      </p:sp>
      <p:sp>
        <p:nvSpPr>
          <p:cNvPr id="22" name="Text 20"/>
          <p:cNvSpPr/>
          <p:nvPr/>
        </p:nvSpPr>
        <p:spPr>
          <a:xfrm>
            <a:off x="3819906" y="1440180"/>
            <a:ext cx="210540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 spc="225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EDITING SUPERPOWERS</a:t>
            </a:r>
            <a:endParaRPr lang="en-US" sz="975" dirty="0"/>
          </a:p>
        </p:txBody>
      </p:sp>
      <p:sp>
        <p:nvSpPr>
          <p:cNvPr id="23" name="Shape 21"/>
          <p:cNvSpPr/>
          <p:nvPr/>
        </p:nvSpPr>
        <p:spPr>
          <a:xfrm>
            <a:off x="3408426" y="1831086"/>
            <a:ext cx="2516886" cy="260604"/>
          </a:xfrm>
          <a:prstGeom prst="rect">
            <a:avLst/>
          </a:prstGeom>
          <a:solidFill>
            <a:srgbClr val="0F0F22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4" name="Text 22"/>
          <p:cNvSpPr/>
          <p:nvPr/>
        </p:nvSpPr>
        <p:spPr>
          <a:xfrm>
            <a:off x="3490722" y="1831086"/>
            <a:ext cx="235229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00A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825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Ctrl+D  · select next match</a:t>
            </a:r>
            <a:endParaRPr lang="en-US" sz="825" dirty="0"/>
          </a:p>
        </p:txBody>
      </p:sp>
      <p:sp>
        <p:nvSpPr>
          <p:cNvPr id="25" name="Shape 23"/>
          <p:cNvSpPr/>
          <p:nvPr/>
        </p:nvSpPr>
        <p:spPr>
          <a:xfrm>
            <a:off x="3408426" y="2132838"/>
            <a:ext cx="2516886" cy="260604"/>
          </a:xfrm>
          <a:prstGeom prst="rect">
            <a:avLst/>
          </a:prstGeom>
          <a:solidFill>
            <a:srgbClr val="0F0F22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6" name="Text 24"/>
          <p:cNvSpPr/>
          <p:nvPr/>
        </p:nvSpPr>
        <p:spPr>
          <a:xfrm>
            <a:off x="3490722" y="2132838"/>
            <a:ext cx="235229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00A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825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Alt+↑/↓  · move line</a:t>
            </a:r>
            <a:endParaRPr lang="en-US" sz="825" dirty="0"/>
          </a:p>
        </p:txBody>
      </p:sp>
      <p:sp>
        <p:nvSpPr>
          <p:cNvPr id="27" name="Shape 25"/>
          <p:cNvSpPr/>
          <p:nvPr/>
        </p:nvSpPr>
        <p:spPr>
          <a:xfrm>
            <a:off x="3408426" y="2434590"/>
            <a:ext cx="2516886" cy="260604"/>
          </a:xfrm>
          <a:prstGeom prst="rect">
            <a:avLst/>
          </a:prstGeom>
          <a:solidFill>
            <a:srgbClr val="0F0F22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8" name="Text 26"/>
          <p:cNvSpPr/>
          <p:nvPr/>
        </p:nvSpPr>
        <p:spPr>
          <a:xfrm>
            <a:off x="3490722" y="2434590"/>
            <a:ext cx="235229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00A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825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Shift+Alt+F  · format file</a:t>
            </a:r>
            <a:endParaRPr lang="en-US" sz="825" dirty="0"/>
          </a:p>
        </p:txBody>
      </p:sp>
      <p:sp>
        <p:nvSpPr>
          <p:cNvPr id="29" name="Shape 27"/>
          <p:cNvSpPr/>
          <p:nvPr/>
        </p:nvSpPr>
        <p:spPr>
          <a:xfrm>
            <a:off x="6199632" y="1337310"/>
            <a:ext cx="2791206" cy="1474470"/>
          </a:xfrm>
          <a:prstGeom prst="rect">
            <a:avLst/>
          </a:prstGeom>
          <a:solidFill>
            <a:srgbClr val="13132A"/>
          </a:solidFill>
          <a:ln w="12700">
            <a:solidFill>
              <a:srgbClr val="2A2A4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0" name="Shape 28"/>
          <p:cNvSpPr/>
          <p:nvPr/>
        </p:nvSpPr>
        <p:spPr>
          <a:xfrm>
            <a:off x="6199632" y="1337310"/>
            <a:ext cx="54864" cy="147447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31" name="Text 29"/>
          <p:cNvSpPr/>
          <p:nvPr/>
        </p:nvSpPr>
        <p:spPr>
          <a:xfrm>
            <a:off x="6336792" y="1440180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50" dirty="0"/>
              <a:t>🐛</a:t>
            </a:r>
          </a:p>
        </p:txBody>
      </p:sp>
      <p:sp>
        <p:nvSpPr>
          <p:cNvPr id="32" name="Text 30"/>
          <p:cNvSpPr/>
          <p:nvPr/>
        </p:nvSpPr>
        <p:spPr>
          <a:xfrm>
            <a:off x="6748272" y="1440180"/>
            <a:ext cx="210540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 spc="225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TYPES</a:t>
            </a:r>
            <a:endParaRPr lang="en-US" sz="975" dirty="0"/>
          </a:p>
        </p:txBody>
      </p:sp>
      <p:sp>
        <p:nvSpPr>
          <p:cNvPr id="33" name="Shape 31"/>
          <p:cNvSpPr/>
          <p:nvPr/>
        </p:nvSpPr>
        <p:spPr>
          <a:xfrm>
            <a:off x="6336792" y="1831086"/>
            <a:ext cx="2516886" cy="260604"/>
          </a:xfrm>
          <a:prstGeom prst="rect">
            <a:avLst/>
          </a:prstGeom>
          <a:solidFill>
            <a:srgbClr val="0F0F22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4" name="Text 32"/>
          <p:cNvSpPr/>
          <p:nvPr/>
        </p:nvSpPr>
        <p:spPr>
          <a:xfrm>
            <a:off x="6419088" y="1831086"/>
            <a:ext cx="235229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00A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825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SyntaxError  · before run</a:t>
            </a:r>
            <a:endParaRPr lang="en-US" sz="825" dirty="0"/>
          </a:p>
        </p:txBody>
      </p:sp>
      <p:sp>
        <p:nvSpPr>
          <p:cNvPr id="35" name="Shape 33"/>
          <p:cNvSpPr/>
          <p:nvPr/>
        </p:nvSpPr>
        <p:spPr>
          <a:xfrm>
            <a:off x="6336792" y="2132838"/>
            <a:ext cx="2516886" cy="260604"/>
          </a:xfrm>
          <a:prstGeom prst="rect">
            <a:avLst/>
          </a:prstGeom>
          <a:solidFill>
            <a:srgbClr val="0F0F22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6" name="Text 34"/>
          <p:cNvSpPr/>
          <p:nvPr/>
        </p:nvSpPr>
        <p:spPr>
          <a:xfrm>
            <a:off x="6419088" y="2132838"/>
            <a:ext cx="235229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00A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825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RuntimeError  · while running</a:t>
            </a:r>
            <a:endParaRPr lang="en-US" sz="825" dirty="0"/>
          </a:p>
        </p:txBody>
      </p:sp>
      <p:sp>
        <p:nvSpPr>
          <p:cNvPr id="37" name="Shape 35"/>
          <p:cNvSpPr/>
          <p:nvPr/>
        </p:nvSpPr>
        <p:spPr>
          <a:xfrm>
            <a:off x="6336792" y="2434590"/>
            <a:ext cx="2516886" cy="260604"/>
          </a:xfrm>
          <a:prstGeom prst="rect">
            <a:avLst/>
          </a:prstGeom>
          <a:solidFill>
            <a:srgbClr val="0F0F22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8" name="Text 36"/>
          <p:cNvSpPr/>
          <p:nvPr/>
        </p:nvSpPr>
        <p:spPr>
          <a:xfrm>
            <a:off x="6419088" y="2434590"/>
            <a:ext cx="235229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00A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825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LogicError  · wrong result</a:t>
            </a:r>
            <a:endParaRPr lang="en-US" sz="825" dirty="0"/>
          </a:p>
        </p:txBody>
      </p:sp>
      <p:sp>
        <p:nvSpPr>
          <p:cNvPr id="39" name="Shape 37"/>
          <p:cNvSpPr/>
          <p:nvPr/>
        </p:nvSpPr>
        <p:spPr>
          <a:xfrm>
            <a:off x="342900" y="2948940"/>
            <a:ext cx="2791206" cy="1474470"/>
          </a:xfrm>
          <a:prstGeom prst="rect">
            <a:avLst/>
          </a:prstGeom>
          <a:solidFill>
            <a:srgbClr val="13132A"/>
          </a:solidFill>
          <a:ln w="12700">
            <a:solidFill>
              <a:srgbClr val="2A2A4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40" name="Shape 38"/>
          <p:cNvSpPr/>
          <p:nvPr/>
        </p:nvSpPr>
        <p:spPr>
          <a:xfrm>
            <a:off x="342900" y="2948940"/>
            <a:ext cx="54864" cy="147447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41" name="Text 39"/>
          <p:cNvSpPr/>
          <p:nvPr/>
        </p:nvSpPr>
        <p:spPr>
          <a:xfrm>
            <a:off x="480060" y="3051810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50" dirty="0"/>
              <a:t>🔴</a:t>
            </a:r>
          </a:p>
        </p:txBody>
      </p:sp>
      <p:sp>
        <p:nvSpPr>
          <p:cNvPr id="42" name="Text 40"/>
          <p:cNvSpPr/>
          <p:nvPr/>
        </p:nvSpPr>
        <p:spPr>
          <a:xfrm>
            <a:off x="891540" y="3051810"/>
            <a:ext cx="210540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 spc="225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BREAKPOINTS</a:t>
            </a:r>
            <a:endParaRPr lang="en-US" sz="975" dirty="0"/>
          </a:p>
        </p:txBody>
      </p:sp>
      <p:sp>
        <p:nvSpPr>
          <p:cNvPr id="43" name="Shape 41"/>
          <p:cNvSpPr/>
          <p:nvPr/>
        </p:nvSpPr>
        <p:spPr>
          <a:xfrm>
            <a:off x="480060" y="3442716"/>
            <a:ext cx="2516886" cy="260604"/>
          </a:xfrm>
          <a:prstGeom prst="rect">
            <a:avLst/>
          </a:prstGeom>
          <a:solidFill>
            <a:srgbClr val="0F0F22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44" name="Text 42"/>
          <p:cNvSpPr/>
          <p:nvPr/>
        </p:nvSpPr>
        <p:spPr>
          <a:xfrm>
            <a:off x="562356" y="3442716"/>
            <a:ext cx="235229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00A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825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Click gutter  · toggle</a:t>
            </a:r>
            <a:endParaRPr lang="en-US" sz="825" dirty="0"/>
          </a:p>
        </p:txBody>
      </p:sp>
      <p:sp>
        <p:nvSpPr>
          <p:cNvPr id="45" name="Shape 43"/>
          <p:cNvSpPr/>
          <p:nvPr/>
        </p:nvSpPr>
        <p:spPr>
          <a:xfrm>
            <a:off x="480060" y="3744468"/>
            <a:ext cx="2516886" cy="260604"/>
          </a:xfrm>
          <a:prstGeom prst="rect">
            <a:avLst/>
          </a:prstGeom>
          <a:solidFill>
            <a:srgbClr val="0F0F22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46" name="Text 44"/>
          <p:cNvSpPr/>
          <p:nvPr/>
        </p:nvSpPr>
        <p:spPr>
          <a:xfrm>
            <a:off x="562356" y="3744468"/>
            <a:ext cx="235229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00A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825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F9  · toggle at cursor</a:t>
            </a:r>
            <a:endParaRPr lang="en-US" sz="825" dirty="0"/>
          </a:p>
        </p:txBody>
      </p:sp>
      <p:sp>
        <p:nvSpPr>
          <p:cNvPr id="47" name="Shape 45"/>
          <p:cNvSpPr/>
          <p:nvPr/>
        </p:nvSpPr>
        <p:spPr>
          <a:xfrm>
            <a:off x="480060" y="4046220"/>
            <a:ext cx="2516886" cy="260604"/>
          </a:xfrm>
          <a:prstGeom prst="rect">
            <a:avLst/>
          </a:prstGeom>
          <a:solidFill>
            <a:srgbClr val="0F0F22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48" name="Text 46"/>
          <p:cNvSpPr/>
          <p:nvPr/>
        </p:nvSpPr>
        <p:spPr>
          <a:xfrm>
            <a:off x="562356" y="4046220"/>
            <a:ext cx="235229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00A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825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right-click  · conditional</a:t>
            </a:r>
            <a:endParaRPr lang="en-US" sz="825" dirty="0"/>
          </a:p>
        </p:txBody>
      </p:sp>
      <p:sp>
        <p:nvSpPr>
          <p:cNvPr id="49" name="Shape 47"/>
          <p:cNvSpPr/>
          <p:nvPr/>
        </p:nvSpPr>
        <p:spPr>
          <a:xfrm>
            <a:off x="3271266" y="2948940"/>
            <a:ext cx="2791206" cy="1474470"/>
          </a:xfrm>
          <a:prstGeom prst="rect">
            <a:avLst/>
          </a:prstGeom>
          <a:solidFill>
            <a:srgbClr val="13132A"/>
          </a:solidFill>
          <a:ln w="12700">
            <a:solidFill>
              <a:srgbClr val="2A2A4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50" name="Shape 48"/>
          <p:cNvSpPr/>
          <p:nvPr/>
        </p:nvSpPr>
        <p:spPr>
          <a:xfrm>
            <a:off x="3271266" y="2948940"/>
            <a:ext cx="54864" cy="1474470"/>
          </a:xfrm>
          <a:prstGeom prst="rect">
            <a:avLst/>
          </a:prstGeom>
          <a:solidFill>
            <a:srgbClr val="00E5CC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51" name="Text 49"/>
          <p:cNvSpPr/>
          <p:nvPr/>
        </p:nvSpPr>
        <p:spPr>
          <a:xfrm>
            <a:off x="3408426" y="3051810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50" dirty="0"/>
              <a:t>🎮</a:t>
            </a:r>
          </a:p>
        </p:txBody>
      </p:sp>
      <p:sp>
        <p:nvSpPr>
          <p:cNvPr id="52" name="Text 50"/>
          <p:cNvSpPr/>
          <p:nvPr/>
        </p:nvSpPr>
        <p:spPr>
          <a:xfrm>
            <a:off x="3819906" y="3051810"/>
            <a:ext cx="210540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 spc="225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CONTROLS</a:t>
            </a:r>
            <a:endParaRPr lang="en-US" sz="975" dirty="0"/>
          </a:p>
        </p:txBody>
      </p:sp>
      <p:sp>
        <p:nvSpPr>
          <p:cNvPr id="53" name="Shape 51"/>
          <p:cNvSpPr/>
          <p:nvPr/>
        </p:nvSpPr>
        <p:spPr>
          <a:xfrm>
            <a:off x="3408426" y="3442716"/>
            <a:ext cx="2516886" cy="260604"/>
          </a:xfrm>
          <a:prstGeom prst="rect">
            <a:avLst/>
          </a:prstGeom>
          <a:solidFill>
            <a:srgbClr val="0F0F22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54" name="Text 52"/>
          <p:cNvSpPr/>
          <p:nvPr/>
        </p:nvSpPr>
        <p:spPr>
          <a:xfrm>
            <a:off x="3490722" y="3442716"/>
            <a:ext cx="235229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00A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825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F5  · continue / start</a:t>
            </a:r>
            <a:endParaRPr lang="en-US" sz="825" dirty="0"/>
          </a:p>
        </p:txBody>
      </p:sp>
      <p:sp>
        <p:nvSpPr>
          <p:cNvPr id="55" name="Shape 53"/>
          <p:cNvSpPr/>
          <p:nvPr/>
        </p:nvSpPr>
        <p:spPr>
          <a:xfrm>
            <a:off x="3408426" y="3744468"/>
            <a:ext cx="2516886" cy="260604"/>
          </a:xfrm>
          <a:prstGeom prst="rect">
            <a:avLst/>
          </a:prstGeom>
          <a:solidFill>
            <a:srgbClr val="0F0F22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56" name="Text 54"/>
          <p:cNvSpPr/>
          <p:nvPr/>
        </p:nvSpPr>
        <p:spPr>
          <a:xfrm>
            <a:off x="3490722" y="3744468"/>
            <a:ext cx="235229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00A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825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F10  · step over</a:t>
            </a:r>
            <a:endParaRPr lang="en-US" sz="825" dirty="0"/>
          </a:p>
        </p:txBody>
      </p:sp>
      <p:sp>
        <p:nvSpPr>
          <p:cNvPr id="57" name="Shape 55"/>
          <p:cNvSpPr/>
          <p:nvPr/>
        </p:nvSpPr>
        <p:spPr>
          <a:xfrm>
            <a:off x="3408426" y="4046220"/>
            <a:ext cx="2516886" cy="260604"/>
          </a:xfrm>
          <a:prstGeom prst="rect">
            <a:avLst/>
          </a:prstGeom>
          <a:solidFill>
            <a:srgbClr val="0F0F22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58" name="Text 56"/>
          <p:cNvSpPr/>
          <p:nvPr/>
        </p:nvSpPr>
        <p:spPr>
          <a:xfrm>
            <a:off x="3490722" y="4046220"/>
            <a:ext cx="235229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00A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825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F11 / Shift+F11  · into / out</a:t>
            </a:r>
            <a:endParaRPr lang="en-US" sz="825" dirty="0"/>
          </a:p>
        </p:txBody>
      </p:sp>
      <p:sp>
        <p:nvSpPr>
          <p:cNvPr id="59" name="Shape 57"/>
          <p:cNvSpPr/>
          <p:nvPr/>
        </p:nvSpPr>
        <p:spPr>
          <a:xfrm>
            <a:off x="6199632" y="2948940"/>
            <a:ext cx="2791206" cy="1474470"/>
          </a:xfrm>
          <a:prstGeom prst="rect">
            <a:avLst/>
          </a:prstGeom>
          <a:solidFill>
            <a:srgbClr val="13132A"/>
          </a:solidFill>
          <a:ln w="12700">
            <a:solidFill>
              <a:srgbClr val="2A2A4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60" name="Shape 58"/>
          <p:cNvSpPr/>
          <p:nvPr/>
        </p:nvSpPr>
        <p:spPr>
          <a:xfrm>
            <a:off x="6199632" y="2948940"/>
            <a:ext cx="54864" cy="147447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61" name="Text 59"/>
          <p:cNvSpPr/>
          <p:nvPr/>
        </p:nvSpPr>
        <p:spPr>
          <a:xfrm>
            <a:off x="6336792" y="3051810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50" dirty="0"/>
              <a:t>🔍</a:t>
            </a:r>
          </a:p>
        </p:txBody>
      </p:sp>
      <p:sp>
        <p:nvSpPr>
          <p:cNvPr id="62" name="Text 60"/>
          <p:cNvSpPr/>
          <p:nvPr/>
        </p:nvSpPr>
        <p:spPr>
          <a:xfrm>
            <a:off x="6748272" y="3051810"/>
            <a:ext cx="210540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 spc="225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 YOU'RE STUCK</a:t>
            </a:r>
            <a:endParaRPr lang="en-US" sz="975" dirty="0"/>
          </a:p>
        </p:txBody>
      </p:sp>
      <p:sp>
        <p:nvSpPr>
          <p:cNvPr id="63" name="Shape 61"/>
          <p:cNvSpPr/>
          <p:nvPr/>
        </p:nvSpPr>
        <p:spPr>
          <a:xfrm>
            <a:off x="6336792" y="3442716"/>
            <a:ext cx="2516886" cy="260604"/>
          </a:xfrm>
          <a:prstGeom prst="rect">
            <a:avLst/>
          </a:prstGeom>
          <a:solidFill>
            <a:srgbClr val="0F0F22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64" name="Text 62"/>
          <p:cNvSpPr/>
          <p:nvPr/>
        </p:nvSpPr>
        <p:spPr>
          <a:xfrm>
            <a:off x="6419088" y="3442716"/>
            <a:ext cx="235229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00A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825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 the error carefully</a:t>
            </a:r>
            <a:endParaRPr lang="en-US" sz="825" dirty="0"/>
          </a:p>
        </p:txBody>
      </p:sp>
      <p:sp>
        <p:nvSpPr>
          <p:cNvPr id="65" name="Shape 63"/>
          <p:cNvSpPr/>
          <p:nvPr/>
        </p:nvSpPr>
        <p:spPr>
          <a:xfrm>
            <a:off x="6336792" y="3744468"/>
            <a:ext cx="2516886" cy="260604"/>
          </a:xfrm>
          <a:prstGeom prst="rect">
            <a:avLst/>
          </a:prstGeom>
          <a:solidFill>
            <a:srgbClr val="0F0F22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66" name="Text 64"/>
          <p:cNvSpPr/>
          <p:nvPr/>
        </p:nvSpPr>
        <p:spPr>
          <a:xfrm>
            <a:off x="6419088" y="3744468"/>
            <a:ext cx="235229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00A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825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 the variable values</a:t>
            </a:r>
            <a:endParaRPr lang="en-US" sz="825" dirty="0"/>
          </a:p>
        </p:txBody>
      </p:sp>
      <p:sp>
        <p:nvSpPr>
          <p:cNvPr id="67" name="Shape 65"/>
          <p:cNvSpPr/>
          <p:nvPr/>
        </p:nvSpPr>
        <p:spPr>
          <a:xfrm>
            <a:off x="6336792" y="4046220"/>
            <a:ext cx="2516886" cy="260604"/>
          </a:xfrm>
          <a:prstGeom prst="rect">
            <a:avLst/>
          </a:prstGeom>
          <a:solidFill>
            <a:srgbClr val="0F0F22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68" name="Text 66"/>
          <p:cNvSpPr/>
          <p:nvPr/>
        </p:nvSpPr>
        <p:spPr>
          <a:xfrm>
            <a:off x="6419088" y="4046220"/>
            <a:ext cx="235229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00A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825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Explain the code out loud</a:t>
            </a:r>
            <a:endParaRPr lang="en-US" sz="825" dirty="0"/>
          </a:p>
        </p:txBody>
      </p:sp>
      <p:sp>
        <p:nvSpPr>
          <p:cNvPr id="69" name="Shape 67"/>
          <p:cNvSpPr/>
          <p:nvPr/>
        </p:nvSpPr>
        <p:spPr>
          <a:xfrm>
            <a:off x="342900" y="4560570"/>
            <a:ext cx="8455914" cy="411480"/>
          </a:xfrm>
          <a:prstGeom prst="rect">
            <a:avLst/>
          </a:prstGeom>
          <a:solidFill>
            <a:srgbClr val="13132A"/>
          </a:solidFill>
          <a:ln w="19050">
            <a:solidFill>
              <a:srgbClr val="00E5CC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70" name="Text 68"/>
          <p:cNvSpPr/>
          <p:nvPr/>
        </p:nvSpPr>
        <p:spPr>
          <a:xfrm>
            <a:off x="342900" y="4560570"/>
            <a:ext cx="8455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05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</a:t>
            </a:r>
            <a:r>
              <a:rPr lang="en-US" sz="105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"Errors are not failure.  Errors are the compiler teaching you."</a:t>
            </a:r>
            <a:r>
              <a:rPr lang="en-US" sz="1050" b="1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▊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38"/>
          <p:cNvSpPr txBox="1">
            <a:spLocks noGrp="1"/>
          </p:cNvSpPr>
          <p:nvPr>
            <p:ph type="title"/>
          </p:nvPr>
        </p:nvSpPr>
        <p:spPr>
          <a:xfrm>
            <a:off x="5548225" y="2230950"/>
            <a:ext cx="3062100" cy="68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شــــــكــــرًا لكــــــم</a:t>
            </a:r>
            <a:endParaRPr sz="4000" b="1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580" name="Google Shape;580;p38"/>
          <p:cNvSpPr txBox="1">
            <a:spLocks noGrp="1"/>
          </p:cNvSpPr>
          <p:nvPr>
            <p:ph type="ctrTitle" idx="4294967295"/>
          </p:nvPr>
        </p:nvSpPr>
        <p:spPr>
          <a:xfrm>
            <a:off x="4166050" y="2870075"/>
            <a:ext cx="4444200" cy="57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900" b="1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THANK YOU</a:t>
            </a:r>
            <a:endParaRPr sz="2900" b="1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31102</TotalTime>
  <Words>1809</Words>
  <Application>Microsoft Office PowerPoint</Application>
  <PresentationFormat>On-screen Show (16:9)</PresentationFormat>
  <Paragraphs>448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4" baseType="lpstr">
      <vt:lpstr>Consolas</vt:lpstr>
      <vt:lpstr>Arial Black</vt:lpstr>
      <vt:lpstr>IBM Plex Sans Arabic SemiBold</vt:lpstr>
      <vt:lpstr>Calibri</vt:lpstr>
      <vt:lpstr>IBM Plex Sans Arabic Medium</vt:lpstr>
      <vt:lpstr>Tajawal</vt:lpstr>
      <vt:lpstr>IBM Plex Sans Arabic</vt:lpstr>
      <vt:lpstr>Georgia</vt:lpstr>
      <vt:lpstr>Arial</vt:lpstr>
      <vt:lpstr>Simple Light</vt:lpstr>
      <vt:lpstr>أكـــــاديميــــة طــــويـــق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شــــــكــــرًا لكــــــم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Ahmed Al-Hadari</dc:creator>
  <cp:lastModifiedBy>Ahmed Alhussein</cp:lastModifiedBy>
  <cp:revision>257</cp:revision>
  <dcterms:modified xsi:type="dcterms:W3CDTF">2026-04-20T15:08:29Z</dcterms:modified>
</cp:coreProperties>
</file>