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8" r:id="rId3"/>
    <p:sldId id="263" r:id="rId4"/>
    <p:sldId id="503" r:id="rId5"/>
    <p:sldId id="504" r:id="rId6"/>
    <p:sldId id="257" r:id="rId7"/>
    <p:sldId id="505" r:id="rId8"/>
    <p:sldId id="259" r:id="rId9"/>
    <p:sldId id="260" r:id="rId10"/>
    <p:sldId id="261" r:id="rId11"/>
    <p:sldId id="262" r:id="rId12"/>
    <p:sldId id="506" r:id="rId13"/>
    <p:sldId id="264" r:id="rId14"/>
    <p:sldId id="265" r:id="rId15"/>
    <p:sldId id="507" r:id="rId16"/>
    <p:sldId id="281" r:id="rId1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IBM Plex Sans Arabic" panose="020B0604020202020204" charset="-78"/>
      <p:regular r:id="rId28"/>
      <p:bold r:id="rId29"/>
    </p:embeddedFont>
    <p:embeddedFont>
      <p:font typeface="IBM Plex Sans Arabic Medium" panose="020B0604020202020204" charset="-78"/>
      <p:regular r:id="rId30"/>
      <p:bold r:id="rId31"/>
    </p:embeddedFont>
    <p:embeddedFont>
      <p:font typeface="IBM Plex Sans Arabic SemiBold" panose="020B0604020202020204" charset="-78"/>
      <p:regular r:id="rId32"/>
      <p:bold r:id="rId33"/>
    </p:embeddedFont>
    <p:embeddedFont>
      <p:font typeface="Tajawal" panose="020B0604020202020204" charset="-78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45" y="258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58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2560320" cy="5015484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0" y="64008"/>
            <a:ext cx="0" cy="5015484"/>
          </a:xfrm>
          <a:prstGeom prst="line">
            <a:avLst/>
          </a:prstGeom>
          <a:noFill/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3200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384048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384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 &amp;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" y="4069080"/>
            <a:ext cx="1920240" cy="0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637794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35808" y="788670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35808" y="788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84448" y="72923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61688" y="784098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53128" y="63779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systems, files, extensions, file paths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1433322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35808" y="1584198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35808" y="1584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84448" y="152476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61688" y="1579626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53128" y="143332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 (cd, ls, mkdir, touch, rm)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222885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6243A"/>
          </a:solidFill>
          <a:ln w="22225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035808" y="2379726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35808" y="237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84448" y="232029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61688" y="2375154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53128" y="222885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fundamentals: repository, staging, commit, history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34640" y="3024378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35808" y="3175254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35808" y="31752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84448" y="311581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61688" y="3170682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53128" y="302437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clone, push, pull, remote repositories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34640" y="3819906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035808" y="3970782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35808" y="39707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84448" y="391134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61688" y="3966210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53128" y="381990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usage and debugging concepts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92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 ·  Programming Fundamentals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566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Session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412480" cy="1463040"/>
          </a:xfrm>
          <a:prstGeom prst="rect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109728" cy="146304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448056" y="2971800"/>
            <a:ext cx="1965960" cy="25603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784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7572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2" y="352044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9496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39496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repo is and how to initialize one with git init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542032" y="2971800"/>
            <a:ext cx="1965960" cy="256032"/>
          </a:xfrm>
          <a:prstGeom prst="rect">
            <a:avLst/>
          </a:prstGeom>
          <a:solidFill>
            <a:srgbClr val="4A8AF4"/>
          </a:solidFill>
          <a:ln w="127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65176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42032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41548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352044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633472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&amp; Commit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2633472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changes with git add and git commit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36008" y="2971800"/>
            <a:ext cx="1965960" cy="256032"/>
          </a:xfrm>
          <a:prstGeom prst="rect">
            <a:avLst/>
          </a:prstGeom>
          <a:solidFill>
            <a:srgbClr val="E08845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745736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36008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5335524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684" y="3520440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72744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727448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log and understanding the commit graph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729984" y="2971800"/>
            <a:ext cx="1965960" cy="256032"/>
          </a:xfrm>
          <a:prstGeom prst="rect">
            <a:avLst/>
          </a:prstGeom>
          <a:solidFill>
            <a:srgbClr val="9B7EDA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839712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729984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7429500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660" y="3520440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821424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821424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switching branches for parallel work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 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411480"/>
            <a:ext cx="109728" cy="109728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891540" y="891540"/>
            <a:ext cx="109728" cy="109728"/>
          </a:xfrm>
          <a:prstGeom prst="rect">
            <a:avLst/>
          </a:prstGeom>
          <a:solidFill>
            <a:srgbClr val="00E5CC">
              <a:alpha val="2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8572500" y="480060"/>
            <a:ext cx="109728" cy="109728"/>
          </a:xfrm>
          <a:prstGeom prst="rect">
            <a:avLst/>
          </a:prstGeom>
          <a:solidFill>
            <a:srgbClr val="F97316">
              <a:alpha val="3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8092440" y="1028700"/>
            <a:ext cx="109728" cy="109728"/>
          </a:xfrm>
          <a:prstGeom prst="rect">
            <a:avLst/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480060" y="4526280"/>
            <a:ext cx="109728" cy="109728"/>
          </a:xfrm>
          <a:prstGeom prst="rect">
            <a:avLst/>
          </a:prstGeom>
          <a:solidFill>
            <a:srgbClr val="00E5CC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1097280" y="4800600"/>
            <a:ext cx="109728" cy="109728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8572500" y="4526280"/>
            <a:ext cx="109728" cy="109728"/>
          </a:xfrm>
          <a:prstGeom prst="rect">
            <a:avLst/>
          </a:prstGeom>
          <a:solidFill>
            <a:srgbClr val="FBBF24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7955280" y="4800600"/>
            <a:ext cx="109728" cy="109728"/>
          </a:xfrm>
          <a:prstGeom prst="rect">
            <a:avLst/>
          </a:prstGeom>
          <a:solidFill>
            <a:srgbClr val="EC4899">
              <a:alpha val="2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617220" y="2606040"/>
            <a:ext cx="109728" cy="109728"/>
          </a:xfrm>
          <a:prstGeom prst="rect">
            <a:avLst/>
          </a:prstGeom>
          <a:solidFill>
            <a:srgbClr val="00E5CC">
              <a:alpha val="1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8435340" y="2400300"/>
            <a:ext cx="109728" cy="109728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WEEK 1  ·  SESSION 3  ·  DEVELOPER TOOLS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2900" y="1508760"/>
            <a:ext cx="1303020" cy="342900"/>
          </a:xfrm>
          <a:prstGeom prst="roundRect">
            <a:avLst>
              <a:gd name="adj" fmla="val 50000"/>
            </a:avLst>
          </a:prstGeom>
          <a:solidFill>
            <a:srgbClr val="0D0D1F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342900" y="1508760"/>
            <a:ext cx="1303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</a:t>
            </a:r>
            <a:r>
              <a:rPr lang="en-US" sz="105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" y="1988820"/>
            <a:ext cx="845591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&amp; GitHub</a:t>
            </a:r>
            <a:endParaRPr lang="en-US" sz="8250" dirty="0"/>
          </a:p>
        </p:txBody>
      </p:sp>
      <p:sp>
        <p:nvSpPr>
          <p:cNvPr id="18" name="Text 16"/>
          <p:cNvSpPr/>
          <p:nvPr/>
        </p:nvSpPr>
        <p:spPr>
          <a:xfrm>
            <a:off x="342900" y="2811780"/>
            <a:ext cx="8455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0" b="1" i="1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Basics</a:t>
            </a:r>
            <a:endParaRPr lang="en-US" sz="7500" dirty="0"/>
          </a:p>
        </p:txBody>
      </p:sp>
      <p:sp>
        <p:nvSpPr>
          <p:cNvPr id="19" name="Text 17"/>
          <p:cNvSpPr/>
          <p:nvPr/>
        </p:nvSpPr>
        <p:spPr>
          <a:xfrm>
            <a:off x="342900" y="3669030"/>
            <a:ext cx="845591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every change.  Collaborate fearlessly.  Never lose work again.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323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71323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CONTROL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266776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266776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COMMITS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462229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62229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BRANCHES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657682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7682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42900" y="483489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 </a:t>
            </a:r>
            <a:r>
              <a:rPr lang="en-US" sz="97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let's get started</a:t>
            </a:r>
            <a:r>
              <a:rPr lang="en-US" sz="97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▊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TODAY'S TOPICS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3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ideas.  One goal:  never lose code again.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106299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80060" y="144018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85466" y="141960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📚</a:t>
            </a:r>
          </a:p>
        </p:txBody>
      </p:sp>
      <p:sp>
        <p:nvSpPr>
          <p:cNvPr id="13" name="Text 11"/>
          <p:cNvSpPr/>
          <p:nvPr/>
        </p:nvSpPr>
        <p:spPr>
          <a:xfrm>
            <a:off x="480060" y="173507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80060" y="203682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 Git was built to solve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71266" y="133731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271266" y="1337310"/>
            <a:ext cx="54864" cy="106299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408426" y="144018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13832" y="141960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🔀</a:t>
            </a:r>
          </a:p>
        </p:txBody>
      </p:sp>
      <p:sp>
        <p:nvSpPr>
          <p:cNvPr id="19" name="Text 17"/>
          <p:cNvSpPr/>
          <p:nvPr/>
        </p:nvSpPr>
        <p:spPr>
          <a:xfrm>
            <a:off x="3408426" y="173507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3408426" y="203682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different things — people confuse them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99632" y="133731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6199632" y="1337310"/>
            <a:ext cx="54864" cy="106299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336792" y="144018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42198" y="141960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📸</a:t>
            </a:r>
          </a:p>
        </p:txBody>
      </p:sp>
      <p:sp>
        <p:nvSpPr>
          <p:cNvPr id="25" name="Text 23"/>
          <p:cNvSpPr/>
          <p:nvPr/>
        </p:nvSpPr>
        <p:spPr>
          <a:xfrm>
            <a:off x="6336792" y="173507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&amp; Snapshots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6336792" y="203682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Git tracks changes over time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2900" y="253746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342900" y="2537460"/>
            <a:ext cx="54864" cy="106299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80060" y="264033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85466" y="261975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🗂️</a:t>
            </a:r>
          </a:p>
        </p:txBody>
      </p:sp>
      <p:sp>
        <p:nvSpPr>
          <p:cNvPr id="31" name="Text 29"/>
          <p:cNvSpPr/>
          <p:nvPr/>
        </p:nvSpPr>
        <p:spPr>
          <a:xfrm>
            <a:off x="480060" y="293522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Areas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480060" y="323697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 →  Staging  →  Repository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71266" y="253746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3271266" y="2537460"/>
            <a:ext cx="54864" cy="106299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3408426" y="264033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13832" y="261975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🌿</a:t>
            </a:r>
          </a:p>
        </p:txBody>
      </p:sp>
      <p:sp>
        <p:nvSpPr>
          <p:cNvPr id="37" name="Text 35"/>
          <p:cNvSpPr/>
          <p:nvPr/>
        </p:nvSpPr>
        <p:spPr>
          <a:xfrm>
            <a:off x="3408426" y="293522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&amp; Merging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3408426" y="323697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universes for your code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99632" y="253746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6199632" y="2537460"/>
            <a:ext cx="54864" cy="106299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6336792" y="264033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42198" y="261975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☁️</a:t>
            </a:r>
          </a:p>
        </p:txBody>
      </p:sp>
      <p:sp>
        <p:nvSpPr>
          <p:cNvPr id="43" name="Text 41"/>
          <p:cNvSpPr/>
          <p:nvPr/>
        </p:nvSpPr>
        <p:spPr>
          <a:xfrm>
            <a:off x="6336792" y="293522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Remote: Push / Pull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6336792" y="323697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Clone, push, pull with GitHub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2900" y="459486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💡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the end of today: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you'll have a real repo on GitHub with your first commits pushed.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tool for version control — tracking every change you ever make to your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1A1040"/>
          </a:solidFill>
          <a:ln w="22860">
            <a:solidFill>
              <a:srgbClr val="57E3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</a:t>
            </a:r>
            <a:r>
              <a:rPr lang="en-US" sz="1300" b="1" dirty="0">
                <a:solidFill>
                  <a:srgbClr val="FFD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system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saves snapshots of your code over time, lets multiple people collaborate on the same project, and allows you to revert to any previous state — even weeks later.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011680" cy="2423160"/>
          </a:xfrm>
          <a:prstGeom prst="rect">
            <a:avLst/>
          </a:prstGeom>
          <a:solidFill>
            <a:srgbClr val="1A1040"/>
          </a:solidFill>
          <a:ln w="22860">
            <a:solidFill>
              <a:srgbClr val="57E3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377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is a snapshot. See exactly what changed, when, and who changed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2286000"/>
            <a:ext cx="2011680" cy="2423160"/>
          </a:xfrm>
          <a:prstGeom prst="rect">
            <a:avLst/>
          </a:prstGeom>
          <a:solidFill>
            <a:srgbClr val="1A1040"/>
          </a:solidFill>
          <a:ln w="22860">
            <a:solidFill>
              <a:srgbClr val="A380F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2377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321868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developers can work on the same project at the same time without overwriting each other.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2011680" cy="2423160"/>
          </a:xfrm>
          <a:prstGeom prst="rect">
            <a:avLst/>
          </a:prstGeom>
          <a:solidFill>
            <a:srgbClr val="1A1040"/>
          </a:solidFill>
          <a:ln w="22860">
            <a:solidFill>
              <a:srgbClr val="F4A664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9240" y="2377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21868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new features in isolation. Merge them back only when ready and tested.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2286000"/>
            <a:ext cx="2011680" cy="2423160"/>
          </a:xfrm>
          <a:prstGeom prst="rect">
            <a:avLst/>
          </a:prstGeom>
          <a:solidFill>
            <a:srgbClr val="1A1040"/>
          </a:solidFill>
          <a:ln w="22860">
            <a:solidFill>
              <a:srgbClr val="80D88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0" y="2377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↩️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037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0D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Anytime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321868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 mistake? Roll back to any previous snapshot instantly.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0D1020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concept:  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lives on your computer (local). GitHub is a website that stores your Git repositories online (remote). They work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VERSION CONTROL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3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Git Solves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Git, here's what developers actually did —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4114800" cy="32232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32232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14350" y="147447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❌  </a:t>
            </a:r>
            <a:r>
              <a:rPr lang="en-US" sz="975" b="1" spc="225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VERSION CONTROL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4350" y="1748790"/>
            <a:ext cx="38404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folder-of-copies workflow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82930" y="2125980"/>
            <a:ext cx="3634740" cy="260604"/>
          </a:xfrm>
          <a:prstGeom prst="rect">
            <a:avLst/>
          </a:prstGeom>
          <a:solidFill>
            <a:srgbClr val="2A1A22"/>
          </a:solidFill>
          <a:ln w="12700">
            <a:solidFill>
              <a:srgbClr val="4A2A32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685800" y="2125980"/>
            <a:ext cx="34975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project.docx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2930" y="2455164"/>
            <a:ext cx="3634740" cy="260604"/>
          </a:xfrm>
          <a:prstGeom prst="rect">
            <a:avLst/>
          </a:prstGeom>
          <a:solidFill>
            <a:srgbClr val="2A1A22"/>
          </a:solidFill>
          <a:ln w="12700">
            <a:solidFill>
              <a:srgbClr val="4A2A32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685800" y="2455164"/>
            <a:ext cx="34975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project_final.docx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2930" y="2784348"/>
            <a:ext cx="3634740" cy="260604"/>
          </a:xfrm>
          <a:prstGeom prst="rect">
            <a:avLst/>
          </a:prstGeom>
          <a:solidFill>
            <a:srgbClr val="2A1A22"/>
          </a:solidFill>
          <a:ln w="12700">
            <a:solidFill>
              <a:srgbClr val="4A2A32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85800" y="2784348"/>
            <a:ext cx="34975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project_final_v2.docx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2930" y="3113532"/>
            <a:ext cx="3634740" cy="260604"/>
          </a:xfrm>
          <a:prstGeom prst="rect">
            <a:avLst/>
          </a:prstGeom>
          <a:solidFill>
            <a:srgbClr val="2A1A22"/>
          </a:solidFill>
          <a:ln w="12700">
            <a:solidFill>
              <a:srgbClr val="4A2A32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685800" y="3113532"/>
            <a:ext cx="34975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project_final_REAL.docx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2930" y="3442716"/>
            <a:ext cx="3634740" cy="260604"/>
          </a:xfrm>
          <a:prstGeom prst="rect">
            <a:avLst/>
          </a:prstGeom>
          <a:solidFill>
            <a:srgbClr val="2A1A22"/>
          </a:solidFill>
          <a:ln w="12700">
            <a:solidFill>
              <a:srgbClr val="4A2A32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85800" y="3442716"/>
            <a:ext cx="34975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project_FINAL_FINAL.docx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2930" y="3771900"/>
            <a:ext cx="3634740" cy="260604"/>
          </a:xfrm>
          <a:prstGeom prst="rect">
            <a:avLst/>
          </a:prstGeom>
          <a:solidFill>
            <a:srgbClr val="2A1A22"/>
          </a:solidFill>
          <a:ln w="12700">
            <a:solidFill>
              <a:srgbClr val="4A2A32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85800" y="3771900"/>
            <a:ext cx="34975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project_USE_THIS_ONE.docx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4350" y="4114800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b="1" spc="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PAIN: </a:t>
            </a:r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is the latest?  What changed?  How do I undo?  What about teammates?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84014" y="1337310"/>
            <a:ext cx="4114800" cy="32232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684014" y="1337310"/>
            <a:ext cx="54864" cy="32232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855464" y="147447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✅  </a:t>
            </a:r>
            <a:r>
              <a:rPr lang="en-US" sz="975" b="1" spc="2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55464" y="1748790"/>
            <a:ext cx="38404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file — a timeline of every change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61204" y="2242566"/>
            <a:ext cx="0" cy="1508760"/>
          </a:xfrm>
          <a:prstGeom prst="line">
            <a:avLst/>
          </a:prstGeom>
          <a:noFill/>
          <a:ln w="12700">
            <a:solidFill>
              <a:srgbClr val="3A3A5A"/>
            </a:solidFill>
            <a:prstDash val="dash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4992624" y="2228850"/>
            <a:ext cx="150876" cy="150876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5266944" y="2160270"/>
            <a:ext cx="3429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a1f3e8b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final polish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4992624" y="2558034"/>
            <a:ext cx="150876" cy="150876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5266944" y="2489454"/>
            <a:ext cx="3429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c7d22a1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handle edge case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4992624" y="2887218"/>
            <a:ext cx="150876" cy="150876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5266944" y="2818638"/>
            <a:ext cx="3429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9e4b0c2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style: clean up headers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4992624" y="3216402"/>
            <a:ext cx="150876" cy="150876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5266944" y="3147822"/>
            <a:ext cx="3429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3a88f71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MVP works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4992624" y="3545586"/>
            <a:ext cx="150876" cy="150876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5266944" y="3477006"/>
            <a:ext cx="3429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d01c4ea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chore: initial commit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855464" y="4114800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b="1" spc="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WIN: </a:t>
            </a:r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version saved.  See what changed.  Undo anytime.  Work with a team.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42900" y="466344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is a </a:t>
            </a:r>
            <a:r>
              <a:rPr lang="en-US" sz="97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machine </a:t>
            </a:r>
            <a:r>
              <a:rPr lang="en-US" sz="9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your code — every commit is a savepoint you can return to.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CORE CONCEPT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3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vs  GitHub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 mix them up constantly.  They're two very different things.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4046220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325755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🔧</a:t>
            </a:r>
          </a:p>
        </p:txBody>
      </p:sp>
      <p:sp>
        <p:nvSpPr>
          <p:cNvPr id="12" name="Text 10"/>
          <p:cNvSpPr/>
          <p:nvPr/>
        </p:nvSpPr>
        <p:spPr>
          <a:xfrm>
            <a:off x="1097280" y="1508760"/>
            <a:ext cx="3086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5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097280" y="1920240"/>
            <a:ext cx="30861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software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29743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  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A command-line version control tool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Runs on your computer — offline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48640" y="291465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By Linus Torvalds in 2005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322326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IT 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In your terminal: git add, git commit…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353187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  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Free &amp; open-source software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4149090"/>
            <a:ext cx="3634740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630936" y="4149090"/>
            <a:ext cx="347014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"my change"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4313682" y="2777490"/>
            <a:ext cx="514350" cy="514350"/>
          </a:xfrm>
          <a:prstGeom prst="ellipse">
            <a:avLst/>
          </a:prstGeom>
          <a:solidFill>
            <a:srgbClr val="13132A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4313682" y="277749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4752594" y="1337310"/>
            <a:ext cx="4046220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752594" y="1337310"/>
            <a:ext cx="54864" cy="325755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958334" y="150876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☁️</a:t>
            </a:r>
          </a:p>
        </p:txBody>
      </p:sp>
      <p:sp>
        <p:nvSpPr>
          <p:cNvPr id="26" name="Text 24"/>
          <p:cNvSpPr/>
          <p:nvPr/>
        </p:nvSpPr>
        <p:spPr>
          <a:xfrm>
            <a:off x="5506974" y="1508760"/>
            <a:ext cx="3086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5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5506974" y="1920240"/>
            <a:ext cx="30861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website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58334" y="229743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  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A web platform that hosts Git repos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58334" y="260604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In the cloud — github.com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58334" y="291465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Founded in 2008 (owned by Microsoft)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58334" y="322326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IT 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In your browser — collaborate, review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58334" y="353187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  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Free tier + paid plans for teams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958334" y="4149090"/>
            <a:ext cx="3634740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5040630" y="4149090"/>
            <a:ext cx="347014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42900" y="466344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Analogy:  </a:t>
            </a:r>
            <a:r>
              <a:rPr lang="en-US" sz="9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is Microsoft Word.  GitHub is Google Drive.  </a:t>
            </a:r>
            <a:r>
              <a:rPr lang="en-US" sz="9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edits, one stores and shares.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GIT INTERNALS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3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Areas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file in Git lives in one of three places — understanding this makes Git click.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87477" y="1474470"/>
            <a:ext cx="2263140" cy="2331720"/>
          </a:xfrm>
          <a:prstGeom prst="rect">
            <a:avLst/>
          </a:prstGeom>
          <a:solidFill>
            <a:srgbClr val="13132A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558927" y="1611630"/>
            <a:ext cx="377190" cy="24003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58927" y="1611630"/>
            <a:ext cx="3771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3397" y="1577340"/>
            <a:ext cx="445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100" dirty="0"/>
              <a:t>📝</a:t>
            </a:r>
          </a:p>
        </p:txBody>
      </p:sp>
      <p:sp>
        <p:nvSpPr>
          <p:cNvPr id="13" name="Text 11"/>
          <p:cNvSpPr/>
          <p:nvPr/>
        </p:nvSpPr>
        <p:spPr>
          <a:xfrm>
            <a:off x="558927" y="1988820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5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58927" y="233172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58927" y="264033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edit.  The actual files you see in your editor right now.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58927" y="339471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0F22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58927" y="339471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</a:t>
            </a:r>
            <a:r>
              <a:rPr lang="en-US" sz="7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/ modified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39287" y="1474470"/>
            <a:ext cx="2263140" cy="2331720"/>
          </a:xfrm>
          <a:prstGeom prst="rect">
            <a:avLst/>
          </a:prstGeom>
          <a:solidFill>
            <a:srgbClr val="13132A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610737" y="1611630"/>
            <a:ext cx="377190" cy="24003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3610737" y="1611630"/>
            <a:ext cx="3771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85207" y="1577340"/>
            <a:ext cx="445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100" dirty="0"/>
              <a:t>📋</a:t>
            </a:r>
          </a:p>
        </p:txBody>
      </p:sp>
      <p:sp>
        <p:nvSpPr>
          <p:cNvPr id="22" name="Text 20"/>
          <p:cNvSpPr/>
          <p:nvPr/>
        </p:nvSpPr>
        <p:spPr>
          <a:xfrm>
            <a:off x="3610737" y="1988820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5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610737" y="233172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(INDEX)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10737" y="264033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holding zone.  Changes you've marked as ready to commit.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3610737" y="339471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0F22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3610737" y="339471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</a:t>
            </a:r>
            <a:r>
              <a:rPr lang="en-US" sz="7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91097" y="1474470"/>
            <a:ext cx="2263140" cy="2331720"/>
          </a:xfrm>
          <a:prstGeom prst="rect">
            <a:avLst/>
          </a:prstGeom>
          <a:solidFill>
            <a:srgbClr val="13132A"/>
          </a:solidFill>
          <a:ln w="254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6662547" y="1611630"/>
            <a:ext cx="377190" cy="24003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6662547" y="1611630"/>
            <a:ext cx="3771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7017" y="1577340"/>
            <a:ext cx="445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100" dirty="0"/>
              <a:t>🗄️</a:t>
            </a:r>
          </a:p>
        </p:txBody>
      </p:sp>
      <p:sp>
        <p:nvSpPr>
          <p:cNvPr id="31" name="Text 29"/>
          <p:cNvSpPr/>
          <p:nvPr/>
        </p:nvSpPr>
        <p:spPr>
          <a:xfrm>
            <a:off x="6662547" y="1988820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5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REPOSITORY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662547" y="233172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 FOLDER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662547" y="264033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permanent history.  Every commit you've ever made, saved forever.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6662547" y="339471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0F22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6662547" y="339471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</a:t>
            </a:r>
            <a:r>
              <a:rPr lang="en-US" sz="7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committed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19197" y="2640330"/>
            <a:ext cx="65151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3267837" y="2585466"/>
            <a:ext cx="102870" cy="5486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267837" y="2695194"/>
            <a:ext cx="10287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2650617" y="2352294"/>
            <a:ext cx="7886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975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5771007" y="2640330"/>
            <a:ext cx="651510" cy="0"/>
          </a:xfrm>
          <a:prstGeom prst="line">
            <a:avLst/>
          </a:prstGeom>
          <a:noFill/>
          <a:ln w="254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6319647" y="2585466"/>
            <a:ext cx="102870" cy="54864"/>
          </a:xfrm>
          <a:prstGeom prst="line">
            <a:avLst/>
          </a:prstGeom>
          <a:noFill/>
          <a:ln w="254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6319647" y="2695194"/>
            <a:ext cx="102870" cy="0"/>
          </a:xfrm>
          <a:prstGeom prst="line">
            <a:avLst/>
          </a:prstGeom>
          <a:noFill/>
          <a:ln w="254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3" name="Text 41"/>
          <p:cNvSpPr/>
          <p:nvPr/>
        </p:nvSpPr>
        <p:spPr>
          <a:xfrm>
            <a:off x="5702427" y="2352294"/>
            <a:ext cx="7886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97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342900" y="4011930"/>
            <a:ext cx="8455914" cy="58293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342900" y="4011930"/>
            <a:ext cx="8455914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  </a:t>
            </a:r>
            <a:r>
              <a:rPr lang="en-US" sz="825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825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file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825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825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GitHub ☁️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CHEAT SHEET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3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Git Commands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80/20 — twelve commands that cover 95% of your daily work.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084832" cy="3429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342900" y="1337310"/>
            <a:ext cx="2084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225" dirty="0">
                <a:solidFill>
                  <a:srgbClr val="0D0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342900" y="1680210"/>
            <a:ext cx="2084832" cy="298323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45770" y="181737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14350" y="181737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5770" y="219456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new Git repo here</a:t>
            </a:r>
            <a:endParaRPr lang="en-US" sz="713" dirty="0"/>
          </a:p>
        </p:txBody>
      </p:sp>
      <p:sp>
        <p:nvSpPr>
          <p:cNvPr id="15" name="Shape 13"/>
          <p:cNvSpPr/>
          <p:nvPr/>
        </p:nvSpPr>
        <p:spPr>
          <a:xfrm>
            <a:off x="445770" y="276606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14350" y="276606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45770" y="314325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 remote repo locally</a:t>
            </a:r>
            <a:endParaRPr lang="en-US" sz="713" dirty="0"/>
          </a:p>
        </p:txBody>
      </p:sp>
      <p:sp>
        <p:nvSpPr>
          <p:cNvPr id="18" name="Shape 16"/>
          <p:cNvSpPr/>
          <p:nvPr/>
        </p:nvSpPr>
        <p:spPr>
          <a:xfrm>
            <a:off x="445770" y="371475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514350" y="371475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5770" y="409194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your identity</a:t>
            </a:r>
            <a:endParaRPr lang="en-US" sz="713" dirty="0"/>
          </a:p>
        </p:txBody>
      </p:sp>
      <p:sp>
        <p:nvSpPr>
          <p:cNvPr id="21" name="Shape 19"/>
          <p:cNvSpPr/>
          <p:nvPr/>
        </p:nvSpPr>
        <p:spPr>
          <a:xfrm>
            <a:off x="2496312" y="1337310"/>
            <a:ext cx="2084832" cy="3429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2496312" y="1337310"/>
            <a:ext cx="2084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225" dirty="0">
                <a:solidFill>
                  <a:srgbClr val="0D0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 &amp; COMMITS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2496312" y="1680210"/>
            <a:ext cx="2084832" cy="298323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2599182" y="181737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2667762" y="181737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99182" y="219456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changed since last commit</a:t>
            </a:r>
            <a:endParaRPr lang="en-US" sz="713" dirty="0"/>
          </a:p>
        </p:txBody>
      </p:sp>
      <p:sp>
        <p:nvSpPr>
          <p:cNvPr id="27" name="Shape 25"/>
          <p:cNvSpPr/>
          <p:nvPr/>
        </p:nvSpPr>
        <p:spPr>
          <a:xfrm>
            <a:off x="2599182" y="276606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2667762" y="276606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99182" y="314325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a file for the next commit</a:t>
            </a:r>
            <a:endParaRPr lang="en-US" sz="713" dirty="0"/>
          </a:p>
        </p:txBody>
      </p:sp>
      <p:sp>
        <p:nvSpPr>
          <p:cNvPr id="30" name="Shape 28"/>
          <p:cNvSpPr/>
          <p:nvPr/>
        </p:nvSpPr>
        <p:spPr>
          <a:xfrm>
            <a:off x="2599182" y="371475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2667762" y="371475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99182" y="409194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staged changes with a message</a:t>
            </a:r>
            <a:endParaRPr lang="en-US" sz="713" dirty="0"/>
          </a:p>
        </p:txBody>
      </p:sp>
      <p:sp>
        <p:nvSpPr>
          <p:cNvPr id="33" name="Shape 31"/>
          <p:cNvSpPr/>
          <p:nvPr/>
        </p:nvSpPr>
        <p:spPr>
          <a:xfrm>
            <a:off x="4649724" y="1337310"/>
            <a:ext cx="2084832" cy="3429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649724" y="1337310"/>
            <a:ext cx="2084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225" dirty="0">
                <a:solidFill>
                  <a:srgbClr val="0D0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&amp; UNDO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4649724" y="1680210"/>
            <a:ext cx="2084832" cy="298323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4752594" y="181737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4821174" y="181737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52594" y="219456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every past commit, briefly</a:t>
            </a:r>
            <a:endParaRPr lang="en-US" sz="713" dirty="0"/>
          </a:p>
        </p:txBody>
      </p:sp>
      <p:sp>
        <p:nvSpPr>
          <p:cNvPr id="39" name="Shape 37"/>
          <p:cNvSpPr/>
          <p:nvPr/>
        </p:nvSpPr>
        <p:spPr>
          <a:xfrm>
            <a:off x="4752594" y="276606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4821174" y="276606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52594" y="314325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exactly what changed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4752594" y="371475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3" name="Text 41"/>
          <p:cNvSpPr/>
          <p:nvPr/>
        </p:nvSpPr>
        <p:spPr>
          <a:xfrm>
            <a:off x="4821174" y="371475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&lt;hash&gt;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52594" y="409194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back to a past commit</a:t>
            </a:r>
            <a:endParaRPr lang="en-US" sz="713" dirty="0"/>
          </a:p>
        </p:txBody>
      </p:sp>
      <p:sp>
        <p:nvSpPr>
          <p:cNvPr id="45" name="Shape 43"/>
          <p:cNvSpPr/>
          <p:nvPr/>
        </p:nvSpPr>
        <p:spPr>
          <a:xfrm>
            <a:off x="6803136" y="1337310"/>
            <a:ext cx="2084832" cy="34290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6803136" y="1337310"/>
            <a:ext cx="2084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225" dirty="0">
                <a:solidFill>
                  <a:srgbClr val="0D0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 (GITHUB)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6803136" y="1680210"/>
            <a:ext cx="2084832" cy="298323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Shape 46"/>
          <p:cNvSpPr/>
          <p:nvPr/>
        </p:nvSpPr>
        <p:spPr>
          <a:xfrm>
            <a:off x="6906006" y="181737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9" name="Text 47"/>
          <p:cNvSpPr/>
          <p:nvPr/>
        </p:nvSpPr>
        <p:spPr>
          <a:xfrm>
            <a:off x="6974586" y="181737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06006" y="219456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your commits to GitHub</a:t>
            </a:r>
            <a:endParaRPr lang="en-US" sz="713" dirty="0"/>
          </a:p>
        </p:txBody>
      </p:sp>
      <p:sp>
        <p:nvSpPr>
          <p:cNvPr id="51" name="Shape 49"/>
          <p:cNvSpPr/>
          <p:nvPr/>
        </p:nvSpPr>
        <p:spPr>
          <a:xfrm>
            <a:off x="6906006" y="276606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6974586" y="276606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906006" y="314325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teammates' commits</a:t>
            </a:r>
            <a:endParaRPr lang="en-US" sz="713" dirty="0"/>
          </a:p>
        </p:txBody>
      </p:sp>
      <p:sp>
        <p:nvSpPr>
          <p:cNvPr id="54" name="Shape 52"/>
          <p:cNvSpPr/>
          <p:nvPr/>
        </p:nvSpPr>
        <p:spPr>
          <a:xfrm>
            <a:off x="6906006" y="3714750"/>
            <a:ext cx="1879092" cy="34290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5" name="Text 53"/>
          <p:cNvSpPr/>
          <p:nvPr/>
        </p:nvSpPr>
        <p:spPr>
          <a:xfrm>
            <a:off x="6974586" y="371475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906006" y="4091940"/>
            <a:ext cx="18790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connected remote repos</a:t>
            </a:r>
            <a:endParaRPr lang="en-US" sz="713" dirty="0"/>
          </a:p>
        </p:txBody>
      </p:sp>
      <p:sp>
        <p:nvSpPr>
          <p:cNvPr id="57" name="Text 55"/>
          <p:cNvSpPr/>
          <p:nvPr/>
        </p:nvSpPr>
        <p:spPr>
          <a:xfrm>
            <a:off x="342900" y="476631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📘 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reference: </a:t>
            </a:r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git-scm.com/docs  ·  education.github.com/git-cheat-sheet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BRANCHING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3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&amp; Merging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timelines for your code.  Experiment freely — the main branch stays safe.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4937760" cy="31889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318897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14350" y="1440180"/>
            <a:ext cx="46634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BRANCH FLOW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85800" y="2434590"/>
            <a:ext cx="4320540" cy="0"/>
          </a:xfrm>
          <a:prstGeom prst="line">
            <a:avLst/>
          </a:prstGeom>
          <a:noFill/>
          <a:ln w="381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94860" y="2160270"/>
            <a:ext cx="617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726948" y="2338578"/>
            <a:ext cx="192024" cy="192024"/>
          </a:xfrm>
          <a:prstGeom prst="ellipse">
            <a:avLst/>
          </a:prstGeom>
          <a:solidFill>
            <a:srgbClr val="00E5CC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1481328" y="2338578"/>
            <a:ext cx="192024" cy="192024"/>
          </a:xfrm>
          <a:prstGeom prst="ellipse">
            <a:avLst/>
          </a:prstGeom>
          <a:solidFill>
            <a:srgbClr val="00E5CC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293108" y="2338578"/>
            <a:ext cx="192024" cy="192024"/>
          </a:xfrm>
          <a:prstGeom prst="ellipse">
            <a:avLst/>
          </a:prstGeom>
          <a:solidFill>
            <a:srgbClr val="00E5CC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1577340" y="2434590"/>
            <a:ext cx="754380" cy="109728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2331720" y="3531870"/>
            <a:ext cx="109728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429000" y="3531870"/>
            <a:ext cx="96012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2235708" y="3435858"/>
            <a:ext cx="192024" cy="192024"/>
          </a:xfrm>
          <a:prstGeom prst="ellipse">
            <a:avLst/>
          </a:prstGeom>
          <a:solidFill>
            <a:srgbClr val="A78BFA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332988" y="3435858"/>
            <a:ext cx="192024" cy="192024"/>
          </a:xfrm>
          <a:prstGeom prst="ellipse">
            <a:avLst/>
          </a:prstGeom>
          <a:solidFill>
            <a:srgbClr val="A78BFA"/>
          </a:solidFill>
          <a:ln w="25400">
            <a:solidFill>
              <a:srgbClr val="13132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85800" y="3257550"/>
            <a:ext cx="1234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feature/login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82930" y="2125980"/>
            <a:ext cx="480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1337310" y="2125980"/>
            <a:ext cx="480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149090" y="2125980"/>
            <a:ext cx="480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1954530" y="3669030"/>
            <a:ext cx="754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login-ui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051810" y="3669030"/>
            <a:ext cx="754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login-api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14350" y="4114800"/>
            <a:ext cx="4594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Story: </a:t>
            </a:r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off main to try something risky.  When it works, merge back.  If it breaks — throw the branch away, main is untouched.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5417820" y="1337310"/>
            <a:ext cx="3380994" cy="31889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5417820" y="1337310"/>
            <a:ext cx="54864" cy="318897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5589270" y="1440180"/>
            <a:ext cx="310667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BRANCH COMMANDS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5554980" y="1783080"/>
            <a:ext cx="3106674" cy="39776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623560" y="1803654"/>
            <a:ext cx="30380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623560" y="1988820"/>
            <a:ext cx="30380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all branches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5554980" y="2221992"/>
            <a:ext cx="3106674" cy="39776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5623560" y="2242566"/>
            <a:ext cx="30380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feature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23560" y="2427732"/>
            <a:ext cx="30380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new branch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5554980" y="2660904"/>
            <a:ext cx="3106674" cy="39776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5623560" y="2681478"/>
            <a:ext cx="30380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feature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623560" y="2866644"/>
            <a:ext cx="30380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to that branch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5554980" y="3099816"/>
            <a:ext cx="3106674" cy="39776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5623560" y="3120390"/>
            <a:ext cx="30380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623560" y="3305556"/>
            <a:ext cx="30380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+ switch in one step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5554980" y="3538728"/>
            <a:ext cx="3106674" cy="39776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5623560" y="3559302"/>
            <a:ext cx="30380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623560" y="3744468"/>
            <a:ext cx="30380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branch into current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5554980" y="3977640"/>
            <a:ext cx="3106674" cy="39776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5623560" y="3998214"/>
            <a:ext cx="30380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623560" y="4183380"/>
            <a:ext cx="303809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(when done)</a:t>
            </a:r>
            <a:endParaRPr lang="en-US" sz="675" dirty="0"/>
          </a:p>
        </p:txBody>
      </p:sp>
      <p:sp>
        <p:nvSpPr>
          <p:cNvPr id="50" name="Shape 48"/>
          <p:cNvSpPr/>
          <p:nvPr/>
        </p:nvSpPr>
        <p:spPr>
          <a:xfrm>
            <a:off x="342900" y="4697730"/>
            <a:ext cx="8455914" cy="27432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342900" y="4697730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RULE  </a:t>
            </a:r>
            <a:r>
              <a:rPr lang="en-US" sz="750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commit broken code to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 always branch first, then merge when it works.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REMOTE WORKFLOW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3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Clone · Push · Pull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your local repo talks to the cloud — and how teams collaborate.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80060" y="1337310"/>
            <a:ext cx="2743200" cy="157734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80060" y="1337310"/>
            <a:ext cx="54864" cy="157734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685800" y="154305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/>
              <a:t>💻</a:t>
            </a:r>
          </a:p>
        </p:txBody>
      </p:sp>
      <p:sp>
        <p:nvSpPr>
          <p:cNvPr id="12" name="Text 10"/>
          <p:cNvSpPr/>
          <p:nvPr/>
        </p:nvSpPr>
        <p:spPr>
          <a:xfrm>
            <a:off x="1165860" y="154305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LAPTOP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65860" y="178308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repo  ·  .git folder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20090" y="2125980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project/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20090" y="2290572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 index.html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20090" y="2455164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 app.js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20090" y="2619756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 .git/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18454" y="1337310"/>
            <a:ext cx="2743200" cy="157734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918454" y="1337310"/>
            <a:ext cx="54864" cy="15773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6124194" y="154305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/>
              <a:t>☁️</a:t>
            </a:r>
          </a:p>
        </p:txBody>
      </p:sp>
      <p:sp>
        <p:nvSpPr>
          <p:cNvPr id="21" name="Text 19"/>
          <p:cNvSpPr/>
          <p:nvPr/>
        </p:nvSpPr>
        <p:spPr>
          <a:xfrm>
            <a:off x="6604254" y="154305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2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04254" y="178308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 repo  ·  origin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58484" y="2125980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🌍  github.com/you/project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58484" y="2290572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 README.md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58484" y="2455164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🌿  main, develop, feature/…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58484" y="2619756"/>
            <a:ext cx="2400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👥  you, teammates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94710" y="1611630"/>
            <a:ext cx="2352294" cy="3429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394710" y="1611630"/>
            <a:ext cx="23522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spc="225" dirty="0">
                <a:solidFill>
                  <a:srgbClr val="0D0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git push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3394710" y="2023110"/>
            <a:ext cx="2352294" cy="3429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3394710" y="2023110"/>
            <a:ext cx="23522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spc="225" dirty="0">
                <a:solidFill>
                  <a:srgbClr val="0D0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  git pull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3394710" y="2434590"/>
            <a:ext cx="2352294" cy="3429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3394710" y="2434590"/>
            <a:ext cx="23522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spc="225" dirty="0">
                <a:solidFill>
                  <a:srgbClr val="0D0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  git clone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346329" y="3051810"/>
            <a:ext cx="2743200" cy="92583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346329" y="3051810"/>
            <a:ext cx="54864" cy="92583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483489" y="3134106"/>
            <a:ext cx="24688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3489" y="336042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time — copy a repo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3489" y="3545586"/>
            <a:ext cx="2468880" cy="24003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565785" y="3545586"/>
            <a:ext cx="2304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83489" y="3792474"/>
            <a:ext cx="2468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a full remote repo to your machine.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3199257" y="3051810"/>
            <a:ext cx="2743200" cy="92583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3199257" y="3051810"/>
            <a:ext cx="54864" cy="92583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3336417" y="3134106"/>
            <a:ext cx="24688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36417" y="336042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your commits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36417" y="3545586"/>
            <a:ext cx="2468880" cy="24003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3418713" y="3545586"/>
            <a:ext cx="2304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3336417" y="3792474"/>
            <a:ext cx="2468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your local commits up to GitHub.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6052185" y="3051810"/>
            <a:ext cx="2743200" cy="92583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Shape 46"/>
          <p:cNvSpPr/>
          <p:nvPr/>
        </p:nvSpPr>
        <p:spPr>
          <a:xfrm>
            <a:off x="6052185" y="3051810"/>
            <a:ext cx="54864" cy="92583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9" name="Text 47"/>
          <p:cNvSpPr/>
          <p:nvPr/>
        </p:nvSpPr>
        <p:spPr>
          <a:xfrm>
            <a:off x="6189345" y="3134106"/>
            <a:ext cx="24688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89345" y="336042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teammates' changes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89345" y="3545586"/>
            <a:ext cx="2468880" cy="24003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6271641" y="3545586"/>
            <a:ext cx="2304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6189345" y="3792474"/>
            <a:ext cx="2468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+ merge commits from GitHub.</a:t>
            </a:r>
            <a:endParaRPr lang="en-US" sz="675" dirty="0"/>
          </a:p>
        </p:txBody>
      </p:sp>
      <p:sp>
        <p:nvSpPr>
          <p:cNvPr id="54" name="Shape 52"/>
          <p:cNvSpPr/>
          <p:nvPr/>
        </p:nvSpPr>
        <p:spPr>
          <a:xfrm>
            <a:off x="342900" y="4114800"/>
            <a:ext cx="8455914" cy="68580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5" name="Text 53"/>
          <p:cNvSpPr/>
          <p:nvPr/>
        </p:nvSpPr>
        <p:spPr>
          <a:xfrm>
            <a:off x="445770" y="4169664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 GitHub superpowers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80060" y="4375404"/>
            <a:ext cx="1988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🔀  </a:t>
            </a:r>
            <a:r>
              <a:rPr lang="en-US" sz="825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0090" y="4526280"/>
            <a:ext cx="17487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&amp; merge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2523744" y="4375404"/>
            <a:ext cx="1988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🍴  </a:t>
            </a:r>
            <a:r>
              <a:rPr lang="en-US" sz="825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63774" y="4526280"/>
            <a:ext cx="17487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own copy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4567428" y="4375404"/>
            <a:ext cx="1988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🐛  </a:t>
            </a:r>
            <a:r>
              <a:rPr lang="en-US" sz="825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807458" y="4526280"/>
            <a:ext cx="17487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bugs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6611112" y="4375404"/>
            <a:ext cx="1988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🚀 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51142" y="4526280"/>
            <a:ext cx="17487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hosting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IT GOES WRONG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3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people edited the same line differently.  Git asks you to choose.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5143500" cy="260604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45770" y="141960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96646" y="141960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747522" y="141960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960120" y="1337310"/>
            <a:ext cx="257175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📄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400300" y="1337310"/>
            <a:ext cx="298323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on line 4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42900" y="1597914"/>
            <a:ext cx="5143500" cy="2996946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42900" y="1597914"/>
            <a:ext cx="308610" cy="2996946"/>
          </a:xfrm>
          <a:prstGeom prst="rect">
            <a:avLst/>
          </a:prstGeom>
          <a:solidFill>
            <a:srgbClr val="1A1A35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42900" y="168021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54380" y="168021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" y="192024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54380" y="192024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1510" y="2180844"/>
            <a:ext cx="4834890" cy="240030"/>
          </a:xfrm>
          <a:prstGeom prst="rect">
            <a:avLst/>
          </a:prstGeom>
          <a:solidFill>
            <a:srgbClr val="162E1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342900" y="216027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54380" y="216027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 HEAD  (your changes)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1510" y="2420874"/>
            <a:ext cx="4834890" cy="240030"/>
          </a:xfrm>
          <a:prstGeom prst="rect">
            <a:avLst/>
          </a:prstGeom>
          <a:solidFill>
            <a:srgbClr val="162E1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342900" y="240030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754380" y="240030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" y="264033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54380" y="264033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1510" y="2900934"/>
            <a:ext cx="4834890" cy="240030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342900" y="288036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54380" y="288036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1510" y="3140964"/>
            <a:ext cx="4834890" cy="240030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342900" y="312039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54380" y="312039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 56782736  (incoming)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" y="336042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754380" y="336042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" y="360045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754380" y="360045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" y="3840480"/>
            <a:ext cx="2537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754380" y="3840480"/>
            <a:ext cx="46291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89270" y="1337310"/>
            <a:ext cx="3209544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5589270" y="1337310"/>
            <a:ext cx="54864" cy="325755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3" name="Text 41"/>
          <p:cNvSpPr/>
          <p:nvPr/>
        </p:nvSpPr>
        <p:spPr>
          <a:xfrm>
            <a:off x="5760720" y="1440180"/>
            <a:ext cx="293522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🛠️  HOW TO RESOLVE</a:t>
            </a:r>
            <a:endParaRPr lang="en-US" sz="825" dirty="0"/>
          </a:p>
        </p:txBody>
      </p:sp>
      <p:sp>
        <p:nvSpPr>
          <p:cNvPr id="44" name="Shape 42"/>
          <p:cNvSpPr/>
          <p:nvPr/>
        </p:nvSpPr>
        <p:spPr>
          <a:xfrm>
            <a:off x="5760720" y="1783080"/>
            <a:ext cx="274320" cy="2743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57607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03620" y="1762506"/>
            <a:ext cx="259232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conflicted file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03620" y="2002536"/>
            <a:ext cx="25923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tells you which file — look for &lt;&lt;&lt;&lt;&lt;&lt;&lt; markers inside.</a:t>
            </a:r>
            <a:endParaRPr lang="en-US" sz="713" dirty="0"/>
          </a:p>
        </p:txBody>
      </p:sp>
      <p:sp>
        <p:nvSpPr>
          <p:cNvPr id="48" name="Shape 46"/>
          <p:cNvSpPr/>
          <p:nvPr/>
        </p:nvSpPr>
        <p:spPr>
          <a:xfrm>
            <a:off x="5760720" y="2455164"/>
            <a:ext cx="274320" cy="2743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9" name="Text 47"/>
          <p:cNvSpPr/>
          <p:nvPr/>
        </p:nvSpPr>
        <p:spPr>
          <a:xfrm>
            <a:off x="5760720" y="24551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03620" y="2434590"/>
            <a:ext cx="259232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keep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03620" y="2674620"/>
            <a:ext cx="25923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yours, theirs, both, or write a new version.</a:t>
            </a:r>
            <a:endParaRPr lang="en-US" sz="713" dirty="0"/>
          </a:p>
        </p:txBody>
      </p:sp>
      <p:sp>
        <p:nvSpPr>
          <p:cNvPr id="52" name="Shape 50"/>
          <p:cNvSpPr/>
          <p:nvPr/>
        </p:nvSpPr>
        <p:spPr>
          <a:xfrm>
            <a:off x="5760720" y="3127248"/>
            <a:ext cx="274320" cy="2743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3" name="Text 51"/>
          <p:cNvSpPr/>
          <p:nvPr/>
        </p:nvSpPr>
        <p:spPr>
          <a:xfrm>
            <a:off x="576072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103620" y="3106674"/>
            <a:ext cx="259232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marker lines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103620" y="3346704"/>
            <a:ext cx="25923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&lt;&lt;&lt;&lt;&lt;&lt;&lt;, =======, and &gt;&gt;&gt;&gt;&gt;&gt;&gt;</a:t>
            </a:r>
            <a:endParaRPr lang="en-US" sz="713" dirty="0"/>
          </a:p>
        </p:txBody>
      </p:sp>
      <p:sp>
        <p:nvSpPr>
          <p:cNvPr id="56" name="Shape 54"/>
          <p:cNvSpPr/>
          <p:nvPr/>
        </p:nvSpPr>
        <p:spPr>
          <a:xfrm>
            <a:off x="5760720" y="3799332"/>
            <a:ext cx="274320" cy="2743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7" name="Text 55"/>
          <p:cNvSpPr/>
          <p:nvPr/>
        </p:nvSpPr>
        <p:spPr>
          <a:xfrm>
            <a:off x="5760720" y="37993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103620" y="3778758"/>
            <a:ext cx="259232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+ commit the resolution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103620" y="4018788"/>
            <a:ext cx="25923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   then   git commit</a:t>
            </a:r>
            <a:endParaRPr lang="en-US" sz="713" dirty="0"/>
          </a:p>
        </p:txBody>
      </p:sp>
      <p:sp>
        <p:nvSpPr>
          <p:cNvPr id="60" name="Shape 58"/>
          <p:cNvSpPr/>
          <p:nvPr/>
        </p:nvSpPr>
        <p:spPr>
          <a:xfrm>
            <a:off x="342900" y="4697730"/>
            <a:ext cx="8455914" cy="27432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1" name="Text 59"/>
          <p:cNvSpPr/>
          <p:nvPr/>
        </p:nvSpPr>
        <p:spPr>
          <a:xfrm>
            <a:off x="342900" y="4697730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DON'T PANIC  </a:t>
            </a:r>
            <a:r>
              <a:rPr lang="en-US" sz="750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conflicts are normal — every developer hits them. 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 you exactly which files need your attention.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SUMMARY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3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Cheat Sheet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 from today in one place — screenshot this slide.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147447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80060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📦</a:t>
            </a:r>
          </a:p>
        </p:txBody>
      </p:sp>
      <p:sp>
        <p:nvSpPr>
          <p:cNvPr id="12" name="Text 10"/>
          <p:cNvSpPr/>
          <p:nvPr/>
        </p:nvSpPr>
        <p:spPr>
          <a:xfrm>
            <a:off x="891540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" y="183108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62356" y="183108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480060" y="213283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62356" y="213283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480060" y="243459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562356" y="243459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user.name "You"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3271266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3271266" y="1337310"/>
            <a:ext cx="54864" cy="147447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408426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📝</a:t>
            </a:r>
          </a:p>
        </p:txBody>
      </p:sp>
      <p:sp>
        <p:nvSpPr>
          <p:cNvPr id="22" name="Text 20"/>
          <p:cNvSpPr/>
          <p:nvPr/>
        </p:nvSpPr>
        <p:spPr>
          <a:xfrm>
            <a:off x="3819906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08426" y="183108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490722" y="183108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3408426" y="213283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3490722" y="213283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3408426" y="243459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490722" y="243459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199632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6199632" y="1337310"/>
            <a:ext cx="54864" cy="147447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336792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🔍</a:t>
            </a:r>
          </a:p>
        </p:txBody>
      </p:sp>
      <p:sp>
        <p:nvSpPr>
          <p:cNvPr id="32" name="Text 30"/>
          <p:cNvSpPr/>
          <p:nvPr/>
        </p:nvSpPr>
        <p:spPr>
          <a:xfrm>
            <a:off x="6748272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HISTORY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36792" y="183108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6419088" y="183108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336792" y="213283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6419088" y="213283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336792" y="243459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6419088" y="243459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&lt;hash&gt;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342900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342900" y="2948940"/>
            <a:ext cx="54864" cy="147447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480060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🌿</a:t>
            </a:r>
          </a:p>
        </p:txBody>
      </p:sp>
      <p:sp>
        <p:nvSpPr>
          <p:cNvPr id="42" name="Text 40"/>
          <p:cNvSpPr/>
          <p:nvPr/>
        </p:nvSpPr>
        <p:spPr>
          <a:xfrm>
            <a:off x="891540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0060" y="344271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562356" y="344271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480060" y="374446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562356" y="374446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480060" y="404622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562356" y="404622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3271266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3271266" y="2948940"/>
            <a:ext cx="54864" cy="147447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3408426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☁️</a:t>
            </a:r>
          </a:p>
        </p:txBody>
      </p:sp>
      <p:sp>
        <p:nvSpPr>
          <p:cNvPr id="52" name="Text 50"/>
          <p:cNvSpPr/>
          <p:nvPr/>
        </p:nvSpPr>
        <p:spPr>
          <a:xfrm>
            <a:off x="3819906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408426" y="344271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3490722" y="344271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3408426" y="374446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6" name="Text 54"/>
          <p:cNvSpPr/>
          <p:nvPr/>
        </p:nvSpPr>
        <p:spPr>
          <a:xfrm>
            <a:off x="3490722" y="374446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3408426" y="404622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3490722" y="404622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6199632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0" name="Shape 58"/>
          <p:cNvSpPr/>
          <p:nvPr/>
        </p:nvSpPr>
        <p:spPr>
          <a:xfrm>
            <a:off x="6199632" y="2948940"/>
            <a:ext cx="54864" cy="147447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1" name="Text 59"/>
          <p:cNvSpPr/>
          <p:nvPr/>
        </p:nvSpPr>
        <p:spPr>
          <a:xfrm>
            <a:off x="6336792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⏪</a:t>
            </a:r>
          </a:p>
        </p:txBody>
      </p:sp>
      <p:sp>
        <p:nvSpPr>
          <p:cNvPr id="62" name="Text 60"/>
          <p:cNvSpPr/>
          <p:nvPr/>
        </p:nvSpPr>
        <p:spPr>
          <a:xfrm>
            <a:off x="6748272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336792" y="344271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4" name="Text 62"/>
          <p:cNvSpPr/>
          <p:nvPr/>
        </p:nvSpPr>
        <p:spPr>
          <a:xfrm>
            <a:off x="6419088" y="344271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&lt;file&gt;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6336792" y="374446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64"/>
          <p:cNvSpPr/>
          <p:nvPr/>
        </p:nvSpPr>
        <p:spPr>
          <a:xfrm>
            <a:off x="6419088" y="374446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HEAD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6336792" y="404622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6"/>
          <p:cNvSpPr/>
          <p:nvPr/>
        </p:nvSpPr>
        <p:spPr>
          <a:xfrm>
            <a:off x="6419088" y="404622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&lt;hash&gt;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342900" y="4560570"/>
            <a:ext cx="8455914" cy="411480"/>
          </a:xfrm>
          <a:prstGeom prst="rect">
            <a:avLst/>
          </a:prstGeom>
          <a:solidFill>
            <a:srgbClr val="13132A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0" name="Text 68"/>
          <p:cNvSpPr/>
          <p:nvPr/>
        </p:nvSpPr>
        <p:spPr>
          <a:xfrm>
            <a:off x="342900" y="456057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0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"Commit early.  Commit often.  Push when it works."</a:t>
            </a:r>
            <a:r>
              <a:rPr lang="en-US" sz="10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▊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81CF6B-0C8F-78AA-4517-783FCBE4A76C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C8DB1F-6590-61B2-FBDD-2CAFBA94B526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7E6AE0-A710-B881-3997-4BADFABF0018}"/>
              </a:ext>
            </a:extLst>
          </p:cNvPr>
          <p:cNvSpPr/>
          <p:nvPr/>
        </p:nvSpPr>
        <p:spPr>
          <a:xfrm>
            <a:off x="-137160" y="182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12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9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DE3984-F7D0-5A64-4AB1-1BC6219D1056}"/>
              </a:ext>
            </a:extLst>
          </p:cNvPr>
          <p:cNvSpPr/>
          <p:nvPr/>
        </p:nvSpPr>
        <p:spPr>
          <a:xfrm>
            <a:off x="7406640" y="39090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2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8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B4CC2D-C21A-3E86-AA3D-59AB9671B5F0}"/>
              </a:ext>
            </a:extLst>
          </p:cNvPr>
          <p:cNvSpPr/>
          <p:nvPr/>
        </p:nvSpPr>
        <p:spPr>
          <a:xfrm>
            <a:off x="502920" y="640080"/>
            <a:ext cx="164592" cy="16459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1A4B4D-212D-F4DA-F7B7-7F51B3B00810}"/>
              </a:ext>
            </a:extLst>
          </p:cNvPr>
          <p:cNvSpPr/>
          <p:nvPr/>
        </p:nvSpPr>
        <p:spPr>
          <a:xfrm>
            <a:off x="731520" y="621792"/>
            <a:ext cx="731520" cy="201168"/>
          </a:xfrm>
          <a:prstGeom prst="roundRect">
            <a:avLst>
              <a:gd name="adj" fmla="val 45455"/>
            </a:avLst>
          </a:prstGeom>
          <a:solidFill>
            <a:srgbClr val="2A1420"/>
          </a:solidFill>
          <a:ln w="12700">
            <a:solidFill>
              <a:srgbClr val="FF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0E2947-9E73-4586-E680-8EFDC2FF5F56}"/>
              </a:ext>
            </a:extLst>
          </p:cNvPr>
          <p:cNvSpPr/>
          <p:nvPr/>
        </p:nvSpPr>
        <p:spPr>
          <a:xfrm>
            <a:off x="731520" y="621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815FF3B-38C7-36E4-E48E-66C0F4C8E25A}"/>
              </a:ext>
            </a:extLst>
          </p:cNvPr>
          <p:cNvSpPr/>
          <p:nvPr/>
        </p:nvSpPr>
        <p:spPr>
          <a:xfrm>
            <a:off x="457200" y="960120"/>
            <a:ext cx="4974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r>
              <a:rPr lang="en-US" sz="48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.time</a:t>
            </a: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4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2880819-2E83-4A2A-94B4-899CFC338A2B}"/>
              </a:ext>
            </a:extLst>
          </p:cNvPr>
          <p:cNvSpPr/>
          <p:nvPr/>
        </p:nvSpPr>
        <p:spPr>
          <a:xfrm>
            <a:off x="50292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2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together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9F86E67-57BD-F8F6-F150-8D3556900B51}"/>
              </a:ext>
            </a:extLst>
          </p:cNvPr>
          <p:cNvSpPr/>
          <p:nvPr/>
        </p:nvSpPr>
        <p:spPr>
          <a:xfrm>
            <a:off x="457200" y="411480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32CC0D4-B7B0-64F0-E639-4DF6E0F2DCAD}"/>
              </a:ext>
            </a:extLst>
          </p:cNvPr>
          <p:cNvSpPr/>
          <p:nvPr/>
        </p:nvSpPr>
        <p:spPr>
          <a:xfrm>
            <a:off x="566928" y="4233672"/>
            <a:ext cx="109728" cy="10972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8247EF9-7F1A-407E-02DD-C799A5F0AB9A}"/>
              </a:ext>
            </a:extLst>
          </p:cNvPr>
          <p:cNvSpPr/>
          <p:nvPr/>
        </p:nvSpPr>
        <p:spPr>
          <a:xfrm>
            <a:off x="713232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EDC7E0E-5B84-2981-579C-98D9134D200F}"/>
              </a:ext>
            </a:extLst>
          </p:cNvPr>
          <p:cNvSpPr/>
          <p:nvPr/>
        </p:nvSpPr>
        <p:spPr>
          <a:xfrm>
            <a:off x="1920240" y="411480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3FE4812-DA14-7DC7-E587-E0EB6CC4AB0D}"/>
              </a:ext>
            </a:extLst>
          </p:cNvPr>
          <p:cNvSpPr/>
          <p:nvPr/>
        </p:nvSpPr>
        <p:spPr>
          <a:xfrm>
            <a:off x="2029968" y="4233672"/>
            <a:ext cx="109728" cy="109728"/>
          </a:xfrm>
          <a:prstGeom prst="ellipse">
            <a:avLst/>
          </a:prstGeom>
          <a:solidFill>
            <a:srgbClr val="9B7EDA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1CEF4E-48FD-41EA-05CE-CA9BC58C0206}"/>
              </a:ext>
            </a:extLst>
          </p:cNvPr>
          <p:cNvSpPr/>
          <p:nvPr/>
        </p:nvSpPr>
        <p:spPr>
          <a:xfrm>
            <a:off x="2176272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888D790-7A2C-9CD9-7C18-8AAD0DA0AFD4}"/>
              </a:ext>
            </a:extLst>
          </p:cNvPr>
          <p:cNvSpPr/>
          <p:nvPr/>
        </p:nvSpPr>
        <p:spPr>
          <a:xfrm>
            <a:off x="3383280" y="411480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B370197-8921-08C4-C89C-F1F35FC0200B}"/>
              </a:ext>
            </a:extLst>
          </p:cNvPr>
          <p:cNvSpPr/>
          <p:nvPr/>
        </p:nvSpPr>
        <p:spPr>
          <a:xfrm>
            <a:off x="3493008" y="4233672"/>
            <a:ext cx="109728" cy="109728"/>
          </a:xfrm>
          <a:prstGeom prst="ellipse">
            <a:avLst/>
          </a:prstGeom>
          <a:solidFill>
            <a:srgbClr val="E08845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E7A5AA-14FE-1227-0A86-C5FF9C24B1BB}"/>
              </a:ext>
            </a:extLst>
          </p:cNvPr>
          <p:cNvSpPr/>
          <p:nvPr/>
        </p:nvSpPr>
        <p:spPr>
          <a:xfrm>
            <a:off x="3639312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9956546-9357-440B-DCEA-4457AD632C31}"/>
              </a:ext>
            </a:extLst>
          </p:cNvPr>
          <p:cNvSpPr/>
          <p:nvPr/>
        </p:nvSpPr>
        <p:spPr>
          <a:xfrm>
            <a:off x="5120640" y="868680"/>
            <a:ext cx="3749040" cy="3520440"/>
          </a:xfrm>
          <a:prstGeom prst="roundRect">
            <a:avLst>
              <a:gd name="adj" fmla="val 1558"/>
            </a:avLst>
          </a:prstGeom>
          <a:solidFill>
            <a:srgbClr val="12121F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C330445-7D1C-6699-4B59-4631E44E7B98}"/>
              </a:ext>
            </a:extLst>
          </p:cNvPr>
          <p:cNvSpPr/>
          <p:nvPr/>
        </p:nvSpPr>
        <p:spPr>
          <a:xfrm>
            <a:off x="5120640" y="86868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70D7A61-F6C7-0881-E639-AA7133C2D408}"/>
              </a:ext>
            </a:extLst>
          </p:cNvPr>
          <p:cNvSpPr/>
          <p:nvPr/>
        </p:nvSpPr>
        <p:spPr>
          <a:xfrm>
            <a:off x="5120640" y="1097280"/>
            <a:ext cx="3749040" cy="15544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D2350BB-4174-7220-B770-4C3477FD0724}"/>
              </a:ext>
            </a:extLst>
          </p:cNvPr>
          <p:cNvSpPr/>
          <p:nvPr/>
        </p:nvSpPr>
        <p:spPr>
          <a:xfrm>
            <a:off x="5248656" y="987552"/>
            <a:ext cx="164592" cy="16459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CA91B70-1C6A-9B1A-EC80-3D22F54A3B98}"/>
              </a:ext>
            </a:extLst>
          </p:cNvPr>
          <p:cNvSpPr/>
          <p:nvPr/>
        </p:nvSpPr>
        <p:spPr>
          <a:xfrm>
            <a:off x="5468112" y="987552"/>
            <a:ext cx="164592" cy="16459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950776C-73D2-2B3F-D706-1F8D23D561C5}"/>
              </a:ext>
            </a:extLst>
          </p:cNvPr>
          <p:cNvSpPr/>
          <p:nvPr/>
        </p:nvSpPr>
        <p:spPr>
          <a:xfrm>
            <a:off x="5687568" y="987552"/>
            <a:ext cx="164592" cy="16459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81CE8BC-F260-9C57-B7DF-7DA6DF52FDF2}"/>
              </a:ext>
            </a:extLst>
          </p:cNvPr>
          <p:cNvSpPr/>
          <p:nvPr/>
        </p:nvSpPr>
        <p:spPr>
          <a:xfrm>
            <a:off x="6217920" y="914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demo.py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24F6AE1-D6A6-A907-ED31-8191383D5C04}"/>
              </a:ext>
            </a:extLst>
          </p:cNvPr>
          <p:cNvSpPr/>
          <p:nvPr/>
        </p:nvSpPr>
        <p:spPr>
          <a:xfrm>
            <a:off x="5120640" y="1252728"/>
            <a:ext cx="3749040" cy="0"/>
          </a:xfrm>
          <a:prstGeom prst="line">
            <a:avLst/>
          </a:prstGeom>
          <a:noFill/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D7FB93A-7055-7996-51C0-734D911471EE}"/>
              </a:ext>
            </a:extLst>
          </p:cNvPr>
          <p:cNvSpPr/>
          <p:nvPr/>
        </p:nvSpPr>
        <p:spPr>
          <a:xfrm>
            <a:off x="5193792" y="14173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C1075A2-363D-B02B-5A69-818BA25D9A9B}"/>
              </a:ext>
            </a:extLst>
          </p:cNvPr>
          <p:cNvSpPr/>
          <p:nvPr/>
        </p:nvSpPr>
        <p:spPr>
          <a:xfrm>
            <a:off x="5532120" y="14173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Welcome, future developer!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BBFE4DA-4548-B9BF-0308-99E5188717D7}"/>
              </a:ext>
            </a:extLst>
          </p:cNvPr>
          <p:cNvSpPr/>
          <p:nvPr/>
        </p:nvSpPr>
        <p:spPr>
          <a:xfrm>
            <a:off x="5193792" y="167335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B01B5A0-3231-C5DA-D11E-4E6E138FE83F}"/>
              </a:ext>
            </a:extLst>
          </p:cNvPr>
          <p:cNvSpPr/>
          <p:nvPr/>
        </p:nvSpPr>
        <p:spPr>
          <a:xfrm>
            <a:off x="5532120" y="16733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start_demo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B985A8E-92C1-1FA6-C251-574AA8BA3A88}"/>
              </a:ext>
            </a:extLst>
          </p:cNvPr>
          <p:cNvSpPr/>
          <p:nvPr/>
        </p:nvSpPr>
        <p:spPr>
          <a:xfrm>
            <a:off x="5193792" y="192938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DEA1953-5C50-3DDE-5BA4-445AED10A12C}"/>
              </a:ext>
            </a:extLst>
          </p:cNvPr>
          <p:cNvSpPr/>
          <p:nvPr/>
        </p:nvSpPr>
        <p:spPr>
          <a:xfrm>
            <a:off x="5532120" y="19293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skills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</a:t>
            </a: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"learn"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"win"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57193CE-7FEC-8341-3565-E6A4FF307383}"/>
              </a:ext>
            </a:extLst>
          </p:cNvPr>
          <p:cNvSpPr/>
          <p:nvPr/>
        </p:nvSpPr>
        <p:spPr>
          <a:xfrm>
            <a:off x="5193792" y="218541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229E56B-59C0-DDBB-54A0-B15C51C40723}"/>
              </a:ext>
            </a:extLst>
          </p:cNvPr>
          <p:cNvSpPr/>
          <p:nvPr/>
        </p:nvSpPr>
        <p:spPr>
          <a:xfrm>
            <a:off x="5532120" y="21854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1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</a:t>
            </a:r>
            <a:r>
              <a:rPr lang="en-US" sz="110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skills: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7B9ACF2-7A3F-95A6-7F89-2C684F1260C8}"/>
              </a:ext>
            </a:extLst>
          </p:cNvPr>
          <p:cNvSpPr/>
          <p:nvPr/>
        </p:nvSpPr>
        <p:spPr>
          <a:xfrm>
            <a:off x="5193792" y="244144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FE386C6-D810-910F-AC4C-9ABBCF5A0E03}"/>
              </a:ext>
            </a:extLst>
          </p:cNvPr>
          <p:cNvSpPr/>
          <p:nvPr/>
        </p:nvSpPr>
        <p:spPr>
          <a:xfrm>
            <a:off x="5532120" y="24414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f"let's </a:t>
            </a:r>
            <a:r>
              <a:rPr lang="en-US" sz="11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{step}</a:t>
            </a: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0C655EB-C16C-3546-A1B4-2A331101CFC2}"/>
              </a:ext>
            </a:extLst>
          </p:cNvPr>
          <p:cNvSpPr/>
          <p:nvPr/>
        </p:nvSpPr>
        <p:spPr>
          <a:xfrm>
            <a:off x="5193792" y="269748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D072B2C-E08F-7668-317D-811F5A36BA78}"/>
              </a:ext>
            </a:extLst>
          </p:cNvPr>
          <p:cNvSpPr/>
          <p:nvPr/>
        </p:nvSpPr>
        <p:spPr>
          <a:xfrm>
            <a:off x="5532120" y="2697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3357DA9-FAE0-C313-AEE1-4E1366F4A3B4}"/>
              </a:ext>
            </a:extLst>
          </p:cNvPr>
          <p:cNvSpPr/>
          <p:nvPr/>
        </p:nvSpPr>
        <p:spPr>
          <a:xfrm>
            <a:off x="5193792" y="295351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3F50615-7D93-23BD-459F-BC7C3E674D58}"/>
              </a:ext>
            </a:extLst>
          </p:cNvPr>
          <p:cNvSpPr/>
          <p:nvPr/>
        </p:nvSpPr>
        <p:spPr>
          <a:xfrm>
            <a:off x="5532120" y="29535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start_demo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▶ running...</a:t>
            </a:r>
            <a:endParaRPr lang="en-US" sz="11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8EA0FA6-2EDB-19CC-014C-EA10D5CDECC7}"/>
              </a:ext>
            </a:extLst>
          </p:cNvPr>
          <p:cNvSpPr/>
          <p:nvPr/>
        </p:nvSpPr>
        <p:spPr>
          <a:xfrm>
            <a:off x="5212080" y="3886200"/>
            <a:ext cx="3566160" cy="0"/>
          </a:xfrm>
          <a:prstGeom prst="line">
            <a:avLst/>
          </a:prstGeom>
          <a:noFill/>
          <a:ln w="635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47C10C6-45A4-AFDF-9FA9-33F5A3577A13}"/>
              </a:ext>
            </a:extLst>
          </p:cNvPr>
          <p:cNvSpPr/>
          <p:nvPr/>
        </p:nvSpPr>
        <p:spPr>
          <a:xfrm>
            <a:off x="525780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when you are </a:t>
            </a: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▮</a:t>
            </a:r>
            <a:endParaRPr lang="en-US" sz="11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04ED8ECA-DD94-31A8-2694-304FAC35B0F1}"/>
              </a:ext>
            </a:extLst>
          </p:cNvPr>
          <p:cNvSpPr/>
          <p:nvPr/>
        </p:nvSpPr>
        <p:spPr>
          <a:xfrm>
            <a:off x="2788920" y="4668012"/>
            <a:ext cx="256032" cy="256032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91CDC37-0C38-DF94-D9A5-41D0C13DA8DB}"/>
              </a:ext>
            </a:extLst>
          </p:cNvPr>
          <p:cNvSpPr/>
          <p:nvPr/>
        </p:nvSpPr>
        <p:spPr>
          <a:xfrm>
            <a:off x="2788920" y="46680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9624904-BD3F-1F7F-38F4-F2C8F2699A62}"/>
              </a:ext>
            </a:extLst>
          </p:cNvPr>
          <p:cNvSpPr/>
          <p:nvPr/>
        </p:nvSpPr>
        <p:spPr>
          <a:xfrm>
            <a:off x="3154680" y="46680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Try · Ask questions anytime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46696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31132</TotalTime>
  <Words>1880</Words>
  <Application>Microsoft Office PowerPoint</Application>
  <PresentationFormat>On-screen Show (16:9)</PresentationFormat>
  <Paragraphs>403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Tajawal</vt:lpstr>
      <vt:lpstr>Calibri</vt:lpstr>
      <vt:lpstr>IBM Plex Sans Arabic</vt:lpstr>
      <vt:lpstr>Georgia</vt:lpstr>
      <vt:lpstr>IBM Plex Sans Arabic Medium</vt:lpstr>
      <vt:lpstr>Consolas</vt:lpstr>
      <vt:lpstr>Arial</vt:lpstr>
      <vt:lpstr>Arial Black</vt:lpstr>
      <vt:lpstr>IBM Plex Sans Arabic SemiBold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258</cp:revision>
  <dcterms:modified xsi:type="dcterms:W3CDTF">2026-04-17T14:33:03Z</dcterms:modified>
</cp:coreProperties>
</file>