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541" r:id="rId3"/>
    <p:sldId id="542" r:id="rId4"/>
    <p:sldId id="258" r:id="rId5"/>
    <p:sldId id="519" r:id="rId6"/>
    <p:sldId id="257" r:id="rId7"/>
    <p:sldId id="509" r:id="rId8"/>
    <p:sldId id="502" r:id="rId9"/>
    <p:sldId id="521" r:id="rId10"/>
    <p:sldId id="508" r:id="rId11"/>
    <p:sldId id="520" r:id="rId12"/>
    <p:sldId id="531" r:id="rId13"/>
    <p:sldId id="522" r:id="rId14"/>
    <p:sldId id="528" r:id="rId15"/>
    <p:sldId id="281" r:id="rId16"/>
  </p:sldIdLst>
  <p:sldSz cx="9144000" cy="5143500" type="screen16x9"/>
  <p:notesSz cx="6858000" cy="9144000"/>
  <p:embeddedFontLst>
    <p:embeddedFont>
      <p:font typeface="Consolas" panose="020B0609020204030204" pitchFamily="49" charset="0"/>
      <p:regular r:id="rId18"/>
      <p:bold r:id="rId19"/>
      <p:italic r:id="rId20"/>
      <p:boldItalic r:id="rId21"/>
    </p:embeddedFont>
    <p:embeddedFont>
      <p:font typeface="IBM Plex Sans Arabic" panose="020B0604020202020204" charset="-78"/>
      <p:regular r:id="rId22"/>
      <p:bold r:id="rId23"/>
    </p:embeddedFont>
    <p:embeddedFont>
      <p:font typeface="IBM Plex Sans Arabic Medium" panose="020B0604020202020204" charset="-78"/>
      <p:regular r:id="rId24"/>
      <p:bold r:id="rId25"/>
    </p:embeddedFont>
    <p:embeddedFont>
      <p:font typeface="IBM Plex Sans Arabic SemiBold" panose="020B0604020202020204" charset="-78"/>
      <p:regular r:id="rId26"/>
      <p:bold r:id="rId27"/>
    </p:embeddedFont>
    <p:embeddedFont>
      <p:font typeface="Tajawal" panose="020B0604020202020204" charset="-78"/>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2E0367-EB9C-4807-88CA-1A682D9BA7E9}">
  <a:tblStyle styleId="{922E0367-EB9C-4807-88CA-1A682D9BA7E9}"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393" y="45"/>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a09276e83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01729062-C001-1BC3-21F3-013B25C79AB2}"/>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A4925C8B-74A4-6D0E-A1F6-3ED5AFE791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40070772-E495-65C8-BB68-C028467C22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7672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5C67915C-273D-DB22-68F9-4062B5581949}"/>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706FDF88-2753-8D55-AD1A-6D580D9CEA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B56EB0F5-1310-85DC-E000-8F4BA8E56A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02639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65ACD813-A344-EA14-2585-22D87E60A06E}"/>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9AE6DE2A-13CA-F834-C6C6-D9FFB6543A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56AAAFB3-7192-6462-847D-721D6FC67F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57988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a09276e835_1_9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a09276e835_1_9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300"/>
              <a:buFont typeface="Tajawal"/>
              <a:buNone/>
              <a:defRPr sz="4300" b="1">
                <a:latin typeface="Tajawal"/>
                <a:ea typeface="Tajawal"/>
                <a:cs typeface="Tajawal"/>
                <a:sym typeface="Tajawal"/>
              </a:defRPr>
            </a:lvl1pPr>
            <a:lvl2pPr lvl="1" algn="ctr">
              <a:spcBef>
                <a:spcPts val="0"/>
              </a:spcBef>
              <a:spcAft>
                <a:spcPts val="0"/>
              </a:spcAft>
              <a:buSzPts val="4900"/>
              <a:buFont typeface="Tajawal"/>
              <a:buNone/>
              <a:defRPr sz="4900">
                <a:latin typeface="Tajawal"/>
                <a:ea typeface="Tajawal"/>
                <a:cs typeface="Tajawal"/>
                <a:sym typeface="Tajawal"/>
              </a:defRPr>
            </a:lvl2pPr>
            <a:lvl3pPr lvl="2" algn="ctr">
              <a:spcBef>
                <a:spcPts val="0"/>
              </a:spcBef>
              <a:spcAft>
                <a:spcPts val="0"/>
              </a:spcAft>
              <a:buSzPts val="4900"/>
              <a:buFont typeface="Tajawal"/>
              <a:buNone/>
              <a:defRPr sz="4900">
                <a:latin typeface="Tajawal"/>
                <a:ea typeface="Tajawal"/>
                <a:cs typeface="Tajawal"/>
                <a:sym typeface="Tajawal"/>
              </a:defRPr>
            </a:lvl3pPr>
            <a:lvl4pPr lvl="3" algn="ctr">
              <a:spcBef>
                <a:spcPts val="0"/>
              </a:spcBef>
              <a:spcAft>
                <a:spcPts val="0"/>
              </a:spcAft>
              <a:buSzPts val="4900"/>
              <a:buFont typeface="Tajawal"/>
              <a:buNone/>
              <a:defRPr sz="4900">
                <a:latin typeface="Tajawal"/>
                <a:ea typeface="Tajawal"/>
                <a:cs typeface="Tajawal"/>
                <a:sym typeface="Tajawal"/>
              </a:defRPr>
            </a:lvl4pPr>
            <a:lvl5pPr lvl="4" algn="ctr">
              <a:spcBef>
                <a:spcPts val="0"/>
              </a:spcBef>
              <a:spcAft>
                <a:spcPts val="0"/>
              </a:spcAft>
              <a:buSzPts val="4900"/>
              <a:buFont typeface="Tajawal"/>
              <a:buNone/>
              <a:defRPr sz="4900">
                <a:latin typeface="Tajawal"/>
                <a:ea typeface="Tajawal"/>
                <a:cs typeface="Tajawal"/>
                <a:sym typeface="Tajawal"/>
              </a:defRPr>
            </a:lvl5pPr>
            <a:lvl6pPr lvl="5" algn="ctr">
              <a:spcBef>
                <a:spcPts val="0"/>
              </a:spcBef>
              <a:spcAft>
                <a:spcPts val="0"/>
              </a:spcAft>
              <a:buSzPts val="4900"/>
              <a:buFont typeface="Tajawal"/>
              <a:buNone/>
              <a:defRPr sz="4900">
                <a:latin typeface="Tajawal"/>
                <a:ea typeface="Tajawal"/>
                <a:cs typeface="Tajawal"/>
                <a:sym typeface="Tajawal"/>
              </a:defRPr>
            </a:lvl6pPr>
            <a:lvl7pPr lvl="6" algn="ctr">
              <a:spcBef>
                <a:spcPts val="0"/>
              </a:spcBef>
              <a:spcAft>
                <a:spcPts val="0"/>
              </a:spcAft>
              <a:buSzPts val="4900"/>
              <a:buFont typeface="Tajawal"/>
              <a:buNone/>
              <a:defRPr sz="4900">
                <a:latin typeface="Tajawal"/>
                <a:ea typeface="Tajawal"/>
                <a:cs typeface="Tajawal"/>
                <a:sym typeface="Tajawal"/>
              </a:defRPr>
            </a:lvl7pPr>
            <a:lvl8pPr lvl="7" algn="ctr">
              <a:spcBef>
                <a:spcPts val="0"/>
              </a:spcBef>
              <a:spcAft>
                <a:spcPts val="0"/>
              </a:spcAft>
              <a:buSzPts val="4900"/>
              <a:buFont typeface="Tajawal"/>
              <a:buNone/>
              <a:defRPr sz="4900">
                <a:latin typeface="Tajawal"/>
                <a:ea typeface="Tajawal"/>
                <a:cs typeface="Tajawal"/>
                <a:sym typeface="Tajawal"/>
              </a:defRPr>
            </a:lvl8pPr>
            <a:lvl9pPr lvl="8" algn="ctr">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500"/>
              <a:buFont typeface="Tajawal"/>
              <a:buNone/>
              <a:defRPr sz="2500">
                <a:latin typeface="Tajawal"/>
                <a:ea typeface="Tajawal"/>
                <a:cs typeface="Tajawal"/>
                <a:sym typeface="Tajawal"/>
              </a:defRPr>
            </a:lvl1pPr>
            <a:lvl2pPr lvl="1" algn="ctr">
              <a:lnSpc>
                <a:spcPct val="100000"/>
              </a:lnSpc>
              <a:spcBef>
                <a:spcPts val="0"/>
              </a:spcBef>
              <a:spcAft>
                <a:spcPts val="0"/>
              </a:spcAft>
              <a:buSzPts val="2500"/>
              <a:buFont typeface="Tajawal"/>
              <a:buNone/>
              <a:defRPr sz="2500">
                <a:latin typeface="Tajawal"/>
                <a:ea typeface="Tajawal"/>
                <a:cs typeface="Tajawal"/>
                <a:sym typeface="Tajawal"/>
              </a:defRPr>
            </a:lvl2pPr>
            <a:lvl3pPr lvl="2" algn="ctr">
              <a:lnSpc>
                <a:spcPct val="100000"/>
              </a:lnSpc>
              <a:spcBef>
                <a:spcPts val="0"/>
              </a:spcBef>
              <a:spcAft>
                <a:spcPts val="0"/>
              </a:spcAft>
              <a:buSzPts val="2500"/>
              <a:buFont typeface="Tajawal"/>
              <a:buNone/>
              <a:defRPr sz="2500">
                <a:latin typeface="Tajawal"/>
                <a:ea typeface="Tajawal"/>
                <a:cs typeface="Tajawal"/>
                <a:sym typeface="Tajawal"/>
              </a:defRPr>
            </a:lvl3pPr>
            <a:lvl4pPr lvl="3" algn="ctr">
              <a:lnSpc>
                <a:spcPct val="100000"/>
              </a:lnSpc>
              <a:spcBef>
                <a:spcPts val="0"/>
              </a:spcBef>
              <a:spcAft>
                <a:spcPts val="0"/>
              </a:spcAft>
              <a:buSzPts val="2500"/>
              <a:buFont typeface="Tajawal"/>
              <a:buNone/>
              <a:defRPr sz="2500">
                <a:latin typeface="Tajawal"/>
                <a:ea typeface="Tajawal"/>
                <a:cs typeface="Tajawal"/>
                <a:sym typeface="Tajawal"/>
              </a:defRPr>
            </a:lvl4pPr>
            <a:lvl5pPr lvl="4" algn="ctr">
              <a:lnSpc>
                <a:spcPct val="100000"/>
              </a:lnSpc>
              <a:spcBef>
                <a:spcPts val="0"/>
              </a:spcBef>
              <a:spcAft>
                <a:spcPts val="0"/>
              </a:spcAft>
              <a:buSzPts val="2500"/>
              <a:buFont typeface="Tajawal"/>
              <a:buNone/>
              <a:defRPr sz="2500">
                <a:latin typeface="Tajawal"/>
                <a:ea typeface="Tajawal"/>
                <a:cs typeface="Tajawal"/>
                <a:sym typeface="Tajawal"/>
              </a:defRPr>
            </a:lvl5pPr>
            <a:lvl6pPr lvl="5" algn="ctr">
              <a:lnSpc>
                <a:spcPct val="100000"/>
              </a:lnSpc>
              <a:spcBef>
                <a:spcPts val="0"/>
              </a:spcBef>
              <a:spcAft>
                <a:spcPts val="0"/>
              </a:spcAft>
              <a:buSzPts val="2500"/>
              <a:buFont typeface="Tajawal"/>
              <a:buNone/>
              <a:defRPr sz="2500">
                <a:latin typeface="Tajawal"/>
                <a:ea typeface="Tajawal"/>
                <a:cs typeface="Tajawal"/>
                <a:sym typeface="Tajawal"/>
              </a:defRPr>
            </a:lvl6pPr>
            <a:lvl7pPr lvl="6" algn="ctr">
              <a:lnSpc>
                <a:spcPct val="100000"/>
              </a:lnSpc>
              <a:spcBef>
                <a:spcPts val="0"/>
              </a:spcBef>
              <a:spcAft>
                <a:spcPts val="0"/>
              </a:spcAft>
              <a:buSzPts val="2500"/>
              <a:buFont typeface="Tajawal"/>
              <a:buNone/>
              <a:defRPr sz="2500">
                <a:latin typeface="Tajawal"/>
                <a:ea typeface="Tajawal"/>
                <a:cs typeface="Tajawal"/>
                <a:sym typeface="Tajawal"/>
              </a:defRPr>
            </a:lvl7pPr>
            <a:lvl8pPr lvl="7" algn="ctr">
              <a:lnSpc>
                <a:spcPct val="100000"/>
              </a:lnSpc>
              <a:spcBef>
                <a:spcPts val="0"/>
              </a:spcBef>
              <a:spcAft>
                <a:spcPts val="0"/>
              </a:spcAft>
              <a:buSzPts val="2500"/>
              <a:buFont typeface="Tajawal"/>
              <a:buNone/>
              <a:defRPr sz="2500">
                <a:latin typeface="Tajawal"/>
                <a:ea typeface="Tajawal"/>
                <a:cs typeface="Tajawal"/>
                <a:sym typeface="Tajawal"/>
              </a:defRPr>
            </a:lvl8pPr>
            <a:lvl9pPr lvl="8" algn="ctr">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1">
              <a:spcBef>
                <a:spcPts val="0"/>
              </a:spcBef>
              <a:spcAft>
                <a:spcPts val="0"/>
              </a:spcAft>
              <a:buSzPts val="3600"/>
              <a:buFont typeface="Tajawal"/>
              <a:buNone/>
              <a:defRPr sz="3600">
                <a:latin typeface="Tajawal"/>
                <a:ea typeface="Tajawal"/>
                <a:cs typeface="Tajawal"/>
                <a:sym typeface="Tajawal"/>
              </a:defRPr>
            </a:lvl1pPr>
            <a:lvl2pPr lvl="1" algn="ctr">
              <a:spcBef>
                <a:spcPts val="0"/>
              </a:spcBef>
              <a:spcAft>
                <a:spcPts val="0"/>
              </a:spcAft>
              <a:buSzPts val="3600"/>
              <a:buFont typeface="Tajawal"/>
              <a:buNone/>
              <a:defRPr sz="3600">
                <a:latin typeface="Tajawal"/>
                <a:ea typeface="Tajawal"/>
                <a:cs typeface="Tajawal"/>
                <a:sym typeface="Tajawal"/>
              </a:defRPr>
            </a:lvl2pPr>
            <a:lvl3pPr lvl="2" algn="ctr">
              <a:spcBef>
                <a:spcPts val="0"/>
              </a:spcBef>
              <a:spcAft>
                <a:spcPts val="0"/>
              </a:spcAft>
              <a:buSzPts val="3600"/>
              <a:buFont typeface="Tajawal"/>
              <a:buNone/>
              <a:defRPr sz="3600">
                <a:latin typeface="Tajawal"/>
                <a:ea typeface="Tajawal"/>
                <a:cs typeface="Tajawal"/>
                <a:sym typeface="Tajawal"/>
              </a:defRPr>
            </a:lvl3pPr>
            <a:lvl4pPr lvl="3" algn="ctr">
              <a:spcBef>
                <a:spcPts val="0"/>
              </a:spcBef>
              <a:spcAft>
                <a:spcPts val="0"/>
              </a:spcAft>
              <a:buSzPts val="3600"/>
              <a:buFont typeface="Tajawal"/>
              <a:buNone/>
              <a:defRPr sz="3600">
                <a:latin typeface="Tajawal"/>
                <a:ea typeface="Tajawal"/>
                <a:cs typeface="Tajawal"/>
                <a:sym typeface="Tajawal"/>
              </a:defRPr>
            </a:lvl4pPr>
            <a:lvl5pPr lvl="4" algn="ctr">
              <a:spcBef>
                <a:spcPts val="0"/>
              </a:spcBef>
              <a:spcAft>
                <a:spcPts val="0"/>
              </a:spcAft>
              <a:buSzPts val="3600"/>
              <a:buFont typeface="Tajawal"/>
              <a:buNone/>
              <a:defRPr sz="3600">
                <a:latin typeface="Tajawal"/>
                <a:ea typeface="Tajawal"/>
                <a:cs typeface="Tajawal"/>
                <a:sym typeface="Tajawal"/>
              </a:defRPr>
            </a:lvl5pPr>
            <a:lvl6pPr lvl="5" algn="ctr">
              <a:spcBef>
                <a:spcPts val="0"/>
              </a:spcBef>
              <a:spcAft>
                <a:spcPts val="0"/>
              </a:spcAft>
              <a:buSzPts val="3600"/>
              <a:buFont typeface="Tajawal"/>
              <a:buNone/>
              <a:defRPr sz="3600">
                <a:latin typeface="Tajawal"/>
                <a:ea typeface="Tajawal"/>
                <a:cs typeface="Tajawal"/>
                <a:sym typeface="Tajawal"/>
              </a:defRPr>
            </a:lvl6pPr>
            <a:lvl7pPr lvl="6" algn="ctr">
              <a:spcBef>
                <a:spcPts val="0"/>
              </a:spcBef>
              <a:spcAft>
                <a:spcPts val="0"/>
              </a:spcAft>
              <a:buSzPts val="3600"/>
              <a:buFont typeface="Tajawal"/>
              <a:buNone/>
              <a:defRPr sz="3600">
                <a:latin typeface="Tajawal"/>
                <a:ea typeface="Tajawal"/>
                <a:cs typeface="Tajawal"/>
                <a:sym typeface="Tajawal"/>
              </a:defRPr>
            </a:lvl7pPr>
            <a:lvl8pPr lvl="7" algn="ctr">
              <a:spcBef>
                <a:spcPts val="0"/>
              </a:spcBef>
              <a:spcAft>
                <a:spcPts val="0"/>
              </a:spcAft>
              <a:buSzPts val="3600"/>
              <a:buFont typeface="Tajawal"/>
              <a:buNone/>
              <a:defRPr sz="3600">
                <a:latin typeface="Tajawal"/>
                <a:ea typeface="Tajawal"/>
                <a:cs typeface="Tajawal"/>
                <a:sym typeface="Tajawal"/>
              </a:defRPr>
            </a:lvl8pPr>
            <a:lvl9pPr lvl="8" algn="ctr">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5"/>
          <p:cNvSpPr txBox="1">
            <a:spLocks noGrp="1"/>
          </p:cNvSpPr>
          <p:nvPr>
            <p:ph type="title"/>
          </p:nvPr>
        </p:nvSpPr>
        <p:spPr>
          <a:xfrm>
            <a:off x="2079450" y="714175"/>
            <a:ext cx="6707400" cy="777300"/>
          </a:xfrm>
          <a:prstGeom prst="rect">
            <a:avLst/>
          </a:prstGeom>
        </p:spPr>
        <p:txBody>
          <a:bodyPr spcFirstLastPara="1" wrap="square" lIns="91425" tIns="91425" rIns="91425" bIns="91425" anchor="t" anchorCtr="0">
            <a:normAutofit/>
          </a:bodyPr>
          <a:lstStyle>
            <a:lvl1pPr lvl="0" rtl="1">
              <a:spcBef>
                <a:spcPts val="0"/>
              </a:spcBef>
              <a:spcAft>
                <a:spcPts val="0"/>
              </a:spcAft>
              <a:buClr>
                <a:srgbClr val="543198"/>
              </a:buClr>
              <a:buSzPts val="2500"/>
              <a:buNone/>
              <a:defRPr b="1">
                <a:solidFill>
                  <a:srgbClr val="543198"/>
                </a:solidFill>
              </a:defRPr>
            </a:lvl1pPr>
            <a:lvl2pPr lvl="1" rtl="0">
              <a:spcBef>
                <a:spcPts val="0"/>
              </a:spcBef>
              <a:spcAft>
                <a:spcPts val="0"/>
              </a:spcAft>
              <a:buClr>
                <a:srgbClr val="543198"/>
              </a:buClr>
              <a:buSzPts val="2800"/>
              <a:buNone/>
              <a:defRPr b="1">
                <a:solidFill>
                  <a:srgbClr val="543198"/>
                </a:solidFill>
              </a:defRPr>
            </a:lvl2pPr>
            <a:lvl3pPr lvl="2" rtl="0">
              <a:spcBef>
                <a:spcPts val="0"/>
              </a:spcBef>
              <a:spcAft>
                <a:spcPts val="0"/>
              </a:spcAft>
              <a:buClr>
                <a:srgbClr val="543198"/>
              </a:buClr>
              <a:buSzPts val="2800"/>
              <a:buNone/>
              <a:defRPr b="1">
                <a:solidFill>
                  <a:srgbClr val="543198"/>
                </a:solidFill>
              </a:defRPr>
            </a:lvl3pPr>
            <a:lvl4pPr lvl="3" rtl="0">
              <a:spcBef>
                <a:spcPts val="0"/>
              </a:spcBef>
              <a:spcAft>
                <a:spcPts val="0"/>
              </a:spcAft>
              <a:buClr>
                <a:srgbClr val="543198"/>
              </a:buClr>
              <a:buSzPts val="2800"/>
              <a:buNone/>
              <a:defRPr b="1">
                <a:solidFill>
                  <a:srgbClr val="543198"/>
                </a:solidFill>
              </a:defRPr>
            </a:lvl4pPr>
            <a:lvl5pPr lvl="4" rtl="0">
              <a:spcBef>
                <a:spcPts val="0"/>
              </a:spcBef>
              <a:spcAft>
                <a:spcPts val="0"/>
              </a:spcAft>
              <a:buClr>
                <a:srgbClr val="543198"/>
              </a:buClr>
              <a:buSzPts val="2800"/>
              <a:buNone/>
              <a:defRPr b="1">
                <a:solidFill>
                  <a:srgbClr val="543198"/>
                </a:solidFill>
              </a:defRPr>
            </a:lvl5pPr>
            <a:lvl6pPr lvl="5" rtl="0">
              <a:spcBef>
                <a:spcPts val="0"/>
              </a:spcBef>
              <a:spcAft>
                <a:spcPts val="0"/>
              </a:spcAft>
              <a:buClr>
                <a:srgbClr val="543198"/>
              </a:buClr>
              <a:buSzPts val="2800"/>
              <a:buNone/>
              <a:defRPr b="1">
                <a:solidFill>
                  <a:srgbClr val="543198"/>
                </a:solidFill>
              </a:defRPr>
            </a:lvl6pPr>
            <a:lvl7pPr lvl="6" rtl="0">
              <a:spcBef>
                <a:spcPts val="0"/>
              </a:spcBef>
              <a:spcAft>
                <a:spcPts val="0"/>
              </a:spcAft>
              <a:buClr>
                <a:srgbClr val="543198"/>
              </a:buClr>
              <a:buSzPts val="2800"/>
              <a:buNone/>
              <a:defRPr b="1">
                <a:solidFill>
                  <a:srgbClr val="543198"/>
                </a:solidFill>
              </a:defRPr>
            </a:lvl7pPr>
            <a:lvl8pPr lvl="7" rtl="0">
              <a:spcBef>
                <a:spcPts val="0"/>
              </a:spcBef>
              <a:spcAft>
                <a:spcPts val="0"/>
              </a:spcAft>
              <a:buClr>
                <a:srgbClr val="543198"/>
              </a:buClr>
              <a:buSzPts val="2800"/>
              <a:buNone/>
              <a:defRPr b="1">
                <a:solidFill>
                  <a:srgbClr val="543198"/>
                </a:solidFill>
              </a:defRPr>
            </a:lvl8pPr>
            <a:lvl9pPr lvl="8" rtl="0">
              <a:spcBef>
                <a:spcPts val="0"/>
              </a:spcBef>
              <a:spcAft>
                <a:spcPts val="0"/>
              </a:spcAft>
              <a:buClr>
                <a:srgbClr val="543198"/>
              </a:buClr>
              <a:buSzPts val="2800"/>
              <a:buNone/>
              <a:defRPr b="1">
                <a:solidFill>
                  <a:srgbClr val="543198"/>
                </a:solidFill>
              </a:defRPr>
            </a:lvl9pPr>
          </a:lstStyle>
          <a:p>
            <a:endParaRPr/>
          </a:p>
        </p:txBody>
      </p:sp>
      <p:sp>
        <p:nvSpPr>
          <p:cNvPr id="23" name="Google Shape;23;p5"/>
          <p:cNvSpPr txBox="1">
            <a:spLocks noGrp="1"/>
          </p:cNvSpPr>
          <p:nvPr>
            <p:ph type="body" idx="1"/>
          </p:nvPr>
        </p:nvSpPr>
        <p:spPr>
          <a:xfrm>
            <a:off x="2758650" y="1526325"/>
            <a:ext cx="6028200" cy="1757400"/>
          </a:xfrm>
          <a:prstGeom prst="rect">
            <a:avLst/>
          </a:prstGeom>
        </p:spPr>
        <p:txBody>
          <a:bodyPr spcFirstLastPara="1" wrap="square" lIns="91425" tIns="91425" rIns="91425" bIns="91425" anchor="t" anchorCtr="0">
            <a:normAutofit/>
          </a:bodyPr>
          <a:lstStyle>
            <a:lvl1pPr marL="457200" lvl="0" indent="-342900" rtl="1">
              <a:spcBef>
                <a:spcPts val="0"/>
              </a:spcBef>
              <a:spcAft>
                <a:spcPts val="0"/>
              </a:spcAft>
              <a:buClr>
                <a:srgbClr val="424242"/>
              </a:buClr>
              <a:buSzPts val="1800"/>
              <a:buChar char="●"/>
              <a:defRPr>
                <a:solidFill>
                  <a:srgbClr val="424242"/>
                </a:solidFill>
              </a:defRPr>
            </a:lvl1pPr>
            <a:lvl2pPr marL="914400" lvl="1" indent="-317500" rtl="1">
              <a:spcBef>
                <a:spcPts val="0"/>
              </a:spcBef>
              <a:spcAft>
                <a:spcPts val="0"/>
              </a:spcAft>
              <a:buClr>
                <a:srgbClr val="424242"/>
              </a:buClr>
              <a:buSzPts val="1400"/>
              <a:buChar char="○"/>
              <a:defRPr>
                <a:solidFill>
                  <a:srgbClr val="424242"/>
                </a:solidFill>
              </a:defRPr>
            </a:lvl2pPr>
            <a:lvl3pPr marL="1371600" lvl="2" indent="-317500" rtl="1">
              <a:spcBef>
                <a:spcPts val="0"/>
              </a:spcBef>
              <a:spcAft>
                <a:spcPts val="0"/>
              </a:spcAft>
              <a:buClr>
                <a:srgbClr val="424242"/>
              </a:buClr>
              <a:buSzPts val="1400"/>
              <a:buChar char="■"/>
              <a:defRPr>
                <a:solidFill>
                  <a:srgbClr val="424242"/>
                </a:solidFill>
              </a:defRPr>
            </a:lvl3pPr>
            <a:lvl4pPr marL="1828800" lvl="3" indent="-317500" rtl="1">
              <a:spcBef>
                <a:spcPts val="0"/>
              </a:spcBef>
              <a:spcAft>
                <a:spcPts val="0"/>
              </a:spcAft>
              <a:buClr>
                <a:srgbClr val="424242"/>
              </a:buClr>
              <a:buSzPts val="1400"/>
              <a:buChar char="●"/>
              <a:defRPr>
                <a:solidFill>
                  <a:srgbClr val="424242"/>
                </a:solidFill>
              </a:defRPr>
            </a:lvl4pPr>
            <a:lvl5pPr marL="2286000" lvl="4" indent="-317500" rtl="1">
              <a:spcBef>
                <a:spcPts val="0"/>
              </a:spcBef>
              <a:spcAft>
                <a:spcPts val="0"/>
              </a:spcAft>
              <a:buClr>
                <a:srgbClr val="424242"/>
              </a:buClr>
              <a:buSzPts val="1400"/>
              <a:buChar char="○"/>
              <a:defRPr>
                <a:solidFill>
                  <a:srgbClr val="424242"/>
                </a:solidFill>
              </a:defRPr>
            </a:lvl5pPr>
            <a:lvl6pPr marL="2743200" lvl="5" indent="-317500" rtl="1">
              <a:spcBef>
                <a:spcPts val="0"/>
              </a:spcBef>
              <a:spcAft>
                <a:spcPts val="0"/>
              </a:spcAft>
              <a:buClr>
                <a:srgbClr val="424242"/>
              </a:buClr>
              <a:buSzPts val="1400"/>
              <a:buChar char="■"/>
              <a:defRPr>
                <a:solidFill>
                  <a:srgbClr val="424242"/>
                </a:solidFill>
              </a:defRPr>
            </a:lvl6pPr>
            <a:lvl7pPr marL="3200400" lvl="6" indent="-317500" rtl="1">
              <a:spcBef>
                <a:spcPts val="0"/>
              </a:spcBef>
              <a:spcAft>
                <a:spcPts val="0"/>
              </a:spcAft>
              <a:buClr>
                <a:srgbClr val="424242"/>
              </a:buClr>
              <a:buSzPts val="1400"/>
              <a:buChar char="●"/>
              <a:defRPr>
                <a:solidFill>
                  <a:srgbClr val="424242"/>
                </a:solidFill>
              </a:defRPr>
            </a:lvl7pPr>
            <a:lvl8pPr marL="3657600" lvl="7" indent="-317500" rtl="1">
              <a:spcBef>
                <a:spcPts val="0"/>
              </a:spcBef>
              <a:spcAft>
                <a:spcPts val="0"/>
              </a:spcAft>
              <a:buClr>
                <a:srgbClr val="424242"/>
              </a:buClr>
              <a:buSzPts val="1400"/>
              <a:buChar char="○"/>
              <a:defRPr>
                <a:solidFill>
                  <a:srgbClr val="424242"/>
                </a:solidFill>
              </a:defRPr>
            </a:lvl8pPr>
            <a:lvl9pPr marL="4114800" lvl="8" indent="-317500" rtl="1">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282450"/>
            <a:ext cx="8520600" cy="572700"/>
          </a:xfrm>
          <a:prstGeom prst="rect">
            <a:avLst/>
          </a:prstGeom>
        </p:spPr>
        <p:txBody>
          <a:bodyPr spcFirstLastPara="1" wrap="square" lIns="91425" tIns="91425" rIns="91425" bIns="91425" anchor="t" anchorCtr="0">
            <a:normAutofit/>
          </a:bodyPr>
          <a:lstStyle>
            <a:lvl1pPr lvl="0" rtl="1">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7" name="Google Shape;27;p6"/>
          <p:cNvPicPr preferRelativeResize="0"/>
          <p:nvPr/>
        </p:nvPicPr>
        <p:blipFill>
          <a:blip r:embed="rId2">
            <a:alphaModFix/>
          </a:blip>
          <a:stretch>
            <a:fillRect/>
          </a:stretch>
        </p:blipFill>
        <p:spPr>
          <a:xfrm>
            <a:off x="7959271" y="4703039"/>
            <a:ext cx="946580" cy="21398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4200"/>
              <a:buNone/>
              <a:defRPr sz="4200"/>
            </a:lvl1pPr>
            <a:lvl2pPr lvl="1" algn="ctr" rtl="1">
              <a:spcBef>
                <a:spcPts val="0"/>
              </a:spcBef>
              <a:spcAft>
                <a:spcPts val="0"/>
              </a:spcAft>
              <a:buSzPts val="4200"/>
              <a:buNone/>
              <a:defRPr sz="4200"/>
            </a:lvl2pPr>
            <a:lvl3pPr lvl="2" algn="ctr" rtl="1">
              <a:spcBef>
                <a:spcPts val="0"/>
              </a:spcBef>
              <a:spcAft>
                <a:spcPts val="0"/>
              </a:spcAft>
              <a:buSzPts val="4200"/>
              <a:buNone/>
              <a:defRPr sz="4200"/>
            </a:lvl3pPr>
            <a:lvl4pPr lvl="3" algn="ctr" rtl="1">
              <a:spcBef>
                <a:spcPts val="0"/>
              </a:spcBef>
              <a:spcAft>
                <a:spcPts val="0"/>
              </a:spcAft>
              <a:buSzPts val="4200"/>
              <a:buNone/>
              <a:defRPr sz="4200"/>
            </a:lvl4pPr>
            <a:lvl5pPr lvl="4" algn="ctr" rtl="1">
              <a:spcBef>
                <a:spcPts val="0"/>
              </a:spcBef>
              <a:spcAft>
                <a:spcPts val="0"/>
              </a:spcAft>
              <a:buSzPts val="4200"/>
              <a:buNone/>
              <a:defRPr sz="4200"/>
            </a:lvl5pPr>
            <a:lvl6pPr lvl="5" algn="ctr" rtl="1">
              <a:spcBef>
                <a:spcPts val="0"/>
              </a:spcBef>
              <a:spcAft>
                <a:spcPts val="0"/>
              </a:spcAft>
              <a:buSzPts val="4200"/>
              <a:buNone/>
              <a:defRPr sz="4200"/>
            </a:lvl6pPr>
            <a:lvl7pPr lvl="6" algn="ctr" rtl="1">
              <a:spcBef>
                <a:spcPts val="0"/>
              </a:spcBef>
              <a:spcAft>
                <a:spcPts val="0"/>
              </a:spcAft>
              <a:buSzPts val="4200"/>
              <a:buNone/>
              <a:defRPr sz="4200"/>
            </a:lvl7pPr>
            <a:lvl8pPr lvl="7" algn="ctr" rtl="1">
              <a:spcBef>
                <a:spcPts val="0"/>
              </a:spcBef>
              <a:spcAft>
                <a:spcPts val="0"/>
              </a:spcAft>
              <a:buSzPts val="4200"/>
              <a:buNone/>
              <a:defRPr sz="4200"/>
            </a:lvl8pPr>
            <a:lvl9pPr lvl="8" algn="ctr" rtl="1">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8" name="Google Shape;3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9" name="Google Shape;3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12000"/>
              <a:buNone/>
              <a:defRPr sz="12000"/>
            </a:lvl1pPr>
            <a:lvl2pPr lvl="1" algn="ctr" rtl="1">
              <a:spcBef>
                <a:spcPts val="0"/>
              </a:spcBef>
              <a:spcAft>
                <a:spcPts val="0"/>
              </a:spcAft>
              <a:buSzPts val="12000"/>
              <a:buNone/>
              <a:defRPr sz="12000"/>
            </a:lvl2pPr>
            <a:lvl3pPr lvl="2" algn="ctr" rtl="1">
              <a:spcBef>
                <a:spcPts val="0"/>
              </a:spcBef>
              <a:spcAft>
                <a:spcPts val="0"/>
              </a:spcAft>
              <a:buSzPts val="12000"/>
              <a:buNone/>
              <a:defRPr sz="12000"/>
            </a:lvl3pPr>
            <a:lvl4pPr lvl="3" algn="ctr" rtl="1">
              <a:spcBef>
                <a:spcPts val="0"/>
              </a:spcBef>
              <a:spcAft>
                <a:spcPts val="0"/>
              </a:spcAft>
              <a:buSzPts val="12000"/>
              <a:buNone/>
              <a:defRPr sz="12000"/>
            </a:lvl4pPr>
            <a:lvl5pPr lvl="4" algn="ctr" rtl="1">
              <a:spcBef>
                <a:spcPts val="0"/>
              </a:spcBef>
              <a:spcAft>
                <a:spcPts val="0"/>
              </a:spcAft>
              <a:buSzPts val="12000"/>
              <a:buNone/>
              <a:defRPr sz="12000"/>
            </a:lvl5pPr>
            <a:lvl6pPr lvl="5" algn="ctr" rtl="1">
              <a:spcBef>
                <a:spcPts val="0"/>
              </a:spcBef>
              <a:spcAft>
                <a:spcPts val="0"/>
              </a:spcAft>
              <a:buSzPts val="12000"/>
              <a:buNone/>
              <a:defRPr sz="12000"/>
            </a:lvl6pPr>
            <a:lvl7pPr lvl="6" algn="ctr" rtl="1">
              <a:spcBef>
                <a:spcPts val="0"/>
              </a:spcBef>
              <a:spcAft>
                <a:spcPts val="0"/>
              </a:spcAft>
              <a:buSzPts val="12000"/>
              <a:buNone/>
              <a:defRPr sz="12000"/>
            </a:lvl7pPr>
            <a:lvl8pPr lvl="7" algn="ctr" rtl="1">
              <a:spcBef>
                <a:spcPts val="0"/>
              </a:spcBef>
              <a:spcAft>
                <a:spcPts val="0"/>
              </a:spcAft>
              <a:buSzPts val="12000"/>
              <a:buNone/>
              <a:defRPr sz="12000"/>
            </a:lvl8pPr>
            <a:lvl9pPr lvl="8" algn="ctr" rtl="1">
              <a:spcBef>
                <a:spcPts val="0"/>
              </a:spcBef>
              <a:spcAft>
                <a:spcPts val="0"/>
              </a:spcAft>
              <a:buSzPts val="12000"/>
              <a:buNone/>
              <a:defRPr sz="12000"/>
            </a:lvl9pPr>
          </a:lstStyle>
          <a:p>
            <a:r>
              <a:t>xx%</a:t>
            </a:r>
          </a:p>
        </p:txBody>
      </p:sp>
      <p:pic>
        <p:nvPicPr>
          <p:cNvPr id="43" name="Google Shape;43;p11" title="twq white-20.png"/>
          <p:cNvPicPr preferRelativeResize="0"/>
          <p:nvPr/>
        </p:nvPicPr>
        <p:blipFill>
          <a:blip r:embed="rId3">
            <a:alphaModFix/>
          </a:blip>
          <a:stretch>
            <a:fillRect/>
          </a:stretch>
        </p:blipFill>
        <p:spPr>
          <a:xfrm>
            <a:off x="7443975" y="84975"/>
            <a:ext cx="1388326" cy="599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578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rtl="1">
              <a:spcBef>
                <a:spcPts val="0"/>
              </a:spcBef>
              <a:spcAft>
                <a:spcPts val="0"/>
              </a:spcAft>
              <a:buClr>
                <a:srgbClr val="4F29B7"/>
              </a:buClr>
              <a:buSzPts val="2500"/>
              <a:buFont typeface="IBM Plex Sans Arabic Medium"/>
              <a:buNone/>
              <a:defRPr sz="2500">
                <a:solidFill>
                  <a:srgbClr val="4F29B7"/>
                </a:solidFill>
                <a:latin typeface="IBM Plex Sans Arabic Medium"/>
                <a:ea typeface="IBM Plex Sans Arabic Medium"/>
                <a:cs typeface="IBM Plex Sans Arabic Medium"/>
                <a:sym typeface="IBM Plex Sans Arabic Medium"/>
              </a:defRPr>
            </a:lvl1pPr>
            <a:lvl2pPr lvl="1"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2pPr>
            <a:lvl3pPr lvl="2"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3pPr>
            <a:lvl4pPr lvl="3"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4pPr>
            <a:lvl5pPr lvl="4"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5pPr>
            <a:lvl6pPr lvl="5"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6pPr>
            <a:lvl7pPr lvl="6"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7pPr>
            <a:lvl8pPr lvl="7"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8pPr>
            <a:lvl9pPr lvl="8"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1">
              <a:lnSpc>
                <a:spcPct val="115000"/>
              </a:lnSpc>
              <a:spcBef>
                <a:spcPts val="0"/>
              </a:spcBef>
              <a:spcAft>
                <a:spcPts val="0"/>
              </a:spcAft>
              <a:buClr>
                <a:srgbClr val="252526"/>
              </a:buClr>
              <a:buSzPts val="1800"/>
              <a:buFont typeface="IBM Plex Sans Arabic"/>
              <a:buChar char="●"/>
              <a:defRPr sz="1800">
                <a:solidFill>
                  <a:srgbClr val="252526"/>
                </a:solidFill>
                <a:latin typeface="IBM Plex Sans Arabic"/>
                <a:ea typeface="IBM Plex Sans Arabic"/>
                <a:cs typeface="IBM Plex Sans Arabic"/>
                <a:sym typeface="IBM Plex Sans Arabic"/>
              </a:defRPr>
            </a:lvl1pPr>
            <a:lvl2pPr marL="914400" lvl="1"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2pPr>
            <a:lvl3pPr marL="1371600" lvl="2"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3pPr>
            <a:lvl4pPr marL="1828800" lvl="3"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4pPr>
            <a:lvl5pPr marL="2286000" lvl="4"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5pPr>
            <a:lvl6pPr marL="2743200" lvl="5"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6pPr>
            <a:lvl7pPr marL="3200400" lvl="6"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7pPr>
            <a:lvl8pPr marL="3657600" lvl="7"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8pPr>
            <a:lvl9pPr marL="4114800" lvl="8"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5" r:id="rId5"/>
    <p:sldLayoutId id="2147483657" r:id="rId6"/>
    <p:sldLayoutId id="2147483658" r:id="rId7"/>
    <p:sldLayoutId id="214748366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5435226" y="867625"/>
            <a:ext cx="2974200" cy="2262000"/>
          </a:xfrm>
          <a:prstGeom prst="rect">
            <a:avLst/>
          </a:prstGeom>
        </p:spPr>
        <p:txBody>
          <a:bodyPr spcFirstLastPara="1" wrap="square" lIns="91425" tIns="91425" rIns="91425" bIns="91425" anchor="b" anchorCtr="0">
            <a:normAutofit/>
          </a:bodyPr>
          <a:lstStyle/>
          <a:p>
            <a:pPr marL="0" lvl="0" indent="0" algn="r" rtl="0">
              <a:spcBef>
                <a:spcPts val="0"/>
              </a:spcBef>
              <a:spcAft>
                <a:spcPts val="0"/>
              </a:spcAft>
              <a:buNone/>
            </a:pPr>
            <a:r>
              <a:rPr lang="en" sz="4800" dirty="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dirty="0">
              <a:solidFill>
                <a:srgbClr val="58E3D8"/>
              </a:solidFill>
              <a:latin typeface="IBM Plex Sans Arabic SemiBold"/>
              <a:ea typeface="IBM Plex Sans Arabic SemiBold"/>
              <a:cs typeface="IBM Plex Sans Arabic SemiBold"/>
              <a:sym typeface="IBM Plex Sans Arabic SemiBold"/>
            </a:endParaRPr>
          </a:p>
        </p:txBody>
      </p:sp>
      <p:sp>
        <p:nvSpPr>
          <p:cNvPr id="51" name="Google Shape;51;p13"/>
          <p:cNvSpPr txBox="1">
            <a:spLocks noGrp="1"/>
          </p:cNvSpPr>
          <p:nvPr>
            <p:ph type="body" idx="4294967295"/>
          </p:nvPr>
        </p:nvSpPr>
        <p:spPr>
          <a:xfrm>
            <a:off x="3902100" y="3253272"/>
            <a:ext cx="4447500" cy="403200"/>
          </a:xfrm>
          <a:prstGeom prst="rect">
            <a:avLst/>
          </a:prstGeom>
        </p:spPr>
        <p:txBody>
          <a:bodyPr spcFirstLastPara="1" wrap="square" lIns="91425" tIns="91425" rIns="91425" bIns="91425" anchor="t" anchorCtr="0">
            <a:noAutofit/>
          </a:bodyPr>
          <a:lstStyle/>
          <a:p>
            <a:pPr marL="114300" indent="0" algn="r">
              <a:buNone/>
            </a:pPr>
            <a:r>
              <a:rPr lang="ar-SA" sz="2000" b="1" dirty="0">
                <a:solidFill>
                  <a:schemeClr val="bg1"/>
                </a:solidFill>
              </a:rPr>
              <a:t>المعسكر التأسيسي - مسار البرمجة</a:t>
            </a:r>
          </a:p>
          <a:p>
            <a:pPr marL="114300" indent="0">
              <a:buNone/>
            </a:pPr>
            <a:br>
              <a:rPr lang="ar-SA" sz="2000" dirty="0"/>
            </a:br>
            <a:endParaRPr lang="ar-SA"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67E406D-77C5-64FC-1384-3ED885662E43}"/>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A58AB1B6-4F13-B6F1-65C4-FDEAF2A7575E}"/>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FF820E8F-A391-AC62-D54D-317374F62C88}"/>
              </a:ext>
            </a:extLst>
          </p:cNvPr>
          <p:cNvSpPr/>
          <p:nvPr/>
        </p:nvSpPr>
        <p:spPr>
          <a:xfrm>
            <a:off x="0" y="64008"/>
            <a:ext cx="2560320" cy="5015484"/>
          </a:xfrm>
          <a:prstGeom prst="rect">
            <a:avLst/>
          </a:prstGeom>
          <a:solidFill>
            <a:srgbClr val="0A2020"/>
          </a:solidFill>
          <a:ln w="12700">
            <a:solidFill>
              <a:srgbClr val="0A2020"/>
            </a:solidFill>
            <a:prstDash val="solid"/>
          </a:ln>
        </p:spPr>
        <p:txBody>
          <a:bodyPr/>
          <a:lstStyle/>
          <a:p>
            <a:endParaRPr lang="en-US"/>
          </a:p>
        </p:txBody>
      </p:sp>
      <p:sp>
        <p:nvSpPr>
          <p:cNvPr id="5" name="Shape 3">
            <a:extLst>
              <a:ext uri="{FF2B5EF4-FFF2-40B4-BE49-F238E27FC236}">
                <a16:creationId xmlns:a16="http://schemas.microsoft.com/office/drawing/2014/main" id="{244B5C98-FBD3-E2CD-5772-833C4D8DBE51}"/>
              </a:ext>
            </a:extLst>
          </p:cNvPr>
          <p:cNvSpPr/>
          <p:nvPr/>
        </p:nvSpPr>
        <p:spPr>
          <a:xfrm>
            <a:off x="2560320" y="64008"/>
            <a:ext cx="0" cy="5015484"/>
          </a:xfrm>
          <a:prstGeom prst="line">
            <a:avLst/>
          </a:prstGeom>
          <a:noFill/>
          <a:ln w="25400">
            <a:solidFill>
              <a:srgbClr val="57E3D8"/>
            </a:solidFill>
            <a:prstDash val="solid"/>
          </a:ln>
        </p:spPr>
        <p:txBody>
          <a:bodyPr/>
          <a:lstStyle/>
          <a:p>
            <a:endParaRPr lang="en-US"/>
          </a:p>
        </p:txBody>
      </p:sp>
      <p:sp>
        <p:nvSpPr>
          <p:cNvPr id="6" name="Text 4">
            <a:extLst>
              <a:ext uri="{FF2B5EF4-FFF2-40B4-BE49-F238E27FC236}">
                <a16:creationId xmlns:a16="http://schemas.microsoft.com/office/drawing/2014/main" id="{70A0054A-5F93-C0F8-68C3-1CAD4846EE0E}"/>
              </a:ext>
            </a:extLst>
          </p:cNvPr>
          <p:cNvSpPr/>
          <p:nvPr/>
        </p:nvSpPr>
        <p:spPr>
          <a:xfrm>
            <a:off x="0" y="320040"/>
            <a:ext cx="2560320" cy="1463040"/>
          </a:xfrm>
          <a:prstGeom prst="rect">
            <a:avLst/>
          </a:prstGeom>
          <a:noFill/>
          <a:ln/>
        </p:spPr>
        <p:txBody>
          <a:bodyPr wrap="square" lIns="0" tIns="0" rIns="0" bIns="0" rtlCol="0" anchor="ctr"/>
          <a:lstStyle/>
          <a:p>
            <a:pPr marL="0" indent="0" algn="ctr">
              <a:buNone/>
            </a:pPr>
            <a:r>
              <a:rPr lang="en-US" sz="8000" b="1" dirty="0">
                <a:solidFill>
                  <a:schemeClr val="bg1"/>
                </a:solidFill>
                <a:latin typeface="Calibri" pitchFamily="34" charset="0"/>
                <a:ea typeface="Calibri" pitchFamily="34" charset="-122"/>
                <a:cs typeface="Calibri" pitchFamily="34" charset="-120"/>
              </a:rPr>
              <a:t>03</a:t>
            </a:r>
            <a:endParaRPr lang="en-US" sz="8000" dirty="0">
              <a:solidFill>
                <a:schemeClr val="bg1"/>
              </a:solidFill>
            </a:endParaRPr>
          </a:p>
        </p:txBody>
      </p:sp>
      <p:sp>
        <p:nvSpPr>
          <p:cNvPr id="7" name="Shape 5">
            <a:extLst>
              <a:ext uri="{FF2B5EF4-FFF2-40B4-BE49-F238E27FC236}">
                <a16:creationId xmlns:a16="http://schemas.microsoft.com/office/drawing/2014/main" id="{2D400CA1-A6FF-D2ED-B42E-71359923989F}"/>
              </a:ext>
            </a:extLst>
          </p:cNvPr>
          <p:cNvSpPr/>
          <p:nvPr/>
        </p:nvSpPr>
        <p:spPr>
          <a:xfrm>
            <a:off x="228600" y="384048"/>
            <a:ext cx="822960" cy="256032"/>
          </a:xfrm>
          <a:prstGeom prst="roundRect">
            <a:avLst>
              <a:gd name="adj" fmla="val 42857"/>
            </a:avLst>
          </a:prstGeom>
          <a:solidFill>
            <a:srgbClr val="57E3D8"/>
          </a:solidFill>
          <a:ln w="12700">
            <a:solidFill>
              <a:srgbClr val="57E3D8"/>
            </a:solidFill>
            <a:prstDash val="solid"/>
          </a:ln>
        </p:spPr>
        <p:txBody>
          <a:bodyPr/>
          <a:lstStyle/>
          <a:p>
            <a:endParaRPr lang="en-US"/>
          </a:p>
        </p:txBody>
      </p:sp>
      <p:sp>
        <p:nvSpPr>
          <p:cNvPr id="8" name="Text 6">
            <a:extLst>
              <a:ext uri="{FF2B5EF4-FFF2-40B4-BE49-F238E27FC236}">
                <a16:creationId xmlns:a16="http://schemas.microsoft.com/office/drawing/2014/main" id="{F273ADA2-B102-4B1E-6AF9-898A94FBDFA6}"/>
              </a:ext>
            </a:extLst>
          </p:cNvPr>
          <p:cNvSpPr/>
          <p:nvPr/>
        </p:nvSpPr>
        <p:spPr>
          <a:xfrm>
            <a:off x="228600" y="384048"/>
            <a:ext cx="822960" cy="256032"/>
          </a:xfrm>
          <a:prstGeom prst="rect">
            <a:avLst/>
          </a:prstGeom>
          <a:noFill/>
          <a:ln/>
        </p:spPr>
        <p:txBody>
          <a:bodyPr wrap="square" lIns="0" tIns="0" rIns="0" bIns="0" rtlCol="0" anchor="ctr"/>
          <a:lstStyle/>
          <a:p>
            <a:pPr marL="0" indent="0" algn="ctr">
              <a:buNone/>
            </a:pPr>
            <a:r>
              <a:rPr lang="en-US" sz="1100" b="1" dirty="0">
                <a:solidFill>
                  <a:srgbClr val="0A2020"/>
                </a:solidFill>
                <a:latin typeface="Calibri" pitchFamily="34" charset="0"/>
                <a:ea typeface="Calibri" pitchFamily="34" charset="-122"/>
                <a:cs typeface="Calibri" pitchFamily="34" charset="-120"/>
              </a:rPr>
              <a:t>Week 3</a:t>
            </a:r>
            <a:endParaRPr lang="en-US" sz="1100" dirty="0"/>
          </a:p>
        </p:txBody>
      </p:sp>
      <p:sp>
        <p:nvSpPr>
          <p:cNvPr id="9" name="Text 7">
            <a:extLst>
              <a:ext uri="{FF2B5EF4-FFF2-40B4-BE49-F238E27FC236}">
                <a16:creationId xmlns:a16="http://schemas.microsoft.com/office/drawing/2014/main" id="{C09B99FC-C479-8C2D-E6D2-881A32388889}"/>
              </a:ext>
            </a:extLst>
          </p:cNvPr>
          <p:cNvSpPr/>
          <p:nvPr/>
        </p:nvSpPr>
        <p:spPr>
          <a:xfrm>
            <a:off x="137160" y="1417320"/>
            <a:ext cx="228600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Algorithms</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0" name="Shape 8">
            <a:extLst>
              <a:ext uri="{FF2B5EF4-FFF2-40B4-BE49-F238E27FC236}">
                <a16:creationId xmlns:a16="http://schemas.microsoft.com/office/drawing/2014/main" id="{38A5CAEB-8102-DF38-E1B7-6B194D394D41}"/>
              </a:ext>
            </a:extLst>
          </p:cNvPr>
          <p:cNvSpPr/>
          <p:nvPr/>
        </p:nvSpPr>
        <p:spPr>
          <a:xfrm>
            <a:off x="320040" y="4069080"/>
            <a:ext cx="1920240" cy="0"/>
          </a:xfrm>
          <a:prstGeom prst="line">
            <a:avLst/>
          </a:prstGeom>
          <a:noFill/>
          <a:ln w="9525">
            <a:solidFill>
              <a:srgbClr val="333355"/>
            </a:solidFill>
            <a:prstDash val="solid"/>
          </a:ln>
        </p:spPr>
        <p:txBody>
          <a:bodyPr/>
          <a:lstStyle/>
          <a:p>
            <a:endParaRPr lang="en-US"/>
          </a:p>
        </p:txBody>
      </p:sp>
      <p:sp>
        <p:nvSpPr>
          <p:cNvPr id="11" name="Text 9">
            <a:extLst>
              <a:ext uri="{FF2B5EF4-FFF2-40B4-BE49-F238E27FC236}">
                <a16:creationId xmlns:a16="http://schemas.microsoft.com/office/drawing/2014/main" id="{92B591E3-3AA6-686E-4CAC-AF218B233E00}"/>
              </a:ext>
            </a:extLst>
          </p:cNvPr>
          <p:cNvSpPr/>
          <p:nvPr/>
        </p:nvSpPr>
        <p:spPr>
          <a:xfrm>
            <a:off x="137160" y="4160520"/>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Foundation Bootcamp</a:t>
            </a:r>
            <a:endParaRPr lang="en-US" sz="1000" dirty="0"/>
          </a:p>
        </p:txBody>
      </p:sp>
      <p:sp>
        <p:nvSpPr>
          <p:cNvPr id="12" name="Text 10">
            <a:extLst>
              <a:ext uri="{FF2B5EF4-FFF2-40B4-BE49-F238E27FC236}">
                <a16:creationId xmlns:a16="http://schemas.microsoft.com/office/drawing/2014/main" id="{5599767D-CE61-3911-E941-102809D30A60}"/>
              </a:ext>
            </a:extLst>
          </p:cNvPr>
          <p:cNvSpPr/>
          <p:nvPr/>
        </p:nvSpPr>
        <p:spPr>
          <a:xfrm>
            <a:off x="137160" y="4407408"/>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مسار البرمجة</a:t>
            </a:r>
            <a:endParaRPr lang="en-US" sz="1000" dirty="0"/>
          </a:p>
        </p:txBody>
      </p:sp>
      <p:sp>
        <p:nvSpPr>
          <p:cNvPr id="13" name="Shape 11">
            <a:extLst>
              <a:ext uri="{FF2B5EF4-FFF2-40B4-BE49-F238E27FC236}">
                <a16:creationId xmlns:a16="http://schemas.microsoft.com/office/drawing/2014/main" id="{55F4100E-9CB8-5B37-C0F2-CBEC90D9766C}"/>
              </a:ext>
            </a:extLst>
          </p:cNvPr>
          <p:cNvSpPr/>
          <p:nvPr/>
        </p:nvSpPr>
        <p:spPr>
          <a:xfrm>
            <a:off x="2834640" y="637794"/>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14" name="Shape 12">
            <a:extLst>
              <a:ext uri="{FF2B5EF4-FFF2-40B4-BE49-F238E27FC236}">
                <a16:creationId xmlns:a16="http://schemas.microsoft.com/office/drawing/2014/main" id="{5C0B6CAB-0687-131B-B1A3-5DC2E6225321}"/>
              </a:ext>
            </a:extLst>
          </p:cNvPr>
          <p:cNvSpPr/>
          <p:nvPr/>
        </p:nvSpPr>
        <p:spPr>
          <a:xfrm>
            <a:off x="3035808" y="788670"/>
            <a:ext cx="384048" cy="384048"/>
          </a:xfrm>
          <a:prstGeom prst="ellipse">
            <a:avLst/>
          </a:prstGeom>
          <a:solidFill>
            <a:srgbClr val="57E3D8"/>
          </a:solidFill>
          <a:ln w="12700">
            <a:solidFill>
              <a:srgbClr val="57E3D8"/>
            </a:solidFill>
            <a:prstDash val="solid"/>
          </a:ln>
        </p:spPr>
        <p:txBody>
          <a:bodyPr/>
          <a:lstStyle/>
          <a:p>
            <a:endParaRPr lang="en-US"/>
          </a:p>
        </p:txBody>
      </p:sp>
      <p:sp>
        <p:nvSpPr>
          <p:cNvPr id="15" name="Text 13">
            <a:extLst>
              <a:ext uri="{FF2B5EF4-FFF2-40B4-BE49-F238E27FC236}">
                <a16:creationId xmlns:a16="http://schemas.microsoft.com/office/drawing/2014/main" id="{AC7BC44D-1FC9-9F64-5CC7-E434D27250A8}"/>
              </a:ext>
            </a:extLst>
          </p:cNvPr>
          <p:cNvSpPr/>
          <p:nvPr/>
        </p:nvSpPr>
        <p:spPr>
          <a:xfrm>
            <a:off x="3035808" y="788670"/>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1</a:t>
            </a:r>
            <a:endParaRPr lang="en-US" sz="1200" dirty="0"/>
          </a:p>
        </p:txBody>
      </p:sp>
      <p:sp>
        <p:nvSpPr>
          <p:cNvPr id="16" name="Text 14">
            <a:extLst>
              <a:ext uri="{FF2B5EF4-FFF2-40B4-BE49-F238E27FC236}">
                <a16:creationId xmlns:a16="http://schemas.microsoft.com/office/drawing/2014/main" id="{C3F1AAB6-AEF6-43A8-6A84-7CBE0EB54EF6}"/>
              </a:ext>
            </a:extLst>
          </p:cNvPr>
          <p:cNvSpPr/>
          <p:nvPr/>
        </p:nvSpPr>
        <p:spPr>
          <a:xfrm>
            <a:off x="3584448" y="729234"/>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1</a:t>
            </a:r>
            <a:endParaRPr lang="en-US" sz="950" dirty="0"/>
          </a:p>
        </p:txBody>
      </p:sp>
      <p:sp>
        <p:nvSpPr>
          <p:cNvPr id="17" name="Shape 15">
            <a:extLst>
              <a:ext uri="{FF2B5EF4-FFF2-40B4-BE49-F238E27FC236}">
                <a16:creationId xmlns:a16="http://schemas.microsoft.com/office/drawing/2014/main" id="{648B9736-5271-3F10-9283-6A47244C9274}"/>
              </a:ext>
            </a:extLst>
          </p:cNvPr>
          <p:cNvSpPr/>
          <p:nvPr/>
        </p:nvSpPr>
        <p:spPr>
          <a:xfrm>
            <a:off x="4361688" y="784098"/>
            <a:ext cx="0" cy="393192"/>
          </a:xfrm>
          <a:prstGeom prst="line">
            <a:avLst/>
          </a:prstGeom>
          <a:noFill/>
          <a:ln w="9525">
            <a:solidFill>
              <a:srgbClr val="333355"/>
            </a:solidFill>
            <a:prstDash val="solid"/>
          </a:ln>
        </p:spPr>
        <p:txBody>
          <a:bodyPr/>
          <a:lstStyle/>
          <a:p>
            <a:endParaRPr lang="en-US"/>
          </a:p>
        </p:txBody>
      </p:sp>
      <p:sp>
        <p:nvSpPr>
          <p:cNvPr id="18" name="Text 16">
            <a:extLst>
              <a:ext uri="{FF2B5EF4-FFF2-40B4-BE49-F238E27FC236}">
                <a16:creationId xmlns:a16="http://schemas.microsoft.com/office/drawing/2014/main" id="{07A12A8A-1C6B-110F-8997-E7E5477EA5F8}"/>
              </a:ext>
            </a:extLst>
          </p:cNvPr>
          <p:cNvSpPr/>
          <p:nvPr/>
        </p:nvSpPr>
        <p:spPr>
          <a:xfrm>
            <a:off x="4453128" y="637794"/>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Introduction to algorithms</a:t>
            </a:r>
            <a:endParaRPr lang="en-US" sz="1200" dirty="0"/>
          </a:p>
        </p:txBody>
      </p:sp>
      <p:sp>
        <p:nvSpPr>
          <p:cNvPr id="19" name="Shape 17">
            <a:extLst>
              <a:ext uri="{FF2B5EF4-FFF2-40B4-BE49-F238E27FC236}">
                <a16:creationId xmlns:a16="http://schemas.microsoft.com/office/drawing/2014/main" id="{63889319-52E7-F6EA-214C-6FB5D81E6B30}"/>
              </a:ext>
            </a:extLst>
          </p:cNvPr>
          <p:cNvSpPr/>
          <p:nvPr/>
        </p:nvSpPr>
        <p:spPr>
          <a:xfrm>
            <a:off x="2834640" y="1433322"/>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20" name="Shape 18">
            <a:extLst>
              <a:ext uri="{FF2B5EF4-FFF2-40B4-BE49-F238E27FC236}">
                <a16:creationId xmlns:a16="http://schemas.microsoft.com/office/drawing/2014/main" id="{06C2D083-16B0-081D-EC91-9BC5FB3A7C31}"/>
              </a:ext>
            </a:extLst>
          </p:cNvPr>
          <p:cNvSpPr/>
          <p:nvPr/>
        </p:nvSpPr>
        <p:spPr>
          <a:xfrm>
            <a:off x="3035808" y="1584198"/>
            <a:ext cx="384048" cy="384048"/>
          </a:xfrm>
          <a:prstGeom prst="ellipse">
            <a:avLst/>
          </a:prstGeom>
          <a:solidFill>
            <a:srgbClr val="57E3D8"/>
          </a:solidFill>
          <a:ln w="12700">
            <a:solidFill>
              <a:srgbClr val="57E3D8"/>
            </a:solidFill>
            <a:prstDash val="solid"/>
          </a:ln>
        </p:spPr>
        <p:txBody>
          <a:bodyPr/>
          <a:lstStyle/>
          <a:p>
            <a:endParaRPr lang="en-US"/>
          </a:p>
        </p:txBody>
      </p:sp>
      <p:sp>
        <p:nvSpPr>
          <p:cNvPr id="21" name="Text 19">
            <a:extLst>
              <a:ext uri="{FF2B5EF4-FFF2-40B4-BE49-F238E27FC236}">
                <a16:creationId xmlns:a16="http://schemas.microsoft.com/office/drawing/2014/main" id="{BAFCCA92-7DB9-D2AC-FF94-D4A25331D56E}"/>
              </a:ext>
            </a:extLst>
          </p:cNvPr>
          <p:cNvSpPr/>
          <p:nvPr/>
        </p:nvSpPr>
        <p:spPr>
          <a:xfrm>
            <a:off x="3035808" y="1584198"/>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2</a:t>
            </a:r>
            <a:endParaRPr lang="en-US" sz="1200" dirty="0"/>
          </a:p>
        </p:txBody>
      </p:sp>
      <p:sp>
        <p:nvSpPr>
          <p:cNvPr id="22" name="Text 20">
            <a:extLst>
              <a:ext uri="{FF2B5EF4-FFF2-40B4-BE49-F238E27FC236}">
                <a16:creationId xmlns:a16="http://schemas.microsoft.com/office/drawing/2014/main" id="{0C22C430-4049-84D0-C905-1AECAADE9A85}"/>
              </a:ext>
            </a:extLst>
          </p:cNvPr>
          <p:cNvSpPr/>
          <p:nvPr/>
        </p:nvSpPr>
        <p:spPr>
          <a:xfrm>
            <a:off x="3584448" y="1524762"/>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2</a:t>
            </a:r>
            <a:endParaRPr lang="en-US" sz="950" dirty="0"/>
          </a:p>
        </p:txBody>
      </p:sp>
      <p:sp>
        <p:nvSpPr>
          <p:cNvPr id="23" name="Shape 21">
            <a:extLst>
              <a:ext uri="{FF2B5EF4-FFF2-40B4-BE49-F238E27FC236}">
                <a16:creationId xmlns:a16="http://schemas.microsoft.com/office/drawing/2014/main" id="{82A72DA3-1CC8-C226-C2AB-67A0BD33B796}"/>
              </a:ext>
            </a:extLst>
          </p:cNvPr>
          <p:cNvSpPr/>
          <p:nvPr/>
        </p:nvSpPr>
        <p:spPr>
          <a:xfrm>
            <a:off x="4361688" y="1579626"/>
            <a:ext cx="0" cy="393192"/>
          </a:xfrm>
          <a:prstGeom prst="line">
            <a:avLst/>
          </a:prstGeom>
          <a:noFill/>
          <a:ln w="9525">
            <a:solidFill>
              <a:srgbClr val="333355"/>
            </a:solidFill>
            <a:prstDash val="solid"/>
          </a:ln>
        </p:spPr>
        <p:txBody>
          <a:bodyPr/>
          <a:lstStyle/>
          <a:p>
            <a:endParaRPr lang="en-US"/>
          </a:p>
        </p:txBody>
      </p:sp>
      <p:sp>
        <p:nvSpPr>
          <p:cNvPr id="24" name="Text 22">
            <a:extLst>
              <a:ext uri="{FF2B5EF4-FFF2-40B4-BE49-F238E27FC236}">
                <a16:creationId xmlns:a16="http://schemas.microsoft.com/office/drawing/2014/main" id="{F2904907-D386-E744-B0D6-2A064A9BA7D6}"/>
              </a:ext>
            </a:extLst>
          </p:cNvPr>
          <p:cNvSpPr/>
          <p:nvPr/>
        </p:nvSpPr>
        <p:spPr>
          <a:xfrm>
            <a:off x="4453128" y="1433322"/>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Linear Search</a:t>
            </a:r>
            <a:endParaRPr lang="en-US" sz="1200" dirty="0"/>
          </a:p>
        </p:txBody>
      </p:sp>
      <p:sp>
        <p:nvSpPr>
          <p:cNvPr id="25" name="Shape 23">
            <a:extLst>
              <a:ext uri="{FF2B5EF4-FFF2-40B4-BE49-F238E27FC236}">
                <a16:creationId xmlns:a16="http://schemas.microsoft.com/office/drawing/2014/main" id="{8D5DB58C-C19C-BF82-38F2-3520D1D40072}"/>
              </a:ext>
            </a:extLst>
          </p:cNvPr>
          <p:cNvSpPr/>
          <p:nvPr/>
        </p:nvSpPr>
        <p:spPr>
          <a:xfrm>
            <a:off x="2834640" y="2228850"/>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26" name="Shape 24">
            <a:extLst>
              <a:ext uri="{FF2B5EF4-FFF2-40B4-BE49-F238E27FC236}">
                <a16:creationId xmlns:a16="http://schemas.microsoft.com/office/drawing/2014/main" id="{70736680-2F47-383C-0F62-87CCA75E254E}"/>
              </a:ext>
            </a:extLst>
          </p:cNvPr>
          <p:cNvSpPr/>
          <p:nvPr/>
        </p:nvSpPr>
        <p:spPr>
          <a:xfrm>
            <a:off x="3035808" y="2379726"/>
            <a:ext cx="384048" cy="384048"/>
          </a:xfrm>
          <a:prstGeom prst="ellipse">
            <a:avLst/>
          </a:prstGeom>
          <a:solidFill>
            <a:srgbClr val="57E3D8"/>
          </a:solidFill>
          <a:ln w="12700">
            <a:solidFill>
              <a:srgbClr val="57E3D8"/>
            </a:solidFill>
            <a:prstDash val="solid"/>
          </a:ln>
        </p:spPr>
        <p:txBody>
          <a:bodyPr/>
          <a:lstStyle/>
          <a:p>
            <a:endParaRPr lang="en-US"/>
          </a:p>
        </p:txBody>
      </p:sp>
      <p:sp>
        <p:nvSpPr>
          <p:cNvPr id="27" name="Text 25">
            <a:extLst>
              <a:ext uri="{FF2B5EF4-FFF2-40B4-BE49-F238E27FC236}">
                <a16:creationId xmlns:a16="http://schemas.microsoft.com/office/drawing/2014/main" id="{314C9277-EC05-FC71-5EA2-F4407D0C92BB}"/>
              </a:ext>
            </a:extLst>
          </p:cNvPr>
          <p:cNvSpPr/>
          <p:nvPr/>
        </p:nvSpPr>
        <p:spPr>
          <a:xfrm>
            <a:off x="3035808" y="2379726"/>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3</a:t>
            </a:r>
            <a:endParaRPr lang="en-US" sz="1200" dirty="0"/>
          </a:p>
        </p:txBody>
      </p:sp>
      <p:sp>
        <p:nvSpPr>
          <p:cNvPr id="28" name="Text 26">
            <a:extLst>
              <a:ext uri="{FF2B5EF4-FFF2-40B4-BE49-F238E27FC236}">
                <a16:creationId xmlns:a16="http://schemas.microsoft.com/office/drawing/2014/main" id="{30DC768E-4FAE-A61B-FCEC-97E680516D22}"/>
              </a:ext>
            </a:extLst>
          </p:cNvPr>
          <p:cNvSpPr/>
          <p:nvPr/>
        </p:nvSpPr>
        <p:spPr>
          <a:xfrm>
            <a:off x="3584448" y="2320290"/>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3</a:t>
            </a:r>
            <a:endParaRPr lang="en-US" sz="950" dirty="0"/>
          </a:p>
        </p:txBody>
      </p:sp>
      <p:sp>
        <p:nvSpPr>
          <p:cNvPr id="29" name="Shape 27">
            <a:extLst>
              <a:ext uri="{FF2B5EF4-FFF2-40B4-BE49-F238E27FC236}">
                <a16:creationId xmlns:a16="http://schemas.microsoft.com/office/drawing/2014/main" id="{889D4878-03AA-AC42-C788-065DCECAD681}"/>
              </a:ext>
            </a:extLst>
          </p:cNvPr>
          <p:cNvSpPr/>
          <p:nvPr/>
        </p:nvSpPr>
        <p:spPr>
          <a:xfrm>
            <a:off x="4361688" y="2375154"/>
            <a:ext cx="0" cy="393192"/>
          </a:xfrm>
          <a:prstGeom prst="line">
            <a:avLst/>
          </a:prstGeom>
          <a:noFill/>
          <a:ln w="9525">
            <a:solidFill>
              <a:srgbClr val="333355"/>
            </a:solidFill>
            <a:prstDash val="solid"/>
          </a:ln>
        </p:spPr>
        <p:txBody>
          <a:bodyPr/>
          <a:lstStyle/>
          <a:p>
            <a:endParaRPr lang="en-US"/>
          </a:p>
        </p:txBody>
      </p:sp>
      <p:sp>
        <p:nvSpPr>
          <p:cNvPr id="30" name="Text 28">
            <a:extLst>
              <a:ext uri="{FF2B5EF4-FFF2-40B4-BE49-F238E27FC236}">
                <a16:creationId xmlns:a16="http://schemas.microsoft.com/office/drawing/2014/main" id="{431CF177-A807-CE31-1BB2-ECA9F30B5B25}"/>
              </a:ext>
            </a:extLst>
          </p:cNvPr>
          <p:cNvSpPr/>
          <p:nvPr/>
        </p:nvSpPr>
        <p:spPr>
          <a:xfrm>
            <a:off x="4453128" y="2228850"/>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Binary Search</a:t>
            </a:r>
            <a:endParaRPr lang="en-US" sz="1200" dirty="0"/>
          </a:p>
        </p:txBody>
      </p:sp>
      <p:sp>
        <p:nvSpPr>
          <p:cNvPr id="31" name="Shape 29">
            <a:extLst>
              <a:ext uri="{FF2B5EF4-FFF2-40B4-BE49-F238E27FC236}">
                <a16:creationId xmlns:a16="http://schemas.microsoft.com/office/drawing/2014/main" id="{71BB9B55-CFA0-B2B9-D0D5-F9F84E14A700}"/>
              </a:ext>
            </a:extLst>
          </p:cNvPr>
          <p:cNvSpPr/>
          <p:nvPr/>
        </p:nvSpPr>
        <p:spPr>
          <a:xfrm>
            <a:off x="2834640" y="3024378"/>
            <a:ext cx="6035040" cy="685800"/>
          </a:xfrm>
          <a:prstGeom prst="roundRect">
            <a:avLst>
              <a:gd name="adj" fmla="val 10667"/>
            </a:avLst>
          </a:prstGeom>
          <a:solidFill>
            <a:srgbClr val="16243A"/>
          </a:solidFill>
          <a:ln w="22225">
            <a:solidFill>
              <a:srgbClr val="57E3D8"/>
            </a:solidFill>
            <a:prstDash val="solid"/>
          </a:ln>
        </p:spPr>
        <p:txBody>
          <a:bodyPr/>
          <a:lstStyle/>
          <a:p>
            <a:endParaRPr lang="en-US"/>
          </a:p>
        </p:txBody>
      </p:sp>
      <p:sp>
        <p:nvSpPr>
          <p:cNvPr id="32" name="Shape 30">
            <a:extLst>
              <a:ext uri="{FF2B5EF4-FFF2-40B4-BE49-F238E27FC236}">
                <a16:creationId xmlns:a16="http://schemas.microsoft.com/office/drawing/2014/main" id="{591074AD-EEAF-CC1A-C64F-70E9EAAE6F93}"/>
              </a:ext>
            </a:extLst>
          </p:cNvPr>
          <p:cNvSpPr/>
          <p:nvPr/>
        </p:nvSpPr>
        <p:spPr>
          <a:xfrm>
            <a:off x="3035808" y="3175254"/>
            <a:ext cx="384048" cy="384048"/>
          </a:xfrm>
          <a:prstGeom prst="ellipse">
            <a:avLst/>
          </a:prstGeom>
          <a:solidFill>
            <a:srgbClr val="57E3D8"/>
          </a:solidFill>
          <a:ln w="12700">
            <a:solidFill>
              <a:srgbClr val="57E3D8"/>
            </a:solidFill>
            <a:prstDash val="solid"/>
          </a:ln>
        </p:spPr>
        <p:txBody>
          <a:bodyPr/>
          <a:lstStyle/>
          <a:p>
            <a:endParaRPr lang="en-US"/>
          </a:p>
        </p:txBody>
      </p:sp>
      <p:sp>
        <p:nvSpPr>
          <p:cNvPr id="33" name="Text 31">
            <a:extLst>
              <a:ext uri="{FF2B5EF4-FFF2-40B4-BE49-F238E27FC236}">
                <a16:creationId xmlns:a16="http://schemas.microsoft.com/office/drawing/2014/main" id="{72C1DB4C-7A30-FDE6-FBB2-5ED7FA0966C0}"/>
              </a:ext>
            </a:extLst>
          </p:cNvPr>
          <p:cNvSpPr/>
          <p:nvPr/>
        </p:nvSpPr>
        <p:spPr>
          <a:xfrm>
            <a:off x="3035808" y="3175254"/>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4</a:t>
            </a:r>
            <a:endParaRPr lang="en-US" sz="1200" dirty="0"/>
          </a:p>
        </p:txBody>
      </p:sp>
      <p:sp>
        <p:nvSpPr>
          <p:cNvPr id="34" name="Text 32">
            <a:extLst>
              <a:ext uri="{FF2B5EF4-FFF2-40B4-BE49-F238E27FC236}">
                <a16:creationId xmlns:a16="http://schemas.microsoft.com/office/drawing/2014/main" id="{20D7429D-968C-6CC1-CB67-49328C66BFFF}"/>
              </a:ext>
            </a:extLst>
          </p:cNvPr>
          <p:cNvSpPr/>
          <p:nvPr/>
        </p:nvSpPr>
        <p:spPr>
          <a:xfrm>
            <a:off x="3584448" y="3115818"/>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4</a:t>
            </a:r>
            <a:endParaRPr lang="en-US" sz="950" dirty="0"/>
          </a:p>
        </p:txBody>
      </p:sp>
      <p:sp>
        <p:nvSpPr>
          <p:cNvPr id="35" name="Shape 33">
            <a:extLst>
              <a:ext uri="{FF2B5EF4-FFF2-40B4-BE49-F238E27FC236}">
                <a16:creationId xmlns:a16="http://schemas.microsoft.com/office/drawing/2014/main" id="{C00E2499-AF17-8119-3E32-ED104BE2C408}"/>
              </a:ext>
            </a:extLst>
          </p:cNvPr>
          <p:cNvSpPr/>
          <p:nvPr/>
        </p:nvSpPr>
        <p:spPr>
          <a:xfrm>
            <a:off x="4361688" y="3170682"/>
            <a:ext cx="0" cy="393192"/>
          </a:xfrm>
          <a:prstGeom prst="line">
            <a:avLst/>
          </a:prstGeom>
          <a:noFill/>
          <a:ln w="9525">
            <a:solidFill>
              <a:srgbClr val="333355"/>
            </a:solidFill>
            <a:prstDash val="solid"/>
          </a:ln>
        </p:spPr>
        <p:txBody>
          <a:bodyPr/>
          <a:lstStyle/>
          <a:p>
            <a:endParaRPr lang="en-US"/>
          </a:p>
        </p:txBody>
      </p:sp>
      <p:sp>
        <p:nvSpPr>
          <p:cNvPr id="36" name="Text 34">
            <a:extLst>
              <a:ext uri="{FF2B5EF4-FFF2-40B4-BE49-F238E27FC236}">
                <a16:creationId xmlns:a16="http://schemas.microsoft.com/office/drawing/2014/main" id="{5CBCAC83-FE09-B41B-A792-27B20AAC85CA}"/>
              </a:ext>
            </a:extLst>
          </p:cNvPr>
          <p:cNvSpPr/>
          <p:nvPr/>
        </p:nvSpPr>
        <p:spPr>
          <a:xfrm>
            <a:off x="4453128" y="3024378"/>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Bubble Sort</a:t>
            </a:r>
            <a:endParaRPr lang="en-US" sz="1200" dirty="0"/>
          </a:p>
        </p:txBody>
      </p:sp>
      <p:sp>
        <p:nvSpPr>
          <p:cNvPr id="37" name="Shape 35">
            <a:extLst>
              <a:ext uri="{FF2B5EF4-FFF2-40B4-BE49-F238E27FC236}">
                <a16:creationId xmlns:a16="http://schemas.microsoft.com/office/drawing/2014/main" id="{56457514-840D-17B8-1CA3-22F36C9B7732}"/>
              </a:ext>
            </a:extLst>
          </p:cNvPr>
          <p:cNvSpPr/>
          <p:nvPr/>
        </p:nvSpPr>
        <p:spPr>
          <a:xfrm>
            <a:off x="2834640" y="3819906"/>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38" name="Shape 36">
            <a:extLst>
              <a:ext uri="{FF2B5EF4-FFF2-40B4-BE49-F238E27FC236}">
                <a16:creationId xmlns:a16="http://schemas.microsoft.com/office/drawing/2014/main" id="{9DF37A64-ED3D-4331-0DFF-1C08C1392C97}"/>
              </a:ext>
            </a:extLst>
          </p:cNvPr>
          <p:cNvSpPr/>
          <p:nvPr/>
        </p:nvSpPr>
        <p:spPr>
          <a:xfrm>
            <a:off x="3035808" y="3970782"/>
            <a:ext cx="384048" cy="384048"/>
          </a:xfrm>
          <a:prstGeom prst="ellipse">
            <a:avLst/>
          </a:prstGeom>
          <a:solidFill>
            <a:srgbClr val="57E3D8"/>
          </a:solidFill>
          <a:ln w="12700">
            <a:solidFill>
              <a:srgbClr val="57E3D8"/>
            </a:solidFill>
            <a:prstDash val="solid"/>
          </a:ln>
        </p:spPr>
        <p:txBody>
          <a:bodyPr/>
          <a:lstStyle/>
          <a:p>
            <a:endParaRPr lang="en-US"/>
          </a:p>
        </p:txBody>
      </p:sp>
      <p:sp>
        <p:nvSpPr>
          <p:cNvPr id="39" name="Text 37">
            <a:extLst>
              <a:ext uri="{FF2B5EF4-FFF2-40B4-BE49-F238E27FC236}">
                <a16:creationId xmlns:a16="http://schemas.microsoft.com/office/drawing/2014/main" id="{4E4D50F2-2BDB-5D2A-D738-38A75BE73FEC}"/>
              </a:ext>
            </a:extLst>
          </p:cNvPr>
          <p:cNvSpPr/>
          <p:nvPr/>
        </p:nvSpPr>
        <p:spPr>
          <a:xfrm>
            <a:off x="3035808" y="3970782"/>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5</a:t>
            </a:r>
            <a:endParaRPr lang="en-US" sz="1200" dirty="0"/>
          </a:p>
        </p:txBody>
      </p:sp>
      <p:sp>
        <p:nvSpPr>
          <p:cNvPr id="40" name="Text 38">
            <a:extLst>
              <a:ext uri="{FF2B5EF4-FFF2-40B4-BE49-F238E27FC236}">
                <a16:creationId xmlns:a16="http://schemas.microsoft.com/office/drawing/2014/main" id="{AD1F2660-4698-BAA4-6ECB-D1AD7F28A049}"/>
              </a:ext>
            </a:extLst>
          </p:cNvPr>
          <p:cNvSpPr/>
          <p:nvPr/>
        </p:nvSpPr>
        <p:spPr>
          <a:xfrm>
            <a:off x="3584448" y="3911346"/>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5</a:t>
            </a:r>
            <a:endParaRPr lang="en-US" sz="950" dirty="0"/>
          </a:p>
        </p:txBody>
      </p:sp>
      <p:sp>
        <p:nvSpPr>
          <p:cNvPr id="41" name="Shape 39">
            <a:extLst>
              <a:ext uri="{FF2B5EF4-FFF2-40B4-BE49-F238E27FC236}">
                <a16:creationId xmlns:a16="http://schemas.microsoft.com/office/drawing/2014/main" id="{D73F017A-5189-2942-0DBD-BF028C8152BF}"/>
              </a:ext>
            </a:extLst>
          </p:cNvPr>
          <p:cNvSpPr/>
          <p:nvPr/>
        </p:nvSpPr>
        <p:spPr>
          <a:xfrm>
            <a:off x="4361688" y="3966210"/>
            <a:ext cx="0" cy="393192"/>
          </a:xfrm>
          <a:prstGeom prst="line">
            <a:avLst/>
          </a:prstGeom>
          <a:noFill/>
          <a:ln w="9525">
            <a:solidFill>
              <a:srgbClr val="333355"/>
            </a:solidFill>
            <a:prstDash val="solid"/>
          </a:ln>
        </p:spPr>
        <p:txBody>
          <a:bodyPr/>
          <a:lstStyle/>
          <a:p>
            <a:endParaRPr lang="en-US"/>
          </a:p>
        </p:txBody>
      </p:sp>
      <p:sp>
        <p:nvSpPr>
          <p:cNvPr id="42" name="Text 40">
            <a:extLst>
              <a:ext uri="{FF2B5EF4-FFF2-40B4-BE49-F238E27FC236}">
                <a16:creationId xmlns:a16="http://schemas.microsoft.com/office/drawing/2014/main" id="{6D890D9C-81A6-2603-64EC-51DA4BF1757F}"/>
              </a:ext>
            </a:extLst>
          </p:cNvPr>
          <p:cNvSpPr/>
          <p:nvPr/>
        </p:nvSpPr>
        <p:spPr>
          <a:xfrm>
            <a:off x="4453128" y="3819906"/>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Selection &amp; Insertion Sort + comparison</a:t>
            </a:r>
            <a:endParaRPr lang="en-US" sz="1200" dirty="0"/>
          </a:p>
        </p:txBody>
      </p:sp>
    </p:spTree>
    <p:extLst>
      <p:ext uri="{BB962C8B-B14F-4D97-AF65-F5344CB8AC3E}">
        <p14:creationId xmlns:p14="http://schemas.microsoft.com/office/powerpoint/2010/main" val="4089634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313FDBC-5DDD-9D99-0C14-ACF6DD9AF588}"/>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42E06120-A5BA-0588-9AFC-314C5FEDBA69}"/>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31E6587E-9A93-DCDC-751E-D59249E30628}"/>
              </a:ext>
            </a:extLst>
          </p:cNvPr>
          <p:cNvSpPr/>
          <p:nvPr/>
        </p:nvSpPr>
        <p:spPr>
          <a:xfrm>
            <a:off x="365760" y="274320"/>
            <a:ext cx="1371600" cy="868680"/>
          </a:xfrm>
          <a:prstGeom prst="rect">
            <a:avLst/>
          </a:prstGeom>
          <a:solidFill>
            <a:srgbClr val="57E3D8"/>
          </a:solidFill>
          <a:ln w="12700">
            <a:solidFill>
              <a:srgbClr val="57E3D8"/>
            </a:solidFill>
            <a:prstDash val="solid"/>
          </a:ln>
        </p:spPr>
        <p:txBody>
          <a:bodyPr/>
          <a:lstStyle/>
          <a:p>
            <a:endParaRPr lang="en-US"/>
          </a:p>
        </p:txBody>
      </p:sp>
      <p:sp>
        <p:nvSpPr>
          <p:cNvPr id="5" name="Text 3">
            <a:extLst>
              <a:ext uri="{FF2B5EF4-FFF2-40B4-BE49-F238E27FC236}">
                <a16:creationId xmlns:a16="http://schemas.microsoft.com/office/drawing/2014/main" id="{C67D5CF5-DB10-704C-D443-9DD16F3972AE}"/>
              </a:ext>
            </a:extLst>
          </p:cNvPr>
          <p:cNvSpPr/>
          <p:nvPr/>
        </p:nvSpPr>
        <p:spPr>
          <a:xfrm>
            <a:off x="365760" y="274320"/>
            <a:ext cx="1371600" cy="868680"/>
          </a:xfrm>
          <a:prstGeom prst="rect">
            <a:avLst/>
          </a:prstGeom>
          <a:noFill/>
          <a:ln/>
        </p:spPr>
        <p:txBody>
          <a:bodyPr wrap="square" lIns="0" tIns="0" rIns="0" bIns="0" rtlCol="0" anchor="ctr"/>
          <a:lstStyle/>
          <a:p>
            <a:pPr marL="0" indent="0" algn="ctr">
              <a:buNone/>
            </a:pPr>
            <a:r>
              <a:rPr lang="en-US" sz="1200" b="1" dirty="0">
                <a:solidFill>
                  <a:srgbClr val="0A2020"/>
                </a:solidFill>
                <a:latin typeface="Calibri" pitchFamily="34" charset="0"/>
                <a:ea typeface="Calibri" pitchFamily="34" charset="-122"/>
                <a:cs typeface="Calibri" pitchFamily="34" charset="-120"/>
              </a:rPr>
              <a:t>DAY</a:t>
            </a:r>
            <a:endParaRPr lang="en-US" sz="1200" dirty="0"/>
          </a:p>
          <a:p>
            <a:pPr marL="0" indent="0" algn="ctr">
              <a:buNone/>
            </a:pPr>
            <a:r>
              <a:rPr lang="en-US" sz="3200" b="1" dirty="0">
                <a:solidFill>
                  <a:srgbClr val="0A2020"/>
                </a:solidFill>
                <a:latin typeface="Calibri" pitchFamily="34" charset="0"/>
                <a:ea typeface="Calibri" pitchFamily="34" charset="-122"/>
                <a:cs typeface="Calibri" pitchFamily="34" charset="-120"/>
              </a:rPr>
              <a:t>4</a:t>
            </a:r>
            <a:endParaRPr lang="en-US" sz="1200" dirty="0"/>
          </a:p>
        </p:txBody>
      </p:sp>
      <p:sp>
        <p:nvSpPr>
          <p:cNvPr id="6" name="Text 4">
            <a:extLst>
              <a:ext uri="{FF2B5EF4-FFF2-40B4-BE49-F238E27FC236}">
                <a16:creationId xmlns:a16="http://schemas.microsoft.com/office/drawing/2014/main" id="{2618CB18-7DD1-DE12-784E-1AD843D14FD8}"/>
              </a:ext>
            </a:extLst>
          </p:cNvPr>
          <p:cNvSpPr/>
          <p:nvPr/>
        </p:nvSpPr>
        <p:spPr>
          <a:xfrm>
            <a:off x="4846320" y="292608"/>
            <a:ext cx="4023360" cy="256032"/>
          </a:xfrm>
          <a:prstGeom prst="rect">
            <a:avLst/>
          </a:prstGeom>
          <a:noFill/>
          <a:ln/>
        </p:spPr>
        <p:txBody>
          <a:bodyPr wrap="square" lIns="0" tIns="0" rIns="0" bIns="0" rtlCol="0" anchor="ctr"/>
          <a:lstStyle/>
          <a:p>
            <a:pPr marL="0" indent="0" algn="r">
              <a:buNone/>
            </a:pPr>
            <a:r>
              <a:rPr lang="en-US" sz="1000" dirty="0">
                <a:solidFill>
                  <a:srgbClr val="9AA4B2"/>
                </a:solidFill>
                <a:latin typeface="Calibri" pitchFamily="34" charset="0"/>
                <a:ea typeface="Calibri" pitchFamily="34" charset="-122"/>
                <a:cs typeface="Calibri" pitchFamily="34" charset="-120"/>
              </a:rPr>
              <a:t>Foundation Bootcamp  ·  Programming Fundamentals</a:t>
            </a:r>
            <a:endParaRPr lang="en-US" sz="1000" dirty="0"/>
          </a:p>
        </p:txBody>
      </p:sp>
      <p:sp>
        <p:nvSpPr>
          <p:cNvPr id="7" name="Text 5">
            <a:extLst>
              <a:ext uri="{FF2B5EF4-FFF2-40B4-BE49-F238E27FC236}">
                <a16:creationId xmlns:a16="http://schemas.microsoft.com/office/drawing/2014/main" id="{AB2A5451-C4E1-38AA-05F1-72B37457912F}"/>
              </a:ext>
            </a:extLst>
          </p:cNvPr>
          <p:cNvSpPr/>
          <p:nvPr/>
        </p:nvSpPr>
        <p:spPr>
          <a:xfrm>
            <a:off x="4846320" y="566928"/>
            <a:ext cx="4023360" cy="256032"/>
          </a:xfrm>
          <a:prstGeom prst="rect">
            <a:avLst/>
          </a:prstGeom>
          <a:noFill/>
          <a:ln/>
        </p:spPr>
        <p:txBody>
          <a:bodyPr wrap="square" lIns="0" tIns="0" rIns="0" bIns="0" rtlCol="0" anchor="ctr"/>
          <a:lstStyle/>
          <a:p>
            <a:pPr marL="0" indent="0" algn="r">
              <a:buNone/>
            </a:pPr>
            <a:r>
              <a:rPr lang="en-US" sz="1000" b="1" dirty="0">
                <a:solidFill>
                  <a:srgbClr val="57E3D8"/>
                </a:solidFill>
                <a:latin typeface="Calibri" pitchFamily="34" charset="0"/>
                <a:ea typeface="Calibri" pitchFamily="34" charset="-122"/>
                <a:cs typeface="Calibri" pitchFamily="34" charset="-120"/>
              </a:rPr>
              <a:t>Week 3  ·  Session 4</a:t>
            </a:r>
            <a:endParaRPr lang="en-US" sz="1000" dirty="0"/>
          </a:p>
        </p:txBody>
      </p:sp>
      <p:sp>
        <p:nvSpPr>
          <p:cNvPr id="8" name="Shape 6">
            <a:extLst>
              <a:ext uri="{FF2B5EF4-FFF2-40B4-BE49-F238E27FC236}">
                <a16:creationId xmlns:a16="http://schemas.microsoft.com/office/drawing/2014/main" id="{FAD083D8-2D1F-92BE-05A6-90E9ABE83F24}"/>
              </a:ext>
            </a:extLst>
          </p:cNvPr>
          <p:cNvSpPr/>
          <p:nvPr/>
        </p:nvSpPr>
        <p:spPr>
          <a:xfrm>
            <a:off x="365760" y="1298448"/>
            <a:ext cx="8412480" cy="1463040"/>
          </a:xfrm>
          <a:prstGeom prst="rect">
            <a:avLst/>
          </a:prstGeom>
          <a:solidFill>
            <a:srgbClr val="1A1A2E"/>
          </a:solidFill>
          <a:ln w="19050">
            <a:solidFill>
              <a:srgbClr val="57E3D8"/>
            </a:solidFill>
            <a:prstDash val="solid"/>
          </a:ln>
        </p:spPr>
        <p:txBody>
          <a:bodyPr/>
          <a:lstStyle/>
          <a:p>
            <a:endParaRPr lang="en-US"/>
          </a:p>
        </p:txBody>
      </p:sp>
      <p:sp>
        <p:nvSpPr>
          <p:cNvPr id="9" name="Shape 7">
            <a:extLst>
              <a:ext uri="{FF2B5EF4-FFF2-40B4-BE49-F238E27FC236}">
                <a16:creationId xmlns:a16="http://schemas.microsoft.com/office/drawing/2014/main" id="{0D5704D3-3BF1-E3E5-328C-6FEE31360790}"/>
              </a:ext>
            </a:extLst>
          </p:cNvPr>
          <p:cNvSpPr/>
          <p:nvPr/>
        </p:nvSpPr>
        <p:spPr>
          <a:xfrm>
            <a:off x="365760" y="1298448"/>
            <a:ext cx="109728" cy="1463040"/>
          </a:xfrm>
          <a:prstGeom prst="rect">
            <a:avLst/>
          </a:prstGeom>
          <a:solidFill>
            <a:srgbClr val="57E3D8"/>
          </a:solidFill>
          <a:ln w="12700">
            <a:solidFill>
              <a:srgbClr val="57E3D8"/>
            </a:solidFill>
            <a:prstDash val="solid"/>
          </a:ln>
        </p:spPr>
        <p:txBody>
          <a:bodyPr/>
          <a:lstStyle/>
          <a:p>
            <a:endParaRPr lang="en-US"/>
          </a:p>
        </p:txBody>
      </p:sp>
      <p:sp>
        <p:nvSpPr>
          <p:cNvPr id="10" name="Text 8">
            <a:extLst>
              <a:ext uri="{FF2B5EF4-FFF2-40B4-BE49-F238E27FC236}">
                <a16:creationId xmlns:a16="http://schemas.microsoft.com/office/drawing/2014/main" id="{D3858319-3A4E-91B1-C2EA-3847BFD5134B}"/>
              </a:ext>
            </a:extLst>
          </p:cNvPr>
          <p:cNvSpPr/>
          <p:nvPr/>
        </p:nvSpPr>
        <p:spPr>
          <a:xfrm>
            <a:off x="685800" y="1417320"/>
            <a:ext cx="3657600" cy="274320"/>
          </a:xfrm>
          <a:prstGeom prst="rect">
            <a:avLst/>
          </a:prstGeom>
          <a:noFill/>
          <a:ln/>
        </p:spPr>
        <p:txBody>
          <a:bodyPr wrap="square" lIns="0" tIns="0" rIns="0" bIns="0" rtlCol="0" anchor="ctr"/>
          <a:lstStyle/>
          <a:p>
            <a:pPr marL="0" indent="0" algn="l">
              <a:buNone/>
            </a:pPr>
            <a:r>
              <a:rPr lang="en-US" sz="1300" i="1" dirty="0">
                <a:solidFill>
                  <a:srgbClr val="9AA4B2"/>
                </a:solidFill>
                <a:latin typeface="Calibri" pitchFamily="34" charset="0"/>
                <a:ea typeface="Calibri" pitchFamily="34" charset="-122"/>
                <a:cs typeface="Calibri" pitchFamily="34" charset="-120"/>
              </a:rPr>
              <a:t>Today's Topics</a:t>
            </a:r>
            <a:endParaRPr lang="en-US" sz="1300" dirty="0"/>
          </a:p>
        </p:txBody>
      </p:sp>
      <p:sp>
        <p:nvSpPr>
          <p:cNvPr id="11" name="Text 9">
            <a:extLst>
              <a:ext uri="{FF2B5EF4-FFF2-40B4-BE49-F238E27FC236}">
                <a16:creationId xmlns:a16="http://schemas.microsoft.com/office/drawing/2014/main" id="{F7576970-1165-68A7-9A7D-AF857B550642}"/>
              </a:ext>
            </a:extLst>
          </p:cNvPr>
          <p:cNvSpPr/>
          <p:nvPr/>
        </p:nvSpPr>
        <p:spPr>
          <a:xfrm>
            <a:off x="685800" y="1737360"/>
            <a:ext cx="795528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Bubble Sort</a:t>
            </a:r>
            <a:endParaRPr lang="en-US" sz="4000" dirty="0"/>
          </a:p>
        </p:txBody>
      </p:sp>
      <p:sp>
        <p:nvSpPr>
          <p:cNvPr id="12" name="Shape 10">
            <a:extLst>
              <a:ext uri="{FF2B5EF4-FFF2-40B4-BE49-F238E27FC236}">
                <a16:creationId xmlns:a16="http://schemas.microsoft.com/office/drawing/2014/main" id="{8F5FA2A2-3F2F-83FD-13B0-8F916BDF8B68}"/>
              </a:ext>
            </a:extLst>
          </p:cNvPr>
          <p:cNvSpPr/>
          <p:nvPr/>
        </p:nvSpPr>
        <p:spPr>
          <a:xfrm>
            <a:off x="448056" y="2971800"/>
            <a:ext cx="1965960" cy="256032"/>
          </a:xfrm>
          <a:prstGeom prst="rect">
            <a:avLst/>
          </a:prstGeom>
          <a:solidFill>
            <a:srgbClr val="57E3D8"/>
          </a:solidFill>
          <a:ln w="12700">
            <a:solidFill>
              <a:srgbClr val="57E3D8"/>
            </a:solidFill>
            <a:prstDash val="solid"/>
          </a:ln>
        </p:spPr>
        <p:txBody>
          <a:bodyPr/>
          <a:lstStyle/>
          <a:p>
            <a:endParaRPr lang="en-US"/>
          </a:p>
        </p:txBody>
      </p:sp>
      <p:sp>
        <p:nvSpPr>
          <p:cNvPr id="13" name="Text 11">
            <a:extLst>
              <a:ext uri="{FF2B5EF4-FFF2-40B4-BE49-F238E27FC236}">
                <a16:creationId xmlns:a16="http://schemas.microsoft.com/office/drawing/2014/main" id="{44B0681B-DD72-BBAA-CF9F-BAB2A3B94A02}"/>
              </a:ext>
            </a:extLst>
          </p:cNvPr>
          <p:cNvSpPr/>
          <p:nvPr/>
        </p:nvSpPr>
        <p:spPr>
          <a:xfrm>
            <a:off x="557784"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01</a:t>
            </a:r>
            <a:endParaRPr lang="en-US" sz="1000" dirty="0"/>
          </a:p>
        </p:txBody>
      </p:sp>
      <p:sp>
        <p:nvSpPr>
          <p:cNvPr id="14" name="Shape 12">
            <a:extLst>
              <a:ext uri="{FF2B5EF4-FFF2-40B4-BE49-F238E27FC236}">
                <a16:creationId xmlns:a16="http://schemas.microsoft.com/office/drawing/2014/main" id="{863F2B03-F032-249B-78BC-7A866DB649EF}"/>
              </a:ext>
            </a:extLst>
          </p:cNvPr>
          <p:cNvSpPr/>
          <p:nvPr/>
        </p:nvSpPr>
        <p:spPr>
          <a:xfrm>
            <a:off x="448056"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15" name="Shape 13">
            <a:extLst>
              <a:ext uri="{FF2B5EF4-FFF2-40B4-BE49-F238E27FC236}">
                <a16:creationId xmlns:a16="http://schemas.microsoft.com/office/drawing/2014/main" id="{BEB099FC-10EB-F5A1-0946-B88DCE86BBD5}"/>
              </a:ext>
            </a:extLst>
          </p:cNvPr>
          <p:cNvSpPr/>
          <p:nvPr/>
        </p:nvSpPr>
        <p:spPr>
          <a:xfrm>
            <a:off x="1147572" y="3383280"/>
            <a:ext cx="566928" cy="566928"/>
          </a:xfrm>
          <a:prstGeom prst="ellipse">
            <a:avLst/>
          </a:prstGeom>
          <a:solidFill>
            <a:srgbClr val="1A1A2E"/>
          </a:solidFill>
          <a:ln w="19050">
            <a:solidFill>
              <a:srgbClr val="57E3D8"/>
            </a:solidFill>
            <a:prstDash val="solid"/>
          </a:ln>
        </p:spPr>
        <p:txBody>
          <a:bodyPr/>
          <a:lstStyle/>
          <a:p>
            <a:endParaRPr lang="en-US"/>
          </a:p>
        </p:txBody>
      </p:sp>
      <p:pic>
        <p:nvPicPr>
          <p:cNvPr id="16" name="Image 0" descr="preencoded.png">
            <a:extLst>
              <a:ext uri="{FF2B5EF4-FFF2-40B4-BE49-F238E27FC236}">
                <a16:creationId xmlns:a16="http://schemas.microsoft.com/office/drawing/2014/main" id="{2BB8682D-961A-DD53-45ED-B5032D0B87E6}"/>
              </a:ext>
            </a:extLst>
          </p:cNvPr>
          <p:cNvPicPr>
            <a:picLocks noChangeAspect="1"/>
          </p:cNvPicPr>
          <p:nvPr/>
        </p:nvPicPr>
        <p:blipFill>
          <a:blip r:embed="rId2"/>
          <a:stretch>
            <a:fillRect/>
          </a:stretch>
        </p:blipFill>
        <p:spPr>
          <a:xfrm>
            <a:off x="1284732" y="3520440"/>
            <a:ext cx="292608" cy="292608"/>
          </a:xfrm>
          <a:prstGeom prst="rect">
            <a:avLst/>
          </a:prstGeom>
        </p:spPr>
      </p:pic>
      <p:sp>
        <p:nvSpPr>
          <p:cNvPr id="17" name="Text 14">
            <a:extLst>
              <a:ext uri="{FF2B5EF4-FFF2-40B4-BE49-F238E27FC236}">
                <a16:creationId xmlns:a16="http://schemas.microsoft.com/office/drawing/2014/main" id="{A012E61B-F8AB-45CD-A4DE-3F1327EF0708}"/>
              </a:ext>
            </a:extLst>
          </p:cNvPr>
          <p:cNvSpPr/>
          <p:nvPr/>
        </p:nvSpPr>
        <p:spPr>
          <a:xfrm>
            <a:off x="539496" y="3995928"/>
            <a:ext cx="1783080" cy="256032"/>
          </a:xfrm>
          <a:prstGeom prst="rect">
            <a:avLst/>
          </a:prstGeom>
          <a:noFill/>
          <a:ln/>
        </p:spPr>
        <p:txBody>
          <a:bodyPr wrap="square" lIns="0" tIns="0" rIns="0" bIns="0" rtlCol="0" anchor="ctr"/>
          <a:lstStyle/>
          <a:p>
            <a:pPr marL="0" indent="0" algn="l">
              <a:buNone/>
            </a:pPr>
            <a:r>
              <a:rPr lang="en-US" sz="1250" b="1" dirty="0">
                <a:solidFill>
                  <a:srgbClr val="57E3D8"/>
                </a:solidFill>
                <a:latin typeface="Calibri" pitchFamily="34" charset="0"/>
                <a:ea typeface="Calibri" pitchFamily="34" charset="-122"/>
                <a:cs typeface="Calibri" pitchFamily="34" charset="-120"/>
              </a:rPr>
              <a:t>The Sorting Problem</a:t>
            </a:r>
            <a:endParaRPr lang="en-US" sz="1250" dirty="0"/>
          </a:p>
        </p:txBody>
      </p:sp>
      <p:sp>
        <p:nvSpPr>
          <p:cNvPr id="18" name="Text 15">
            <a:extLst>
              <a:ext uri="{FF2B5EF4-FFF2-40B4-BE49-F238E27FC236}">
                <a16:creationId xmlns:a16="http://schemas.microsoft.com/office/drawing/2014/main" id="{0E81D8A6-1D5A-C81F-0678-FB64F8ADF628}"/>
              </a:ext>
            </a:extLst>
          </p:cNvPr>
          <p:cNvSpPr/>
          <p:nvPr/>
        </p:nvSpPr>
        <p:spPr>
          <a:xfrm>
            <a:off x="539496"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Why arranging items in order is a fundamental task that powers every other algorithm</a:t>
            </a:r>
            <a:endParaRPr lang="en-US" sz="900" dirty="0"/>
          </a:p>
        </p:txBody>
      </p:sp>
      <p:sp>
        <p:nvSpPr>
          <p:cNvPr id="19" name="Shape 16">
            <a:extLst>
              <a:ext uri="{FF2B5EF4-FFF2-40B4-BE49-F238E27FC236}">
                <a16:creationId xmlns:a16="http://schemas.microsoft.com/office/drawing/2014/main" id="{509FF1E3-7F95-BF77-7884-C3713707FFEB}"/>
              </a:ext>
            </a:extLst>
          </p:cNvPr>
          <p:cNvSpPr/>
          <p:nvPr/>
        </p:nvSpPr>
        <p:spPr>
          <a:xfrm>
            <a:off x="2542032" y="2971800"/>
            <a:ext cx="1965960" cy="256032"/>
          </a:xfrm>
          <a:prstGeom prst="rect">
            <a:avLst/>
          </a:prstGeom>
          <a:solidFill>
            <a:srgbClr val="4A8AF4"/>
          </a:solidFill>
          <a:ln w="12700">
            <a:solidFill>
              <a:srgbClr val="4A8AF4"/>
            </a:solidFill>
            <a:prstDash val="solid"/>
          </a:ln>
        </p:spPr>
        <p:txBody>
          <a:bodyPr/>
          <a:lstStyle/>
          <a:p>
            <a:endParaRPr lang="en-US"/>
          </a:p>
        </p:txBody>
      </p:sp>
      <p:sp>
        <p:nvSpPr>
          <p:cNvPr id="20" name="Text 17">
            <a:extLst>
              <a:ext uri="{FF2B5EF4-FFF2-40B4-BE49-F238E27FC236}">
                <a16:creationId xmlns:a16="http://schemas.microsoft.com/office/drawing/2014/main" id="{D783B96E-964E-98F7-1DBA-93833A52BCDA}"/>
              </a:ext>
            </a:extLst>
          </p:cNvPr>
          <p:cNvSpPr/>
          <p:nvPr/>
        </p:nvSpPr>
        <p:spPr>
          <a:xfrm>
            <a:off x="2651760"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02</a:t>
            </a:r>
            <a:endParaRPr lang="en-US" sz="1000" dirty="0"/>
          </a:p>
        </p:txBody>
      </p:sp>
      <p:sp>
        <p:nvSpPr>
          <p:cNvPr id="21" name="Shape 18">
            <a:extLst>
              <a:ext uri="{FF2B5EF4-FFF2-40B4-BE49-F238E27FC236}">
                <a16:creationId xmlns:a16="http://schemas.microsoft.com/office/drawing/2014/main" id="{6FFD5674-F734-94AD-0AC9-E1FA43B9DB81}"/>
              </a:ext>
            </a:extLst>
          </p:cNvPr>
          <p:cNvSpPr/>
          <p:nvPr/>
        </p:nvSpPr>
        <p:spPr>
          <a:xfrm>
            <a:off x="2542032"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2" name="Shape 19">
            <a:extLst>
              <a:ext uri="{FF2B5EF4-FFF2-40B4-BE49-F238E27FC236}">
                <a16:creationId xmlns:a16="http://schemas.microsoft.com/office/drawing/2014/main" id="{9D2A8F47-C25F-DCA5-15B0-45A6A6E685C0}"/>
              </a:ext>
            </a:extLst>
          </p:cNvPr>
          <p:cNvSpPr/>
          <p:nvPr/>
        </p:nvSpPr>
        <p:spPr>
          <a:xfrm>
            <a:off x="3241548" y="3383280"/>
            <a:ext cx="566928" cy="566928"/>
          </a:xfrm>
          <a:prstGeom prst="ellipse">
            <a:avLst/>
          </a:prstGeom>
          <a:solidFill>
            <a:srgbClr val="1A1A2E"/>
          </a:solidFill>
          <a:ln w="19050">
            <a:solidFill>
              <a:srgbClr val="4A8AF4"/>
            </a:solidFill>
            <a:prstDash val="solid"/>
          </a:ln>
        </p:spPr>
        <p:txBody>
          <a:bodyPr/>
          <a:lstStyle/>
          <a:p>
            <a:endParaRPr lang="en-US"/>
          </a:p>
        </p:txBody>
      </p:sp>
      <p:pic>
        <p:nvPicPr>
          <p:cNvPr id="23" name="Image 1" descr="preencoded.png">
            <a:extLst>
              <a:ext uri="{FF2B5EF4-FFF2-40B4-BE49-F238E27FC236}">
                <a16:creationId xmlns:a16="http://schemas.microsoft.com/office/drawing/2014/main" id="{412C1324-714A-69F6-27F7-4F9223D687B9}"/>
              </a:ext>
            </a:extLst>
          </p:cNvPr>
          <p:cNvPicPr>
            <a:picLocks noChangeAspect="1"/>
          </p:cNvPicPr>
          <p:nvPr/>
        </p:nvPicPr>
        <p:blipFill>
          <a:blip r:embed="rId3"/>
          <a:stretch>
            <a:fillRect/>
          </a:stretch>
        </p:blipFill>
        <p:spPr>
          <a:xfrm>
            <a:off x="3378708" y="3520440"/>
            <a:ext cx="292608" cy="292608"/>
          </a:xfrm>
          <a:prstGeom prst="rect">
            <a:avLst/>
          </a:prstGeom>
        </p:spPr>
      </p:pic>
      <p:sp>
        <p:nvSpPr>
          <p:cNvPr id="24" name="Text 20">
            <a:extLst>
              <a:ext uri="{FF2B5EF4-FFF2-40B4-BE49-F238E27FC236}">
                <a16:creationId xmlns:a16="http://schemas.microsoft.com/office/drawing/2014/main" id="{1AE054CC-788A-0238-EC96-FA57C021FC40}"/>
              </a:ext>
            </a:extLst>
          </p:cNvPr>
          <p:cNvSpPr/>
          <p:nvPr/>
        </p:nvSpPr>
        <p:spPr>
          <a:xfrm>
            <a:off x="2633472" y="3995928"/>
            <a:ext cx="1783080" cy="256032"/>
          </a:xfrm>
          <a:prstGeom prst="rect">
            <a:avLst/>
          </a:prstGeom>
          <a:noFill/>
          <a:ln/>
        </p:spPr>
        <p:txBody>
          <a:bodyPr wrap="square" lIns="0" tIns="0" rIns="0" bIns="0" rtlCol="0" anchor="ctr"/>
          <a:lstStyle/>
          <a:p>
            <a:pPr marL="0" indent="0" algn="l">
              <a:buNone/>
            </a:pPr>
            <a:r>
              <a:rPr lang="en-US" sz="1250" b="1" dirty="0">
                <a:solidFill>
                  <a:srgbClr val="4A8AF4"/>
                </a:solidFill>
                <a:latin typeface="Calibri" pitchFamily="34" charset="0"/>
                <a:ea typeface="Calibri" pitchFamily="34" charset="-122"/>
                <a:cs typeface="Calibri" pitchFamily="34" charset="-120"/>
              </a:rPr>
              <a:t>How Bubble Sort Works</a:t>
            </a:r>
            <a:endParaRPr lang="en-US" sz="1250" dirty="0"/>
          </a:p>
        </p:txBody>
      </p:sp>
      <p:sp>
        <p:nvSpPr>
          <p:cNvPr id="25" name="Text 21">
            <a:extLst>
              <a:ext uri="{FF2B5EF4-FFF2-40B4-BE49-F238E27FC236}">
                <a16:creationId xmlns:a16="http://schemas.microsoft.com/office/drawing/2014/main" id="{C7AFB4C8-A5F1-8E8E-6768-231160D342BA}"/>
              </a:ext>
            </a:extLst>
          </p:cNvPr>
          <p:cNvSpPr/>
          <p:nvPr/>
        </p:nvSpPr>
        <p:spPr>
          <a:xfrm>
            <a:off x="2633472"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Comparing adjacent pairs and swapping them when they are out of order — pass after pass</a:t>
            </a:r>
            <a:endParaRPr lang="en-US" sz="900" dirty="0"/>
          </a:p>
        </p:txBody>
      </p:sp>
      <p:sp>
        <p:nvSpPr>
          <p:cNvPr id="26" name="Shape 22">
            <a:extLst>
              <a:ext uri="{FF2B5EF4-FFF2-40B4-BE49-F238E27FC236}">
                <a16:creationId xmlns:a16="http://schemas.microsoft.com/office/drawing/2014/main" id="{9D78CCF1-008A-5CE5-AC2B-DCEF547897A9}"/>
              </a:ext>
            </a:extLst>
          </p:cNvPr>
          <p:cNvSpPr/>
          <p:nvPr/>
        </p:nvSpPr>
        <p:spPr>
          <a:xfrm>
            <a:off x="4636008" y="2971800"/>
            <a:ext cx="1965960" cy="256032"/>
          </a:xfrm>
          <a:prstGeom prst="rect">
            <a:avLst/>
          </a:prstGeom>
          <a:solidFill>
            <a:srgbClr val="E08845"/>
          </a:solidFill>
          <a:ln w="12700">
            <a:solidFill>
              <a:srgbClr val="E08845"/>
            </a:solidFill>
            <a:prstDash val="solid"/>
          </a:ln>
        </p:spPr>
        <p:txBody>
          <a:bodyPr/>
          <a:lstStyle/>
          <a:p>
            <a:endParaRPr lang="en-US"/>
          </a:p>
        </p:txBody>
      </p:sp>
      <p:sp>
        <p:nvSpPr>
          <p:cNvPr id="27" name="Text 23">
            <a:extLst>
              <a:ext uri="{FF2B5EF4-FFF2-40B4-BE49-F238E27FC236}">
                <a16:creationId xmlns:a16="http://schemas.microsoft.com/office/drawing/2014/main" id="{EB9130E3-8857-DC7C-907D-FE7C1B53B464}"/>
              </a:ext>
            </a:extLst>
          </p:cNvPr>
          <p:cNvSpPr/>
          <p:nvPr/>
        </p:nvSpPr>
        <p:spPr>
          <a:xfrm>
            <a:off x="4745736"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03</a:t>
            </a:r>
            <a:endParaRPr lang="en-US" sz="1000" dirty="0"/>
          </a:p>
        </p:txBody>
      </p:sp>
      <p:sp>
        <p:nvSpPr>
          <p:cNvPr id="28" name="Shape 24">
            <a:extLst>
              <a:ext uri="{FF2B5EF4-FFF2-40B4-BE49-F238E27FC236}">
                <a16:creationId xmlns:a16="http://schemas.microsoft.com/office/drawing/2014/main" id="{015392AA-FAA7-FAF0-16B9-DB2D2E80ABE9}"/>
              </a:ext>
            </a:extLst>
          </p:cNvPr>
          <p:cNvSpPr/>
          <p:nvPr/>
        </p:nvSpPr>
        <p:spPr>
          <a:xfrm>
            <a:off x="4636008"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9" name="Shape 25">
            <a:extLst>
              <a:ext uri="{FF2B5EF4-FFF2-40B4-BE49-F238E27FC236}">
                <a16:creationId xmlns:a16="http://schemas.microsoft.com/office/drawing/2014/main" id="{35E4AB96-40B3-FFCD-7B2C-BEC27DB50F93}"/>
              </a:ext>
            </a:extLst>
          </p:cNvPr>
          <p:cNvSpPr/>
          <p:nvPr/>
        </p:nvSpPr>
        <p:spPr>
          <a:xfrm>
            <a:off x="5335524" y="3383280"/>
            <a:ext cx="566928" cy="566928"/>
          </a:xfrm>
          <a:prstGeom prst="ellipse">
            <a:avLst/>
          </a:prstGeom>
          <a:solidFill>
            <a:srgbClr val="1A1A2E"/>
          </a:solidFill>
          <a:ln w="19050">
            <a:solidFill>
              <a:srgbClr val="E08845"/>
            </a:solidFill>
            <a:prstDash val="solid"/>
          </a:ln>
        </p:spPr>
        <p:txBody>
          <a:bodyPr/>
          <a:lstStyle/>
          <a:p>
            <a:endParaRPr lang="en-US"/>
          </a:p>
        </p:txBody>
      </p:sp>
      <p:pic>
        <p:nvPicPr>
          <p:cNvPr id="30" name="Image 2" descr="preencoded.png">
            <a:extLst>
              <a:ext uri="{FF2B5EF4-FFF2-40B4-BE49-F238E27FC236}">
                <a16:creationId xmlns:a16="http://schemas.microsoft.com/office/drawing/2014/main" id="{B4F08430-4DE3-A123-6DE3-E6E4102C890A}"/>
              </a:ext>
            </a:extLst>
          </p:cNvPr>
          <p:cNvPicPr>
            <a:picLocks noChangeAspect="1"/>
          </p:cNvPicPr>
          <p:nvPr/>
        </p:nvPicPr>
        <p:blipFill>
          <a:blip r:embed="rId4"/>
          <a:stretch>
            <a:fillRect/>
          </a:stretch>
        </p:blipFill>
        <p:spPr>
          <a:xfrm>
            <a:off x="5472684" y="3520440"/>
            <a:ext cx="292608" cy="292608"/>
          </a:xfrm>
          <a:prstGeom prst="rect">
            <a:avLst/>
          </a:prstGeom>
        </p:spPr>
      </p:pic>
      <p:sp>
        <p:nvSpPr>
          <p:cNvPr id="31" name="Text 26">
            <a:extLst>
              <a:ext uri="{FF2B5EF4-FFF2-40B4-BE49-F238E27FC236}">
                <a16:creationId xmlns:a16="http://schemas.microsoft.com/office/drawing/2014/main" id="{C70E47AA-2F2E-EEB7-BD8B-85FCC7D175B6}"/>
              </a:ext>
            </a:extLst>
          </p:cNvPr>
          <p:cNvSpPr/>
          <p:nvPr/>
        </p:nvSpPr>
        <p:spPr>
          <a:xfrm>
            <a:off x="4727448" y="3995928"/>
            <a:ext cx="1783080" cy="256032"/>
          </a:xfrm>
          <a:prstGeom prst="rect">
            <a:avLst/>
          </a:prstGeom>
          <a:noFill/>
          <a:ln/>
        </p:spPr>
        <p:txBody>
          <a:bodyPr wrap="square" lIns="0" tIns="0" rIns="0" bIns="0" rtlCol="0" anchor="ctr"/>
          <a:lstStyle/>
          <a:p>
            <a:pPr marL="0" indent="0" algn="l">
              <a:buNone/>
            </a:pPr>
            <a:r>
              <a:rPr lang="en-US" sz="1250" b="1" dirty="0">
                <a:solidFill>
                  <a:srgbClr val="E08845"/>
                </a:solidFill>
                <a:latin typeface="Calibri" pitchFamily="34" charset="0"/>
                <a:ea typeface="Calibri" pitchFamily="34" charset="-122"/>
                <a:cs typeface="Calibri" pitchFamily="34" charset="-120"/>
              </a:rPr>
              <a:t>Tracing Passes</a:t>
            </a:r>
            <a:endParaRPr lang="en-US" sz="1250" dirty="0"/>
          </a:p>
        </p:txBody>
      </p:sp>
      <p:sp>
        <p:nvSpPr>
          <p:cNvPr id="32" name="Text 27">
            <a:extLst>
              <a:ext uri="{FF2B5EF4-FFF2-40B4-BE49-F238E27FC236}">
                <a16:creationId xmlns:a16="http://schemas.microsoft.com/office/drawing/2014/main" id="{8ECCBAFC-4FF7-E939-9F85-F5EFDC3F0AFF}"/>
              </a:ext>
            </a:extLst>
          </p:cNvPr>
          <p:cNvSpPr/>
          <p:nvPr/>
        </p:nvSpPr>
        <p:spPr>
          <a:xfrm>
            <a:off x="4727448"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Walking through every pass and watching the largest values bubble to the top</a:t>
            </a:r>
            <a:endParaRPr lang="en-US" sz="900" dirty="0"/>
          </a:p>
        </p:txBody>
      </p:sp>
      <p:sp>
        <p:nvSpPr>
          <p:cNvPr id="33" name="Shape 28">
            <a:extLst>
              <a:ext uri="{FF2B5EF4-FFF2-40B4-BE49-F238E27FC236}">
                <a16:creationId xmlns:a16="http://schemas.microsoft.com/office/drawing/2014/main" id="{7610D32B-5A46-C321-DF99-3AA4DD031AF2}"/>
              </a:ext>
            </a:extLst>
          </p:cNvPr>
          <p:cNvSpPr/>
          <p:nvPr/>
        </p:nvSpPr>
        <p:spPr>
          <a:xfrm>
            <a:off x="6729984" y="2971800"/>
            <a:ext cx="1965960" cy="256032"/>
          </a:xfrm>
          <a:prstGeom prst="rect">
            <a:avLst/>
          </a:prstGeom>
          <a:solidFill>
            <a:srgbClr val="9B7EDA"/>
          </a:solidFill>
          <a:ln w="12700">
            <a:solidFill>
              <a:srgbClr val="9B7EDA"/>
            </a:solidFill>
            <a:prstDash val="solid"/>
          </a:ln>
        </p:spPr>
        <p:txBody>
          <a:bodyPr/>
          <a:lstStyle/>
          <a:p>
            <a:endParaRPr lang="en-US"/>
          </a:p>
        </p:txBody>
      </p:sp>
      <p:sp>
        <p:nvSpPr>
          <p:cNvPr id="34" name="Text 29">
            <a:extLst>
              <a:ext uri="{FF2B5EF4-FFF2-40B4-BE49-F238E27FC236}">
                <a16:creationId xmlns:a16="http://schemas.microsoft.com/office/drawing/2014/main" id="{B950023F-CCE1-382C-FDCF-D5C19DE609C4}"/>
              </a:ext>
            </a:extLst>
          </p:cNvPr>
          <p:cNvSpPr/>
          <p:nvPr/>
        </p:nvSpPr>
        <p:spPr>
          <a:xfrm>
            <a:off x="6839712"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04</a:t>
            </a:r>
            <a:endParaRPr lang="en-US" sz="1000" dirty="0"/>
          </a:p>
        </p:txBody>
      </p:sp>
      <p:sp>
        <p:nvSpPr>
          <p:cNvPr id="35" name="Shape 30">
            <a:extLst>
              <a:ext uri="{FF2B5EF4-FFF2-40B4-BE49-F238E27FC236}">
                <a16:creationId xmlns:a16="http://schemas.microsoft.com/office/drawing/2014/main" id="{3BDC98BD-C247-517E-A975-095E85D2D3D7}"/>
              </a:ext>
            </a:extLst>
          </p:cNvPr>
          <p:cNvSpPr/>
          <p:nvPr/>
        </p:nvSpPr>
        <p:spPr>
          <a:xfrm>
            <a:off x="6729984"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36" name="Shape 31">
            <a:extLst>
              <a:ext uri="{FF2B5EF4-FFF2-40B4-BE49-F238E27FC236}">
                <a16:creationId xmlns:a16="http://schemas.microsoft.com/office/drawing/2014/main" id="{C4514252-80E3-795E-49A1-898709149828}"/>
              </a:ext>
            </a:extLst>
          </p:cNvPr>
          <p:cNvSpPr/>
          <p:nvPr/>
        </p:nvSpPr>
        <p:spPr>
          <a:xfrm>
            <a:off x="7429500" y="3383280"/>
            <a:ext cx="566928" cy="566928"/>
          </a:xfrm>
          <a:prstGeom prst="ellipse">
            <a:avLst/>
          </a:prstGeom>
          <a:solidFill>
            <a:srgbClr val="1A1A2E"/>
          </a:solidFill>
          <a:ln w="19050">
            <a:solidFill>
              <a:srgbClr val="9B7EDA"/>
            </a:solidFill>
            <a:prstDash val="solid"/>
          </a:ln>
        </p:spPr>
        <p:txBody>
          <a:bodyPr/>
          <a:lstStyle/>
          <a:p>
            <a:endParaRPr lang="en-US"/>
          </a:p>
        </p:txBody>
      </p:sp>
      <p:pic>
        <p:nvPicPr>
          <p:cNvPr id="37" name="Image 3" descr="preencoded.png">
            <a:extLst>
              <a:ext uri="{FF2B5EF4-FFF2-40B4-BE49-F238E27FC236}">
                <a16:creationId xmlns:a16="http://schemas.microsoft.com/office/drawing/2014/main" id="{347FB59D-AC00-AA50-8B4C-5C338DD2508F}"/>
              </a:ext>
            </a:extLst>
          </p:cNvPr>
          <p:cNvPicPr>
            <a:picLocks noChangeAspect="1"/>
          </p:cNvPicPr>
          <p:nvPr/>
        </p:nvPicPr>
        <p:blipFill>
          <a:blip r:embed="rId5"/>
          <a:stretch>
            <a:fillRect/>
          </a:stretch>
        </p:blipFill>
        <p:spPr>
          <a:xfrm>
            <a:off x="7566660" y="3520440"/>
            <a:ext cx="292608" cy="292608"/>
          </a:xfrm>
          <a:prstGeom prst="rect">
            <a:avLst/>
          </a:prstGeom>
        </p:spPr>
      </p:pic>
      <p:sp>
        <p:nvSpPr>
          <p:cNvPr id="38" name="Text 32">
            <a:extLst>
              <a:ext uri="{FF2B5EF4-FFF2-40B4-BE49-F238E27FC236}">
                <a16:creationId xmlns:a16="http://schemas.microsoft.com/office/drawing/2014/main" id="{871EB010-BBA8-F194-F2DE-05B41DDB8680}"/>
              </a:ext>
            </a:extLst>
          </p:cNvPr>
          <p:cNvSpPr/>
          <p:nvPr/>
        </p:nvSpPr>
        <p:spPr>
          <a:xfrm>
            <a:off x="6821424" y="3995928"/>
            <a:ext cx="1783080" cy="256032"/>
          </a:xfrm>
          <a:prstGeom prst="rect">
            <a:avLst/>
          </a:prstGeom>
          <a:noFill/>
          <a:ln/>
        </p:spPr>
        <p:txBody>
          <a:bodyPr wrap="square" lIns="0" tIns="0" rIns="0" bIns="0" rtlCol="0" anchor="ctr"/>
          <a:lstStyle/>
          <a:p>
            <a:pPr marL="0" indent="0" algn="l">
              <a:buNone/>
            </a:pPr>
            <a:r>
              <a:rPr lang="en-US" sz="1250" b="1" dirty="0">
                <a:solidFill>
                  <a:srgbClr val="9B7EDA"/>
                </a:solidFill>
                <a:latin typeface="Calibri" pitchFamily="34" charset="0"/>
                <a:ea typeface="Calibri" pitchFamily="34" charset="-122"/>
                <a:cs typeface="Calibri" pitchFamily="34" charset="-120"/>
              </a:rPr>
              <a:t>Performance</a:t>
            </a:r>
            <a:endParaRPr lang="en-US" sz="1250" dirty="0"/>
          </a:p>
        </p:txBody>
      </p:sp>
      <p:sp>
        <p:nvSpPr>
          <p:cNvPr id="39" name="Text 33">
            <a:extLst>
              <a:ext uri="{FF2B5EF4-FFF2-40B4-BE49-F238E27FC236}">
                <a16:creationId xmlns:a16="http://schemas.microsoft.com/office/drawing/2014/main" id="{B1957D08-2E17-FA5D-3577-06DB3E45697E}"/>
              </a:ext>
            </a:extLst>
          </p:cNvPr>
          <p:cNvSpPr/>
          <p:nvPr/>
        </p:nvSpPr>
        <p:spPr>
          <a:xfrm>
            <a:off x="6821424"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Why Bubble Sort is O(N²), and the small change that makes it faster on nearly-sorted data</a:t>
            </a:r>
            <a:endParaRPr lang="en-US" sz="900" dirty="0"/>
          </a:p>
        </p:txBody>
      </p:sp>
      <p:sp>
        <p:nvSpPr>
          <p:cNvPr id="40" name="Text 34">
            <a:extLst>
              <a:ext uri="{FF2B5EF4-FFF2-40B4-BE49-F238E27FC236}">
                <a16:creationId xmlns:a16="http://schemas.microsoft.com/office/drawing/2014/main" id="{A0849E45-C363-F4CE-04BD-BDB92DA86730}"/>
              </a:ext>
            </a:extLst>
          </p:cNvPr>
          <p:cNvSpPr/>
          <p:nvPr/>
        </p:nvSpPr>
        <p:spPr>
          <a:xfrm>
            <a:off x="0" y="4777740"/>
            <a:ext cx="9144000" cy="274320"/>
          </a:xfrm>
          <a:prstGeom prst="rect">
            <a:avLst/>
          </a:prstGeom>
          <a:noFill/>
          <a:ln/>
        </p:spPr>
        <p:txBody>
          <a:bodyPr wrap="square" lIns="0" tIns="0" rIns="0" bIns="0" rtlCol="0" anchor="ctr"/>
          <a:lstStyle/>
          <a:p>
            <a:pPr marL="0" indent="0" algn="ctr">
              <a:buNone/>
            </a:pPr>
            <a:r>
              <a:rPr lang="en-US" sz="1100" i="1" dirty="0">
                <a:solidFill>
                  <a:srgbClr val="9AA4B2"/>
                </a:solidFill>
                <a:latin typeface="Calibri" pitchFamily="34" charset="0"/>
                <a:ea typeface="Calibri" pitchFamily="34" charset="-122"/>
                <a:cs typeface="Calibri" pitchFamily="34" charset="-120"/>
              </a:rPr>
              <a:t>Let's get started 🚀</a:t>
            </a:r>
            <a:endParaRPr lang="en-US" sz="1100" dirty="0"/>
          </a:p>
        </p:txBody>
      </p:sp>
    </p:spTree>
    <p:extLst>
      <p:ext uri="{BB962C8B-B14F-4D97-AF65-F5344CB8AC3E}">
        <p14:creationId xmlns:p14="http://schemas.microsoft.com/office/powerpoint/2010/main" val="1441658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p:cNvGrpSpPr/>
        <p:nvPr/>
      </p:nvGrpSpPr>
      <p:grpSpPr>
        <a:xfrm>
          <a:off x="0" y="0"/>
          <a:ext cx="0" cy="0"/>
          <a:chOff x="0" y="0"/>
          <a:chExt cx="0" cy="0"/>
        </a:xfrm>
      </p:grpSpPr>
      <p:sp>
        <p:nvSpPr>
          <p:cNvPr id="48" name="Shape 0">
            <a:extLst>
              <a:ext uri="{FF2B5EF4-FFF2-40B4-BE49-F238E27FC236}">
                <a16:creationId xmlns:a16="http://schemas.microsoft.com/office/drawing/2014/main" id="{1B6EA25D-920F-01B3-FB70-D7432FF6B1A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49" name="Shape 1">
            <a:extLst>
              <a:ext uri="{FF2B5EF4-FFF2-40B4-BE49-F238E27FC236}">
                <a16:creationId xmlns:a16="http://schemas.microsoft.com/office/drawing/2014/main" id="{AEA1A76F-C3F1-CC2E-D0A4-B9D7109230A5}"/>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50" name="Shape 2">
            <a:extLst>
              <a:ext uri="{FF2B5EF4-FFF2-40B4-BE49-F238E27FC236}">
                <a16:creationId xmlns:a16="http://schemas.microsoft.com/office/drawing/2014/main" id="{FC4C1BC1-0746-CC9A-B8CF-995FD26AE8B3}"/>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51" name="Text 3">
            <a:extLst>
              <a:ext uri="{FF2B5EF4-FFF2-40B4-BE49-F238E27FC236}">
                <a16:creationId xmlns:a16="http://schemas.microsoft.com/office/drawing/2014/main" id="{821F3991-3C81-09DF-1A56-9976147ADD80}"/>
              </a:ext>
            </a:extLst>
          </p:cNvPr>
          <p:cNvSpPr/>
          <p:nvPr/>
        </p:nvSpPr>
        <p:spPr>
          <a:xfrm>
            <a:off x="365760" y="73152"/>
            <a:ext cx="8412480" cy="658368"/>
          </a:xfrm>
          <a:prstGeom prst="rect">
            <a:avLst/>
          </a:prstGeom>
          <a:noFill/>
          <a:ln/>
        </p:spPr>
        <p:txBody>
          <a:bodyPr wrap="square" lIns="0" tIns="0" rIns="0" bIns="0" rtlCol="0" anchor="ctr"/>
          <a:lstStyle/>
          <a:p>
            <a:pPr marL="0" indent="0">
              <a:buNone/>
            </a:pPr>
            <a:r>
              <a:rPr lang="en-US" sz="2000" b="1" dirty="0">
                <a:solidFill>
                  <a:srgbClr val="57E3D8"/>
                </a:solidFill>
                <a:latin typeface="Calibri" pitchFamily="34" charset="0"/>
                <a:ea typeface="Calibri" pitchFamily="34" charset="-122"/>
                <a:cs typeface="Calibri" pitchFamily="34" charset="-120"/>
              </a:rPr>
              <a:t>Quick recap – Binary Search</a:t>
            </a:r>
            <a:endParaRPr lang="en-US" sz="2000" dirty="0"/>
          </a:p>
        </p:txBody>
      </p:sp>
      <p:sp>
        <p:nvSpPr>
          <p:cNvPr id="52" name="Shape 4">
            <a:extLst>
              <a:ext uri="{FF2B5EF4-FFF2-40B4-BE49-F238E27FC236}">
                <a16:creationId xmlns:a16="http://schemas.microsoft.com/office/drawing/2014/main" id="{FC21FB84-F6AB-7665-1308-5BF721CA043C}"/>
              </a:ext>
            </a:extLst>
          </p:cNvPr>
          <p:cNvSpPr/>
          <p:nvPr/>
        </p:nvSpPr>
        <p:spPr>
          <a:xfrm>
            <a:off x="274320" y="841248"/>
            <a:ext cx="8595360" cy="4133088"/>
          </a:xfrm>
          <a:prstGeom prst="roundRect">
            <a:avLst>
              <a:gd name="adj" fmla="val 2655"/>
            </a:avLst>
          </a:prstGeom>
          <a:solidFill>
            <a:srgbClr val="1A1040"/>
          </a:solidFill>
          <a:ln w="6350">
            <a:solidFill>
              <a:srgbClr val="333366"/>
            </a:solidFill>
            <a:prstDash val="solid"/>
          </a:ln>
        </p:spPr>
        <p:txBody>
          <a:bodyPr/>
          <a:lstStyle/>
          <a:p>
            <a:endParaRPr lang="en-US"/>
          </a:p>
        </p:txBody>
      </p:sp>
      <p:sp>
        <p:nvSpPr>
          <p:cNvPr id="53" name="Text 5">
            <a:extLst>
              <a:ext uri="{FF2B5EF4-FFF2-40B4-BE49-F238E27FC236}">
                <a16:creationId xmlns:a16="http://schemas.microsoft.com/office/drawing/2014/main" id="{5505480E-9E51-0769-FE17-12FDA406D690}"/>
              </a:ext>
            </a:extLst>
          </p:cNvPr>
          <p:cNvSpPr/>
          <p:nvPr/>
        </p:nvSpPr>
        <p:spPr>
          <a:xfrm>
            <a:off x="502920" y="914400"/>
            <a:ext cx="8138160" cy="3977640"/>
          </a:xfrm>
          <a:prstGeom prst="rect">
            <a:avLst/>
          </a:prstGeom>
          <a:noFill/>
          <a:ln/>
        </p:spPr>
        <p:txBody>
          <a:bodyPr wrap="square" rtlCol="0" anchor="t"/>
          <a:lstStyle/>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We met Binary Search — an algorithm that finds an item in a sorted list using comparisons. For a million-item list, that is around 20 checks.</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But Binary Search has one strict requirement: the data must be sorted. So how do we get a sorted list in the first place? We need a sorting algorithm.</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Today  </a:t>
            </a:r>
            <a:r>
              <a:rPr lang="en-US" sz="1200" dirty="0">
                <a:solidFill>
                  <a:srgbClr val="EDEDED"/>
                </a:solidFill>
                <a:latin typeface="Calibri" pitchFamily="34" charset="0"/>
                <a:ea typeface="Calibri" pitchFamily="34" charset="-122"/>
                <a:cs typeface="Calibri" pitchFamily="34" charset="-120"/>
              </a:rPr>
              <a:t>we shift from finding things to arranging them in order. The simplest, most intuitive sorting algorithm is Bubble Sort — and it is the one we will study today.</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The idea  </a:t>
            </a:r>
            <a:r>
              <a:rPr lang="en-US" sz="1200" dirty="0">
                <a:solidFill>
                  <a:srgbClr val="EDEDED"/>
                </a:solidFill>
                <a:latin typeface="Calibri" pitchFamily="34" charset="0"/>
                <a:ea typeface="Calibri" pitchFamily="34" charset="-122"/>
                <a:cs typeface="Calibri" pitchFamily="34" charset="-120"/>
              </a:rPr>
              <a:t>Bubble Sort walks through the list and compares each pair of neighbours. If they are in the wrong order, it swaps them. After enough passes, the largest values rise to the end like bubbles in water.</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Bubble Sort is rarely the fastest choice in production code, but it is the best place to start learning sorting. The same building blocks — comparing pairs, swapping, repeating — appear in every other sorting algorithm you will meet.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Shape 2"/>
          <p:cNvSpPr/>
          <p:nvPr/>
        </p:nvSpPr>
        <p:spPr>
          <a:xfrm>
            <a:off x="548640" y="548640"/>
            <a:ext cx="8046720" cy="3657600"/>
          </a:xfrm>
          <a:prstGeom prst="rect">
            <a:avLst/>
          </a:prstGeom>
          <a:solidFill>
            <a:srgbClr val="161B26"/>
          </a:solidFill>
          <a:ln w="1905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5" name="Shape 3"/>
          <p:cNvSpPr/>
          <p:nvPr/>
        </p:nvSpPr>
        <p:spPr>
          <a:xfrm>
            <a:off x="91440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6" name="Shape 4"/>
          <p:cNvSpPr/>
          <p:nvPr/>
        </p:nvSpPr>
        <p:spPr>
          <a:xfrm>
            <a:off x="91440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7" name="Shape 5"/>
          <p:cNvSpPr/>
          <p:nvPr/>
        </p:nvSpPr>
        <p:spPr>
          <a:xfrm>
            <a:off x="201168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8" name="Shape 6"/>
          <p:cNvSpPr/>
          <p:nvPr/>
        </p:nvSpPr>
        <p:spPr>
          <a:xfrm>
            <a:off x="201168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9" name="Shape 7"/>
          <p:cNvSpPr/>
          <p:nvPr/>
        </p:nvSpPr>
        <p:spPr>
          <a:xfrm>
            <a:off x="3291840" y="10058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0" name="Shape 8"/>
          <p:cNvSpPr/>
          <p:nvPr/>
        </p:nvSpPr>
        <p:spPr>
          <a:xfrm>
            <a:off x="3291840" y="8778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1" name="Shape 9"/>
          <p:cNvSpPr/>
          <p:nvPr/>
        </p:nvSpPr>
        <p:spPr>
          <a:xfrm>
            <a:off x="4572000" y="82296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2" name="Shape 10"/>
          <p:cNvSpPr/>
          <p:nvPr/>
        </p:nvSpPr>
        <p:spPr>
          <a:xfrm>
            <a:off x="4572000" y="69494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3" name="Shape 11"/>
          <p:cNvSpPr/>
          <p:nvPr/>
        </p:nvSpPr>
        <p:spPr>
          <a:xfrm>
            <a:off x="585216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4" name="Shape 12"/>
          <p:cNvSpPr/>
          <p:nvPr/>
        </p:nvSpPr>
        <p:spPr>
          <a:xfrm>
            <a:off x="585216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5" name="Shape 13"/>
          <p:cNvSpPr/>
          <p:nvPr/>
        </p:nvSpPr>
        <p:spPr>
          <a:xfrm>
            <a:off x="694944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6" name="Shape 14"/>
          <p:cNvSpPr/>
          <p:nvPr/>
        </p:nvSpPr>
        <p:spPr>
          <a:xfrm>
            <a:off x="694944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7" name="Text 15"/>
          <p:cNvSpPr/>
          <p:nvPr/>
        </p:nvSpPr>
        <p:spPr>
          <a:xfrm>
            <a:off x="548640" y="1417320"/>
            <a:ext cx="8046720" cy="777240"/>
          </a:xfrm>
          <a:prstGeom prst="rect">
            <a:avLst/>
          </a:prstGeom>
          <a:noFill/>
          <a:ln/>
        </p:spPr>
        <p:txBody>
          <a:bodyPr wrap="square" lIns="0" tIns="0" rIns="0" bIns="0" rtlCol="0" anchor="ctr"/>
          <a:lstStyle/>
          <a:p>
            <a:pPr marL="0" indent="0" algn="ctr">
              <a:buNone/>
            </a:pPr>
            <a:r>
              <a:rPr lang="en-US" sz="5200" b="1" dirty="0">
                <a:solidFill>
                  <a:srgbClr val="F0F6FC"/>
                </a:solidFill>
                <a:latin typeface="Calibri" pitchFamily="34" charset="0"/>
                <a:ea typeface="Calibri" pitchFamily="34" charset="-122"/>
                <a:cs typeface="Calibri" pitchFamily="34" charset="-120"/>
              </a:rPr>
              <a:t>From Search</a:t>
            </a:r>
            <a:endParaRPr lang="en-US" sz="5200" dirty="0"/>
          </a:p>
        </p:txBody>
      </p:sp>
      <p:sp>
        <p:nvSpPr>
          <p:cNvPr id="18" name="Text 16"/>
          <p:cNvSpPr/>
          <p:nvPr/>
        </p:nvSpPr>
        <p:spPr>
          <a:xfrm>
            <a:off x="548640" y="2121408"/>
            <a:ext cx="8046720" cy="777240"/>
          </a:xfrm>
          <a:prstGeom prst="rect">
            <a:avLst/>
          </a:prstGeom>
          <a:noFill/>
          <a:ln/>
        </p:spPr>
        <p:txBody>
          <a:bodyPr wrap="square" lIns="0" tIns="0" rIns="0" bIns="0" rtlCol="0" anchor="ctr"/>
          <a:lstStyle/>
          <a:p>
            <a:pPr marL="0" indent="0" algn="ctr">
              <a:buNone/>
            </a:pPr>
            <a:r>
              <a:rPr lang="en-US" sz="5200" b="1" dirty="0">
                <a:solidFill>
                  <a:srgbClr val="3FD9C4"/>
                </a:solidFill>
                <a:latin typeface="Calibri" pitchFamily="34" charset="0"/>
                <a:ea typeface="Calibri" pitchFamily="34" charset="-122"/>
                <a:cs typeface="Calibri" pitchFamily="34" charset="-120"/>
              </a:rPr>
              <a:t>to Sort</a:t>
            </a:r>
            <a:endParaRPr lang="en-US" sz="5200" dirty="0"/>
          </a:p>
        </p:txBody>
      </p:sp>
      <p:sp>
        <p:nvSpPr>
          <p:cNvPr id="19" name="Text 17"/>
          <p:cNvSpPr/>
          <p:nvPr/>
        </p:nvSpPr>
        <p:spPr>
          <a:xfrm>
            <a:off x="548640" y="2944368"/>
            <a:ext cx="8046720" cy="329184"/>
          </a:xfrm>
          <a:prstGeom prst="rect">
            <a:avLst/>
          </a:prstGeom>
          <a:noFill/>
          <a:ln/>
        </p:spPr>
        <p:txBody>
          <a:bodyPr wrap="square" lIns="0" tIns="0" rIns="0" bIns="0" rtlCol="0" anchor="ctr"/>
          <a:lstStyle/>
          <a:p>
            <a:pPr marL="0" indent="0" algn="ctr">
              <a:buNone/>
            </a:pPr>
            <a:r>
              <a:rPr lang="en-US" sz="1500" i="1" dirty="0">
                <a:solidFill>
                  <a:srgbClr val="8B949E"/>
                </a:solidFill>
                <a:latin typeface="Calibri" pitchFamily="34" charset="0"/>
                <a:ea typeface="Calibri" pitchFamily="34" charset="-122"/>
                <a:cs typeface="Calibri" pitchFamily="34" charset="-120"/>
              </a:rPr>
              <a:t>Why we sort · Comparing &amp; swapping · The bubble effect</a:t>
            </a:r>
            <a:endParaRPr lang="en-US" sz="1500" dirty="0"/>
          </a:p>
        </p:txBody>
      </p:sp>
      <p:sp>
        <p:nvSpPr>
          <p:cNvPr id="20" name="Shape 18"/>
          <p:cNvSpPr/>
          <p:nvPr/>
        </p:nvSpPr>
        <p:spPr>
          <a:xfrm>
            <a:off x="2468880" y="3401568"/>
            <a:ext cx="274320" cy="274320"/>
          </a:xfrm>
          <a:prstGeom prst="ellipse">
            <a:avLst/>
          </a:prstGeom>
          <a:solidFill>
            <a:srgbClr val="3FD9C4"/>
          </a:solidFill>
          <a:ln w="12700">
            <a:solidFill>
              <a:srgbClr val="3FD9C4"/>
            </a:solidFill>
            <a:prstDash val="solid"/>
          </a:ln>
        </p:spPr>
        <p:txBody>
          <a:bodyPr/>
          <a:lstStyle/>
          <a:p>
            <a:endParaRPr lang="en-US"/>
          </a:p>
        </p:txBody>
      </p:sp>
      <p:sp>
        <p:nvSpPr>
          <p:cNvPr id="21" name="Shape 19"/>
          <p:cNvSpPr/>
          <p:nvPr/>
        </p:nvSpPr>
        <p:spPr>
          <a:xfrm>
            <a:off x="3090672" y="3401568"/>
            <a:ext cx="274320" cy="274320"/>
          </a:xfrm>
          <a:prstGeom prst="ellipse">
            <a:avLst/>
          </a:prstGeom>
          <a:solidFill>
            <a:srgbClr val="58A6FF"/>
          </a:solidFill>
          <a:ln w="12700">
            <a:solidFill>
              <a:srgbClr val="58A6FF"/>
            </a:solidFill>
            <a:prstDash val="solid"/>
          </a:ln>
        </p:spPr>
        <p:txBody>
          <a:bodyPr/>
          <a:lstStyle/>
          <a:p>
            <a:endParaRPr lang="en-US"/>
          </a:p>
        </p:txBody>
      </p:sp>
      <p:sp>
        <p:nvSpPr>
          <p:cNvPr id="22" name="Shape 20"/>
          <p:cNvSpPr/>
          <p:nvPr/>
        </p:nvSpPr>
        <p:spPr>
          <a:xfrm>
            <a:off x="3712464" y="3401568"/>
            <a:ext cx="274320" cy="274320"/>
          </a:xfrm>
          <a:prstGeom prst="ellipse">
            <a:avLst/>
          </a:prstGeom>
          <a:solidFill>
            <a:srgbClr val="BC8CFF"/>
          </a:solidFill>
          <a:ln w="12700">
            <a:solidFill>
              <a:srgbClr val="BC8CFF"/>
            </a:solidFill>
            <a:prstDash val="solid"/>
          </a:ln>
        </p:spPr>
        <p:txBody>
          <a:bodyPr/>
          <a:lstStyle/>
          <a:p>
            <a:endParaRPr lang="en-US"/>
          </a:p>
        </p:txBody>
      </p:sp>
      <p:sp>
        <p:nvSpPr>
          <p:cNvPr id="23" name="Shape 21"/>
          <p:cNvSpPr/>
          <p:nvPr/>
        </p:nvSpPr>
        <p:spPr>
          <a:xfrm>
            <a:off x="4334256" y="3401568"/>
            <a:ext cx="274320" cy="274320"/>
          </a:xfrm>
          <a:prstGeom prst="ellipse">
            <a:avLst/>
          </a:prstGeom>
          <a:solidFill>
            <a:srgbClr val="FFA657"/>
          </a:solidFill>
          <a:ln w="12700">
            <a:solidFill>
              <a:srgbClr val="FFA657"/>
            </a:solidFill>
            <a:prstDash val="solid"/>
          </a:ln>
        </p:spPr>
        <p:txBody>
          <a:bodyPr/>
          <a:lstStyle/>
          <a:p>
            <a:endParaRPr lang="en-US"/>
          </a:p>
        </p:txBody>
      </p:sp>
      <p:sp>
        <p:nvSpPr>
          <p:cNvPr id="24" name="Shape 22"/>
          <p:cNvSpPr/>
          <p:nvPr/>
        </p:nvSpPr>
        <p:spPr>
          <a:xfrm>
            <a:off x="4956048" y="3401568"/>
            <a:ext cx="274320" cy="274320"/>
          </a:xfrm>
          <a:prstGeom prst="ellipse">
            <a:avLst/>
          </a:prstGeom>
          <a:solidFill>
            <a:srgbClr val="3FB950"/>
          </a:solidFill>
          <a:ln w="12700">
            <a:solidFill>
              <a:srgbClr val="3FB950"/>
            </a:solidFill>
            <a:prstDash val="solid"/>
          </a:ln>
        </p:spPr>
        <p:txBody>
          <a:bodyPr/>
          <a:lstStyle/>
          <a:p>
            <a:endParaRPr lang="en-US"/>
          </a:p>
        </p:txBody>
      </p:sp>
      <p:sp>
        <p:nvSpPr>
          <p:cNvPr id="25" name="Shape 23"/>
          <p:cNvSpPr/>
          <p:nvPr/>
        </p:nvSpPr>
        <p:spPr>
          <a:xfrm>
            <a:off x="5577840" y="3401568"/>
            <a:ext cx="274320" cy="274320"/>
          </a:xfrm>
          <a:prstGeom prst="ellipse">
            <a:avLst/>
          </a:prstGeom>
          <a:solidFill>
            <a:srgbClr val="F778BA"/>
          </a:solidFill>
          <a:ln w="12700">
            <a:solidFill>
              <a:srgbClr val="F778BA"/>
            </a:solidFill>
            <a:prstDash val="solid"/>
          </a:ln>
        </p:spPr>
        <p:txBody>
          <a:bodyPr/>
          <a:lstStyle/>
          <a:p>
            <a:endParaRPr lang="en-US"/>
          </a:p>
        </p:txBody>
      </p:sp>
      <p:sp>
        <p:nvSpPr>
          <p:cNvPr id="26" name="Text 24"/>
          <p:cNvSpPr/>
          <p:nvPr/>
        </p:nvSpPr>
        <p:spPr>
          <a:xfrm>
            <a:off x="0" y="4526280"/>
            <a:ext cx="9144000" cy="292608"/>
          </a:xfrm>
          <a:prstGeom prst="rect">
            <a:avLst/>
          </a:prstGeom>
          <a:noFill/>
          <a:ln/>
        </p:spPr>
        <p:txBody>
          <a:bodyPr wrap="square" lIns="0" tIns="0" rIns="0" bIns="0" rtlCol="0" anchor="ctr"/>
          <a:lstStyle/>
          <a:p>
            <a:pPr marL="0" indent="0" algn="ctr">
              <a:buNone/>
            </a:pPr>
            <a:r>
              <a:rPr lang="en-US" sz="1000" dirty="0">
                <a:solidFill>
                  <a:srgbClr val="3D444D"/>
                </a:solidFill>
                <a:latin typeface="Calibri" pitchFamily="34" charset="0"/>
                <a:ea typeface="Calibri" pitchFamily="34" charset="-122"/>
                <a:cs typeface="Calibri" pitchFamily="34" charset="-120"/>
              </a:rPr>
              <a:t>Foundation Bootcamp · Programming Fundamentals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MOTIVATION</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Sorted Lists Are Everywhere</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Sorting is so common that you barely notice it — until it is missing</a:t>
            </a:r>
            <a:endParaRPr lang="en-US" sz="1300" dirty="0"/>
          </a:p>
        </p:txBody>
      </p:sp>
      <p:sp>
        <p:nvSpPr>
          <p:cNvPr id="7" name="Shape 5"/>
          <p:cNvSpPr/>
          <p:nvPr/>
        </p:nvSpPr>
        <p:spPr>
          <a:xfrm>
            <a:off x="411480" y="1170432"/>
            <a:ext cx="8321040" cy="9144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Text 6"/>
          <p:cNvSpPr/>
          <p:nvPr/>
        </p:nvSpPr>
        <p:spPr>
          <a:xfrm>
            <a:off x="594360" y="1243584"/>
            <a:ext cx="7955280" cy="749808"/>
          </a:xfrm>
          <a:prstGeom prst="rect">
            <a:avLst/>
          </a:prstGeom>
          <a:noFill/>
          <a:ln/>
        </p:spPr>
        <p:txBody>
          <a:bodyPr wrap="square" lIns="0" tIns="0" rIns="0" bIns="0" rtlCol="0" anchor="ctr"/>
          <a:lstStyle/>
          <a:p>
            <a:pPr marL="0" indent="0">
              <a:buNone/>
            </a:pPr>
            <a:r>
              <a:rPr lang="en-US" sz="1300" b="1" dirty="0">
                <a:solidFill>
                  <a:srgbClr val="3FD9C4"/>
                </a:solidFill>
                <a:latin typeface="Calibri" pitchFamily="34" charset="0"/>
                <a:ea typeface="Calibri" pitchFamily="34" charset="-122"/>
                <a:cs typeface="Calibri" pitchFamily="34" charset="-120"/>
              </a:rPr>
              <a:t>Sorting  </a:t>
            </a:r>
            <a:r>
              <a:rPr lang="en-US" sz="1300" dirty="0">
                <a:solidFill>
                  <a:srgbClr val="F0F6FC"/>
                </a:solidFill>
                <a:latin typeface="Calibri" pitchFamily="34" charset="0"/>
                <a:ea typeface="Calibri" pitchFamily="34" charset="-122"/>
                <a:cs typeface="Calibri" pitchFamily="34" charset="-120"/>
              </a:rPr>
              <a:t>means rearranging items in a </a:t>
            </a:r>
            <a:r>
              <a:rPr lang="en-US" sz="1300" b="1" dirty="0">
                <a:solidFill>
                  <a:srgbClr val="E3B341"/>
                </a:solidFill>
                <a:latin typeface="Calibri" pitchFamily="34" charset="0"/>
                <a:ea typeface="Calibri" pitchFamily="34" charset="-122"/>
                <a:cs typeface="Calibri" pitchFamily="34" charset="-120"/>
              </a:rPr>
              <a:t>specific order </a:t>
            </a:r>
            <a:r>
              <a:rPr lang="en-US" sz="1300" dirty="0">
                <a:solidFill>
                  <a:srgbClr val="F0F6FC"/>
                </a:solidFill>
                <a:latin typeface="Calibri" pitchFamily="34" charset="0"/>
                <a:ea typeface="Calibri" pitchFamily="34" charset="-122"/>
                <a:cs typeface="Calibri" pitchFamily="34" charset="-120"/>
              </a:rPr>
              <a:t>(numerical, alphabetical, by date) so they are easier to read, search, and analyse — </a:t>
            </a:r>
            <a:r>
              <a:rPr lang="en-US" sz="1300" dirty="0">
                <a:solidFill>
                  <a:srgbClr val="8B949E"/>
                </a:solidFill>
                <a:latin typeface="Calibri" pitchFamily="34" charset="0"/>
                <a:ea typeface="Calibri" pitchFamily="34" charset="-122"/>
                <a:cs typeface="Calibri" pitchFamily="34" charset="-120"/>
              </a:rPr>
              <a:t>each example below depends on a sorted list working underneath.</a:t>
            </a:r>
            <a:endParaRPr lang="en-US" sz="1300" dirty="0"/>
          </a:p>
        </p:txBody>
      </p:sp>
      <p:sp>
        <p:nvSpPr>
          <p:cNvPr id="9" name="Shape 7"/>
          <p:cNvSpPr/>
          <p:nvPr/>
        </p:nvSpPr>
        <p:spPr>
          <a:xfrm>
            <a:off x="411480" y="2212848"/>
            <a:ext cx="1993392" cy="214884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10" name="Shape 8"/>
          <p:cNvSpPr/>
          <p:nvPr/>
        </p:nvSpPr>
        <p:spPr>
          <a:xfrm>
            <a:off x="411480" y="2212848"/>
            <a:ext cx="1993392"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11" name="Text 9"/>
          <p:cNvSpPr/>
          <p:nvPr/>
        </p:nvSpPr>
        <p:spPr>
          <a:xfrm>
            <a:off x="521208"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Leaderboards</a:t>
            </a:r>
            <a:endParaRPr lang="en-US" sz="1100" dirty="0"/>
          </a:p>
        </p:txBody>
      </p:sp>
      <p:sp>
        <p:nvSpPr>
          <p:cNvPr id="12" name="Text 10"/>
          <p:cNvSpPr/>
          <p:nvPr/>
        </p:nvSpPr>
        <p:spPr>
          <a:xfrm>
            <a:off x="521208"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Highest score on top,</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lowest at the bottom.</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Every game ranking</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uses sorted data.</a:t>
            </a:r>
            <a:endParaRPr lang="en-US" sz="1100" dirty="0"/>
          </a:p>
        </p:txBody>
      </p:sp>
      <p:sp>
        <p:nvSpPr>
          <p:cNvPr id="13" name="Shape 11"/>
          <p:cNvSpPr/>
          <p:nvPr/>
        </p:nvSpPr>
        <p:spPr>
          <a:xfrm>
            <a:off x="2532888" y="2212848"/>
            <a:ext cx="1993392" cy="21488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4" name="Shape 12"/>
          <p:cNvSpPr/>
          <p:nvPr/>
        </p:nvSpPr>
        <p:spPr>
          <a:xfrm>
            <a:off x="2532888" y="2212848"/>
            <a:ext cx="1993392"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5" name="Text 13"/>
          <p:cNvSpPr/>
          <p:nvPr/>
        </p:nvSpPr>
        <p:spPr>
          <a:xfrm>
            <a:off x="2642616"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Email Inbox</a:t>
            </a:r>
            <a:endParaRPr lang="en-US" sz="1100" dirty="0"/>
          </a:p>
        </p:txBody>
      </p:sp>
      <p:sp>
        <p:nvSpPr>
          <p:cNvPr id="16" name="Text 14"/>
          <p:cNvSpPr/>
          <p:nvPr/>
        </p:nvSpPr>
        <p:spPr>
          <a:xfrm>
            <a:off x="2642616"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Newest messages first,</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oldest at the bottom.</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Sorted by date so you</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find recent mail fast.</a:t>
            </a:r>
            <a:endParaRPr lang="en-US" sz="1100" dirty="0"/>
          </a:p>
        </p:txBody>
      </p:sp>
      <p:sp>
        <p:nvSpPr>
          <p:cNvPr id="17" name="Shape 15"/>
          <p:cNvSpPr/>
          <p:nvPr/>
        </p:nvSpPr>
        <p:spPr>
          <a:xfrm>
            <a:off x="4654296" y="2212848"/>
            <a:ext cx="1993392" cy="21488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8" name="Shape 16"/>
          <p:cNvSpPr/>
          <p:nvPr/>
        </p:nvSpPr>
        <p:spPr>
          <a:xfrm>
            <a:off x="4654296" y="2212848"/>
            <a:ext cx="1993392"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9" name="Text 17"/>
          <p:cNvSpPr/>
          <p:nvPr/>
        </p:nvSpPr>
        <p:spPr>
          <a:xfrm>
            <a:off x="4764024"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Online Store</a:t>
            </a:r>
            <a:endParaRPr lang="en-US" sz="1100" dirty="0"/>
          </a:p>
        </p:txBody>
      </p:sp>
      <p:sp>
        <p:nvSpPr>
          <p:cNvPr id="20" name="Text 18"/>
          <p:cNvSpPr/>
          <p:nvPr/>
        </p:nvSpPr>
        <p:spPr>
          <a:xfrm>
            <a:off x="4764024"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Products sorted by</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price, rating, or</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popularity. Sorting is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the core of every filter.</a:t>
            </a:r>
            <a:endParaRPr lang="en-US" sz="1100" dirty="0"/>
          </a:p>
        </p:txBody>
      </p:sp>
      <p:sp>
        <p:nvSpPr>
          <p:cNvPr id="21" name="Shape 19"/>
          <p:cNvSpPr/>
          <p:nvPr/>
        </p:nvSpPr>
        <p:spPr>
          <a:xfrm>
            <a:off x="6775704" y="2212848"/>
            <a:ext cx="1993392" cy="21488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6775704" y="2212848"/>
            <a:ext cx="1993392"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3" name="Text 21"/>
          <p:cNvSpPr/>
          <p:nvPr/>
        </p:nvSpPr>
        <p:spPr>
          <a:xfrm>
            <a:off x="6885432"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Contact List</a:t>
            </a:r>
            <a:endParaRPr lang="en-US" sz="1100" dirty="0"/>
          </a:p>
        </p:txBody>
      </p:sp>
      <p:sp>
        <p:nvSpPr>
          <p:cNvPr id="24" name="Text 22"/>
          <p:cNvSpPr/>
          <p:nvPr/>
        </p:nvSpPr>
        <p:spPr>
          <a:xfrm>
            <a:off x="6885432"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Names sorted A to Z</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so people are easy to</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find and the same friend</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always appears in the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same place.</a:t>
            </a:r>
            <a:endParaRPr lang="en-US" sz="1100" dirty="0"/>
          </a:p>
        </p:txBody>
      </p:sp>
      <p:sp>
        <p:nvSpPr>
          <p:cNvPr id="25" name="Shape 23"/>
          <p:cNvSpPr/>
          <p:nvPr/>
        </p:nvSpPr>
        <p:spPr>
          <a:xfrm>
            <a:off x="365760" y="4572000"/>
            <a:ext cx="8412480" cy="384048"/>
          </a:xfrm>
          <a:prstGeom prst="rect">
            <a:avLst/>
          </a:prstGeom>
          <a:solidFill>
            <a:srgbClr val="0A1020"/>
          </a:solidFill>
          <a:ln w="12700">
            <a:solidFill>
              <a:srgbClr val="E3B341"/>
            </a:solidFill>
            <a:prstDash val="solid"/>
          </a:ln>
        </p:spPr>
        <p:txBody>
          <a:bodyPr/>
          <a:lstStyle/>
          <a:p>
            <a:endParaRPr lang="en-US"/>
          </a:p>
        </p:txBody>
      </p:sp>
      <p:sp>
        <p:nvSpPr>
          <p:cNvPr id="26" name="Text 24"/>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E3B341"/>
                </a:solidFill>
                <a:latin typeface="Calibri" pitchFamily="34" charset="0"/>
                <a:ea typeface="Calibri" pitchFamily="34" charset="-122"/>
                <a:cs typeface="Calibri" pitchFamily="34" charset="-120"/>
              </a:rPr>
              <a:t>Why sort first:  </a:t>
            </a:r>
            <a:r>
              <a:rPr lang="en-US" sz="1100" dirty="0">
                <a:solidFill>
                  <a:srgbClr val="F0F6FC"/>
                </a:solidFill>
                <a:latin typeface="Calibri" pitchFamily="34" charset="0"/>
                <a:ea typeface="Calibri" pitchFamily="34" charset="-122"/>
                <a:cs typeface="Calibri" pitchFamily="34" charset="-120"/>
              </a:rPr>
              <a:t>Sorting is rarely the final goal — it is the setup that makes other algorithms work. Binary Search needs sorted input. Statistics, deduplication, and grouping all depend on sort order. Get the sort right, and everything that follows becomes easier.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7E7A1E3-A543-8BE6-F2F7-46DDFC0E611F}"/>
            </a:ext>
          </a:extLst>
        </p:cNvPr>
        <p:cNvGrpSpPr/>
        <p:nvPr/>
      </p:nvGrpSpPr>
      <p:grpSpPr>
        <a:xfrm>
          <a:off x="0" y="0"/>
          <a:ext cx="0" cy="0"/>
          <a:chOff x="0" y="0"/>
          <a:chExt cx="0" cy="0"/>
        </a:xfrm>
      </p:grpSpPr>
      <p:sp>
        <p:nvSpPr>
          <p:cNvPr id="60" name="Shape 1">
            <a:extLst>
              <a:ext uri="{FF2B5EF4-FFF2-40B4-BE49-F238E27FC236}">
                <a16:creationId xmlns:a16="http://schemas.microsoft.com/office/drawing/2014/main" id="{1B08139B-E6D3-F862-7147-3E3B0F5894E8}"/>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36AB523D-D286-0D36-36F4-F617E2643A46}"/>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96E2A5D1-669D-2D64-D734-7763B1DABBBF}"/>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94F68E73-7C67-8C4B-94D3-86BAF3646AF3}"/>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What is Bubble Sort?</a:t>
            </a:r>
            <a:endParaRPr lang="en-US" sz="2800" dirty="0"/>
          </a:p>
        </p:txBody>
      </p:sp>
      <p:sp>
        <p:nvSpPr>
          <p:cNvPr id="5" name="Text 3">
            <a:extLst>
              <a:ext uri="{FF2B5EF4-FFF2-40B4-BE49-F238E27FC236}">
                <a16:creationId xmlns:a16="http://schemas.microsoft.com/office/drawing/2014/main" id="{B0544E3C-EA5C-AE66-3D74-449FAE81DEA2}"/>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Definition · How it works · Why "bubble"</a:t>
            </a:r>
            <a:endParaRPr lang="en-US" sz="1300" dirty="0"/>
          </a:p>
        </p:txBody>
      </p:sp>
      <p:sp>
        <p:nvSpPr>
          <p:cNvPr id="6" name="Shape 4">
            <a:extLst>
              <a:ext uri="{FF2B5EF4-FFF2-40B4-BE49-F238E27FC236}">
                <a16:creationId xmlns:a16="http://schemas.microsoft.com/office/drawing/2014/main" id="{0620B4A6-1285-10D5-B7E1-D15AEF559736}"/>
              </a:ext>
            </a:extLst>
          </p:cNvPr>
          <p:cNvSpPr/>
          <p:nvPr/>
        </p:nvSpPr>
        <p:spPr>
          <a:xfrm>
            <a:off x="256032" y="987552"/>
            <a:ext cx="2779776" cy="404164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7" name="Text 5">
            <a:extLst>
              <a:ext uri="{FF2B5EF4-FFF2-40B4-BE49-F238E27FC236}">
                <a16:creationId xmlns:a16="http://schemas.microsoft.com/office/drawing/2014/main" id="{09026CF8-B1DC-8B2E-83F5-9A0B426D2580}"/>
              </a:ext>
            </a:extLst>
          </p:cNvPr>
          <p:cNvSpPr/>
          <p:nvPr/>
        </p:nvSpPr>
        <p:spPr>
          <a:xfrm>
            <a:off x="256032" y="1033272"/>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Definition</a:t>
            </a:r>
            <a:endParaRPr lang="en-US" sz="2000" dirty="0"/>
          </a:p>
        </p:txBody>
      </p:sp>
      <p:sp>
        <p:nvSpPr>
          <p:cNvPr id="8" name="Text 6">
            <a:extLst>
              <a:ext uri="{FF2B5EF4-FFF2-40B4-BE49-F238E27FC236}">
                <a16:creationId xmlns:a16="http://schemas.microsoft.com/office/drawing/2014/main" id="{4D3D41A9-4F3D-397F-A9C4-61A6A930AF77}"/>
              </a:ext>
            </a:extLst>
          </p:cNvPr>
          <p:cNvSpPr/>
          <p:nvPr/>
        </p:nvSpPr>
        <p:spPr>
          <a:xfrm>
            <a:off x="256032"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The most intuitive sort</a:t>
            </a:r>
            <a:endParaRPr lang="en-US" sz="1000" dirty="0"/>
          </a:p>
        </p:txBody>
      </p:sp>
      <p:sp>
        <p:nvSpPr>
          <p:cNvPr id="9" name="Shape 7">
            <a:extLst>
              <a:ext uri="{FF2B5EF4-FFF2-40B4-BE49-F238E27FC236}">
                <a16:creationId xmlns:a16="http://schemas.microsoft.com/office/drawing/2014/main" id="{6F286425-02A2-36F1-AD2F-8D132EFF3265}"/>
              </a:ext>
            </a:extLst>
          </p:cNvPr>
          <p:cNvSpPr/>
          <p:nvPr/>
        </p:nvSpPr>
        <p:spPr>
          <a:xfrm>
            <a:off x="384048"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0" name="Text 8">
            <a:extLst>
              <a:ext uri="{FF2B5EF4-FFF2-40B4-BE49-F238E27FC236}">
                <a16:creationId xmlns:a16="http://schemas.microsoft.com/office/drawing/2014/main" id="{E3CCCA66-CDB9-37CF-7D8A-7918BF601DCD}"/>
              </a:ext>
            </a:extLst>
          </p:cNvPr>
          <p:cNvSpPr/>
          <p:nvPr/>
        </p:nvSpPr>
        <p:spPr>
          <a:xfrm>
            <a:off x="457200" y="1938528"/>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What it does</a:t>
            </a:r>
            <a:endParaRPr lang="en-US" sz="800" dirty="0"/>
          </a:p>
        </p:txBody>
      </p:sp>
      <p:sp>
        <p:nvSpPr>
          <p:cNvPr id="11" name="Text 9">
            <a:extLst>
              <a:ext uri="{FF2B5EF4-FFF2-40B4-BE49-F238E27FC236}">
                <a16:creationId xmlns:a16="http://schemas.microsoft.com/office/drawing/2014/main" id="{5DBA05D7-435E-9CC8-C1F8-1F4D7C558FB6}"/>
              </a:ext>
            </a:extLst>
          </p:cNvPr>
          <p:cNvSpPr/>
          <p:nvPr/>
        </p:nvSpPr>
        <p:spPr>
          <a:xfrm>
            <a:off x="457200"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Sorts a list in ascending order</a:t>
            </a:r>
            <a:endParaRPr lang="en-US" sz="1000" dirty="0"/>
          </a:p>
        </p:txBody>
      </p:sp>
      <p:sp>
        <p:nvSpPr>
          <p:cNvPr id="12" name="Shape 10">
            <a:extLst>
              <a:ext uri="{FF2B5EF4-FFF2-40B4-BE49-F238E27FC236}">
                <a16:creationId xmlns:a16="http://schemas.microsoft.com/office/drawing/2014/main" id="{6D9A7D8D-F20F-F17A-CA44-E30DA6E443DE}"/>
              </a:ext>
            </a:extLst>
          </p:cNvPr>
          <p:cNvSpPr/>
          <p:nvPr/>
        </p:nvSpPr>
        <p:spPr>
          <a:xfrm>
            <a:off x="384048"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3" name="Text 11">
            <a:extLst>
              <a:ext uri="{FF2B5EF4-FFF2-40B4-BE49-F238E27FC236}">
                <a16:creationId xmlns:a16="http://schemas.microsoft.com/office/drawing/2014/main" id="{F18D6611-CA0F-6B2E-017D-756FEF7CEFD5}"/>
              </a:ext>
            </a:extLst>
          </p:cNvPr>
          <p:cNvSpPr/>
          <p:nvPr/>
        </p:nvSpPr>
        <p:spPr>
          <a:xfrm>
            <a:off x="457200" y="2542032"/>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How</a:t>
            </a:r>
            <a:endParaRPr lang="en-US" sz="800" dirty="0"/>
          </a:p>
        </p:txBody>
      </p:sp>
      <p:sp>
        <p:nvSpPr>
          <p:cNvPr id="14" name="Text 12">
            <a:extLst>
              <a:ext uri="{FF2B5EF4-FFF2-40B4-BE49-F238E27FC236}">
                <a16:creationId xmlns:a16="http://schemas.microsoft.com/office/drawing/2014/main" id="{D77B5AAC-9204-5CA5-F374-0C161542F61F}"/>
              </a:ext>
            </a:extLst>
          </p:cNvPr>
          <p:cNvSpPr/>
          <p:nvPr/>
        </p:nvSpPr>
        <p:spPr>
          <a:xfrm>
            <a:off x="457200"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Compare each pair, swap if needed</a:t>
            </a:r>
            <a:endParaRPr lang="en-US" sz="1000" dirty="0"/>
          </a:p>
        </p:txBody>
      </p:sp>
      <p:sp>
        <p:nvSpPr>
          <p:cNvPr id="15" name="Shape 13">
            <a:extLst>
              <a:ext uri="{FF2B5EF4-FFF2-40B4-BE49-F238E27FC236}">
                <a16:creationId xmlns:a16="http://schemas.microsoft.com/office/drawing/2014/main" id="{C41D8654-471B-E1B5-2246-47BEE515918D}"/>
              </a:ext>
            </a:extLst>
          </p:cNvPr>
          <p:cNvSpPr/>
          <p:nvPr/>
        </p:nvSpPr>
        <p:spPr>
          <a:xfrm>
            <a:off x="384048"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6" name="Text 14">
            <a:extLst>
              <a:ext uri="{FF2B5EF4-FFF2-40B4-BE49-F238E27FC236}">
                <a16:creationId xmlns:a16="http://schemas.microsoft.com/office/drawing/2014/main" id="{5BFDBB1E-9225-A8E1-1205-7B7E0637227B}"/>
              </a:ext>
            </a:extLst>
          </p:cNvPr>
          <p:cNvSpPr/>
          <p:nvPr/>
        </p:nvSpPr>
        <p:spPr>
          <a:xfrm>
            <a:off x="457200" y="3145536"/>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Input</a:t>
            </a:r>
            <a:endParaRPr lang="en-US" sz="800" dirty="0"/>
          </a:p>
        </p:txBody>
      </p:sp>
      <p:sp>
        <p:nvSpPr>
          <p:cNvPr id="17" name="Text 15">
            <a:extLst>
              <a:ext uri="{FF2B5EF4-FFF2-40B4-BE49-F238E27FC236}">
                <a16:creationId xmlns:a16="http://schemas.microsoft.com/office/drawing/2014/main" id="{BE4CBAA0-1DD8-C300-54C8-98269928DCB6}"/>
              </a:ext>
            </a:extLst>
          </p:cNvPr>
          <p:cNvSpPr/>
          <p:nvPr/>
        </p:nvSpPr>
        <p:spPr>
          <a:xfrm>
            <a:off x="457200"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An unsorted list (any order)</a:t>
            </a:r>
          </a:p>
        </p:txBody>
      </p:sp>
      <p:sp>
        <p:nvSpPr>
          <p:cNvPr id="18" name="Shape 16">
            <a:extLst>
              <a:ext uri="{FF2B5EF4-FFF2-40B4-BE49-F238E27FC236}">
                <a16:creationId xmlns:a16="http://schemas.microsoft.com/office/drawing/2014/main" id="{2F063973-CA98-3791-04FD-D91B4BFEBE96}"/>
              </a:ext>
            </a:extLst>
          </p:cNvPr>
          <p:cNvSpPr/>
          <p:nvPr/>
        </p:nvSpPr>
        <p:spPr>
          <a:xfrm>
            <a:off x="384048"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9" name="Text 17">
            <a:extLst>
              <a:ext uri="{FF2B5EF4-FFF2-40B4-BE49-F238E27FC236}">
                <a16:creationId xmlns:a16="http://schemas.microsoft.com/office/drawing/2014/main" id="{4A354414-8980-435D-357F-D4B467A84BCA}"/>
              </a:ext>
            </a:extLst>
          </p:cNvPr>
          <p:cNvSpPr/>
          <p:nvPr/>
        </p:nvSpPr>
        <p:spPr>
          <a:xfrm>
            <a:off x="457200" y="3749040"/>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Output</a:t>
            </a:r>
            <a:endParaRPr lang="en-US" sz="800" dirty="0"/>
          </a:p>
        </p:txBody>
      </p:sp>
      <p:sp>
        <p:nvSpPr>
          <p:cNvPr id="20" name="Text 18">
            <a:extLst>
              <a:ext uri="{FF2B5EF4-FFF2-40B4-BE49-F238E27FC236}">
                <a16:creationId xmlns:a16="http://schemas.microsoft.com/office/drawing/2014/main" id="{10988D5E-7783-F62D-3D58-985154F9F681}"/>
              </a:ext>
            </a:extLst>
          </p:cNvPr>
          <p:cNvSpPr/>
          <p:nvPr/>
        </p:nvSpPr>
        <p:spPr>
          <a:xfrm>
            <a:off x="457200"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The same list, now sorted</a:t>
            </a:r>
            <a:endParaRPr lang="en-US" sz="1000" dirty="0"/>
          </a:p>
        </p:txBody>
      </p:sp>
      <p:sp>
        <p:nvSpPr>
          <p:cNvPr id="21" name="Shape 19">
            <a:extLst>
              <a:ext uri="{FF2B5EF4-FFF2-40B4-BE49-F238E27FC236}">
                <a16:creationId xmlns:a16="http://schemas.microsoft.com/office/drawing/2014/main" id="{6B229D71-6A56-AE58-3983-D7ECD4AE715E}"/>
              </a:ext>
            </a:extLst>
          </p:cNvPr>
          <p:cNvSpPr/>
          <p:nvPr/>
        </p:nvSpPr>
        <p:spPr>
          <a:xfrm>
            <a:off x="384048"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2" name="Text 20">
            <a:extLst>
              <a:ext uri="{FF2B5EF4-FFF2-40B4-BE49-F238E27FC236}">
                <a16:creationId xmlns:a16="http://schemas.microsoft.com/office/drawing/2014/main" id="{45F3FB27-EDB2-C24A-106E-053C8980AE8E}"/>
              </a:ext>
            </a:extLst>
          </p:cNvPr>
          <p:cNvSpPr/>
          <p:nvPr/>
        </p:nvSpPr>
        <p:spPr>
          <a:xfrm>
            <a:off x="457200" y="4352544"/>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Family</a:t>
            </a:r>
            <a:endParaRPr lang="en-US" sz="800" dirty="0"/>
          </a:p>
        </p:txBody>
      </p:sp>
      <p:sp>
        <p:nvSpPr>
          <p:cNvPr id="23" name="Text 21">
            <a:extLst>
              <a:ext uri="{FF2B5EF4-FFF2-40B4-BE49-F238E27FC236}">
                <a16:creationId xmlns:a16="http://schemas.microsoft.com/office/drawing/2014/main" id="{5CA971F4-B0DF-8B96-0DC6-6F777F3A889A}"/>
              </a:ext>
            </a:extLst>
          </p:cNvPr>
          <p:cNvSpPr/>
          <p:nvPr/>
        </p:nvSpPr>
        <p:spPr>
          <a:xfrm>
            <a:off x="457200"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Comparison-based, in-place sort</a:t>
            </a:r>
            <a:endParaRPr lang="en-US" sz="1000" dirty="0"/>
          </a:p>
        </p:txBody>
      </p:sp>
      <p:sp>
        <p:nvSpPr>
          <p:cNvPr id="24" name="Shape 22">
            <a:extLst>
              <a:ext uri="{FF2B5EF4-FFF2-40B4-BE49-F238E27FC236}">
                <a16:creationId xmlns:a16="http://schemas.microsoft.com/office/drawing/2014/main" id="{BD48AD9D-5621-E7F3-EC42-8BA9A0AFAFB7}"/>
              </a:ext>
            </a:extLst>
          </p:cNvPr>
          <p:cNvSpPr/>
          <p:nvPr/>
        </p:nvSpPr>
        <p:spPr>
          <a:xfrm>
            <a:off x="3163824" y="987552"/>
            <a:ext cx="2779776" cy="404164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25" name="Text 23">
            <a:extLst>
              <a:ext uri="{FF2B5EF4-FFF2-40B4-BE49-F238E27FC236}">
                <a16:creationId xmlns:a16="http://schemas.microsoft.com/office/drawing/2014/main" id="{2A2AE263-E84F-29F5-59D7-0A4B5C3EDF8B}"/>
              </a:ext>
            </a:extLst>
          </p:cNvPr>
          <p:cNvSpPr/>
          <p:nvPr/>
        </p:nvSpPr>
        <p:spPr>
          <a:xfrm>
            <a:off x="3163824" y="1033272"/>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How It Works</a:t>
            </a:r>
            <a:endParaRPr lang="en-US" sz="2000" dirty="0"/>
          </a:p>
        </p:txBody>
      </p:sp>
      <p:sp>
        <p:nvSpPr>
          <p:cNvPr id="26" name="Text 24">
            <a:extLst>
              <a:ext uri="{FF2B5EF4-FFF2-40B4-BE49-F238E27FC236}">
                <a16:creationId xmlns:a16="http://schemas.microsoft.com/office/drawing/2014/main" id="{F014DDB2-FE98-268C-10BC-7AFC14ECC9A2}"/>
              </a:ext>
            </a:extLst>
          </p:cNvPr>
          <p:cNvSpPr/>
          <p:nvPr/>
        </p:nvSpPr>
        <p:spPr>
          <a:xfrm>
            <a:off x="3163824"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One pass, then repeat</a:t>
            </a:r>
            <a:endParaRPr lang="en-US" sz="1000" dirty="0"/>
          </a:p>
        </p:txBody>
      </p:sp>
      <p:sp>
        <p:nvSpPr>
          <p:cNvPr id="27" name="Shape 25">
            <a:extLst>
              <a:ext uri="{FF2B5EF4-FFF2-40B4-BE49-F238E27FC236}">
                <a16:creationId xmlns:a16="http://schemas.microsoft.com/office/drawing/2014/main" id="{A05F0EF5-72AD-AB9A-BBF5-81CE3F4341A6}"/>
              </a:ext>
            </a:extLst>
          </p:cNvPr>
          <p:cNvSpPr/>
          <p:nvPr/>
        </p:nvSpPr>
        <p:spPr>
          <a:xfrm>
            <a:off x="3291840"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8" name="Text 26">
            <a:extLst>
              <a:ext uri="{FF2B5EF4-FFF2-40B4-BE49-F238E27FC236}">
                <a16:creationId xmlns:a16="http://schemas.microsoft.com/office/drawing/2014/main" id="{083A298E-36BD-B8BD-C903-2E6D89F08F9D}"/>
              </a:ext>
            </a:extLst>
          </p:cNvPr>
          <p:cNvSpPr/>
          <p:nvPr/>
        </p:nvSpPr>
        <p:spPr>
          <a:xfrm>
            <a:off x="3364992" y="1938528"/>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1</a:t>
            </a:r>
            <a:endParaRPr lang="en-US" sz="800" dirty="0"/>
          </a:p>
        </p:txBody>
      </p:sp>
      <p:sp>
        <p:nvSpPr>
          <p:cNvPr id="29" name="Text 27">
            <a:extLst>
              <a:ext uri="{FF2B5EF4-FFF2-40B4-BE49-F238E27FC236}">
                <a16:creationId xmlns:a16="http://schemas.microsoft.com/office/drawing/2014/main" id="{B10E638F-8073-CA1D-CF8D-6A0034C827F0}"/>
              </a:ext>
            </a:extLst>
          </p:cNvPr>
          <p:cNvSpPr/>
          <p:nvPr/>
        </p:nvSpPr>
        <p:spPr>
          <a:xfrm>
            <a:off x="3364992"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Start at the first pair</a:t>
            </a:r>
            <a:endParaRPr lang="en-US" sz="1000" dirty="0"/>
          </a:p>
        </p:txBody>
      </p:sp>
      <p:sp>
        <p:nvSpPr>
          <p:cNvPr id="30" name="Shape 28">
            <a:extLst>
              <a:ext uri="{FF2B5EF4-FFF2-40B4-BE49-F238E27FC236}">
                <a16:creationId xmlns:a16="http://schemas.microsoft.com/office/drawing/2014/main" id="{1115F7D5-AB59-4793-3017-56977D651FA9}"/>
              </a:ext>
            </a:extLst>
          </p:cNvPr>
          <p:cNvSpPr/>
          <p:nvPr/>
        </p:nvSpPr>
        <p:spPr>
          <a:xfrm>
            <a:off x="3291840"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1" name="Text 29">
            <a:extLst>
              <a:ext uri="{FF2B5EF4-FFF2-40B4-BE49-F238E27FC236}">
                <a16:creationId xmlns:a16="http://schemas.microsoft.com/office/drawing/2014/main" id="{6073D696-90F9-5831-A9FA-CEB3FFD55143}"/>
              </a:ext>
            </a:extLst>
          </p:cNvPr>
          <p:cNvSpPr/>
          <p:nvPr/>
        </p:nvSpPr>
        <p:spPr>
          <a:xfrm>
            <a:off x="3364992" y="2542032"/>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2</a:t>
            </a:r>
            <a:endParaRPr lang="en-US" sz="800" dirty="0"/>
          </a:p>
        </p:txBody>
      </p:sp>
      <p:sp>
        <p:nvSpPr>
          <p:cNvPr id="32" name="Text 30">
            <a:extLst>
              <a:ext uri="{FF2B5EF4-FFF2-40B4-BE49-F238E27FC236}">
                <a16:creationId xmlns:a16="http://schemas.microsoft.com/office/drawing/2014/main" id="{338F6E8F-D4EE-58E6-AB3E-E676EB6B9BC9}"/>
              </a:ext>
            </a:extLst>
          </p:cNvPr>
          <p:cNvSpPr/>
          <p:nvPr/>
        </p:nvSpPr>
        <p:spPr>
          <a:xfrm>
            <a:off x="3364992"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If left &gt; right → swap them</a:t>
            </a:r>
            <a:endParaRPr lang="en-US" sz="1000" dirty="0"/>
          </a:p>
        </p:txBody>
      </p:sp>
      <p:sp>
        <p:nvSpPr>
          <p:cNvPr id="33" name="Shape 31">
            <a:extLst>
              <a:ext uri="{FF2B5EF4-FFF2-40B4-BE49-F238E27FC236}">
                <a16:creationId xmlns:a16="http://schemas.microsoft.com/office/drawing/2014/main" id="{90BAC11F-E1A8-35E9-18F1-62E05E2CCAC8}"/>
              </a:ext>
            </a:extLst>
          </p:cNvPr>
          <p:cNvSpPr/>
          <p:nvPr/>
        </p:nvSpPr>
        <p:spPr>
          <a:xfrm>
            <a:off x="3291840"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dirty="0"/>
          </a:p>
        </p:txBody>
      </p:sp>
      <p:sp>
        <p:nvSpPr>
          <p:cNvPr id="34" name="Text 32">
            <a:extLst>
              <a:ext uri="{FF2B5EF4-FFF2-40B4-BE49-F238E27FC236}">
                <a16:creationId xmlns:a16="http://schemas.microsoft.com/office/drawing/2014/main" id="{C0F462FF-7F1E-5DB8-413D-E855FFD315EE}"/>
              </a:ext>
            </a:extLst>
          </p:cNvPr>
          <p:cNvSpPr/>
          <p:nvPr/>
        </p:nvSpPr>
        <p:spPr>
          <a:xfrm>
            <a:off x="3364992" y="3145536"/>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3</a:t>
            </a:r>
            <a:endParaRPr lang="en-US" sz="800" dirty="0"/>
          </a:p>
        </p:txBody>
      </p:sp>
      <p:sp>
        <p:nvSpPr>
          <p:cNvPr id="35" name="Text 33">
            <a:extLst>
              <a:ext uri="{FF2B5EF4-FFF2-40B4-BE49-F238E27FC236}">
                <a16:creationId xmlns:a16="http://schemas.microsoft.com/office/drawing/2014/main" id="{431CD1D4-728D-D439-8C9C-8F258123E6FF}"/>
              </a:ext>
            </a:extLst>
          </p:cNvPr>
          <p:cNvSpPr/>
          <p:nvPr/>
        </p:nvSpPr>
        <p:spPr>
          <a:xfrm>
            <a:off x="3364992"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Move to the next pair</a:t>
            </a:r>
          </a:p>
        </p:txBody>
      </p:sp>
      <p:sp>
        <p:nvSpPr>
          <p:cNvPr id="36" name="Shape 34">
            <a:extLst>
              <a:ext uri="{FF2B5EF4-FFF2-40B4-BE49-F238E27FC236}">
                <a16:creationId xmlns:a16="http://schemas.microsoft.com/office/drawing/2014/main" id="{1CB16C89-C1B7-CE23-A8E7-A5BD72507E34}"/>
              </a:ext>
            </a:extLst>
          </p:cNvPr>
          <p:cNvSpPr/>
          <p:nvPr/>
        </p:nvSpPr>
        <p:spPr>
          <a:xfrm>
            <a:off x="3291840"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7" name="Text 35">
            <a:extLst>
              <a:ext uri="{FF2B5EF4-FFF2-40B4-BE49-F238E27FC236}">
                <a16:creationId xmlns:a16="http://schemas.microsoft.com/office/drawing/2014/main" id="{CAAECD9B-B974-69AF-96E1-1ED6A15A2AC6}"/>
              </a:ext>
            </a:extLst>
          </p:cNvPr>
          <p:cNvSpPr/>
          <p:nvPr/>
        </p:nvSpPr>
        <p:spPr>
          <a:xfrm>
            <a:off x="3364992" y="3749040"/>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4</a:t>
            </a:r>
            <a:endParaRPr lang="en-US" sz="800" dirty="0"/>
          </a:p>
        </p:txBody>
      </p:sp>
      <p:sp>
        <p:nvSpPr>
          <p:cNvPr id="38" name="Text 36">
            <a:extLst>
              <a:ext uri="{FF2B5EF4-FFF2-40B4-BE49-F238E27FC236}">
                <a16:creationId xmlns:a16="http://schemas.microsoft.com/office/drawing/2014/main" id="{C69C938C-3E85-8060-A306-4D527DF6A6C0}"/>
              </a:ext>
            </a:extLst>
          </p:cNvPr>
          <p:cNvSpPr/>
          <p:nvPr/>
        </p:nvSpPr>
        <p:spPr>
          <a:xfrm>
            <a:off x="3364992"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End of list = one pass done</a:t>
            </a:r>
            <a:endParaRPr lang="en-US" sz="1000" dirty="0"/>
          </a:p>
        </p:txBody>
      </p:sp>
      <p:sp>
        <p:nvSpPr>
          <p:cNvPr id="39" name="Shape 37">
            <a:extLst>
              <a:ext uri="{FF2B5EF4-FFF2-40B4-BE49-F238E27FC236}">
                <a16:creationId xmlns:a16="http://schemas.microsoft.com/office/drawing/2014/main" id="{3DF86B9F-C390-852B-54F8-32B4EAAF6A7E}"/>
              </a:ext>
            </a:extLst>
          </p:cNvPr>
          <p:cNvSpPr/>
          <p:nvPr/>
        </p:nvSpPr>
        <p:spPr>
          <a:xfrm>
            <a:off x="3291840"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0" name="Text 38">
            <a:extLst>
              <a:ext uri="{FF2B5EF4-FFF2-40B4-BE49-F238E27FC236}">
                <a16:creationId xmlns:a16="http://schemas.microsoft.com/office/drawing/2014/main" id="{A66CDEBF-5B8A-A325-4EDA-D77297C625E7}"/>
              </a:ext>
            </a:extLst>
          </p:cNvPr>
          <p:cNvSpPr/>
          <p:nvPr/>
        </p:nvSpPr>
        <p:spPr>
          <a:xfrm>
            <a:off x="3364992" y="4352544"/>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5</a:t>
            </a:r>
            <a:endParaRPr lang="en-US" sz="800" dirty="0"/>
          </a:p>
        </p:txBody>
      </p:sp>
      <p:sp>
        <p:nvSpPr>
          <p:cNvPr id="41" name="Text 39">
            <a:extLst>
              <a:ext uri="{FF2B5EF4-FFF2-40B4-BE49-F238E27FC236}">
                <a16:creationId xmlns:a16="http://schemas.microsoft.com/office/drawing/2014/main" id="{70C90110-7151-0F5E-7B75-4281C7115836}"/>
              </a:ext>
            </a:extLst>
          </p:cNvPr>
          <p:cNvSpPr/>
          <p:nvPr/>
        </p:nvSpPr>
        <p:spPr>
          <a:xfrm>
            <a:off x="3364992"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Repeat until no swaps occur</a:t>
            </a:r>
            <a:endParaRPr lang="en-US" sz="1000" dirty="0"/>
          </a:p>
        </p:txBody>
      </p:sp>
      <p:sp>
        <p:nvSpPr>
          <p:cNvPr id="42" name="Shape 40">
            <a:extLst>
              <a:ext uri="{FF2B5EF4-FFF2-40B4-BE49-F238E27FC236}">
                <a16:creationId xmlns:a16="http://schemas.microsoft.com/office/drawing/2014/main" id="{23D47241-34CE-835E-D9B3-5DF3E9C86A4D}"/>
              </a:ext>
            </a:extLst>
          </p:cNvPr>
          <p:cNvSpPr/>
          <p:nvPr/>
        </p:nvSpPr>
        <p:spPr>
          <a:xfrm>
            <a:off x="6071616" y="987552"/>
            <a:ext cx="2779776" cy="404164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43" name="Text 41">
            <a:extLst>
              <a:ext uri="{FF2B5EF4-FFF2-40B4-BE49-F238E27FC236}">
                <a16:creationId xmlns:a16="http://schemas.microsoft.com/office/drawing/2014/main" id="{160F8E2C-8366-D789-0BA3-8DA4032B4304}"/>
              </a:ext>
            </a:extLst>
          </p:cNvPr>
          <p:cNvSpPr/>
          <p:nvPr/>
        </p:nvSpPr>
        <p:spPr>
          <a:xfrm>
            <a:off x="6071616" y="1033272"/>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Why "bubble"?</a:t>
            </a:r>
            <a:endParaRPr lang="en-US" sz="2000" dirty="0"/>
          </a:p>
        </p:txBody>
      </p:sp>
      <p:sp>
        <p:nvSpPr>
          <p:cNvPr id="44" name="Text 42">
            <a:extLst>
              <a:ext uri="{FF2B5EF4-FFF2-40B4-BE49-F238E27FC236}">
                <a16:creationId xmlns:a16="http://schemas.microsoft.com/office/drawing/2014/main" id="{400A9794-536B-5ED1-EAE6-B302049B104A}"/>
              </a:ext>
            </a:extLst>
          </p:cNvPr>
          <p:cNvSpPr/>
          <p:nvPr/>
        </p:nvSpPr>
        <p:spPr>
          <a:xfrm>
            <a:off x="6071616"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The name describes the motion</a:t>
            </a:r>
            <a:endParaRPr lang="en-US" sz="1000" dirty="0"/>
          </a:p>
        </p:txBody>
      </p:sp>
      <p:sp>
        <p:nvSpPr>
          <p:cNvPr id="45" name="Shape 43">
            <a:extLst>
              <a:ext uri="{FF2B5EF4-FFF2-40B4-BE49-F238E27FC236}">
                <a16:creationId xmlns:a16="http://schemas.microsoft.com/office/drawing/2014/main" id="{17BB9C3C-FBE9-5806-C1E4-F9F0239F94FD}"/>
              </a:ext>
            </a:extLst>
          </p:cNvPr>
          <p:cNvSpPr/>
          <p:nvPr/>
        </p:nvSpPr>
        <p:spPr>
          <a:xfrm>
            <a:off x="6199632"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6" name="Text 44">
            <a:extLst>
              <a:ext uri="{FF2B5EF4-FFF2-40B4-BE49-F238E27FC236}">
                <a16:creationId xmlns:a16="http://schemas.microsoft.com/office/drawing/2014/main" id="{1934E9C9-C2E5-4054-607E-4F78E6D73CD6}"/>
              </a:ext>
            </a:extLst>
          </p:cNvPr>
          <p:cNvSpPr/>
          <p:nvPr/>
        </p:nvSpPr>
        <p:spPr>
          <a:xfrm>
            <a:off x="6272784" y="1938528"/>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The image</a:t>
            </a:r>
            <a:endParaRPr lang="en-US" sz="800" dirty="0"/>
          </a:p>
        </p:txBody>
      </p:sp>
      <p:sp>
        <p:nvSpPr>
          <p:cNvPr id="47" name="Text 45">
            <a:extLst>
              <a:ext uri="{FF2B5EF4-FFF2-40B4-BE49-F238E27FC236}">
                <a16:creationId xmlns:a16="http://schemas.microsoft.com/office/drawing/2014/main" id="{BC2E8DD9-F45B-A649-12EE-B4F1127DA68F}"/>
              </a:ext>
            </a:extLst>
          </p:cNvPr>
          <p:cNvSpPr/>
          <p:nvPr/>
        </p:nvSpPr>
        <p:spPr>
          <a:xfrm>
            <a:off x="6272784"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Bubbles in water rise to the top</a:t>
            </a:r>
            <a:endParaRPr lang="en-US" sz="1000" dirty="0"/>
          </a:p>
        </p:txBody>
      </p:sp>
      <p:sp>
        <p:nvSpPr>
          <p:cNvPr id="48" name="Shape 46">
            <a:extLst>
              <a:ext uri="{FF2B5EF4-FFF2-40B4-BE49-F238E27FC236}">
                <a16:creationId xmlns:a16="http://schemas.microsoft.com/office/drawing/2014/main" id="{CD98D845-A5B7-CD8A-6A17-A786BC952BFB}"/>
              </a:ext>
            </a:extLst>
          </p:cNvPr>
          <p:cNvSpPr/>
          <p:nvPr/>
        </p:nvSpPr>
        <p:spPr>
          <a:xfrm>
            <a:off x="6199632"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49" name="Text 47">
            <a:extLst>
              <a:ext uri="{FF2B5EF4-FFF2-40B4-BE49-F238E27FC236}">
                <a16:creationId xmlns:a16="http://schemas.microsoft.com/office/drawing/2014/main" id="{E4E004CF-D99A-D43E-DEBD-62A9A585E8BC}"/>
              </a:ext>
            </a:extLst>
          </p:cNvPr>
          <p:cNvSpPr/>
          <p:nvPr/>
        </p:nvSpPr>
        <p:spPr>
          <a:xfrm>
            <a:off x="6272784" y="2542032"/>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What rises</a:t>
            </a:r>
            <a:endParaRPr lang="en-US" sz="800" dirty="0"/>
          </a:p>
        </p:txBody>
      </p:sp>
      <p:sp>
        <p:nvSpPr>
          <p:cNvPr id="50" name="Text 48">
            <a:extLst>
              <a:ext uri="{FF2B5EF4-FFF2-40B4-BE49-F238E27FC236}">
                <a16:creationId xmlns:a16="http://schemas.microsoft.com/office/drawing/2014/main" id="{E1C58A4B-FE46-1795-D7D0-944949F52C8B}"/>
              </a:ext>
            </a:extLst>
          </p:cNvPr>
          <p:cNvSpPr/>
          <p:nvPr/>
        </p:nvSpPr>
        <p:spPr>
          <a:xfrm>
            <a:off x="6272784"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The largest unsorted value</a:t>
            </a:r>
            <a:endParaRPr lang="en-US" sz="1000" dirty="0"/>
          </a:p>
        </p:txBody>
      </p:sp>
      <p:sp>
        <p:nvSpPr>
          <p:cNvPr id="51" name="Shape 49">
            <a:extLst>
              <a:ext uri="{FF2B5EF4-FFF2-40B4-BE49-F238E27FC236}">
                <a16:creationId xmlns:a16="http://schemas.microsoft.com/office/drawing/2014/main" id="{A4F5B864-A547-85E2-687E-468DA9810227}"/>
              </a:ext>
            </a:extLst>
          </p:cNvPr>
          <p:cNvSpPr/>
          <p:nvPr/>
        </p:nvSpPr>
        <p:spPr>
          <a:xfrm>
            <a:off x="6199632"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2" name="Text 50">
            <a:extLst>
              <a:ext uri="{FF2B5EF4-FFF2-40B4-BE49-F238E27FC236}">
                <a16:creationId xmlns:a16="http://schemas.microsoft.com/office/drawing/2014/main" id="{47875D30-CA79-24B3-8B55-3CA6B7546DD1}"/>
              </a:ext>
            </a:extLst>
          </p:cNvPr>
          <p:cNvSpPr/>
          <p:nvPr/>
        </p:nvSpPr>
        <p:spPr>
          <a:xfrm>
            <a:off x="6272784" y="3145536"/>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Where it goes</a:t>
            </a:r>
            <a:endParaRPr lang="en-US" sz="800" dirty="0"/>
          </a:p>
        </p:txBody>
      </p:sp>
      <p:sp>
        <p:nvSpPr>
          <p:cNvPr id="53" name="Text 51">
            <a:extLst>
              <a:ext uri="{FF2B5EF4-FFF2-40B4-BE49-F238E27FC236}">
                <a16:creationId xmlns:a16="http://schemas.microsoft.com/office/drawing/2014/main" id="{15E016C0-85D1-360B-6E43-07A7D50C7823}"/>
              </a:ext>
            </a:extLst>
          </p:cNvPr>
          <p:cNvSpPr/>
          <p:nvPr/>
        </p:nvSpPr>
        <p:spPr>
          <a:xfrm>
            <a:off x="6272784" y="3364992"/>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To its final place at the end</a:t>
            </a:r>
            <a:endParaRPr lang="en-US" sz="1000" dirty="0"/>
          </a:p>
        </p:txBody>
      </p:sp>
      <p:sp>
        <p:nvSpPr>
          <p:cNvPr id="54" name="Shape 52">
            <a:extLst>
              <a:ext uri="{FF2B5EF4-FFF2-40B4-BE49-F238E27FC236}">
                <a16:creationId xmlns:a16="http://schemas.microsoft.com/office/drawing/2014/main" id="{4180C4C0-6012-AC85-4B17-3AFA774A2271}"/>
              </a:ext>
            </a:extLst>
          </p:cNvPr>
          <p:cNvSpPr/>
          <p:nvPr/>
        </p:nvSpPr>
        <p:spPr>
          <a:xfrm>
            <a:off x="6199632"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55" name="Text 53">
            <a:extLst>
              <a:ext uri="{FF2B5EF4-FFF2-40B4-BE49-F238E27FC236}">
                <a16:creationId xmlns:a16="http://schemas.microsoft.com/office/drawing/2014/main" id="{6F0CCA05-6F6B-73EB-BB3E-40FF49D41D8D}"/>
              </a:ext>
            </a:extLst>
          </p:cNvPr>
          <p:cNvSpPr/>
          <p:nvPr/>
        </p:nvSpPr>
        <p:spPr>
          <a:xfrm>
            <a:off x="6272784" y="3749040"/>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How long</a:t>
            </a:r>
            <a:endParaRPr lang="en-US" sz="800" dirty="0"/>
          </a:p>
        </p:txBody>
      </p:sp>
      <p:sp>
        <p:nvSpPr>
          <p:cNvPr id="56" name="Text 54">
            <a:extLst>
              <a:ext uri="{FF2B5EF4-FFF2-40B4-BE49-F238E27FC236}">
                <a16:creationId xmlns:a16="http://schemas.microsoft.com/office/drawing/2014/main" id="{1B5A695C-4E1C-1D37-4C84-4CC97C0EF229}"/>
              </a:ext>
            </a:extLst>
          </p:cNvPr>
          <p:cNvSpPr/>
          <p:nvPr/>
        </p:nvSpPr>
        <p:spPr>
          <a:xfrm>
            <a:off x="6272784"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One bubble per pass through list</a:t>
            </a:r>
            <a:endParaRPr lang="en-US" sz="1000" dirty="0"/>
          </a:p>
        </p:txBody>
      </p:sp>
      <p:sp>
        <p:nvSpPr>
          <p:cNvPr id="57" name="Shape 55">
            <a:extLst>
              <a:ext uri="{FF2B5EF4-FFF2-40B4-BE49-F238E27FC236}">
                <a16:creationId xmlns:a16="http://schemas.microsoft.com/office/drawing/2014/main" id="{9479889D-FE47-827C-03B8-A090B2C69810}"/>
              </a:ext>
            </a:extLst>
          </p:cNvPr>
          <p:cNvSpPr/>
          <p:nvPr/>
        </p:nvSpPr>
        <p:spPr>
          <a:xfrm>
            <a:off x="6199632"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8" name="Text 56">
            <a:extLst>
              <a:ext uri="{FF2B5EF4-FFF2-40B4-BE49-F238E27FC236}">
                <a16:creationId xmlns:a16="http://schemas.microsoft.com/office/drawing/2014/main" id="{30B55CAD-3273-8860-07F1-9A86A45AE431}"/>
              </a:ext>
            </a:extLst>
          </p:cNvPr>
          <p:cNvSpPr/>
          <p:nvPr/>
        </p:nvSpPr>
        <p:spPr>
          <a:xfrm>
            <a:off x="6272784" y="4352544"/>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Result</a:t>
            </a:r>
            <a:endParaRPr lang="en-US" sz="800" dirty="0"/>
          </a:p>
        </p:txBody>
      </p:sp>
      <p:sp>
        <p:nvSpPr>
          <p:cNvPr id="59" name="Text 57">
            <a:extLst>
              <a:ext uri="{FF2B5EF4-FFF2-40B4-BE49-F238E27FC236}">
                <a16:creationId xmlns:a16="http://schemas.microsoft.com/office/drawing/2014/main" id="{0270D8ED-165B-1400-E041-17FA430DE5B7}"/>
              </a:ext>
            </a:extLst>
          </p:cNvPr>
          <p:cNvSpPr/>
          <p:nvPr/>
        </p:nvSpPr>
        <p:spPr>
          <a:xfrm>
            <a:off x="6272784"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Sorted list after N-1 passes</a:t>
            </a:r>
            <a:endParaRPr lang="en-US" sz="1000" dirty="0"/>
          </a:p>
        </p:txBody>
      </p:sp>
    </p:spTree>
    <p:extLst>
      <p:ext uri="{BB962C8B-B14F-4D97-AF65-F5344CB8AC3E}">
        <p14:creationId xmlns:p14="http://schemas.microsoft.com/office/powerpoint/2010/main" val="834555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F938DC5C-7D51-33EF-EC2F-903B4691A7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D737442-8D81-2853-880E-B42C3E57B12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0C7F8120-DDCD-B00F-157A-EA938D251AAE}"/>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4" name="Text 2">
            <a:extLst>
              <a:ext uri="{FF2B5EF4-FFF2-40B4-BE49-F238E27FC236}">
                <a16:creationId xmlns:a16="http://schemas.microsoft.com/office/drawing/2014/main" id="{16098926-9EDA-9F30-BFD8-DFDDAF496B5B}"/>
              </a:ext>
            </a:extLst>
          </p:cNvPr>
          <p:cNvSpPr/>
          <p:nvPr/>
        </p:nvSpPr>
        <p:spPr>
          <a:xfrm>
            <a:off x="365760" y="73152"/>
            <a:ext cx="8412480" cy="411480"/>
          </a:xfrm>
          <a:prstGeom prst="rect">
            <a:avLst/>
          </a:prstGeom>
          <a:noFill/>
          <a:ln/>
        </p:spPr>
        <p:txBody>
          <a:bodyPr wrap="square" lIns="0" tIns="0" rIns="0" bIns="0" rtlCol="0" anchor="ctr"/>
          <a:lstStyle/>
          <a:p>
            <a:pPr marL="0" indent="0">
              <a:buNone/>
            </a:pPr>
            <a:r>
              <a:rPr lang="en-US" sz="2200" b="1" dirty="0">
                <a:solidFill>
                  <a:srgbClr val="57E3D8"/>
                </a:solidFill>
                <a:latin typeface="Calibri" pitchFamily="34" charset="0"/>
                <a:ea typeface="Calibri" pitchFamily="34" charset="-122"/>
                <a:cs typeface="Calibri" pitchFamily="34" charset="-120"/>
              </a:rPr>
              <a:t>Searching vs. Sorting</a:t>
            </a:r>
            <a:endParaRPr lang="en-US" sz="2200" dirty="0"/>
          </a:p>
        </p:txBody>
      </p:sp>
      <p:sp>
        <p:nvSpPr>
          <p:cNvPr id="5" name="Text 3">
            <a:extLst>
              <a:ext uri="{FF2B5EF4-FFF2-40B4-BE49-F238E27FC236}">
                <a16:creationId xmlns:a16="http://schemas.microsoft.com/office/drawing/2014/main" id="{E716D937-3C6D-88A6-7F45-F226E11D57EC}"/>
              </a:ext>
            </a:extLst>
          </p:cNvPr>
          <p:cNvSpPr/>
          <p:nvPr/>
        </p:nvSpPr>
        <p:spPr>
          <a:xfrm>
            <a:off x="365760" y="484632"/>
            <a:ext cx="8412480" cy="246888"/>
          </a:xfrm>
          <a:prstGeom prst="rect">
            <a:avLst/>
          </a:prstGeom>
          <a:noFill/>
          <a:ln/>
        </p:spPr>
        <p:txBody>
          <a:bodyPr wrap="square" lIns="0" tIns="0" rIns="0" bIns="0" rtlCol="0" anchor="t"/>
          <a:lstStyle/>
          <a:p>
            <a:pPr marL="0" indent="0">
              <a:buNone/>
            </a:pPr>
            <a:r>
              <a:rPr lang="en-US" sz="1100" i="1" dirty="0">
                <a:solidFill>
                  <a:srgbClr val="EDEDED"/>
                </a:solidFill>
                <a:latin typeface="Calibri" pitchFamily="34" charset="0"/>
                <a:ea typeface="Calibri" pitchFamily="34" charset="-122"/>
                <a:cs typeface="Calibri" pitchFamily="34" charset="-120"/>
              </a:rPr>
              <a:t>Two of the most common tasks in programming — different goals, related techniques</a:t>
            </a:r>
            <a:endParaRPr lang="en-US" sz="1100" dirty="0"/>
          </a:p>
        </p:txBody>
      </p:sp>
      <p:sp>
        <p:nvSpPr>
          <p:cNvPr id="6" name="Shape 4">
            <a:extLst>
              <a:ext uri="{FF2B5EF4-FFF2-40B4-BE49-F238E27FC236}">
                <a16:creationId xmlns:a16="http://schemas.microsoft.com/office/drawing/2014/main" id="{575D64EF-ED1C-72CD-B931-D7593460A20B}"/>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7" name="Shape 5">
            <a:extLst>
              <a:ext uri="{FF2B5EF4-FFF2-40B4-BE49-F238E27FC236}">
                <a16:creationId xmlns:a16="http://schemas.microsoft.com/office/drawing/2014/main" id="{7C653463-1142-179E-88BD-AFAF6F8C8637}"/>
              </a:ext>
            </a:extLst>
          </p:cNvPr>
          <p:cNvSpPr/>
          <p:nvPr/>
        </p:nvSpPr>
        <p:spPr>
          <a:xfrm>
            <a:off x="274320" y="822960"/>
            <a:ext cx="3886200" cy="3589020"/>
          </a:xfrm>
          <a:prstGeom prst="roundRect">
            <a:avLst>
              <a:gd name="adj" fmla="val 2824"/>
            </a:avLst>
          </a:prstGeom>
          <a:solidFill>
            <a:srgbClr val="1E0F40"/>
          </a:solidFill>
          <a:ln w="12700">
            <a:solidFill>
              <a:srgbClr val="4F29B7"/>
            </a:solidFill>
            <a:prstDash val="solid"/>
          </a:ln>
        </p:spPr>
        <p:txBody>
          <a:bodyPr/>
          <a:lstStyle/>
          <a:p>
            <a:endParaRPr lang="en-US"/>
          </a:p>
        </p:txBody>
      </p:sp>
      <p:sp>
        <p:nvSpPr>
          <p:cNvPr id="8" name="Text 6">
            <a:extLst>
              <a:ext uri="{FF2B5EF4-FFF2-40B4-BE49-F238E27FC236}">
                <a16:creationId xmlns:a16="http://schemas.microsoft.com/office/drawing/2014/main" id="{87C3DF9D-CF81-CFC2-24DE-26789DF7C566}"/>
              </a:ext>
            </a:extLst>
          </p:cNvPr>
          <p:cNvSpPr/>
          <p:nvPr/>
        </p:nvSpPr>
        <p:spPr>
          <a:xfrm>
            <a:off x="274320" y="822960"/>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Searching</a:t>
            </a:r>
            <a:endParaRPr lang="en-US" sz="2000" dirty="0"/>
          </a:p>
        </p:txBody>
      </p:sp>
      <p:sp>
        <p:nvSpPr>
          <p:cNvPr id="10" name="Shape 8">
            <a:extLst>
              <a:ext uri="{FF2B5EF4-FFF2-40B4-BE49-F238E27FC236}">
                <a16:creationId xmlns:a16="http://schemas.microsoft.com/office/drawing/2014/main" id="{F539B252-D602-88A8-A23E-D20791397C62}"/>
              </a:ext>
            </a:extLst>
          </p:cNvPr>
          <p:cNvSpPr/>
          <p:nvPr/>
        </p:nvSpPr>
        <p:spPr>
          <a:xfrm>
            <a:off x="457200" y="1536192"/>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1" name="Text 9">
            <a:extLst>
              <a:ext uri="{FF2B5EF4-FFF2-40B4-BE49-F238E27FC236}">
                <a16:creationId xmlns:a16="http://schemas.microsoft.com/office/drawing/2014/main" id="{6F22105E-A2B1-5DB5-D76C-63941344DE60}"/>
              </a:ext>
            </a:extLst>
          </p:cNvPr>
          <p:cNvSpPr/>
          <p:nvPr/>
        </p:nvSpPr>
        <p:spPr>
          <a:xfrm>
            <a:off x="502920" y="153619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Goal:</a:t>
            </a:r>
            <a:endParaRPr lang="en-US" sz="800" dirty="0"/>
          </a:p>
        </p:txBody>
      </p:sp>
      <p:sp>
        <p:nvSpPr>
          <p:cNvPr id="12" name="Text 10">
            <a:extLst>
              <a:ext uri="{FF2B5EF4-FFF2-40B4-BE49-F238E27FC236}">
                <a16:creationId xmlns:a16="http://schemas.microsoft.com/office/drawing/2014/main" id="{DFF3E5FA-C8C4-1DB7-9D76-AF20B79D4766}"/>
              </a:ext>
            </a:extLst>
          </p:cNvPr>
          <p:cNvSpPr/>
          <p:nvPr/>
        </p:nvSpPr>
        <p:spPr>
          <a:xfrm>
            <a:off x="1325880" y="153619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Locate one specific item</a:t>
            </a:r>
            <a:endParaRPr lang="en-US" sz="900" dirty="0"/>
          </a:p>
        </p:txBody>
      </p:sp>
      <p:sp>
        <p:nvSpPr>
          <p:cNvPr id="13" name="Shape 11">
            <a:extLst>
              <a:ext uri="{FF2B5EF4-FFF2-40B4-BE49-F238E27FC236}">
                <a16:creationId xmlns:a16="http://schemas.microsoft.com/office/drawing/2014/main" id="{251E9839-9550-A02D-B6AA-E0AF4A750EA8}"/>
              </a:ext>
            </a:extLst>
          </p:cNvPr>
          <p:cNvSpPr/>
          <p:nvPr/>
        </p:nvSpPr>
        <p:spPr>
          <a:xfrm>
            <a:off x="457200" y="2011680"/>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4" name="Text 12">
            <a:extLst>
              <a:ext uri="{FF2B5EF4-FFF2-40B4-BE49-F238E27FC236}">
                <a16:creationId xmlns:a16="http://schemas.microsoft.com/office/drawing/2014/main" id="{87599456-8900-62A4-86BE-14B5BFD4D0C7}"/>
              </a:ext>
            </a:extLst>
          </p:cNvPr>
          <p:cNvSpPr/>
          <p:nvPr/>
        </p:nvSpPr>
        <p:spPr>
          <a:xfrm>
            <a:off x="502920" y="2011680"/>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Question:</a:t>
            </a:r>
            <a:endParaRPr lang="en-US" sz="800" dirty="0"/>
          </a:p>
        </p:txBody>
      </p:sp>
      <p:sp>
        <p:nvSpPr>
          <p:cNvPr id="15" name="Text 13">
            <a:extLst>
              <a:ext uri="{FF2B5EF4-FFF2-40B4-BE49-F238E27FC236}">
                <a16:creationId xmlns:a16="http://schemas.microsoft.com/office/drawing/2014/main" id="{0F359D1C-3746-BFAC-361A-B9CAFC55E886}"/>
              </a:ext>
            </a:extLst>
          </p:cNvPr>
          <p:cNvSpPr/>
          <p:nvPr/>
        </p:nvSpPr>
        <p:spPr>
          <a:xfrm>
            <a:off x="1325880" y="2011680"/>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"Where is the target?"</a:t>
            </a:r>
            <a:endParaRPr lang="en-US" sz="900" dirty="0"/>
          </a:p>
        </p:txBody>
      </p:sp>
      <p:sp>
        <p:nvSpPr>
          <p:cNvPr id="16" name="Shape 14">
            <a:extLst>
              <a:ext uri="{FF2B5EF4-FFF2-40B4-BE49-F238E27FC236}">
                <a16:creationId xmlns:a16="http://schemas.microsoft.com/office/drawing/2014/main" id="{F71D1348-3AA5-3882-54A1-57A76FAC380D}"/>
              </a:ext>
            </a:extLst>
          </p:cNvPr>
          <p:cNvSpPr/>
          <p:nvPr/>
        </p:nvSpPr>
        <p:spPr>
          <a:xfrm>
            <a:off x="457200" y="2487168"/>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7" name="Text 15">
            <a:extLst>
              <a:ext uri="{FF2B5EF4-FFF2-40B4-BE49-F238E27FC236}">
                <a16:creationId xmlns:a16="http://schemas.microsoft.com/office/drawing/2014/main" id="{CF8A9D77-12E4-A989-944B-42A32BEC703B}"/>
              </a:ext>
            </a:extLst>
          </p:cNvPr>
          <p:cNvSpPr/>
          <p:nvPr/>
        </p:nvSpPr>
        <p:spPr>
          <a:xfrm>
            <a:off x="502920" y="2487168"/>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Output:</a:t>
            </a:r>
            <a:endParaRPr lang="en-US" sz="800" dirty="0"/>
          </a:p>
        </p:txBody>
      </p:sp>
      <p:sp>
        <p:nvSpPr>
          <p:cNvPr id="18" name="Text 16">
            <a:extLst>
              <a:ext uri="{FF2B5EF4-FFF2-40B4-BE49-F238E27FC236}">
                <a16:creationId xmlns:a16="http://schemas.microsoft.com/office/drawing/2014/main" id="{6AF3EE4B-F711-A440-7FC2-F5F1CC31B724}"/>
              </a:ext>
            </a:extLst>
          </p:cNvPr>
          <p:cNvSpPr/>
          <p:nvPr/>
        </p:nvSpPr>
        <p:spPr>
          <a:xfrm>
            <a:off x="1325880" y="2487168"/>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An index, or -1 if not found</a:t>
            </a:r>
            <a:endParaRPr lang="en-US" sz="900" dirty="0"/>
          </a:p>
        </p:txBody>
      </p:sp>
      <p:sp>
        <p:nvSpPr>
          <p:cNvPr id="19" name="Shape 17">
            <a:extLst>
              <a:ext uri="{FF2B5EF4-FFF2-40B4-BE49-F238E27FC236}">
                <a16:creationId xmlns:a16="http://schemas.microsoft.com/office/drawing/2014/main" id="{596A5860-F2B4-C8FE-B166-FD5219F46DE7}"/>
              </a:ext>
            </a:extLst>
          </p:cNvPr>
          <p:cNvSpPr/>
          <p:nvPr/>
        </p:nvSpPr>
        <p:spPr>
          <a:xfrm>
            <a:off x="457200" y="2962656"/>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0" name="Text 18">
            <a:extLst>
              <a:ext uri="{FF2B5EF4-FFF2-40B4-BE49-F238E27FC236}">
                <a16:creationId xmlns:a16="http://schemas.microsoft.com/office/drawing/2014/main" id="{A81CB853-7AB7-49EC-8C36-43EFC3EE9829}"/>
              </a:ext>
            </a:extLst>
          </p:cNvPr>
          <p:cNvSpPr/>
          <p:nvPr/>
        </p:nvSpPr>
        <p:spPr>
          <a:xfrm>
            <a:off x="502920" y="2962656"/>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List changes?</a:t>
            </a:r>
            <a:endParaRPr lang="en-US" sz="800" dirty="0"/>
          </a:p>
        </p:txBody>
      </p:sp>
      <p:sp>
        <p:nvSpPr>
          <p:cNvPr id="21" name="Text 19">
            <a:extLst>
              <a:ext uri="{FF2B5EF4-FFF2-40B4-BE49-F238E27FC236}">
                <a16:creationId xmlns:a16="http://schemas.microsoft.com/office/drawing/2014/main" id="{01F475CF-1041-BAFD-6AA4-A1D372E0B2C7}"/>
              </a:ext>
            </a:extLst>
          </p:cNvPr>
          <p:cNvSpPr/>
          <p:nvPr/>
        </p:nvSpPr>
        <p:spPr>
          <a:xfrm>
            <a:off x="1325880" y="2962656"/>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No — search is read-only</a:t>
            </a:r>
            <a:endParaRPr lang="en-US" sz="900" dirty="0"/>
          </a:p>
        </p:txBody>
      </p:sp>
      <p:sp>
        <p:nvSpPr>
          <p:cNvPr id="22" name="Shape 20">
            <a:extLst>
              <a:ext uri="{FF2B5EF4-FFF2-40B4-BE49-F238E27FC236}">
                <a16:creationId xmlns:a16="http://schemas.microsoft.com/office/drawing/2014/main" id="{03F49C8D-AD9E-60C1-F1AA-48F0627BF1EF}"/>
              </a:ext>
            </a:extLst>
          </p:cNvPr>
          <p:cNvSpPr/>
          <p:nvPr/>
        </p:nvSpPr>
        <p:spPr>
          <a:xfrm>
            <a:off x="457200" y="3438144"/>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3" name="Text 21">
            <a:extLst>
              <a:ext uri="{FF2B5EF4-FFF2-40B4-BE49-F238E27FC236}">
                <a16:creationId xmlns:a16="http://schemas.microsoft.com/office/drawing/2014/main" id="{82834748-8E04-C1D1-F4AC-BB51AD8FF547}"/>
              </a:ext>
            </a:extLst>
          </p:cNvPr>
          <p:cNvSpPr/>
          <p:nvPr/>
        </p:nvSpPr>
        <p:spPr>
          <a:xfrm>
            <a:off x="502920" y="3438144"/>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Examples:</a:t>
            </a:r>
            <a:endParaRPr lang="en-US" sz="800" dirty="0"/>
          </a:p>
        </p:txBody>
      </p:sp>
      <p:sp>
        <p:nvSpPr>
          <p:cNvPr id="24" name="Text 22">
            <a:extLst>
              <a:ext uri="{FF2B5EF4-FFF2-40B4-BE49-F238E27FC236}">
                <a16:creationId xmlns:a16="http://schemas.microsoft.com/office/drawing/2014/main" id="{2595A1BA-789B-D1C6-BA77-FFA46E209E26}"/>
              </a:ext>
            </a:extLst>
          </p:cNvPr>
          <p:cNvSpPr/>
          <p:nvPr/>
        </p:nvSpPr>
        <p:spPr>
          <a:xfrm>
            <a:off x="1325880" y="3438144"/>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Linear Search · Binary Search</a:t>
            </a:r>
            <a:endParaRPr lang="en-US" sz="900" dirty="0"/>
          </a:p>
        </p:txBody>
      </p:sp>
      <p:sp>
        <p:nvSpPr>
          <p:cNvPr id="28" name="Shape 26">
            <a:extLst>
              <a:ext uri="{FF2B5EF4-FFF2-40B4-BE49-F238E27FC236}">
                <a16:creationId xmlns:a16="http://schemas.microsoft.com/office/drawing/2014/main" id="{28D0995B-6653-F79C-9F46-E12B88A13D38}"/>
              </a:ext>
            </a:extLst>
          </p:cNvPr>
          <p:cNvSpPr/>
          <p:nvPr/>
        </p:nvSpPr>
        <p:spPr>
          <a:xfrm>
            <a:off x="4416552" y="843534"/>
            <a:ext cx="310896" cy="3589020"/>
          </a:xfrm>
          <a:prstGeom prst="rect">
            <a:avLst/>
          </a:prstGeom>
          <a:solidFill>
            <a:srgbClr val="4F29B7"/>
          </a:solidFill>
          <a:ln w="12700">
            <a:solidFill>
              <a:srgbClr val="4F29B7"/>
            </a:solidFill>
            <a:prstDash val="solid"/>
          </a:ln>
        </p:spPr>
        <p:txBody>
          <a:bodyPr/>
          <a:lstStyle/>
          <a:p>
            <a:endParaRPr lang="en-US"/>
          </a:p>
        </p:txBody>
      </p:sp>
      <p:sp>
        <p:nvSpPr>
          <p:cNvPr id="29" name="Text 27">
            <a:extLst>
              <a:ext uri="{FF2B5EF4-FFF2-40B4-BE49-F238E27FC236}">
                <a16:creationId xmlns:a16="http://schemas.microsoft.com/office/drawing/2014/main" id="{8FEE9ABE-4588-73AD-31E1-FC833708A9CC}"/>
              </a:ext>
            </a:extLst>
          </p:cNvPr>
          <p:cNvSpPr/>
          <p:nvPr/>
        </p:nvSpPr>
        <p:spPr>
          <a:xfrm>
            <a:off x="4306824" y="2374614"/>
            <a:ext cx="530352" cy="365760"/>
          </a:xfrm>
          <a:prstGeom prst="rect">
            <a:avLst/>
          </a:prstGeom>
          <a:noFill/>
          <a:ln/>
        </p:spPr>
        <p:txBody>
          <a:bodyPr wrap="square" rtlCol="0" anchor="ctr"/>
          <a:lstStyle/>
          <a:p>
            <a:pPr marL="0" indent="0" algn="ctr">
              <a:buNone/>
            </a:pPr>
            <a:r>
              <a:rPr lang="en-US" sz="1300" b="1" dirty="0">
                <a:solidFill>
                  <a:srgbClr val="EDEDED"/>
                </a:solidFill>
                <a:latin typeface="Calibri" pitchFamily="34" charset="0"/>
                <a:ea typeface="Calibri" pitchFamily="34" charset="-122"/>
                <a:cs typeface="Calibri" pitchFamily="34" charset="-120"/>
              </a:rPr>
              <a:t>vs</a:t>
            </a:r>
            <a:endParaRPr lang="en-US" sz="1300" dirty="0"/>
          </a:p>
        </p:txBody>
      </p:sp>
      <p:sp>
        <p:nvSpPr>
          <p:cNvPr id="30" name="Shape 28">
            <a:extLst>
              <a:ext uri="{FF2B5EF4-FFF2-40B4-BE49-F238E27FC236}">
                <a16:creationId xmlns:a16="http://schemas.microsoft.com/office/drawing/2014/main" id="{AEE34ACF-5233-297C-7290-F82D7391F43A}"/>
              </a:ext>
            </a:extLst>
          </p:cNvPr>
          <p:cNvSpPr/>
          <p:nvPr/>
        </p:nvSpPr>
        <p:spPr>
          <a:xfrm>
            <a:off x="4983480" y="822960"/>
            <a:ext cx="3886200" cy="3589020"/>
          </a:xfrm>
          <a:prstGeom prst="roundRect">
            <a:avLst>
              <a:gd name="adj" fmla="val 2824"/>
            </a:avLst>
          </a:prstGeom>
          <a:solidFill>
            <a:srgbClr val="0D2020"/>
          </a:solidFill>
          <a:ln w="12700">
            <a:solidFill>
              <a:srgbClr val="57E3D8"/>
            </a:solidFill>
            <a:prstDash val="solid"/>
          </a:ln>
        </p:spPr>
        <p:txBody>
          <a:bodyPr/>
          <a:lstStyle/>
          <a:p>
            <a:endParaRPr lang="en-US"/>
          </a:p>
        </p:txBody>
      </p:sp>
      <p:sp>
        <p:nvSpPr>
          <p:cNvPr id="31" name="Text 29">
            <a:extLst>
              <a:ext uri="{FF2B5EF4-FFF2-40B4-BE49-F238E27FC236}">
                <a16:creationId xmlns:a16="http://schemas.microsoft.com/office/drawing/2014/main" id="{F2EF1F1A-21A0-05F7-0DAD-248D9EFC403C}"/>
              </a:ext>
            </a:extLst>
          </p:cNvPr>
          <p:cNvSpPr/>
          <p:nvPr/>
        </p:nvSpPr>
        <p:spPr>
          <a:xfrm>
            <a:off x="4983480" y="822960"/>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Sorting</a:t>
            </a:r>
            <a:endParaRPr lang="en-US" sz="2000" dirty="0"/>
          </a:p>
        </p:txBody>
      </p:sp>
      <p:sp>
        <p:nvSpPr>
          <p:cNvPr id="33" name="Shape 31">
            <a:extLst>
              <a:ext uri="{FF2B5EF4-FFF2-40B4-BE49-F238E27FC236}">
                <a16:creationId xmlns:a16="http://schemas.microsoft.com/office/drawing/2014/main" id="{2AA6F638-5CE6-FF35-A36A-357ACBC7A5EE}"/>
              </a:ext>
            </a:extLst>
          </p:cNvPr>
          <p:cNvSpPr/>
          <p:nvPr/>
        </p:nvSpPr>
        <p:spPr>
          <a:xfrm>
            <a:off x="5166360" y="1536192"/>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4" name="Text 32">
            <a:extLst>
              <a:ext uri="{FF2B5EF4-FFF2-40B4-BE49-F238E27FC236}">
                <a16:creationId xmlns:a16="http://schemas.microsoft.com/office/drawing/2014/main" id="{40D20E3D-237B-9D65-0005-F1470DFDA85F}"/>
              </a:ext>
            </a:extLst>
          </p:cNvPr>
          <p:cNvSpPr/>
          <p:nvPr/>
        </p:nvSpPr>
        <p:spPr>
          <a:xfrm>
            <a:off x="5212080" y="153619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Goal:</a:t>
            </a:r>
            <a:endParaRPr lang="en-US" sz="800" dirty="0"/>
          </a:p>
        </p:txBody>
      </p:sp>
      <p:sp>
        <p:nvSpPr>
          <p:cNvPr id="35" name="Text 33">
            <a:extLst>
              <a:ext uri="{FF2B5EF4-FFF2-40B4-BE49-F238E27FC236}">
                <a16:creationId xmlns:a16="http://schemas.microsoft.com/office/drawing/2014/main" id="{254710F6-A3D0-2BDA-1EDF-0B27D0168981}"/>
              </a:ext>
            </a:extLst>
          </p:cNvPr>
          <p:cNvSpPr/>
          <p:nvPr/>
        </p:nvSpPr>
        <p:spPr>
          <a:xfrm>
            <a:off x="6035040" y="153619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Rearrange every item in order</a:t>
            </a:r>
            <a:endParaRPr lang="en-US" sz="900" dirty="0"/>
          </a:p>
        </p:txBody>
      </p:sp>
      <p:sp>
        <p:nvSpPr>
          <p:cNvPr id="36" name="Shape 34">
            <a:extLst>
              <a:ext uri="{FF2B5EF4-FFF2-40B4-BE49-F238E27FC236}">
                <a16:creationId xmlns:a16="http://schemas.microsoft.com/office/drawing/2014/main" id="{276EF63A-0F9F-9871-090D-42662C083648}"/>
              </a:ext>
            </a:extLst>
          </p:cNvPr>
          <p:cNvSpPr/>
          <p:nvPr/>
        </p:nvSpPr>
        <p:spPr>
          <a:xfrm>
            <a:off x="5166360" y="2011680"/>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7" name="Text 35">
            <a:extLst>
              <a:ext uri="{FF2B5EF4-FFF2-40B4-BE49-F238E27FC236}">
                <a16:creationId xmlns:a16="http://schemas.microsoft.com/office/drawing/2014/main" id="{50710570-BD97-07DD-973A-6E0879828529}"/>
              </a:ext>
            </a:extLst>
          </p:cNvPr>
          <p:cNvSpPr/>
          <p:nvPr/>
        </p:nvSpPr>
        <p:spPr>
          <a:xfrm>
            <a:off x="5212080" y="2011680"/>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Question:</a:t>
            </a:r>
            <a:endParaRPr lang="en-US" sz="800" dirty="0"/>
          </a:p>
        </p:txBody>
      </p:sp>
      <p:sp>
        <p:nvSpPr>
          <p:cNvPr id="38" name="Text 36">
            <a:extLst>
              <a:ext uri="{FF2B5EF4-FFF2-40B4-BE49-F238E27FC236}">
                <a16:creationId xmlns:a16="http://schemas.microsoft.com/office/drawing/2014/main" id="{325466D3-0145-6B0D-2552-02E73F82500A}"/>
              </a:ext>
            </a:extLst>
          </p:cNvPr>
          <p:cNvSpPr/>
          <p:nvPr/>
        </p:nvSpPr>
        <p:spPr>
          <a:xfrm>
            <a:off x="6035040" y="2011680"/>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"What is the right order?"</a:t>
            </a:r>
            <a:endParaRPr lang="en-US" sz="900" dirty="0"/>
          </a:p>
        </p:txBody>
      </p:sp>
      <p:sp>
        <p:nvSpPr>
          <p:cNvPr id="39" name="Shape 37">
            <a:extLst>
              <a:ext uri="{FF2B5EF4-FFF2-40B4-BE49-F238E27FC236}">
                <a16:creationId xmlns:a16="http://schemas.microsoft.com/office/drawing/2014/main" id="{6942382F-E7A3-C1F2-B83D-D6FA86B546E1}"/>
              </a:ext>
            </a:extLst>
          </p:cNvPr>
          <p:cNvSpPr/>
          <p:nvPr/>
        </p:nvSpPr>
        <p:spPr>
          <a:xfrm>
            <a:off x="5166360" y="2487168"/>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0" name="Text 38">
            <a:extLst>
              <a:ext uri="{FF2B5EF4-FFF2-40B4-BE49-F238E27FC236}">
                <a16:creationId xmlns:a16="http://schemas.microsoft.com/office/drawing/2014/main" id="{E5CD63DE-A2FD-FE4E-8F62-CFED0F0E9EA7}"/>
              </a:ext>
            </a:extLst>
          </p:cNvPr>
          <p:cNvSpPr/>
          <p:nvPr/>
        </p:nvSpPr>
        <p:spPr>
          <a:xfrm>
            <a:off x="5212080" y="2487168"/>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Output:</a:t>
            </a:r>
            <a:endParaRPr lang="en-US" sz="800" dirty="0"/>
          </a:p>
        </p:txBody>
      </p:sp>
      <p:sp>
        <p:nvSpPr>
          <p:cNvPr id="41" name="Text 39">
            <a:extLst>
              <a:ext uri="{FF2B5EF4-FFF2-40B4-BE49-F238E27FC236}">
                <a16:creationId xmlns:a16="http://schemas.microsoft.com/office/drawing/2014/main" id="{3B5504F8-686E-BA78-2DB4-23833D5191B0}"/>
              </a:ext>
            </a:extLst>
          </p:cNvPr>
          <p:cNvSpPr/>
          <p:nvPr/>
        </p:nvSpPr>
        <p:spPr>
          <a:xfrm>
            <a:off x="6035040" y="2487168"/>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The whole list, sorted</a:t>
            </a:r>
            <a:endParaRPr lang="en-US" sz="900" dirty="0"/>
          </a:p>
        </p:txBody>
      </p:sp>
      <p:sp>
        <p:nvSpPr>
          <p:cNvPr id="42" name="Shape 40">
            <a:extLst>
              <a:ext uri="{FF2B5EF4-FFF2-40B4-BE49-F238E27FC236}">
                <a16:creationId xmlns:a16="http://schemas.microsoft.com/office/drawing/2014/main" id="{B4BD8040-DFF5-8EB7-EFFC-2EDD0AA4C308}"/>
              </a:ext>
            </a:extLst>
          </p:cNvPr>
          <p:cNvSpPr/>
          <p:nvPr/>
        </p:nvSpPr>
        <p:spPr>
          <a:xfrm>
            <a:off x="5166360" y="2962656"/>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3" name="Text 41">
            <a:extLst>
              <a:ext uri="{FF2B5EF4-FFF2-40B4-BE49-F238E27FC236}">
                <a16:creationId xmlns:a16="http://schemas.microsoft.com/office/drawing/2014/main" id="{3C3B4DAE-E3CC-8255-554E-4C338D6C2133}"/>
              </a:ext>
            </a:extLst>
          </p:cNvPr>
          <p:cNvSpPr/>
          <p:nvPr/>
        </p:nvSpPr>
        <p:spPr>
          <a:xfrm>
            <a:off x="5212080" y="2962656"/>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List changes?</a:t>
            </a:r>
            <a:endParaRPr lang="en-US" sz="800" dirty="0"/>
          </a:p>
        </p:txBody>
      </p:sp>
      <p:sp>
        <p:nvSpPr>
          <p:cNvPr id="44" name="Text 42">
            <a:extLst>
              <a:ext uri="{FF2B5EF4-FFF2-40B4-BE49-F238E27FC236}">
                <a16:creationId xmlns:a16="http://schemas.microsoft.com/office/drawing/2014/main" id="{0EA8348F-EAC9-B6A1-A0A9-981B05749E1E}"/>
              </a:ext>
            </a:extLst>
          </p:cNvPr>
          <p:cNvSpPr/>
          <p:nvPr/>
        </p:nvSpPr>
        <p:spPr>
          <a:xfrm>
            <a:off x="6035040" y="2962656"/>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YES — items are rearranged</a:t>
            </a:r>
            <a:endParaRPr lang="en-US" sz="900" dirty="0"/>
          </a:p>
        </p:txBody>
      </p:sp>
      <p:sp>
        <p:nvSpPr>
          <p:cNvPr id="45" name="Shape 43">
            <a:extLst>
              <a:ext uri="{FF2B5EF4-FFF2-40B4-BE49-F238E27FC236}">
                <a16:creationId xmlns:a16="http://schemas.microsoft.com/office/drawing/2014/main" id="{AF19D472-79B4-7EAD-A3A0-DB3C2232CDB5}"/>
              </a:ext>
            </a:extLst>
          </p:cNvPr>
          <p:cNvSpPr/>
          <p:nvPr/>
        </p:nvSpPr>
        <p:spPr>
          <a:xfrm>
            <a:off x="5166360" y="3438144"/>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6" name="Text 44">
            <a:extLst>
              <a:ext uri="{FF2B5EF4-FFF2-40B4-BE49-F238E27FC236}">
                <a16:creationId xmlns:a16="http://schemas.microsoft.com/office/drawing/2014/main" id="{AE5764AD-FEB5-7C1D-EED5-D76C266FC016}"/>
              </a:ext>
            </a:extLst>
          </p:cNvPr>
          <p:cNvSpPr/>
          <p:nvPr/>
        </p:nvSpPr>
        <p:spPr>
          <a:xfrm>
            <a:off x="5212080" y="3438144"/>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Examples:</a:t>
            </a:r>
            <a:endParaRPr lang="en-US" sz="800" dirty="0"/>
          </a:p>
        </p:txBody>
      </p:sp>
      <p:sp>
        <p:nvSpPr>
          <p:cNvPr id="47" name="Text 45">
            <a:extLst>
              <a:ext uri="{FF2B5EF4-FFF2-40B4-BE49-F238E27FC236}">
                <a16:creationId xmlns:a16="http://schemas.microsoft.com/office/drawing/2014/main" id="{C71AEF8E-A22F-ADC6-B183-DCD242EA877B}"/>
              </a:ext>
            </a:extLst>
          </p:cNvPr>
          <p:cNvSpPr/>
          <p:nvPr/>
        </p:nvSpPr>
        <p:spPr>
          <a:xfrm>
            <a:off x="6035040" y="3438144"/>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Bubble · Selection · Insertion</a:t>
            </a:r>
            <a:endParaRPr lang="en-US" sz="900" dirty="0"/>
          </a:p>
        </p:txBody>
      </p:sp>
    </p:spTree>
    <p:extLst>
      <p:ext uri="{BB962C8B-B14F-4D97-AF65-F5344CB8AC3E}">
        <p14:creationId xmlns:p14="http://schemas.microsoft.com/office/powerpoint/2010/main" val="882858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THE ALGORITHM</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Bubble Sort — Step by Step</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Six steps that turn an unsorted list into a sorted one — using only comparisons and swaps</a:t>
            </a:r>
            <a:endParaRPr lang="en-US" sz="1300" dirty="0"/>
          </a:p>
        </p:txBody>
      </p:sp>
      <p:sp>
        <p:nvSpPr>
          <p:cNvPr id="7" name="Shape 5"/>
          <p:cNvSpPr/>
          <p:nvPr/>
        </p:nvSpPr>
        <p:spPr>
          <a:xfrm>
            <a:off x="411480" y="1170432"/>
            <a:ext cx="4206240" cy="10972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42062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Shape 7"/>
          <p:cNvSpPr/>
          <p:nvPr/>
        </p:nvSpPr>
        <p:spPr>
          <a:xfrm>
            <a:off x="521208" y="1207008"/>
            <a:ext cx="347472" cy="347472"/>
          </a:xfrm>
          <a:prstGeom prst="ellipse">
            <a:avLst/>
          </a:prstGeom>
          <a:solidFill>
            <a:srgbClr val="3FD9C4">
              <a:alpha val="80000"/>
            </a:srgbClr>
          </a:solidFill>
          <a:ln w="19050">
            <a:solidFill>
              <a:srgbClr val="3FD9C4"/>
            </a:solidFill>
            <a:prstDash val="solid"/>
          </a:ln>
        </p:spPr>
        <p:txBody>
          <a:bodyPr/>
          <a:lstStyle/>
          <a:p>
            <a:endParaRPr lang="en-US"/>
          </a:p>
        </p:txBody>
      </p:sp>
      <p:sp>
        <p:nvSpPr>
          <p:cNvPr id="10" name="Text 8"/>
          <p:cNvSpPr/>
          <p:nvPr/>
        </p:nvSpPr>
        <p:spPr>
          <a:xfrm>
            <a:off x="52120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solidFill>
                <a:schemeClr val="bg1"/>
              </a:solidFill>
            </a:endParaRPr>
          </a:p>
        </p:txBody>
      </p:sp>
      <p:sp>
        <p:nvSpPr>
          <p:cNvPr id="11" name="Text 9"/>
          <p:cNvSpPr/>
          <p:nvPr/>
        </p:nvSpPr>
        <p:spPr>
          <a:xfrm>
            <a:off x="960120" y="1225296"/>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Receive the list</a:t>
            </a:r>
            <a:endParaRPr lang="en-US" sz="1200" dirty="0"/>
          </a:p>
        </p:txBody>
      </p:sp>
      <p:sp>
        <p:nvSpPr>
          <p:cNvPr id="12" name="Shape 10"/>
          <p:cNvSpPr/>
          <p:nvPr/>
        </p:nvSpPr>
        <p:spPr>
          <a:xfrm>
            <a:off x="548640" y="1517904"/>
            <a:ext cx="3931920" cy="0"/>
          </a:xfrm>
          <a:prstGeom prst="line">
            <a:avLst/>
          </a:prstGeom>
          <a:noFill/>
          <a:ln w="7620">
            <a:solidFill>
              <a:srgbClr val="3D444D"/>
            </a:solidFill>
            <a:prstDash val="solid"/>
          </a:ln>
        </p:spPr>
        <p:txBody>
          <a:bodyPr/>
          <a:lstStyle/>
          <a:p>
            <a:endParaRPr lang="en-US"/>
          </a:p>
        </p:txBody>
      </p:sp>
      <p:sp>
        <p:nvSpPr>
          <p:cNvPr id="13" name="Text 11"/>
          <p:cNvSpPr/>
          <p:nvPr/>
        </p:nvSpPr>
        <p:spPr>
          <a:xfrm>
            <a:off x="54864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Take in the unsorted list.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It can be in any order —</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random, reverse, mostly</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sorted. We work in-place.</a:t>
            </a:r>
            <a:endParaRPr lang="en-US" sz="1050" dirty="0"/>
          </a:p>
        </p:txBody>
      </p:sp>
      <p:sp>
        <p:nvSpPr>
          <p:cNvPr id="14" name="Shape 12"/>
          <p:cNvSpPr/>
          <p:nvPr/>
        </p:nvSpPr>
        <p:spPr>
          <a:xfrm>
            <a:off x="411480" y="2386584"/>
            <a:ext cx="4206240" cy="10972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5" name="Shape 13"/>
          <p:cNvSpPr/>
          <p:nvPr/>
        </p:nvSpPr>
        <p:spPr>
          <a:xfrm>
            <a:off x="411480" y="2386584"/>
            <a:ext cx="420624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6" name="Shape 14"/>
          <p:cNvSpPr/>
          <p:nvPr/>
        </p:nvSpPr>
        <p:spPr>
          <a:xfrm>
            <a:off x="521208" y="2423160"/>
            <a:ext cx="347472" cy="347472"/>
          </a:xfrm>
          <a:prstGeom prst="ellipse">
            <a:avLst/>
          </a:prstGeom>
          <a:solidFill>
            <a:srgbClr val="58A6FF">
              <a:alpha val="80000"/>
            </a:srgbClr>
          </a:solidFill>
          <a:ln w="19050">
            <a:solidFill>
              <a:srgbClr val="58A6FF"/>
            </a:solidFill>
            <a:prstDash val="solid"/>
          </a:ln>
        </p:spPr>
        <p:txBody>
          <a:bodyPr/>
          <a:lstStyle/>
          <a:p>
            <a:endParaRPr lang="en-US"/>
          </a:p>
        </p:txBody>
      </p:sp>
      <p:sp>
        <p:nvSpPr>
          <p:cNvPr id="17" name="Text 15"/>
          <p:cNvSpPr/>
          <p:nvPr/>
        </p:nvSpPr>
        <p:spPr>
          <a:xfrm>
            <a:off x="52120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2</a:t>
            </a:r>
            <a:endParaRPr lang="en-US" sz="1400" dirty="0">
              <a:solidFill>
                <a:schemeClr val="bg1"/>
              </a:solidFill>
            </a:endParaRPr>
          </a:p>
        </p:txBody>
      </p:sp>
      <p:sp>
        <p:nvSpPr>
          <p:cNvPr id="18" name="Text 16"/>
          <p:cNvSpPr/>
          <p:nvPr/>
        </p:nvSpPr>
        <p:spPr>
          <a:xfrm>
            <a:off x="960120" y="2441448"/>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Start a pass</a:t>
            </a:r>
            <a:endParaRPr lang="en-US" sz="1200" dirty="0"/>
          </a:p>
        </p:txBody>
      </p:sp>
      <p:sp>
        <p:nvSpPr>
          <p:cNvPr id="19" name="Shape 17"/>
          <p:cNvSpPr/>
          <p:nvPr/>
        </p:nvSpPr>
        <p:spPr>
          <a:xfrm>
            <a:off x="548640" y="2734056"/>
            <a:ext cx="3931920" cy="0"/>
          </a:xfrm>
          <a:prstGeom prst="line">
            <a:avLst/>
          </a:prstGeom>
          <a:noFill/>
          <a:ln w="7620">
            <a:solidFill>
              <a:srgbClr val="3D444D"/>
            </a:solidFill>
            <a:prstDash val="solid"/>
          </a:ln>
        </p:spPr>
        <p:txBody>
          <a:bodyPr/>
          <a:lstStyle/>
          <a:p>
            <a:endParaRPr lang="en-US"/>
          </a:p>
        </p:txBody>
      </p:sp>
      <p:sp>
        <p:nvSpPr>
          <p:cNvPr id="20" name="Text 18"/>
          <p:cNvSpPr/>
          <p:nvPr/>
        </p:nvSpPr>
        <p:spPr>
          <a:xfrm>
            <a:off x="54864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Begin walking the list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from index 0 toward the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end. Set a flag to track</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whether any swaps happen.</a:t>
            </a:r>
            <a:endParaRPr lang="en-US" sz="1050" dirty="0"/>
          </a:p>
        </p:txBody>
      </p:sp>
      <p:sp>
        <p:nvSpPr>
          <p:cNvPr id="21" name="Shape 19"/>
          <p:cNvSpPr/>
          <p:nvPr/>
        </p:nvSpPr>
        <p:spPr>
          <a:xfrm>
            <a:off x="411480" y="3602736"/>
            <a:ext cx="4206240" cy="10972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411480" y="3602736"/>
            <a:ext cx="420624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23" name="Shape 21"/>
          <p:cNvSpPr/>
          <p:nvPr/>
        </p:nvSpPr>
        <p:spPr>
          <a:xfrm>
            <a:off x="521208" y="3639312"/>
            <a:ext cx="347472" cy="347472"/>
          </a:xfrm>
          <a:prstGeom prst="ellipse">
            <a:avLst/>
          </a:prstGeom>
          <a:solidFill>
            <a:srgbClr val="BC8CFF">
              <a:alpha val="80000"/>
            </a:srgbClr>
          </a:solidFill>
          <a:ln w="19050">
            <a:solidFill>
              <a:srgbClr val="BC8CFF"/>
            </a:solidFill>
            <a:prstDash val="solid"/>
          </a:ln>
        </p:spPr>
        <p:txBody>
          <a:bodyPr/>
          <a:lstStyle/>
          <a:p>
            <a:endParaRPr lang="en-US"/>
          </a:p>
        </p:txBody>
      </p:sp>
      <p:sp>
        <p:nvSpPr>
          <p:cNvPr id="24" name="Text 22"/>
          <p:cNvSpPr/>
          <p:nvPr/>
        </p:nvSpPr>
        <p:spPr>
          <a:xfrm>
            <a:off x="52120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3</a:t>
            </a:r>
            <a:endParaRPr lang="en-US" sz="1400" dirty="0">
              <a:solidFill>
                <a:schemeClr val="bg1"/>
              </a:solidFill>
            </a:endParaRPr>
          </a:p>
        </p:txBody>
      </p:sp>
      <p:sp>
        <p:nvSpPr>
          <p:cNvPr id="25" name="Text 23"/>
          <p:cNvSpPr/>
          <p:nvPr/>
        </p:nvSpPr>
        <p:spPr>
          <a:xfrm>
            <a:off x="960120" y="3657600"/>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Compare neighbours</a:t>
            </a:r>
            <a:endParaRPr lang="en-US" sz="1200" dirty="0"/>
          </a:p>
        </p:txBody>
      </p:sp>
      <p:sp>
        <p:nvSpPr>
          <p:cNvPr id="26" name="Shape 24"/>
          <p:cNvSpPr/>
          <p:nvPr/>
        </p:nvSpPr>
        <p:spPr>
          <a:xfrm>
            <a:off x="548640" y="3950208"/>
            <a:ext cx="3931920" cy="0"/>
          </a:xfrm>
          <a:prstGeom prst="line">
            <a:avLst/>
          </a:prstGeom>
          <a:noFill/>
          <a:ln w="7620">
            <a:solidFill>
              <a:srgbClr val="3D444D"/>
            </a:solidFill>
            <a:prstDash val="solid"/>
          </a:ln>
        </p:spPr>
        <p:txBody>
          <a:bodyPr/>
          <a:lstStyle/>
          <a:p>
            <a:endParaRPr lang="en-US"/>
          </a:p>
        </p:txBody>
      </p:sp>
      <p:sp>
        <p:nvSpPr>
          <p:cNvPr id="27" name="Text 25"/>
          <p:cNvSpPr/>
          <p:nvPr/>
        </p:nvSpPr>
        <p:spPr>
          <a:xfrm>
            <a:off x="54864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At each position i, look</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at list[i] and list[i+1].</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Are these two adjacent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items in the right order?</a:t>
            </a:r>
            <a:endParaRPr lang="en-US" sz="1050" dirty="0"/>
          </a:p>
        </p:txBody>
      </p:sp>
      <p:sp>
        <p:nvSpPr>
          <p:cNvPr id="28" name="Shape 26"/>
          <p:cNvSpPr/>
          <p:nvPr/>
        </p:nvSpPr>
        <p:spPr>
          <a:xfrm>
            <a:off x="4800600" y="1170432"/>
            <a:ext cx="4206240" cy="10972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9" name="Shape 27"/>
          <p:cNvSpPr/>
          <p:nvPr/>
        </p:nvSpPr>
        <p:spPr>
          <a:xfrm>
            <a:off x="4800600" y="1170432"/>
            <a:ext cx="420624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0" name="Shape 28"/>
          <p:cNvSpPr/>
          <p:nvPr/>
        </p:nvSpPr>
        <p:spPr>
          <a:xfrm>
            <a:off x="4910328" y="1207008"/>
            <a:ext cx="347472" cy="347472"/>
          </a:xfrm>
          <a:prstGeom prst="ellipse">
            <a:avLst/>
          </a:prstGeom>
          <a:solidFill>
            <a:srgbClr val="FFA657">
              <a:alpha val="80000"/>
            </a:srgbClr>
          </a:solidFill>
          <a:ln w="19050">
            <a:solidFill>
              <a:srgbClr val="FFA657"/>
            </a:solidFill>
            <a:prstDash val="solid"/>
          </a:ln>
        </p:spPr>
        <p:txBody>
          <a:bodyPr/>
          <a:lstStyle/>
          <a:p>
            <a:endParaRPr lang="en-US"/>
          </a:p>
        </p:txBody>
      </p:sp>
      <p:sp>
        <p:nvSpPr>
          <p:cNvPr id="31" name="Text 29"/>
          <p:cNvSpPr/>
          <p:nvPr/>
        </p:nvSpPr>
        <p:spPr>
          <a:xfrm>
            <a:off x="491032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4</a:t>
            </a:r>
            <a:endParaRPr lang="en-US" sz="1400" dirty="0">
              <a:solidFill>
                <a:schemeClr val="bg1"/>
              </a:solidFill>
            </a:endParaRPr>
          </a:p>
        </p:txBody>
      </p:sp>
      <p:sp>
        <p:nvSpPr>
          <p:cNvPr id="32" name="Text 30"/>
          <p:cNvSpPr/>
          <p:nvPr/>
        </p:nvSpPr>
        <p:spPr>
          <a:xfrm>
            <a:off x="5349240" y="1225296"/>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Swap if needed</a:t>
            </a:r>
            <a:endParaRPr lang="en-US" sz="1200" dirty="0"/>
          </a:p>
        </p:txBody>
      </p:sp>
      <p:sp>
        <p:nvSpPr>
          <p:cNvPr id="33" name="Shape 31"/>
          <p:cNvSpPr/>
          <p:nvPr/>
        </p:nvSpPr>
        <p:spPr>
          <a:xfrm>
            <a:off x="4937760" y="1517904"/>
            <a:ext cx="3931920" cy="0"/>
          </a:xfrm>
          <a:prstGeom prst="line">
            <a:avLst/>
          </a:prstGeom>
          <a:noFill/>
          <a:ln w="7620">
            <a:solidFill>
              <a:srgbClr val="3D444D"/>
            </a:solidFill>
            <a:prstDash val="solid"/>
          </a:ln>
        </p:spPr>
        <p:txBody>
          <a:bodyPr/>
          <a:lstStyle/>
          <a:p>
            <a:endParaRPr lang="en-US"/>
          </a:p>
        </p:txBody>
      </p:sp>
      <p:sp>
        <p:nvSpPr>
          <p:cNvPr id="34" name="Text 32"/>
          <p:cNvSpPr/>
          <p:nvPr/>
        </p:nvSpPr>
        <p:spPr>
          <a:xfrm>
            <a:off x="493776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If list[i] &gt; list[i+1], they</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are out of order — swap</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them using a temporary</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variable. Mark flag = true.</a:t>
            </a:r>
            <a:endParaRPr lang="en-US" sz="1050" dirty="0"/>
          </a:p>
        </p:txBody>
      </p:sp>
      <p:sp>
        <p:nvSpPr>
          <p:cNvPr id="35" name="Shape 33"/>
          <p:cNvSpPr/>
          <p:nvPr/>
        </p:nvSpPr>
        <p:spPr>
          <a:xfrm>
            <a:off x="4800600" y="2386584"/>
            <a:ext cx="4206240" cy="10972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4800600" y="2386584"/>
            <a:ext cx="4206240"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37" name="Shape 35"/>
          <p:cNvSpPr/>
          <p:nvPr/>
        </p:nvSpPr>
        <p:spPr>
          <a:xfrm>
            <a:off x="4910328" y="2423160"/>
            <a:ext cx="347472" cy="347472"/>
          </a:xfrm>
          <a:prstGeom prst="ellipse">
            <a:avLst/>
          </a:prstGeom>
          <a:solidFill>
            <a:srgbClr val="E3B341">
              <a:alpha val="80000"/>
            </a:srgbClr>
          </a:solidFill>
          <a:ln w="19050">
            <a:solidFill>
              <a:srgbClr val="E3B341"/>
            </a:solidFill>
            <a:prstDash val="solid"/>
          </a:ln>
        </p:spPr>
        <p:txBody>
          <a:bodyPr/>
          <a:lstStyle/>
          <a:p>
            <a:endParaRPr lang="en-US"/>
          </a:p>
        </p:txBody>
      </p:sp>
      <p:sp>
        <p:nvSpPr>
          <p:cNvPr id="38" name="Text 36"/>
          <p:cNvSpPr/>
          <p:nvPr/>
        </p:nvSpPr>
        <p:spPr>
          <a:xfrm>
            <a:off x="491032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5</a:t>
            </a:r>
            <a:endParaRPr lang="en-US" sz="1400" dirty="0">
              <a:solidFill>
                <a:schemeClr val="bg1"/>
              </a:solidFill>
            </a:endParaRPr>
          </a:p>
        </p:txBody>
      </p:sp>
      <p:sp>
        <p:nvSpPr>
          <p:cNvPr id="39" name="Text 37"/>
          <p:cNvSpPr/>
          <p:nvPr/>
        </p:nvSpPr>
        <p:spPr>
          <a:xfrm>
            <a:off x="5349240" y="2441448"/>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End of pass</a:t>
            </a:r>
            <a:endParaRPr lang="en-US" sz="1200" dirty="0"/>
          </a:p>
        </p:txBody>
      </p:sp>
      <p:sp>
        <p:nvSpPr>
          <p:cNvPr id="40" name="Shape 38"/>
          <p:cNvSpPr/>
          <p:nvPr/>
        </p:nvSpPr>
        <p:spPr>
          <a:xfrm>
            <a:off x="4937760" y="2734056"/>
            <a:ext cx="3931920" cy="0"/>
          </a:xfrm>
          <a:prstGeom prst="line">
            <a:avLst/>
          </a:prstGeom>
          <a:noFill/>
          <a:ln w="7620">
            <a:solidFill>
              <a:srgbClr val="3D444D"/>
            </a:solidFill>
            <a:prstDash val="solid"/>
          </a:ln>
        </p:spPr>
        <p:txBody>
          <a:bodyPr/>
          <a:lstStyle/>
          <a:p>
            <a:endParaRPr lang="en-US"/>
          </a:p>
        </p:txBody>
      </p:sp>
      <p:sp>
        <p:nvSpPr>
          <p:cNvPr id="41" name="Text 39"/>
          <p:cNvSpPr/>
          <p:nvPr/>
        </p:nvSpPr>
        <p:spPr>
          <a:xfrm>
            <a:off x="493776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When you reach the end,</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largest remaining</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value is now in its final</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place. One bubble done.</a:t>
            </a:r>
            <a:endParaRPr lang="en-US" sz="1050" dirty="0"/>
          </a:p>
        </p:txBody>
      </p:sp>
      <p:sp>
        <p:nvSpPr>
          <p:cNvPr id="42" name="Shape 40"/>
          <p:cNvSpPr/>
          <p:nvPr/>
        </p:nvSpPr>
        <p:spPr>
          <a:xfrm>
            <a:off x="4800600" y="3602736"/>
            <a:ext cx="4206240" cy="10972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43" name="Shape 41"/>
          <p:cNvSpPr/>
          <p:nvPr/>
        </p:nvSpPr>
        <p:spPr>
          <a:xfrm>
            <a:off x="4800600" y="3602736"/>
            <a:ext cx="4206240"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44" name="Shape 42"/>
          <p:cNvSpPr/>
          <p:nvPr/>
        </p:nvSpPr>
        <p:spPr>
          <a:xfrm>
            <a:off x="4910328" y="3639312"/>
            <a:ext cx="347472" cy="347472"/>
          </a:xfrm>
          <a:prstGeom prst="ellipse">
            <a:avLst/>
          </a:prstGeom>
          <a:solidFill>
            <a:srgbClr val="3FB950">
              <a:alpha val="80000"/>
            </a:srgbClr>
          </a:solidFill>
          <a:ln w="19050">
            <a:solidFill>
              <a:srgbClr val="3FB950"/>
            </a:solidFill>
            <a:prstDash val="solid"/>
          </a:ln>
        </p:spPr>
        <p:txBody>
          <a:bodyPr/>
          <a:lstStyle/>
          <a:p>
            <a:endParaRPr lang="en-US"/>
          </a:p>
        </p:txBody>
      </p:sp>
      <p:sp>
        <p:nvSpPr>
          <p:cNvPr id="45" name="Text 43"/>
          <p:cNvSpPr/>
          <p:nvPr/>
        </p:nvSpPr>
        <p:spPr>
          <a:xfrm>
            <a:off x="491032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6</a:t>
            </a:r>
            <a:endParaRPr lang="en-US" sz="1400" dirty="0">
              <a:solidFill>
                <a:schemeClr val="bg1"/>
              </a:solidFill>
            </a:endParaRPr>
          </a:p>
        </p:txBody>
      </p:sp>
      <p:sp>
        <p:nvSpPr>
          <p:cNvPr id="46" name="Text 44"/>
          <p:cNvSpPr/>
          <p:nvPr/>
        </p:nvSpPr>
        <p:spPr>
          <a:xfrm>
            <a:off x="5349240" y="3657600"/>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Repeat or stop</a:t>
            </a:r>
            <a:endParaRPr lang="en-US" sz="1200" dirty="0"/>
          </a:p>
        </p:txBody>
      </p:sp>
      <p:sp>
        <p:nvSpPr>
          <p:cNvPr id="47" name="Shape 45"/>
          <p:cNvSpPr/>
          <p:nvPr/>
        </p:nvSpPr>
        <p:spPr>
          <a:xfrm>
            <a:off x="4937760" y="3950208"/>
            <a:ext cx="3931920" cy="0"/>
          </a:xfrm>
          <a:prstGeom prst="line">
            <a:avLst/>
          </a:prstGeom>
          <a:noFill/>
          <a:ln w="7620">
            <a:solidFill>
              <a:srgbClr val="3D444D"/>
            </a:solidFill>
            <a:prstDash val="solid"/>
          </a:ln>
        </p:spPr>
        <p:txBody>
          <a:bodyPr/>
          <a:lstStyle/>
          <a:p>
            <a:endParaRPr lang="en-US"/>
          </a:p>
        </p:txBody>
      </p:sp>
      <p:sp>
        <p:nvSpPr>
          <p:cNvPr id="48" name="Text 46"/>
          <p:cNvSpPr/>
          <p:nvPr/>
        </p:nvSpPr>
        <p:spPr>
          <a:xfrm>
            <a:off x="493776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If any swap happened in</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this pass, run another.</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If no swaps occurred,</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list is sorted. Done!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8E519A1-F28A-CD0E-64F7-A7210D78C55F}"/>
            </a:ext>
          </a:extLst>
        </p:cNvPr>
        <p:cNvGrpSpPr/>
        <p:nvPr/>
      </p:nvGrpSpPr>
      <p:grpSpPr>
        <a:xfrm>
          <a:off x="0" y="0"/>
          <a:ext cx="0" cy="0"/>
          <a:chOff x="0" y="0"/>
          <a:chExt cx="0" cy="0"/>
        </a:xfrm>
      </p:grpSpPr>
      <p:sp>
        <p:nvSpPr>
          <p:cNvPr id="20" name="Shape 1">
            <a:extLst>
              <a:ext uri="{FF2B5EF4-FFF2-40B4-BE49-F238E27FC236}">
                <a16:creationId xmlns:a16="http://schemas.microsoft.com/office/drawing/2014/main" id="{0099FBD7-A32B-D033-BD5D-D091E47C00D1}"/>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BF6F45A1-7818-3F7E-F60C-7F708FD03E4C}"/>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1EB54078-98E6-CAE0-0567-E08FA45D2C91}"/>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F8593CDB-74C1-3A80-4B08-6F33A7ADDE9F}"/>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Three ways to write Bubble Sort</a:t>
            </a:r>
            <a:endParaRPr lang="en-US" sz="2800" dirty="0"/>
          </a:p>
        </p:txBody>
      </p:sp>
      <p:sp>
        <p:nvSpPr>
          <p:cNvPr id="5" name="Text 3">
            <a:extLst>
              <a:ext uri="{FF2B5EF4-FFF2-40B4-BE49-F238E27FC236}">
                <a16:creationId xmlns:a16="http://schemas.microsoft.com/office/drawing/2014/main" id="{13CD6B20-AAA5-2647-47EF-A45F5864FAB1}"/>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The same algorithm, expressed three different ways — pick what helps you think</a:t>
            </a:r>
            <a:endParaRPr lang="en-US" sz="1300" dirty="0"/>
          </a:p>
        </p:txBody>
      </p:sp>
      <p:sp>
        <p:nvSpPr>
          <p:cNvPr id="6" name="Shape 4">
            <a:extLst>
              <a:ext uri="{FF2B5EF4-FFF2-40B4-BE49-F238E27FC236}">
                <a16:creationId xmlns:a16="http://schemas.microsoft.com/office/drawing/2014/main" id="{8517B760-DBCE-52BB-9F4D-84305AC19443}"/>
              </a:ext>
            </a:extLst>
          </p:cNvPr>
          <p:cNvSpPr/>
          <p:nvPr/>
        </p:nvSpPr>
        <p:spPr>
          <a:xfrm>
            <a:off x="274320" y="987552"/>
            <a:ext cx="8595360" cy="420624"/>
          </a:xfrm>
          <a:prstGeom prst="roundRect">
            <a:avLst>
              <a:gd name="adj" fmla="val 26087"/>
            </a:avLst>
          </a:prstGeom>
          <a:solidFill>
            <a:srgbClr val="1A1040"/>
          </a:solidFill>
          <a:ln w="12700">
            <a:solidFill>
              <a:srgbClr val="1A1040"/>
            </a:solidFill>
            <a:prstDash val="solid"/>
          </a:ln>
        </p:spPr>
        <p:txBody>
          <a:bodyPr/>
          <a:lstStyle/>
          <a:p>
            <a:endParaRPr lang="en-US"/>
          </a:p>
        </p:txBody>
      </p:sp>
      <p:sp>
        <p:nvSpPr>
          <p:cNvPr id="7" name="Text 5">
            <a:extLst>
              <a:ext uri="{FF2B5EF4-FFF2-40B4-BE49-F238E27FC236}">
                <a16:creationId xmlns:a16="http://schemas.microsoft.com/office/drawing/2014/main" id="{C66EFC53-6AE3-524A-AEAD-3F7782680B35}"/>
              </a:ext>
            </a:extLst>
          </p:cNvPr>
          <p:cNvSpPr/>
          <p:nvPr/>
        </p:nvSpPr>
        <p:spPr>
          <a:xfrm>
            <a:off x="502920" y="1024128"/>
            <a:ext cx="8138160" cy="329184"/>
          </a:xfrm>
          <a:prstGeom prst="rect">
            <a:avLst/>
          </a:prstGeom>
          <a:noFill/>
          <a:ln/>
        </p:spPr>
        <p:txBody>
          <a:bodyPr wrap="square" lIns="0" tIns="0" rIns="0" bIns="0" rtlCol="0" anchor="ctr"/>
          <a:lstStyle/>
          <a:p>
            <a:pPr marL="0" indent="0">
              <a:buNone/>
            </a:pPr>
            <a:r>
              <a:rPr lang="en-US" sz="1200" dirty="0">
                <a:solidFill>
                  <a:srgbClr val="EDEDED"/>
                </a:solidFill>
                <a:latin typeface="Calibri" pitchFamily="34" charset="0"/>
                <a:ea typeface="Calibri" pitchFamily="34" charset="-122"/>
                <a:cs typeface="Calibri" pitchFamily="34" charset="-120"/>
              </a:rPr>
              <a:t>Read all three side by side. </a:t>
            </a:r>
            <a:r>
              <a:rPr lang="en-US" sz="1200" b="1" dirty="0">
                <a:solidFill>
                  <a:srgbClr val="57E3D8"/>
                </a:solidFill>
                <a:latin typeface="Calibri" pitchFamily="34" charset="0"/>
                <a:ea typeface="Calibri" pitchFamily="34" charset="-122"/>
                <a:cs typeface="Calibri" pitchFamily="34" charset="-120"/>
              </a:rPr>
              <a:t>They describe exactly the same algorithm</a:t>
            </a:r>
            <a:r>
              <a:rPr lang="en-US" sz="1200" dirty="0">
                <a:solidFill>
                  <a:srgbClr val="EDEDED"/>
                </a:solidFill>
                <a:latin typeface="Calibri" pitchFamily="34" charset="0"/>
                <a:ea typeface="Calibri" pitchFamily="34" charset="-122"/>
                <a:cs typeface="Calibri" pitchFamily="34" charset="-120"/>
              </a:rPr>
              <a:t> — only the language and the level of detail change.</a:t>
            </a:r>
            <a:endParaRPr lang="en-US" sz="1200" dirty="0"/>
          </a:p>
        </p:txBody>
      </p:sp>
      <p:sp>
        <p:nvSpPr>
          <p:cNvPr id="8" name="Shape 6">
            <a:extLst>
              <a:ext uri="{FF2B5EF4-FFF2-40B4-BE49-F238E27FC236}">
                <a16:creationId xmlns:a16="http://schemas.microsoft.com/office/drawing/2014/main" id="{B10692DA-084B-2BAE-A611-4B7E95E96F9A}"/>
              </a:ext>
            </a:extLst>
          </p:cNvPr>
          <p:cNvSpPr/>
          <p:nvPr/>
        </p:nvSpPr>
        <p:spPr>
          <a:xfrm>
            <a:off x="292608" y="1499616"/>
            <a:ext cx="2779776" cy="340156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9" name="Text 7">
            <a:extLst>
              <a:ext uri="{FF2B5EF4-FFF2-40B4-BE49-F238E27FC236}">
                <a16:creationId xmlns:a16="http://schemas.microsoft.com/office/drawing/2014/main" id="{06B2DC9B-FB98-86D6-CF21-280BB1E66B52}"/>
              </a:ext>
            </a:extLst>
          </p:cNvPr>
          <p:cNvSpPr/>
          <p:nvPr/>
        </p:nvSpPr>
        <p:spPr>
          <a:xfrm>
            <a:off x="292608" y="1545336"/>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Plain English</a:t>
            </a:r>
            <a:endParaRPr lang="en-US" sz="2000" dirty="0"/>
          </a:p>
        </p:txBody>
      </p:sp>
      <p:sp>
        <p:nvSpPr>
          <p:cNvPr id="10" name="Text 8">
            <a:extLst>
              <a:ext uri="{FF2B5EF4-FFF2-40B4-BE49-F238E27FC236}">
                <a16:creationId xmlns:a16="http://schemas.microsoft.com/office/drawing/2014/main" id="{80F72355-3A6B-4A6C-5A0C-BF6E7C6EF484}"/>
              </a:ext>
            </a:extLst>
          </p:cNvPr>
          <p:cNvSpPr/>
          <p:nvPr/>
        </p:nvSpPr>
        <p:spPr>
          <a:xfrm>
            <a:off x="292608"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For humans · No symbols</a:t>
            </a:r>
            <a:endParaRPr lang="en-US" sz="1000" dirty="0"/>
          </a:p>
        </p:txBody>
      </p:sp>
      <p:sp>
        <p:nvSpPr>
          <p:cNvPr id="11" name="Text 9">
            <a:extLst>
              <a:ext uri="{FF2B5EF4-FFF2-40B4-BE49-F238E27FC236}">
                <a16:creationId xmlns:a16="http://schemas.microsoft.com/office/drawing/2014/main" id="{A6F7F312-11C7-6E2E-23D2-71C708D73857}"/>
              </a:ext>
            </a:extLst>
          </p:cNvPr>
          <p:cNvSpPr/>
          <p:nvPr/>
        </p:nvSpPr>
        <p:spPr>
          <a:xfrm>
            <a:off x="457200"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1. Walk through the list, comparing each pair of neighbours.   2. If a pair is out of order, swap them.   3. After the walk, the largest item is at the end.   4. Repeat the walk on the rest. Stop when one full walk has zero swaps — the list is sorted.</a:t>
            </a:r>
            <a:endParaRPr lang="en-US" sz="1100" dirty="0"/>
          </a:p>
        </p:txBody>
      </p:sp>
      <p:sp>
        <p:nvSpPr>
          <p:cNvPr id="12" name="Shape 10">
            <a:extLst>
              <a:ext uri="{FF2B5EF4-FFF2-40B4-BE49-F238E27FC236}">
                <a16:creationId xmlns:a16="http://schemas.microsoft.com/office/drawing/2014/main" id="{B319AB59-A1E4-7495-8B8A-D8FB6939DB40}"/>
              </a:ext>
            </a:extLst>
          </p:cNvPr>
          <p:cNvSpPr/>
          <p:nvPr/>
        </p:nvSpPr>
        <p:spPr>
          <a:xfrm>
            <a:off x="3200400" y="1499616"/>
            <a:ext cx="2779776" cy="340156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13" name="Text 11">
            <a:extLst>
              <a:ext uri="{FF2B5EF4-FFF2-40B4-BE49-F238E27FC236}">
                <a16:creationId xmlns:a16="http://schemas.microsoft.com/office/drawing/2014/main" id="{7B9E2542-0415-D53F-89A6-B2737BF2D2E8}"/>
              </a:ext>
            </a:extLst>
          </p:cNvPr>
          <p:cNvSpPr/>
          <p:nvPr/>
        </p:nvSpPr>
        <p:spPr>
          <a:xfrm>
            <a:off x="3200400" y="1545336"/>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Pseudocode</a:t>
            </a:r>
            <a:endParaRPr lang="en-US" sz="2000" dirty="0"/>
          </a:p>
        </p:txBody>
      </p:sp>
      <p:sp>
        <p:nvSpPr>
          <p:cNvPr id="14" name="Text 12">
            <a:extLst>
              <a:ext uri="{FF2B5EF4-FFF2-40B4-BE49-F238E27FC236}">
                <a16:creationId xmlns:a16="http://schemas.microsoft.com/office/drawing/2014/main" id="{D520DB52-41BD-3A9E-774F-0E90DB7F8CDE}"/>
              </a:ext>
            </a:extLst>
          </p:cNvPr>
          <p:cNvSpPr/>
          <p:nvPr/>
        </p:nvSpPr>
        <p:spPr>
          <a:xfrm>
            <a:off x="3200400"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Code-like · Language-free</a:t>
            </a:r>
            <a:endParaRPr lang="en-US" sz="1000" dirty="0"/>
          </a:p>
        </p:txBody>
      </p:sp>
      <p:sp>
        <p:nvSpPr>
          <p:cNvPr id="15" name="Text 13">
            <a:extLst>
              <a:ext uri="{FF2B5EF4-FFF2-40B4-BE49-F238E27FC236}">
                <a16:creationId xmlns:a16="http://schemas.microsoft.com/office/drawing/2014/main" id="{966A8129-1A41-594C-31D7-611070D24803}"/>
              </a:ext>
            </a:extLst>
          </p:cNvPr>
          <p:cNvSpPr/>
          <p:nvPr/>
        </p:nvSpPr>
        <p:spPr>
          <a:xfrm>
            <a:off x="3364992"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FUNCTION bubbleSort(list):    REPEAT        SET swapped ← false        FOR i FROM 0 TO length-2:            IF list[i] &gt; list[i+1]:                SWAP list[i], list[i+1]                SET swapped ← true    UNTIL swapped = false</a:t>
            </a:r>
            <a:endParaRPr lang="en-US" sz="1100" dirty="0"/>
          </a:p>
        </p:txBody>
      </p:sp>
      <p:sp>
        <p:nvSpPr>
          <p:cNvPr id="16" name="Shape 14">
            <a:extLst>
              <a:ext uri="{FF2B5EF4-FFF2-40B4-BE49-F238E27FC236}">
                <a16:creationId xmlns:a16="http://schemas.microsoft.com/office/drawing/2014/main" id="{7C1B5EBA-52EB-ABC9-D3EB-5CFA15DCA663}"/>
              </a:ext>
            </a:extLst>
          </p:cNvPr>
          <p:cNvSpPr/>
          <p:nvPr/>
        </p:nvSpPr>
        <p:spPr>
          <a:xfrm>
            <a:off x="6108192" y="1499616"/>
            <a:ext cx="2779776" cy="340156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17" name="Text 15">
            <a:extLst>
              <a:ext uri="{FF2B5EF4-FFF2-40B4-BE49-F238E27FC236}">
                <a16:creationId xmlns:a16="http://schemas.microsoft.com/office/drawing/2014/main" id="{BD01AF8F-536E-C495-E8A0-F7655F895F22}"/>
              </a:ext>
            </a:extLst>
          </p:cNvPr>
          <p:cNvSpPr/>
          <p:nvPr/>
        </p:nvSpPr>
        <p:spPr>
          <a:xfrm>
            <a:off x="6108192" y="1545336"/>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Flowchart</a:t>
            </a:r>
            <a:endParaRPr lang="en-US" sz="2000" dirty="0"/>
          </a:p>
        </p:txBody>
      </p:sp>
      <p:sp>
        <p:nvSpPr>
          <p:cNvPr id="18" name="Text 16">
            <a:extLst>
              <a:ext uri="{FF2B5EF4-FFF2-40B4-BE49-F238E27FC236}">
                <a16:creationId xmlns:a16="http://schemas.microsoft.com/office/drawing/2014/main" id="{C4029E02-E763-B814-4C30-6D610F53CED9}"/>
              </a:ext>
            </a:extLst>
          </p:cNvPr>
          <p:cNvSpPr/>
          <p:nvPr/>
        </p:nvSpPr>
        <p:spPr>
          <a:xfrm>
            <a:off x="6108192"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Visual · Standard symbols</a:t>
            </a:r>
            <a:endParaRPr lang="en-US" sz="1000" dirty="0"/>
          </a:p>
        </p:txBody>
      </p:sp>
      <p:sp>
        <p:nvSpPr>
          <p:cNvPr id="19" name="Text 17">
            <a:extLst>
              <a:ext uri="{FF2B5EF4-FFF2-40B4-BE49-F238E27FC236}">
                <a16:creationId xmlns:a16="http://schemas.microsoft.com/office/drawing/2014/main" id="{68B76B5C-86FB-DDD2-2643-011F7DA0DB57}"/>
              </a:ext>
            </a:extLst>
          </p:cNvPr>
          <p:cNvSpPr/>
          <p:nvPr/>
        </p:nvSpPr>
        <p:spPr>
          <a:xfrm>
            <a:off x="6272784"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Start (oval) → swapped = false (rectangle) → i = 0 (rectangle) → i &lt; len-1? (diamond) → No: swapped? (diamond) → No: End (oval). Yes: loop. If i &lt; len-1 Yes: list[i] &gt; list[i+1]? (diamond) → Yes: swap, swapped = true. No: i = i+1. Loop back.</a:t>
            </a:r>
            <a:endParaRPr lang="en-US" sz="1100" dirty="0"/>
          </a:p>
        </p:txBody>
      </p:sp>
    </p:spTree>
    <p:extLst>
      <p:ext uri="{BB962C8B-B14F-4D97-AF65-F5344CB8AC3E}">
        <p14:creationId xmlns:p14="http://schemas.microsoft.com/office/powerpoint/2010/main" val="3691256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VARIABLES &amp; FLOW</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Bubble Sort in Detail</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variables we track and the complete pseudocode — including the small flag that makes a big difference</a:t>
            </a:r>
            <a:endParaRPr lang="en-US" sz="1300" dirty="0"/>
          </a:p>
        </p:txBody>
      </p:sp>
      <p:sp>
        <p:nvSpPr>
          <p:cNvPr id="7" name="Shape 5"/>
          <p:cNvSpPr/>
          <p:nvPr/>
        </p:nvSpPr>
        <p:spPr>
          <a:xfrm>
            <a:off x="411480" y="1170432"/>
            <a:ext cx="3931920" cy="324612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39319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48640" y="1216152"/>
            <a:ext cx="365760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Variables We Track</a:t>
            </a:r>
            <a:endParaRPr lang="en-US" sz="1100" dirty="0"/>
          </a:p>
        </p:txBody>
      </p:sp>
      <p:sp>
        <p:nvSpPr>
          <p:cNvPr id="10" name="Shape 8"/>
          <p:cNvSpPr/>
          <p:nvPr/>
        </p:nvSpPr>
        <p:spPr>
          <a:xfrm>
            <a:off x="548640" y="1600200"/>
            <a:ext cx="777240" cy="329184"/>
          </a:xfrm>
          <a:prstGeom prst="rect">
            <a:avLst/>
          </a:prstGeom>
          <a:solidFill>
            <a:srgbClr val="3FD9C4">
              <a:alpha val="30000"/>
            </a:srgbClr>
          </a:solidFill>
          <a:ln w="12700">
            <a:solidFill>
              <a:srgbClr val="3FD9C4"/>
            </a:solidFill>
            <a:prstDash val="solid"/>
          </a:ln>
        </p:spPr>
        <p:txBody>
          <a:bodyPr/>
          <a:lstStyle/>
          <a:p>
            <a:endParaRPr lang="en-US"/>
          </a:p>
        </p:txBody>
      </p:sp>
      <p:sp>
        <p:nvSpPr>
          <p:cNvPr id="11" name="Text 9"/>
          <p:cNvSpPr/>
          <p:nvPr/>
        </p:nvSpPr>
        <p:spPr>
          <a:xfrm>
            <a:off x="548640" y="1600200"/>
            <a:ext cx="777240" cy="329184"/>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list</a:t>
            </a:r>
            <a:endParaRPr lang="en-US" sz="950" dirty="0"/>
          </a:p>
        </p:txBody>
      </p:sp>
      <p:sp>
        <p:nvSpPr>
          <p:cNvPr id="12" name="Text 10"/>
          <p:cNvSpPr/>
          <p:nvPr/>
        </p:nvSpPr>
        <p:spPr>
          <a:xfrm>
            <a:off x="1389888" y="1618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INPUT</a:t>
            </a:r>
            <a:endParaRPr lang="en-US" sz="1100" dirty="0"/>
          </a:p>
        </p:txBody>
      </p:sp>
      <p:sp>
        <p:nvSpPr>
          <p:cNvPr id="13" name="Text 11"/>
          <p:cNvSpPr/>
          <p:nvPr/>
        </p:nvSpPr>
        <p:spPr>
          <a:xfrm>
            <a:off x="1389888" y="1801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The collection to sort</a:t>
            </a:r>
            <a:endParaRPr lang="en-US" sz="900" dirty="0"/>
          </a:p>
        </p:txBody>
      </p:sp>
      <p:sp>
        <p:nvSpPr>
          <p:cNvPr id="14" name="Shape 12"/>
          <p:cNvSpPr/>
          <p:nvPr/>
        </p:nvSpPr>
        <p:spPr>
          <a:xfrm>
            <a:off x="548640" y="2057400"/>
            <a:ext cx="777240" cy="329184"/>
          </a:xfrm>
          <a:prstGeom prst="rect">
            <a:avLst/>
          </a:prstGeom>
          <a:solidFill>
            <a:srgbClr val="58A6FF">
              <a:alpha val="30000"/>
            </a:srgbClr>
          </a:solidFill>
          <a:ln w="12700">
            <a:solidFill>
              <a:srgbClr val="58A6FF"/>
            </a:solidFill>
            <a:prstDash val="solid"/>
          </a:ln>
        </p:spPr>
        <p:txBody>
          <a:bodyPr/>
          <a:lstStyle/>
          <a:p>
            <a:endParaRPr lang="en-US"/>
          </a:p>
        </p:txBody>
      </p:sp>
      <p:sp>
        <p:nvSpPr>
          <p:cNvPr id="15" name="Text 13"/>
          <p:cNvSpPr/>
          <p:nvPr/>
        </p:nvSpPr>
        <p:spPr>
          <a:xfrm>
            <a:off x="548640" y="2057400"/>
            <a:ext cx="777240" cy="329184"/>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length</a:t>
            </a:r>
            <a:endParaRPr lang="en-US" sz="950" dirty="0"/>
          </a:p>
        </p:txBody>
      </p:sp>
      <p:sp>
        <p:nvSpPr>
          <p:cNvPr id="16" name="Text 14"/>
          <p:cNvSpPr/>
          <p:nvPr/>
        </p:nvSpPr>
        <p:spPr>
          <a:xfrm>
            <a:off x="1389888" y="20756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BOUNDARY</a:t>
            </a:r>
            <a:endParaRPr lang="en-US" sz="1100" dirty="0"/>
          </a:p>
        </p:txBody>
      </p:sp>
      <p:sp>
        <p:nvSpPr>
          <p:cNvPr id="17" name="Text 15"/>
          <p:cNvSpPr/>
          <p:nvPr/>
        </p:nvSpPr>
        <p:spPr>
          <a:xfrm>
            <a:off x="1389888" y="22585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How far the inner loop goes</a:t>
            </a:r>
            <a:endParaRPr lang="en-US" sz="900" dirty="0"/>
          </a:p>
        </p:txBody>
      </p:sp>
      <p:sp>
        <p:nvSpPr>
          <p:cNvPr id="18" name="Shape 16"/>
          <p:cNvSpPr/>
          <p:nvPr/>
        </p:nvSpPr>
        <p:spPr>
          <a:xfrm>
            <a:off x="548640" y="2514600"/>
            <a:ext cx="777240" cy="329184"/>
          </a:xfrm>
          <a:prstGeom prst="rect">
            <a:avLst/>
          </a:prstGeom>
          <a:solidFill>
            <a:srgbClr val="BC8CFF">
              <a:alpha val="30000"/>
            </a:srgbClr>
          </a:solidFill>
          <a:ln w="12700">
            <a:solidFill>
              <a:srgbClr val="BC8CFF"/>
            </a:solidFill>
            <a:prstDash val="solid"/>
          </a:ln>
        </p:spPr>
        <p:txBody>
          <a:bodyPr/>
          <a:lstStyle/>
          <a:p>
            <a:endParaRPr lang="en-US"/>
          </a:p>
        </p:txBody>
      </p:sp>
      <p:sp>
        <p:nvSpPr>
          <p:cNvPr id="19" name="Text 17"/>
          <p:cNvSpPr/>
          <p:nvPr/>
        </p:nvSpPr>
        <p:spPr>
          <a:xfrm>
            <a:off x="548640" y="2514600"/>
            <a:ext cx="777240" cy="329184"/>
          </a:xfrm>
          <a:prstGeom prst="rect">
            <a:avLst/>
          </a:prstGeom>
          <a:noFill/>
          <a:ln/>
        </p:spPr>
        <p:txBody>
          <a:bodyPr wrap="square" lIns="0" tIns="0" rIns="0" bIns="0" rtlCol="0" anchor="ctr"/>
          <a:lstStyle/>
          <a:p>
            <a:pPr marL="0" indent="0" algn="ctr">
              <a:buNone/>
            </a:pPr>
            <a:r>
              <a:rPr lang="en-US" sz="950" b="1" dirty="0">
                <a:solidFill>
                  <a:srgbClr val="BC8CFF"/>
                </a:solidFill>
                <a:latin typeface="Consolas" pitchFamily="34" charset="0"/>
                <a:ea typeface="Consolas" pitchFamily="34" charset="-122"/>
                <a:cs typeface="Consolas" pitchFamily="34" charset="-120"/>
              </a:rPr>
              <a:t>i</a:t>
            </a:r>
            <a:endParaRPr lang="en-US" sz="950" dirty="0"/>
          </a:p>
        </p:txBody>
      </p:sp>
      <p:sp>
        <p:nvSpPr>
          <p:cNvPr id="20" name="Text 18"/>
          <p:cNvSpPr/>
          <p:nvPr/>
        </p:nvSpPr>
        <p:spPr>
          <a:xfrm>
            <a:off x="1389888" y="25328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INNER COUNTER</a:t>
            </a:r>
            <a:endParaRPr lang="en-US" sz="1100" dirty="0"/>
          </a:p>
        </p:txBody>
      </p:sp>
      <p:sp>
        <p:nvSpPr>
          <p:cNvPr id="21" name="Text 19"/>
          <p:cNvSpPr/>
          <p:nvPr/>
        </p:nvSpPr>
        <p:spPr>
          <a:xfrm>
            <a:off x="1389888" y="27157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Position inside one pass</a:t>
            </a:r>
            <a:endParaRPr lang="en-US" sz="900" dirty="0"/>
          </a:p>
        </p:txBody>
      </p:sp>
      <p:sp>
        <p:nvSpPr>
          <p:cNvPr id="22" name="Shape 20"/>
          <p:cNvSpPr/>
          <p:nvPr/>
        </p:nvSpPr>
        <p:spPr>
          <a:xfrm>
            <a:off x="548640" y="2971800"/>
            <a:ext cx="777240" cy="329184"/>
          </a:xfrm>
          <a:prstGeom prst="rect">
            <a:avLst/>
          </a:prstGeom>
          <a:solidFill>
            <a:srgbClr val="FFA657">
              <a:alpha val="30000"/>
            </a:srgbClr>
          </a:solidFill>
          <a:ln w="12700">
            <a:solidFill>
              <a:srgbClr val="FFA657"/>
            </a:solidFill>
            <a:prstDash val="solid"/>
          </a:ln>
        </p:spPr>
        <p:txBody>
          <a:bodyPr/>
          <a:lstStyle/>
          <a:p>
            <a:endParaRPr lang="en-US"/>
          </a:p>
        </p:txBody>
      </p:sp>
      <p:sp>
        <p:nvSpPr>
          <p:cNvPr id="23" name="Text 21"/>
          <p:cNvSpPr/>
          <p:nvPr/>
        </p:nvSpPr>
        <p:spPr>
          <a:xfrm>
            <a:off x="548640" y="2971800"/>
            <a:ext cx="777240" cy="329184"/>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list[i]</a:t>
            </a:r>
            <a:endParaRPr lang="en-US" sz="950" dirty="0"/>
          </a:p>
        </p:txBody>
      </p:sp>
      <p:sp>
        <p:nvSpPr>
          <p:cNvPr id="24" name="Text 22"/>
          <p:cNvSpPr/>
          <p:nvPr/>
        </p:nvSpPr>
        <p:spPr>
          <a:xfrm>
            <a:off x="1389888" y="29900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LEFT</a:t>
            </a:r>
            <a:endParaRPr lang="en-US" sz="1100" dirty="0"/>
          </a:p>
        </p:txBody>
      </p:sp>
      <p:sp>
        <p:nvSpPr>
          <p:cNvPr id="25" name="Text 23"/>
          <p:cNvSpPr/>
          <p:nvPr/>
        </p:nvSpPr>
        <p:spPr>
          <a:xfrm>
            <a:off x="1389888" y="31729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Item being compared</a:t>
            </a:r>
            <a:endParaRPr lang="en-US" sz="900" dirty="0"/>
          </a:p>
        </p:txBody>
      </p:sp>
      <p:sp>
        <p:nvSpPr>
          <p:cNvPr id="26" name="Shape 24"/>
          <p:cNvSpPr/>
          <p:nvPr/>
        </p:nvSpPr>
        <p:spPr>
          <a:xfrm>
            <a:off x="548640" y="3429000"/>
            <a:ext cx="777240" cy="329184"/>
          </a:xfrm>
          <a:prstGeom prst="rect">
            <a:avLst/>
          </a:prstGeom>
          <a:solidFill>
            <a:srgbClr val="E3B341">
              <a:alpha val="30000"/>
            </a:srgbClr>
          </a:solidFill>
          <a:ln w="12700">
            <a:solidFill>
              <a:srgbClr val="E3B341"/>
            </a:solidFill>
            <a:prstDash val="solid"/>
          </a:ln>
        </p:spPr>
        <p:txBody>
          <a:bodyPr/>
          <a:lstStyle/>
          <a:p>
            <a:endParaRPr lang="en-US"/>
          </a:p>
        </p:txBody>
      </p:sp>
      <p:sp>
        <p:nvSpPr>
          <p:cNvPr id="27" name="Text 25"/>
          <p:cNvSpPr/>
          <p:nvPr/>
        </p:nvSpPr>
        <p:spPr>
          <a:xfrm>
            <a:off x="548640" y="3429000"/>
            <a:ext cx="777240" cy="329184"/>
          </a:xfrm>
          <a:prstGeom prst="rect">
            <a:avLst/>
          </a:prstGeom>
          <a:noFill/>
          <a:ln/>
        </p:spPr>
        <p:txBody>
          <a:bodyPr wrap="square" lIns="0" tIns="0" rIns="0" bIns="0" rtlCol="0" anchor="ctr"/>
          <a:lstStyle/>
          <a:p>
            <a:pPr marL="0" indent="0" algn="ctr">
              <a:buNone/>
            </a:pPr>
            <a:r>
              <a:rPr lang="en-US" sz="950" b="1" dirty="0">
                <a:solidFill>
                  <a:srgbClr val="E3B341"/>
                </a:solidFill>
                <a:latin typeface="Consolas" pitchFamily="34" charset="0"/>
                <a:ea typeface="Consolas" pitchFamily="34" charset="-122"/>
                <a:cs typeface="Consolas" pitchFamily="34" charset="-120"/>
              </a:rPr>
              <a:t>list[i+1]</a:t>
            </a:r>
            <a:endParaRPr lang="en-US" sz="950" dirty="0"/>
          </a:p>
        </p:txBody>
      </p:sp>
      <p:sp>
        <p:nvSpPr>
          <p:cNvPr id="28" name="Text 26"/>
          <p:cNvSpPr/>
          <p:nvPr/>
        </p:nvSpPr>
        <p:spPr>
          <a:xfrm>
            <a:off x="1389888" y="34472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RIGHT</a:t>
            </a:r>
            <a:endParaRPr lang="en-US" sz="1100" dirty="0"/>
          </a:p>
        </p:txBody>
      </p:sp>
      <p:sp>
        <p:nvSpPr>
          <p:cNvPr id="29" name="Text 27"/>
          <p:cNvSpPr/>
          <p:nvPr/>
        </p:nvSpPr>
        <p:spPr>
          <a:xfrm>
            <a:off x="1389888" y="36301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Its right-hand neighbour</a:t>
            </a:r>
            <a:endParaRPr lang="en-US" sz="900" dirty="0"/>
          </a:p>
        </p:txBody>
      </p:sp>
      <p:sp>
        <p:nvSpPr>
          <p:cNvPr id="30" name="Shape 28"/>
          <p:cNvSpPr/>
          <p:nvPr/>
        </p:nvSpPr>
        <p:spPr>
          <a:xfrm>
            <a:off x="548640" y="3886200"/>
            <a:ext cx="777240" cy="329184"/>
          </a:xfrm>
          <a:prstGeom prst="rect">
            <a:avLst/>
          </a:prstGeom>
          <a:solidFill>
            <a:srgbClr val="3FB950">
              <a:alpha val="30000"/>
            </a:srgbClr>
          </a:solidFill>
          <a:ln w="12700">
            <a:solidFill>
              <a:srgbClr val="3FB950"/>
            </a:solidFill>
            <a:prstDash val="solid"/>
          </a:ln>
        </p:spPr>
        <p:txBody>
          <a:bodyPr/>
          <a:lstStyle/>
          <a:p>
            <a:endParaRPr lang="en-US"/>
          </a:p>
        </p:txBody>
      </p:sp>
      <p:sp>
        <p:nvSpPr>
          <p:cNvPr id="31" name="Text 29"/>
          <p:cNvSpPr/>
          <p:nvPr/>
        </p:nvSpPr>
        <p:spPr>
          <a:xfrm>
            <a:off x="548640" y="3886200"/>
            <a:ext cx="777240" cy="329184"/>
          </a:xfrm>
          <a:prstGeom prst="rect">
            <a:avLst/>
          </a:prstGeom>
          <a:noFill/>
          <a:ln/>
        </p:spPr>
        <p:txBody>
          <a:bodyPr wrap="square" lIns="0" tIns="0" rIns="0" bIns="0" rtlCol="0" anchor="ctr"/>
          <a:lstStyle/>
          <a:p>
            <a:pPr marL="0" indent="0" algn="ctr">
              <a:buNone/>
            </a:pPr>
            <a:r>
              <a:rPr lang="en-US" sz="950" b="1" dirty="0">
                <a:solidFill>
                  <a:srgbClr val="3FB950"/>
                </a:solidFill>
                <a:latin typeface="Consolas" pitchFamily="34" charset="0"/>
                <a:ea typeface="Consolas" pitchFamily="34" charset="-122"/>
                <a:cs typeface="Consolas" pitchFamily="34" charset="-120"/>
              </a:rPr>
              <a:t>swapped</a:t>
            </a:r>
            <a:endParaRPr lang="en-US" sz="950" dirty="0"/>
          </a:p>
        </p:txBody>
      </p:sp>
      <p:sp>
        <p:nvSpPr>
          <p:cNvPr id="32" name="Text 30"/>
          <p:cNvSpPr/>
          <p:nvPr/>
        </p:nvSpPr>
        <p:spPr>
          <a:xfrm>
            <a:off x="1389888" y="3904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FLAG</a:t>
            </a:r>
            <a:endParaRPr lang="en-US" sz="1100" dirty="0"/>
          </a:p>
        </p:txBody>
      </p:sp>
      <p:sp>
        <p:nvSpPr>
          <p:cNvPr id="33" name="Text 31"/>
          <p:cNvSpPr/>
          <p:nvPr/>
        </p:nvSpPr>
        <p:spPr>
          <a:xfrm>
            <a:off x="1389888" y="4087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True if any swap happened</a:t>
            </a:r>
            <a:endParaRPr lang="en-US" sz="900" dirty="0"/>
          </a:p>
        </p:txBody>
      </p:sp>
      <p:sp>
        <p:nvSpPr>
          <p:cNvPr id="34" name="Shape 32"/>
          <p:cNvSpPr/>
          <p:nvPr/>
        </p:nvSpPr>
        <p:spPr>
          <a:xfrm>
            <a:off x="4480560" y="1170432"/>
            <a:ext cx="4251960" cy="1536192"/>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4480560" y="1170432"/>
            <a:ext cx="425196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36" name="Text 34"/>
          <p:cNvSpPr/>
          <p:nvPr/>
        </p:nvSpPr>
        <p:spPr>
          <a:xfrm>
            <a:off x="4617720" y="1216152"/>
            <a:ext cx="3977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Complete Pseudocode</a:t>
            </a:r>
            <a:endParaRPr lang="en-US" sz="1100" dirty="0"/>
          </a:p>
        </p:txBody>
      </p:sp>
      <p:sp>
        <p:nvSpPr>
          <p:cNvPr id="37" name="Text 35"/>
          <p:cNvSpPr/>
          <p:nvPr/>
        </p:nvSpPr>
        <p:spPr>
          <a:xfrm>
            <a:off x="4617720" y="1572768"/>
            <a:ext cx="3977640" cy="237744"/>
          </a:xfrm>
          <a:prstGeom prst="rect">
            <a:avLst/>
          </a:prstGeom>
          <a:noFill/>
          <a:ln/>
        </p:spPr>
        <p:txBody>
          <a:bodyPr wrap="square" lIns="0" tIns="0" rIns="0" bIns="0" rtlCol="0" anchor="ctr"/>
          <a:lstStyle/>
          <a:p>
            <a:pPr marL="0" indent="0">
              <a:buNone/>
            </a:pPr>
            <a:r>
              <a:rPr lang="en-US" sz="1050" dirty="0">
                <a:solidFill>
                  <a:srgbClr val="F0F6FC"/>
                </a:solidFill>
                <a:latin typeface="Consolas" pitchFamily="34" charset="0"/>
                <a:ea typeface="Consolas" pitchFamily="34" charset="-122"/>
                <a:cs typeface="Consolas" pitchFamily="34" charset="-120"/>
              </a:rPr>
              <a:t>FUNCTION bubbleSort(list):</a:t>
            </a:r>
            <a:endParaRPr lang="en-US" sz="1050" dirty="0"/>
          </a:p>
        </p:txBody>
      </p:sp>
      <p:sp>
        <p:nvSpPr>
          <p:cNvPr id="38" name="Text 36"/>
          <p:cNvSpPr/>
          <p:nvPr/>
        </p:nvSpPr>
        <p:spPr>
          <a:xfrm>
            <a:off x="4617720" y="1819656"/>
            <a:ext cx="3977640" cy="219456"/>
          </a:xfrm>
          <a:prstGeom prst="rect">
            <a:avLst/>
          </a:prstGeom>
          <a:noFill/>
          <a:ln/>
        </p:spPr>
        <p:txBody>
          <a:bodyPr wrap="square" lIns="0" tIns="0" rIns="0" bIns="0" rtlCol="0" anchor="ctr"/>
          <a:lstStyle/>
          <a:p>
            <a:pPr marL="0" indent="0">
              <a:buNone/>
            </a:pPr>
            <a:r>
              <a:rPr lang="en-US" sz="1050" dirty="0">
                <a:solidFill>
                  <a:srgbClr val="8B949E"/>
                </a:solidFill>
                <a:latin typeface="Consolas" pitchFamily="34" charset="0"/>
                <a:ea typeface="Consolas" pitchFamily="34" charset="-122"/>
                <a:cs typeface="Consolas" pitchFamily="34" charset="-120"/>
              </a:rPr>
              <a:t>REPEAT: swapped ← false; FOR i: IF list[i] &gt; list[i+1] SWAP, swapped ← true; UNTIL not swapped</a:t>
            </a:r>
            <a:endParaRPr lang="en-US" sz="1050" dirty="0"/>
          </a:p>
        </p:txBody>
      </p:sp>
      <p:sp>
        <p:nvSpPr>
          <p:cNvPr id="39" name="Shape 37"/>
          <p:cNvSpPr/>
          <p:nvPr/>
        </p:nvSpPr>
        <p:spPr>
          <a:xfrm>
            <a:off x="4617720"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0" name="Text 38"/>
          <p:cNvSpPr/>
          <p:nvPr/>
        </p:nvSpPr>
        <p:spPr>
          <a:xfrm>
            <a:off x="4617720"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L1</a:t>
            </a:r>
            <a:endParaRPr lang="en-US" sz="950" dirty="0"/>
          </a:p>
        </p:txBody>
      </p:sp>
      <p:sp>
        <p:nvSpPr>
          <p:cNvPr id="41" name="Shape 39"/>
          <p:cNvSpPr/>
          <p:nvPr/>
        </p:nvSpPr>
        <p:spPr>
          <a:xfrm>
            <a:off x="5148072"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2" name="Text 40"/>
          <p:cNvSpPr/>
          <p:nvPr/>
        </p:nvSpPr>
        <p:spPr>
          <a:xfrm>
            <a:off x="5148072"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L2</a:t>
            </a:r>
            <a:endParaRPr lang="en-US" sz="950" dirty="0"/>
          </a:p>
        </p:txBody>
      </p:sp>
      <p:sp>
        <p:nvSpPr>
          <p:cNvPr id="43" name="Shape 41"/>
          <p:cNvSpPr/>
          <p:nvPr/>
        </p:nvSpPr>
        <p:spPr>
          <a:xfrm>
            <a:off x="567842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4" name="Text 42"/>
          <p:cNvSpPr/>
          <p:nvPr/>
        </p:nvSpPr>
        <p:spPr>
          <a:xfrm>
            <a:off x="567842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L3</a:t>
            </a:r>
            <a:endParaRPr lang="en-US" sz="950" dirty="0"/>
          </a:p>
        </p:txBody>
      </p:sp>
      <p:sp>
        <p:nvSpPr>
          <p:cNvPr id="45" name="Shape 43"/>
          <p:cNvSpPr/>
          <p:nvPr/>
        </p:nvSpPr>
        <p:spPr>
          <a:xfrm>
            <a:off x="6208776"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6" name="Text 44"/>
          <p:cNvSpPr/>
          <p:nvPr/>
        </p:nvSpPr>
        <p:spPr>
          <a:xfrm>
            <a:off x="6208776"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L4</a:t>
            </a:r>
            <a:endParaRPr lang="en-US" sz="950" dirty="0"/>
          </a:p>
        </p:txBody>
      </p:sp>
      <p:sp>
        <p:nvSpPr>
          <p:cNvPr id="47" name="Shape 45"/>
          <p:cNvSpPr/>
          <p:nvPr/>
        </p:nvSpPr>
        <p:spPr>
          <a:xfrm>
            <a:off x="6739128"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8" name="Text 46"/>
          <p:cNvSpPr/>
          <p:nvPr/>
        </p:nvSpPr>
        <p:spPr>
          <a:xfrm>
            <a:off x="6739128"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L5</a:t>
            </a:r>
            <a:endParaRPr lang="en-US" sz="950" dirty="0"/>
          </a:p>
        </p:txBody>
      </p:sp>
      <p:sp>
        <p:nvSpPr>
          <p:cNvPr id="49" name="Shape 47"/>
          <p:cNvSpPr/>
          <p:nvPr/>
        </p:nvSpPr>
        <p:spPr>
          <a:xfrm>
            <a:off x="7269480"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0" name="Text 48"/>
          <p:cNvSpPr/>
          <p:nvPr/>
        </p:nvSpPr>
        <p:spPr>
          <a:xfrm>
            <a:off x="7269480"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L6</a:t>
            </a:r>
            <a:endParaRPr lang="en-US" sz="950" dirty="0"/>
          </a:p>
        </p:txBody>
      </p:sp>
      <p:sp>
        <p:nvSpPr>
          <p:cNvPr id="51" name="Shape 49"/>
          <p:cNvSpPr/>
          <p:nvPr/>
        </p:nvSpPr>
        <p:spPr>
          <a:xfrm>
            <a:off x="7799832"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2" name="Text 50"/>
          <p:cNvSpPr/>
          <p:nvPr/>
        </p:nvSpPr>
        <p:spPr>
          <a:xfrm>
            <a:off x="7799832"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L7</a:t>
            </a:r>
            <a:endParaRPr lang="en-US" sz="950" dirty="0"/>
          </a:p>
        </p:txBody>
      </p:sp>
      <p:sp>
        <p:nvSpPr>
          <p:cNvPr id="53" name="Shape 51"/>
          <p:cNvSpPr/>
          <p:nvPr/>
        </p:nvSpPr>
        <p:spPr>
          <a:xfrm>
            <a:off x="833018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4" name="Text 52"/>
          <p:cNvSpPr/>
          <p:nvPr/>
        </p:nvSpPr>
        <p:spPr>
          <a:xfrm>
            <a:off x="833018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L8</a:t>
            </a:r>
            <a:endParaRPr lang="en-US" sz="950" dirty="0"/>
          </a:p>
        </p:txBody>
      </p:sp>
      <p:sp>
        <p:nvSpPr>
          <p:cNvPr id="55" name="Text 53"/>
          <p:cNvSpPr/>
          <p:nvPr/>
        </p:nvSpPr>
        <p:spPr>
          <a:xfrm>
            <a:off x="4617720" y="2450592"/>
            <a:ext cx="3977640"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FUNC    REPEAT    FLAG    FOR    IF    SWAP    SET    UNTIL</a:t>
            </a:r>
            <a:endParaRPr lang="en-US" sz="850" dirty="0"/>
          </a:p>
        </p:txBody>
      </p:sp>
      <p:sp>
        <p:nvSpPr>
          <p:cNvPr id="56" name="Shape 54"/>
          <p:cNvSpPr/>
          <p:nvPr/>
        </p:nvSpPr>
        <p:spPr>
          <a:xfrm>
            <a:off x="4480560" y="2834640"/>
            <a:ext cx="4251960" cy="1581912"/>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57" name="Shape 55"/>
          <p:cNvSpPr/>
          <p:nvPr/>
        </p:nvSpPr>
        <p:spPr>
          <a:xfrm>
            <a:off x="4480560" y="2834640"/>
            <a:ext cx="425196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58" name="Text 56"/>
          <p:cNvSpPr/>
          <p:nvPr/>
        </p:nvSpPr>
        <p:spPr>
          <a:xfrm>
            <a:off x="4617720" y="2880360"/>
            <a:ext cx="3977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Power of the Flag</a:t>
            </a:r>
            <a:endParaRPr lang="en-US" sz="1100" dirty="0"/>
          </a:p>
        </p:txBody>
      </p:sp>
      <p:sp>
        <p:nvSpPr>
          <p:cNvPr id="75" name="Text 73"/>
          <p:cNvSpPr/>
          <p:nvPr/>
        </p:nvSpPr>
        <p:spPr>
          <a:xfrm>
            <a:off x="4617720" y="3977640"/>
            <a:ext cx="3977640" cy="329184"/>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The swapped flag turns a worst-case algorithm into a smart one. On a list that is already sorted, Bubble Sort finishes in just N comparisons — one full pass, zero swaps, immediate exit.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VISUAL TRACE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Watching Bubble Sort Run</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Sorting  [5, 2, 8, 1, 4, 7, 3, 6]  in ascending order — array state after each pass</a:t>
            </a:r>
            <a:endParaRPr lang="en-US" sz="1300" dirty="0"/>
          </a:p>
        </p:txBody>
      </p:sp>
      <p:sp>
        <p:nvSpPr>
          <p:cNvPr id="7" name="Shape 5"/>
          <p:cNvSpPr/>
          <p:nvPr/>
        </p:nvSpPr>
        <p:spPr>
          <a:xfrm>
            <a:off x="411480" y="1170432"/>
            <a:ext cx="2048256" cy="37490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02920"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Initial state — unsorted</a:t>
            </a:r>
            <a:endParaRPr lang="en-US" sz="1000" dirty="0"/>
          </a:p>
        </p:txBody>
      </p:sp>
      <p:sp>
        <p:nvSpPr>
          <p:cNvPr id="10" name="Shape 8"/>
          <p:cNvSpPr/>
          <p:nvPr/>
        </p:nvSpPr>
        <p:spPr>
          <a:xfrm>
            <a:off x="502920" y="157276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1" name="Text 9"/>
          <p:cNvSpPr/>
          <p:nvPr/>
        </p:nvSpPr>
        <p:spPr>
          <a:xfrm>
            <a:off x="502920" y="157276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5</a:t>
            </a:r>
            <a:endParaRPr lang="en-US" sz="900" dirty="0"/>
          </a:p>
        </p:txBody>
      </p:sp>
      <p:sp>
        <p:nvSpPr>
          <p:cNvPr id="12" name="Text 10"/>
          <p:cNvSpPr/>
          <p:nvPr/>
        </p:nvSpPr>
        <p:spPr>
          <a:xfrm>
            <a:off x="1014984"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0</a:t>
            </a:r>
            <a:endParaRPr lang="en-US" sz="950" dirty="0"/>
          </a:p>
        </p:txBody>
      </p:sp>
      <p:sp>
        <p:nvSpPr>
          <p:cNvPr id="13" name="Shape 11"/>
          <p:cNvSpPr/>
          <p:nvPr/>
        </p:nvSpPr>
        <p:spPr>
          <a:xfrm>
            <a:off x="502920" y="196596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4" name="Text 12"/>
          <p:cNvSpPr/>
          <p:nvPr/>
        </p:nvSpPr>
        <p:spPr>
          <a:xfrm>
            <a:off x="502920" y="196596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2</a:t>
            </a:r>
            <a:endParaRPr lang="en-US" sz="900" dirty="0"/>
          </a:p>
        </p:txBody>
      </p:sp>
      <p:sp>
        <p:nvSpPr>
          <p:cNvPr id="15" name="Text 13"/>
          <p:cNvSpPr/>
          <p:nvPr/>
        </p:nvSpPr>
        <p:spPr>
          <a:xfrm>
            <a:off x="1014984"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1</a:t>
            </a:r>
            <a:endParaRPr lang="en-US" sz="950" dirty="0"/>
          </a:p>
        </p:txBody>
      </p:sp>
      <p:sp>
        <p:nvSpPr>
          <p:cNvPr id="16" name="Shape 14"/>
          <p:cNvSpPr/>
          <p:nvPr/>
        </p:nvSpPr>
        <p:spPr>
          <a:xfrm>
            <a:off x="502920" y="235915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7" name="Text 15"/>
          <p:cNvSpPr/>
          <p:nvPr/>
        </p:nvSpPr>
        <p:spPr>
          <a:xfrm>
            <a:off x="502920" y="235915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8</a:t>
            </a:r>
            <a:endParaRPr lang="en-US" sz="900" dirty="0"/>
          </a:p>
        </p:txBody>
      </p:sp>
      <p:sp>
        <p:nvSpPr>
          <p:cNvPr id="18" name="Text 16"/>
          <p:cNvSpPr/>
          <p:nvPr/>
        </p:nvSpPr>
        <p:spPr>
          <a:xfrm>
            <a:off x="1014984"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2 (max)</a:t>
            </a:r>
            <a:endParaRPr lang="en-US" sz="950" dirty="0"/>
          </a:p>
        </p:txBody>
      </p:sp>
      <p:sp>
        <p:nvSpPr>
          <p:cNvPr id="19" name="Shape 17"/>
          <p:cNvSpPr/>
          <p:nvPr/>
        </p:nvSpPr>
        <p:spPr>
          <a:xfrm>
            <a:off x="502920" y="2752344"/>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0" name="Text 18"/>
          <p:cNvSpPr/>
          <p:nvPr/>
        </p:nvSpPr>
        <p:spPr>
          <a:xfrm>
            <a:off x="502920" y="2752344"/>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1</a:t>
            </a:r>
            <a:endParaRPr lang="en-US" sz="900" dirty="0"/>
          </a:p>
        </p:txBody>
      </p:sp>
      <p:sp>
        <p:nvSpPr>
          <p:cNvPr id="21" name="Text 19"/>
          <p:cNvSpPr/>
          <p:nvPr/>
        </p:nvSpPr>
        <p:spPr>
          <a:xfrm>
            <a:off x="1014984"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3</a:t>
            </a:r>
            <a:endParaRPr lang="en-US" sz="950" dirty="0"/>
          </a:p>
        </p:txBody>
      </p:sp>
      <p:sp>
        <p:nvSpPr>
          <p:cNvPr id="22" name="Shape 20"/>
          <p:cNvSpPr/>
          <p:nvPr/>
        </p:nvSpPr>
        <p:spPr>
          <a:xfrm>
            <a:off x="502920" y="3145536"/>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3" name="Text 21"/>
          <p:cNvSpPr/>
          <p:nvPr/>
        </p:nvSpPr>
        <p:spPr>
          <a:xfrm>
            <a:off x="502920" y="3145536"/>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4</a:t>
            </a:r>
            <a:endParaRPr lang="en-US" sz="900" dirty="0"/>
          </a:p>
        </p:txBody>
      </p:sp>
      <p:sp>
        <p:nvSpPr>
          <p:cNvPr id="24" name="Text 22"/>
          <p:cNvSpPr/>
          <p:nvPr/>
        </p:nvSpPr>
        <p:spPr>
          <a:xfrm>
            <a:off x="1014984"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4</a:t>
            </a:r>
            <a:endParaRPr lang="en-US" sz="950" dirty="0"/>
          </a:p>
        </p:txBody>
      </p:sp>
      <p:sp>
        <p:nvSpPr>
          <p:cNvPr id="25" name="Shape 23"/>
          <p:cNvSpPr/>
          <p:nvPr/>
        </p:nvSpPr>
        <p:spPr>
          <a:xfrm>
            <a:off x="502920" y="353872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6" name="Text 24"/>
          <p:cNvSpPr/>
          <p:nvPr/>
        </p:nvSpPr>
        <p:spPr>
          <a:xfrm>
            <a:off x="502920" y="353872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7</a:t>
            </a:r>
            <a:endParaRPr lang="en-US" sz="900" dirty="0"/>
          </a:p>
        </p:txBody>
      </p:sp>
      <p:sp>
        <p:nvSpPr>
          <p:cNvPr id="27" name="Text 25"/>
          <p:cNvSpPr/>
          <p:nvPr/>
        </p:nvSpPr>
        <p:spPr>
          <a:xfrm>
            <a:off x="1014984"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5</a:t>
            </a:r>
            <a:endParaRPr lang="en-US" sz="950" dirty="0"/>
          </a:p>
        </p:txBody>
      </p:sp>
      <p:sp>
        <p:nvSpPr>
          <p:cNvPr id="28" name="Shape 26"/>
          <p:cNvSpPr/>
          <p:nvPr/>
        </p:nvSpPr>
        <p:spPr>
          <a:xfrm>
            <a:off x="502920" y="393192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9" name="Text 27"/>
          <p:cNvSpPr/>
          <p:nvPr/>
        </p:nvSpPr>
        <p:spPr>
          <a:xfrm>
            <a:off x="502920" y="393192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3</a:t>
            </a:r>
            <a:endParaRPr lang="en-US" sz="900" dirty="0"/>
          </a:p>
        </p:txBody>
      </p:sp>
      <p:sp>
        <p:nvSpPr>
          <p:cNvPr id="30" name="Text 28"/>
          <p:cNvSpPr/>
          <p:nvPr/>
        </p:nvSpPr>
        <p:spPr>
          <a:xfrm>
            <a:off x="1014984"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6</a:t>
            </a:r>
            <a:endParaRPr lang="en-US" sz="950" dirty="0"/>
          </a:p>
        </p:txBody>
      </p:sp>
      <p:sp>
        <p:nvSpPr>
          <p:cNvPr id="31" name="Shape 29"/>
          <p:cNvSpPr/>
          <p:nvPr/>
        </p:nvSpPr>
        <p:spPr>
          <a:xfrm>
            <a:off x="502920" y="432511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32" name="Text 30"/>
          <p:cNvSpPr/>
          <p:nvPr/>
        </p:nvSpPr>
        <p:spPr>
          <a:xfrm>
            <a:off x="502920" y="432511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6</a:t>
            </a:r>
            <a:endParaRPr lang="en-US" sz="900" dirty="0"/>
          </a:p>
        </p:txBody>
      </p:sp>
      <p:sp>
        <p:nvSpPr>
          <p:cNvPr id="33" name="Text 31"/>
          <p:cNvSpPr/>
          <p:nvPr/>
        </p:nvSpPr>
        <p:spPr>
          <a:xfrm>
            <a:off x="1014984"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7</a:t>
            </a:r>
            <a:endParaRPr lang="en-US" sz="950" dirty="0"/>
          </a:p>
        </p:txBody>
      </p:sp>
      <p:sp>
        <p:nvSpPr>
          <p:cNvPr id="34" name="Shape 32"/>
          <p:cNvSpPr/>
          <p:nvPr/>
        </p:nvSpPr>
        <p:spPr>
          <a:xfrm>
            <a:off x="2587752" y="1170432"/>
            <a:ext cx="2048256" cy="37490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2587752"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36" name="Text 34"/>
          <p:cNvSpPr/>
          <p:nvPr/>
        </p:nvSpPr>
        <p:spPr>
          <a:xfrm>
            <a:off x="2679192"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  After Pass 1 — 8 bubbles to the end (7 comparisons, 6 swaps)</a:t>
            </a:r>
            <a:endParaRPr lang="en-US" sz="1000" dirty="0"/>
          </a:p>
        </p:txBody>
      </p:sp>
      <p:sp>
        <p:nvSpPr>
          <p:cNvPr id="37" name="Shape 35"/>
          <p:cNvSpPr/>
          <p:nvPr/>
        </p:nvSpPr>
        <p:spPr>
          <a:xfrm>
            <a:off x="2679192" y="157276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38" name="Text 36"/>
          <p:cNvSpPr/>
          <p:nvPr/>
        </p:nvSpPr>
        <p:spPr>
          <a:xfrm>
            <a:off x="2679192" y="157276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2</a:t>
            </a:r>
            <a:endParaRPr lang="en-US" sz="900" dirty="0"/>
          </a:p>
        </p:txBody>
      </p:sp>
      <p:sp>
        <p:nvSpPr>
          <p:cNvPr id="39" name="Text 37"/>
          <p:cNvSpPr/>
          <p:nvPr/>
        </p:nvSpPr>
        <p:spPr>
          <a:xfrm>
            <a:off x="3191256"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0</a:t>
            </a:r>
            <a:endParaRPr lang="en-US" sz="950" dirty="0"/>
          </a:p>
        </p:txBody>
      </p:sp>
      <p:sp>
        <p:nvSpPr>
          <p:cNvPr id="40" name="Shape 38"/>
          <p:cNvSpPr/>
          <p:nvPr/>
        </p:nvSpPr>
        <p:spPr>
          <a:xfrm>
            <a:off x="2679192" y="196596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1" name="Text 39"/>
          <p:cNvSpPr/>
          <p:nvPr/>
        </p:nvSpPr>
        <p:spPr>
          <a:xfrm>
            <a:off x="2679192" y="196596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5</a:t>
            </a:r>
            <a:endParaRPr lang="en-US" sz="900" dirty="0"/>
          </a:p>
        </p:txBody>
      </p:sp>
      <p:sp>
        <p:nvSpPr>
          <p:cNvPr id="42" name="Text 40"/>
          <p:cNvSpPr/>
          <p:nvPr/>
        </p:nvSpPr>
        <p:spPr>
          <a:xfrm>
            <a:off x="3191256"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1</a:t>
            </a:r>
            <a:endParaRPr lang="en-US" sz="950" dirty="0"/>
          </a:p>
        </p:txBody>
      </p:sp>
      <p:sp>
        <p:nvSpPr>
          <p:cNvPr id="43" name="Shape 41"/>
          <p:cNvSpPr/>
          <p:nvPr/>
        </p:nvSpPr>
        <p:spPr>
          <a:xfrm>
            <a:off x="2679192" y="235915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4" name="Text 42"/>
          <p:cNvSpPr/>
          <p:nvPr/>
        </p:nvSpPr>
        <p:spPr>
          <a:xfrm>
            <a:off x="2679192" y="235915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1</a:t>
            </a:r>
            <a:endParaRPr lang="en-US" sz="900" dirty="0"/>
          </a:p>
        </p:txBody>
      </p:sp>
      <p:sp>
        <p:nvSpPr>
          <p:cNvPr id="45" name="Text 43"/>
          <p:cNvSpPr/>
          <p:nvPr/>
        </p:nvSpPr>
        <p:spPr>
          <a:xfrm>
            <a:off x="3191256"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2</a:t>
            </a:r>
            <a:endParaRPr lang="en-US" sz="950" dirty="0"/>
          </a:p>
        </p:txBody>
      </p:sp>
      <p:sp>
        <p:nvSpPr>
          <p:cNvPr id="46" name="Shape 44"/>
          <p:cNvSpPr/>
          <p:nvPr/>
        </p:nvSpPr>
        <p:spPr>
          <a:xfrm>
            <a:off x="2679192" y="2752344"/>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7" name="Text 45"/>
          <p:cNvSpPr/>
          <p:nvPr/>
        </p:nvSpPr>
        <p:spPr>
          <a:xfrm>
            <a:off x="2679192" y="2752344"/>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4</a:t>
            </a:r>
            <a:endParaRPr lang="en-US" sz="900" dirty="0"/>
          </a:p>
        </p:txBody>
      </p:sp>
      <p:sp>
        <p:nvSpPr>
          <p:cNvPr id="48" name="Text 46"/>
          <p:cNvSpPr/>
          <p:nvPr/>
        </p:nvSpPr>
        <p:spPr>
          <a:xfrm>
            <a:off x="3191256"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3</a:t>
            </a:r>
            <a:endParaRPr lang="en-US" sz="950" dirty="0"/>
          </a:p>
        </p:txBody>
      </p:sp>
      <p:sp>
        <p:nvSpPr>
          <p:cNvPr id="49" name="Shape 47"/>
          <p:cNvSpPr/>
          <p:nvPr/>
        </p:nvSpPr>
        <p:spPr>
          <a:xfrm>
            <a:off x="2679192" y="3145536"/>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0" name="Text 48"/>
          <p:cNvSpPr/>
          <p:nvPr/>
        </p:nvSpPr>
        <p:spPr>
          <a:xfrm>
            <a:off x="2679192" y="3145536"/>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7</a:t>
            </a:r>
            <a:endParaRPr lang="en-US" sz="900" dirty="0"/>
          </a:p>
        </p:txBody>
      </p:sp>
      <p:sp>
        <p:nvSpPr>
          <p:cNvPr id="51" name="Text 49"/>
          <p:cNvSpPr/>
          <p:nvPr/>
        </p:nvSpPr>
        <p:spPr>
          <a:xfrm>
            <a:off x="3191256"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4</a:t>
            </a:r>
            <a:endParaRPr lang="en-US" sz="950" dirty="0"/>
          </a:p>
        </p:txBody>
      </p:sp>
      <p:sp>
        <p:nvSpPr>
          <p:cNvPr id="52" name="Shape 50"/>
          <p:cNvSpPr/>
          <p:nvPr/>
        </p:nvSpPr>
        <p:spPr>
          <a:xfrm>
            <a:off x="2679192" y="353872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3" name="Text 51"/>
          <p:cNvSpPr/>
          <p:nvPr/>
        </p:nvSpPr>
        <p:spPr>
          <a:xfrm>
            <a:off x="2679192" y="353872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3</a:t>
            </a:r>
            <a:endParaRPr lang="en-US" sz="900" dirty="0"/>
          </a:p>
        </p:txBody>
      </p:sp>
      <p:sp>
        <p:nvSpPr>
          <p:cNvPr id="54" name="Text 52"/>
          <p:cNvSpPr/>
          <p:nvPr/>
        </p:nvSpPr>
        <p:spPr>
          <a:xfrm>
            <a:off x="3191256"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5</a:t>
            </a:r>
            <a:endParaRPr lang="en-US" sz="950" dirty="0"/>
          </a:p>
        </p:txBody>
      </p:sp>
      <p:sp>
        <p:nvSpPr>
          <p:cNvPr id="55" name="Shape 53"/>
          <p:cNvSpPr/>
          <p:nvPr/>
        </p:nvSpPr>
        <p:spPr>
          <a:xfrm>
            <a:off x="2679192" y="393192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6" name="Text 54"/>
          <p:cNvSpPr/>
          <p:nvPr/>
        </p:nvSpPr>
        <p:spPr>
          <a:xfrm>
            <a:off x="2679192" y="393192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6</a:t>
            </a:r>
            <a:endParaRPr lang="en-US" sz="900" dirty="0"/>
          </a:p>
        </p:txBody>
      </p:sp>
      <p:sp>
        <p:nvSpPr>
          <p:cNvPr id="57" name="Text 55"/>
          <p:cNvSpPr/>
          <p:nvPr/>
        </p:nvSpPr>
        <p:spPr>
          <a:xfrm>
            <a:off x="3191256"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6</a:t>
            </a:r>
            <a:endParaRPr lang="en-US" sz="950" dirty="0"/>
          </a:p>
        </p:txBody>
      </p:sp>
      <p:sp>
        <p:nvSpPr>
          <p:cNvPr id="58" name="Shape 56"/>
          <p:cNvSpPr/>
          <p:nvPr/>
        </p:nvSpPr>
        <p:spPr>
          <a:xfrm>
            <a:off x="2679192" y="432511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9" name="Text 57"/>
          <p:cNvSpPr/>
          <p:nvPr/>
        </p:nvSpPr>
        <p:spPr>
          <a:xfrm>
            <a:off x="2679192" y="432511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8</a:t>
            </a:r>
            <a:endParaRPr lang="en-US" sz="900" dirty="0"/>
          </a:p>
        </p:txBody>
      </p:sp>
      <p:sp>
        <p:nvSpPr>
          <p:cNvPr id="60" name="Text 58"/>
          <p:cNvSpPr/>
          <p:nvPr/>
        </p:nvSpPr>
        <p:spPr>
          <a:xfrm>
            <a:off x="3191256"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FIXED ✅</a:t>
            </a:r>
            <a:endParaRPr lang="en-US" sz="950" dirty="0"/>
          </a:p>
        </p:txBody>
      </p:sp>
      <p:sp>
        <p:nvSpPr>
          <p:cNvPr id="61" name="Shape 59"/>
          <p:cNvSpPr/>
          <p:nvPr/>
        </p:nvSpPr>
        <p:spPr>
          <a:xfrm>
            <a:off x="4764024" y="1170432"/>
            <a:ext cx="2048256" cy="37490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62" name="Shape 60"/>
          <p:cNvSpPr/>
          <p:nvPr/>
        </p:nvSpPr>
        <p:spPr>
          <a:xfrm>
            <a:off x="4764024"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63" name="Text 61"/>
          <p:cNvSpPr/>
          <p:nvPr/>
        </p:nvSpPr>
        <p:spPr>
          <a:xfrm>
            <a:off x="4855464"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2️⃣  After Pass 2 — 7 bubbles to position 6 (6 comparisons, 4 swaps)</a:t>
            </a:r>
            <a:endParaRPr lang="en-US" sz="1000" dirty="0"/>
          </a:p>
        </p:txBody>
      </p:sp>
      <p:sp>
        <p:nvSpPr>
          <p:cNvPr id="64" name="Shape 62"/>
          <p:cNvSpPr/>
          <p:nvPr/>
        </p:nvSpPr>
        <p:spPr>
          <a:xfrm>
            <a:off x="4855464" y="157276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5" name="Text 63"/>
          <p:cNvSpPr/>
          <p:nvPr/>
        </p:nvSpPr>
        <p:spPr>
          <a:xfrm>
            <a:off x="4855464" y="157276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2</a:t>
            </a:r>
            <a:endParaRPr lang="en-US" sz="900" dirty="0"/>
          </a:p>
        </p:txBody>
      </p:sp>
      <p:sp>
        <p:nvSpPr>
          <p:cNvPr id="66" name="Text 64"/>
          <p:cNvSpPr/>
          <p:nvPr/>
        </p:nvSpPr>
        <p:spPr>
          <a:xfrm>
            <a:off x="5367528"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0</a:t>
            </a:r>
            <a:endParaRPr lang="en-US" sz="950" dirty="0"/>
          </a:p>
        </p:txBody>
      </p:sp>
      <p:sp>
        <p:nvSpPr>
          <p:cNvPr id="67" name="Shape 65"/>
          <p:cNvSpPr/>
          <p:nvPr/>
        </p:nvSpPr>
        <p:spPr>
          <a:xfrm>
            <a:off x="4855464" y="196596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8" name="Text 66"/>
          <p:cNvSpPr/>
          <p:nvPr/>
        </p:nvSpPr>
        <p:spPr>
          <a:xfrm>
            <a:off x="4855464" y="196596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1</a:t>
            </a:r>
            <a:endParaRPr lang="en-US" sz="900" dirty="0"/>
          </a:p>
        </p:txBody>
      </p:sp>
      <p:sp>
        <p:nvSpPr>
          <p:cNvPr id="69" name="Text 67"/>
          <p:cNvSpPr/>
          <p:nvPr/>
        </p:nvSpPr>
        <p:spPr>
          <a:xfrm>
            <a:off x="5367528"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1</a:t>
            </a:r>
            <a:endParaRPr lang="en-US" sz="950" dirty="0"/>
          </a:p>
        </p:txBody>
      </p:sp>
      <p:sp>
        <p:nvSpPr>
          <p:cNvPr id="70" name="Shape 68"/>
          <p:cNvSpPr/>
          <p:nvPr/>
        </p:nvSpPr>
        <p:spPr>
          <a:xfrm>
            <a:off x="4855464" y="235915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1" name="Text 69"/>
          <p:cNvSpPr/>
          <p:nvPr/>
        </p:nvSpPr>
        <p:spPr>
          <a:xfrm>
            <a:off x="4855464" y="235915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4</a:t>
            </a:r>
            <a:endParaRPr lang="en-US" sz="900" dirty="0"/>
          </a:p>
        </p:txBody>
      </p:sp>
      <p:sp>
        <p:nvSpPr>
          <p:cNvPr id="72" name="Text 70"/>
          <p:cNvSpPr/>
          <p:nvPr/>
        </p:nvSpPr>
        <p:spPr>
          <a:xfrm>
            <a:off x="5367528"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2</a:t>
            </a:r>
            <a:endParaRPr lang="en-US" sz="950" dirty="0"/>
          </a:p>
        </p:txBody>
      </p:sp>
      <p:sp>
        <p:nvSpPr>
          <p:cNvPr id="73" name="Shape 71"/>
          <p:cNvSpPr/>
          <p:nvPr/>
        </p:nvSpPr>
        <p:spPr>
          <a:xfrm>
            <a:off x="4855464" y="2752344"/>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4" name="Text 72"/>
          <p:cNvSpPr/>
          <p:nvPr/>
        </p:nvSpPr>
        <p:spPr>
          <a:xfrm>
            <a:off x="4855464" y="2752344"/>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5</a:t>
            </a:r>
            <a:endParaRPr lang="en-US" sz="900" dirty="0"/>
          </a:p>
        </p:txBody>
      </p:sp>
      <p:sp>
        <p:nvSpPr>
          <p:cNvPr id="75" name="Text 73"/>
          <p:cNvSpPr/>
          <p:nvPr/>
        </p:nvSpPr>
        <p:spPr>
          <a:xfrm>
            <a:off x="5367528"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3</a:t>
            </a:r>
            <a:endParaRPr lang="en-US" sz="950" dirty="0"/>
          </a:p>
        </p:txBody>
      </p:sp>
      <p:sp>
        <p:nvSpPr>
          <p:cNvPr id="76" name="Shape 74"/>
          <p:cNvSpPr/>
          <p:nvPr/>
        </p:nvSpPr>
        <p:spPr>
          <a:xfrm>
            <a:off x="4855464" y="3145536"/>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7" name="Text 75"/>
          <p:cNvSpPr/>
          <p:nvPr/>
        </p:nvSpPr>
        <p:spPr>
          <a:xfrm>
            <a:off x="4855464" y="3145536"/>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3</a:t>
            </a:r>
            <a:endParaRPr lang="en-US" sz="900" dirty="0"/>
          </a:p>
        </p:txBody>
      </p:sp>
      <p:sp>
        <p:nvSpPr>
          <p:cNvPr id="78" name="Text 76"/>
          <p:cNvSpPr/>
          <p:nvPr/>
        </p:nvSpPr>
        <p:spPr>
          <a:xfrm>
            <a:off x="5367528"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4</a:t>
            </a:r>
            <a:endParaRPr lang="en-US" sz="950" dirty="0"/>
          </a:p>
        </p:txBody>
      </p:sp>
      <p:sp>
        <p:nvSpPr>
          <p:cNvPr id="79" name="Shape 77"/>
          <p:cNvSpPr/>
          <p:nvPr/>
        </p:nvSpPr>
        <p:spPr>
          <a:xfrm>
            <a:off x="4855464" y="353872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0" name="Text 78"/>
          <p:cNvSpPr/>
          <p:nvPr/>
        </p:nvSpPr>
        <p:spPr>
          <a:xfrm>
            <a:off x="4855464" y="353872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6</a:t>
            </a:r>
            <a:endParaRPr lang="en-US" sz="900" dirty="0"/>
          </a:p>
        </p:txBody>
      </p:sp>
      <p:sp>
        <p:nvSpPr>
          <p:cNvPr id="81" name="Text 79"/>
          <p:cNvSpPr/>
          <p:nvPr/>
        </p:nvSpPr>
        <p:spPr>
          <a:xfrm>
            <a:off x="5367528"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5</a:t>
            </a:r>
            <a:endParaRPr lang="en-US" sz="950" dirty="0"/>
          </a:p>
        </p:txBody>
      </p:sp>
      <p:sp>
        <p:nvSpPr>
          <p:cNvPr id="82" name="Shape 80"/>
          <p:cNvSpPr/>
          <p:nvPr/>
        </p:nvSpPr>
        <p:spPr>
          <a:xfrm>
            <a:off x="4855464" y="393192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3" name="Text 81"/>
          <p:cNvSpPr/>
          <p:nvPr/>
        </p:nvSpPr>
        <p:spPr>
          <a:xfrm>
            <a:off x="4855464" y="393192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7</a:t>
            </a:r>
            <a:endParaRPr lang="en-US" sz="900" dirty="0"/>
          </a:p>
        </p:txBody>
      </p:sp>
      <p:sp>
        <p:nvSpPr>
          <p:cNvPr id="84" name="Text 82"/>
          <p:cNvSpPr/>
          <p:nvPr/>
        </p:nvSpPr>
        <p:spPr>
          <a:xfrm>
            <a:off x="5367528"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FIXED ✅</a:t>
            </a:r>
            <a:endParaRPr lang="en-US" sz="950" dirty="0"/>
          </a:p>
        </p:txBody>
      </p:sp>
      <p:sp>
        <p:nvSpPr>
          <p:cNvPr id="85" name="Shape 83"/>
          <p:cNvSpPr/>
          <p:nvPr/>
        </p:nvSpPr>
        <p:spPr>
          <a:xfrm>
            <a:off x="4855464" y="432511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6" name="Text 84"/>
          <p:cNvSpPr/>
          <p:nvPr/>
        </p:nvSpPr>
        <p:spPr>
          <a:xfrm>
            <a:off x="4855464" y="432511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8</a:t>
            </a:r>
            <a:endParaRPr lang="en-US" sz="900" dirty="0"/>
          </a:p>
        </p:txBody>
      </p:sp>
      <p:sp>
        <p:nvSpPr>
          <p:cNvPr id="87" name="Text 85"/>
          <p:cNvSpPr/>
          <p:nvPr/>
        </p:nvSpPr>
        <p:spPr>
          <a:xfrm>
            <a:off x="5367528"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FIXED ✅</a:t>
            </a:r>
            <a:endParaRPr lang="en-US" sz="950" dirty="0"/>
          </a:p>
        </p:txBody>
      </p:sp>
      <p:sp>
        <p:nvSpPr>
          <p:cNvPr id="88" name="Shape 86"/>
          <p:cNvSpPr/>
          <p:nvPr/>
        </p:nvSpPr>
        <p:spPr>
          <a:xfrm>
            <a:off x="6940296" y="1170432"/>
            <a:ext cx="2048256" cy="374904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89" name="Shape 87"/>
          <p:cNvSpPr/>
          <p:nvPr/>
        </p:nvSpPr>
        <p:spPr>
          <a:xfrm>
            <a:off x="6940296" y="1170432"/>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90" name="Text 88"/>
          <p:cNvSpPr/>
          <p:nvPr/>
        </p:nvSpPr>
        <p:spPr>
          <a:xfrm>
            <a:off x="7031736"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3️⃣  After Pass 3 — fully sorted, no more swaps needed ✅</a:t>
            </a:r>
            <a:endParaRPr lang="en-US" sz="1000" dirty="0"/>
          </a:p>
        </p:txBody>
      </p:sp>
      <p:sp>
        <p:nvSpPr>
          <p:cNvPr id="91" name="Shape 89"/>
          <p:cNvSpPr/>
          <p:nvPr/>
        </p:nvSpPr>
        <p:spPr>
          <a:xfrm>
            <a:off x="7031736" y="157276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2" name="Text 90"/>
          <p:cNvSpPr/>
          <p:nvPr/>
        </p:nvSpPr>
        <p:spPr>
          <a:xfrm>
            <a:off x="7031736" y="157276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1</a:t>
            </a:r>
            <a:endParaRPr lang="en-US" sz="900" dirty="0"/>
          </a:p>
        </p:txBody>
      </p:sp>
      <p:sp>
        <p:nvSpPr>
          <p:cNvPr id="93" name="Text 91"/>
          <p:cNvSpPr/>
          <p:nvPr/>
        </p:nvSpPr>
        <p:spPr>
          <a:xfrm>
            <a:off x="7543800"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94" name="Shape 92"/>
          <p:cNvSpPr/>
          <p:nvPr/>
        </p:nvSpPr>
        <p:spPr>
          <a:xfrm>
            <a:off x="7031736" y="196596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5" name="Text 93"/>
          <p:cNvSpPr/>
          <p:nvPr/>
        </p:nvSpPr>
        <p:spPr>
          <a:xfrm>
            <a:off x="7031736" y="196596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2</a:t>
            </a:r>
            <a:endParaRPr lang="en-US" sz="900" dirty="0"/>
          </a:p>
        </p:txBody>
      </p:sp>
      <p:sp>
        <p:nvSpPr>
          <p:cNvPr id="96" name="Text 94"/>
          <p:cNvSpPr/>
          <p:nvPr/>
        </p:nvSpPr>
        <p:spPr>
          <a:xfrm>
            <a:off x="7543800"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97" name="Shape 95"/>
          <p:cNvSpPr/>
          <p:nvPr/>
        </p:nvSpPr>
        <p:spPr>
          <a:xfrm>
            <a:off x="7031736" y="235915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8" name="Text 96"/>
          <p:cNvSpPr/>
          <p:nvPr/>
        </p:nvSpPr>
        <p:spPr>
          <a:xfrm>
            <a:off x="7031736" y="235915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3</a:t>
            </a:r>
            <a:endParaRPr lang="en-US" sz="900" dirty="0"/>
          </a:p>
        </p:txBody>
      </p:sp>
      <p:sp>
        <p:nvSpPr>
          <p:cNvPr id="99" name="Text 97"/>
          <p:cNvSpPr/>
          <p:nvPr/>
        </p:nvSpPr>
        <p:spPr>
          <a:xfrm>
            <a:off x="7543800"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100" name="Shape 98"/>
          <p:cNvSpPr/>
          <p:nvPr/>
        </p:nvSpPr>
        <p:spPr>
          <a:xfrm>
            <a:off x="7031736" y="2752344"/>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1" name="Text 99"/>
          <p:cNvSpPr/>
          <p:nvPr/>
        </p:nvSpPr>
        <p:spPr>
          <a:xfrm>
            <a:off x="7031736" y="2752344"/>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4</a:t>
            </a:r>
            <a:endParaRPr lang="en-US" sz="900" dirty="0"/>
          </a:p>
        </p:txBody>
      </p:sp>
      <p:sp>
        <p:nvSpPr>
          <p:cNvPr id="102" name="Text 100"/>
          <p:cNvSpPr/>
          <p:nvPr/>
        </p:nvSpPr>
        <p:spPr>
          <a:xfrm>
            <a:off x="7543800"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103" name="Shape 101"/>
          <p:cNvSpPr/>
          <p:nvPr/>
        </p:nvSpPr>
        <p:spPr>
          <a:xfrm>
            <a:off x="7031736" y="3145536"/>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4" name="Text 102"/>
          <p:cNvSpPr/>
          <p:nvPr/>
        </p:nvSpPr>
        <p:spPr>
          <a:xfrm>
            <a:off x="7031736" y="3145536"/>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5</a:t>
            </a:r>
            <a:endParaRPr lang="en-US" sz="900" dirty="0"/>
          </a:p>
        </p:txBody>
      </p:sp>
      <p:sp>
        <p:nvSpPr>
          <p:cNvPr id="105" name="Text 103"/>
          <p:cNvSpPr/>
          <p:nvPr/>
        </p:nvSpPr>
        <p:spPr>
          <a:xfrm>
            <a:off x="7543800"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106" name="Shape 104"/>
          <p:cNvSpPr/>
          <p:nvPr/>
        </p:nvSpPr>
        <p:spPr>
          <a:xfrm>
            <a:off x="7031736" y="353872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7" name="Text 105"/>
          <p:cNvSpPr/>
          <p:nvPr/>
        </p:nvSpPr>
        <p:spPr>
          <a:xfrm>
            <a:off x="7031736" y="353872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6</a:t>
            </a:r>
            <a:endParaRPr lang="en-US" sz="900" dirty="0"/>
          </a:p>
        </p:txBody>
      </p:sp>
      <p:sp>
        <p:nvSpPr>
          <p:cNvPr id="108" name="Text 106"/>
          <p:cNvSpPr/>
          <p:nvPr/>
        </p:nvSpPr>
        <p:spPr>
          <a:xfrm>
            <a:off x="7543800"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109" name="Shape 107"/>
          <p:cNvSpPr/>
          <p:nvPr/>
        </p:nvSpPr>
        <p:spPr>
          <a:xfrm>
            <a:off x="7031736" y="393192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0" name="Text 108"/>
          <p:cNvSpPr/>
          <p:nvPr/>
        </p:nvSpPr>
        <p:spPr>
          <a:xfrm>
            <a:off x="7031736" y="393192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7</a:t>
            </a:r>
            <a:endParaRPr lang="en-US" sz="900" dirty="0"/>
          </a:p>
        </p:txBody>
      </p:sp>
      <p:sp>
        <p:nvSpPr>
          <p:cNvPr id="111" name="Text 109"/>
          <p:cNvSpPr/>
          <p:nvPr/>
        </p:nvSpPr>
        <p:spPr>
          <a:xfrm>
            <a:off x="7543800"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
        <p:nvSpPr>
          <p:cNvPr id="112" name="Shape 110"/>
          <p:cNvSpPr/>
          <p:nvPr/>
        </p:nvSpPr>
        <p:spPr>
          <a:xfrm>
            <a:off x="7031736" y="432511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3" name="Text 111"/>
          <p:cNvSpPr/>
          <p:nvPr/>
        </p:nvSpPr>
        <p:spPr>
          <a:xfrm>
            <a:off x="7031736" y="432511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8</a:t>
            </a:r>
            <a:endParaRPr lang="en-US" sz="900" dirty="0"/>
          </a:p>
        </p:txBody>
      </p:sp>
      <p:sp>
        <p:nvSpPr>
          <p:cNvPr id="114" name="Text 112"/>
          <p:cNvSpPr/>
          <p:nvPr/>
        </p:nvSpPr>
        <p:spPr>
          <a:xfrm>
            <a:off x="7543800"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sorted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WORKED EXAMPLE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Worked Example — One Pass in Detail</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One full pass over  [5, 2, 8, 1]  — every comparison, every swap</a:t>
            </a:r>
            <a:endParaRPr lang="en-US" sz="1300" dirty="0"/>
          </a:p>
        </p:txBody>
      </p:sp>
      <p:sp>
        <p:nvSpPr>
          <p:cNvPr id="7" name="Shape 5"/>
          <p:cNvSpPr/>
          <p:nvPr/>
        </p:nvSpPr>
        <p:spPr>
          <a:xfrm>
            <a:off x="411480" y="1170432"/>
            <a:ext cx="8321040" cy="13716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83210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48640" y="1216152"/>
            <a:ext cx="80467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Pass Pipeline</a:t>
            </a:r>
            <a:endParaRPr lang="en-US" sz="1100" dirty="0"/>
          </a:p>
        </p:txBody>
      </p:sp>
      <p:sp>
        <p:nvSpPr>
          <p:cNvPr id="10" name="Shape 8"/>
          <p:cNvSpPr/>
          <p:nvPr/>
        </p:nvSpPr>
        <p:spPr>
          <a:xfrm>
            <a:off x="548640" y="1591056"/>
            <a:ext cx="1261872" cy="658368"/>
          </a:xfrm>
          <a:prstGeom prst="rect">
            <a:avLst/>
          </a:prstGeom>
          <a:solidFill>
            <a:srgbClr val="3FD9C4">
              <a:alpha val="28000"/>
            </a:srgbClr>
          </a:solidFill>
          <a:ln w="15240">
            <a:solidFill>
              <a:srgbClr val="3FD9C4"/>
            </a:solidFill>
            <a:prstDash val="solid"/>
          </a:ln>
        </p:spPr>
        <p:txBody>
          <a:bodyPr/>
          <a:lstStyle/>
          <a:p>
            <a:endParaRPr lang="en-US"/>
          </a:p>
        </p:txBody>
      </p:sp>
      <p:sp>
        <p:nvSpPr>
          <p:cNvPr id="11" name="Text 9"/>
          <p:cNvSpPr/>
          <p:nvPr/>
        </p:nvSpPr>
        <p:spPr>
          <a:xfrm>
            <a:off x="548640" y="1591056"/>
            <a:ext cx="1261872" cy="658368"/>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[5, 2, 8, 1]</a:t>
            </a:r>
            <a:endParaRPr lang="en-US" sz="950" dirty="0"/>
          </a:p>
        </p:txBody>
      </p:sp>
      <p:sp>
        <p:nvSpPr>
          <p:cNvPr id="12" name="Shape 10"/>
          <p:cNvSpPr/>
          <p:nvPr/>
        </p:nvSpPr>
        <p:spPr>
          <a:xfrm>
            <a:off x="1810512"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3" name="Shape 11"/>
          <p:cNvSpPr/>
          <p:nvPr/>
        </p:nvSpPr>
        <p:spPr>
          <a:xfrm>
            <a:off x="1938528" y="1591056"/>
            <a:ext cx="1261872" cy="658368"/>
          </a:xfrm>
          <a:prstGeom prst="rect">
            <a:avLst/>
          </a:prstGeom>
          <a:solidFill>
            <a:srgbClr val="58A6FF">
              <a:alpha val="28000"/>
            </a:srgbClr>
          </a:solidFill>
          <a:ln w="15240">
            <a:solidFill>
              <a:srgbClr val="58A6FF"/>
            </a:solidFill>
            <a:prstDash val="solid"/>
          </a:ln>
        </p:spPr>
        <p:txBody>
          <a:bodyPr/>
          <a:lstStyle/>
          <a:p>
            <a:endParaRPr lang="en-US"/>
          </a:p>
        </p:txBody>
      </p:sp>
      <p:sp>
        <p:nvSpPr>
          <p:cNvPr id="14" name="Text 12"/>
          <p:cNvSpPr/>
          <p:nvPr/>
        </p:nvSpPr>
        <p:spPr>
          <a:xfrm>
            <a:off x="1938528" y="1591056"/>
            <a:ext cx="1261872" cy="658368"/>
          </a:xfrm>
          <a:prstGeom prst="rect">
            <a:avLst/>
          </a:prstGeom>
          <a:noFill/>
          <a:ln/>
        </p:spPr>
        <p:txBody>
          <a:bodyPr wrap="square" lIns="0" tIns="0" rIns="0" bIns="0" rtlCol="0" anchor="ctr"/>
          <a:lstStyle/>
          <a:p>
            <a:pPr marL="0" indent="0" algn="ctr">
              <a:buNone/>
            </a:pPr>
            <a:r>
              <a:rPr lang="en-US" sz="950" b="1" dirty="0">
                <a:solidFill>
                  <a:srgbClr val="58A6FF"/>
                </a:solidFill>
                <a:latin typeface="Calibri" pitchFamily="34" charset="0"/>
                <a:ea typeface="Calibri" pitchFamily="34" charset="-122"/>
                <a:cs typeface="Calibri" pitchFamily="34" charset="-120"/>
              </a:rPr>
              <a:t>5 &gt; 2: swap</a:t>
            </a:r>
            <a:endParaRPr lang="en-US" sz="950" dirty="0"/>
          </a:p>
        </p:txBody>
      </p:sp>
      <p:sp>
        <p:nvSpPr>
          <p:cNvPr id="15" name="Shape 13"/>
          <p:cNvSpPr/>
          <p:nvPr/>
        </p:nvSpPr>
        <p:spPr>
          <a:xfrm>
            <a:off x="3200400"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6" name="Shape 14"/>
          <p:cNvSpPr/>
          <p:nvPr/>
        </p:nvSpPr>
        <p:spPr>
          <a:xfrm>
            <a:off x="3328416" y="1591056"/>
            <a:ext cx="1261872" cy="658368"/>
          </a:xfrm>
          <a:prstGeom prst="rect">
            <a:avLst/>
          </a:prstGeom>
          <a:solidFill>
            <a:srgbClr val="BC8CFF">
              <a:alpha val="28000"/>
            </a:srgbClr>
          </a:solidFill>
          <a:ln w="15240">
            <a:solidFill>
              <a:srgbClr val="BC8CFF"/>
            </a:solidFill>
            <a:prstDash val="solid"/>
          </a:ln>
        </p:spPr>
        <p:txBody>
          <a:bodyPr/>
          <a:lstStyle/>
          <a:p>
            <a:endParaRPr lang="en-US"/>
          </a:p>
        </p:txBody>
      </p:sp>
      <p:sp>
        <p:nvSpPr>
          <p:cNvPr id="17" name="Text 15"/>
          <p:cNvSpPr/>
          <p:nvPr/>
        </p:nvSpPr>
        <p:spPr>
          <a:xfrm>
            <a:off x="3328416" y="1591056"/>
            <a:ext cx="1261872" cy="658368"/>
          </a:xfrm>
          <a:prstGeom prst="rect">
            <a:avLst/>
          </a:prstGeom>
          <a:noFill/>
          <a:ln/>
        </p:spPr>
        <p:txBody>
          <a:bodyPr wrap="square" lIns="0" tIns="0" rIns="0" bIns="0" rtlCol="0" anchor="ctr"/>
          <a:lstStyle/>
          <a:p>
            <a:pPr marL="0" indent="0" algn="ctr">
              <a:buNone/>
            </a:pPr>
            <a:r>
              <a:rPr lang="en-US" sz="950" b="1" dirty="0">
                <a:solidFill>
                  <a:srgbClr val="BC8CFF"/>
                </a:solidFill>
                <a:latin typeface="Calibri" pitchFamily="34" charset="0"/>
                <a:ea typeface="Calibri" pitchFamily="34" charset="-122"/>
                <a:cs typeface="Calibri" pitchFamily="34" charset="-120"/>
              </a:rPr>
              <a:t>[2, 5, 8, 1]</a:t>
            </a:r>
            <a:endParaRPr lang="en-US" sz="950" dirty="0"/>
          </a:p>
        </p:txBody>
      </p:sp>
      <p:sp>
        <p:nvSpPr>
          <p:cNvPr id="18" name="Shape 16"/>
          <p:cNvSpPr/>
          <p:nvPr/>
        </p:nvSpPr>
        <p:spPr>
          <a:xfrm>
            <a:off x="4590288"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9" name="Shape 17"/>
          <p:cNvSpPr/>
          <p:nvPr/>
        </p:nvSpPr>
        <p:spPr>
          <a:xfrm>
            <a:off x="4718304" y="1591056"/>
            <a:ext cx="1261872" cy="658368"/>
          </a:xfrm>
          <a:prstGeom prst="rect">
            <a:avLst/>
          </a:prstGeom>
          <a:solidFill>
            <a:srgbClr val="FFA657">
              <a:alpha val="28000"/>
            </a:srgbClr>
          </a:solidFill>
          <a:ln w="15240">
            <a:solidFill>
              <a:srgbClr val="FFA657"/>
            </a:solidFill>
            <a:prstDash val="solid"/>
          </a:ln>
        </p:spPr>
        <p:txBody>
          <a:bodyPr/>
          <a:lstStyle/>
          <a:p>
            <a:endParaRPr lang="en-US"/>
          </a:p>
        </p:txBody>
      </p:sp>
      <p:sp>
        <p:nvSpPr>
          <p:cNvPr id="20" name="Text 18"/>
          <p:cNvSpPr/>
          <p:nvPr/>
        </p:nvSpPr>
        <p:spPr>
          <a:xfrm>
            <a:off x="4718304" y="1591056"/>
            <a:ext cx="1261872" cy="658368"/>
          </a:xfrm>
          <a:prstGeom prst="rect">
            <a:avLst/>
          </a:prstGeom>
          <a:noFill/>
          <a:ln/>
        </p:spPr>
        <p:txBody>
          <a:bodyPr wrap="square" lIns="0" tIns="0" rIns="0" bIns="0" rtlCol="0" anchor="ctr"/>
          <a:lstStyle/>
          <a:p>
            <a:pPr marL="0" indent="0" algn="ctr">
              <a:buNone/>
            </a:pPr>
            <a:r>
              <a:rPr lang="en-US" sz="950" b="1" dirty="0">
                <a:solidFill>
                  <a:srgbClr val="FFA657"/>
                </a:solidFill>
                <a:latin typeface="Calibri" pitchFamily="34" charset="0"/>
                <a:ea typeface="Calibri" pitchFamily="34" charset="-122"/>
                <a:cs typeface="Calibri" pitchFamily="34" charset="-120"/>
              </a:rPr>
              <a:t>5 &lt; 8: keep</a:t>
            </a:r>
            <a:endParaRPr lang="en-US" sz="950" dirty="0"/>
          </a:p>
        </p:txBody>
      </p:sp>
      <p:sp>
        <p:nvSpPr>
          <p:cNvPr id="21" name="Shape 19"/>
          <p:cNvSpPr/>
          <p:nvPr/>
        </p:nvSpPr>
        <p:spPr>
          <a:xfrm>
            <a:off x="5980176"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2" name="Shape 20"/>
          <p:cNvSpPr/>
          <p:nvPr/>
        </p:nvSpPr>
        <p:spPr>
          <a:xfrm>
            <a:off x="6108192" y="1591056"/>
            <a:ext cx="1261872" cy="658368"/>
          </a:xfrm>
          <a:prstGeom prst="rect">
            <a:avLst/>
          </a:prstGeom>
          <a:solidFill>
            <a:srgbClr val="E3B341">
              <a:alpha val="28000"/>
            </a:srgbClr>
          </a:solidFill>
          <a:ln w="15240">
            <a:solidFill>
              <a:srgbClr val="E3B341"/>
            </a:solidFill>
            <a:prstDash val="solid"/>
          </a:ln>
        </p:spPr>
        <p:txBody>
          <a:bodyPr/>
          <a:lstStyle/>
          <a:p>
            <a:endParaRPr lang="en-US"/>
          </a:p>
        </p:txBody>
      </p:sp>
      <p:sp>
        <p:nvSpPr>
          <p:cNvPr id="23" name="Text 21"/>
          <p:cNvSpPr/>
          <p:nvPr/>
        </p:nvSpPr>
        <p:spPr>
          <a:xfrm>
            <a:off x="6108192" y="1591056"/>
            <a:ext cx="1261872" cy="658368"/>
          </a:xfrm>
          <a:prstGeom prst="rect">
            <a:avLst/>
          </a:prstGeom>
          <a:noFill/>
          <a:ln/>
        </p:spPr>
        <p:txBody>
          <a:bodyPr wrap="square" lIns="0" tIns="0" rIns="0" bIns="0" rtlCol="0" anchor="ctr"/>
          <a:lstStyle/>
          <a:p>
            <a:pPr marL="0" indent="0" algn="ctr">
              <a:buNone/>
            </a:pPr>
            <a:r>
              <a:rPr lang="en-US" sz="950" b="1" dirty="0">
                <a:solidFill>
                  <a:srgbClr val="E3B341"/>
                </a:solidFill>
                <a:latin typeface="Calibri" pitchFamily="34" charset="0"/>
                <a:ea typeface="Calibri" pitchFamily="34" charset="-122"/>
                <a:cs typeface="Calibri" pitchFamily="34" charset="-120"/>
              </a:rPr>
              <a:t>8 &gt; 1: swap</a:t>
            </a:r>
            <a:endParaRPr lang="en-US" sz="950" dirty="0"/>
          </a:p>
        </p:txBody>
      </p:sp>
      <p:sp>
        <p:nvSpPr>
          <p:cNvPr id="24" name="Shape 22"/>
          <p:cNvSpPr/>
          <p:nvPr/>
        </p:nvSpPr>
        <p:spPr>
          <a:xfrm>
            <a:off x="7370064"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5" name="Shape 23"/>
          <p:cNvSpPr/>
          <p:nvPr/>
        </p:nvSpPr>
        <p:spPr>
          <a:xfrm>
            <a:off x="7498080" y="1591056"/>
            <a:ext cx="1261872" cy="658368"/>
          </a:xfrm>
          <a:prstGeom prst="rect">
            <a:avLst/>
          </a:prstGeom>
          <a:solidFill>
            <a:srgbClr val="3FB950">
              <a:alpha val="28000"/>
            </a:srgbClr>
          </a:solidFill>
          <a:ln w="15240">
            <a:solidFill>
              <a:srgbClr val="3FB950"/>
            </a:solidFill>
            <a:prstDash val="solid"/>
          </a:ln>
        </p:spPr>
        <p:txBody>
          <a:bodyPr/>
          <a:lstStyle/>
          <a:p>
            <a:endParaRPr lang="en-US"/>
          </a:p>
        </p:txBody>
      </p:sp>
      <p:sp>
        <p:nvSpPr>
          <p:cNvPr id="26" name="Text 24"/>
          <p:cNvSpPr/>
          <p:nvPr/>
        </p:nvSpPr>
        <p:spPr>
          <a:xfrm>
            <a:off x="7498080" y="1591056"/>
            <a:ext cx="1261872" cy="658368"/>
          </a:xfrm>
          <a:prstGeom prst="rect">
            <a:avLst/>
          </a:prstGeom>
          <a:noFill/>
          <a:ln/>
        </p:spPr>
        <p:txBody>
          <a:bodyPr wrap="square" lIns="0" tIns="0" rIns="0" bIns="0" rtlCol="0" anchor="ctr"/>
          <a:lstStyle/>
          <a:p>
            <a:pPr marL="0" indent="0" algn="ctr">
              <a:buNone/>
            </a:pPr>
            <a:r>
              <a:rPr lang="en-US" sz="950" b="1" dirty="0">
                <a:solidFill>
                  <a:srgbClr val="3FB950"/>
                </a:solidFill>
                <a:latin typeface="Calibri" pitchFamily="34" charset="0"/>
                <a:ea typeface="Calibri" pitchFamily="34" charset="-122"/>
                <a:cs typeface="Calibri" pitchFamily="34" charset="-120"/>
              </a:rPr>
              <a:t>[2, 5, 1, 8]</a:t>
            </a:r>
            <a:endParaRPr lang="en-US" sz="950" dirty="0"/>
          </a:p>
        </p:txBody>
      </p:sp>
      <p:sp>
        <p:nvSpPr>
          <p:cNvPr id="27" name="Shape 25"/>
          <p:cNvSpPr/>
          <p:nvPr/>
        </p:nvSpPr>
        <p:spPr>
          <a:xfrm>
            <a:off x="411480" y="2670048"/>
            <a:ext cx="4160520" cy="1755648"/>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411480" y="2670048"/>
            <a:ext cx="41605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29" name="Text 27"/>
          <p:cNvSpPr/>
          <p:nvPr/>
        </p:nvSpPr>
        <p:spPr>
          <a:xfrm>
            <a:off x="548640" y="2715768"/>
            <a:ext cx="3895344"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Step-by-Step Trace</a:t>
            </a:r>
            <a:endParaRPr lang="en-US" sz="1100" dirty="0"/>
          </a:p>
        </p:txBody>
      </p:sp>
      <p:sp>
        <p:nvSpPr>
          <p:cNvPr id="30" name="Text 28"/>
          <p:cNvSpPr/>
          <p:nvPr/>
        </p:nvSpPr>
        <p:spPr>
          <a:xfrm>
            <a:off x="548640" y="3017520"/>
            <a:ext cx="3895344" cy="201168"/>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1. INPUT: list = [5, 2, 8, 1].   length = 4</a:t>
            </a:r>
            <a:endParaRPr lang="en-US" sz="950" dirty="0"/>
          </a:p>
        </p:txBody>
      </p:sp>
      <p:sp>
        <p:nvSpPr>
          <p:cNvPr id="31" name="Text 29"/>
          <p:cNvSpPr/>
          <p:nvPr/>
        </p:nvSpPr>
        <p:spPr>
          <a:xfrm>
            <a:off x="548640" y="322326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2. SET swapped = false.   Begin pass at i = 0.</a:t>
            </a:r>
            <a:endParaRPr lang="en-US" sz="950" dirty="0"/>
          </a:p>
        </p:txBody>
      </p:sp>
      <p:sp>
        <p:nvSpPr>
          <p:cNvPr id="32" name="Text 30"/>
          <p:cNvSpPr/>
          <p:nvPr/>
        </p:nvSpPr>
        <p:spPr>
          <a:xfrm>
            <a:off x="548640" y="342900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3. i = 0: 5, 2.   5 &gt; 2 → SWAP. → [2, 5, 8, 1]</a:t>
            </a:r>
            <a:endParaRPr lang="en-US" sz="950" dirty="0"/>
          </a:p>
        </p:txBody>
      </p:sp>
      <p:sp>
        <p:nvSpPr>
          <p:cNvPr id="33" name="Text 31"/>
          <p:cNvSpPr/>
          <p:nvPr/>
        </p:nvSpPr>
        <p:spPr>
          <a:xfrm>
            <a:off x="548640" y="363474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4. i = 1: 5, 8.   5 &lt; 8 → keep. → [2, 5, 8, 1]</a:t>
            </a:r>
            <a:endParaRPr lang="en-US" sz="950" dirty="0"/>
          </a:p>
        </p:txBody>
      </p:sp>
      <p:sp>
        <p:nvSpPr>
          <p:cNvPr id="34" name="Text 32"/>
          <p:cNvSpPr/>
          <p:nvPr/>
        </p:nvSpPr>
        <p:spPr>
          <a:xfrm>
            <a:off x="548640" y="384048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5. i = 2: 8, 1.   8 &gt; 1 → SWAP. → [2, 5, 1, 8]</a:t>
            </a:r>
            <a:endParaRPr lang="en-US" sz="950" dirty="0"/>
          </a:p>
        </p:txBody>
      </p:sp>
      <p:sp>
        <p:nvSpPr>
          <p:cNvPr id="35" name="Text 33"/>
          <p:cNvSpPr/>
          <p:nvPr/>
        </p:nvSpPr>
        <p:spPr>
          <a:xfrm>
            <a:off x="548640" y="404622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6. End of pass. swapped = true → another pass.</a:t>
            </a:r>
            <a:endParaRPr lang="en-US" sz="950" dirty="0"/>
          </a:p>
        </p:txBody>
      </p:sp>
      <p:sp>
        <p:nvSpPr>
          <p:cNvPr id="36" name="Text 34"/>
          <p:cNvSpPr/>
          <p:nvPr/>
        </p:nvSpPr>
        <p:spPr>
          <a:xfrm>
            <a:off x="548640" y="4251960"/>
            <a:ext cx="3895344" cy="201168"/>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7. Result: 8 reached the end. 3 compares, 2 swaps.</a:t>
            </a:r>
            <a:endParaRPr lang="en-US" sz="950" dirty="0"/>
          </a:p>
        </p:txBody>
      </p:sp>
      <p:sp>
        <p:nvSpPr>
          <p:cNvPr id="37" name="Shape 35"/>
          <p:cNvSpPr/>
          <p:nvPr/>
        </p:nvSpPr>
        <p:spPr>
          <a:xfrm>
            <a:off x="4663440" y="2670048"/>
            <a:ext cx="4069080" cy="1755648"/>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38" name="Shape 36"/>
          <p:cNvSpPr/>
          <p:nvPr/>
        </p:nvSpPr>
        <p:spPr>
          <a:xfrm>
            <a:off x="4663440" y="2670048"/>
            <a:ext cx="406908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9" name="Text 37"/>
          <p:cNvSpPr/>
          <p:nvPr/>
        </p:nvSpPr>
        <p:spPr>
          <a:xfrm>
            <a:off x="4800600" y="2715768"/>
            <a:ext cx="3803904"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Counting the Work</a:t>
            </a:r>
            <a:endParaRPr lang="en-US" sz="1100" dirty="0"/>
          </a:p>
        </p:txBody>
      </p:sp>
      <p:sp>
        <p:nvSpPr>
          <p:cNvPr id="40" name="Text 38"/>
          <p:cNvSpPr/>
          <p:nvPr/>
        </p:nvSpPr>
        <p:spPr>
          <a:xfrm>
            <a:off x="4800600" y="3017520"/>
            <a:ext cx="3803904" cy="502920"/>
          </a:xfrm>
          <a:prstGeom prst="rect">
            <a:avLst/>
          </a:prstGeom>
          <a:noFill/>
          <a:ln/>
        </p:spPr>
        <p:txBody>
          <a:bodyPr wrap="square" lIns="0" tIns="0" rIns="0" bIns="0" rtlCol="0" anchor="ctr"/>
          <a:lstStyle/>
          <a:p>
            <a:pPr marL="0" indent="0">
              <a:buNone/>
            </a:pPr>
            <a:r>
              <a:rPr lang="en-US" sz="1050" b="1" dirty="0">
                <a:solidFill>
                  <a:srgbClr val="3FB950"/>
                </a:solidFill>
                <a:latin typeface="Calibri" pitchFamily="34" charset="0"/>
                <a:ea typeface="Calibri" pitchFamily="34" charset="-122"/>
                <a:cs typeface="Calibri" pitchFamily="34" charset="-120"/>
              </a:rPr>
              <a:t>This pass:  </a:t>
            </a:r>
            <a:r>
              <a:rPr lang="en-US" sz="1050" dirty="0">
                <a:solidFill>
                  <a:srgbClr val="F0F6FC"/>
                </a:solidFill>
                <a:latin typeface="Calibri" pitchFamily="34" charset="0"/>
                <a:ea typeface="Calibri" pitchFamily="34" charset="-122"/>
                <a:cs typeface="Calibri" pitchFamily="34" charset="-120"/>
              </a:rPr>
              <a:t>3 comparisons (length - 1) and 2 swaps. The largest value, 8, made it to position 3 — its final, sorted home.</a:t>
            </a:r>
            <a:endParaRPr lang="en-US" sz="1050" dirty="0"/>
          </a:p>
        </p:txBody>
      </p:sp>
      <p:sp>
        <p:nvSpPr>
          <p:cNvPr id="41" name="Text 39"/>
          <p:cNvSpPr/>
          <p:nvPr/>
        </p:nvSpPr>
        <p:spPr>
          <a:xfrm>
            <a:off x="4800600" y="3566160"/>
            <a:ext cx="3803904" cy="594360"/>
          </a:xfrm>
          <a:prstGeom prst="rect">
            <a:avLst/>
          </a:prstGeom>
          <a:noFill/>
          <a:ln/>
        </p:spPr>
        <p:txBody>
          <a:bodyPr wrap="square" lIns="0" tIns="0" rIns="0" bIns="0" rtlCol="0" anchor="ctr"/>
          <a:lstStyle/>
          <a:p>
            <a:pPr marL="0" indent="0">
              <a:buNone/>
            </a:pPr>
            <a:r>
              <a:rPr lang="en-US" sz="1050" b="1" dirty="0">
                <a:solidFill>
                  <a:srgbClr val="F85149"/>
                </a:solidFill>
                <a:latin typeface="Calibri" pitchFamily="34" charset="0"/>
                <a:ea typeface="Calibri" pitchFamily="34" charset="-122"/>
                <a:cs typeface="Calibri" pitchFamily="34" charset="-120"/>
              </a:rPr>
              <a:t>What is left:  </a:t>
            </a:r>
            <a:r>
              <a:rPr lang="en-US" sz="1050" dirty="0">
                <a:solidFill>
                  <a:srgbClr val="F0F6FC"/>
                </a:solidFill>
                <a:latin typeface="Calibri" pitchFamily="34" charset="0"/>
                <a:ea typeface="Calibri" pitchFamily="34" charset="-122"/>
                <a:cs typeface="Calibri" pitchFamily="34" charset="-120"/>
              </a:rPr>
              <a:t>The first three positions [2, 5, 1] are still unsorted. Pass 2 will work on those, since 8 is already locked in place.</a:t>
            </a:r>
            <a:endParaRPr lang="en-US" sz="1050" dirty="0"/>
          </a:p>
        </p:txBody>
      </p:sp>
      <p:sp>
        <p:nvSpPr>
          <p:cNvPr id="42" name="Text 40"/>
          <p:cNvSpPr/>
          <p:nvPr/>
        </p:nvSpPr>
        <p:spPr>
          <a:xfrm>
            <a:off x="4800600" y="4206240"/>
            <a:ext cx="3803904" cy="18288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Input: [5, 2, 8, 1]  ·  </a:t>
            </a:r>
            <a:r>
              <a:rPr lang="en-US" sz="1000" dirty="0">
                <a:solidFill>
                  <a:srgbClr val="3FD9C4"/>
                </a:solidFill>
                <a:latin typeface="Calibri" pitchFamily="34" charset="0"/>
                <a:ea typeface="Calibri" pitchFamily="34" charset="-122"/>
                <a:cs typeface="Calibri" pitchFamily="34" charset="-120"/>
              </a:rPr>
              <a:t>Compares: 3  ·  </a:t>
            </a:r>
            <a:r>
              <a:rPr lang="en-US" sz="1000" dirty="0">
                <a:solidFill>
                  <a:srgbClr val="3FB950"/>
                </a:solidFill>
                <a:latin typeface="Calibri" pitchFamily="34" charset="0"/>
                <a:ea typeface="Calibri" pitchFamily="34" charset="-122"/>
                <a:cs typeface="Calibri" pitchFamily="34" charset="-120"/>
              </a:rPr>
              <a:t>Swaps: 2</a:t>
            </a:r>
            <a:endParaRPr lang="en-US" sz="1000" dirty="0"/>
          </a:p>
        </p:txBody>
      </p:sp>
      <p:sp>
        <p:nvSpPr>
          <p:cNvPr id="43" name="Shape 41"/>
          <p:cNvSpPr/>
          <p:nvPr/>
        </p:nvSpPr>
        <p:spPr>
          <a:xfrm>
            <a:off x="365760" y="4572000"/>
            <a:ext cx="8412480" cy="384048"/>
          </a:xfrm>
          <a:prstGeom prst="rect">
            <a:avLst/>
          </a:prstGeom>
          <a:solidFill>
            <a:srgbClr val="0A1020"/>
          </a:solidFill>
          <a:ln w="12700">
            <a:solidFill>
              <a:srgbClr val="3FD9C4"/>
            </a:solidFill>
            <a:prstDash val="solid"/>
          </a:ln>
        </p:spPr>
        <p:txBody>
          <a:bodyPr/>
          <a:lstStyle/>
          <a:p>
            <a:endParaRPr lang="en-US"/>
          </a:p>
        </p:txBody>
      </p:sp>
      <p:sp>
        <p:nvSpPr>
          <p:cNvPr id="44" name="Text 42"/>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The pattern:  </a:t>
            </a:r>
            <a:r>
              <a:rPr lang="en-US" sz="1100" dirty="0">
                <a:solidFill>
                  <a:srgbClr val="F0F6FC"/>
                </a:solidFill>
                <a:latin typeface="Calibri" pitchFamily="34" charset="0"/>
                <a:ea typeface="Calibri" pitchFamily="34" charset="-122"/>
                <a:cs typeface="Calibri" pitchFamily="34" charset="-120"/>
              </a:rPr>
              <a:t>Each pass guarantees the largest unsorted value reaches its final position. After at most N-1 passes through a list of N items, every item is in its right place.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PERFORMANCE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How Fast is Bubble Sort?</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numbers behind it, plus where it shines and where it does not</a:t>
            </a:r>
            <a:endParaRPr lang="en-US" sz="1300" dirty="0"/>
          </a:p>
        </p:txBody>
      </p:sp>
      <p:sp>
        <p:nvSpPr>
          <p:cNvPr id="7" name="Shape 5"/>
          <p:cNvSpPr/>
          <p:nvPr/>
        </p:nvSpPr>
        <p:spPr>
          <a:xfrm>
            <a:off x="411480" y="1170432"/>
            <a:ext cx="2048256" cy="17830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21208"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Best Case</a:t>
            </a:r>
            <a:endParaRPr lang="en-US" sz="1100" dirty="0"/>
          </a:p>
        </p:txBody>
      </p:sp>
      <p:sp>
        <p:nvSpPr>
          <p:cNvPr id="10" name="Text 8"/>
          <p:cNvSpPr/>
          <p:nvPr/>
        </p:nvSpPr>
        <p:spPr>
          <a:xfrm>
            <a:off x="521208"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lucky scenario.</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List is already sorted.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1 pass, no swaps, exit.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Notation: O(N) — linear.</a:t>
            </a:r>
            <a:endParaRPr lang="en-US" sz="1000" dirty="0"/>
          </a:p>
        </p:txBody>
      </p:sp>
      <p:sp>
        <p:nvSpPr>
          <p:cNvPr id="11" name="Shape 9"/>
          <p:cNvSpPr/>
          <p:nvPr/>
        </p:nvSpPr>
        <p:spPr>
          <a:xfrm>
            <a:off x="2587752" y="1170432"/>
            <a:ext cx="2048256" cy="17830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2" name="Shape 10"/>
          <p:cNvSpPr/>
          <p:nvPr/>
        </p:nvSpPr>
        <p:spPr>
          <a:xfrm>
            <a:off x="2587752"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3" name="Text 11"/>
          <p:cNvSpPr/>
          <p:nvPr/>
        </p:nvSpPr>
        <p:spPr>
          <a:xfrm>
            <a:off x="2697480"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Worst Case</a:t>
            </a:r>
            <a:endParaRPr lang="en-US" sz="1100" dirty="0"/>
          </a:p>
        </p:txBody>
      </p:sp>
      <p:sp>
        <p:nvSpPr>
          <p:cNvPr id="14" name="Text 12"/>
          <p:cNvSpPr/>
          <p:nvPr/>
        </p:nvSpPr>
        <p:spPr>
          <a:xfrm>
            <a:off x="2697480"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unlucky scenario.</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List is in reverse order.</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About N² comparisons.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Notation: O(N²).</a:t>
            </a:r>
            <a:endParaRPr lang="en-US" sz="1000" dirty="0"/>
          </a:p>
        </p:txBody>
      </p:sp>
      <p:sp>
        <p:nvSpPr>
          <p:cNvPr id="15" name="Shape 13"/>
          <p:cNvSpPr/>
          <p:nvPr/>
        </p:nvSpPr>
        <p:spPr>
          <a:xfrm>
            <a:off x="4764024" y="1170432"/>
            <a:ext cx="2048256" cy="17830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6" name="Shape 14"/>
          <p:cNvSpPr/>
          <p:nvPr/>
        </p:nvSpPr>
        <p:spPr>
          <a:xfrm>
            <a:off x="4764024"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7" name="Text 15"/>
          <p:cNvSpPr/>
          <p:nvPr/>
        </p:nvSpPr>
        <p:spPr>
          <a:xfrm>
            <a:off x="4873752"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Average Case</a:t>
            </a:r>
            <a:endParaRPr lang="en-US" sz="1100" dirty="0"/>
          </a:p>
        </p:txBody>
      </p:sp>
      <p:sp>
        <p:nvSpPr>
          <p:cNvPr id="18" name="Text 16"/>
          <p:cNvSpPr/>
          <p:nvPr/>
        </p:nvSpPr>
        <p:spPr>
          <a:xfrm>
            <a:off x="4873752"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realistic scenario.</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Random order, mixed cases.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Still about N²/2 work.</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Notation: O(N²).</a:t>
            </a:r>
            <a:endParaRPr lang="en-US" sz="1000" dirty="0"/>
          </a:p>
        </p:txBody>
      </p:sp>
      <p:sp>
        <p:nvSpPr>
          <p:cNvPr id="19" name="Shape 17"/>
          <p:cNvSpPr/>
          <p:nvPr/>
        </p:nvSpPr>
        <p:spPr>
          <a:xfrm>
            <a:off x="6940296" y="1170432"/>
            <a:ext cx="2048256" cy="17830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0" name="Shape 18"/>
          <p:cNvSpPr/>
          <p:nvPr/>
        </p:nvSpPr>
        <p:spPr>
          <a:xfrm>
            <a:off x="6940296"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1" name="Text 19"/>
          <p:cNvSpPr/>
          <p:nvPr/>
        </p:nvSpPr>
        <p:spPr>
          <a:xfrm>
            <a:off x="7050024"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What is O(N²)?</a:t>
            </a:r>
            <a:endParaRPr lang="en-US" sz="1100" dirty="0"/>
          </a:p>
        </p:txBody>
      </p:sp>
      <p:sp>
        <p:nvSpPr>
          <p:cNvPr id="22" name="Text 20"/>
          <p:cNvSpPr/>
          <p:nvPr/>
        </p:nvSpPr>
        <p:spPr>
          <a:xfrm>
            <a:off x="7050024"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Big-O simplified.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If you double the list,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the work goes up 4 times.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It scales poorly.</a:t>
            </a:r>
            <a:endParaRPr lang="en-US" sz="1000" dirty="0"/>
          </a:p>
        </p:txBody>
      </p:sp>
      <p:sp>
        <p:nvSpPr>
          <p:cNvPr id="23" name="Shape 21"/>
          <p:cNvSpPr/>
          <p:nvPr/>
        </p:nvSpPr>
        <p:spPr>
          <a:xfrm>
            <a:off x="411480" y="3072384"/>
            <a:ext cx="2048256" cy="17830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24" name="Shape 22"/>
          <p:cNvSpPr/>
          <p:nvPr/>
        </p:nvSpPr>
        <p:spPr>
          <a:xfrm>
            <a:off x="411480" y="3072384"/>
            <a:ext cx="2048256"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25" name="Text 23"/>
          <p:cNvSpPr/>
          <p:nvPr/>
        </p:nvSpPr>
        <p:spPr>
          <a:xfrm>
            <a:off x="521208"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Strengths</a:t>
            </a:r>
            <a:endParaRPr lang="en-US" sz="1100" dirty="0"/>
          </a:p>
        </p:txBody>
      </p:sp>
      <p:sp>
        <p:nvSpPr>
          <p:cNvPr id="26" name="Text 24"/>
          <p:cNvSpPr/>
          <p:nvPr/>
        </p:nvSpPr>
        <p:spPr>
          <a:xfrm>
            <a:off x="521208"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Why we still teach it.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Very simple to write.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Sorts in-place — no extra</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memory needed.</a:t>
            </a:r>
            <a:endParaRPr lang="en-US" sz="1000" dirty="0"/>
          </a:p>
        </p:txBody>
      </p:sp>
      <p:sp>
        <p:nvSpPr>
          <p:cNvPr id="27" name="Shape 25"/>
          <p:cNvSpPr/>
          <p:nvPr/>
        </p:nvSpPr>
        <p:spPr>
          <a:xfrm>
            <a:off x="2587752" y="3072384"/>
            <a:ext cx="2048256" cy="1783080"/>
          </a:xfrm>
          <a:prstGeom prst="rect">
            <a:avLst/>
          </a:prstGeom>
          <a:solidFill>
            <a:srgbClr val="161B26"/>
          </a:solidFill>
          <a:ln w="15240">
            <a:solidFill>
              <a:srgbClr val="F85149"/>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2587752" y="3072384"/>
            <a:ext cx="2048256" cy="329184"/>
          </a:xfrm>
          <a:prstGeom prst="rect">
            <a:avLst/>
          </a:prstGeom>
          <a:solidFill>
            <a:srgbClr val="F85149">
              <a:alpha val="78000"/>
            </a:srgbClr>
          </a:solidFill>
          <a:ln w="12700">
            <a:solidFill>
              <a:srgbClr val="F85149"/>
            </a:solidFill>
            <a:prstDash val="solid"/>
          </a:ln>
        </p:spPr>
        <p:txBody>
          <a:bodyPr/>
          <a:lstStyle/>
          <a:p>
            <a:endParaRPr lang="en-US"/>
          </a:p>
        </p:txBody>
      </p:sp>
      <p:sp>
        <p:nvSpPr>
          <p:cNvPr id="29" name="Text 27"/>
          <p:cNvSpPr/>
          <p:nvPr/>
        </p:nvSpPr>
        <p:spPr>
          <a:xfrm>
            <a:off x="2697480"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Weaknesses</a:t>
            </a:r>
            <a:endParaRPr lang="en-US" sz="1100" dirty="0"/>
          </a:p>
        </p:txBody>
      </p:sp>
      <p:sp>
        <p:nvSpPr>
          <p:cNvPr id="30" name="Text 28"/>
          <p:cNvSpPr/>
          <p:nvPr/>
        </p:nvSpPr>
        <p:spPr>
          <a:xfrm>
            <a:off x="2697480"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Where it falls short.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Slow on big random data.</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Many swaps even when the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list is mostly sorted already.</a:t>
            </a:r>
            <a:endParaRPr lang="en-US" sz="1000" dirty="0"/>
          </a:p>
        </p:txBody>
      </p:sp>
      <p:sp>
        <p:nvSpPr>
          <p:cNvPr id="31" name="Shape 29"/>
          <p:cNvSpPr/>
          <p:nvPr/>
        </p:nvSpPr>
        <p:spPr>
          <a:xfrm>
            <a:off x="4764024" y="3072384"/>
            <a:ext cx="2048256" cy="17830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32" name="Shape 30"/>
          <p:cNvSpPr/>
          <p:nvPr/>
        </p:nvSpPr>
        <p:spPr>
          <a:xfrm>
            <a:off x="4764024" y="3072384"/>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33" name="Text 31"/>
          <p:cNvSpPr/>
          <p:nvPr/>
        </p:nvSpPr>
        <p:spPr>
          <a:xfrm>
            <a:off x="4873752"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Real Numbers</a:t>
            </a:r>
            <a:endParaRPr lang="en-US" sz="1100" dirty="0"/>
          </a:p>
        </p:txBody>
      </p:sp>
      <p:sp>
        <p:nvSpPr>
          <p:cNvPr id="34" name="Text 32"/>
          <p:cNvSpPr/>
          <p:nvPr/>
        </p:nvSpPr>
        <p:spPr>
          <a:xfrm>
            <a:off x="4873752"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Worst-case comparisons.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10 items: ~100 checks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1,000: ~1,000,000 checks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1 million: 10¹² checks!</a:t>
            </a:r>
            <a:endParaRPr lang="en-US" sz="1000" dirty="0"/>
          </a:p>
        </p:txBody>
      </p:sp>
      <p:sp>
        <p:nvSpPr>
          <p:cNvPr id="35" name="Shape 33"/>
          <p:cNvSpPr/>
          <p:nvPr/>
        </p:nvSpPr>
        <p:spPr>
          <a:xfrm>
            <a:off x="6940296" y="3072384"/>
            <a:ext cx="2048256" cy="1783080"/>
          </a:xfrm>
          <a:prstGeom prst="rect">
            <a:avLst/>
          </a:prstGeom>
          <a:solidFill>
            <a:srgbClr val="161B26"/>
          </a:solidFill>
          <a:ln w="15240">
            <a:solidFill>
              <a:srgbClr val="F778BA"/>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6940296" y="3072384"/>
            <a:ext cx="2048256" cy="329184"/>
          </a:xfrm>
          <a:prstGeom prst="rect">
            <a:avLst/>
          </a:prstGeom>
          <a:solidFill>
            <a:srgbClr val="F778BA">
              <a:alpha val="78000"/>
            </a:srgbClr>
          </a:solidFill>
          <a:ln w="12700">
            <a:solidFill>
              <a:srgbClr val="F778BA"/>
            </a:solidFill>
            <a:prstDash val="solid"/>
          </a:ln>
        </p:spPr>
        <p:txBody>
          <a:bodyPr/>
          <a:lstStyle/>
          <a:p>
            <a:endParaRPr lang="en-US"/>
          </a:p>
        </p:txBody>
      </p:sp>
      <p:sp>
        <p:nvSpPr>
          <p:cNvPr id="37" name="Text 35"/>
          <p:cNvSpPr/>
          <p:nvPr/>
        </p:nvSpPr>
        <p:spPr>
          <a:xfrm>
            <a:off x="7050024"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Smart Bubble Sort</a:t>
            </a:r>
            <a:endParaRPr lang="en-US" sz="1100" dirty="0"/>
          </a:p>
        </p:txBody>
      </p:sp>
      <p:sp>
        <p:nvSpPr>
          <p:cNvPr id="38" name="Text 36"/>
          <p:cNvSpPr/>
          <p:nvPr/>
        </p:nvSpPr>
        <p:spPr>
          <a:xfrm>
            <a:off x="7050024"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early-exit trick.</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Track if any swap happened.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Zero swaps in a pass means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the list is already sorted.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38"/>
          <p:cNvSpPr txBox="1">
            <a:spLocks noGrp="1"/>
          </p:cNvSpPr>
          <p:nvPr>
            <p:ph type="title"/>
          </p:nvPr>
        </p:nvSpPr>
        <p:spPr>
          <a:xfrm>
            <a:off x="5548225" y="2230950"/>
            <a:ext cx="3062100" cy="681600"/>
          </a:xfrm>
          <a:prstGeom prst="rect">
            <a:avLst/>
          </a:prstGeom>
        </p:spPr>
        <p:txBody>
          <a:bodyPr spcFirstLastPara="1" wrap="square" lIns="91425" tIns="91425" rIns="91425" bIns="91425" anchor="b" anchorCtr="0">
            <a:normAutofit fontScale="90000"/>
          </a:bodyPr>
          <a:lstStyle/>
          <a:p>
            <a:pPr marL="0" lvl="0" indent="0" algn="r" rtl="0">
              <a:spcBef>
                <a:spcPts val="0"/>
              </a:spcBef>
              <a:spcAft>
                <a:spcPts val="0"/>
              </a:spcAft>
              <a:buNone/>
            </a:pPr>
            <a:r>
              <a:rPr lang="en"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580" name="Google Shape;580;p38"/>
          <p:cNvSpPr txBox="1">
            <a:spLocks noGrp="1"/>
          </p:cNvSpPr>
          <p:nvPr>
            <p:ph type="ctrTitle" idx="4294967295"/>
          </p:nvPr>
        </p:nvSpPr>
        <p:spPr>
          <a:xfrm>
            <a:off x="4166050" y="2870075"/>
            <a:ext cx="4444200" cy="576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SzPts val="990"/>
              <a:buNone/>
            </a:pPr>
            <a:r>
              <a:rPr lang="en" sz="2900" b="1">
                <a:solidFill>
                  <a:schemeClr val="lt1"/>
                </a:solidFill>
                <a:latin typeface="IBM Plex Sans Arabic"/>
                <a:ea typeface="IBM Plex Sans Arabic"/>
                <a:cs typeface="IBM Plex Sans Arabic"/>
                <a:sym typeface="IBM Plex Sans Arabic"/>
              </a:rPr>
              <a:t>THANK YOU</a:t>
            </a:r>
            <a:endParaRPr sz="2900" b="1">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31178</TotalTime>
  <Words>2183</Words>
  <Application>Microsoft Office PowerPoint</Application>
  <PresentationFormat>On-screen Show (16:9)</PresentationFormat>
  <Paragraphs>379</Paragraphs>
  <Slides>15</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IBM Plex Sans Arabic SemiBold</vt:lpstr>
      <vt:lpstr>IBM Plex Sans Arabic</vt:lpstr>
      <vt:lpstr>Consolas</vt:lpstr>
      <vt:lpstr>Tajawal</vt:lpstr>
      <vt:lpstr>IBM Plex Sans Arabic Medium</vt:lpstr>
      <vt:lpstr>Calibri</vt:lpstr>
      <vt:lpstr>Simple Light</vt:lpstr>
      <vt:lpstr>أكـــــاديميــــة طــــويـــق</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Ahmed Al-Hadari</dc:creator>
  <cp:lastModifiedBy>Ahmed Alhussein</cp:lastModifiedBy>
  <cp:revision>259</cp:revision>
  <dcterms:modified xsi:type="dcterms:W3CDTF">2026-05-05T13:41:06Z</dcterms:modified>
</cp:coreProperties>
</file>